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3.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9144000" cy="6858000"/>
  <p:notesSz cx="68580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AI</c:v>
                </c:pt>
              </c:strCache>
            </c:strRef>
          </c:tx>
          <c:spPr>
            <a:solidFill>
              <a:srgbClr val="F6693D"/>
            </a:solidFill>
            <a:ln w="38100" cap="flat">
              <a:solidFill>
                <a:srgbClr val="F6693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F6693D"/>
              </a:solidFill>
              <a:ln w="9525" cap="flat">
                <a:solidFill>
                  <a:srgbClr val="F6693D"/>
                </a:solidFill>
                <a:prstDash val="solid"/>
                <a:round/>
              </a:ln>
              <a:effectLst/>
            </c:spPr>
          </c:marker>
          <c:cat>
            <c:multiLvlStrRef>
              <c:f>Sheet1!$A$2:$A$17</c:f>
              <c:multiLvlStrCache>
                <c:ptCount val="16"/>
                <c:lvl>
                  <c:pt idx="0">
                    <c:v>Y0</c:v>
                  </c:pt>
                  <c:pt idx="1">
                    <c:v>Y1</c:v>
                  </c:pt>
                  <c:pt idx="2">
                    <c:v>Y2</c:v>
                  </c:pt>
                  <c:pt idx="3">
                    <c:v>Y3</c:v>
                  </c:pt>
                  <c:pt idx="4">
                    <c:v>Y4</c:v>
                  </c:pt>
                  <c:pt idx="5">
                    <c:v>Y5</c:v>
                  </c:pt>
                  <c:pt idx="6">
                    <c:v>Y6</c:v>
                  </c:pt>
                  <c:pt idx="7">
                    <c:v>Y7</c:v>
                  </c:pt>
                  <c:pt idx="8">
                    <c:v>Y8</c:v>
                  </c:pt>
                  <c:pt idx="9">
                    <c:v>Y9</c:v>
                  </c:pt>
                  <c:pt idx="10">
                    <c:v>Y10</c:v>
                  </c:pt>
                  <c:pt idx="11">
                    <c:v>Y11</c:v>
                  </c:pt>
                  <c:pt idx="12">
                    <c:v>Y12</c:v>
                  </c:pt>
                  <c:pt idx="13">
                    <c:v>Y13</c:v>
                  </c:pt>
                  <c:pt idx="14">
                    <c:v>Y14</c:v>
                  </c:pt>
                  <c:pt idx="15">
                    <c:v>Y15</c:v>
                  </c:pt>
                </c:lvl>
              </c:multiLvlStrCache>
            </c:multiLvlStrRef>
          </c:cat>
          <c:val>
            <c:numRef>
              <c:f>Sheet1!$B$2:$B$17</c:f>
              <c:numCache>
                <c:formatCode>General</c:formatCode>
                <c:ptCount val="16"/>
                <c:pt idx="0">
                  <c:v>0</c:v>
                </c:pt>
                <c:pt idx="1">
                  <c:v>18</c:v>
                </c:pt>
                <c:pt idx="2">
                  <c:v>38</c:v>
                </c:pt>
                <c:pt idx="3">
                  <c:v>56</c:v>
                </c:pt>
                <c:pt idx="4">
                  <c:v/>
                </c:pt>
                <c:pt idx="5">
                  <c:v/>
                </c:pt>
                <c:pt idx="6">
                  <c:v/>
                </c:pt>
                <c:pt idx="7">
                  <c:v/>
                </c:pt>
                <c:pt idx="8">
                  <c:v/>
                </c:pt>
                <c:pt idx="9">
                  <c:v/>
                </c:pt>
                <c:pt idx="10">
                  <c:v/>
                </c:pt>
                <c:pt idx="11">
                  <c:v/>
                </c:pt>
                <c:pt idx="12">
                  <c:v/>
                </c:pt>
                <c:pt idx="13">
                  <c:v/>
                </c:pt>
                <c:pt idx="14">
                  <c:v/>
                </c:pt>
                <c:pt idx="15">
                  <c:v/>
                </c:pt>
              </c:numCache>
            </c:numRef>
          </c:val>
          <c:smooth val="0"/>
        </c:ser>
        <c:ser>
          <c:idx val="1"/>
          <c:order val="1"/>
          <c:tx>
            <c:strRef>
              <c:f>Sheet1!$C$1</c:f>
              <c:strCache>
                <c:ptCount val="1"/>
                <c:pt idx="0">
                  <c:v>Internet</c:v>
                </c:pt>
              </c:strCache>
            </c:strRef>
          </c:tx>
          <c:spPr>
            <a:solidFill>
              <a:srgbClr val="008B8B"/>
            </a:solidFill>
            <a:ln w="38100" cap="flat">
              <a:solidFill>
                <a:srgbClr val="008B8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008B8B"/>
              </a:solidFill>
              <a:ln w="9525" cap="flat">
                <a:solidFill>
                  <a:srgbClr val="008B8B"/>
                </a:solidFill>
                <a:prstDash val="solid"/>
                <a:round/>
              </a:ln>
              <a:effectLst/>
            </c:spPr>
          </c:marker>
          <c:cat>
            <c:multiLvlStrRef>
              <c:f>Sheet1!$A$2:$A$17</c:f>
              <c:multiLvlStrCache>
                <c:ptCount val="16"/>
                <c:lvl>
                  <c:pt idx="0">
                    <c:v>Y0</c:v>
                  </c:pt>
                  <c:pt idx="1">
                    <c:v>Y1</c:v>
                  </c:pt>
                  <c:pt idx="2">
                    <c:v>Y2</c:v>
                  </c:pt>
                  <c:pt idx="3">
                    <c:v>Y3</c:v>
                  </c:pt>
                  <c:pt idx="4">
                    <c:v>Y4</c:v>
                  </c:pt>
                  <c:pt idx="5">
                    <c:v>Y5</c:v>
                  </c:pt>
                  <c:pt idx="6">
                    <c:v>Y6</c:v>
                  </c:pt>
                  <c:pt idx="7">
                    <c:v>Y7</c:v>
                  </c:pt>
                  <c:pt idx="8">
                    <c:v>Y8</c:v>
                  </c:pt>
                  <c:pt idx="9">
                    <c:v>Y9</c:v>
                  </c:pt>
                  <c:pt idx="10">
                    <c:v>Y10</c:v>
                  </c:pt>
                  <c:pt idx="11">
                    <c:v>Y11</c:v>
                  </c:pt>
                  <c:pt idx="12">
                    <c:v>Y12</c:v>
                  </c:pt>
                  <c:pt idx="13">
                    <c:v>Y13</c:v>
                  </c:pt>
                  <c:pt idx="14">
                    <c:v>Y14</c:v>
                  </c:pt>
                  <c:pt idx="15">
                    <c:v>Y15</c:v>
                  </c:pt>
                </c:lvl>
              </c:multiLvlStrCache>
            </c:multiLvlStrRef>
          </c:cat>
          <c:val>
            <c:numRef>
              <c:f>Sheet1!$C$2:$C$17</c:f>
              <c:numCache>
                <c:formatCode>General</c:formatCode>
                <c:ptCount val="16"/>
                <c:pt idx="0">
                  <c:v>0</c:v>
                </c:pt>
                <c:pt idx="1">
                  <c:v>2</c:v>
                </c:pt>
                <c:pt idx="2">
                  <c:v>5</c:v>
                </c:pt>
                <c:pt idx="3">
                  <c:v>10</c:v>
                </c:pt>
                <c:pt idx="4">
                  <c:v>16</c:v>
                </c:pt>
                <c:pt idx="5">
                  <c:v>24</c:v>
                </c:pt>
                <c:pt idx="6">
                  <c:v>32</c:v>
                </c:pt>
                <c:pt idx="7">
                  <c:v>40</c:v>
                </c:pt>
                <c:pt idx="8">
                  <c:v>47</c:v>
                </c:pt>
                <c:pt idx="9">
                  <c:v>53</c:v>
                </c:pt>
                <c:pt idx="10">
                  <c:v>58</c:v>
                </c:pt>
                <c:pt idx="11">
                  <c:v>62</c:v>
                </c:pt>
                <c:pt idx="12">
                  <c:v>64</c:v>
                </c:pt>
                <c:pt idx="13">
                  <c:v>66</c:v>
                </c:pt>
                <c:pt idx="14">
                  <c:v>67</c:v>
                </c:pt>
                <c:pt idx="15">
                  <c:v>68</c:v>
                </c:pt>
              </c:numCache>
            </c:numRef>
          </c:val>
          <c:smooth val="0"/>
        </c:ser>
        <c:ser>
          <c:idx val="2"/>
          <c:order val="2"/>
          <c:tx>
            <c:strRef>
              <c:f>Sheet1!$D$1</c:f>
              <c:strCache>
                <c:ptCount val="1"/>
                <c:pt idx="0">
                  <c:v>PC</c:v>
                </c:pt>
              </c:strCache>
            </c:strRef>
          </c:tx>
          <c:spPr>
            <a:solidFill>
              <a:srgbClr val="666666"/>
            </a:solidFill>
            <a:ln w="38100" cap="flat">
              <a:solidFill>
                <a:srgbClr val="6666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666666"/>
              </a:solidFill>
              <a:ln w="9525" cap="flat">
                <a:solidFill>
                  <a:srgbClr val="666666"/>
                </a:solidFill>
                <a:prstDash val="solid"/>
                <a:round/>
              </a:ln>
              <a:effectLst/>
            </c:spPr>
          </c:marker>
          <c:cat>
            <c:multiLvlStrRef>
              <c:f>Sheet1!$A$2:$A$17</c:f>
              <c:multiLvlStrCache>
                <c:ptCount val="16"/>
                <c:lvl>
                  <c:pt idx="0">
                    <c:v>Y0</c:v>
                  </c:pt>
                  <c:pt idx="1">
                    <c:v>Y1</c:v>
                  </c:pt>
                  <c:pt idx="2">
                    <c:v>Y2</c:v>
                  </c:pt>
                  <c:pt idx="3">
                    <c:v>Y3</c:v>
                  </c:pt>
                  <c:pt idx="4">
                    <c:v>Y4</c:v>
                  </c:pt>
                  <c:pt idx="5">
                    <c:v>Y5</c:v>
                  </c:pt>
                  <c:pt idx="6">
                    <c:v>Y6</c:v>
                  </c:pt>
                  <c:pt idx="7">
                    <c:v>Y7</c:v>
                  </c:pt>
                  <c:pt idx="8">
                    <c:v>Y8</c:v>
                  </c:pt>
                  <c:pt idx="9">
                    <c:v>Y9</c:v>
                  </c:pt>
                  <c:pt idx="10">
                    <c:v>Y10</c:v>
                  </c:pt>
                  <c:pt idx="11">
                    <c:v>Y11</c:v>
                  </c:pt>
                  <c:pt idx="12">
                    <c:v>Y12</c:v>
                  </c:pt>
                  <c:pt idx="13">
                    <c:v>Y13</c:v>
                  </c:pt>
                  <c:pt idx="14">
                    <c:v>Y14</c:v>
                  </c:pt>
                  <c:pt idx="15">
                    <c:v>Y15</c:v>
                  </c:pt>
                </c:lvl>
              </c:multiLvlStrCache>
            </c:multiLvlStrRef>
          </c:cat>
          <c:val>
            <c:numRef>
              <c:f>Sheet1!$D$2:$D$17</c:f>
              <c:numCache>
                <c:formatCode>General</c:formatCode>
                <c:ptCount val="16"/>
                <c:pt idx="0">
                  <c:v>0</c:v>
                </c:pt>
                <c:pt idx="1">
                  <c:v>1</c:v>
                </c:pt>
                <c:pt idx="2">
                  <c:v>3</c:v>
                </c:pt>
                <c:pt idx="3">
                  <c:v>6</c:v>
                </c:pt>
                <c:pt idx="4">
                  <c:v>9</c:v>
                </c:pt>
                <c:pt idx="5">
                  <c:v>13</c:v>
                </c:pt>
                <c:pt idx="6">
                  <c:v>18</c:v>
                </c:pt>
                <c:pt idx="7">
                  <c:v>23</c:v>
                </c:pt>
                <c:pt idx="8">
                  <c:v>28</c:v>
                </c:pt>
                <c:pt idx="9">
                  <c:v>32</c:v>
                </c:pt>
                <c:pt idx="10">
                  <c:v>36</c:v>
                </c:pt>
                <c:pt idx="11">
                  <c:v>40</c:v>
                </c:pt>
                <c:pt idx="12">
                  <c:v>43</c:v>
                </c:pt>
                <c:pt idx="13">
                  <c:v>46</c:v>
                </c:pt>
                <c:pt idx="14">
                  <c:v>48</c:v>
                </c:pt>
                <c:pt idx="15">
                  <c:v>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999999"/>
                </a:solidFill>
                <a:latin typeface="Arial"/>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5E5E5"/>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999999"/>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solidFill>
                <a:srgbClr val="666666"/>
              </a:solidFill>
            </a:defRPr>
          </a:pPr>
          <a:endParaRPr lang="en-US"/>
        </a:p>
      </c:txPr>
    </c:legend>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AI</c:v>
                </c:pt>
              </c:strCache>
            </c:strRef>
          </c:tx>
          <c:spPr>
            <a:solidFill>
              <a:srgbClr val="F6693D"/>
            </a:solidFill>
            <a:effectLst/>
          </c:spPr>
          <c:invertIfNegative val="0"/>
          <c:dLbls>
            <c:numFmt formatCode="#,##0" sourceLinked="0"/>
            <c:txPr>
              <a:bodyPr/>
              <a:lstStyle/>
              <a:p>
                <a:pPr>
                  <a:defRPr b="0" i="0" strike="noStrike" sz="700" u="none">
                    <a:solidFill>
                      <a:srgbClr val="333333"/>
                    </a:solidFill>
                    <a:latin typeface="Arial"/>
                  </a:defRPr>
                </a:pPr>
              </a:p>
            </c:txPr>
            <c:showLegendKey val="0"/>
            <c:showVal val="1"/>
            <c:showCatName val="0"/>
            <c:showSerName val="0"/>
            <c:showPercent val="0"/>
            <c:showBubbleSize val="0"/>
            <c:showLeaderLines val="0"/>
          </c:dLbls>
          <c:cat>
            <c:multiLvlStrRef>
              <c:f>Sheet1!$A$2:$A$6</c:f>
              <c:multiLvlStrCache>
                <c:ptCount val="5"/>
                <c:lvl>
                  <c:pt idx="0">
                    <c:v>Y0</c:v>
                  </c:pt>
                  <c:pt idx="1">
                    <c:v>Y1</c:v>
                  </c:pt>
                  <c:pt idx="2">
                    <c:v>Y2</c:v>
                  </c:pt>
                  <c:pt idx="3">
                    <c:v>Y3</c:v>
                  </c:pt>
                  <c:pt idx="4">
                    <c:v>Y4 (2026E)</c:v>
                  </c:pt>
                </c:lvl>
              </c:multiLvlStrCache>
            </c:multiLvlStrRef>
          </c:cat>
          <c:val>
            <c:numRef>
              <c:f>Sheet1!$B$2:$B$6</c:f>
              <c:numCache>
                <c:formatCode>General</c:formatCode>
                <c:ptCount val="5"/>
                <c:pt idx="0">
                  <c:v>1</c:v>
                </c:pt>
                <c:pt idx="1">
                  <c:v>5</c:v>
                </c:pt>
                <c:pt idx="2">
                  <c:v>16</c:v>
                </c:pt>
                <c:pt idx="3">
                  <c:v>42</c:v>
                </c:pt>
                <c:pt idx="4">
                  <c:v>82</c:v>
                </c:pt>
              </c:numCache>
            </c:numRef>
          </c:val>
        </c:ser>
        <c:ser>
          <c:idx val="1"/>
          <c:order val="1"/>
          <c:tx>
            <c:strRef>
              <c:f>Sheet1!$C$1</c:f>
              <c:strCache>
                <c:ptCount val="1"/>
                <c:pt idx="0">
                  <c:v>Cloud</c:v>
                </c:pt>
              </c:strCache>
            </c:strRef>
          </c:tx>
          <c:spPr>
            <a:solidFill>
              <a:srgbClr val="FFB800"/>
            </a:solidFill>
            <a:effectLst/>
          </c:spPr>
          <c:invertIfNegative val="0"/>
          <c:dLbls>
            <c:numFmt formatCode="#,##0" sourceLinked="0"/>
            <c:txPr>
              <a:bodyPr/>
              <a:lstStyle/>
              <a:p>
                <a:pPr>
                  <a:defRPr b="0" i="0" strike="noStrike" sz="700" u="none">
                    <a:solidFill>
                      <a:srgbClr val="333333"/>
                    </a:solidFill>
                    <a:latin typeface="Arial"/>
                  </a:defRPr>
                </a:pPr>
              </a:p>
            </c:txPr>
            <c:showLegendKey val="0"/>
            <c:showVal val="1"/>
            <c:showCatName val="0"/>
            <c:showSerName val="0"/>
            <c:showPercent val="0"/>
            <c:showBubbleSize val="0"/>
            <c:showLeaderLines val="0"/>
          </c:dLbls>
          <c:cat>
            <c:multiLvlStrRef>
              <c:f>Sheet1!$A$2:$A$6</c:f>
              <c:multiLvlStrCache>
                <c:ptCount val="5"/>
                <c:lvl>
                  <c:pt idx="0">
                    <c:v>Y0</c:v>
                  </c:pt>
                  <c:pt idx="1">
                    <c:v>Y1</c:v>
                  </c:pt>
                  <c:pt idx="2">
                    <c:v>Y2</c:v>
                  </c:pt>
                  <c:pt idx="3">
                    <c:v>Y3</c:v>
                  </c:pt>
                  <c:pt idx="4">
                    <c:v>Y4 (2026E)</c:v>
                  </c:pt>
                </c:lvl>
              </c:multiLvlStrCache>
            </c:multiLvlStrRef>
          </c:cat>
          <c:val>
            <c:numRef>
              <c:f>Sheet1!$C$2:$C$6</c:f>
              <c:numCache>
                <c:formatCode>General</c:formatCode>
                <c:ptCount val="5"/>
                <c:pt idx="0">
                  <c:v>1</c:v>
                </c:pt>
                <c:pt idx="1">
                  <c:v>2</c:v>
                </c:pt>
                <c:pt idx="2">
                  <c:v>4</c:v>
                </c:pt>
                <c:pt idx="3">
                  <c:v>7</c:v>
                </c:pt>
                <c:pt idx="4">
                  <c:v>12</c:v>
                </c:pt>
              </c:numCache>
            </c:numRef>
          </c:val>
        </c:ser>
        <c:ser>
          <c:idx val="2"/>
          <c:order val="2"/>
          <c:tx>
            <c:strRef>
              <c:f>Sheet1!$D$1</c:f>
              <c:strCache>
                <c:ptCount val="1"/>
                <c:pt idx="0">
                  <c:v>Internet</c:v>
                </c:pt>
              </c:strCache>
            </c:strRef>
          </c:tx>
          <c:spPr>
            <a:solidFill>
              <a:srgbClr val="008B8B"/>
            </a:solidFill>
            <a:effectLst/>
          </c:spPr>
          <c:invertIfNegative val="0"/>
          <c:dLbls>
            <c:numFmt formatCode="#,##0" sourceLinked="0"/>
            <c:txPr>
              <a:bodyPr/>
              <a:lstStyle/>
              <a:p>
                <a:pPr>
                  <a:defRPr b="0" i="0" strike="noStrike" sz="700" u="none">
                    <a:solidFill>
                      <a:srgbClr val="333333"/>
                    </a:solidFill>
                    <a:latin typeface="Arial"/>
                  </a:defRPr>
                </a:pPr>
              </a:p>
            </c:txPr>
            <c:showLegendKey val="0"/>
            <c:showVal val="1"/>
            <c:showCatName val="0"/>
            <c:showSerName val="0"/>
            <c:showPercent val="0"/>
            <c:showBubbleSize val="0"/>
            <c:showLeaderLines val="0"/>
          </c:dLbls>
          <c:cat>
            <c:multiLvlStrRef>
              <c:f>Sheet1!$A$2:$A$6</c:f>
              <c:multiLvlStrCache>
                <c:ptCount val="5"/>
                <c:lvl>
                  <c:pt idx="0">
                    <c:v>Y0</c:v>
                  </c:pt>
                  <c:pt idx="1">
                    <c:v>Y1</c:v>
                  </c:pt>
                  <c:pt idx="2">
                    <c:v>Y2</c:v>
                  </c:pt>
                  <c:pt idx="3">
                    <c:v>Y3</c:v>
                  </c:pt>
                  <c:pt idx="4">
                    <c:v>Y4 (2026E)</c:v>
                  </c:pt>
                </c:lvl>
              </c:multiLvlStrCache>
            </c:multiLvlStrRef>
          </c:cat>
          <c:val>
            <c:numRef>
              <c:f>Sheet1!$D$2:$D$6</c:f>
              <c:numCache>
                <c:formatCode>General</c:formatCode>
                <c:ptCount val="5"/>
                <c:pt idx="0">
                  <c:v>1</c:v>
                </c:pt>
                <c:pt idx="1">
                  <c:v>2</c:v>
                </c:pt>
                <c:pt idx="2">
                  <c:v>3</c:v>
                </c:pt>
                <c:pt idx="3">
                  <c:v>5</c:v>
                </c:pt>
                <c:pt idx="4">
                  <c:v>8</c:v>
                </c:pt>
              </c:numCache>
            </c:numRef>
          </c:val>
        </c:ser>
        <c:dLbls>
          <c:numFmt formatCode="#,##0" sourceLinked="0"/>
          <c:txPr>
            <a:bodyPr/>
            <a:lstStyle/>
            <a:p>
              <a:pPr>
                <a:defRPr b="0" i="0" strike="noStrike" sz="700" u="none">
                  <a:solidFill>
                    <a:srgbClr val="333333"/>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666666"/>
                </a:solidFill>
                <a:latin typeface="Arial"/>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5E5E5"/>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999999"/>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800">
              <a:solidFill>
                <a:srgbClr val="666666"/>
              </a:solidFill>
            </a:defRPr>
          </a:pPr>
          <a:endParaRPr lang="en-US"/>
        </a:p>
      </c:txPr>
    </c:legend>
    <c:plotVisOnly val="1"/>
    <c:dispBlanksAs val="span"/>
  </c:chart>
  <c:spPr>
    <a:solidFill>
      <a:srgbClr val="FFFFFF"/>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Semis</c:v>
                </c:pt>
              </c:strCache>
            </c:strRef>
          </c:tx>
          <c:spPr>
            <a:solidFill>
              <a:srgbClr val="F6693D"/>
            </a:solidFill>
            <a:ln w="38100" cap="flat">
              <a:solidFill>
                <a:srgbClr val="F6693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F6693D"/>
              </a:solidFill>
              <a:ln w="9525" cap="flat">
                <a:solidFill>
                  <a:srgbClr val="F6693D"/>
                </a:solidFill>
                <a:prstDash val="solid"/>
                <a:round/>
              </a:ln>
              <a:effectLst/>
            </c:spPr>
          </c:marker>
          <c:cat>
            <c:multiLvlStrRef>
              <c:f>Sheet1!$A$2:$A$6</c:f>
              <c:multiLvlStrCache>
                <c:ptCount val="5"/>
                <c:lvl>
                  <c:pt idx="0">
                    <c:v>Jan 1</c:v>
                  </c:pt>
                  <c:pt idx="1">
                    <c:v>Jan 31</c:v>
                  </c:pt>
                  <c:pt idx="2">
                    <c:v>Feb 28</c:v>
                  </c:pt>
                  <c:pt idx="3">
                    <c:v>Mar 31</c:v>
                  </c:pt>
                  <c:pt idx="4">
                    <c:v>Apr 17</c:v>
                  </c:pt>
                </c:lvl>
              </c:multiLvlStrCache>
            </c:multiLvlStrRef>
          </c:cat>
          <c:val>
            <c:numRef>
              <c:f>Sheet1!$B$2:$B$6</c:f>
              <c:numCache>
                <c:formatCode>General</c:formatCode>
                <c:ptCount val="5"/>
                <c:pt idx="0">
                  <c:v>100</c:v>
                </c:pt>
                <c:pt idx="1">
                  <c:v>110</c:v>
                </c:pt>
                <c:pt idx="2">
                  <c:v>118</c:v>
                </c:pt>
                <c:pt idx="3">
                  <c:v>128</c:v>
                </c:pt>
                <c:pt idx="4">
                  <c:v>138</c:v>
                </c:pt>
              </c:numCache>
            </c:numRef>
          </c:val>
          <c:smooth val="0"/>
        </c:ser>
        <c:ser>
          <c:idx val="1"/>
          <c:order val="1"/>
          <c:tx>
            <c:strRef>
              <c:f>Sheet1!$C$1</c:f>
              <c:strCache>
                <c:ptCount val="1"/>
                <c:pt idx="0">
                  <c:v>Nasdaq</c:v>
                </c:pt>
              </c:strCache>
            </c:strRef>
          </c:tx>
          <c:spPr>
            <a:solidFill>
              <a:srgbClr val="333333"/>
            </a:solidFill>
            <a:ln w="38100" cap="flat">
              <a:solidFill>
                <a:srgbClr val="333333"/>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333333"/>
              </a:solidFill>
              <a:ln w="9525" cap="flat">
                <a:solidFill>
                  <a:srgbClr val="333333"/>
                </a:solidFill>
                <a:prstDash val="solid"/>
                <a:round/>
              </a:ln>
              <a:effectLst/>
            </c:spPr>
          </c:marker>
          <c:cat>
            <c:multiLvlStrRef>
              <c:f>Sheet1!$A$2:$A$6</c:f>
              <c:multiLvlStrCache>
                <c:ptCount val="5"/>
                <c:lvl>
                  <c:pt idx="0">
                    <c:v>Jan 1</c:v>
                  </c:pt>
                  <c:pt idx="1">
                    <c:v>Jan 31</c:v>
                  </c:pt>
                  <c:pt idx="2">
                    <c:v>Feb 28</c:v>
                  </c:pt>
                  <c:pt idx="3">
                    <c:v>Mar 31</c:v>
                  </c:pt>
                  <c:pt idx="4">
                    <c:v>Apr 17</c:v>
                  </c:pt>
                </c:lvl>
              </c:multiLvlStrCache>
            </c:multiLvlStrRef>
          </c:cat>
          <c:val>
            <c:numRef>
              <c:f>Sheet1!$C$2:$C$6</c:f>
              <c:numCache>
                <c:formatCode>General</c:formatCode>
                <c:ptCount val="5"/>
                <c:pt idx="0">
                  <c:v>100</c:v>
                </c:pt>
                <c:pt idx="1">
                  <c:v>98</c:v>
                </c:pt>
                <c:pt idx="2">
                  <c:v>96</c:v>
                </c:pt>
                <c:pt idx="3">
                  <c:v>99</c:v>
                </c:pt>
                <c:pt idx="4">
                  <c:v>104</c:v>
                </c:pt>
              </c:numCache>
            </c:numRef>
          </c:val>
          <c:smooth val="0"/>
        </c:ser>
        <c:ser>
          <c:idx val="2"/>
          <c:order val="2"/>
          <c:tx>
            <c:strRef>
              <c:f>Sheet1!$D$1</c:f>
              <c:strCache>
                <c:ptCount val="1"/>
                <c:pt idx="0">
                  <c:v>Software</c:v>
                </c:pt>
              </c:strCache>
            </c:strRef>
          </c:tx>
          <c:spPr>
            <a:solidFill>
              <a:srgbClr val="CC0000"/>
            </a:solidFill>
            <a:ln w="38100" cap="flat">
              <a:solidFill>
                <a:srgbClr val="CC000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CC0000"/>
              </a:solidFill>
              <a:ln w="9525" cap="flat">
                <a:solidFill>
                  <a:srgbClr val="CC0000"/>
                </a:solidFill>
                <a:prstDash val="solid"/>
                <a:round/>
              </a:ln>
              <a:effectLst/>
            </c:spPr>
          </c:marker>
          <c:cat>
            <c:multiLvlStrRef>
              <c:f>Sheet1!$A$2:$A$6</c:f>
              <c:multiLvlStrCache>
                <c:ptCount val="5"/>
                <c:lvl>
                  <c:pt idx="0">
                    <c:v>Jan 1</c:v>
                  </c:pt>
                  <c:pt idx="1">
                    <c:v>Jan 31</c:v>
                  </c:pt>
                  <c:pt idx="2">
                    <c:v>Feb 28</c:v>
                  </c:pt>
                  <c:pt idx="3">
                    <c:v>Mar 31</c:v>
                  </c:pt>
                  <c:pt idx="4">
                    <c:v>Apr 17</c:v>
                  </c:pt>
                </c:lvl>
              </c:multiLvlStrCache>
            </c:multiLvlStrRef>
          </c:cat>
          <c:val>
            <c:numRef>
              <c:f>Sheet1!$D$2:$D$6</c:f>
              <c:numCache>
                <c:formatCode>General</c:formatCode>
                <c:ptCount val="5"/>
                <c:pt idx="0">
                  <c:v>100</c:v>
                </c:pt>
                <c:pt idx="1">
                  <c:v>88</c:v>
                </c:pt>
                <c:pt idx="2">
                  <c:v>78</c:v>
                </c:pt>
                <c:pt idx="3">
                  <c:v>76</c:v>
                </c:pt>
                <c:pt idx="4">
                  <c:v>80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999999"/>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5E5E5"/>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999999"/>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solidFill>
                <a:srgbClr val="666666"/>
              </a:solidFill>
            </a:defRPr>
          </a:pPr>
          <a:endParaRPr lang="en-US"/>
        </a:p>
      </c:txPr>
    </c:legend>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D100"/>
        </a:solidFill>
      </p:bgPr>
    </p:bg>
    <p:spTree>
      <p:nvGrpSpPr>
        <p:cNvPr id="1" name=""/>
        <p:cNvGrpSpPr/>
        <p:nvPr/>
      </p:nvGrpSpPr>
      <p:grpSpPr>
        <a:xfrm>
          <a:off x="0" y="0"/>
          <a:ext cx="0" cy="0"/>
          <a:chOff x="0" y="0"/>
          <a:chExt cx="0" cy="0"/>
        </a:xfrm>
      </p:grpSpPr>
      <p:sp>
        <p:nvSpPr>
          <p:cNvPr id="2" name="Shape 0"/>
          <p:cNvSpPr/>
          <p:nvPr/>
        </p:nvSpPr>
        <p:spPr>
          <a:xfrm>
            <a:off x="457200" y="2788920"/>
            <a:ext cx="1005840" cy="128016"/>
          </a:xfrm>
          <a:prstGeom prst="rect">
            <a:avLst/>
          </a:prstGeom>
          <a:solidFill>
            <a:srgbClr val="F6693D"/>
          </a:solidFill>
          <a:ln w="12700">
            <a:solidFill>
              <a:srgbClr val="F6693D"/>
            </a:solidFill>
            <a:prstDash val="solid"/>
          </a:ln>
        </p:spPr>
      </p:sp>
      <p:sp>
        <p:nvSpPr>
          <p:cNvPr id="3" name="Text 1"/>
          <p:cNvSpPr/>
          <p:nvPr/>
        </p:nvSpPr>
        <p:spPr>
          <a:xfrm>
            <a:off x="457200" y="3063240"/>
            <a:ext cx="8229600" cy="1371600"/>
          </a:xfrm>
          <a:prstGeom prst="rect">
            <a:avLst/>
          </a:prstGeom>
          <a:noFill/>
          <a:ln/>
        </p:spPr>
        <p:txBody>
          <a:bodyPr wrap="square" lIns="0" tIns="0" rIns="0" bIns="0" rtlCol="0" anchor="t"/>
          <a:lstStyle/>
          <a:p>
            <a:pPr indent="0" marL="0">
              <a:buNone/>
            </a:pPr>
            <a:r>
              <a:rPr lang="en-US" sz="8800" b="1" dirty="0">
                <a:solidFill>
                  <a:srgbClr val="000000"/>
                </a:solidFill>
                <a:latin typeface="Arial Black" pitchFamily="34" charset="0"/>
                <a:ea typeface="Arial Black" pitchFamily="34" charset="-122"/>
                <a:cs typeface="Arial Black" pitchFamily="34" charset="-120"/>
              </a:rPr>
              <a:t>AI Markets</a:t>
            </a:r>
            <a:endParaRPr lang="en-US" sz="8800" dirty="0"/>
          </a:p>
        </p:txBody>
      </p:sp>
      <p:sp>
        <p:nvSpPr>
          <p:cNvPr id="4" name="Text 2"/>
          <p:cNvSpPr/>
          <p:nvPr/>
        </p:nvSpPr>
        <p:spPr>
          <a:xfrm>
            <a:off x="457200" y="4434840"/>
            <a:ext cx="8229600" cy="457200"/>
          </a:xfrm>
          <a:prstGeom prst="rect">
            <a:avLst/>
          </a:prstGeom>
          <a:noFill/>
          <a:ln/>
        </p:spPr>
        <p:txBody>
          <a:bodyPr wrap="square" lIns="0" tIns="0" rIns="0" bIns="0" rtlCol="0" anchor="t"/>
          <a:lstStyle/>
          <a:p>
            <a:pPr indent="0" marL="0">
              <a:buNone/>
            </a:pPr>
            <a:r>
              <a:rPr lang="en-US" sz="2200" dirty="0">
                <a:solidFill>
                  <a:srgbClr val="000000"/>
                </a:solidFill>
                <a:latin typeface="Arial" pitchFamily="34" charset="0"/>
                <a:ea typeface="Arial" pitchFamily="34" charset="-122"/>
                <a:cs typeface="Arial" pitchFamily="34" charset="-120"/>
              </a:rPr>
              <a:t>May 2026</a:t>
            </a:r>
            <a:endParaRPr lang="en-US" sz="2200" dirty="0"/>
          </a:p>
        </p:txBody>
      </p:sp>
      <p:sp>
        <p:nvSpPr>
          <p:cNvPr id="5" name="Shape 3"/>
          <p:cNvSpPr/>
          <p:nvPr/>
        </p:nvSpPr>
        <p:spPr>
          <a:xfrm>
            <a:off x="0" y="6286500"/>
            <a:ext cx="9144000" cy="571500"/>
          </a:xfrm>
          <a:prstGeom prst="rect">
            <a:avLst/>
          </a:prstGeom>
          <a:solidFill>
            <a:srgbClr val="000000"/>
          </a:solidFill>
          <a:ln w="12700">
            <a:solidFill>
              <a:srgbClr val="000000"/>
            </a:solidFill>
            <a:prstDash val="solid"/>
          </a:ln>
        </p:spPr>
      </p:sp>
      <p:sp>
        <p:nvSpPr>
          <p:cNvPr id="6" name="Text 4"/>
          <p:cNvSpPr/>
          <p:nvPr/>
        </p:nvSpPr>
        <p:spPr>
          <a:xfrm>
            <a:off x="1371600" y="6332220"/>
            <a:ext cx="6400800" cy="45720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182880"/>
            <a:ext cx="6583680" cy="685800"/>
          </a:xfrm>
          <a:prstGeom prst="rect">
            <a:avLst/>
          </a:prstGeom>
          <a:noFill/>
          <a:ln/>
        </p:spPr>
        <p:txBody>
          <a:bodyPr wrap="square" lIns="0" tIns="0" rIns="0" bIns="0" rtlCol="0" anchor="t"/>
          <a:lstStyle/>
          <a:p>
            <a:pPr indent="0" marL="0">
              <a:buNone/>
            </a:pPr>
            <a:r>
              <a:rPr lang="en-US" sz="2400" b="1" dirty="0">
                <a:solidFill>
                  <a:srgbClr val="000000"/>
                </a:solidFill>
                <a:latin typeface="Arial Black" pitchFamily="34" charset="0"/>
                <a:ea typeface="Arial Black" pitchFamily="34" charset="-122"/>
                <a:cs typeface="Arial Black" pitchFamily="34" charset="-120"/>
              </a:rPr>
              <a:t>Contents.</a:t>
            </a:r>
            <a:endParaRPr lang="en-US" sz="2400" dirty="0"/>
          </a:p>
        </p:txBody>
      </p:sp>
      <p:sp>
        <p:nvSpPr>
          <p:cNvPr id="3" name="Shape 1"/>
          <p:cNvSpPr/>
          <p:nvPr/>
        </p:nvSpPr>
        <p:spPr>
          <a:xfrm>
            <a:off x="457200" y="1325880"/>
            <a:ext cx="8229600" cy="0"/>
          </a:xfrm>
          <a:prstGeom prst="line">
            <a:avLst/>
          </a:prstGeom>
          <a:noFill/>
          <a:ln w="9525">
            <a:solidFill>
              <a:srgbClr val="E5E5E5"/>
            </a:solidFill>
            <a:prstDash val="solid"/>
          </a:ln>
        </p:spPr>
      </p:sp>
      <p:sp>
        <p:nvSpPr>
          <p:cNvPr id="4" name="Shape 2"/>
          <p:cNvSpPr/>
          <p:nvPr/>
        </p:nvSpPr>
        <p:spPr>
          <a:xfrm>
            <a:off x="457200" y="1737360"/>
            <a:ext cx="109728" cy="493776"/>
          </a:xfrm>
          <a:prstGeom prst="rect">
            <a:avLst/>
          </a:prstGeom>
          <a:solidFill>
            <a:srgbClr val="008B8B"/>
          </a:solidFill>
          <a:ln w="12700">
            <a:solidFill>
              <a:srgbClr val="008B8B"/>
            </a:solidFill>
            <a:prstDash val="solid"/>
          </a:ln>
        </p:spPr>
      </p:sp>
      <p:sp>
        <p:nvSpPr>
          <p:cNvPr id="5" name="Text 3"/>
          <p:cNvSpPr/>
          <p:nvPr/>
        </p:nvSpPr>
        <p:spPr>
          <a:xfrm>
            <a:off x="731520" y="1737360"/>
            <a:ext cx="822960" cy="493776"/>
          </a:xfrm>
          <a:prstGeom prst="rect">
            <a:avLst/>
          </a:prstGeom>
          <a:noFill/>
          <a:ln/>
        </p:spPr>
        <p:txBody>
          <a:bodyPr wrap="square" lIns="0" tIns="0" rIns="0" bIns="0" rtlCol="0" anchor="ctr"/>
          <a:lstStyle/>
          <a:p>
            <a:pPr indent="0" marL="0">
              <a:buNone/>
            </a:pPr>
            <a:r>
              <a:rPr lang="en-US" sz="2200" b="1" dirty="0">
                <a:solidFill>
                  <a:srgbClr val="008B8B"/>
                </a:solidFill>
                <a:latin typeface="Arial Black" pitchFamily="34" charset="0"/>
                <a:ea typeface="Arial Black" pitchFamily="34" charset="-122"/>
                <a:cs typeface="Arial Black" pitchFamily="34" charset="-120"/>
              </a:rPr>
              <a:t>01</a:t>
            </a:r>
            <a:endParaRPr lang="en-US" sz="2200" dirty="0"/>
          </a:p>
        </p:txBody>
      </p:sp>
      <p:sp>
        <p:nvSpPr>
          <p:cNvPr id="6" name="Text 4"/>
          <p:cNvSpPr/>
          <p:nvPr/>
        </p:nvSpPr>
        <p:spPr>
          <a:xfrm>
            <a:off x="1645920" y="1737360"/>
            <a:ext cx="5943600" cy="493776"/>
          </a:xfrm>
          <a:prstGeom prst="rect">
            <a:avLst/>
          </a:prstGeom>
          <a:noFill/>
          <a:ln/>
        </p:spPr>
        <p:txBody>
          <a:bodyPr wrap="square" lIns="0" tIns="0" rIns="0" bIns="0" rtlCol="0" anchor="ctr"/>
          <a:lstStyle/>
          <a:p>
            <a:pPr indent="0" marL="0">
              <a:buNone/>
            </a:pPr>
            <a:r>
              <a:rPr lang="en-US" sz="2200" b="1" spc="300" kern="0" dirty="0">
                <a:solidFill>
                  <a:srgbClr val="000000"/>
                </a:solidFill>
                <a:latin typeface="Arial Black" pitchFamily="34" charset="0"/>
                <a:ea typeface="Arial Black" pitchFamily="34" charset="-122"/>
                <a:cs typeface="Arial Black" pitchFamily="34" charset="-120"/>
              </a:rPr>
              <a:t>LANDSCAPE</a:t>
            </a:r>
            <a:endParaRPr lang="en-US" sz="2200" dirty="0"/>
          </a:p>
        </p:txBody>
      </p:sp>
      <p:sp>
        <p:nvSpPr>
          <p:cNvPr id="7" name="Text 5"/>
          <p:cNvSpPr/>
          <p:nvPr/>
        </p:nvSpPr>
        <p:spPr>
          <a:xfrm>
            <a:off x="7315200" y="1737360"/>
            <a:ext cx="1371600" cy="493776"/>
          </a:xfrm>
          <a:prstGeom prst="rect">
            <a:avLst/>
          </a:prstGeom>
          <a:noFill/>
          <a:ln/>
        </p:spPr>
        <p:txBody>
          <a:bodyPr wrap="square" lIns="0" tIns="0" rIns="0" bIns="0" rtlCol="0" anchor="ctr"/>
          <a:lstStyle/>
          <a:p>
            <a:pPr algn="r" indent="0" marL="0">
              <a:buNone/>
            </a:pPr>
            <a:r>
              <a:rPr lang="en-US" sz="1400" dirty="0">
                <a:solidFill>
                  <a:srgbClr val="666666"/>
                </a:solidFill>
                <a:latin typeface="Arial" pitchFamily="34" charset="0"/>
                <a:ea typeface="Arial" pitchFamily="34" charset="-122"/>
                <a:cs typeface="Arial" pitchFamily="34" charset="-120"/>
              </a:rPr>
              <a:t>3 – 6</a:t>
            </a:r>
            <a:endParaRPr lang="en-US" sz="1400" dirty="0"/>
          </a:p>
        </p:txBody>
      </p:sp>
      <p:sp>
        <p:nvSpPr>
          <p:cNvPr id="8" name="Shape 6"/>
          <p:cNvSpPr/>
          <p:nvPr/>
        </p:nvSpPr>
        <p:spPr>
          <a:xfrm>
            <a:off x="731520" y="2267712"/>
            <a:ext cx="7955280" cy="0"/>
          </a:xfrm>
          <a:prstGeom prst="line">
            <a:avLst/>
          </a:prstGeom>
          <a:noFill/>
          <a:ln w="6350">
            <a:solidFill>
              <a:srgbClr val="E5E5E5"/>
            </a:solidFill>
            <a:prstDash val="solid"/>
          </a:ln>
        </p:spPr>
      </p:sp>
      <p:sp>
        <p:nvSpPr>
          <p:cNvPr id="9" name="Shape 7"/>
          <p:cNvSpPr/>
          <p:nvPr/>
        </p:nvSpPr>
        <p:spPr>
          <a:xfrm>
            <a:off x="457200" y="2304288"/>
            <a:ext cx="109728" cy="493776"/>
          </a:xfrm>
          <a:prstGeom prst="rect">
            <a:avLst/>
          </a:prstGeom>
          <a:solidFill>
            <a:srgbClr val="FFB800"/>
          </a:solidFill>
          <a:ln w="12700">
            <a:solidFill>
              <a:srgbClr val="FFB800"/>
            </a:solidFill>
            <a:prstDash val="solid"/>
          </a:ln>
        </p:spPr>
      </p:sp>
      <p:sp>
        <p:nvSpPr>
          <p:cNvPr id="10" name="Text 8"/>
          <p:cNvSpPr/>
          <p:nvPr/>
        </p:nvSpPr>
        <p:spPr>
          <a:xfrm>
            <a:off x="731520" y="2304288"/>
            <a:ext cx="822960" cy="493776"/>
          </a:xfrm>
          <a:prstGeom prst="rect">
            <a:avLst/>
          </a:prstGeom>
          <a:noFill/>
          <a:ln/>
        </p:spPr>
        <p:txBody>
          <a:bodyPr wrap="square" lIns="0" tIns="0" rIns="0" bIns="0" rtlCol="0" anchor="ctr"/>
          <a:lstStyle/>
          <a:p>
            <a:pPr indent="0" marL="0">
              <a:buNone/>
            </a:pPr>
            <a:r>
              <a:rPr lang="en-US" sz="2200" b="1" dirty="0">
                <a:solidFill>
                  <a:srgbClr val="FFB800"/>
                </a:solidFill>
                <a:latin typeface="Arial Black" pitchFamily="34" charset="0"/>
                <a:ea typeface="Arial Black" pitchFamily="34" charset="-122"/>
                <a:cs typeface="Arial Black" pitchFamily="34" charset="-120"/>
              </a:rPr>
              <a:t>02</a:t>
            </a:r>
            <a:endParaRPr lang="en-US" sz="2200" dirty="0"/>
          </a:p>
        </p:txBody>
      </p:sp>
      <p:sp>
        <p:nvSpPr>
          <p:cNvPr id="11" name="Text 9"/>
          <p:cNvSpPr/>
          <p:nvPr/>
        </p:nvSpPr>
        <p:spPr>
          <a:xfrm>
            <a:off x="1645920" y="2304288"/>
            <a:ext cx="5943600" cy="493776"/>
          </a:xfrm>
          <a:prstGeom prst="rect">
            <a:avLst/>
          </a:prstGeom>
          <a:noFill/>
          <a:ln/>
        </p:spPr>
        <p:txBody>
          <a:bodyPr wrap="square" lIns="0" tIns="0" rIns="0" bIns="0" rtlCol="0" anchor="ctr"/>
          <a:lstStyle/>
          <a:p>
            <a:pPr indent="0" marL="0">
              <a:buNone/>
            </a:pPr>
            <a:r>
              <a:rPr lang="en-US" sz="2200" b="1" spc="300" kern="0" dirty="0">
                <a:solidFill>
                  <a:srgbClr val="000000"/>
                </a:solidFill>
                <a:latin typeface="Arial Black" pitchFamily="34" charset="0"/>
                <a:ea typeface="Arial Black" pitchFamily="34" charset="-122"/>
                <a:cs typeface="Arial Black" pitchFamily="34" charset="-120"/>
              </a:rPr>
              <a:t>MARKET</a:t>
            </a:r>
            <a:endParaRPr lang="en-US" sz="2200" dirty="0"/>
          </a:p>
        </p:txBody>
      </p:sp>
      <p:sp>
        <p:nvSpPr>
          <p:cNvPr id="12" name="Text 10"/>
          <p:cNvSpPr/>
          <p:nvPr/>
        </p:nvSpPr>
        <p:spPr>
          <a:xfrm>
            <a:off x="7315200" y="2304288"/>
            <a:ext cx="1371600" cy="493776"/>
          </a:xfrm>
          <a:prstGeom prst="rect">
            <a:avLst/>
          </a:prstGeom>
          <a:noFill/>
          <a:ln/>
        </p:spPr>
        <p:txBody>
          <a:bodyPr wrap="square" lIns="0" tIns="0" rIns="0" bIns="0" rtlCol="0" anchor="ctr"/>
          <a:lstStyle/>
          <a:p>
            <a:pPr algn="r" indent="0" marL="0">
              <a:buNone/>
            </a:pPr>
            <a:r>
              <a:rPr lang="en-US" sz="1400" dirty="0">
                <a:solidFill>
                  <a:srgbClr val="666666"/>
                </a:solidFill>
                <a:latin typeface="Arial" pitchFamily="34" charset="0"/>
                <a:ea typeface="Arial" pitchFamily="34" charset="-122"/>
                <a:cs typeface="Arial" pitchFamily="34" charset="-120"/>
              </a:rPr>
              <a:t>7 – 11</a:t>
            </a:r>
            <a:endParaRPr lang="en-US" sz="1400" dirty="0"/>
          </a:p>
        </p:txBody>
      </p:sp>
      <p:sp>
        <p:nvSpPr>
          <p:cNvPr id="13" name="Shape 11"/>
          <p:cNvSpPr/>
          <p:nvPr/>
        </p:nvSpPr>
        <p:spPr>
          <a:xfrm>
            <a:off x="731520" y="2834640"/>
            <a:ext cx="7955280" cy="0"/>
          </a:xfrm>
          <a:prstGeom prst="line">
            <a:avLst/>
          </a:prstGeom>
          <a:noFill/>
          <a:ln w="6350">
            <a:solidFill>
              <a:srgbClr val="E5E5E5"/>
            </a:solidFill>
            <a:prstDash val="solid"/>
          </a:ln>
        </p:spPr>
      </p:sp>
      <p:sp>
        <p:nvSpPr>
          <p:cNvPr id="14" name="Shape 12"/>
          <p:cNvSpPr/>
          <p:nvPr/>
        </p:nvSpPr>
        <p:spPr>
          <a:xfrm>
            <a:off x="457200" y="2871216"/>
            <a:ext cx="109728" cy="493776"/>
          </a:xfrm>
          <a:prstGeom prst="rect">
            <a:avLst/>
          </a:prstGeom>
          <a:solidFill>
            <a:srgbClr val="F6693D"/>
          </a:solidFill>
          <a:ln w="12700">
            <a:solidFill>
              <a:srgbClr val="F6693D"/>
            </a:solidFill>
            <a:prstDash val="solid"/>
          </a:ln>
        </p:spPr>
      </p:sp>
      <p:sp>
        <p:nvSpPr>
          <p:cNvPr id="15" name="Text 13"/>
          <p:cNvSpPr/>
          <p:nvPr/>
        </p:nvSpPr>
        <p:spPr>
          <a:xfrm>
            <a:off x="731520" y="2871216"/>
            <a:ext cx="822960" cy="493776"/>
          </a:xfrm>
          <a:prstGeom prst="rect">
            <a:avLst/>
          </a:prstGeom>
          <a:noFill/>
          <a:ln/>
        </p:spPr>
        <p:txBody>
          <a:bodyPr wrap="square" lIns="0" tIns="0" rIns="0" bIns="0" rtlCol="0" anchor="ctr"/>
          <a:lstStyle/>
          <a:p>
            <a:pPr indent="0" marL="0">
              <a:buNone/>
            </a:pPr>
            <a:r>
              <a:rPr lang="en-US" sz="2200" b="1" dirty="0">
                <a:solidFill>
                  <a:srgbClr val="F6693D"/>
                </a:solidFill>
                <a:latin typeface="Arial Black" pitchFamily="34" charset="0"/>
                <a:ea typeface="Arial Black" pitchFamily="34" charset="-122"/>
                <a:cs typeface="Arial Black" pitchFamily="34" charset="-120"/>
              </a:rPr>
              <a:t>03</a:t>
            </a:r>
            <a:endParaRPr lang="en-US" sz="2200" dirty="0"/>
          </a:p>
        </p:txBody>
      </p:sp>
      <p:sp>
        <p:nvSpPr>
          <p:cNvPr id="16" name="Text 14"/>
          <p:cNvSpPr/>
          <p:nvPr/>
        </p:nvSpPr>
        <p:spPr>
          <a:xfrm>
            <a:off x="1645920" y="2871216"/>
            <a:ext cx="5943600" cy="493776"/>
          </a:xfrm>
          <a:prstGeom prst="rect">
            <a:avLst/>
          </a:prstGeom>
          <a:noFill/>
          <a:ln/>
        </p:spPr>
        <p:txBody>
          <a:bodyPr wrap="square" lIns="0" tIns="0" rIns="0" bIns="0" rtlCol="0" anchor="ctr"/>
          <a:lstStyle/>
          <a:p>
            <a:pPr indent="0" marL="0">
              <a:buNone/>
            </a:pPr>
            <a:r>
              <a:rPr lang="en-US" sz="2200" b="1" spc="300" kern="0" dirty="0">
                <a:solidFill>
                  <a:srgbClr val="000000"/>
                </a:solidFill>
                <a:latin typeface="Arial Black" pitchFamily="34" charset="0"/>
                <a:ea typeface="Arial Black" pitchFamily="34" charset="-122"/>
                <a:cs typeface="Arial Black" pitchFamily="34" charset="-120"/>
              </a:rPr>
              <a:t>SHIFTS</a:t>
            </a:r>
            <a:endParaRPr lang="en-US" sz="2200" dirty="0"/>
          </a:p>
        </p:txBody>
      </p:sp>
      <p:sp>
        <p:nvSpPr>
          <p:cNvPr id="17" name="Text 15"/>
          <p:cNvSpPr/>
          <p:nvPr/>
        </p:nvSpPr>
        <p:spPr>
          <a:xfrm>
            <a:off x="7315200" y="2871216"/>
            <a:ext cx="1371600" cy="493776"/>
          </a:xfrm>
          <a:prstGeom prst="rect">
            <a:avLst/>
          </a:prstGeom>
          <a:noFill/>
          <a:ln/>
        </p:spPr>
        <p:txBody>
          <a:bodyPr wrap="square" lIns="0" tIns="0" rIns="0" bIns="0" rtlCol="0" anchor="ctr"/>
          <a:lstStyle/>
          <a:p>
            <a:pPr algn="r" indent="0" marL="0">
              <a:buNone/>
            </a:pPr>
            <a:r>
              <a:rPr lang="en-US" sz="1400" dirty="0">
                <a:solidFill>
                  <a:srgbClr val="666666"/>
                </a:solidFill>
                <a:latin typeface="Arial" pitchFamily="34" charset="0"/>
                <a:ea typeface="Arial" pitchFamily="34" charset="-122"/>
                <a:cs typeface="Arial" pitchFamily="34" charset="-120"/>
              </a:rPr>
              <a:t>12 – 13</a:t>
            </a:r>
            <a:endParaRPr lang="en-US" sz="1400" dirty="0"/>
          </a:p>
        </p:txBody>
      </p:sp>
      <p:sp>
        <p:nvSpPr>
          <p:cNvPr id="18" name="Shape 16"/>
          <p:cNvSpPr/>
          <p:nvPr/>
        </p:nvSpPr>
        <p:spPr>
          <a:xfrm>
            <a:off x="731520" y="3401568"/>
            <a:ext cx="7955280" cy="0"/>
          </a:xfrm>
          <a:prstGeom prst="line">
            <a:avLst/>
          </a:prstGeom>
          <a:noFill/>
          <a:ln w="6350">
            <a:solidFill>
              <a:srgbClr val="E5E5E5"/>
            </a:solidFill>
            <a:prstDash val="solid"/>
          </a:ln>
        </p:spPr>
      </p:sp>
      <p:sp>
        <p:nvSpPr>
          <p:cNvPr id="19" name="Shape 17"/>
          <p:cNvSpPr/>
          <p:nvPr/>
        </p:nvSpPr>
        <p:spPr>
          <a:xfrm>
            <a:off x="457200" y="3438144"/>
            <a:ext cx="109728" cy="493776"/>
          </a:xfrm>
          <a:prstGeom prst="rect">
            <a:avLst/>
          </a:prstGeom>
          <a:solidFill>
            <a:srgbClr val="CC0000"/>
          </a:solidFill>
          <a:ln w="12700">
            <a:solidFill>
              <a:srgbClr val="CC0000"/>
            </a:solidFill>
            <a:prstDash val="solid"/>
          </a:ln>
        </p:spPr>
      </p:sp>
      <p:sp>
        <p:nvSpPr>
          <p:cNvPr id="20" name="Text 18"/>
          <p:cNvSpPr/>
          <p:nvPr/>
        </p:nvSpPr>
        <p:spPr>
          <a:xfrm>
            <a:off x="731520" y="3438144"/>
            <a:ext cx="822960" cy="493776"/>
          </a:xfrm>
          <a:prstGeom prst="rect">
            <a:avLst/>
          </a:prstGeom>
          <a:noFill/>
          <a:ln/>
        </p:spPr>
        <p:txBody>
          <a:bodyPr wrap="square" lIns="0" tIns="0" rIns="0" bIns="0" rtlCol="0" anchor="ctr"/>
          <a:lstStyle/>
          <a:p>
            <a:pPr indent="0" marL="0">
              <a:buNone/>
            </a:pPr>
            <a:r>
              <a:rPr lang="en-US" sz="2200" b="1" dirty="0">
                <a:solidFill>
                  <a:srgbClr val="CC0000"/>
                </a:solidFill>
                <a:latin typeface="Arial Black" pitchFamily="34" charset="0"/>
                <a:ea typeface="Arial Black" pitchFamily="34" charset="-122"/>
                <a:cs typeface="Arial Black" pitchFamily="34" charset="-120"/>
              </a:rPr>
              <a:t>04</a:t>
            </a:r>
            <a:endParaRPr lang="en-US" sz="2200" dirty="0"/>
          </a:p>
        </p:txBody>
      </p:sp>
      <p:sp>
        <p:nvSpPr>
          <p:cNvPr id="21" name="Text 19"/>
          <p:cNvSpPr/>
          <p:nvPr/>
        </p:nvSpPr>
        <p:spPr>
          <a:xfrm>
            <a:off x="1645920" y="3438144"/>
            <a:ext cx="5943600" cy="493776"/>
          </a:xfrm>
          <a:prstGeom prst="rect">
            <a:avLst/>
          </a:prstGeom>
          <a:noFill/>
          <a:ln/>
        </p:spPr>
        <p:txBody>
          <a:bodyPr wrap="square" lIns="0" tIns="0" rIns="0" bIns="0" rtlCol="0" anchor="ctr"/>
          <a:lstStyle/>
          <a:p>
            <a:pPr indent="0" marL="0">
              <a:buNone/>
            </a:pPr>
            <a:r>
              <a:rPr lang="en-US" sz="2200" b="1" spc="300" kern="0" dirty="0">
                <a:solidFill>
                  <a:srgbClr val="000000"/>
                </a:solidFill>
                <a:latin typeface="Arial Black" pitchFamily="34" charset="0"/>
                <a:ea typeface="Arial Black" pitchFamily="34" charset="-122"/>
                <a:cs typeface="Arial Black" pitchFamily="34" charset="-120"/>
              </a:rPr>
              <a:t>RISKS</a:t>
            </a:r>
            <a:endParaRPr lang="en-US" sz="2200" dirty="0"/>
          </a:p>
        </p:txBody>
      </p:sp>
      <p:sp>
        <p:nvSpPr>
          <p:cNvPr id="22" name="Text 20"/>
          <p:cNvSpPr/>
          <p:nvPr/>
        </p:nvSpPr>
        <p:spPr>
          <a:xfrm>
            <a:off x="7315200" y="3438144"/>
            <a:ext cx="1371600" cy="493776"/>
          </a:xfrm>
          <a:prstGeom prst="rect">
            <a:avLst/>
          </a:prstGeom>
          <a:noFill/>
          <a:ln/>
        </p:spPr>
        <p:txBody>
          <a:bodyPr wrap="square" lIns="0" tIns="0" rIns="0" bIns="0" rtlCol="0" anchor="ctr"/>
          <a:lstStyle/>
          <a:p>
            <a:pPr algn="r" indent="0" marL="0">
              <a:buNone/>
            </a:pPr>
            <a:r>
              <a:rPr lang="en-US" sz="1400" dirty="0">
                <a:solidFill>
                  <a:srgbClr val="666666"/>
                </a:solidFill>
                <a:latin typeface="Arial" pitchFamily="34" charset="0"/>
                <a:ea typeface="Arial" pitchFamily="34" charset="-122"/>
                <a:cs typeface="Arial" pitchFamily="34" charset="-120"/>
              </a:rPr>
              <a:t>14 – 17</a:t>
            </a:r>
            <a:endParaRPr lang="en-US" sz="1400" dirty="0"/>
          </a:p>
        </p:txBody>
      </p:sp>
      <p:sp>
        <p:nvSpPr>
          <p:cNvPr id="23" name="Shape 21"/>
          <p:cNvSpPr/>
          <p:nvPr/>
        </p:nvSpPr>
        <p:spPr>
          <a:xfrm>
            <a:off x="731520" y="3968496"/>
            <a:ext cx="7955280" cy="0"/>
          </a:xfrm>
          <a:prstGeom prst="line">
            <a:avLst/>
          </a:prstGeom>
          <a:noFill/>
          <a:ln w="6350">
            <a:solidFill>
              <a:srgbClr val="E5E5E5"/>
            </a:solidFill>
            <a:prstDash val="solid"/>
          </a:ln>
        </p:spPr>
      </p:sp>
      <p:sp>
        <p:nvSpPr>
          <p:cNvPr id="24" name="Shape 22"/>
          <p:cNvSpPr/>
          <p:nvPr/>
        </p:nvSpPr>
        <p:spPr>
          <a:xfrm>
            <a:off x="457200" y="4005072"/>
            <a:ext cx="109728" cy="493776"/>
          </a:xfrm>
          <a:prstGeom prst="rect">
            <a:avLst/>
          </a:prstGeom>
          <a:solidFill>
            <a:srgbClr val="6B46C1"/>
          </a:solidFill>
          <a:ln w="12700">
            <a:solidFill>
              <a:srgbClr val="6B46C1"/>
            </a:solidFill>
            <a:prstDash val="solid"/>
          </a:ln>
        </p:spPr>
      </p:sp>
      <p:sp>
        <p:nvSpPr>
          <p:cNvPr id="25" name="Text 23"/>
          <p:cNvSpPr/>
          <p:nvPr/>
        </p:nvSpPr>
        <p:spPr>
          <a:xfrm>
            <a:off x="731520" y="4005072"/>
            <a:ext cx="822960" cy="493776"/>
          </a:xfrm>
          <a:prstGeom prst="rect">
            <a:avLst/>
          </a:prstGeom>
          <a:noFill/>
          <a:ln/>
        </p:spPr>
        <p:txBody>
          <a:bodyPr wrap="square" lIns="0" tIns="0" rIns="0" bIns="0" rtlCol="0" anchor="ctr"/>
          <a:lstStyle/>
          <a:p>
            <a:pPr indent="0" marL="0">
              <a:buNone/>
            </a:pPr>
            <a:r>
              <a:rPr lang="en-US" sz="2200" b="1" dirty="0">
                <a:solidFill>
                  <a:srgbClr val="6B46C1"/>
                </a:solidFill>
                <a:latin typeface="Arial Black" pitchFamily="34" charset="0"/>
                <a:ea typeface="Arial Black" pitchFamily="34" charset="-122"/>
                <a:cs typeface="Arial Black" pitchFamily="34" charset="-120"/>
              </a:rPr>
              <a:t>05</a:t>
            </a:r>
            <a:endParaRPr lang="en-US" sz="2200" dirty="0"/>
          </a:p>
        </p:txBody>
      </p:sp>
      <p:sp>
        <p:nvSpPr>
          <p:cNvPr id="26" name="Text 24"/>
          <p:cNvSpPr/>
          <p:nvPr/>
        </p:nvSpPr>
        <p:spPr>
          <a:xfrm>
            <a:off x="1645920" y="4005072"/>
            <a:ext cx="5943600" cy="493776"/>
          </a:xfrm>
          <a:prstGeom prst="rect">
            <a:avLst/>
          </a:prstGeom>
          <a:noFill/>
          <a:ln/>
        </p:spPr>
        <p:txBody>
          <a:bodyPr wrap="square" lIns="0" tIns="0" rIns="0" bIns="0" rtlCol="0" anchor="ctr"/>
          <a:lstStyle/>
          <a:p>
            <a:pPr indent="0" marL="0">
              <a:buNone/>
            </a:pPr>
            <a:r>
              <a:rPr lang="en-US" sz="2200" b="1" spc="300" kern="0" dirty="0">
                <a:solidFill>
                  <a:srgbClr val="000000"/>
                </a:solidFill>
                <a:latin typeface="Arial Black" pitchFamily="34" charset="0"/>
                <a:ea typeface="Arial Black" pitchFamily="34" charset="-122"/>
                <a:cs typeface="Arial Black" pitchFamily="34" charset="-120"/>
              </a:rPr>
              <a:t>FRONTIER</a:t>
            </a:r>
            <a:endParaRPr lang="en-US" sz="2200" dirty="0"/>
          </a:p>
        </p:txBody>
      </p:sp>
      <p:sp>
        <p:nvSpPr>
          <p:cNvPr id="27" name="Text 25"/>
          <p:cNvSpPr/>
          <p:nvPr/>
        </p:nvSpPr>
        <p:spPr>
          <a:xfrm>
            <a:off x="7315200" y="4005072"/>
            <a:ext cx="1371600" cy="493776"/>
          </a:xfrm>
          <a:prstGeom prst="rect">
            <a:avLst/>
          </a:prstGeom>
          <a:noFill/>
          <a:ln/>
        </p:spPr>
        <p:txBody>
          <a:bodyPr wrap="square" lIns="0" tIns="0" rIns="0" bIns="0" rtlCol="0" anchor="ctr"/>
          <a:lstStyle/>
          <a:p>
            <a:pPr algn="r" indent="0" marL="0">
              <a:buNone/>
            </a:pPr>
            <a:r>
              <a:rPr lang="en-US" sz="1400" dirty="0">
                <a:solidFill>
                  <a:srgbClr val="666666"/>
                </a:solidFill>
                <a:latin typeface="Arial" pitchFamily="34" charset="0"/>
                <a:ea typeface="Arial" pitchFamily="34" charset="-122"/>
                <a:cs typeface="Arial" pitchFamily="34" charset="-120"/>
              </a:rPr>
              <a:t>18 – 21</a:t>
            </a:r>
            <a:endParaRPr lang="en-US" sz="1400" dirty="0"/>
          </a:p>
        </p:txBody>
      </p:sp>
      <p:sp>
        <p:nvSpPr>
          <p:cNvPr id="28" name="Shape 26"/>
          <p:cNvSpPr/>
          <p:nvPr/>
        </p:nvSpPr>
        <p:spPr>
          <a:xfrm>
            <a:off x="731520" y="4535424"/>
            <a:ext cx="7955280" cy="0"/>
          </a:xfrm>
          <a:prstGeom prst="line">
            <a:avLst/>
          </a:prstGeom>
          <a:noFill/>
          <a:ln w="6350">
            <a:solidFill>
              <a:srgbClr val="E5E5E5"/>
            </a:solidFill>
            <a:prstDash val="solid"/>
          </a:ln>
        </p:spPr>
      </p:sp>
      <p:sp>
        <p:nvSpPr>
          <p:cNvPr id="29" name="Shape 27"/>
          <p:cNvSpPr/>
          <p:nvPr/>
        </p:nvSpPr>
        <p:spPr>
          <a:xfrm>
            <a:off x="457200" y="4572000"/>
            <a:ext cx="109728" cy="493776"/>
          </a:xfrm>
          <a:prstGeom prst="rect">
            <a:avLst/>
          </a:prstGeom>
          <a:solidFill>
            <a:srgbClr val="000000"/>
          </a:solidFill>
          <a:ln w="12700">
            <a:solidFill>
              <a:srgbClr val="000000"/>
            </a:solidFill>
            <a:prstDash val="solid"/>
          </a:ln>
        </p:spPr>
      </p:sp>
      <p:sp>
        <p:nvSpPr>
          <p:cNvPr id="30" name="Text 28"/>
          <p:cNvSpPr/>
          <p:nvPr/>
        </p:nvSpPr>
        <p:spPr>
          <a:xfrm>
            <a:off x="731520" y="4572000"/>
            <a:ext cx="822960" cy="493776"/>
          </a:xfrm>
          <a:prstGeom prst="rect">
            <a:avLst/>
          </a:prstGeom>
          <a:noFill/>
          <a:ln/>
        </p:spPr>
        <p:txBody>
          <a:bodyPr wrap="square" lIns="0" tIns="0" rIns="0" bIns="0" rtlCol="0" anchor="ctr"/>
          <a:lstStyle/>
          <a:p>
            <a:pPr indent="0" marL="0">
              <a:buNone/>
            </a:pPr>
            <a:r>
              <a:rPr lang="en-US" sz="2200" b="1" dirty="0">
                <a:solidFill>
                  <a:srgbClr val="000000"/>
                </a:solidFill>
                <a:latin typeface="Arial Black" pitchFamily="34" charset="0"/>
                <a:ea typeface="Arial Black" pitchFamily="34" charset="-122"/>
                <a:cs typeface="Arial Black" pitchFamily="34" charset="-120"/>
              </a:rPr>
              <a:t>06</a:t>
            </a:r>
            <a:endParaRPr lang="en-US" sz="2200" dirty="0"/>
          </a:p>
        </p:txBody>
      </p:sp>
      <p:sp>
        <p:nvSpPr>
          <p:cNvPr id="31" name="Text 29"/>
          <p:cNvSpPr/>
          <p:nvPr/>
        </p:nvSpPr>
        <p:spPr>
          <a:xfrm>
            <a:off x="1645920" y="4572000"/>
            <a:ext cx="5943600" cy="493776"/>
          </a:xfrm>
          <a:prstGeom prst="rect">
            <a:avLst/>
          </a:prstGeom>
          <a:noFill/>
          <a:ln/>
        </p:spPr>
        <p:txBody>
          <a:bodyPr wrap="square" lIns="0" tIns="0" rIns="0" bIns="0" rtlCol="0" anchor="ctr"/>
          <a:lstStyle/>
          <a:p>
            <a:pPr indent="0" marL="0">
              <a:buNone/>
            </a:pPr>
            <a:r>
              <a:rPr lang="en-US" sz="2200" b="1" spc="300" kern="0" dirty="0">
                <a:solidFill>
                  <a:srgbClr val="000000"/>
                </a:solidFill>
                <a:latin typeface="Arial Black" pitchFamily="34" charset="0"/>
                <a:ea typeface="Arial Black" pitchFamily="34" charset="-122"/>
                <a:cs typeface="Arial Black" pitchFamily="34" charset="-120"/>
              </a:rPr>
              <a:t>TAKEAWAYS</a:t>
            </a:r>
            <a:endParaRPr lang="en-US" sz="2200" dirty="0"/>
          </a:p>
        </p:txBody>
      </p:sp>
      <p:sp>
        <p:nvSpPr>
          <p:cNvPr id="32" name="Text 30"/>
          <p:cNvSpPr/>
          <p:nvPr/>
        </p:nvSpPr>
        <p:spPr>
          <a:xfrm>
            <a:off x="7315200" y="4572000"/>
            <a:ext cx="1371600" cy="493776"/>
          </a:xfrm>
          <a:prstGeom prst="rect">
            <a:avLst/>
          </a:prstGeom>
          <a:noFill/>
          <a:ln/>
        </p:spPr>
        <p:txBody>
          <a:bodyPr wrap="square" lIns="0" tIns="0" rIns="0" bIns="0" rtlCol="0" anchor="ctr"/>
          <a:lstStyle/>
          <a:p>
            <a:pPr algn="r" indent="0" marL="0">
              <a:buNone/>
            </a:pPr>
            <a:r>
              <a:rPr lang="en-US" sz="1400" dirty="0">
                <a:solidFill>
                  <a:srgbClr val="666666"/>
                </a:solidFill>
                <a:latin typeface="Arial" pitchFamily="34" charset="0"/>
                <a:ea typeface="Arial" pitchFamily="34" charset="-122"/>
                <a:cs typeface="Arial" pitchFamily="34" charset="-120"/>
              </a:rPr>
              <a:t>22</a:t>
            </a:r>
            <a:endParaRPr lang="en-US" sz="1400" dirty="0"/>
          </a:p>
        </p:txBody>
      </p:sp>
      <p:sp>
        <p:nvSpPr>
          <p:cNvPr id="33" name="Shape 31"/>
          <p:cNvSpPr/>
          <p:nvPr/>
        </p:nvSpPr>
        <p:spPr>
          <a:xfrm>
            <a:off x="731520" y="5102352"/>
            <a:ext cx="7955280" cy="0"/>
          </a:xfrm>
          <a:prstGeom prst="line">
            <a:avLst/>
          </a:prstGeom>
          <a:noFill/>
          <a:ln w="6350">
            <a:solidFill>
              <a:srgbClr val="E5E5E5"/>
            </a:solidFill>
            <a:prstDash val="solid"/>
          </a:ln>
        </p:spPr>
      </p:sp>
      <p:sp>
        <p:nvSpPr>
          <p:cNvPr id="34" name="Shape 32"/>
          <p:cNvSpPr/>
          <p:nvPr/>
        </p:nvSpPr>
        <p:spPr>
          <a:xfrm>
            <a:off x="457200" y="5138928"/>
            <a:ext cx="109728" cy="493776"/>
          </a:xfrm>
          <a:prstGeom prst="rect">
            <a:avLst/>
          </a:prstGeom>
          <a:solidFill>
            <a:srgbClr val="666666"/>
          </a:solidFill>
          <a:ln w="12700">
            <a:solidFill>
              <a:srgbClr val="666666"/>
            </a:solidFill>
            <a:prstDash val="solid"/>
          </a:ln>
        </p:spPr>
      </p:sp>
      <p:sp>
        <p:nvSpPr>
          <p:cNvPr id="35" name="Text 33"/>
          <p:cNvSpPr/>
          <p:nvPr/>
        </p:nvSpPr>
        <p:spPr>
          <a:xfrm>
            <a:off x="731520" y="5138928"/>
            <a:ext cx="822960" cy="493776"/>
          </a:xfrm>
          <a:prstGeom prst="rect">
            <a:avLst/>
          </a:prstGeom>
          <a:noFill/>
          <a:ln/>
        </p:spPr>
        <p:txBody>
          <a:bodyPr wrap="square" lIns="0" tIns="0" rIns="0" bIns="0" rtlCol="0" anchor="ctr"/>
          <a:lstStyle/>
          <a:p>
            <a:pPr indent="0" marL="0">
              <a:buNone/>
            </a:pPr>
            <a:r>
              <a:rPr lang="en-US" sz="2200" b="1" dirty="0">
                <a:solidFill>
                  <a:srgbClr val="666666"/>
                </a:solidFill>
                <a:latin typeface="Arial Black" pitchFamily="34" charset="0"/>
                <a:ea typeface="Arial Black" pitchFamily="34" charset="-122"/>
                <a:cs typeface="Arial Black" pitchFamily="34" charset="-120"/>
              </a:rPr>
              <a:t>07</a:t>
            </a:r>
            <a:endParaRPr lang="en-US" sz="2200" dirty="0"/>
          </a:p>
        </p:txBody>
      </p:sp>
      <p:sp>
        <p:nvSpPr>
          <p:cNvPr id="36" name="Text 34"/>
          <p:cNvSpPr/>
          <p:nvPr/>
        </p:nvSpPr>
        <p:spPr>
          <a:xfrm>
            <a:off x="1645920" y="5138928"/>
            <a:ext cx="5943600" cy="493776"/>
          </a:xfrm>
          <a:prstGeom prst="rect">
            <a:avLst/>
          </a:prstGeom>
          <a:noFill/>
          <a:ln/>
        </p:spPr>
        <p:txBody>
          <a:bodyPr wrap="square" lIns="0" tIns="0" rIns="0" bIns="0" rtlCol="0" anchor="ctr"/>
          <a:lstStyle/>
          <a:p>
            <a:pPr indent="0" marL="0">
              <a:buNone/>
            </a:pPr>
            <a:r>
              <a:rPr lang="en-US" sz="2200" b="1" spc="300" kern="0" dirty="0">
                <a:solidFill>
                  <a:srgbClr val="000000"/>
                </a:solidFill>
                <a:latin typeface="Arial Black" pitchFamily="34" charset="0"/>
                <a:ea typeface="Arial Black" pitchFamily="34" charset="-122"/>
                <a:cs typeface="Arial Black" pitchFamily="34" charset="-120"/>
              </a:rPr>
              <a:t>APPENDIX</a:t>
            </a:r>
            <a:endParaRPr lang="en-US" sz="2200" dirty="0"/>
          </a:p>
        </p:txBody>
      </p:sp>
      <p:sp>
        <p:nvSpPr>
          <p:cNvPr id="37" name="Text 35"/>
          <p:cNvSpPr/>
          <p:nvPr/>
        </p:nvSpPr>
        <p:spPr>
          <a:xfrm>
            <a:off x="7315200" y="5138928"/>
            <a:ext cx="1371600" cy="493776"/>
          </a:xfrm>
          <a:prstGeom prst="rect">
            <a:avLst/>
          </a:prstGeom>
          <a:noFill/>
          <a:ln/>
        </p:spPr>
        <p:txBody>
          <a:bodyPr wrap="square" lIns="0" tIns="0" rIns="0" bIns="0" rtlCol="0" anchor="ctr"/>
          <a:lstStyle/>
          <a:p>
            <a:pPr algn="r" indent="0" marL="0">
              <a:buNone/>
            </a:pPr>
            <a:r>
              <a:rPr lang="en-US" sz="1400" dirty="0">
                <a:solidFill>
                  <a:srgbClr val="666666"/>
                </a:solidFill>
                <a:latin typeface="Arial" pitchFamily="34" charset="0"/>
                <a:ea typeface="Arial" pitchFamily="34" charset="-122"/>
                <a:cs typeface="Arial" pitchFamily="34" charset="-120"/>
              </a:rPr>
              <a:t>23 – 24</a:t>
            </a:r>
            <a:endParaRPr lang="en-US" sz="1400" dirty="0"/>
          </a:p>
        </p:txBody>
      </p:sp>
      <p:sp>
        <p:nvSpPr>
          <p:cNvPr id="38" name="Text 36"/>
          <p:cNvSpPr/>
          <p:nvPr/>
        </p:nvSpPr>
        <p:spPr>
          <a:xfrm>
            <a:off x="457200" y="5875020"/>
            <a:ext cx="8229600" cy="320040"/>
          </a:xfrm>
          <a:prstGeom prst="rect">
            <a:avLst/>
          </a:prstGeom>
          <a:noFill/>
          <a:ln/>
        </p:spPr>
        <p:txBody>
          <a:bodyPr wrap="square" lIns="0" tIns="0" rIns="0" bIns="0" rtlCol="0" anchor="t"/>
          <a:lstStyle/>
          <a:p>
            <a:pPr indent="0" marL="0">
              <a:buNone/>
            </a:pPr>
            <a:r>
              <a:rPr lang="en-US" sz="700" dirty="0">
                <a:solidFill>
                  <a:srgbClr val="999999"/>
                </a:solidFill>
                <a:latin typeface="Arial" pitchFamily="34" charset="0"/>
                <a:ea typeface="Arial" pitchFamily="34" charset="-122"/>
                <a:cs typeface="Arial" pitchFamily="34" charset="-120"/>
              </a:rPr>
              <a:t>Source: Strategy Research. 24 slides, read top to bottom.</a:t>
            </a:r>
            <a:endParaRPr lang="en-US" sz="700" dirty="0"/>
          </a:p>
        </p:txBody>
      </p:sp>
      <p:sp>
        <p:nvSpPr>
          <p:cNvPr id="39" name="Shape 37"/>
          <p:cNvSpPr/>
          <p:nvPr/>
        </p:nvSpPr>
        <p:spPr>
          <a:xfrm>
            <a:off x="0" y="6286500"/>
            <a:ext cx="9144000" cy="571500"/>
          </a:xfrm>
          <a:prstGeom prst="rect">
            <a:avLst/>
          </a:prstGeom>
          <a:solidFill>
            <a:srgbClr val="000000"/>
          </a:solidFill>
          <a:ln w="12700">
            <a:solidFill>
              <a:srgbClr val="000000"/>
            </a:solidFill>
            <a:prstDash val="solid"/>
          </a:ln>
        </p:spPr>
      </p:sp>
      <p:sp>
        <p:nvSpPr>
          <p:cNvPr id="40" name="Text 38"/>
          <p:cNvSpPr/>
          <p:nvPr/>
        </p:nvSpPr>
        <p:spPr>
          <a:xfrm>
            <a:off x="1371600" y="6332220"/>
            <a:ext cx="6400800" cy="45720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41" name="Text 39"/>
          <p:cNvSpPr/>
          <p:nvPr/>
        </p:nvSpPr>
        <p:spPr>
          <a:xfrm>
            <a:off x="8321040" y="6405372"/>
            <a:ext cx="548640" cy="27432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008B8B"/>
          </a:solidFill>
          <a:ln w="12700">
            <a:solidFill>
              <a:srgbClr val="008B8B"/>
            </a:solidFill>
            <a:prstDash val="solid"/>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Arial" pitchFamily="34" charset="0"/>
                <a:ea typeface="Arial" pitchFamily="34" charset="-122"/>
                <a:cs typeface="Arial" pitchFamily="34" charset="-120"/>
              </a:rPr>
              <a:t>LANDSCAPE</a:t>
            </a:r>
            <a:endParaRPr lang="en-US" sz="1000" dirty="0"/>
          </a:p>
        </p:txBody>
      </p:sp>
      <p:sp>
        <p:nvSpPr>
          <p:cNvPr id="4" name="Text 2"/>
          <p:cNvSpPr/>
          <p:nvPr/>
        </p:nvSpPr>
        <p:spPr>
          <a:xfrm>
            <a:off x="457200" y="182880"/>
            <a:ext cx="6583680" cy="685800"/>
          </a:xfrm>
          <a:prstGeom prst="rect">
            <a:avLst/>
          </a:prstGeom>
          <a:noFill/>
          <a:ln/>
        </p:spPr>
        <p:txBody>
          <a:bodyPr wrap="square" lIns="0" tIns="0" rIns="0" bIns="0" rtlCol="0" anchor="t"/>
          <a:lstStyle/>
          <a:p>
            <a:pPr indent="0" marL="0">
              <a:buNone/>
            </a:pPr>
            <a:r>
              <a:rPr lang="en-US" sz="2400" b="1" dirty="0">
                <a:solidFill>
                  <a:srgbClr val="000000"/>
                </a:solidFill>
                <a:latin typeface="Arial Black" pitchFamily="34" charset="0"/>
                <a:ea typeface="Arial Black" pitchFamily="34" charset="-122"/>
                <a:cs typeface="Arial Black" pitchFamily="34" charset="-120"/>
              </a:rPr>
              <a:t>Why AI matters to markets.</a:t>
            </a:r>
            <a:endParaRPr lang="en-US" sz="2400" dirty="0"/>
          </a:p>
        </p:txBody>
      </p:sp>
      <p:sp>
        <p:nvSpPr>
          <p:cNvPr id="5" name="Shape 3"/>
          <p:cNvSpPr/>
          <p:nvPr/>
        </p:nvSpPr>
        <p:spPr>
          <a:xfrm>
            <a:off x="457200" y="1325880"/>
            <a:ext cx="8229600" cy="0"/>
          </a:xfrm>
          <a:prstGeom prst="line">
            <a:avLst/>
          </a:prstGeom>
          <a:noFill/>
          <a:ln w="9525">
            <a:solidFill>
              <a:srgbClr val="E5E5E5"/>
            </a:solidFill>
            <a:prstDash val="solid"/>
          </a:ln>
        </p:spPr>
      </p:sp>
      <p:sp>
        <p:nvSpPr>
          <p:cNvPr id="6" name="Shape 4"/>
          <p:cNvSpPr/>
          <p:nvPr/>
        </p:nvSpPr>
        <p:spPr>
          <a:xfrm>
            <a:off x="457200" y="1783080"/>
            <a:ext cx="1097280" cy="1143000"/>
          </a:xfrm>
          <a:prstGeom prst="rect">
            <a:avLst/>
          </a:prstGeom>
          <a:solidFill>
            <a:srgbClr val="F6693D"/>
          </a:solidFill>
          <a:ln w="12700">
            <a:solidFill>
              <a:srgbClr val="F6693D"/>
            </a:solidFill>
            <a:prstDash val="solid"/>
          </a:ln>
        </p:spPr>
      </p:sp>
      <p:sp>
        <p:nvSpPr>
          <p:cNvPr id="7" name="Text 5"/>
          <p:cNvSpPr/>
          <p:nvPr/>
        </p:nvSpPr>
        <p:spPr>
          <a:xfrm>
            <a:off x="457200" y="1783080"/>
            <a:ext cx="1097280" cy="1143000"/>
          </a:xfrm>
          <a:prstGeom prst="rect">
            <a:avLst/>
          </a:prstGeom>
          <a:noFill/>
          <a:ln/>
        </p:spPr>
        <p:txBody>
          <a:bodyPr wrap="square" lIns="0" tIns="0" rIns="0" bIns="0" rtlCol="0" anchor="ctr"/>
          <a:lstStyle/>
          <a:p>
            <a:pPr algn="ctr" indent="0" marL="0">
              <a:buNone/>
            </a:pPr>
            <a:r>
              <a:rPr lang="en-US" sz="4200" b="1" dirty="0">
                <a:solidFill>
                  <a:srgbClr val="FFFFFF"/>
                </a:solidFill>
                <a:latin typeface="Arial Black" pitchFamily="34" charset="0"/>
                <a:ea typeface="Arial Black" pitchFamily="34" charset="-122"/>
                <a:cs typeface="Arial Black" pitchFamily="34" charset="-120"/>
              </a:rPr>
              <a:t>01</a:t>
            </a:r>
            <a:endParaRPr lang="en-US" sz="4200" dirty="0"/>
          </a:p>
        </p:txBody>
      </p:sp>
      <p:sp>
        <p:nvSpPr>
          <p:cNvPr id="8" name="Text 6"/>
          <p:cNvSpPr/>
          <p:nvPr/>
        </p:nvSpPr>
        <p:spPr>
          <a:xfrm>
            <a:off x="1783080" y="1828800"/>
            <a:ext cx="6903720" cy="411480"/>
          </a:xfrm>
          <a:prstGeom prst="rect">
            <a:avLst/>
          </a:prstGeom>
          <a:noFill/>
          <a:ln/>
        </p:spPr>
        <p:txBody>
          <a:bodyPr wrap="square" lIns="0" tIns="0" rIns="0" bIns="0" rtlCol="0" anchor="t"/>
          <a:lstStyle/>
          <a:p>
            <a:pPr indent="0" marL="0">
              <a:buNone/>
            </a:pPr>
            <a:r>
              <a:rPr lang="en-US" sz="1800" b="1" dirty="0">
                <a:solidFill>
                  <a:srgbClr val="000000"/>
                </a:solidFill>
                <a:latin typeface="Arial Black" pitchFamily="34" charset="0"/>
                <a:ea typeface="Arial Black" pitchFamily="34" charset="-122"/>
                <a:cs typeface="Arial Black" pitchFamily="34" charset="-120"/>
              </a:rPr>
              <a:t>The largest capex cycle in history.</a:t>
            </a:r>
            <a:endParaRPr lang="en-US" sz="1800" dirty="0"/>
          </a:p>
        </p:txBody>
      </p:sp>
      <p:sp>
        <p:nvSpPr>
          <p:cNvPr id="9" name="Text 7"/>
          <p:cNvSpPr/>
          <p:nvPr/>
        </p:nvSpPr>
        <p:spPr>
          <a:xfrm>
            <a:off x="1783080" y="2286000"/>
            <a:ext cx="6903720" cy="640080"/>
          </a:xfrm>
          <a:prstGeom prst="rect">
            <a:avLst/>
          </a:prstGeom>
          <a:noFill/>
          <a:ln/>
        </p:spPr>
        <p:txBody>
          <a:bodyPr wrap="square" lIns="0" tIns="0" rIns="0" bIns="0" rtlCol="0" anchor="t"/>
          <a:lstStyle/>
          <a:p>
            <a:pPr indent="0" marL="0">
              <a:buNone/>
            </a:pPr>
            <a:r>
              <a:rPr lang="en-US" sz="1250" dirty="0">
                <a:solidFill>
                  <a:srgbClr val="333333"/>
                </a:solidFill>
                <a:latin typeface="Arial" pitchFamily="34" charset="0"/>
                <a:ea typeface="Arial" pitchFamily="34" charset="-122"/>
                <a:cs typeface="Arial" pitchFamily="34" charset="-120"/>
              </a:rPr>
              <a:t>Big 5 hyperscalers are pouring roughly $750B into AI infrastructure in 2026 alone — more than the entire US energy buildout at its peak.</a:t>
            </a:r>
            <a:endParaRPr lang="en-US" sz="1250" dirty="0"/>
          </a:p>
        </p:txBody>
      </p:sp>
      <p:sp>
        <p:nvSpPr>
          <p:cNvPr id="10" name="Shape 8"/>
          <p:cNvSpPr/>
          <p:nvPr/>
        </p:nvSpPr>
        <p:spPr>
          <a:xfrm>
            <a:off x="457200" y="3108960"/>
            <a:ext cx="1097280" cy="1143000"/>
          </a:xfrm>
          <a:prstGeom prst="rect">
            <a:avLst/>
          </a:prstGeom>
          <a:solidFill>
            <a:srgbClr val="008B8B"/>
          </a:solidFill>
          <a:ln w="12700">
            <a:solidFill>
              <a:srgbClr val="008B8B"/>
            </a:solidFill>
            <a:prstDash val="solid"/>
          </a:ln>
        </p:spPr>
      </p:sp>
      <p:sp>
        <p:nvSpPr>
          <p:cNvPr id="11" name="Text 9"/>
          <p:cNvSpPr/>
          <p:nvPr/>
        </p:nvSpPr>
        <p:spPr>
          <a:xfrm>
            <a:off x="457200" y="3108960"/>
            <a:ext cx="1097280" cy="1143000"/>
          </a:xfrm>
          <a:prstGeom prst="rect">
            <a:avLst/>
          </a:prstGeom>
          <a:noFill/>
          <a:ln/>
        </p:spPr>
        <p:txBody>
          <a:bodyPr wrap="square" lIns="0" tIns="0" rIns="0" bIns="0" rtlCol="0" anchor="ctr"/>
          <a:lstStyle/>
          <a:p>
            <a:pPr algn="ctr" indent="0" marL="0">
              <a:buNone/>
            </a:pPr>
            <a:r>
              <a:rPr lang="en-US" sz="4200" b="1" dirty="0">
                <a:solidFill>
                  <a:srgbClr val="FFFFFF"/>
                </a:solidFill>
                <a:latin typeface="Arial Black" pitchFamily="34" charset="0"/>
                <a:ea typeface="Arial Black" pitchFamily="34" charset="-122"/>
                <a:cs typeface="Arial Black" pitchFamily="34" charset="-120"/>
              </a:rPr>
              <a:t>02</a:t>
            </a:r>
            <a:endParaRPr lang="en-US" sz="4200" dirty="0"/>
          </a:p>
        </p:txBody>
      </p:sp>
      <p:sp>
        <p:nvSpPr>
          <p:cNvPr id="12" name="Text 10"/>
          <p:cNvSpPr/>
          <p:nvPr/>
        </p:nvSpPr>
        <p:spPr>
          <a:xfrm>
            <a:off x="1783080" y="3154680"/>
            <a:ext cx="6903720" cy="411480"/>
          </a:xfrm>
          <a:prstGeom prst="rect">
            <a:avLst/>
          </a:prstGeom>
          <a:noFill/>
          <a:ln/>
        </p:spPr>
        <p:txBody>
          <a:bodyPr wrap="square" lIns="0" tIns="0" rIns="0" bIns="0" rtlCol="0" anchor="t"/>
          <a:lstStyle/>
          <a:p>
            <a:pPr indent="0" marL="0">
              <a:buNone/>
            </a:pPr>
            <a:r>
              <a:rPr lang="en-US" sz="1800" b="1" dirty="0">
                <a:solidFill>
                  <a:srgbClr val="000000"/>
                </a:solidFill>
                <a:latin typeface="Arial Black" pitchFamily="34" charset="0"/>
                <a:ea typeface="Arial Black" pitchFamily="34" charset="-122"/>
                <a:cs typeface="Arial Black" pitchFamily="34" charset="-120"/>
              </a:rPr>
              <a:t>It touches every layer of the economy.</a:t>
            </a:r>
            <a:endParaRPr lang="en-US" sz="1800" dirty="0"/>
          </a:p>
        </p:txBody>
      </p:sp>
      <p:sp>
        <p:nvSpPr>
          <p:cNvPr id="13" name="Text 11"/>
          <p:cNvSpPr/>
          <p:nvPr/>
        </p:nvSpPr>
        <p:spPr>
          <a:xfrm>
            <a:off x="1783080" y="3611880"/>
            <a:ext cx="6903720" cy="640080"/>
          </a:xfrm>
          <a:prstGeom prst="rect">
            <a:avLst/>
          </a:prstGeom>
          <a:noFill/>
          <a:ln/>
        </p:spPr>
        <p:txBody>
          <a:bodyPr wrap="square" lIns="0" tIns="0" rIns="0" bIns="0" rtlCol="0" anchor="t"/>
          <a:lstStyle/>
          <a:p>
            <a:pPr indent="0" marL="0">
              <a:buNone/>
            </a:pPr>
            <a:r>
              <a:rPr lang="en-US" sz="1250" dirty="0">
                <a:solidFill>
                  <a:srgbClr val="333333"/>
                </a:solidFill>
                <a:latin typeface="Arial" pitchFamily="34" charset="0"/>
                <a:ea typeface="Arial" pitchFamily="34" charset="-122"/>
                <a:cs typeface="Arial" pitchFamily="34" charset="-120"/>
              </a:rPr>
              <a:t>From raw silicon and power generation through data centers, models, and the apps on your phone — AI is now the connective tissue of modern business.</a:t>
            </a:r>
            <a:endParaRPr lang="en-US" sz="1250" dirty="0"/>
          </a:p>
        </p:txBody>
      </p:sp>
      <p:sp>
        <p:nvSpPr>
          <p:cNvPr id="14" name="Shape 12"/>
          <p:cNvSpPr/>
          <p:nvPr/>
        </p:nvSpPr>
        <p:spPr>
          <a:xfrm>
            <a:off x="457200" y="4434840"/>
            <a:ext cx="1097280" cy="1143000"/>
          </a:xfrm>
          <a:prstGeom prst="rect">
            <a:avLst/>
          </a:prstGeom>
          <a:solidFill>
            <a:srgbClr val="FFB800"/>
          </a:solidFill>
          <a:ln w="12700">
            <a:solidFill>
              <a:srgbClr val="FFB800"/>
            </a:solidFill>
            <a:prstDash val="solid"/>
          </a:ln>
        </p:spPr>
      </p:sp>
      <p:sp>
        <p:nvSpPr>
          <p:cNvPr id="15" name="Text 13"/>
          <p:cNvSpPr/>
          <p:nvPr/>
        </p:nvSpPr>
        <p:spPr>
          <a:xfrm>
            <a:off x="457200" y="4434840"/>
            <a:ext cx="1097280" cy="1143000"/>
          </a:xfrm>
          <a:prstGeom prst="rect">
            <a:avLst/>
          </a:prstGeom>
          <a:noFill/>
          <a:ln/>
        </p:spPr>
        <p:txBody>
          <a:bodyPr wrap="square" lIns="0" tIns="0" rIns="0" bIns="0" rtlCol="0" anchor="ctr"/>
          <a:lstStyle/>
          <a:p>
            <a:pPr algn="ctr" indent="0" marL="0">
              <a:buNone/>
            </a:pPr>
            <a:r>
              <a:rPr lang="en-US" sz="4200" b="1" dirty="0">
                <a:solidFill>
                  <a:srgbClr val="FFFFFF"/>
                </a:solidFill>
                <a:latin typeface="Arial Black" pitchFamily="34" charset="0"/>
                <a:ea typeface="Arial Black" pitchFamily="34" charset="-122"/>
                <a:cs typeface="Arial Black" pitchFamily="34" charset="-120"/>
              </a:rPr>
              <a:t>03</a:t>
            </a:r>
            <a:endParaRPr lang="en-US" sz="4200" dirty="0"/>
          </a:p>
        </p:txBody>
      </p:sp>
      <p:sp>
        <p:nvSpPr>
          <p:cNvPr id="16" name="Text 14"/>
          <p:cNvSpPr/>
          <p:nvPr/>
        </p:nvSpPr>
        <p:spPr>
          <a:xfrm>
            <a:off x="1783080" y="4480560"/>
            <a:ext cx="6903720" cy="411480"/>
          </a:xfrm>
          <a:prstGeom prst="rect">
            <a:avLst/>
          </a:prstGeom>
          <a:noFill/>
          <a:ln/>
        </p:spPr>
        <p:txBody>
          <a:bodyPr wrap="square" lIns="0" tIns="0" rIns="0" bIns="0" rtlCol="0" anchor="t"/>
          <a:lstStyle/>
          <a:p>
            <a:pPr indent="0" marL="0">
              <a:buNone/>
            </a:pPr>
            <a:r>
              <a:rPr lang="en-US" sz="1800" b="1" dirty="0">
                <a:solidFill>
                  <a:srgbClr val="000000"/>
                </a:solidFill>
                <a:latin typeface="Arial Black" pitchFamily="34" charset="0"/>
                <a:ea typeface="Arial Black" pitchFamily="34" charset="-122"/>
                <a:cs typeface="Arial Black" pitchFamily="34" charset="-120"/>
              </a:rPr>
              <a:t>It is repricing everything — in both directions.</a:t>
            </a:r>
            <a:endParaRPr lang="en-US" sz="1800" dirty="0"/>
          </a:p>
        </p:txBody>
      </p:sp>
      <p:sp>
        <p:nvSpPr>
          <p:cNvPr id="17" name="Text 15"/>
          <p:cNvSpPr/>
          <p:nvPr/>
        </p:nvSpPr>
        <p:spPr>
          <a:xfrm>
            <a:off x="1783080" y="4937760"/>
            <a:ext cx="6903720" cy="640080"/>
          </a:xfrm>
          <a:prstGeom prst="rect">
            <a:avLst/>
          </a:prstGeom>
          <a:noFill/>
          <a:ln/>
        </p:spPr>
        <p:txBody>
          <a:bodyPr wrap="square" lIns="0" tIns="0" rIns="0" bIns="0" rtlCol="0" anchor="t"/>
          <a:lstStyle/>
          <a:p>
            <a:pPr indent="0" marL="0">
              <a:buNone/>
            </a:pPr>
            <a:r>
              <a:rPr lang="en-US" sz="1250" dirty="0">
                <a:solidFill>
                  <a:srgbClr val="333333"/>
                </a:solidFill>
                <a:latin typeface="Arial" pitchFamily="34" charset="0"/>
                <a:ea typeface="Arial" pitchFamily="34" charset="-122"/>
                <a:cs typeface="Arial" pitchFamily="34" charset="-120"/>
              </a:rPr>
              <a:t>The same wave that lifts semis, memory, and power is cracking software seat models, content moats, and legacy services. Winners and losers, inside one theme.</a:t>
            </a:r>
            <a:endParaRPr lang="en-US" sz="1250" dirty="0"/>
          </a:p>
        </p:txBody>
      </p:sp>
      <p:sp>
        <p:nvSpPr>
          <p:cNvPr id="18" name="Text 16"/>
          <p:cNvSpPr/>
          <p:nvPr/>
        </p:nvSpPr>
        <p:spPr>
          <a:xfrm>
            <a:off x="457200" y="5875020"/>
            <a:ext cx="8229600" cy="320040"/>
          </a:xfrm>
          <a:prstGeom prst="rect">
            <a:avLst/>
          </a:prstGeom>
          <a:noFill/>
          <a:ln/>
        </p:spPr>
        <p:txBody>
          <a:bodyPr wrap="square" lIns="0" tIns="0" rIns="0" bIns="0" rtlCol="0" anchor="t"/>
          <a:lstStyle/>
          <a:p>
            <a:pPr indent="0" marL="0">
              <a:buNone/>
            </a:pPr>
            <a:r>
              <a:rPr lang="en-US" sz="700" dirty="0">
                <a:solidFill>
                  <a:srgbClr val="999999"/>
                </a:solidFill>
                <a:latin typeface="Arial" pitchFamily="34" charset="0"/>
                <a:ea typeface="Arial" pitchFamily="34" charset="-122"/>
                <a:cs typeface="Arial" pitchFamily="34" charset="-120"/>
              </a:rPr>
              <a:t>Sources: CreditSights / MUFG hyperscaler capex 2026 estimates; Jensen Huang (Sept 2025); Strategy Research.</a:t>
            </a:r>
            <a:endParaRPr lang="en-US" sz="700" dirty="0"/>
          </a:p>
        </p:txBody>
      </p:sp>
      <p:sp>
        <p:nvSpPr>
          <p:cNvPr id="19" name="Shape 17"/>
          <p:cNvSpPr/>
          <p:nvPr/>
        </p:nvSpPr>
        <p:spPr>
          <a:xfrm>
            <a:off x="0" y="6286500"/>
            <a:ext cx="9144000" cy="571500"/>
          </a:xfrm>
          <a:prstGeom prst="rect">
            <a:avLst/>
          </a:prstGeom>
          <a:solidFill>
            <a:srgbClr val="000000"/>
          </a:solidFill>
          <a:ln w="12700">
            <a:solidFill>
              <a:srgbClr val="000000"/>
            </a:solidFill>
            <a:prstDash val="solid"/>
          </a:ln>
        </p:spPr>
      </p:sp>
      <p:sp>
        <p:nvSpPr>
          <p:cNvPr id="20" name="Text 18"/>
          <p:cNvSpPr/>
          <p:nvPr/>
        </p:nvSpPr>
        <p:spPr>
          <a:xfrm>
            <a:off x="1371600" y="6332220"/>
            <a:ext cx="6400800" cy="45720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21" name="Text 19"/>
          <p:cNvSpPr/>
          <p:nvPr/>
        </p:nvSpPr>
        <p:spPr>
          <a:xfrm>
            <a:off x="8321040" y="6405372"/>
            <a:ext cx="548640" cy="27432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008B8B"/>
          </a:solidFill>
          <a:ln w="12700">
            <a:solidFill>
              <a:srgbClr val="008B8B"/>
            </a:solidFill>
            <a:prstDash val="solid"/>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Arial" pitchFamily="34" charset="0"/>
                <a:ea typeface="Arial" pitchFamily="34" charset="-122"/>
                <a:cs typeface="Arial" pitchFamily="34" charset="-120"/>
              </a:rPr>
              <a:t>LANDSCAPE</a:t>
            </a:r>
            <a:endParaRPr lang="en-US" sz="1000" dirty="0"/>
          </a:p>
        </p:txBody>
      </p:sp>
      <p:sp>
        <p:nvSpPr>
          <p:cNvPr id="4" name="Text 2"/>
          <p:cNvSpPr/>
          <p:nvPr/>
        </p:nvSpPr>
        <p:spPr>
          <a:xfrm>
            <a:off x="457200" y="182880"/>
            <a:ext cx="6583680" cy="685800"/>
          </a:xfrm>
          <a:prstGeom prst="rect">
            <a:avLst/>
          </a:prstGeom>
          <a:noFill/>
          <a:ln/>
        </p:spPr>
        <p:txBody>
          <a:bodyPr wrap="square" lIns="0" tIns="0" rIns="0" bIns="0" rtlCol="0" anchor="t"/>
          <a:lstStyle/>
          <a:p>
            <a:pPr indent="0" marL="0">
              <a:buNone/>
            </a:pPr>
            <a:r>
              <a:rPr lang="en-US" sz="2400" b="1" dirty="0">
                <a:solidFill>
                  <a:srgbClr val="000000"/>
                </a:solidFill>
                <a:latin typeface="Arial Black" pitchFamily="34" charset="0"/>
                <a:ea typeface="Arial Black" pitchFamily="34" charset="-122"/>
                <a:cs typeface="Arial Black" pitchFamily="34" charset="-120"/>
              </a:rPr>
              <a:t>Sixty years of AI in six steps — and we are now in step six</a:t>
            </a:r>
            <a:endParaRPr lang="en-US" sz="2400" dirty="0"/>
          </a:p>
        </p:txBody>
      </p:sp>
      <p:sp>
        <p:nvSpPr>
          <p:cNvPr id="5" name="Text 3"/>
          <p:cNvSpPr/>
          <p:nvPr/>
        </p:nvSpPr>
        <p:spPr>
          <a:xfrm>
            <a:off x="457200" y="91440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Software that learns from data, reasons through problems, and — increasingly — takes action without human direction.</a:t>
            </a:r>
            <a:endParaRPr lang="en-US" sz="1350" dirty="0"/>
          </a:p>
        </p:txBody>
      </p:sp>
      <p:sp>
        <p:nvSpPr>
          <p:cNvPr id="6" name="Shape 4"/>
          <p:cNvSpPr/>
          <p:nvPr/>
        </p:nvSpPr>
        <p:spPr>
          <a:xfrm>
            <a:off x="457200" y="1325880"/>
            <a:ext cx="8229600" cy="0"/>
          </a:xfrm>
          <a:prstGeom prst="line">
            <a:avLst/>
          </a:prstGeom>
          <a:noFill/>
          <a:ln w="9525">
            <a:solidFill>
              <a:srgbClr val="E5E5E5"/>
            </a:solidFill>
            <a:prstDash val="solid"/>
          </a:ln>
        </p:spPr>
      </p:sp>
      <p:sp>
        <p:nvSpPr>
          <p:cNvPr id="7" name="Shape 5"/>
          <p:cNvSpPr/>
          <p:nvPr/>
        </p:nvSpPr>
        <p:spPr>
          <a:xfrm>
            <a:off x="640080" y="2011680"/>
            <a:ext cx="7863840" cy="0"/>
          </a:xfrm>
          <a:prstGeom prst="line">
            <a:avLst/>
          </a:prstGeom>
          <a:noFill/>
          <a:ln w="31750">
            <a:solidFill>
              <a:srgbClr val="666666"/>
            </a:solidFill>
            <a:prstDash val="solid"/>
          </a:ln>
        </p:spPr>
      </p:sp>
      <p:sp>
        <p:nvSpPr>
          <p:cNvPr id="8" name="Shape 6"/>
          <p:cNvSpPr/>
          <p:nvPr/>
        </p:nvSpPr>
        <p:spPr>
          <a:xfrm>
            <a:off x="1176528" y="1892808"/>
            <a:ext cx="237744" cy="237744"/>
          </a:xfrm>
          <a:prstGeom prst="ellipse">
            <a:avLst/>
          </a:prstGeom>
          <a:solidFill>
            <a:srgbClr val="666666"/>
          </a:solidFill>
          <a:ln w="19050">
            <a:solidFill>
              <a:srgbClr val="FFFFFF"/>
            </a:solidFill>
            <a:prstDash val="solid"/>
          </a:ln>
        </p:spPr>
      </p:sp>
      <p:sp>
        <p:nvSpPr>
          <p:cNvPr id="9" name="Shape 7"/>
          <p:cNvSpPr/>
          <p:nvPr/>
        </p:nvSpPr>
        <p:spPr>
          <a:xfrm>
            <a:off x="666293" y="2212848"/>
            <a:ext cx="1258214" cy="3291840"/>
          </a:xfrm>
          <a:prstGeom prst="rect">
            <a:avLst/>
          </a:prstGeom>
          <a:solidFill>
            <a:srgbClr val="F9F9F9"/>
          </a:solidFill>
          <a:ln w="6350">
            <a:solidFill>
              <a:srgbClr val="E5E5E5"/>
            </a:solidFill>
            <a:prstDash val="solid"/>
          </a:ln>
        </p:spPr>
      </p:sp>
      <p:sp>
        <p:nvSpPr>
          <p:cNvPr id="10" name="Shape 8"/>
          <p:cNvSpPr/>
          <p:nvPr/>
        </p:nvSpPr>
        <p:spPr>
          <a:xfrm>
            <a:off x="666293" y="2212848"/>
            <a:ext cx="54864" cy="3291840"/>
          </a:xfrm>
          <a:prstGeom prst="rect">
            <a:avLst/>
          </a:prstGeom>
          <a:solidFill>
            <a:srgbClr val="666666"/>
          </a:solidFill>
          <a:ln w="12700">
            <a:solidFill>
              <a:srgbClr val="666666"/>
            </a:solidFill>
            <a:prstDash val="solid"/>
          </a:ln>
        </p:spPr>
      </p:sp>
      <p:sp>
        <p:nvSpPr>
          <p:cNvPr id="11" name="Text 9"/>
          <p:cNvSpPr/>
          <p:nvPr/>
        </p:nvSpPr>
        <p:spPr>
          <a:xfrm>
            <a:off x="794309" y="2331720"/>
            <a:ext cx="1075334" cy="256032"/>
          </a:xfrm>
          <a:prstGeom prst="rect">
            <a:avLst/>
          </a:prstGeom>
          <a:noFill/>
          <a:ln/>
        </p:spPr>
        <p:txBody>
          <a:bodyPr wrap="square" lIns="0" tIns="0" rIns="0" bIns="0" rtlCol="0" anchor="ctr"/>
          <a:lstStyle/>
          <a:p>
            <a:pPr indent="0" marL="0">
              <a:buNone/>
            </a:pPr>
            <a:r>
              <a:rPr lang="en-US" sz="900" dirty="0">
                <a:solidFill>
                  <a:srgbClr val="666666"/>
                </a:solidFill>
                <a:latin typeface="Arial" pitchFamily="34" charset="0"/>
                <a:ea typeface="Arial" pitchFamily="34" charset="-122"/>
                <a:cs typeface="Arial" pitchFamily="34" charset="-120"/>
              </a:rPr>
              <a:t>1950s–80s</a:t>
            </a:r>
            <a:endParaRPr lang="en-US" sz="900" dirty="0"/>
          </a:p>
        </p:txBody>
      </p:sp>
      <p:sp>
        <p:nvSpPr>
          <p:cNvPr id="12" name="Text 10"/>
          <p:cNvSpPr/>
          <p:nvPr/>
        </p:nvSpPr>
        <p:spPr>
          <a:xfrm>
            <a:off x="794309" y="2633472"/>
            <a:ext cx="1075334" cy="411480"/>
          </a:xfrm>
          <a:prstGeom prst="rect">
            <a:avLst/>
          </a:prstGeom>
          <a:noFill/>
          <a:ln/>
        </p:spPr>
        <p:txBody>
          <a:bodyPr wrap="square" lIns="0" tIns="0" rIns="0" bIns="0" rtlCol="0" anchor="ctr"/>
          <a:lstStyle/>
          <a:p>
            <a:pPr indent="0" marL="0">
              <a:buNone/>
            </a:pPr>
            <a:r>
              <a:rPr lang="en-US" sz="1200" b="1" dirty="0">
                <a:solidFill>
                  <a:srgbClr val="000000"/>
                </a:solidFill>
                <a:latin typeface="Arial" pitchFamily="34" charset="0"/>
                <a:ea typeface="Arial" pitchFamily="34" charset="-122"/>
                <a:cs typeface="Arial" pitchFamily="34" charset="-120"/>
              </a:rPr>
              <a:t>Symbolic AI</a:t>
            </a:r>
            <a:endParaRPr lang="en-US" sz="1200" dirty="0"/>
          </a:p>
        </p:txBody>
      </p:sp>
      <p:sp>
        <p:nvSpPr>
          <p:cNvPr id="13" name="Text 11"/>
          <p:cNvSpPr/>
          <p:nvPr/>
        </p:nvSpPr>
        <p:spPr>
          <a:xfrm>
            <a:off x="794309" y="3108960"/>
            <a:ext cx="1075334" cy="2331720"/>
          </a:xfrm>
          <a:prstGeom prst="rect">
            <a:avLst/>
          </a:prstGeom>
          <a:noFill/>
          <a:ln/>
        </p:spPr>
        <p:txBody>
          <a:bodyPr wrap="square" lIns="0" tIns="0" rIns="0" bIns="0" rtlCol="0" anchor="t"/>
          <a:lstStyle/>
          <a:p>
            <a:pPr indent="0" marL="0">
              <a:buNone/>
            </a:pPr>
            <a:r>
              <a:rPr lang="en-US" sz="950" dirty="0">
                <a:solidFill>
                  <a:srgbClr val="333333"/>
                </a:solidFill>
                <a:latin typeface="Arial" pitchFamily="34" charset="0"/>
                <a:ea typeface="Arial" pitchFamily="34" charset="-122"/>
                <a:cs typeface="Arial" pitchFamily="34" charset="-120"/>
              </a:rPr>
              <a:t>Hand-coded rules. Expert systems with narrow recall.</a:t>
            </a:r>
            <a:endParaRPr lang="en-US" sz="950" dirty="0"/>
          </a:p>
        </p:txBody>
      </p:sp>
      <p:sp>
        <p:nvSpPr>
          <p:cNvPr id="14" name="Shape 12"/>
          <p:cNvSpPr/>
          <p:nvPr/>
        </p:nvSpPr>
        <p:spPr>
          <a:xfrm>
            <a:off x="2487168" y="1892808"/>
            <a:ext cx="237744" cy="237744"/>
          </a:xfrm>
          <a:prstGeom prst="ellipse">
            <a:avLst/>
          </a:prstGeom>
          <a:solidFill>
            <a:srgbClr val="008B8B"/>
          </a:solidFill>
          <a:ln w="19050">
            <a:solidFill>
              <a:srgbClr val="FFFFFF"/>
            </a:solidFill>
            <a:prstDash val="solid"/>
          </a:ln>
        </p:spPr>
      </p:sp>
      <p:sp>
        <p:nvSpPr>
          <p:cNvPr id="15" name="Shape 13"/>
          <p:cNvSpPr/>
          <p:nvPr/>
        </p:nvSpPr>
        <p:spPr>
          <a:xfrm>
            <a:off x="1976933" y="2212848"/>
            <a:ext cx="1258214" cy="3291840"/>
          </a:xfrm>
          <a:prstGeom prst="rect">
            <a:avLst/>
          </a:prstGeom>
          <a:solidFill>
            <a:srgbClr val="F9F9F9"/>
          </a:solidFill>
          <a:ln w="6350">
            <a:solidFill>
              <a:srgbClr val="E5E5E5"/>
            </a:solidFill>
            <a:prstDash val="solid"/>
          </a:ln>
        </p:spPr>
      </p:sp>
      <p:sp>
        <p:nvSpPr>
          <p:cNvPr id="16" name="Shape 14"/>
          <p:cNvSpPr/>
          <p:nvPr/>
        </p:nvSpPr>
        <p:spPr>
          <a:xfrm>
            <a:off x="1976933" y="2212848"/>
            <a:ext cx="54864" cy="3291840"/>
          </a:xfrm>
          <a:prstGeom prst="rect">
            <a:avLst/>
          </a:prstGeom>
          <a:solidFill>
            <a:srgbClr val="008B8B"/>
          </a:solidFill>
          <a:ln w="12700">
            <a:solidFill>
              <a:srgbClr val="008B8B"/>
            </a:solidFill>
            <a:prstDash val="solid"/>
          </a:ln>
        </p:spPr>
      </p:sp>
      <p:sp>
        <p:nvSpPr>
          <p:cNvPr id="17" name="Text 15"/>
          <p:cNvSpPr/>
          <p:nvPr/>
        </p:nvSpPr>
        <p:spPr>
          <a:xfrm>
            <a:off x="2104949" y="2331720"/>
            <a:ext cx="1075334" cy="256032"/>
          </a:xfrm>
          <a:prstGeom prst="rect">
            <a:avLst/>
          </a:prstGeom>
          <a:noFill/>
          <a:ln/>
        </p:spPr>
        <p:txBody>
          <a:bodyPr wrap="square" lIns="0" tIns="0" rIns="0" bIns="0" rtlCol="0" anchor="ctr"/>
          <a:lstStyle/>
          <a:p>
            <a:pPr indent="0" marL="0">
              <a:buNone/>
            </a:pPr>
            <a:r>
              <a:rPr lang="en-US" sz="900" dirty="0">
                <a:solidFill>
                  <a:srgbClr val="666666"/>
                </a:solidFill>
                <a:latin typeface="Arial" pitchFamily="34" charset="0"/>
                <a:ea typeface="Arial" pitchFamily="34" charset="-122"/>
                <a:cs typeface="Arial" pitchFamily="34" charset="-120"/>
              </a:rPr>
              <a:t>1990s–2000s</a:t>
            </a:r>
            <a:endParaRPr lang="en-US" sz="900" dirty="0"/>
          </a:p>
        </p:txBody>
      </p:sp>
      <p:sp>
        <p:nvSpPr>
          <p:cNvPr id="18" name="Text 16"/>
          <p:cNvSpPr/>
          <p:nvPr/>
        </p:nvSpPr>
        <p:spPr>
          <a:xfrm>
            <a:off x="2104949" y="2633472"/>
            <a:ext cx="1075334" cy="411480"/>
          </a:xfrm>
          <a:prstGeom prst="rect">
            <a:avLst/>
          </a:prstGeom>
          <a:noFill/>
          <a:ln/>
        </p:spPr>
        <p:txBody>
          <a:bodyPr wrap="square" lIns="0" tIns="0" rIns="0" bIns="0" rtlCol="0" anchor="ctr"/>
          <a:lstStyle/>
          <a:p>
            <a:pPr indent="0" marL="0">
              <a:buNone/>
            </a:pPr>
            <a:r>
              <a:rPr lang="en-US" sz="1200" b="1" dirty="0">
                <a:solidFill>
                  <a:srgbClr val="000000"/>
                </a:solidFill>
                <a:latin typeface="Arial" pitchFamily="34" charset="0"/>
                <a:ea typeface="Arial" pitchFamily="34" charset="-122"/>
                <a:cs typeface="Arial" pitchFamily="34" charset="-120"/>
              </a:rPr>
              <a:t>Machine Learning</a:t>
            </a:r>
            <a:endParaRPr lang="en-US" sz="1200" dirty="0"/>
          </a:p>
        </p:txBody>
      </p:sp>
      <p:sp>
        <p:nvSpPr>
          <p:cNvPr id="19" name="Text 17"/>
          <p:cNvSpPr/>
          <p:nvPr/>
        </p:nvSpPr>
        <p:spPr>
          <a:xfrm>
            <a:off x="2104949" y="3108960"/>
            <a:ext cx="1075334" cy="2331720"/>
          </a:xfrm>
          <a:prstGeom prst="rect">
            <a:avLst/>
          </a:prstGeom>
          <a:noFill/>
          <a:ln/>
        </p:spPr>
        <p:txBody>
          <a:bodyPr wrap="square" lIns="0" tIns="0" rIns="0" bIns="0" rtlCol="0" anchor="t"/>
          <a:lstStyle/>
          <a:p>
            <a:pPr indent="0" marL="0">
              <a:buNone/>
            </a:pPr>
            <a:r>
              <a:rPr lang="en-US" sz="950" dirty="0">
                <a:solidFill>
                  <a:srgbClr val="333333"/>
                </a:solidFill>
                <a:latin typeface="Arial" pitchFamily="34" charset="0"/>
                <a:ea typeface="Arial" pitchFamily="34" charset="-122"/>
                <a:cs typeface="Arial" pitchFamily="34" charset="-120"/>
              </a:rPr>
              <a:t>Systems learn patterns from data, not rules.</a:t>
            </a:r>
            <a:endParaRPr lang="en-US" sz="950" dirty="0"/>
          </a:p>
        </p:txBody>
      </p:sp>
      <p:sp>
        <p:nvSpPr>
          <p:cNvPr id="20" name="Shape 18"/>
          <p:cNvSpPr/>
          <p:nvPr/>
        </p:nvSpPr>
        <p:spPr>
          <a:xfrm>
            <a:off x="3797808" y="1892808"/>
            <a:ext cx="237744" cy="237744"/>
          </a:xfrm>
          <a:prstGeom prst="ellipse">
            <a:avLst/>
          </a:prstGeom>
          <a:solidFill>
            <a:srgbClr val="FFB800"/>
          </a:solidFill>
          <a:ln w="19050">
            <a:solidFill>
              <a:srgbClr val="FFFFFF"/>
            </a:solidFill>
            <a:prstDash val="solid"/>
          </a:ln>
        </p:spPr>
      </p:sp>
      <p:sp>
        <p:nvSpPr>
          <p:cNvPr id="21" name="Shape 19"/>
          <p:cNvSpPr/>
          <p:nvPr/>
        </p:nvSpPr>
        <p:spPr>
          <a:xfrm>
            <a:off x="3287573" y="2212848"/>
            <a:ext cx="1258214" cy="3291840"/>
          </a:xfrm>
          <a:prstGeom prst="rect">
            <a:avLst/>
          </a:prstGeom>
          <a:solidFill>
            <a:srgbClr val="F9F9F9"/>
          </a:solidFill>
          <a:ln w="6350">
            <a:solidFill>
              <a:srgbClr val="E5E5E5"/>
            </a:solidFill>
            <a:prstDash val="solid"/>
          </a:ln>
        </p:spPr>
      </p:sp>
      <p:sp>
        <p:nvSpPr>
          <p:cNvPr id="22" name="Shape 20"/>
          <p:cNvSpPr/>
          <p:nvPr/>
        </p:nvSpPr>
        <p:spPr>
          <a:xfrm>
            <a:off x="3287573" y="2212848"/>
            <a:ext cx="54864" cy="3291840"/>
          </a:xfrm>
          <a:prstGeom prst="rect">
            <a:avLst/>
          </a:prstGeom>
          <a:solidFill>
            <a:srgbClr val="FFB800"/>
          </a:solidFill>
          <a:ln w="12700">
            <a:solidFill>
              <a:srgbClr val="FFB800"/>
            </a:solidFill>
            <a:prstDash val="solid"/>
          </a:ln>
        </p:spPr>
      </p:sp>
      <p:sp>
        <p:nvSpPr>
          <p:cNvPr id="23" name="Text 21"/>
          <p:cNvSpPr/>
          <p:nvPr/>
        </p:nvSpPr>
        <p:spPr>
          <a:xfrm>
            <a:off x="3415589" y="2331720"/>
            <a:ext cx="1075334" cy="256032"/>
          </a:xfrm>
          <a:prstGeom prst="rect">
            <a:avLst/>
          </a:prstGeom>
          <a:noFill/>
          <a:ln/>
        </p:spPr>
        <p:txBody>
          <a:bodyPr wrap="square" lIns="0" tIns="0" rIns="0" bIns="0" rtlCol="0" anchor="ctr"/>
          <a:lstStyle/>
          <a:p>
            <a:pPr indent="0" marL="0">
              <a:buNone/>
            </a:pPr>
            <a:r>
              <a:rPr lang="en-US" sz="900" dirty="0">
                <a:solidFill>
                  <a:srgbClr val="666666"/>
                </a:solidFill>
                <a:latin typeface="Arial" pitchFamily="34" charset="0"/>
                <a:ea typeface="Arial" pitchFamily="34" charset="-122"/>
                <a:cs typeface="Arial" pitchFamily="34" charset="-120"/>
              </a:rPr>
              <a:t>2012</a:t>
            </a:r>
            <a:endParaRPr lang="en-US" sz="900" dirty="0"/>
          </a:p>
        </p:txBody>
      </p:sp>
      <p:sp>
        <p:nvSpPr>
          <p:cNvPr id="24" name="Text 22"/>
          <p:cNvSpPr/>
          <p:nvPr/>
        </p:nvSpPr>
        <p:spPr>
          <a:xfrm>
            <a:off x="3415589" y="2633472"/>
            <a:ext cx="1075334" cy="411480"/>
          </a:xfrm>
          <a:prstGeom prst="rect">
            <a:avLst/>
          </a:prstGeom>
          <a:noFill/>
          <a:ln/>
        </p:spPr>
        <p:txBody>
          <a:bodyPr wrap="square" lIns="0" tIns="0" rIns="0" bIns="0" rtlCol="0" anchor="ctr"/>
          <a:lstStyle/>
          <a:p>
            <a:pPr indent="0" marL="0">
              <a:buNone/>
            </a:pPr>
            <a:r>
              <a:rPr lang="en-US" sz="1200" b="1" dirty="0">
                <a:solidFill>
                  <a:srgbClr val="000000"/>
                </a:solidFill>
                <a:latin typeface="Arial" pitchFamily="34" charset="0"/>
                <a:ea typeface="Arial" pitchFamily="34" charset="-122"/>
                <a:cs typeface="Arial" pitchFamily="34" charset="-120"/>
              </a:rPr>
              <a:t>Deep Learning</a:t>
            </a:r>
            <a:endParaRPr lang="en-US" sz="1200" dirty="0"/>
          </a:p>
        </p:txBody>
      </p:sp>
      <p:sp>
        <p:nvSpPr>
          <p:cNvPr id="25" name="Text 23"/>
          <p:cNvSpPr/>
          <p:nvPr/>
        </p:nvSpPr>
        <p:spPr>
          <a:xfrm>
            <a:off x="3415589" y="3108960"/>
            <a:ext cx="1075334" cy="2331720"/>
          </a:xfrm>
          <a:prstGeom prst="rect">
            <a:avLst/>
          </a:prstGeom>
          <a:noFill/>
          <a:ln/>
        </p:spPr>
        <p:txBody>
          <a:bodyPr wrap="square" lIns="0" tIns="0" rIns="0" bIns="0" rtlCol="0" anchor="t"/>
          <a:lstStyle/>
          <a:p>
            <a:pPr indent="0" marL="0">
              <a:buNone/>
            </a:pPr>
            <a:r>
              <a:rPr lang="en-US" sz="950" dirty="0">
                <a:solidFill>
                  <a:srgbClr val="333333"/>
                </a:solidFill>
                <a:latin typeface="Arial" pitchFamily="34" charset="0"/>
                <a:ea typeface="Arial" pitchFamily="34" charset="-122"/>
                <a:cs typeface="Arial" pitchFamily="34" charset="-120"/>
              </a:rPr>
              <a:t>Neural networks go deep. AlexNet, the first breakthrough.</a:t>
            </a:r>
            <a:endParaRPr lang="en-US" sz="950" dirty="0"/>
          </a:p>
        </p:txBody>
      </p:sp>
      <p:sp>
        <p:nvSpPr>
          <p:cNvPr id="26" name="Shape 24"/>
          <p:cNvSpPr/>
          <p:nvPr/>
        </p:nvSpPr>
        <p:spPr>
          <a:xfrm>
            <a:off x="5108448" y="1892808"/>
            <a:ext cx="237744" cy="237744"/>
          </a:xfrm>
          <a:prstGeom prst="ellipse">
            <a:avLst/>
          </a:prstGeom>
          <a:solidFill>
            <a:srgbClr val="F6693D"/>
          </a:solidFill>
          <a:ln w="19050">
            <a:solidFill>
              <a:srgbClr val="FFFFFF"/>
            </a:solidFill>
            <a:prstDash val="solid"/>
          </a:ln>
        </p:spPr>
      </p:sp>
      <p:sp>
        <p:nvSpPr>
          <p:cNvPr id="27" name="Shape 25"/>
          <p:cNvSpPr/>
          <p:nvPr/>
        </p:nvSpPr>
        <p:spPr>
          <a:xfrm>
            <a:off x="4598213" y="2212848"/>
            <a:ext cx="1258214" cy="3291840"/>
          </a:xfrm>
          <a:prstGeom prst="rect">
            <a:avLst/>
          </a:prstGeom>
          <a:solidFill>
            <a:srgbClr val="FFF8F3"/>
          </a:solidFill>
          <a:ln w="6350">
            <a:solidFill>
              <a:srgbClr val="E5E5E5"/>
            </a:solidFill>
            <a:prstDash val="solid"/>
          </a:ln>
        </p:spPr>
      </p:sp>
      <p:sp>
        <p:nvSpPr>
          <p:cNvPr id="28" name="Shape 26"/>
          <p:cNvSpPr/>
          <p:nvPr/>
        </p:nvSpPr>
        <p:spPr>
          <a:xfrm>
            <a:off x="4598213" y="2212848"/>
            <a:ext cx="54864" cy="3291840"/>
          </a:xfrm>
          <a:prstGeom prst="rect">
            <a:avLst/>
          </a:prstGeom>
          <a:solidFill>
            <a:srgbClr val="F6693D"/>
          </a:solidFill>
          <a:ln w="12700">
            <a:solidFill>
              <a:srgbClr val="F6693D"/>
            </a:solidFill>
            <a:prstDash val="solid"/>
          </a:ln>
        </p:spPr>
      </p:sp>
      <p:sp>
        <p:nvSpPr>
          <p:cNvPr id="29" name="Text 27"/>
          <p:cNvSpPr/>
          <p:nvPr/>
        </p:nvSpPr>
        <p:spPr>
          <a:xfrm>
            <a:off x="4726229" y="2331720"/>
            <a:ext cx="1075334" cy="256032"/>
          </a:xfrm>
          <a:prstGeom prst="rect">
            <a:avLst/>
          </a:prstGeom>
          <a:noFill/>
          <a:ln/>
        </p:spPr>
        <p:txBody>
          <a:bodyPr wrap="square" lIns="0" tIns="0" rIns="0" bIns="0" rtlCol="0" anchor="ctr"/>
          <a:lstStyle/>
          <a:p>
            <a:pPr indent="0" marL="0">
              <a:buNone/>
            </a:pPr>
            <a:r>
              <a:rPr lang="en-US" sz="900" dirty="0">
                <a:solidFill>
                  <a:srgbClr val="666666"/>
                </a:solidFill>
                <a:latin typeface="Arial" pitchFamily="34" charset="0"/>
                <a:ea typeface="Arial" pitchFamily="34" charset="-122"/>
                <a:cs typeface="Arial" pitchFamily="34" charset="-120"/>
              </a:rPr>
              <a:t>2022–24</a:t>
            </a:r>
            <a:endParaRPr lang="en-US" sz="900" dirty="0"/>
          </a:p>
        </p:txBody>
      </p:sp>
      <p:sp>
        <p:nvSpPr>
          <p:cNvPr id="30" name="Text 28"/>
          <p:cNvSpPr/>
          <p:nvPr/>
        </p:nvSpPr>
        <p:spPr>
          <a:xfrm>
            <a:off x="4726229" y="2633472"/>
            <a:ext cx="1075334" cy="411480"/>
          </a:xfrm>
          <a:prstGeom prst="rect">
            <a:avLst/>
          </a:prstGeom>
          <a:noFill/>
          <a:ln/>
        </p:spPr>
        <p:txBody>
          <a:bodyPr wrap="square" lIns="0" tIns="0" rIns="0" bIns="0" rtlCol="0" anchor="ctr"/>
          <a:lstStyle/>
          <a:p>
            <a:pPr indent="0" marL="0">
              <a:buNone/>
            </a:pPr>
            <a:r>
              <a:rPr lang="en-US" sz="1300" b="1" dirty="0">
                <a:solidFill>
                  <a:srgbClr val="000000"/>
                </a:solidFill>
                <a:latin typeface="Arial" pitchFamily="34" charset="0"/>
                <a:ea typeface="Arial" pitchFamily="34" charset="-122"/>
                <a:cs typeface="Arial" pitchFamily="34" charset="-120"/>
              </a:rPr>
              <a:t>LLM chatbots</a:t>
            </a:r>
            <a:endParaRPr lang="en-US" sz="1300" dirty="0"/>
          </a:p>
        </p:txBody>
      </p:sp>
      <p:sp>
        <p:nvSpPr>
          <p:cNvPr id="31" name="Text 29"/>
          <p:cNvSpPr/>
          <p:nvPr/>
        </p:nvSpPr>
        <p:spPr>
          <a:xfrm>
            <a:off x="4726229" y="3108960"/>
            <a:ext cx="1075334" cy="2331720"/>
          </a:xfrm>
          <a:prstGeom prst="rect">
            <a:avLst/>
          </a:prstGeom>
          <a:noFill/>
          <a:ln/>
        </p:spPr>
        <p:txBody>
          <a:bodyPr wrap="square" lIns="0" tIns="0" rIns="0" bIns="0" rtlCol="0" anchor="t"/>
          <a:lstStyle/>
          <a:p>
            <a:pPr indent="0" marL="0">
              <a:buNone/>
            </a:pPr>
            <a:r>
              <a:rPr lang="en-US" sz="950" dirty="0">
                <a:solidFill>
                  <a:srgbClr val="333333"/>
                </a:solidFill>
                <a:latin typeface="Arial" pitchFamily="34" charset="0"/>
                <a:ea typeface="Arial" pitchFamily="34" charset="-122"/>
                <a:cs typeface="Arial" pitchFamily="34" charset="-120"/>
              </a:rPr>
              <a:t>ChatGPT hits 100M users in 2 months. Claude, Gemini follow.</a:t>
            </a:r>
            <a:endParaRPr lang="en-US" sz="950" dirty="0"/>
          </a:p>
        </p:txBody>
      </p:sp>
      <p:sp>
        <p:nvSpPr>
          <p:cNvPr id="32" name="Shape 30"/>
          <p:cNvSpPr/>
          <p:nvPr/>
        </p:nvSpPr>
        <p:spPr>
          <a:xfrm>
            <a:off x="6419088" y="1892808"/>
            <a:ext cx="237744" cy="237744"/>
          </a:xfrm>
          <a:prstGeom prst="ellipse">
            <a:avLst/>
          </a:prstGeom>
          <a:solidFill>
            <a:srgbClr val="E8478D"/>
          </a:solidFill>
          <a:ln w="19050">
            <a:solidFill>
              <a:srgbClr val="FFFFFF"/>
            </a:solidFill>
            <a:prstDash val="solid"/>
          </a:ln>
        </p:spPr>
      </p:sp>
      <p:sp>
        <p:nvSpPr>
          <p:cNvPr id="33" name="Shape 31"/>
          <p:cNvSpPr/>
          <p:nvPr/>
        </p:nvSpPr>
        <p:spPr>
          <a:xfrm>
            <a:off x="5908853" y="2212848"/>
            <a:ext cx="1258214" cy="3291840"/>
          </a:xfrm>
          <a:prstGeom prst="rect">
            <a:avLst/>
          </a:prstGeom>
          <a:solidFill>
            <a:srgbClr val="F9F9F9"/>
          </a:solidFill>
          <a:ln w="6350">
            <a:solidFill>
              <a:srgbClr val="E5E5E5"/>
            </a:solidFill>
            <a:prstDash val="solid"/>
          </a:ln>
        </p:spPr>
      </p:sp>
      <p:sp>
        <p:nvSpPr>
          <p:cNvPr id="34" name="Shape 32"/>
          <p:cNvSpPr/>
          <p:nvPr/>
        </p:nvSpPr>
        <p:spPr>
          <a:xfrm>
            <a:off x="5908853" y="2212848"/>
            <a:ext cx="54864" cy="3291840"/>
          </a:xfrm>
          <a:prstGeom prst="rect">
            <a:avLst/>
          </a:prstGeom>
          <a:solidFill>
            <a:srgbClr val="E8478D"/>
          </a:solidFill>
          <a:ln w="12700">
            <a:solidFill>
              <a:srgbClr val="E8478D"/>
            </a:solidFill>
            <a:prstDash val="solid"/>
          </a:ln>
        </p:spPr>
      </p:sp>
      <p:sp>
        <p:nvSpPr>
          <p:cNvPr id="35" name="Text 33"/>
          <p:cNvSpPr/>
          <p:nvPr/>
        </p:nvSpPr>
        <p:spPr>
          <a:xfrm>
            <a:off x="6036869" y="2331720"/>
            <a:ext cx="1075334" cy="256032"/>
          </a:xfrm>
          <a:prstGeom prst="rect">
            <a:avLst/>
          </a:prstGeom>
          <a:noFill/>
          <a:ln/>
        </p:spPr>
        <p:txBody>
          <a:bodyPr wrap="square" lIns="0" tIns="0" rIns="0" bIns="0" rtlCol="0" anchor="ctr"/>
          <a:lstStyle/>
          <a:p>
            <a:pPr indent="0" marL="0">
              <a:buNone/>
            </a:pPr>
            <a:r>
              <a:rPr lang="en-US" sz="900" dirty="0">
                <a:solidFill>
                  <a:srgbClr val="666666"/>
                </a:solidFill>
                <a:latin typeface="Arial" pitchFamily="34" charset="0"/>
                <a:ea typeface="Arial" pitchFamily="34" charset="-122"/>
                <a:cs typeface="Arial" pitchFamily="34" charset="-120"/>
              </a:rPr>
              <a:t>2023–24</a:t>
            </a:r>
            <a:endParaRPr lang="en-US" sz="900" dirty="0"/>
          </a:p>
        </p:txBody>
      </p:sp>
      <p:sp>
        <p:nvSpPr>
          <p:cNvPr id="36" name="Text 34"/>
          <p:cNvSpPr/>
          <p:nvPr/>
        </p:nvSpPr>
        <p:spPr>
          <a:xfrm>
            <a:off x="6036869" y="2633472"/>
            <a:ext cx="1075334" cy="411480"/>
          </a:xfrm>
          <a:prstGeom prst="rect">
            <a:avLst/>
          </a:prstGeom>
          <a:noFill/>
          <a:ln/>
        </p:spPr>
        <p:txBody>
          <a:bodyPr wrap="square" lIns="0" tIns="0" rIns="0" bIns="0" rtlCol="0" anchor="ctr"/>
          <a:lstStyle/>
          <a:p>
            <a:pPr indent="0" marL="0">
              <a:buNone/>
            </a:pPr>
            <a:r>
              <a:rPr lang="en-US" sz="1200" b="1" dirty="0">
                <a:solidFill>
                  <a:srgbClr val="000000"/>
                </a:solidFill>
                <a:latin typeface="Arial" pitchFamily="34" charset="0"/>
                <a:ea typeface="Arial" pitchFamily="34" charset="-122"/>
                <a:cs typeface="Arial" pitchFamily="34" charset="-120"/>
              </a:rPr>
              <a:t>Reasoning</a:t>
            </a:r>
            <a:endParaRPr lang="en-US" sz="1200" dirty="0"/>
          </a:p>
        </p:txBody>
      </p:sp>
      <p:sp>
        <p:nvSpPr>
          <p:cNvPr id="37" name="Text 35"/>
          <p:cNvSpPr/>
          <p:nvPr/>
        </p:nvSpPr>
        <p:spPr>
          <a:xfrm>
            <a:off x="6036869" y="3108960"/>
            <a:ext cx="1075334" cy="2331720"/>
          </a:xfrm>
          <a:prstGeom prst="rect">
            <a:avLst/>
          </a:prstGeom>
          <a:noFill/>
          <a:ln/>
        </p:spPr>
        <p:txBody>
          <a:bodyPr wrap="square" lIns="0" tIns="0" rIns="0" bIns="0" rtlCol="0" anchor="t"/>
          <a:lstStyle/>
          <a:p>
            <a:pPr indent="0" marL="0">
              <a:buNone/>
            </a:pPr>
            <a:r>
              <a:rPr lang="en-US" sz="950" dirty="0">
                <a:solidFill>
                  <a:srgbClr val="333333"/>
                </a:solidFill>
                <a:latin typeface="Arial" pitchFamily="34" charset="0"/>
                <a:ea typeface="Arial" pitchFamily="34" charset="-122"/>
                <a:cs typeface="Arial" pitchFamily="34" charset="-120"/>
              </a:rPr>
              <a:t>Multi-step logic, chain-of-thought. o1, DeepSeek R1.</a:t>
            </a:r>
            <a:endParaRPr lang="en-US" sz="950" dirty="0"/>
          </a:p>
        </p:txBody>
      </p:sp>
      <p:sp>
        <p:nvSpPr>
          <p:cNvPr id="38" name="Shape 36"/>
          <p:cNvSpPr/>
          <p:nvPr/>
        </p:nvSpPr>
        <p:spPr>
          <a:xfrm>
            <a:off x="7729728" y="1892808"/>
            <a:ext cx="237744" cy="237744"/>
          </a:xfrm>
          <a:prstGeom prst="ellipse">
            <a:avLst/>
          </a:prstGeom>
          <a:solidFill>
            <a:srgbClr val="CC0000"/>
          </a:solidFill>
          <a:ln w="19050">
            <a:solidFill>
              <a:srgbClr val="FFFFFF"/>
            </a:solidFill>
            <a:prstDash val="solid"/>
          </a:ln>
        </p:spPr>
      </p:sp>
      <p:sp>
        <p:nvSpPr>
          <p:cNvPr id="39" name="Shape 37"/>
          <p:cNvSpPr/>
          <p:nvPr/>
        </p:nvSpPr>
        <p:spPr>
          <a:xfrm>
            <a:off x="7219493" y="2212848"/>
            <a:ext cx="1258214" cy="3291840"/>
          </a:xfrm>
          <a:prstGeom prst="rect">
            <a:avLst/>
          </a:prstGeom>
          <a:solidFill>
            <a:srgbClr val="FFF8F3"/>
          </a:solidFill>
          <a:ln w="6350">
            <a:solidFill>
              <a:srgbClr val="E5E5E5"/>
            </a:solidFill>
            <a:prstDash val="solid"/>
          </a:ln>
        </p:spPr>
      </p:sp>
      <p:sp>
        <p:nvSpPr>
          <p:cNvPr id="40" name="Shape 38"/>
          <p:cNvSpPr/>
          <p:nvPr/>
        </p:nvSpPr>
        <p:spPr>
          <a:xfrm>
            <a:off x="7219493" y="2212848"/>
            <a:ext cx="54864" cy="3291840"/>
          </a:xfrm>
          <a:prstGeom prst="rect">
            <a:avLst/>
          </a:prstGeom>
          <a:solidFill>
            <a:srgbClr val="CC0000"/>
          </a:solidFill>
          <a:ln w="12700">
            <a:solidFill>
              <a:srgbClr val="CC0000"/>
            </a:solidFill>
            <a:prstDash val="solid"/>
          </a:ln>
        </p:spPr>
      </p:sp>
      <p:sp>
        <p:nvSpPr>
          <p:cNvPr id="41" name="Text 39"/>
          <p:cNvSpPr/>
          <p:nvPr/>
        </p:nvSpPr>
        <p:spPr>
          <a:xfrm>
            <a:off x="7347509" y="2331720"/>
            <a:ext cx="1075334" cy="256032"/>
          </a:xfrm>
          <a:prstGeom prst="rect">
            <a:avLst/>
          </a:prstGeom>
          <a:noFill/>
          <a:ln/>
        </p:spPr>
        <p:txBody>
          <a:bodyPr wrap="square" lIns="0" tIns="0" rIns="0" bIns="0" rtlCol="0" anchor="ctr"/>
          <a:lstStyle/>
          <a:p>
            <a:pPr indent="0" marL="0">
              <a:buNone/>
            </a:pPr>
            <a:r>
              <a:rPr lang="en-US" sz="900" dirty="0">
                <a:solidFill>
                  <a:srgbClr val="666666"/>
                </a:solidFill>
                <a:latin typeface="Arial" pitchFamily="34" charset="0"/>
                <a:ea typeface="Arial" pitchFamily="34" charset="-122"/>
                <a:cs typeface="Arial" pitchFamily="34" charset="-120"/>
              </a:rPr>
              <a:t>2025+</a:t>
            </a:r>
            <a:endParaRPr lang="en-US" sz="900" dirty="0"/>
          </a:p>
        </p:txBody>
      </p:sp>
      <p:sp>
        <p:nvSpPr>
          <p:cNvPr id="42" name="Text 40"/>
          <p:cNvSpPr/>
          <p:nvPr/>
        </p:nvSpPr>
        <p:spPr>
          <a:xfrm>
            <a:off x="7347509" y="2633472"/>
            <a:ext cx="1075334" cy="411480"/>
          </a:xfrm>
          <a:prstGeom prst="rect">
            <a:avLst/>
          </a:prstGeom>
          <a:noFill/>
          <a:ln/>
        </p:spPr>
        <p:txBody>
          <a:bodyPr wrap="square" lIns="0" tIns="0" rIns="0" bIns="0" rtlCol="0" anchor="ctr"/>
          <a:lstStyle/>
          <a:p>
            <a:pPr indent="0" marL="0">
              <a:buNone/>
            </a:pPr>
            <a:r>
              <a:rPr lang="en-US" sz="1300" b="1" dirty="0">
                <a:solidFill>
                  <a:srgbClr val="000000"/>
                </a:solidFill>
                <a:latin typeface="Arial" pitchFamily="34" charset="0"/>
                <a:ea typeface="Arial" pitchFamily="34" charset="-122"/>
                <a:cs typeface="Arial" pitchFamily="34" charset="-120"/>
              </a:rPr>
              <a:t>Agentic AI</a:t>
            </a:r>
            <a:endParaRPr lang="en-US" sz="1300" dirty="0"/>
          </a:p>
        </p:txBody>
      </p:sp>
      <p:sp>
        <p:nvSpPr>
          <p:cNvPr id="43" name="Text 41"/>
          <p:cNvSpPr/>
          <p:nvPr/>
        </p:nvSpPr>
        <p:spPr>
          <a:xfrm>
            <a:off x="7347509" y="3108960"/>
            <a:ext cx="1075334" cy="2331720"/>
          </a:xfrm>
          <a:prstGeom prst="rect">
            <a:avLst/>
          </a:prstGeom>
          <a:noFill/>
          <a:ln/>
        </p:spPr>
        <p:txBody>
          <a:bodyPr wrap="square" lIns="0" tIns="0" rIns="0" bIns="0" rtlCol="0" anchor="t"/>
          <a:lstStyle/>
          <a:p>
            <a:pPr indent="0" marL="0">
              <a:buNone/>
            </a:pPr>
            <a:r>
              <a:rPr lang="en-US" sz="950" dirty="0">
                <a:solidFill>
                  <a:srgbClr val="333333"/>
                </a:solidFill>
                <a:latin typeface="Arial" pitchFamily="34" charset="0"/>
                <a:ea typeface="Arial" pitchFamily="34" charset="-122"/>
                <a:cs typeface="Arial" pitchFamily="34" charset="-120"/>
              </a:rPr>
              <a:t>AI that uses tools and acts autonomously. Claude Code, agents.</a:t>
            </a:r>
            <a:endParaRPr lang="en-US" sz="950" dirty="0"/>
          </a:p>
        </p:txBody>
      </p:sp>
      <p:sp>
        <p:nvSpPr>
          <p:cNvPr id="44" name="Text 42"/>
          <p:cNvSpPr/>
          <p:nvPr/>
        </p:nvSpPr>
        <p:spPr>
          <a:xfrm>
            <a:off x="457200" y="5875020"/>
            <a:ext cx="8229600" cy="320040"/>
          </a:xfrm>
          <a:prstGeom prst="rect">
            <a:avLst/>
          </a:prstGeom>
          <a:noFill/>
          <a:ln/>
        </p:spPr>
        <p:txBody>
          <a:bodyPr wrap="square" lIns="0" tIns="0" rIns="0" bIns="0" rtlCol="0" anchor="t"/>
          <a:lstStyle/>
          <a:p>
            <a:pPr indent="0" marL="0">
              <a:buNone/>
            </a:pPr>
            <a:r>
              <a:rPr lang="en-US" sz="700" dirty="0">
                <a:solidFill>
                  <a:srgbClr val="999999"/>
                </a:solidFill>
                <a:latin typeface="Arial" pitchFamily="34" charset="0"/>
                <a:ea typeface="Arial" pitchFamily="34" charset="-122"/>
                <a:cs typeface="Arial" pitchFamily="34" charset="-120"/>
              </a:rPr>
              <a:t>Source: Strategy Research.</a:t>
            </a:r>
            <a:endParaRPr lang="en-US" sz="700" dirty="0"/>
          </a:p>
        </p:txBody>
      </p:sp>
      <p:sp>
        <p:nvSpPr>
          <p:cNvPr id="45" name="Shape 43"/>
          <p:cNvSpPr/>
          <p:nvPr/>
        </p:nvSpPr>
        <p:spPr>
          <a:xfrm>
            <a:off x="0" y="6286500"/>
            <a:ext cx="9144000" cy="571500"/>
          </a:xfrm>
          <a:prstGeom prst="rect">
            <a:avLst/>
          </a:prstGeom>
          <a:solidFill>
            <a:srgbClr val="000000"/>
          </a:solidFill>
          <a:ln w="12700">
            <a:solidFill>
              <a:srgbClr val="000000"/>
            </a:solidFill>
            <a:prstDash val="solid"/>
          </a:ln>
        </p:spPr>
      </p:sp>
      <p:sp>
        <p:nvSpPr>
          <p:cNvPr id="46" name="Text 44"/>
          <p:cNvSpPr/>
          <p:nvPr/>
        </p:nvSpPr>
        <p:spPr>
          <a:xfrm>
            <a:off x="1371600" y="6332220"/>
            <a:ext cx="6400800" cy="45720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47" name="Text 45"/>
          <p:cNvSpPr/>
          <p:nvPr/>
        </p:nvSpPr>
        <p:spPr>
          <a:xfrm>
            <a:off x="8321040" y="6405372"/>
            <a:ext cx="548640" cy="27432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008B8B"/>
          </a:solidFill>
          <a:ln w="12700">
            <a:solidFill>
              <a:srgbClr val="008B8B"/>
            </a:solidFill>
            <a:prstDash val="solid"/>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Arial" pitchFamily="34" charset="0"/>
                <a:ea typeface="Arial" pitchFamily="34" charset="-122"/>
                <a:cs typeface="Arial" pitchFamily="34" charset="-120"/>
              </a:rPr>
              <a:t>LANDSCAPE</a:t>
            </a:r>
            <a:endParaRPr lang="en-US" sz="1000" dirty="0"/>
          </a:p>
        </p:txBody>
      </p:sp>
      <p:sp>
        <p:nvSpPr>
          <p:cNvPr id="4" name="Text 2"/>
          <p:cNvSpPr/>
          <p:nvPr/>
        </p:nvSpPr>
        <p:spPr>
          <a:xfrm>
            <a:off x="457200" y="182880"/>
            <a:ext cx="6583680" cy="685800"/>
          </a:xfrm>
          <a:prstGeom prst="rect">
            <a:avLst/>
          </a:prstGeom>
          <a:noFill/>
          <a:ln/>
        </p:spPr>
        <p:txBody>
          <a:bodyPr wrap="square" lIns="0" tIns="0" rIns="0" bIns="0" rtlCol="0" anchor="t"/>
          <a:lstStyle/>
          <a:p>
            <a:pPr indent="0" marL="0">
              <a:buNone/>
            </a:pPr>
            <a:r>
              <a:rPr lang="en-US" sz="2400" b="1" dirty="0">
                <a:solidFill>
                  <a:srgbClr val="000000"/>
                </a:solidFill>
                <a:latin typeface="Arial Black" pitchFamily="34" charset="0"/>
                <a:ea typeface="Arial Black" pitchFamily="34" charset="-122"/>
                <a:cs typeface="Arial Black" pitchFamily="34" charset="-120"/>
              </a:rPr>
              <a:t>Eleven layers, four power blocs — your exposure depends on which layer you own</a:t>
            </a:r>
            <a:endParaRPr lang="en-US" sz="2400" dirty="0"/>
          </a:p>
        </p:txBody>
      </p:sp>
      <p:sp>
        <p:nvSpPr>
          <p:cNvPr id="5" name="Shape 3"/>
          <p:cNvSpPr/>
          <p:nvPr/>
        </p:nvSpPr>
        <p:spPr>
          <a:xfrm>
            <a:off x="457200" y="1325880"/>
            <a:ext cx="8229600" cy="0"/>
          </a:xfrm>
          <a:prstGeom prst="line">
            <a:avLst/>
          </a:prstGeom>
          <a:noFill/>
          <a:ln w="9525">
            <a:solidFill>
              <a:srgbClr val="E5E5E5"/>
            </a:solidFill>
            <a:prstDash val="solid"/>
          </a:ln>
        </p:spPr>
      </p:sp>
      <p:sp>
        <p:nvSpPr>
          <p:cNvPr id="6" name="Shape 4"/>
          <p:cNvSpPr/>
          <p:nvPr/>
        </p:nvSpPr>
        <p:spPr>
          <a:xfrm>
            <a:off x="457200" y="1600200"/>
            <a:ext cx="256032" cy="1097280"/>
          </a:xfrm>
          <a:prstGeom prst="rect">
            <a:avLst/>
          </a:prstGeom>
          <a:solidFill>
            <a:srgbClr val="F6693D"/>
          </a:solidFill>
          <a:ln w="12700">
            <a:solidFill>
              <a:srgbClr val="F6693D"/>
            </a:solidFill>
            <a:prstDash val="solid"/>
          </a:ln>
        </p:spPr>
      </p:sp>
      <p:sp>
        <p:nvSpPr>
          <p:cNvPr id="7" name="Text 5"/>
          <p:cNvSpPr/>
          <p:nvPr/>
        </p:nvSpPr>
        <p:spPr>
          <a:xfrm>
            <a:off x="777240" y="1600200"/>
            <a:ext cx="1280160" cy="1097280"/>
          </a:xfrm>
          <a:prstGeom prst="rect">
            <a:avLst/>
          </a:prstGeom>
          <a:noFill/>
          <a:ln/>
        </p:spPr>
        <p:txBody>
          <a:bodyPr wrap="square" lIns="0" tIns="0" rIns="0" bIns="0" rtlCol="0" anchor="ctr"/>
          <a:lstStyle/>
          <a:p>
            <a:pPr indent="0" marL="0">
              <a:buNone/>
            </a:pPr>
            <a:r>
              <a:rPr lang="en-US" sz="1000" b="1" spc="300" kern="0" dirty="0">
                <a:solidFill>
                  <a:srgbClr val="F6693D"/>
                </a:solidFill>
                <a:latin typeface="Arial" pitchFamily="34" charset="0"/>
                <a:ea typeface="Arial" pitchFamily="34" charset="-122"/>
                <a:cs typeface="Arial" pitchFamily="34" charset="-120"/>
              </a:rPr>
              <a:t>USER</a:t>
            </a:r>
            <a:endParaRPr lang="en-US" sz="1000" dirty="0"/>
          </a:p>
        </p:txBody>
      </p:sp>
      <p:sp>
        <p:nvSpPr>
          <p:cNvPr id="8" name="Shape 6"/>
          <p:cNvSpPr/>
          <p:nvPr/>
        </p:nvSpPr>
        <p:spPr>
          <a:xfrm>
            <a:off x="457200" y="2743200"/>
            <a:ext cx="256032" cy="1097280"/>
          </a:xfrm>
          <a:prstGeom prst="rect">
            <a:avLst/>
          </a:prstGeom>
          <a:solidFill>
            <a:srgbClr val="FFB800"/>
          </a:solidFill>
          <a:ln w="12700">
            <a:solidFill>
              <a:srgbClr val="FFB800"/>
            </a:solidFill>
            <a:prstDash val="solid"/>
          </a:ln>
        </p:spPr>
      </p:sp>
      <p:sp>
        <p:nvSpPr>
          <p:cNvPr id="9" name="Text 7"/>
          <p:cNvSpPr/>
          <p:nvPr/>
        </p:nvSpPr>
        <p:spPr>
          <a:xfrm>
            <a:off x="777240" y="2743200"/>
            <a:ext cx="1280160" cy="1097280"/>
          </a:xfrm>
          <a:prstGeom prst="rect">
            <a:avLst/>
          </a:prstGeom>
          <a:noFill/>
          <a:ln/>
        </p:spPr>
        <p:txBody>
          <a:bodyPr wrap="square" lIns="0" tIns="0" rIns="0" bIns="0" rtlCol="0" anchor="ctr"/>
          <a:lstStyle/>
          <a:p>
            <a:pPr indent="0" marL="0">
              <a:buNone/>
            </a:pPr>
            <a:r>
              <a:rPr lang="en-US" sz="1000" b="1" spc="300" kern="0" dirty="0">
                <a:solidFill>
                  <a:srgbClr val="FFB800"/>
                </a:solidFill>
                <a:latin typeface="Arial" pitchFamily="34" charset="0"/>
                <a:ea typeface="Arial" pitchFamily="34" charset="-122"/>
                <a:cs typeface="Arial" pitchFamily="34" charset="-120"/>
              </a:rPr>
              <a:t>COMPUTE</a:t>
            </a:r>
            <a:endParaRPr lang="en-US" sz="1000" dirty="0"/>
          </a:p>
        </p:txBody>
      </p:sp>
      <p:sp>
        <p:nvSpPr>
          <p:cNvPr id="10" name="Shape 8"/>
          <p:cNvSpPr/>
          <p:nvPr/>
        </p:nvSpPr>
        <p:spPr>
          <a:xfrm>
            <a:off x="457200" y="3886200"/>
            <a:ext cx="256032" cy="1097280"/>
          </a:xfrm>
          <a:prstGeom prst="rect">
            <a:avLst/>
          </a:prstGeom>
          <a:solidFill>
            <a:srgbClr val="008B8B"/>
          </a:solidFill>
          <a:ln w="12700">
            <a:solidFill>
              <a:srgbClr val="008B8B"/>
            </a:solidFill>
            <a:prstDash val="solid"/>
          </a:ln>
        </p:spPr>
      </p:sp>
      <p:sp>
        <p:nvSpPr>
          <p:cNvPr id="11" name="Text 9"/>
          <p:cNvSpPr/>
          <p:nvPr/>
        </p:nvSpPr>
        <p:spPr>
          <a:xfrm>
            <a:off x="777240" y="3886200"/>
            <a:ext cx="1280160" cy="1097280"/>
          </a:xfrm>
          <a:prstGeom prst="rect">
            <a:avLst/>
          </a:prstGeom>
          <a:noFill/>
          <a:ln/>
        </p:spPr>
        <p:txBody>
          <a:bodyPr wrap="square" lIns="0" tIns="0" rIns="0" bIns="0" rtlCol="0" anchor="ctr"/>
          <a:lstStyle/>
          <a:p>
            <a:pPr indent="0" marL="0">
              <a:buNone/>
            </a:pPr>
            <a:r>
              <a:rPr lang="en-US" sz="1000" b="1" spc="300" kern="0" dirty="0">
                <a:solidFill>
                  <a:srgbClr val="008B8B"/>
                </a:solidFill>
                <a:latin typeface="Arial" pitchFamily="34" charset="0"/>
                <a:ea typeface="Arial" pitchFamily="34" charset="-122"/>
                <a:cs typeface="Arial" pitchFamily="34" charset="-120"/>
              </a:rPr>
              <a:t>SILICON</a:t>
            </a:r>
            <a:endParaRPr lang="en-US" sz="1000" dirty="0"/>
          </a:p>
        </p:txBody>
      </p:sp>
      <p:sp>
        <p:nvSpPr>
          <p:cNvPr id="12" name="Shape 10"/>
          <p:cNvSpPr/>
          <p:nvPr/>
        </p:nvSpPr>
        <p:spPr>
          <a:xfrm>
            <a:off x="457200" y="5029200"/>
            <a:ext cx="256032" cy="731520"/>
          </a:xfrm>
          <a:prstGeom prst="rect">
            <a:avLst/>
          </a:prstGeom>
          <a:solidFill>
            <a:srgbClr val="666666"/>
          </a:solidFill>
          <a:ln w="12700">
            <a:solidFill>
              <a:srgbClr val="666666"/>
            </a:solidFill>
            <a:prstDash val="solid"/>
          </a:ln>
        </p:spPr>
      </p:sp>
      <p:sp>
        <p:nvSpPr>
          <p:cNvPr id="13" name="Text 11"/>
          <p:cNvSpPr/>
          <p:nvPr/>
        </p:nvSpPr>
        <p:spPr>
          <a:xfrm>
            <a:off x="777240" y="5029200"/>
            <a:ext cx="1280160" cy="731520"/>
          </a:xfrm>
          <a:prstGeom prst="rect">
            <a:avLst/>
          </a:prstGeom>
          <a:noFill/>
          <a:ln/>
        </p:spPr>
        <p:txBody>
          <a:bodyPr wrap="square" lIns="0" tIns="0" rIns="0" bIns="0" rtlCol="0" anchor="ctr"/>
          <a:lstStyle/>
          <a:p>
            <a:pPr indent="0" marL="0">
              <a:buNone/>
            </a:pPr>
            <a:r>
              <a:rPr lang="en-US" sz="1000" b="1" spc="300" kern="0" dirty="0">
                <a:solidFill>
                  <a:srgbClr val="666666"/>
                </a:solidFill>
                <a:latin typeface="Arial" pitchFamily="34" charset="0"/>
                <a:ea typeface="Arial" pitchFamily="34" charset="-122"/>
                <a:cs typeface="Arial" pitchFamily="34" charset="-120"/>
              </a:rPr>
              <a:t>MATERIALS</a:t>
            </a:r>
            <a:endParaRPr lang="en-US" sz="1000" dirty="0"/>
          </a:p>
        </p:txBody>
      </p:sp>
      <p:sp>
        <p:nvSpPr>
          <p:cNvPr id="14" name="Shape 12"/>
          <p:cNvSpPr/>
          <p:nvPr/>
        </p:nvSpPr>
        <p:spPr>
          <a:xfrm>
            <a:off x="2103120" y="1645920"/>
            <a:ext cx="6583680" cy="320040"/>
          </a:xfrm>
          <a:prstGeom prst="rect">
            <a:avLst/>
          </a:prstGeom>
          <a:solidFill>
            <a:srgbClr val="F9F9F9"/>
          </a:solidFill>
          <a:ln w="3810">
            <a:solidFill>
              <a:srgbClr val="E5E5E5"/>
            </a:solidFill>
            <a:prstDash val="solid"/>
          </a:ln>
        </p:spPr>
      </p:sp>
      <p:sp>
        <p:nvSpPr>
          <p:cNvPr id="15" name="Shape 13"/>
          <p:cNvSpPr/>
          <p:nvPr/>
        </p:nvSpPr>
        <p:spPr>
          <a:xfrm>
            <a:off x="2240280" y="1737360"/>
            <a:ext cx="137160" cy="137160"/>
          </a:xfrm>
          <a:prstGeom prst="ellipse">
            <a:avLst/>
          </a:prstGeom>
          <a:solidFill>
            <a:srgbClr val="F6693D"/>
          </a:solidFill>
          <a:ln w="12700">
            <a:solidFill>
              <a:srgbClr val="F6693D"/>
            </a:solidFill>
            <a:prstDash val="solid"/>
          </a:ln>
        </p:spPr>
      </p:sp>
      <p:sp>
        <p:nvSpPr>
          <p:cNvPr id="16" name="Text 14"/>
          <p:cNvSpPr/>
          <p:nvPr/>
        </p:nvSpPr>
        <p:spPr>
          <a:xfrm>
            <a:off x="2468880" y="1645920"/>
            <a:ext cx="2103120" cy="320040"/>
          </a:xfrm>
          <a:prstGeom prst="rect">
            <a:avLst/>
          </a:prstGeom>
          <a:noFill/>
          <a:ln/>
        </p:spPr>
        <p:txBody>
          <a:bodyPr wrap="square" lIns="0" tIns="0" rIns="0" bIns="0" rtlCol="0" anchor="ctr"/>
          <a:lstStyle/>
          <a:p>
            <a:pPr indent="0" marL="0">
              <a:buNone/>
            </a:pPr>
            <a:r>
              <a:rPr lang="en-US" sz="1200" b="1" dirty="0">
                <a:solidFill>
                  <a:srgbClr val="000000"/>
                </a:solidFill>
                <a:latin typeface="Arial" pitchFamily="34" charset="0"/>
                <a:ea typeface="Arial" pitchFamily="34" charset="-122"/>
                <a:cs typeface="Arial" pitchFamily="34" charset="-120"/>
              </a:rPr>
              <a:t>Agents</a:t>
            </a:r>
            <a:endParaRPr lang="en-US" sz="1200" dirty="0"/>
          </a:p>
        </p:txBody>
      </p:sp>
      <p:sp>
        <p:nvSpPr>
          <p:cNvPr id="17" name="Text 15"/>
          <p:cNvSpPr/>
          <p:nvPr/>
        </p:nvSpPr>
        <p:spPr>
          <a:xfrm>
            <a:off x="4572000" y="1645920"/>
            <a:ext cx="4023360" cy="320040"/>
          </a:xfrm>
          <a:prstGeom prst="rect">
            <a:avLst/>
          </a:prstGeom>
          <a:noFill/>
          <a:ln/>
        </p:spPr>
        <p:txBody>
          <a:bodyPr wrap="square" lIns="0" tIns="0" rIns="0" bIns="0" rtlCol="0" anchor="ctr"/>
          <a:lstStyle/>
          <a:p>
            <a:pPr indent="0" marL="0">
              <a:buNone/>
            </a:pPr>
            <a:r>
              <a:rPr lang="en-US" sz="1050" dirty="0">
                <a:solidFill>
                  <a:srgbClr val="333333"/>
                </a:solidFill>
                <a:latin typeface="Arial" pitchFamily="34" charset="0"/>
                <a:ea typeface="Arial" pitchFamily="34" charset="-122"/>
                <a:cs typeface="Arial" pitchFamily="34" charset="-120"/>
              </a:rPr>
              <a:t>Autonomous AI that acts on your behalf</a:t>
            </a:r>
            <a:endParaRPr lang="en-US" sz="1050" dirty="0"/>
          </a:p>
        </p:txBody>
      </p:sp>
      <p:sp>
        <p:nvSpPr>
          <p:cNvPr id="18" name="Shape 16"/>
          <p:cNvSpPr/>
          <p:nvPr/>
        </p:nvSpPr>
        <p:spPr>
          <a:xfrm>
            <a:off x="2103120" y="2011680"/>
            <a:ext cx="6583680" cy="320040"/>
          </a:xfrm>
          <a:prstGeom prst="rect">
            <a:avLst/>
          </a:prstGeom>
          <a:solidFill>
            <a:srgbClr val="F9F9F9"/>
          </a:solidFill>
          <a:ln w="3810">
            <a:solidFill>
              <a:srgbClr val="E5E5E5"/>
            </a:solidFill>
            <a:prstDash val="solid"/>
          </a:ln>
        </p:spPr>
      </p:sp>
      <p:sp>
        <p:nvSpPr>
          <p:cNvPr id="19" name="Shape 17"/>
          <p:cNvSpPr/>
          <p:nvPr/>
        </p:nvSpPr>
        <p:spPr>
          <a:xfrm>
            <a:off x="2240280" y="2103120"/>
            <a:ext cx="137160" cy="137160"/>
          </a:xfrm>
          <a:prstGeom prst="ellipse">
            <a:avLst/>
          </a:prstGeom>
          <a:solidFill>
            <a:srgbClr val="F6693D"/>
          </a:solidFill>
          <a:ln w="12700">
            <a:solidFill>
              <a:srgbClr val="F6693D"/>
            </a:solidFill>
            <a:prstDash val="solid"/>
          </a:ln>
        </p:spPr>
      </p:sp>
      <p:sp>
        <p:nvSpPr>
          <p:cNvPr id="20" name="Text 18"/>
          <p:cNvSpPr/>
          <p:nvPr/>
        </p:nvSpPr>
        <p:spPr>
          <a:xfrm>
            <a:off x="2468880" y="2011680"/>
            <a:ext cx="2103120" cy="320040"/>
          </a:xfrm>
          <a:prstGeom prst="rect">
            <a:avLst/>
          </a:prstGeom>
          <a:noFill/>
          <a:ln/>
        </p:spPr>
        <p:txBody>
          <a:bodyPr wrap="square" lIns="0" tIns="0" rIns="0" bIns="0" rtlCol="0" anchor="ctr"/>
          <a:lstStyle/>
          <a:p>
            <a:pPr indent="0" marL="0">
              <a:buNone/>
            </a:pPr>
            <a:r>
              <a:rPr lang="en-US" sz="1200" b="1" dirty="0">
                <a:solidFill>
                  <a:srgbClr val="000000"/>
                </a:solidFill>
                <a:latin typeface="Arial" pitchFamily="34" charset="0"/>
                <a:ea typeface="Arial" pitchFamily="34" charset="-122"/>
                <a:cs typeface="Arial" pitchFamily="34" charset="-120"/>
              </a:rPr>
              <a:t>Apps</a:t>
            </a:r>
            <a:endParaRPr lang="en-US" sz="1200" dirty="0"/>
          </a:p>
        </p:txBody>
      </p:sp>
      <p:sp>
        <p:nvSpPr>
          <p:cNvPr id="21" name="Text 19"/>
          <p:cNvSpPr/>
          <p:nvPr/>
        </p:nvSpPr>
        <p:spPr>
          <a:xfrm>
            <a:off x="4572000" y="2011680"/>
            <a:ext cx="4023360" cy="320040"/>
          </a:xfrm>
          <a:prstGeom prst="rect">
            <a:avLst/>
          </a:prstGeom>
          <a:noFill/>
          <a:ln/>
        </p:spPr>
        <p:txBody>
          <a:bodyPr wrap="square" lIns="0" tIns="0" rIns="0" bIns="0" rtlCol="0" anchor="ctr"/>
          <a:lstStyle/>
          <a:p>
            <a:pPr indent="0" marL="0">
              <a:buNone/>
            </a:pPr>
            <a:r>
              <a:rPr lang="en-US" sz="1050" dirty="0">
                <a:solidFill>
                  <a:srgbClr val="333333"/>
                </a:solidFill>
                <a:latin typeface="Arial" pitchFamily="34" charset="0"/>
                <a:ea typeface="Arial" pitchFamily="34" charset="-122"/>
                <a:cs typeface="Arial" pitchFamily="34" charset="-120"/>
              </a:rPr>
              <a:t>Products built on foundation models</a:t>
            </a:r>
            <a:endParaRPr lang="en-US" sz="1050" dirty="0"/>
          </a:p>
        </p:txBody>
      </p:sp>
      <p:sp>
        <p:nvSpPr>
          <p:cNvPr id="22" name="Shape 20"/>
          <p:cNvSpPr/>
          <p:nvPr/>
        </p:nvSpPr>
        <p:spPr>
          <a:xfrm>
            <a:off x="2103120" y="2377440"/>
            <a:ext cx="6583680" cy="320040"/>
          </a:xfrm>
          <a:prstGeom prst="rect">
            <a:avLst/>
          </a:prstGeom>
          <a:solidFill>
            <a:srgbClr val="F9F9F9"/>
          </a:solidFill>
          <a:ln w="3810">
            <a:solidFill>
              <a:srgbClr val="E5E5E5"/>
            </a:solidFill>
            <a:prstDash val="solid"/>
          </a:ln>
        </p:spPr>
      </p:sp>
      <p:sp>
        <p:nvSpPr>
          <p:cNvPr id="23" name="Shape 21"/>
          <p:cNvSpPr/>
          <p:nvPr/>
        </p:nvSpPr>
        <p:spPr>
          <a:xfrm>
            <a:off x="2240280" y="2468880"/>
            <a:ext cx="137160" cy="137160"/>
          </a:xfrm>
          <a:prstGeom prst="ellipse">
            <a:avLst/>
          </a:prstGeom>
          <a:solidFill>
            <a:srgbClr val="F6693D"/>
          </a:solidFill>
          <a:ln w="12700">
            <a:solidFill>
              <a:srgbClr val="F6693D"/>
            </a:solidFill>
            <a:prstDash val="solid"/>
          </a:ln>
        </p:spPr>
      </p:sp>
      <p:sp>
        <p:nvSpPr>
          <p:cNvPr id="24" name="Text 22"/>
          <p:cNvSpPr/>
          <p:nvPr/>
        </p:nvSpPr>
        <p:spPr>
          <a:xfrm>
            <a:off x="2468880" y="2377440"/>
            <a:ext cx="2103120" cy="320040"/>
          </a:xfrm>
          <a:prstGeom prst="rect">
            <a:avLst/>
          </a:prstGeom>
          <a:noFill/>
          <a:ln/>
        </p:spPr>
        <p:txBody>
          <a:bodyPr wrap="square" lIns="0" tIns="0" rIns="0" bIns="0" rtlCol="0" anchor="ctr"/>
          <a:lstStyle/>
          <a:p>
            <a:pPr indent="0" marL="0">
              <a:buNone/>
            </a:pPr>
            <a:r>
              <a:rPr lang="en-US" sz="1200" b="1" dirty="0">
                <a:solidFill>
                  <a:srgbClr val="000000"/>
                </a:solidFill>
                <a:latin typeface="Arial" pitchFamily="34" charset="0"/>
                <a:ea typeface="Arial" pitchFamily="34" charset="-122"/>
                <a:cs typeface="Arial" pitchFamily="34" charset="-120"/>
              </a:rPr>
              <a:t>Models</a:t>
            </a:r>
            <a:endParaRPr lang="en-US" sz="1200" dirty="0"/>
          </a:p>
        </p:txBody>
      </p:sp>
      <p:sp>
        <p:nvSpPr>
          <p:cNvPr id="25" name="Text 23"/>
          <p:cNvSpPr/>
          <p:nvPr/>
        </p:nvSpPr>
        <p:spPr>
          <a:xfrm>
            <a:off x="4572000" y="2377440"/>
            <a:ext cx="4023360" cy="320040"/>
          </a:xfrm>
          <a:prstGeom prst="rect">
            <a:avLst/>
          </a:prstGeom>
          <a:noFill/>
          <a:ln/>
        </p:spPr>
        <p:txBody>
          <a:bodyPr wrap="square" lIns="0" tIns="0" rIns="0" bIns="0" rtlCol="0" anchor="ctr"/>
          <a:lstStyle/>
          <a:p>
            <a:pPr indent="0" marL="0">
              <a:buNone/>
            </a:pPr>
            <a:r>
              <a:rPr lang="en-US" sz="1050" dirty="0">
                <a:solidFill>
                  <a:srgbClr val="333333"/>
                </a:solidFill>
                <a:latin typeface="Arial" pitchFamily="34" charset="0"/>
                <a:ea typeface="Arial" pitchFamily="34" charset="-122"/>
                <a:cs typeface="Arial" pitchFamily="34" charset="-120"/>
              </a:rPr>
              <a:t>The intelligence layer</a:t>
            </a:r>
            <a:endParaRPr lang="en-US" sz="1050" dirty="0"/>
          </a:p>
        </p:txBody>
      </p:sp>
      <p:sp>
        <p:nvSpPr>
          <p:cNvPr id="26" name="Shape 24"/>
          <p:cNvSpPr/>
          <p:nvPr/>
        </p:nvSpPr>
        <p:spPr>
          <a:xfrm>
            <a:off x="2103120" y="2788920"/>
            <a:ext cx="6583680" cy="320040"/>
          </a:xfrm>
          <a:prstGeom prst="rect">
            <a:avLst/>
          </a:prstGeom>
          <a:solidFill>
            <a:srgbClr val="F9F9F9"/>
          </a:solidFill>
          <a:ln w="3810">
            <a:solidFill>
              <a:srgbClr val="E5E5E5"/>
            </a:solidFill>
            <a:prstDash val="solid"/>
          </a:ln>
        </p:spPr>
      </p:sp>
      <p:sp>
        <p:nvSpPr>
          <p:cNvPr id="27" name="Shape 25"/>
          <p:cNvSpPr/>
          <p:nvPr/>
        </p:nvSpPr>
        <p:spPr>
          <a:xfrm>
            <a:off x="2240280" y="2880360"/>
            <a:ext cx="137160" cy="137160"/>
          </a:xfrm>
          <a:prstGeom prst="ellipse">
            <a:avLst/>
          </a:prstGeom>
          <a:solidFill>
            <a:srgbClr val="FFB800"/>
          </a:solidFill>
          <a:ln w="12700">
            <a:solidFill>
              <a:srgbClr val="FFB800"/>
            </a:solidFill>
            <a:prstDash val="solid"/>
          </a:ln>
        </p:spPr>
      </p:sp>
      <p:sp>
        <p:nvSpPr>
          <p:cNvPr id="28" name="Text 26"/>
          <p:cNvSpPr/>
          <p:nvPr/>
        </p:nvSpPr>
        <p:spPr>
          <a:xfrm>
            <a:off x="2468880" y="2788920"/>
            <a:ext cx="2103120" cy="320040"/>
          </a:xfrm>
          <a:prstGeom prst="rect">
            <a:avLst/>
          </a:prstGeom>
          <a:noFill/>
          <a:ln/>
        </p:spPr>
        <p:txBody>
          <a:bodyPr wrap="square" lIns="0" tIns="0" rIns="0" bIns="0" rtlCol="0" anchor="ctr"/>
          <a:lstStyle/>
          <a:p>
            <a:pPr indent="0" marL="0">
              <a:buNone/>
            </a:pPr>
            <a:r>
              <a:rPr lang="en-US" sz="1200" b="1" dirty="0">
                <a:solidFill>
                  <a:srgbClr val="000000"/>
                </a:solidFill>
                <a:latin typeface="Arial" pitchFamily="34" charset="0"/>
                <a:ea typeface="Arial" pitchFamily="34" charset="-122"/>
                <a:cs typeface="Arial" pitchFamily="34" charset="-120"/>
              </a:rPr>
              <a:t>Data centers</a:t>
            </a:r>
            <a:endParaRPr lang="en-US" sz="1200" dirty="0"/>
          </a:p>
        </p:txBody>
      </p:sp>
      <p:sp>
        <p:nvSpPr>
          <p:cNvPr id="29" name="Text 27"/>
          <p:cNvSpPr/>
          <p:nvPr/>
        </p:nvSpPr>
        <p:spPr>
          <a:xfrm>
            <a:off x="4572000" y="2788920"/>
            <a:ext cx="4023360" cy="320040"/>
          </a:xfrm>
          <a:prstGeom prst="rect">
            <a:avLst/>
          </a:prstGeom>
          <a:noFill/>
          <a:ln/>
        </p:spPr>
        <p:txBody>
          <a:bodyPr wrap="square" lIns="0" tIns="0" rIns="0" bIns="0" rtlCol="0" anchor="ctr"/>
          <a:lstStyle/>
          <a:p>
            <a:pPr indent="0" marL="0">
              <a:buNone/>
            </a:pPr>
            <a:r>
              <a:rPr lang="en-US" sz="1050" dirty="0">
                <a:solidFill>
                  <a:srgbClr val="333333"/>
                </a:solidFill>
                <a:latin typeface="Arial" pitchFamily="34" charset="0"/>
                <a:ea typeface="Arial" pitchFamily="34" charset="-122"/>
                <a:cs typeface="Arial" pitchFamily="34" charset="-120"/>
              </a:rPr>
              <a:t>Warehouses of compute</a:t>
            </a:r>
            <a:endParaRPr lang="en-US" sz="1050" dirty="0"/>
          </a:p>
        </p:txBody>
      </p:sp>
      <p:sp>
        <p:nvSpPr>
          <p:cNvPr id="30" name="Shape 28"/>
          <p:cNvSpPr/>
          <p:nvPr/>
        </p:nvSpPr>
        <p:spPr>
          <a:xfrm>
            <a:off x="2103120" y="3154680"/>
            <a:ext cx="6583680" cy="320040"/>
          </a:xfrm>
          <a:prstGeom prst="rect">
            <a:avLst/>
          </a:prstGeom>
          <a:solidFill>
            <a:srgbClr val="F9F9F9"/>
          </a:solidFill>
          <a:ln w="3810">
            <a:solidFill>
              <a:srgbClr val="E5E5E5"/>
            </a:solidFill>
            <a:prstDash val="solid"/>
          </a:ln>
        </p:spPr>
      </p:sp>
      <p:sp>
        <p:nvSpPr>
          <p:cNvPr id="31" name="Shape 29"/>
          <p:cNvSpPr/>
          <p:nvPr/>
        </p:nvSpPr>
        <p:spPr>
          <a:xfrm>
            <a:off x="2240280" y="3246120"/>
            <a:ext cx="137160" cy="137160"/>
          </a:xfrm>
          <a:prstGeom prst="ellipse">
            <a:avLst/>
          </a:prstGeom>
          <a:solidFill>
            <a:srgbClr val="FFB800"/>
          </a:solidFill>
          <a:ln w="12700">
            <a:solidFill>
              <a:srgbClr val="FFB800"/>
            </a:solidFill>
            <a:prstDash val="solid"/>
          </a:ln>
        </p:spPr>
      </p:sp>
      <p:sp>
        <p:nvSpPr>
          <p:cNvPr id="32" name="Text 30"/>
          <p:cNvSpPr/>
          <p:nvPr/>
        </p:nvSpPr>
        <p:spPr>
          <a:xfrm>
            <a:off x="2468880" y="3154680"/>
            <a:ext cx="2103120" cy="320040"/>
          </a:xfrm>
          <a:prstGeom prst="rect">
            <a:avLst/>
          </a:prstGeom>
          <a:noFill/>
          <a:ln/>
        </p:spPr>
        <p:txBody>
          <a:bodyPr wrap="square" lIns="0" tIns="0" rIns="0" bIns="0" rtlCol="0" anchor="ctr"/>
          <a:lstStyle/>
          <a:p>
            <a:pPr indent="0" marL="0">
              <a:buNone/>
            </a:pPr>
            <a:r>
              <a:rPr lang="en-US" sz="1200" b="1" dirty="0">
                <a:solidFill>
                  <a:srgbClr val="000000"/>
                </a:solidFill>
                <a:latin typeface="Arial" pitchFamily="34" charset="0"/>
                <a:ea typeface="Arial" pitchFamily="34" charset="-122"/>
                <a:cs typeface="Arial" pitchFamily="34" charset="-120"/>
              </a:rPr>
              <a:t>Power</a:t>
            </a:r>
            <a:endParaRPr lang="en-US" sz="1200" dirty="0"/>
          </a:p>
        </p:txBody>
      </p:sp>
      <p:sp>
        <p:nvSpPr>
          <p:cNvPr id="33" name="Text 31"/>
          <p:cNvSpPr/>
          <p:nvPr/>
        </p:nvSpPr>
        <p:spPr>
          <a:xfrm>
            <a:off x="4572000" y="3154680"/>
            <a:ext cx="4023360" cy="320040"/>
          </a:xfrm>
          <a:prstGeom prst="rect">
            <a:avLst/>
          </a:prstGeom>
          <a:noFill/>
          <a:ln/>
        </p:spPr>
        <p:txBody>
          <a:bodyPr wrap="square" lIns="0" tIns="0" rIns="0" bIns="0" rtlCol="0" anchor="ctr"/>
          <a:lstStyle/>
          <a:p>
            <a:pPr indent="0" marL="0">
              <a:buNone/>
            </a:pPr>
            <a:r>
              <a:rPr lang="en-US" sz="1050" dirty="0">
                <a:solidFill>
                  <a:srgbClr val="333333"/>
                </a:solidFill>
                <a:latin typeface="Arial" pitchFamily="34" charset="0"/>
                <a:ea typeface="Arial" pitchFamily="34" charset="-122"/>
                <a:cs typeface="Arial" pitchFamily="34" charset="-120"/>
              </a:rPr>
              <a:t>The hidden constraint</a:t>
            </a:r>
            <a:endParaRPr lang="en-US" sz="1050" dirty="0"/>
          </a:p>
        </p:txBody>
      </p:sp>
      <p:sp>
        <p:nvSpPr>
          <p:cNvPr id="34" name="Shape 32"/>
          <p:cNvSpPr/>
          <p:nvPr/>
        </p:nvSpPr>
        <p:spPr>
          <a:xfrm>
            <a:off x="2103120" y="3520440"/>
            <a:ext cx="6583680" cy="320040"/>
          </a:xfrm>
          <a:prstGeom prst="rect">
            <a:avLst/>
          </a:prstGeom>
          <a:solidFill>
            <a:srgbClr val="F9F9F9"/>
          </a:solidFill>
          <a:ln w="3810">
            <a:solidFill>
              <a:srgbClr val="E5E5E5"/>
            </a:solidFill>
            <a:prstDash val="solid"/>
          </a:ln>
        </p:spPr>
      </p:sp>
      <p:sp>
        <p:nvSpPr>
          <p:cNvPr id="35" name="Shape 33"/>
          <p:cNvSpPr/>
          <p:nvPr/>
        </p:nvSpPr>
        <p:spPr>
          <a:xfrm>
            <a:off x="2240280" y="3611880"/>
            <a:ext cx="137160" cy="137160"/>
          </a:xfrm>
          <a:prstGeom prst="ellipse">
            <a:avLst/>
          </a:prstGeom>
          <a:solidFill>
            <a:srgbClr val="FFB800"/>
          </a:solidFill>
          <a:ln w="12700">
            <a:solidFill>
              <a:srgbClr val="FFB800"/>
            </a:solidFill>
            <a:prstDash val="solid"/>
          </a:ln>
        </p:spPr>
      </p:sp>
      <p:sp>
        <p:nvSpPr>
          <p:cNvPr id="36" name="Text 34"/>
          <p:cNvSpPr/>
          <p:nvPr/>
        </p:nvSpPr>
        <p:spPr>
          <a:xfrm>
            <a:off x="2468880" y="3520440"/>
            <a:ext cx="2103120" cy="320040"/>
          </a:xfrm>
          <a:prstGeom prst="rect">
            <a:avLst/>
          </a:prstGeom>
          <a:noFill/>
          <a:ln/>
        </p:spPr>
        <p:txBody>
          <a:bodyPr wrap="square" lIns="0" tIns="0" rIns="0" bIns="0" rtlCol="0" anchor="ctr"/>
          <a:lstStyle/>
          <a:p>
            <a:pPr indent="0" marL="0">
              <a:buNone/>
            </a:pPr>
            <a:r>
              <a:rPr lang="en-US" sz="1200" b="1" dirty="0">
                <a:solidFill>
                  <a:srgbClr val="000000"/>
                </a:solidFill>
                <a:latin typeface="Arial" pitchFamily="34" charset="0"/>
                <a:ea typeface="Arial" pitchFamily="34" charset="-122"/>
                <a:cs typeface="Arial" pitchFamily="34" charset="-120"/>
              </a:rPr>
              <a:t>Networking</a:t>
            </a:r>
            <a:endParaRPr lang="en-US" sz="1200" dirty="0"/>
          </a:p>
        </p:txBody>
      </p:sp>
      <p:sp>
        <p:nvSpPr>
          <p:cNvPr id="37" name="Text 35"/>
          <p:cNvSpPr/>
          <p:nvPr/>
        </p:nvSpPr>
        <p:spPr>
          <a:xfrm>
            <a:off x="4572000" y="3520440"/>
            <a:ext cx="4023360" cy="320040"/>
          </a:xfrm>
          <a:prstGeom prst="rect">
            <a:avLst/>
          </a:prstGeom>
          <a:noFill/>
          <a:ln/>
        </p:spPr>
        <p:txBody>
          <a:bodyPr wrap="square" lIns="0" tIns="0" rIns="0" bIns="0" rtlCol="0" anchor="ctr"/>
          <a:lstStyle/>
          <a:p>
            <a:pPr indent="0" marL="0">
              <a:buNone/>
            </a:pPr>
            <a:r>
              <a:rPr lang="en-US" sz="1050" dirty="0">
                <a:solidFill>
                  <a:srgbClr val="333333"/>
                </a:solidFill>
                <a:latin typeface="Arial" pitchFamily="34" charset="0"/>
                <a:ea typeface="Arial" pitchFamily="34" charset="-122"/>
                <a:cs typeface="Arial" pitchFamily="34" charset="-120"/>
              </a:rPr>
              <a:t>Moving data at terabit speed</a:t>
            </a:r>
            <a:endParaRPr lang="en-US" sz="1050" dirty="0"/>
          </a:p>
        </p:txBody>
      </p:sp>
      <p:sp>
        <p:nvSpPr>
          <p:cNvPr id="38" name="Shape 36"/>
          <p:cNvSpPr/>
          <p:nvPr/>
        </p:nvSpPr>
        <p:spPr>
          <a:xfrm>
            <a:off x="2103120" y="3931920"/>
            <a:ext cx="6583680" cy="320040"/>
          </a:xfrm>
          <a:prstGeom prst="rect">
            <a:avLst/>
          </a:prstGeom>
          <a:solidFill>
            <a:srgbClr val="F9F9F9"/>
          </a:solidFill>
          <a:ln w="3810">
            <a:solidFill>
              <a:srgbClr val="E5E5E5"/>
            </a:solidFill>
            <a:prstDash val="solid"/>
          </a:ln>
        </p:spPr>
      </p:sp>
      <p:sp>
        <p:nvSpPr>
          <p:cNvPr id="39" name="Shape 37"/>
          <p:cNvSpPr/>
          <p:nvPr/>
        </p:nvSpPr>
        <p:spPr>
          <a:xfrm>
            <a:off x="2240280" y="4023360"/>
            <a:ext cx="137160" cy="137160"/>
          </a:xfrm>
          <a:prstGeom prst="ellipse">
            <a:avLst/>
          </a:prstGeom>
          <a:solidFill>
            <a:srgbClr val="008B8B"/>
          </a:solidFill>
          <a:ln w="12700">
            <a:solidFill>
              <a:srgbClr val="008B8B"/>
            </a:solidFill>
            <a:prstDash val="solid"/>
          </a:ln>
        </p:spPr>
      </p:sp>
      <p:sp>
        <p:nvSpPr>
          <p:cNvPr id="40" name="Text 38"/>
          <p:cNvSpPr/>
          <p:nvPr/>
        </p:nvSpPr>
        <p:spPr>
          <a:xfrm>
            <a:off x="2468880" y="3931920"/>
            <a:ext cx="2103120" cy="320040"/>
          </a:xfrm>
          <a:prstGeom prst="rect">
            <a:avLst/>
          </a:prstGeom>
          <a:noFill/>
          <a:ln/>
        </p:spPr>
        <p:txBody>
          <a:bodyPr wrap="square" lIns="0" tIns="0" rIns="0" bIns="0" rtlCol="0" anchor="ctr"/>
          <a:lstStyle/>
          <a:p>
            <a:pPr indent="0" marL="0">
              <a:buNone/>
            </a:pPr>
            <a:r>
              <a:rPr lang="en-US" sz="1200" b="1" dirty="0">
                <a:solidFill>
                  <a:srgbClr val="000000"/>
                </a:solidFill>
                <a:latin typeface="Arial" pitchFamily="34" charset="0"/>
                <a:ea typeface="Arial" pitchFamily="34" charset="-122"/>
                <a:cs typeface="Arial" pitchFamily="34" charset="-120"/>
              </a:rPr>
              <a:t>Packaging</a:t>
            </a:r>
            <a:endParaRPr lang="en-US" sz="1200" dirty="0"/>
          </a:p>
        </p:txBody>
      </p:sp>
      <p:sp>
        <p:nvSpPr>
          <p:cNvPr id="41" name="Text 39"/>
          <p:cNvSpPr/>
          <p:nvPr/>
        </p:nvSpPr>
        <p:spPr>
          <a:xfrm>
            <a:off x="4572000" y="3931920"/>
            <a:ext cx="4023360" cy="320040"/>
          </a:xfrm>
          <a:prstGeom prst="rect">
            <a:avLst/>
          </a:prstGeom>
          <a:noFill/>
          <a:ln/>
        </p:spPr>
        <p:txBody>
          <a:bodyPr wrap="square" lIns="0" tIns="0" rIns="0" bIns="0" rtlCol="0" anchor="ctr"/>
          <a:lstStyle/>
          <a:p>
            <a:pPr indent="0" marL="0">
              <a:buNone/>
            </a:pPr>
            <a:r>
              <a:rPr lang="en-US" sz="1050" dirty="0">
                <a:solidFill>
                  <a:srgbClr val="333333"/>
                </a:solidFill>
                <a:latin typeface="Arial" pitchFamily="34" charset="0"/>
                <a:ea typeface="Arial" pitchFamily="34" charset="-122"/>
                <a:cs typeface="Arial" pitchFamily="34" charset="-120"/>
              </a:rPr>
              <a:t>Stacking chiplets (CoWoS, HBM)</a:t>
            </a:r>
            <a:endParaRPr lang="en-US" sz="1050" dirty="0"/>
          </a:p>
        </p:txBody>
      </p:sp>
      <p:sp>
        <p:nvSpPr>
          <p:cNvPr id="42" name="Shape 40"/>
          <p:cNvSpPr/>
          <p:nvPr/>
        </p:nvSpPr>
        <p:spPr>
          <a:xfrm>
            <a:off x="2103120" y="4297680"/>
            <a:ext cx="6583680" cy="320040"/>
          </a:xfrm>
          <a:prstGeom prst="rect">
            <a:avLst/>
          </a:prstGeom>
          <a:solidFill>
            <a:srgbClr val="F9F9F9"/>
          </a:solidFill>
          <a:ln w="3810">
            <a:solidFill>
              <a:srgbClr val="E5E5E5"/>
            </a:solidFill>
            <a:prstDash val="solid"/>
          </a:ln>
        </p:spPr>
      </p:sp>
      <p:sp>
        <p:nvSpPr>
          <p:cNvPr id="43" name="Shape 41"/>
          <p:cNvSpPr/>
          <p:nvPr/>
        </p:nvSpPr>
        <p:spPr>
          <a:xfrm>
            <a:off x="2240280" y="4389120"/>
            <a:ext cx="137160" cy="137160"/>
          </a:xfrm>
          <a:prstGeom prst="ellipse">
            <a:avLst/>
          </a:prstGeom>
          <a:solidFill>
            <a:srgbClr val="008B8B"/>
          </a:solidFill>
          <a:ln w="12700">
            <a:solidFill>
              <a:srgbClr val="008B8B"/>
            </a:solidFill>
            <a:prstDash val="solid"/>
          </a:ln>
        </p:spPr>
      </p:sp>
      <p:sp>
        <p:nvSpPr>
          <p:cNvPr id="44" name="Text 42"/>
          <p:cNvSpPr/>
          <p:nvPr/>
        </p:nvSpPr>
        <p:spPr>
          <a:xfrm>
            <a:off x="2468880" y="4297680"/>
            <a:ext cx="2103120" cy="320040"/>
          </a:xfrm>
          <a:prstGeom prst="rect">
            <a:avLst/>
          </a:prstGeom>
          <a:noFill/>
          <a:ln/>
        </p:spPr>
        <p:txBody>
          <a:bodyPr wrap="square" lIns="0" tIns="0" rIns="0" bIns="0" rtlCol="0" anchor="ctr"/>
          <a:lstStyle/>
          <a:p>
            <a:pPr indent="0" marL="0">
              <a:buNone/>
            </a:pPr>
            <a:r>
              <a:rPr lang="en-US" sz="1200" b="1" dirty="0">
                <a:solidFill>
                  <a:srgbClr val="000000"/>
                </a:solidFill>
                <a:latin typeface="Arial" pitchFamily="34" charset="0"/>
                <a:ea typeface="Arial" pitchFamily="34" charset="-122"/>
                <a:cs typeface="Arial" pitchFamily="34" charset="-120"/>
              </a:rPr>
              <a:t>Chip design</a:t>
            </a:r>
            <a:endParaRPr lang="en-US" sz="1200" dirty="0"/>
          </a:p>
        </p:txBody>
      </p:sp>
      <p:sp>
        <p:nvSpPr>
          <p:cNvPr id="45" name="Text 43"/>
          <p:cNvSpPr/>
          <p:nvPr/>
        </p:nvSpPr>
        <p:spPr>
          <a:xfrm>
            <a:off x="4572000" y="4297680"/>
            <a:ext cx="4023360" cy="320040"/>
          </a:xfrm>
          <a:prstGeom prst="rect">
            <a:avLst/>
          </a:prstGeom>
          <a:noFill/>
          <a:ln/>
        </p:spPr>
        <p:txBody>
          <a:bodyPr wrap="square" lIns="0" tIns="0" rIns="0" bIns="0" rtlCol="0" anchor="ctr"/>
          <a:lstStyle/>
          <a:p>
            <a:pPr indent="0" marL="0">
              <a:buNone/>
            </a:pPr>
            <a:r>
              <a:rPr lang="en-US" sz="1050" dirty="0">
                <a:solidFill>
                  <a:srgbClr val="333333"/>
                </a:solidFill>
                <a:latin typeface="Arial" pitchFamily="34" charset="0"/>
                <a:ea typeface="Arial" pitchFamily="34" charset="-122"/>
                <a:cs typeface="Arial" pitchFamily="34" charset="-120"/>
              </a:rPr>
              <a:t>GPUs, TPUs, ASICs</a:t>
            </a:r>
            <a:endParaRPr lang="en-US" sz="1050" dirty="0"/>
          </a:p>
        </p:txBody>
      </p:sp>
      <p:sp>
        <p:nvSpPr>
          <p:cNvPr id="46" name="Shape 44"/>
          <p:cNvSpPr/>
          <p:nvPr/>
        </p:nvSpPr>
        <p:spPr>
          <a:xfrm>
            <a:off x="2103120" y="4663440"/>
            <a:ext cx="6583680" cy="320040"/>
          </a:xfrm>
          <a:prstGeom prst="rect">
            <a:avLst/>
          </a:prstGeom>
          <a:solidFill>
            <a:srgbClr val="F9F9F9"/>
          </a:solidFill>
          <a:ln w="3810">
            <a:solidFill>
              <a:srgbClr val="E5E5E5"/>
            </a:solidFill>
            <a:prstDash val="solid"/>
          </a:ln>
        </p:spPr>
      </p:sp>
      <p:sp>
        <p:nvSpPr>
          <p:cNvPr id="47" name="Shape 45"/>
          <p:cNvSpPr/>
          <p:nvPr/>
        </p:nvSpPr>
        <p:spPr>
          <a:xfrm>
            <a:off x="2240280" y="4754880"/>
            <a:ext cx="137160" cy="137160"/>
          </a:xfrm>
          <a:prstGeom prst="ellipse">
            <a:avLst/>
          </a:prstGeom>
          <a:solidFill>
            <a:srgbClr val="008B8B"/>
          </a:solidFill>
          <a:ln w="12700">
            <a:solidFill>
              <a:srgbClr val="008B8B"/>
            </a:solidFill>
            <a:prstDash val="solid"/>
          </a:ln>
        </p:spPr>
      </p:sp>
      <p:sp>
        <p:nvSpPr>
          <p:cNvPr id="48" name="Text 46"/>
          <p:cNvSpPr/>
          <p:nvPr/>
        </p:nvSpPr>
        <p:spPr>
          <a:xfrm>
            <a:off x="2468880" y="4663440"/>
            <a:ext cx="2103120" cy="320040"/>
          </a:xfrm>
          <a:prstGeom prst="rect">
            <a:avLst/>
          </a:prstGeom>
          <a:noFill/>
          <a:ln/>
        </p:spPr>
        <p:txBody>
          <a:bodyPr wrap="square" lIns="0" tIns="0" rIns="0" bIns="0" rtlCol="0" anchor="ctr"/>
          <a:lstStyle/>
          <a:p>
            <a:pPr indent="0" marL="0">
              <a:buNone/>
            </a:pPr>
            <a:r>
              <a:rPr lang="en-US" sz="1200" b="1" dirty="0">
                <a:solidFill>
                  <a:srgbClr val="000000"/>
                </a:solidFill>
                <a:latin typeface="Arial" pitchFamily="34" charset="0"/>
                <a:ea typeface="Arial" pitchFamily="34" charset="-122"/>
                <a:cs typeface="Arial" pitchFamily="34" charset="-120"/>
              </a:rPr>
              <a:t>Foundry</a:t>
            </a:r>
            <a:endParaRPr lang="en-US" sz="1200" dirty="0"/>
          </a:p>
        </p:txBody>
      </p:sp>
      <p:sp>
        <p:nvSpPr>
          <p:cNvPr id="49" name="Text 47"/>
          <p:cNvSpPr/>
          <p:nvPr/>
        </p:nvSpPr>
        <p:spPr>
          <a:xfrm>
            <a:off x="4572000" y="4663440"/>
            <a:ext cx="4023360" cy="320040"/>
          </a:xfrm>
          <a:prstGeom prst="rect">
            <a:avLst/>
          </a:prstGeom>
          <a:noFill/>
          <a:ln/>
        </p:spPr>
        <p:txBody>
          <a:bodyPr wrap="square" lIns="0" tIns="0" rIns="0" bIns="0" rtlCol="0" anchor="ctr"/>
          <a:lstStyle/>
          <a:p>
            <a:pPr indent="0" marL="0">
              <a:buNone/>
            </a:pPr>
            <a:r>
              <a:rPr lang="en-US" sz="1050" dirty="0">
                <a:solidFill>
                  <a:srgbClr val="333333"/>
                </a:solidFill>
                <a:latin typeface="Arial" pitchFamily="34" charset="0"/>
                <a:ea typeface="Arial" pitchFamily="34" charset="-122"/>
                <a:cs typeface="Arial" pitchFamily="34" charset="-120"/>
              </a:rPr>
              <a:t>Fabricating at nanometer scale</a:t>
            </a:r>
            <a:endParaRPr lang="en-US" sz="1050" dirty="0"/>
          </a:p>
        </p:txBody>
      </p:sp>
      <p:sp>
        <p:nvSpPr>
          <p:cNvPr id="50" name="Shape 48"/>
          <p:cNvSpPr/>
          <p:nvPr/>
        </p:nvSpPr>
        <p:spPr>
          <a:xfrm>
            <a:off x="2103120" y="5074920"/>
            <a:ext cx="6583680" cy="320040"/>
          </a:xfrm>
          <a:prstGeom prst="rect">
            <a:avLst/>
          </a:prstGeom>
          <a:solidFill>
            <a:srgbClr val="F9F9F9"/>
          </a:solidFill>
          <a:ln w="3810">
            <a:solidFill>
              <a:srgbClr val="E5E5E5"/>
            </a:solidFill>
            <a:prstDash val="solid"/>
          </a:ln>
        </p:spPr>
      </p:sp>
      <p:sp>
        <p:nvSpPr>
          <p:cNvPr id="51" name="Shape 49"/>
          <p:cNvSpPr/>
          <p:nvPr/>
        </p:nvSpPr>
        <p:spPr>
          <a:xfrm>
            <a:off x="2240280" y="5166360"/>
            <a:ext cx="137160" cy="137160"/>
          </a:xfrm>
          <a:prstGeom prst="ellipse">
            <a:avLst/>
          </a:prstGeom>
          <a:solidFill>
            <a:srgbClr val="666666"/>
          </a:solidFill>
          <a:ln w="12700">
            <a:solidFill>
              <a:srgbClr val="666666"/>
            </a:solidFill>
            <a:prstDash val="solid"/>
          </a:ln>
        </p:spPr>
      </p:sp>
      <p:sp>
        <p:nvSpPr>
          <p:cNvPr id="52" name="Text 50"/>
          <p:cNvSpPr/>
          <p:nvPr/>
        </p:nvSpPr>
        <p:spPr>
          <a:xfrm>
            <a:off x="2468880" y="5074920"/>
            <a:ext cx="2103120" cy="320040"/>
          </a:xfrm>
          <a:prstGeom prst="rect">
            <a:avLst/>
          </a:prstGeom>
          <a:noFill/>
          <a:ln/>
        </p:spPr>
        <p:txBody>
          <a:bodyPr wrap="square" lIns="0" tIns="0" rIns="0" bIns="0" rtlCol="0" anchor="ctr"/>
          <a:lstStyle/>
          <a:p>
            <a:pPr indent="0" marL="0">
              <a:buNone/>
            </a:pPr>
            <a:r>
              <a:rPr lang="en-US" sz="1200" b="1" dirty="0">
                <a:solidFill>
                  <a:srgbClr val="000000"/>
                </a:solidFill>
                <a:latin typeface="Arial" pitchFamily="34" charset="0"/>
                <a:ea typeface="Arial" pitchFamily="34" charset="-122"/>
                <a:cs typeface="Arial" pitchFamily="34" charset="-120"/>
              </a:rPr>
              <a:t>Equipment</a:t>
            </a:r>
            <a:endParaRPr lang="en-US" sz="1200" dirty="0"/>
          </a:p>
        </p:txBody>
      </p:sp>
      <p:sp>
        <p:nvSpPr>
          <p:cNvPr id="53" name="Text 51"/>
          <p:cNvSpPr/>
          <p:nvPr/>
        </p:nvSpPr>
        <p:spPr>
          <a:xfrm>
            <a:off x="4572000" y="5074920"/>
            <a:ext cx="4023360" cy="320040"/>
          </a:xfrm>
          <a:prstGeom prst="rect">
            <a:avLst/>
          </a:prstGeom>
          <a:noFill/>
          <a:ln/>
        </p:spPr>
        <p:txBody>
          <a:bodyPr wrap="square" lIns="0" tIns="0" rIns="0" bIns="0" rtlCol="0" anchor="ctr"/>
          <a:lstStyle/>
          <a:p>
            <a:pPr indent="0" marL="0">
              <a:buNone/>
            </a:pPr>
            <a:r>
              <a:rPr lang="en-US" sz="1050" dirty="0">
                <a:solidFill>
                  <a:srgbClr val="333333"/>
                </a:solidFill>
                <a:latin typeface="Arial" pitchFamily="34" charset="0"/>
                <a:ea typeface="Arial" pitchFamily="34" charset="-122"/>
                <a:cs typeface="Arial" pitchFamily="34" charset="-120"/>
              </a:rPr>
              <a:t>Machines that make machines</a:t>
            </a:r>
            <a:endParaRPr lang="en-US" sz="1050" dirty="0"/>
          </a:p>
        </p:txBody>
      </p:sp>
      <p:sp>
        <p:nvSpPr>
          <p:cNvPr id="54" name="Shape 52"/>
          <p:cNvSpPr/>
          <p:nvPr/>
        </p:nvSpPr>
        <p:spPr>
          <a:xfrm>
            <a:off x="2103120" y="5440680"/>
            <a:ext cx="6583680" cy="320040"/>
          </a:xfrm>
          <a:prstGeom prst="rect">
            <a:avLst/>
          </a:prstGeom>
          <a:solidFill>
            <a:srgbClr val="F9F9F9"/>
          </a:solidFill>
          <a:ln w="3810">
            <a:solidFill>
              <a:srgbClr val="E5E5E5"/>
            </a:solidFill>
            <a:prstDash val="solid"/>
          </a:ln>
        </p:spPr>
      </p:sp>
      <p:sp>
        <p:nvSpPr>
          <p:cNvPr id="55" name="Shape 53"/>
          <p:cNvSpPr/>
          <p:nvPr/>
        </p:nvSpPr>
        <p:spPr>
          <a:xfrm>
            <a:off x="2240280" y="5532120"/>
            <a:ext cx="137160" cy="137160"/>
          </a:xfrm>
          <a:prstGeom prst="ellipse">
            <a:avLst/>
          </a:prstGeom>
          <a:solidFill>
            <a:srgbClr val="666666"/>
          </a:solidFill>
          <a:ln w="12700">
            <a:solidFill>
              <a:srgbClr val="666666"/>
            </a:solidFill>
            <a:prstDash val="solid"/>
          </a:ln>
        </p:spPr>
      </p:sp>
      <p:sp>
        <p:nvSpPr>
          <p:cNvPr id="56" name="Text 54"/>
          <p:cNvSpPr/>
          <p:nvPr/>
        </p:nvSpPr>
        <p:spPr>
          <a:xfrm>
            <a:off x="2468880" y="5440680"/>
            <a:ext cx="2103120" cy="320040"/>
          </a:xfrm>
          <a:prstGeom prst="rect">
            <a:avLst/>
          </a:prstGeom>
          <a:noFill/>
          <a:ln/>
        </p:spPr>
        <p:txBody>
          <a:bodyPr wrap="square" lIns="0" tIns="0" rIns="0" bIns="0" rtlCol="0" anchor="ctr"/>
          <a:lstStyle/>
          <a:p>
            <a:pPr indent="0" marL="0">
              <a:buNone/>
            </a:pPr>
            <a:r>
              <a:rPr lang="en-US" sz="1200" b="1" dirty="0">
                <a:solidFill>
                  <a:srgbClr val="000000"/>
                </a:solidFill>
                <a:latin typeface="Arial" pitchFamily="34" charset="0"/>
                <a:ea typeface="Arial" pitchFamily="34" charset="-122"/>
                <a:cs typeface="Arial" pitchFamily="34" charset="-120"/>
              </a:rPr>
              <a:t>Raw materials</a:t>
            </a:r>
            <a:endParaRPr lang="en-US" sz="1200" dirty="0"/>
          </a:p>
        </p:txBody>
      </p:sp>
      <p:sp>
        <p:nvSpPr>
          <p:cNvPr id="57" name="Text 55"/>
          <p:cNvSpPr/>
          <p:nvPr/>
        </p:nvSpPr>
        <p:spPr>
          <a:xfrm>
            <a:off x="4572000" y="5440680"/>
            <a:ext cx="4023360" cy="320040"/>
          </a:xfrm>
          <a:prstGeom prst="rect">
            <a:avLst/>
          </a:prstGeom>
          <a:noFill/>
          <a:ln/>
        </p:spPr>
        <p:txBody>
          <a:bodyPr wrap="square" lIns="0" tIns="0" rIns="0" bIns="0" rtlCol="0" anchor="ctr"/>
          <a:lstStyle/>
          <a:p>
            <a:pPr indent="0" marL="0">
              <a:buNone/>
            </a:pPr>
            <a:r>
              <a:rPr lang="en-US" sz="1050" dirty="0">
                <a:solidFill>
                  <a:srgbClr val="333333"/>
                </a:solidFill>
                <a:latin typeface="Arial" pitchFamily="34" charset="0"/>
                <a:ea typeface="Arial" pitchFamily="34" charset="-122"/>
                <a:cs typeface="Arial" pitchFamily="34" charset="-120"/>
              </a:rPr>
              <a:t>Silicon, neon, rare earths</a:t>
            </a:r>
            <a:endParaRPr lang="en-US" sz="1050" dirty="0"/>
          </a:p>
        </p:txBody>
      </p:sp>
      <p:sp>
        <p:nvSpPr>
          <p:cNvPr id="58" name="Text 56"/>
          <p:cNvSpPr/>
          <p:nvPr/>
        </p:nvSpPr>
        <p:spPr>
          <a:xfrm>
            <a:off x="457200" y="5875020"/>
            <a:ext cx="8229600" cy="320040"/>
          </a:xfrm>
          <a:prstGeom prst="rect">
            <a:avLst/>
          </a:prstGeom>
          <a:noFill/>
          <a:ln/>
        </p:spPr>
        <p:txBody>
          <a:bodyPr wrap="square" lIns="0" tIns="0" rIns="0" bIns="0" rtlCol="0" anchor="t"/>
          <a:lstStyle/>
          <a:p>
            <a:pPr indent="0" marL="0">
              <a:buNone/>
            </a:pPr>
            <a:r>
              <a:rPr lang="en-US" sz="700" dirty="0">
                <a:solidFill>
                  <a:srgbClr val="999999"/>
                </a:solidFill>
                <a:latin typeface="Arial" pitchFamily="34" charset="0"/>
                <a:ea typeface="Arial" pitchFamily="34" charset="-122"/>
                <a:cs typeface="Arial" pitchFamily="34" charset="-120"/>
              </a:rPr>
              <a:t>Source: Strategy Research. Ordered top (closest to user) to bottom (closest to atoms).</a:t>
            </a:r>
            <a:endParaRPr lang="en-US" sz="700" dirty="0"/>
          </a:p>
        </p:txBody>
      </p:sp>
      <p:sp>
        <p:nvSpPr>
          <p:cNvPr id="59" name="Shape 57"/>
          <p:cNvSpPr/>
          <p:nvPr/>
        </p:nvSpPr>
        <p:spPr>
          <a:xfrm>
            <a:off x="0" y="6286500"/>
            <a:ext cx="9144000" cy="571500"/>
          </a:xfrm>
          <a:prstGeom prst="rect">
            <a:avLst/>
          </a:prstGeom>
          <a:solidFill>
            <a:srgbClr val="000000"/>
          </a:solidFill>
          <a:ln w="12700">
            <a:solidFill>
              <a:srgbClr val="000000"/>
            </a:solidFill>
            <a:prstDash val="solid"/>
          </a:ln>
        </p:spPr>
      </p:sp>
      <p:sp>
        <p:nvSpPr>
          <p:cNvPr id="60" name="Text 58"/>
          <p:cNvSpPr/>
          <p:nvPr/>
        </p:nvSpPr>
        <p:spPr>
          <a:xfrm>
            <a:off x="1371600" y="6332220"/>
            <a:ext cx="6400800" cy="45720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61" name="Text 59"/>
          <p:cNvSpPr/>
          <p:nvPr/>
        </p:nvSpPr>
        <p:spPr>
          <a:xfrm>
            <a:off x="8321040" y="6405372"/>
            <a:ext cx="548640" cy="27432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008B8B"/>
          </a:solidFill>
          <a:ln w="12700">
            <a:solidFill>
              <a:srgbClr val="008B8B"/>
            </a:solidFill>
            <a:prstDash val="solid"/>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Arial" pitchFamily="34" charset="0"/>
                <a:ea typeface="Arial" pitchFamily="34" charset="-122"/>
                <a:cs typeface="Arial" pitchFamily="34" charset="-120"/>
              </a:rPr>
              <a:t>LANDSCAPE</a:t>
            </a:r>
            <a:endParaRPr lang="en-US" sz="1000" dirty="0"/>
          </a:p>
        </p:txBody>
      </p:sp>
      <p:sp>
        <p:nvSpPr>
          <p:cNvPr id="4" name="Text 2"/>
          <p:cNvSpPr/>
          <p:nvPr/>
        </p:nvSpPr>
        <p:spPr>
          <a:xfrm>
            <a:off x="457200" y="182880"/>
            <a:ext cx="6583680" cy="685800"/>
          </a:xfrm>
          <a:prstGeom prst="rect">
            <a:avLst/>
          </a:prstGeom>
          <a:noFill/>
          <a:ln/>
        </p:spPr>
        <p:txBody>
          <a:bodyPr wrap="square" lIns="0" tIns="0" rIns="0" bIns="0" rtlCol="0" anchor="t"/>
          <a:lstStyle/>
          <a:p>
            <a:pPr indent="0" marL="0">
              <a:buNone/>
            </a:pPr>
            <a:r>
              <a:rPr lang="en-US" sz="2400" b="1" dirty="0">
                <a:solidFill>
                  <a:srgbClr val="000000"/>
                </a:solidFill>
                <a:latin typeface="Arial Black" pitchFamily="34" charset="0"/>
                <a:ea typeface="Arial Black" pitchFamily="34" charset="-122"/>
                <a:cs typeface="Arial Black" pitchFamily="34" charset="-120"/>
              </a:rPr>
              <a:t>AI growth rates are unprecedented.</a:t>
            </a:r>
            <a:endParaRPr lang="en-US" sz="2400" dirty="0"/>
          </a:p>
        </p:txBody>
      </p:sp>
      <p:sp>
        <p:nvSpPr>
          <p:cNvPr id="5" name="Text 3"/>
          <p:cNvSpPr/>
          <p:nvPr/>
        </p:nvSpPr>
        <p:spPr>
          <a:xfrm>
            <a:off x="457200" y="91440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User adoption and revenue growth for AI far eclipse prior technologies — a once-in-a-generation S-curve, compressed into a handful of years.</a:t>
            </a:r>
            <a:endParaRPr lang="en-US" sz="1350" dirty="0"/>
          </a:p>
        </p:txBody>
      </p:sp>
      <p:sp>
        <p:nvSpPr>
          <p:cNvPr id="6" name="Shape 4"/>
          <p:cNvSpPr/>
          <p:nvPr/>
        </p:nvSpPr>
        <p:spPr>
          <a:xfrm>
            <a:off x="457200" y="1325880"/>
            <a:ext cx="8229600" cy="0"/>
          </a:xfrm>
          <a:prstGeom prst="line">
            <a:avLst/>
          </a:prstGeom>
          <a:noFill/>
          <a:ln w="9525">
            <a:solidFill>
              <a:srgbClr val="E5E5E5"/>
            </a:solidFill>
            <a:prstDash val="solid"/>
          </a:ln>
        </p:spPr>
      </p:sp>
      <p:sp>
        <p:nvSpPr>
          <p:cNvPr id="7" name="Text 5"/>
          <p:cNvSpPr/>
          <p:nvPr/>
        </p:nvSpPr>
        <p:spPr>
          <a:xfrm>
            <a:off x="457200" y="1554480"/>
            <a:ext cx="3931920" cy="274320"/>
          </a:xfrm>
          <a:prstGeom prst="rect">
            <a:avLst/>
          </a:prstGeom>
          <a:noFill/>
          <a:ln/>
        </p:spPr>
        <p:txBody>
          <a:bodyPr wrap="square" lIns="0" tIns="0" rIns="0" bIns="0" rtlCol="0" anchor="b"/>
          <a:lstStyle/>
          <a:p>
            <a:pPr indent="0" marL="0">
              <a:buNone/>
            </a:pPr>
            <a:r>
              <a:rPr lang="en-US" sz="1400" b="1" dirty="0">
                <a:solidFill>
                  <a:srgbClr val="000000"/>
                </a:solidFill>
                <a:latin typeface="Arial" pitchFamily="34" charset="0"/>
                <a:ea typeface="Arial" pitchFamily="34" charset="-122"/>
                <a:cs typeface="Arial" pitchFamily="34" charset="-120"/>
              </a:rPr>
              <a:t>User adoption after first mass-market launch</a:t>
            </a:r>
            <a:endParaRPr lang="en-US" sz="1400" dirty="0"/>
          </a:p>
        </p:txBody>
      </p:sp>
      <p:sp>
        <p:nvSpPr>
          <p:cNvPr id="8" name="Shape 6"/>
          <p:cNvSpPr/>
          <p:nvPr/>
        </p:nvSpPr>
        <p:spPr>
          <a:xfrm>
            <a:off x="457200" y="1828800"/>
            <a:ext cx="3931920" cy="0"/>
          </a:xfrm>
          <a:prstGeom prst="line">
            <a:avLst/>
          </a:prstGeom>
          <a:noFill/>
          <a:ln w="19050">
            <a:solidFill>
              <a:srgbClr val="000000"/>
            </a:solidFill>
            <a:prstDash val="solid"/>
          </a:ln>
        </p:spPr>
      </p:sp>
      <p:graphicFrame>
        <p:nvGraphicFramePr>
          <p:cNvPr id="9" name="Chart 0" descr=""/>
          <p:cNvGraphicFramePr/>
          <p:nvPr/>
        </p:nvGraphicFramePr>
        <p:xfrm>
          <a:off x="457200" y="2011680"/>
          <a:ext cx="3931920" cy="3291840"/>
        </p:xfrm>
        <a:graphic xmlns:a="http://schemas.openxmlformats.org/drawingml/2006/main">
          <a:graphicData uri="http://schemas.openxmlformats.org/drawingml/2006/chart">
            <c:chart xmlns:c="http://schemas.openxmlformats.org/drawingml/2006/chart" r:id="rId1"/>
          </a:graphicData>
        </a:graphic>
      </p:graphicFrame>
      <p:sp>
        <p:nvSpPr>
          <p:cNvPr id="10" name="Text 7"/>
          <p:cNvSpPr/>
          <p:nvPr/>
        </p:nvSpPr>
        <p:spPr>
          <a:xfrm>
            <a:off x="457200" y="1920240"/>
            <a:ext cx="3931920" cy="164592"/>
          </a:xfrm>
          <a:prstGeom prst="rect">
            <a:avLst/>
          </a:prstGeom>
          <a:noFill/>
          <a:ln/>
        </p:spPr>
        <p:txBody>
          <a:bodyPr wrap="square" lIns="0" tIns="0" rIns="0" bIns="0" rtlCol="0" anchor="ctr"/>
          <a:lstStyle/>
          <a:p>
            <a:pPr indent="0" marL="0">
              <a:buNone/>
            </a:pPr>
            <a:r>
              <a:rPr lang="en-US" sz="800" i="1" dirty="0">
                <a:solidFill>
                  <a:srgbClr val="666666"/>
                </a:solidFill>
                <a:latin typeface="Arial" pitchFamily="34" charset="0"/>
                <a:ea typeface="Arial" pitchFamily="34" charset="-122"/>
                <a:cs typeface="Arial" pitchFamily="34" charset="-120"/>
              </a:rPr>
              <a:t>% of US population</a:t>
            </a:r>
            <a:endParaRPr lang="en-US" sz="800" dirty="0"/>
          </a:p>
        </p:txBody>
      </p:sp>
      <p:sp>
        <p:nvSpPr>
          <p:cNvPr id="11" name="Text 8"/>
          <p:cNvSpPr/>
          <p:nvPr/>
        </p:nvSpPr>
        <p:spPr>
          <a:xfrm>
            <a:off x="4754880" y="1554480"/>
            <a:ext cx="3931920" cy="274320"/>
          </a:xfrm>
          <a:prstGeom prst="rect">
            <a:avLst/>
          </a:prstGeom>
          <a:noFill/>
          <a:ln/>
        </p:spPr>
        <p:txBody>
          <a:bodyPr wrap="square" lIns="0" tIns="0" rIns="0" bIns="0" rtlCol="0" anchor="b"/>
          <a:lstStyle/>
          <a:p>
            <a:pPr indent="0" marL="0">
              <a:buNone/>
            </a:pPr>
            <a:r>
              <a:rPr lang="en-US" sz="1400" b="1" dirty="0">
                <a:solidFill>
                  <a:srgbClr val="000000"/>
                </a:solidFill>
                <a:latin typeface="Arial" pitchFamily="34" charset="0"/>
                <a:ea typeface="Arial" pitchFamily="34" charset="-122"/>
                <a:cs typeface="Arial" pitchFamily="34" charset="-120"/>
              </a:rPr>
              <a:t>Revenue after first $1B year ($B)</a:t>
            </a:r>
            <a:endParaRPr lang="en-US" sz="1400" dirty="0"/>
          </a:p>
        </p:txBody>
      </p:sp>
      <p:sp>
        <p:nvSpPr>
          <p:cNvPr id="12" name="Shape 9"/>
          <p:cNvSpPr/>
          <p:nvPr/>
        </p:nvSpPr>
        <p:spPr>
          <a:xfrm>
            <a:off x="4754880" y="1828800"/>
            <a:ext cx="3931920" cy="0"/>
          </a:xfrm>
          <a:prstGeom prst="line">
            <a:avLst/>
          </a:prstGeom>
          <a:noFill/>
          <a:ln w="19050">
            <a:solidFill>
              <a:srgbClr val="000000"/>
            </a:solidFill>
            <a:prstDash val="solid"/>
          </a:ln>
        </p:spPr>
      </p:sp>
      <p:graphicFrame>
        <p:nvGraphicFramePr>
          <p:cNvPr id="13" name="Chart 1" descr=""/>
          <p:cNvGraphicFramePr/>
          <p:nvPr/>
        </p:nvGraphicFramePr>
        <p:xfrm>
          <a:off x="4754880" y="2011680"/>
          <a:ext cx="3931920" cy="3291840"/>
        </p:xfrm>
        <a:graphic xmlns:a="http://schemas.openxmlformats.org/drawingml/2006/main">
          <a:graphicData uri="http://schemas.openxmlformats.org/drawingml/2006/chart">
            <c:chart xmlns:c="http://schemas.openxmlformats.org/drawingml/2006/chart" r:id="rId2"/>
          </a:graphicData>
        </a:graphic>
      </p:graphicFrame>
      <p:sp>
        <p:nvSpPr>
          <p:cNvPr id="14" name="Text 10"/>
          <p:cNvSpPr/>
          <p:nvPr/>
        </p:nvSpPr>
        <p:spPr>
          <a:xfrm>
            <a:off x="4754880" y="1920240"/>
            <a:ext cx="3931920" cy="164592"/>
          </a:xfrm>
          <a:prstGeom prst="rect">
            <a:avLst/>
          </a:prstGeom>
          <a:noFill/>
          <a:ln/>
        </p:spPr>
        <p:txBody>
          <a:bodyPr wrap="square" lIns="0" tIns="0" rIns="0" bIns="0" rtlCol="0" anchor="ctr"/>
          <a:lstStyle/>
          <a:p>
            <a:pPr indent="0" marL="0">
              <a:buNone/>
            </a:pPr>
            <a:r>
              <a:rPr lang="en-US" sz="800" i="1" dirty="0">
                <a:solidFill>
                  <a:srgbClr val="666666"/>
                </a:solidFill>
                <a:latin typeface="Arial" pitchFamily="34" charset="0"/>
                <a:ea typeface="Arial" pitchFamily="34" charset="-122"/>
                <a:cs typeface="Arial" pitchFamily="34" charset="-120"/>
              </a:rPr>
              <a:t>Revenue ($B)</a:t>
            </a:r>
            <a:endParaRPr lang="en-US" sz="800" dirty="0"/>
          </a:p>
        </p:txBody>
      </p:sp>
      <p:sp>
        <p:nvSpPr>
          <p:cNvPr id="15" name="Shape 11"/>
          <p:cNvSpPr/>
          <p:nvPr/>
        </p:nvSpPr>
        <p:spPr>
          <a:xfrm>
            <a:off x="457200" y="5394960"/>
            <a:ext cx="8229600" cy="219456"/>
          </a:xfrm>
          <a:prstGeom prst="rect">
            <a:avLst/>
          </a:prstGeom>
          <a:solidFill>
            <a:srgbClr val="333333"/>
          </a:solidFill>
          <a:ln w="12700">
            <a:solidFill>
              <a:srgbClr val="333333"/>
            </a:solidFill>
            <a:prstDash val="solid"/>
          </a:ln>
        </p:spPr>
      </p:sp>
      <p:sp>
        <p:nvSpPr>
          <p:cNvPr id="16" name="Text 12"/>
          <p:cNvSpPr/>
          <p:nvPr/>
        </p:nvSpPr>
        <p:spPr>
          <a:xfrm>
            <a:off x="640080" y="5394960"/>
            <a:ext cx="7863840" cy="219456"/>
          </a:xfrm>
          <a:prstGeom prst="rect">
            <a:avLst/>
          </a:prstGeom>
          <a:noFill/>
          <a:ln/>
        </p:spPr>
        <p:txBody>
          <a:bodyPr wrap="square" lIns="0" tIns="0" rIns="0" bIns="0" rtlCol="0" anchor="ctr"/>
          <a:lstStyle/>
          <a:p>
            <a:pPr indent="0" marL="0">
              <a:buNone/>
            </a:pPr>
            <a:r>
              <a:rPr lang="en-US" sz="850" b="1" spc="200" kern="0" dirty="0">
                <a:solidFill>
                  <a:srgbClr val="F6693D"/>
                </a:solidFill>
                <a:latin typeface="Arial" pitchFamily="34" charset="0"/>
                <a:ea typeface="Arial" pitchFamily="34" charset="-122"/>
                <a:cs typeface="Arial" pitchFamily="34" charset="-120"/>
              </a:rPr>
              <a:t>AI </a:t>
            </a:r>
            <a:pPr indent="0" marL="0">
              <a:buNone/>
            </a:pPr>
            <a:r>
              <a:rPr lang="en-US" sz="900" b="1" dirty="0">
                <a:solidFill>
                  <a:srgbClr val="FFFFFF"/>
                </a:solidFill>
                <a:latin typeface="Arial" pitchFamily="34" charset="0"/>
                <a:ea typeface="Arial" pitchFamily="34" charset="-122"/>
                <a:cs typeface="Arial" pitchFamily="34" charset="-120"/>
              </a:rPr>
              <a:t>OpenAI · Anthropic    </a:t>
            </a:r>
            <a:pPr indent="0" marL="0">
              <a:buNone/>
            </a:pPr>
            <a:r>
              <a:rPr lang="en-US" sz="850" b="1" spc="200" kern="0" dirty="0">
                <a:solidFill>
                  <a:srgbClr val="FFB800"/>
                </a:solidFill>
                <a:latin typeface="Arial" pitchFamily="34" charset="0"/>
                <a:ea typeface="Arial" pitchFamily="34" charset="-122"/>
                <a:cs typeface="Arial" pitchFamily="34" charset="-120"/>
              </a:rPr>
              <a:t>CLOUD </a:t>
            </a:r>
            <a:pPr indent="0" marL="0">
              <a:buNone/>
            </a:pPr>
            <a:r>
              <a:rPr lang="en-US" sz="900" b="1" dirty="0">
                <a:solidFill>
                  <a:srgbClr val="FFFFFF"/>
                </a:solidFill>
                <a:latin typeface="Arial" pitchFamily="34" charset="0"/>
                <a:ea typeface="Arial" pitchFamily="34" charset="-122"/>
                <a:cs typeface="Arial" pitchFamily="34" charset="-120"/>
              </a:rPr>
              <a:t>AWS · Azure · Google Cloud    </a:t>
            </a:r>
            <a:pPr indent="0" marL="0">
              <a:buNone/>
            </a:pPr>
            <a:r>
              <a:rPr lang="en-US" sz="850" b="1" spc="200" kern="0" dirty="0">
                <a:solidFill>
                  <a:srgbClr val="008B8B"/>
                </a:solidFill>
                <a:latin typeface="Arial" pitchFamily="34" charset="0"/>
                <a:ea typeface="Arial" pitchFamily="34" charset="-122"/>
                <a:cs typeface="Arial" pitchFamily="34" charset="-120"/>
              </a:rPr>
              <a:t>INTERNET </a:t>
            </a:r>
            <a:pPr indent="0" marL="0">
              <a:buNone/>
            </a:pPr>
            <a:r>
              <a:rPr lang="en-US" sz="900" b="1" dirty="0">
                <a:solidFill>
                  <a:srgbClr val="FFFFFF"/>
                </a:solidFill>
                <a:latin typeface="Arial" pitchFamily="34" charset="0"/>
                <a:ea typeface="Arial" pitchFamily="34" charset="-122"/>
                <a:cs typeface="Arial" pitchFamily="34" charset="-120"/>
              </a:rPr>
              <a:t>Meta · Google</a:t>
            </a:r>
            <a:endParaRPr lang="en-US" sz="850" dirty="0"/>
          </a:p>
        </p:txBody>
      </p:sp>
      <p:sp>
        <p:nvSpPr>
          <p:cNvPr id="17" name="Shape 13"/>
          <p:cNvSpPr/>
          <p:nvPr/>
        </p:nvSpPr>
        <p:spPr>
          <a:xfrm>
            <a:off x="457200" y="5650992"/>
            <a:ext cx="8229600" cy="201168"/>
          </a:xfrm>
          <a:prstGeom prst="rect">
            <a:avLst/>
          </a:prstGeom>
          <a:solidFill>
            <a:srgbClr val="FFD100"/>
          </a:solidFill>
          <a:ln w="12700">
            <a:solidFill>
              <a:srgbClr val="FFD100"/>
            </a:solidFill>
            <a:prstDash val="solid"/>
          </a:ln>
        </p:spPr>
      </p:sp>
      <p:sp>
        <p:nvSpPr>
          <p:cNvPr id="18" name="Text 14"/>
          <p:cNvSpPr/>
          <p:nvPr/>
        </p:nvSpPr>
        <p:spPr>
          <a:xfrm>
            <a:off x="640080" y="5650992"/>
            <a:ext cx="7863840" cy="201168"/>
          </a:xfrm>
          <a:prstGeom prst="rect">
            <a:avLst/>
          </a:prstGeom>
          <a:noFill/>
          <a:ln/>
        </p:spPr>
        <p:txBody>
          <a:bodyPr wrap="square" lIns="0" tIns="0" rIns="0" bIns="0" rtlCol="0" anchor="ctr"/>
          <a:lstStyle/>
          <a:p>
            <a:pPr indent="0" marL="0">
              <a:buNone/>
            </a:pPr>
            <a:r>
              <a:rPr lang="en-US" sz="1000" b="1" dirty="0">
                <a:solidFill>
                  <a:srgbClr val="000000"/>
                </a:solidFill>
                <a:latin typeface="Arial" pitchFamily="34" charset="0"/>
                <a:ea typeface="Arial" pitchFamily="34" charset="-122"/>
                <a:cs typeface="Arial" pitchFamily="34" charset="-120"/>
              </a:rPr>
              <a:t>User adoption and revenue growth for AI far eclipse prior technologies.</a:t>
            </a:r>
            <a:endParaRPr lang="en-US" sz="1000" dirty="0"/>
          </a:p>
        </p:txBody>
      </p:sp>
      <p:sp>
        <p:nvSpPr>
          <p:cNvPr id="19" name="Text 15"/>
          <p:cNvSpPr/>
          <p:nvPr/>
        </p:nvSpPr>
        <p:spPr>
          <a:xfrm>
            <a:off x="457200" y="5875020"/>
            <a:ext cx="8229600" cy="320040"/>
          </a:xfrm>
          <a:prstGeom prst="rect">
            <a:avLst/>
          </a:prstGeom>
          <a:noFill/>
          <a:ln/>
        </p:spPr>
        <p:txBody>
          <a:bodyPr wrap="square" lIns="0" tIns="0" rIns="0" bIns="0" rtlCol="0" anchor="t"/>
          <a:lstStyle/>
          <a:p>
            <a:pPr indent="0" marL="0">
              <a:buNone/>
            </a:pPr>
            <a:r>
              <a:rPr lang="en-US" sz="700" dirty="0">
                <a:solidFill>
                  <a:srgbClr val="999999"/>
                </a:solidFill>
                <a:latin typeface="Arial" pitchFamily="34" charset="0"/>
                <a:ea typeface="Arial" pitchFamily="34" charset="-122"/>
                <a:cs typeface="Arial" pitchFamily="34" charset="-120"/>
              </a:rPr>
              <a:t>Sources: Mary Meeker (Bond Capital / KPCB Internet Trends 2019); company filings and consensus estimates. Cloud and Internet trajectories are illustrative. 2026E shown for AI.</a:t>
            </a:r>
            <a:endParaRPr lang="en-US" sz="700" dirty="0"/>
          </a:p>
        </p:txBody>
      </p:sp>
      <p:sp>
        <p:nvSpPr>
          <p:cNvPr id="20" name="Shape 16"/>
          <p:cNvSpPr/>
          <p:nvPr/>
        </p:nvSpPr>
        <p:spPr>
          <a:xfrm>
            <a:off x="0" y="6286500"/>
            <a:ext cx="9144000" cy="571500"/>
          </a:xfrm>
          <a:prstGeom prst="rect">
            <a:avLst/>
          </a:prstGeom>
          <a:solidFill>
            <a:srgbClr val="000000"/>
          </a:solidFill>
          <a:ln w="12700">
            <a:solidFill>
              <a:srgbClr val="000000"/>
            </a:solidFill>
            <a:prstDash val="solid"/>
          </a:ln>
        </p:spPr>
      </p:sp>
      <p:sp>
        <p:nvSpPr>
          <p:cNvPr id="21" name="Text 17"/>
          <p:cNvSpPr/>
          <p:nvPr/>
        </p:nvSpPr>
        <p:spPr>
          <a:xfrm>
            <a:off x="1371600" y="6332220"/>
            <a:ext cx="6400800" cy="45720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22" name="Text 18"/>
          <p:cNvSpPr/>
          <p:nvPr/>
        </p:nvSpPr>
        <p:spPr>
          <a:xfrm>
            <a:off x="8321040" y="6405372"/>
            <a:ext cx="548640" cy="27432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FFB800"/>
          </a:solidFill>
          <a:ln w="12700">
            <a:solidFill>
              <a:srgbClr val="FFB800"/>
            </a:solidFill>
            <a:prstDash val="solid"/>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1000" b="1" spc="100" kern="0" dirty="0">
                <a:solidFill>
                  <a:srgbClr val="000000"/>
                </a:solidFill>
                <a:latin typeface="Arial" pitchFamily="34" charset="0"/>
                <a:ea typeface="Arial" pitchFamily="34" charset="-122"/>
                <a:cs typeface="Arial" pitchFamily="34" charset="-120"/>
              </a:rPr>
              <a:t>MARKET</a:t>
            </a:r>
            <a:endParaRPr lang="en-US" sz="1000" dirty="0"/>
          </a:p>
        </p:txBody>
      </p:sp>
      <p:sp>
        <p:nvSpPr>
          <p:cNvPr id="4" name="Text 2"/>
          <p:cNvSpPr/>
          <p:nvPr/>
        </p:nvSpPr>
        <p:spPr>
          <a:xfrm>
            <a:off x="457200" y="182880"/>
            <a:ext cx="6583680" cy="685800"/>
          </a:xfrm>
          <a:prstGeom prst="rect">
            <a:avLst/>
          </a:prstGeom>
          <a:noFill/>
          <a:ln/>
        </p:spPr>
        <p:txBody>
          <a:bodyPr wrap="square" lIns="0" tIns="0" rIns="0" bIns="0" rtlCol="0" anchor="t"/>
          <a:lstStyle/>
          <a:p>
            <a:pPr indent="0" marL="0">
              <a:buNone/>
            </a:pPr>
            <a:r>
              <a:rPr lang="en-US" sz="2400" b="1" dirty="0">
                <a:solidFill>
                  <a:srgbClr val="000000"/>
                </a:solidFill>
                <a:latin typeface="Arial Black" pitchFamily="34" charset="0"/>
                <a:ea typeface="Arial Black" pitchFamily="34" charset="-122"/>
                <a:cs typeface="Arial Black" pitchFamily="34" charset="-120"/>
              </a:rPr>
              <a:t>How an AI chip is made</a:t>
            </a:r>
            <a:endParaRPr lang="en-US" sz="2400" dirty="0"/>
          </a:p>
        </p:txBody>
      </p:sp>
      <p:sp>
        <p:nvSpPr>
          <p:cNvPr id="5" name="Text 3"/>
          <p:cNvSpPr/>
          <p:nvPr/>
        </p:nvSpPr>
        <p:spPr>
          <a:xfrm>
            <a:off x="457200" y="91440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Every AI accelerator inside a data center, from training GPUs to custom inference silicon, passes through the same four stages.</a:t>
            </a:r>
            <a:endParaRPr lang="en-US" sz="1350" dirty="0"/>
          </a:p>
        </p:txBody>
      </p:sp>
      <p:sp>
        <p:nvSpPr>
          <p:cNvPr id="6" name="Shape 4"/>
          <p:cNvSpPr/>
          <p:nvPr/>
        </p:nvSpPr>
        <p:spPr>
          <a:xfrm>
            <a:off x="457200" y="1325880"/>
            <a:ext cx="8229600" cy="0"/>
          </a:xfrm>
          <a:prstGeom prst="line">
            <a:avLst/>
          </a:prstGeom>
          <a:noFill/>
          <a:ln w="9525">
            <a:solidFill>
              <a:srgbClr val="E5E5E5"/>
            </a:solidFill>
            <a:prstDash val="solid"/>
          </a:ln>
        </p:spPr>
      </p:sp>
      <p:sp>
        <p:nvSpPr>
          <p:cNvPr id="7" name="Shape 5"/>
          <p:cNvSpPr/>
          <p:nvPr/>
        </p:nvSpPr>
        <p:spPr>
          <a:xfrm>
            <a:off x="457200" y="1554480"/>
            <a:ext cx="4023360" cy="3931920"/>
          </a:xfrm>
          <a:prstGeom prst="rect">
            <a:avLst/>
          </a:prstGeom>
          <a:solidFill>
            <a:srgbClr val="EEEEEE"/>
          </a:solidFill>
          <a:ln w="9525">
            <a:solidFill>
              <a:srgbClr val="BBBBBB"/>
            </a:solidFill>
            <a:prstDash val="dash"/>
          </a:ln>
        </p:spPr>
      </p:sp>
      <p:sp>
        <p:nvSpPr>
          <p:cNvPr id="8" name="Text 6"/>
          <p:cNvSpPr/>
          <p:nvPr/>
        </p:nvSpPr>
        <p:spPr>
          <a:xfrm>
            <a:off x="548640" y="1554480"/>
            <a:ext cx="3840480" cy="3931920"/>
          </a:xfrm>
          <a:prstGeom prst="rect">
            <a:avLst/>
          </a:prstGeom>
          <a:noFill/>
          <a:ln/>
        </p:spPr>
        <p:txBody>
          <a:bodyPr wrap="square" lIns="0" tIns="0" rIns="0" bIns="0" rtlCol="0" anchor="ctr"/>
          <a:lstStyle/>
          <a:p>
            <a:pPr algn="ctr" indent="0" marL="0">
              <a:buNone/>
            </a:pPr>
            <a:r>
              <a:rPr lang="en-US" sz="1000" i="1" dirty="0">
                <a:solidFill>
                  <a:srgbClr val="888888"/>
                </a:solidFill>
                <a:latin typeface="Arial" pitchFamily="34" charset="0"/>
                <a:ea typeface="Arial" pitchFamily="34" charset="-122"/>
                <a:cs typeface="Arial" pitchFamily="34" charset="-120"/>
              </a:rPr>
              <a:t>IMAGE: Photo: AI accelerator package close-up, NVIDIA H100/H200 or Blackwell style. Large central logic die surrounded by HBM memory stacks on a CoWoS substrate, gold contact pads visible, dramatic studio lighting on dark backdrop, square framing.</a:t>
            </a:r>
            <a:endParaRPr lang="en-US" sz="1000" dirty="0"/>
          </a:p>
        </p:txBody>
      </p:sp>
      <p:sp>
        <p:nvSpPr>
          <p:cNvPr id="9" name="Text 7"/>
          <p:cNvSpPr/>
          <p:nvPr/>
        </p:nvSpPr>
        <p:spPr>
          <a:xfrm>
            <a:off x="457200" y="5559552"/>
            <a:ext cx="4023360" cy="274320"/>
          </a:xfrm>
          <a:prstGeom prst="rect">
            <a:avLst/>
          </a:prstGeom>
          <a:noFill/>
          <a:ln/>
        </p:spPr>
        <p:txBody>
          <a:bodyPr wrap="square" lIns="0" tIns="0" rIns="0" bIns="0" rtlCol="0" anchor="t"/>
          <a:lstStyle/>
          <a:p>
            <a:pPr indent="0" marL="0">
              <a:buNone/>
            </a:pPr>
            <a:r>
              <a:rPr lang="en-US" sz="800" i="1" dirty="0">
                <a:solidFill>
                  <a:srgbClr val="666666"/>
                </a:solidFill>
                <a:latin typeface="Arial" pitchFamily="34" charset="0"/>
                <a:ea typeface="Arial" pitchFamily="34" charset="-122"/>
                <a:cs typeface="Arial" pitchFamily="34" charset="-120"/>
              </a:rPr>
              <a:t>An AI accelerator package: a large processor chip surrounded by high-speed memory chips, all wired into one unit.</a:t>
            </a:r>
            <a:endParaRPr lang="en-US" sz="800" dirty="0"/>
          </a:p>
        </p:txBody>
      </p:sp>
      <p:sp>
        <p:nvSpPr>
          <p:cNvPr id="10" name="Text 8"/>
          <p:cNvSpPr/>
          <p:nvPr/>
        </p:nvSpPr>
        <p:spPr>
          <a:xfrm>
            <a:off x="4617720" y="1554480"/>
            <a:ext cx="4069080" cy="219456"/>
          </a:xfrm>
          <a:prstGeom prst="rect">
            <a:avLst/>
          </a:prstGeom>
          <a:noFill/>
          <a:ln/>
        </p:spPr>
        <p:txBody>
          <a:bodyPr wrap="square" lIns="0" tIns="0" rIns="0" bIns="0" rtlCol="0" anchor="ctr"/>
          <a:lstStyle/>
          <a:p>
            <a:pPr indent="0" marL="0">
              <a:buNone/>
            </a:pPr>
            <a:r>
              <a:rPr lang="en-US" sz="900" b="1" spc="200" kern="0" dirty="0">
                <a:solidFill>
                  <a:srgbClr val="666666"/>
                </a:solidFill>
                <a:latin typeface="Arial" pitchFamily="34" charset="0"/>
                <a:ea typeface="Arial" pitchFamily="34" charset="-122"/>
                <a:cs typeface="Arial" pitchFamily="34" charset="-120"/>
              </a:rPr>
              <a:t>THE FOUR STAGES</a:t>
            </a:r>
            <a:endParaRPr lang="en-US" sz="900" dirty="0"/>
          </a:p>
        </p:txBody>
      </p:sp>
      <p:sp>
        <p:nvSpPr>
          <p:cNvPr id="11" name="Shape 9"/>
          <p:cNvSpPr/>
          <p:nvPr/>
        </p:nvSpPr>
        <p:spPr>
          <a:xfrm>
            <a:off x="4617720" y="1783080"/>
            <a:ext cx="4069080" cy="0"/>
          </a:xfrm>
          <a:prstGeom prst="line">
            <a:avLst/>
          </a:prstGeom>
          <a:noFill/>
          <a:ln w="6350">
            <a:solidFill>
              <a:srgbClr val="E5E5E5"/>
            </a:solidFill>
            <a:prstDash val="solid"/>
          </a:ln>
        </p:spPr>
      </p:sp>
      <p:sp>
        <p:nvSpPr>
          <p:cNvPr id="12" name="Shape 10"/>
          <p:cNvSpPr/>
          <p:nvPr/>
        </p:nvSpPr>
        <p:spPr>
          <a:xfrm>
            <a:off x="4617720" y="1911096"/>
            <a:ext cx="384048" cy="384048"/>
          </a:xfrm>
          <a:prstGeom prst="ellipse">
            <a:avLst/>
          </a:prstGeom>
          <a:solidFill>
            <a:srgbClr val="6B46C1"/>
          </a:solidFill>
          <a:ln w="12700">
            <a:solidFill>
              <a:srgbClr val="6B46C1"/>
            </a:solidFill>
            <a:prstDash val="solid"/>
          </a:ln>
        </p:spPr>
      </p:sp>
      <p:sp>
        <p:nvSpPr>
          <p:cNvPr id="13" name="Text 11"/>
          <p:cNvSpPr/>
          <p:nvPr/>
        </p:nvSpPr>
        <p:spPr>
          <a:xfrm>
            <a:off x="4617720" y="1911096"/>
            <a:ext cx="384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Arial Black" pitchFamily="34" charset="0"/>
                <a:ea typeface="Arial Black" pitchFamily="34" charset="-122"/>
                <a:cs typeface="Arial Black" pitchFamily="34" charset="-120"/>
              </a:rPr>
              <a:t>01</a:t>
            </a:r>
            <a:endParaRPr lang="en-US" sz="1100" dirty="0"/>
          </a:p>
        </p:txBody>
      </p:sp>
      <p:sp>
        <p:nvSpPr>
          <p:cNvPr id="14" name="Text 12"/>
          <p:cNvSpPr/>
          <p:nvPr/>
        </p:nvSpPr>
        <p:spPr>
          <a:xfrm>
            <a:off x="5166360" y="1874520"/>
            <a:ext cx="3520440" cy="274320"/>
          </a:xfrm>
          <a:prstGeom prst="rect">
            <a:avLst/>
          </a:prstGeom>
          <a:noFill/>
          <a:ln/>
        </p:spPr>
        <p:txBody>
          <a:bodyPr wrap="square" lIns="0" tIns="0" rIns="0" bIns="0" rtlCol="0" anchor="ctr"/>
          <a:lstStyle/>
          <a:p>
            <a:pPr indent="0" marL="0">
              <a:buNone/>
            </a:pPr>
            <a:r>
              <a:rPr lang="en-US" sz="1300" b="1" spc="150" kern="0" dirty="0">
                <a:solidFill>
                  <a:srgbClr val="000000"/>
                </a:solidFill>
                <a:latin typeface="Arial" pitchFamily="34" charset="0"/>
                <a:ea typeface="Arial" pitchFamily="34" charset="-122"/>
                <a:cs typeface="Arial" pitchFamily="34" charset="-120"/>
              </a:rPr>
              <a:t>DESIGN</a:t>
            </a:r>
            <a:endParaRPr lang="en-US" sz="1300" dirty="0"/>
          </a:p>
        </p:txBody>
      </p:sp>
      <p:sp>
        <p:nvSpPr>
          <p:cNvPr id="15" name="Text 13"/>
          <p:cNvSpPr/>
          <p:nvPr/>
        </p:nvSpPr>
        <p:spPr>
          <a:xfrm>
            <a:off x="5166360" y="2148840"/>
            <a:ext cx="3520440" cy="594360"/>
          </a:xfrm>
          <a:prstGeom prst="rect">
            <a:avLst/>
          </a:prstGeom>
          <a:noFill/>
          <a:ln/>
        </p:spPr>
        <p:txBody>
          <a:bodyPr wrap="square" lIns="0" tIns="0" rIns="0" bIns="0" rtlCol="0" anchor="t"/>
          <a:lstStyle/>
          <a:p>
            <a:pPr indent="0" marL="0">
              <a:buNone/>
            </a:pPr>
            <a:r>
              <a:rPr lang="en-US" sz="1050" dirty="0">
                <a:solidFill>
                  <a:srgbClr val="333333"/>
                </a:solidFill>
                <a:latin typeface="Arial" pitchFamily="34" charset="0"/>
                <a:ea typeface="Arial" pitchFamily="34" charset="-122"/>
                <a:cs typeface="Arial" pitchFamily="34" charset="-120"/>
              </a:rPr>
              <a:t>Engineers draft the chip's blueprint in software, mapping where each of tens of billions of microscopic switches will sit.</a:t>
            </a:r>
            <a:endParaRPr lang="en-US" sz="1050" dirty="0"/>
          </a:p>
        </p:txBody>
      </p:sp>
      <p:sp>
        <p:nvSpPr>
          <p:cNvPr id="16" name="Shape 14"/>
          <p:cNvSpPr/>
          <p:nvPr/>
        </p:nvSpPr>
        <p:spPr>
          <a:xfrm>
            <a:off x="4617720" y="2816352"/>
            <a:ext cx="4069080" cy="0"/>
          </a:xfrm>
          <a:prstGeom prst="line">
            <a:avLst/>
          </a:prstGeom>
          <a:noFill/>
          <a:ln w="6350">
            <a:solidFill>
              <a:srgbClr val="E5E5E5"/>
            </a:solidFill>
            <a:prstDash val="solid"/>
          </a:ln>
        </p:spPr>
      </p:sp>
      <p:sp>
        <p:nvSpPr>
          <p:cNvPr id="17" name="Shape 15"/>
          <p:cNvSpPr/>
          <p:nvPr/>
        </p:nvSpPr>
        <p:spPr>
          <a:xfrm>
            <a:off x="4617720" y="2871216"/>
            <a:ext cx="384048" cy="384048"/>
          </a:xfrm>
          <a:prstGeom prst="ellipse">
            <a:avLst/>
          </a:prstGeom>
          <a:solidFill>
            <a:srgbClr val="E8478D"/>
          </a:solidFill>
          <a:ln w="12700">
            <a:solidFill>
              <a:srgbClr val="E8478D"/>
            </a:solidFill>
            <a:prstDash val="solid"/>
          </a:ln>
        </p:spPr>
      </p:sp>
      <p:sp>
        <p:nvSpPr>
          <p:cNvPr id="18" name="Text 16"/>
          <p:cNvSpPr/>
          <p:nvPr/>
        </p:nvSpPr>
        <p:spPr>
          <a:xfrm>
            <a:off x="4617720" y="2871216"/>
            <a:ext cx="384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Arial Black" pitchFamily="34" charset="0"/>
                <a:ea typeface="Arial Black" pitchFamily="34" charset="-122"/>
                <a:cs typeface="Arial Black" pitchFamily="34" charset="-120"/>
              </a:rPr>
              <a:t>02</a:t>
            </a:r>
            <a:endParaRPr lang="en-US" sz="1100" dirty="0"/>
          </a:p>
        </p:txBody>
      </p:sp>
      <p:sp>
        <p:nvSpPr>
          <p:cNvPr id="19" name="Text 17"/>
          <p:cNvSpPr/>
          <p:nvPr/>
        </p:nvSpPr>
        <p:spPr>
          <a:xfrm>
            <a:off x="5166360" y="2834640"/>
            <a:ext cx="3520440" cy="274320"/>
          </a:xfrm>
          <a:prstGeom prst="rect">
            <a:avLst/>
          </a:prstGeom>
          <a:noFill/>
          <a:ln/>
        </p:spPr>
        <p:txBody>
          <a:bodyPr wrap="square" lIns="0" tIns="0" rIns="0" bIns="0" rtlCol="0" anchor="ctr"/>
          <a:lstStyle/>
          <a:p>
            <a:pPr indent="0" marL="0">
              <a:buNone/>
            </a:pPr>
            <a:r>
              <a:rPr lang="en-US" sz="1300" b="1" spc="150" kern="0" dirty="0">
                <a:solidFill>
                  <a:srgbClr val="000000"/>
                </a:solidFill>
                <a:latin typeface="Arial" pitchFamily="34" charset="0"/>
                <a:ea typeface="Arial" pitchFamily="34" charset="-122"/>
                <a:cs typeface="Arial" pitchFamily="34" charset="-120"/>
              </a:rPr>
              <a:t>EQUIPMENT</a:t>
            </a:r>
            <a:endParaRPr lang="en-US" sz="1300" dirty="0"/>
          </a:p>
        </p:txBody>
      </p:sp>
      <p:sp>
        <p:nvSpPr>
          <p:cNvPr id="20" name="Text 18"/>
          <p:cNvSpPr/>
          <p:nvPr/>
        </p:nvSpPr>
        <p:spPr>
          <a:xfrm>
            <a:off x="5166360" y="3108960"/>
            <a:ext cx="3520440" cy="594360"/>
          </a:xfrm>
          <a:prstGeom prst="rect">
            <a:avLst/>
          </a:prstGeom>
          <a:noFill/>
          <a:ln/>
        </p:spPr>
        <p:txBody>
          <a:bodyPr wrap="square" lIns="0" tIns="0" rIns="0" bIns="0" rtlCol="0" anchor="t"/>
          <a:lstStyle/>
          <a:p>
            <a:pPr indent="0" marL="0">
              <a:buNone/>
            </a:pPr>
            <a:r>
              <a:rPr lang="en-US" sz="1050" dirty="0">
                <a:solidFill>
                  <a:srgbClr val="333333"/>
                </a:solidFill>
                <a:latin typeface="Arial" pitchFamily="34" charset="0"/>
                <a:ea typeface="Arial" pitchFamily="34" charset="-122"/>
                <a:cs typeface="Arial" pitchFamily="34" charset="-120"/>
              </a:rPr>
              <a:t>Highly specialized machines are built to print circuit patterns at near-atomic scale using ultraviolet light.</a:t>
            </a:r>
            <a:endParaRPr lang="en-US" sz="1050" dirty="0"/>
          </a:p>
        </p:txBody>
      </p:sp>
      <p:sp>
        <p:nvSpPr>
          <p:cNvPr id="21" name="Shape 19"/>
          <p:cNvSpPr/>
          <p:nvPr/>
        </p:nvSpPr>
        <p:spPr>
          <a:xfrm>
            <a:off x="4617720" y="3776472"/>
            <a:ext cx="4069080" cy="0"/>
          </a:xfrm>
          <a:prstGeom prst="line">
            <a:avLst/>
          </a:prstGeom>
          <a:noFill/>
          <a:ln w="6350">
            <a:solidFill>
              <a:srgbClr val="E5E5E5"/>
            </a:solidFill>
            <a:prstDash val="solid"/>
          </a:ln>
        </p:spPr>
      </p:sp>
      <p:sp>
        <p:nvSpPr>
          <p:cNvPr id="22" name="Shape 20"/>
          <p:cNvSpPr/>
          <p:nvPr/>
        </p:nvSpPr>
        <p:spPr>
          <a:xfrm>
            <a:off x="4617720" y="3831336"/>
            <a:ext cx="384048" cy="384048"/>
          </a:xfrm>
          <a:prstGeom prst="ellipse">
            <a:avLst/>
          </a:prstGeom>
          <a:solidFill>
            <a:srgbClr val="008B8B"/>
          </a:solidFill>
          <a:ln w="12700">
            <a:solidFill>
              <a:srgbClr val="008B8B"/>
            </a:solidFill>
            <a:prstDash val="solid"/>
          </a:ln>
        </p:spPr>
      </p:sp>
      <p:sp>
        <p:nvSpPr>
          <p:cNvPr id="23" name="Text 21"/>
          <p:cNvSpPr/>
          <p:nvPr/>
        </p:nvSpPr>
        <p:spPr>
          <a:xfrm>
            <a:off x="4617720" y="3831336"/>
            <a:ext cx="384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Arial Black" pitchFamily="34" charset="0"/>
                <a:ea typeface="Arial Black" pitchFamily="34" charset="-122"/>
                <a:cs typeface="Arial Black" pitchFamily="34" charset="-120"/>
              </a:rPr>
              <a:t>03</a:t>
            </a:r>
            <a:endParaRPr lang="en-US" sz="1100" dirty="0"/>
          </a:p>
        </p:txBody>
      </p:sp>
      <p:sp>
        <p:nvSpPr>
          <p:cNvPr id="24" name="Text 22"/>
          <p:cNvSpPr/>
          <p:nvPr/>
        </p:nvSpPr>
        <p:spPr>
          <a:xfrm>
            <a:off x="5166360" y="3794760"/>
            <a:ext cx="3520440" cy="274320"/>
          </a:xfrm>
          <a:prstGeom prst="rect">
            <a:avLst/>
          </a:prstGeom>
          <a:noFill/>
          <a:ln/>
        </p:spPr>
        <p:txBody>
          <a:bodyPr wrap="square" lIns="0" tIns="0" rIns="0" bIns="0" rtlCol="0" anchor="ctr"/>
          <a:lstStyle/>
          <a:p>
            <a:pPr indent="0" marL="0">
              <a:buNone/>
            </a:pPr>
            <a:r>
              <a:rPr lang="en-US" sz="1300" b="1" spc="150" kern="0" dirty="0">
                <a:solidFill>
                  <a:srgbClr val="000000"/>
                </a:solidFill>
                <a:latin typeface="Arial" pitchFamily="34" charset="0"/>
                <a:ea typeface="Arial" pitchFamily="34" charset="-122"/>
                <a:cs typeface="Arial" pitchFamily="34" charset="-120"/>
              </a:rPr>
              <a:t>FABRICATION</a:t>
            </a:r>
            <a:endParaRPr lang="en-US" sz="1300" dirty="0"/>
          </a:p>
        </p:txBody>
      </p:sp>
      <p:sp>
        <p:nvSpPr>
          <p:cNvPr id="25" name="Text 23"/>
          <p:cNvSpPr/>
          <p:nvPr/>
        </p:nvSpPr>
        <p:spPr>
          <a:xfrm>
            <a:off x="5166360" y="4069080"/>
            <a:ext cx="3520440" cy="594360"/>
          </a:xfrm>
          <a:prstGeom prst="rect">
            <a:avLst/>
          </a:prstGeom>
          <a:noFill/>
          <a:ln/>
        </p:spPr>
        <p:txBody>
          <a:bodyPr wrap="square" lIns="0" tIns="0" rIns="0" bIns="0" rtlCol="0" anchor="t"/>
          <a:lstStyle/>
          <a:p>
            <a:pPr indent="0" marL="0">
              <a:buNone/>
            </a:pPr>
            <a:r>
              <a:rPr lang="en-US" sz="1050" dirty="0">
                <a:solidFill>
                  <a:srgbClr val="333333"/>
                </a:solidFill>
                <a:latin typeface="Arial" pitchFamily="34" charset="0"/>
                <a:ea typeface="Arial" pitchFamily="34" charset="-122"/>
                <a:cs typeface="Arial" pitchFamily="34" charset="-120"/>
              </a:rPr>
              <a:t>Silicon wafers pass through more than a thousand precise steps inside ultra-clean factories that take years to build.</a:t>
            </a:r>
            <a:endParaRPr lang="en-US" sz="1050" dirty="0"/>
          </a:p>
        </p:txBody>
      </p:sp>
      <p:sp>
        <p:nvSpPr>
          <p:cNvPr id="26" name="Shape 24"/>
          <p:cNvSpPr/>
          <p:nvPr/>
        </p:nvSpPr>
        <p:spPr>
          <a:xfrm>
            <a:off x="4617720" y="4736592"/>
            <a:ext cx="4069080" cy="0"/>
          </a:xfrm>
          <a:prstGeom prst="line">
            <a:avLst/>
          </a:prstGeom>
          <a:noFill/>
          <a:ln w="6350">
            <a:solidFill>
              <a:srgbClr val="E5E5E5"/>
            </a:solidFill>
            <a:prstDash val="solid"/>
          </a:ln>
        </p:spPr>
      </p:sp>
      <p:sp>
        <p:nvSpPr>
          <p:cNvPr id="27" name="Shape 25"/>
          <p:cNvSpPr/>
          <p:nvPr/>
        </p:nvSpPr>
        <p:spPr>
          <a:xfrm>
            <a:off x="4617720" y="4791456"/>
            <a:ext cx="384048" cy="384048"/>
          </a:xfrm>
          <a:prstGeom prst="ellipse">
            <a:avLst/>
          </a:prstGeom>
          <a:solidFill>
            <a:srgbClr val="051A3D"/>
          </a:solidFill>
          <a:ln w="12700">
            <a:solidFill>
              <a:srgbClr val="051A3D"/>
            </a:solidFill>
            <a:prstDash val="solid"/>
          </a:ln>
        </p:spPr>
      </p:sp>
      <p:sp>
        <p:nvSpPr>
          <p:cNvPr id="28" name="Text 26"/>
          <p:cNvSpPr/>
          <p:nvPr/>
        </p:nvSpPr>
        <p:spPr>
          <a:xfrm>
            <a:off x="4617720" y="4791456"/>
            <a:ext cx="384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Arial Black" pitchFamily="34" charset="0"/>
                <a:ea typeface="Arial Black" pitchFamily="34" charset="-122"/>
                <a:cs typeface="Arial Black" pitchFamily="34" charset="-120"/>
              </a:rPr>
              <a:t>04</a:t>
            </a:r>
            <a:endParaRPr lang="en-US" sz="1100" dirty="0"/>
          </a:p>
        </p:txBody>
      </p:sp>
      <p:sp>
        <p:nvSpPr>
          <p:cNvPr id="29" name="Text 27"/>
          <p:cNvSpPr/>
          <p:nvPr/>
        </p:nvSpPr>
        <p:spPr>
          <a:xfrm>
            <a:off x="5166360" y="4754880"/>
            <a:ext cx="3520440" cy="274320"/>
          </a:xfrm>
          <a:prstGeom prst="rect">
            <a:avLst/>
          </a:prstGeom>
          <a:noFill/>
          <a:ln/>
        </p:spPr>
        <p:txBody>
          <a:bodyPr wrap="square" lIns="0" tIns="0" rIns="0" bIns="0" rtlCol="0" anchor="ctr"/>
          <a:lstStyle/>
          <a:p>
            <a:pPr indent="0" marL="0">
              <a:buNone/>
            </a:pPr>
            <a:r>
              <a:rPr lang="en-US" sz="1300" b="1" spc="150" kern="0" dirty="0">
                <a:solidFill>
                  <a:srgbClr val="000000"/>
                </a:solidFill>
                <a:latin typeface="Arial" pitchFamily="34" charset="0"/>
                <a:ea typeface="Arial" pitchFamily="34" charset="-122"/>
                <a:cs typeface="Arial" pitchFamily="34" charset="-120"/>
              </a:rPr>
              <a:t>PACKAGING</a:t>
            </a:r>
            <a:endParaRPr lang="en-US" sz="1300" dirty="0"/>
          </a:p>
        </p:txBody>
      </p:sp>
      <p:sp>
        <p:nvSpPr>
          <p:cNvPr id="30" name="Text 28"/>
          <p:cNvSpPr/>
          <p:nvPr/>
        </p:nvSpPr>
        <p:spPr>
          <a:xfrm>
            <a:off x="5166360" y="5029200"/>
            <a:ext cx="3520440" cy="594360"/>
          </a:xfrm>
          <a:prstGeom prst="rect">
            <a:avLst/>
          </a:prstGeom>
          <a:noFill/>
          <a:ln/>
        </p:spPr>
        <p:txBody>
          <a:bodyPr wrap="square" lIns="0" tIns="0" rIns="0" bIns="0" rtlCol="0" anchor="t"/>
          <a:lstStyle/>
          <a:p>
            <a:pPr indent="0" marL="0">
              <a:buNone/>
            </a:pPr>
            <a:r>
              <a:rPr lang="en-US" sz="1050" dirty="0">
                <a:solidFill>
                  <a:srgbClr val="333333"/>
                </a:solidFill>
                <a:latin typeface="Arial" pitchFamily="34" charset="0"/>
                <a:ea typeface="Arial" pitchFamily="34" charset="-122"/>
                <a:cs typeface="Arial" pitchFamily="34" charset="-120"/>
              </a:rPr>
              <a:t>The finished chip is bonded with high-speed memory into a single package ready to plug into a server.</a:t>
            </a:r>
            <a:endParaRPr lang="en-US" sz="1050" dirty="0"/>
          </a:p>
        </p:txBody>
      </p:sp>
      <p:sp>
        <p:nvSpPr>
          <p:cNvPr id="31" name="Text 29"/>
          <p:cNvSpPr/>
          <p:nvPr/>
        </p:nvSpPr>
        <p:spPr>
          <a:xfrm>
            <a:off x="457200" y="5875020"/>
            <a:ext cx="8229600" cy="320040"/>
          </a:xfrm>
          <a:prstGeom prst="rect">
            <a:avLst/>
          </a:prstGeom>
          <a:noFill/>
          <a:ln/>
        </p:spPr>
        <p:txBody>
          <a:bodyPr wrap="square" lIns="0" tIns="0" rIns="0" bIns="0" rtlCol="0" anchor="t"/>
          <a:lstStyle/>
          <a:p>
            <a:pPr indent="0" marL="0">
              <a:buNone/>
            </a:pPr>
            <a:r>
              <a:rPr lang="en-US" sz="700" dirty="0">
                <a:solidFill>
                  <a:srgbClr val="999999"/>
                </a:solidFill>
                <a:latin typeface="Arial" pitchFamily="34" charset="0"/>
                <a:ea typeface="Arial" pitchFamily="34" charset="-122"/>
                <a:cs typeface="Arial" pitchFamily="34" charset="-120"/>
              </a:rPr>
              <a:t>Source: SIA / SEMI industry taxonomy; SEMI World Fab Forecast; TSMC, NVIDIA, ASML disclosures. Process descriptions are plain-English simplifications.</a:t>
            </a:r>
            <a:endParaRPr lang="en-US" sz="700" dirty="0"/>
          </a:p>
        </p:txBody>
      </p:sp>
      <p:sp>
        <p:nvSpPr>
          <p:cNvPr id="32" name="Shape 30"/>
          <p:cNvSpPr/>
          <p:nvPr/>
        </p:nvSpPr>
        <p:spPr>
          <a:xfrm>
            <a:off x="0" y="6286500"/>
            <a:ext cx="9144000" cy="571500"/>
          </a:xfrm>
          <a:prstGeom prst="rect">
            <a:avLst/>
          </a:prstGeom>
          <a:solidFill>
            <a:srgbClr val="000000"/>
          </a:solidFill>
          <a:ln w="12700">
            <a:solidFill>
              <a:srgbClr val="000000"/>
            </a:solidFill>
            <a:prstDash val="solid"/>
          </a:ln>
        </p:spPr>
      </p:sp>
      <p:sp>
        <p:nvSpPr>
          <p:cNvPr id="33" name="Text 31"/>
          <p:cNvSpPr/>
          <p:nvPr/>
        </p:nvSpPr>
        <p:spPr>
          <a:xfrm>
            <a:off x="1371600" y="6332220"/>
            <a:ext cx="6400800" cy="45720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34" name="Text 32"/>
          <p:cNvSpPr/>
          <p:nvPr/>
        </p:nvSpPr>
        <p:spPr>
          <a:xfrm>
            <a:off x="8321040" y="6405372"/>
            <a:ext cx="548640" cy="27432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FFB800"/>
          </a:solidFill>
          <a:ln w="12700">
            <a:solidFill>
              <a:srgbClr val="FFB800"/>
            </a:solidFill>
            <a:prstDash val="solid"/>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1000" b="1" spc="100" kern="0" dirty="0">
                <a:solidFill>
                  <a:srgbClr val="000000"/>
                </a:solidFill>
                <a:latin typeface="Arial" pitchFamily="34" charset="0"/>
                <a:ea typeface="Arial" pitchFamily="34" charset="-122"/>
                <a:cs typeface="Arial" pitchFamily="34" charset="-120"/>
              </a:rPr>
              <a:t>MARKET</a:t>
            </a:r>
            <a:endParaRPr lang="en-US" sz="1000" dirty="0"/>
          </a:p>
        </p:txBody>
      </p:sp>
      <p:sp>
        <p:nvSpPr>
          <p:cNvPr id="4" name="Text 2"/>
          <p:cNvSpPr/>
          <p:nvPr/>
        </p:nvSpPr>
        <p:spPr>
          <a:xfrm>
            <a:off x="457200" y="182880"/>
            <a:ext cx="6583680" cy="685800"/>
          </a:xfrm>
          <a:prstGeom prst="rect">
            <a:avLst/>
          </a:prstGeom>
          <a:noFill/>
          <a:ln/>
        </p:spPr>
        <p:txBody>
          <a:bodyPr wrap="square" lIns="0" tIns="0" rIns="0" bIns="0" rtlCol="0" anchor="t"/>
          <a:lstStyle/>
          <a:p>
            <a:pPr indent="0" marL="0">
              <a:buNone/>
            </a:pPr>
            <a:r>
              <a:rPr lang="en-US" sz="2400" b="1" dirty="0">
                <a:solidFill>
                  <a:srgbClr val="000000"/>
                </a:solidFill>
                <a:latin typeface="Arial Black" pitchFamily="34" charset="0"/>
                <a:ea typeface="Arial Black" pitchFamily="34" charset="-122"/>
                <a:cs typeface="Arial Black" pitchFamily="34" charset="-120"/>
              </a:rPr>
              <a:t>Five hyperscalers fund ~60% of AI chip demand — their capex IS the market</a:t>
            </a:r>
            <a:endParaRPr lang="en-US" sz="2400" dirty="0"/>
          </a:p>
        </p:txBody>
      </p:sp>
      <p:sp>
        <p:nvSpPr>
          <p:cNvPr id="5" name="Text 3"/>
          <p:cNvSpPr/>
          <p:nvPr/>
        </p:nvSpPr>
        <p:spPr>
          <a:xfrm>
            <a:off x="457200" y="91440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Five hyperscalers fund roughly 60% of advanced-AI chip demand — sovereigns, enterprise, and edge devices split the rest.</a:t>
            </a:r>
            <a:endParaRPr lang="en-US" sz="1350" dirty="0"/>
          </a:p>
        </p:txBody>
      </p:sp>
      <p:sp>
        <p:nvSpPr>
          <p:cNvPr id="6" name="Shape 4"/>
          <p:cNvSpPr/>
          <p:nvPr/>
        </p:nvSpPr>
        <p:spPr>
          <a:xfrm>
            <a:off x="457200" y="1325880"/>
            <a:ext cx="8229600" cy="0"/>
          </a:xfrm>
          <a:prstGeom prst="line">
            <a:avLst/>
          </a:prstGeom>
          <a:noFill/>
          <a:ln w="9525">
            <a:solidFill>
              <a:srgbClr val="E5E5E5"/>
            </a:solidFill>
            <a:prstDash val="solid"/>
          </a:ln>
        </p:spPr>
      </p:sp>
      <p:sp>
        <p:nvSpPr>
          <p:cNvPr id="7" name="Shape 5"/>
          <p:cNvSpPr/>
          <p:nvPr/>
        </p:nvSpPr>
        <p:spPr>
          <a:xfrm>
            <a:off x="457200" y="1737360"/>
            <a:ext cx="4773168" cy="457200"/>
          </a:xfrm>
          <a:prstGeom prst="rect">
            <a:avLst/>
          </a:prstGeom>
          <a:solidFill>
            <a:srgbClr val="FFB800"/>
          </a:solidFill>
          <a:ln w="12700">
            <a:solidFill>
              <a:srgbClr val="FFB800"/>
            </a:solidFill>
            <a:prstDash val="solid"/>
          </a:ln>
        </p:spPr>
      </p:sp>
      <p:sp>
        <p:nvSpPr>
          <p:cNvPr id="8" name="Text 6"/>
          <p:cNvSpPr/>
          <p:nvPr/>
        </p:nvSpPr>
        <p:spPr>
          <a:xfrm>
            <a:off x="457200" y="1737360"/>
            <a:ext cx="4773168" cy="457200"/>
          </a:xfrm>
          <a:prstGeom prst="rect">
            <a:avLst/>
          </a:prstGeom>
          <a:noFill/>
          <a:ln/>
        </p:spPr>
        <p:txBody>
          <a:bodyPr wrap="square" lIns="0" tIns="0" rIns="0" bIns="0" rtlCol="0" anchor="ctr"/>
          <a:lstStyle/>
          <a:p>
            <a:pPr algn="ctr" indent="0" marL="0">
              <a:buNone/>
            </a:pPr>
            <a:r>
              <a:rPr lang="en-US" sz="1000" b="1" spc="200" kern="0" dirty="0">
                <a:solidFill>
                  <a:srgbClr val="000000"/>
                </a:solidFill>
                <a:latin typeface="Arial" pitchFamily="34" charset="0"/>
                <a:ea typeface="Arial" pitchFamily="34" charset="-122"/>
                <a:cs typeface="Arial" pitchFamily="34" charset="-120"/>
              </a:rPr>
              <a:t>HYPERSCALERS</a:t>
            </a:r>
            <a:endParaRPr lang="en-US" sz="1000" dirty="0"/>
          </a:p>
        </p:txBody>
      </p:sp>
      <p:sp>
        <p:nvSpPr>
          <p:cNvPr id="9" name="Shape 7"/>
          <p:cNvSpPr/>
          <p:nvPr/>
        </p:nvSpPr>
        <p:spPr>
          <a:xfrm>
            <a:off x="5230368" y="1737360"/>
            <a:ext cx="987552" cy="457200"/>
          </a:xfrm>
          <a:prstGeom prst="rect">
            <a:avLst/>
          </a:prstGeom>
          <a:solidFill>
            <a:srgbClr val="008B8B"/>
          </a:solidFill>
          <a:ln w="12700">
            <a:solidFill>
              <a:srgbClr val="008B8B"/>
            </a:solidFill>
            <a:prstDash val="solid"/>
          </a:ln>
        </p:spPr>
      </p:sp>
      <p:sp>
        <p:nvSpPr>
          <p:cNvPr id="10" name="Text 8"/>
          <p:cNvSpPr/>
          <p:nvPr/>
        </p:nvSpPr>
        <p:spPr>
          <a:xfrm>
            <a:off x="5230368" y="1737360"/>
            <a:ext cx="987552" cy="457200"/>
          </a:xfrm>
          <a:prstGeom prst="rect">
            <a:avLst/>
          </a:prstGeom>
          <a:noFill/>
          <a:ln/>
        </p:spPr>
        <p:txBody>
          <a:bodyPr wrap="square" lIns="0" tIns="0" rIns="0" bIns="0" rtlCol="0" anchor="ctr"/>
          <a:lstStyle/>
          <a:p>
            <a:pPr algn="ctr" indent="0" marL="0">
              <a:buNone/>
            </a:pPr>
            <a:r>
              <a:rPr lang="en-US" sz="1000" b="1" spc="200" kern="0" dirty="0">
                <a:solidFill>
                  <a:srgbClr val="FFFFFF"/>
                </a:solidFill>
                <a:latin typeface="Arial" pitchFamily="34" charset="0"/>
                <a:ea typeface="Arial" pitchFamily="34" charset="-122"/>
                <a:cs typeface="Arial" pitchFamily="34" charset="-120"/>
              </a:rPr>
              <a:t>SOVEREIGNS</a:t>
            </a:r>
            <a:endParaRPr lang="en-US" sz="1000" dirty="0"/>
          </a:p>
        </p:txBody>
      </p:sp>
      <p:sp>
        <p:nvSpPr>
          <p:cNvPr id="11" name="Shape 9"/>
          <p:cNvSpPr/>
          <p:nvPr/>
        </p:nvSpPr>
        <p:spPr>
          <a:xfrm>
            <a:off x="6217920" y="1737360"/>
            <a:ext cx="822960" cy="457200"/>
          </a:xfrm>
          <a:prstGeom prst="rect">
            <a:avLst/>
          </a:prstGeom>
          <a:solidFill>
            <a:srgbClr val="666666"/>
          </a:solidFill>
          <a:ln w="12700">
            <a:solidFill>
              <a:srgbClr val="666666"/>
            </a:solidFill>
            <a:prstDash val="solid"/>
          </a:ln>
        </p:spPr>
      </p:sp>
      <p:sp>
        <p:nvSpPr>
          <p:cNvPr id="12" name="Text 10"/>
          <p:cNvSpPr/>
          <p:nvPr/>
        </p:nvSpPr>
        <p:spPr>
          <a:xfrm>
            <a:off x="6217920" y="1737360"/>
            <a:ext cx="822960" cy="457200"/>
          </a:xfrm>
          <a:prstGeom prst="rect">
            <a:avLst/>
          </a:prstGeom>
          <a:noFill/>
          <a:ln/>
        </p:spPr>
        <p:txBody>
          <a:bodyPr wrap="square" lIns="0" tIns="0" rIns="0" bIns="0" rtlCol="0" anchor="ctr"/>
          <a:lstStyle/>
          <a:p>
            <a:pPr algn="ctr" indent="0" marL="0">
              <a:buNone/>
            </a:pPr>
            <a:r>
              <a:rPr lang="en-US" sz="1000" b="1" spc="200" kern="0" dirty="0">
                <a:solidFill>
                  <a:srgbClr val="FFFFFF"/>
                </a:solidFill>
                <a:latin typeface="Arial" pitchFamily="34" charset="0"/>
                <a:ea typeface="Arial" pitchFamily="34" charset="-122"/>
                <a:cs typeface="Arial" pitchFamily="34" charset="-120"/>
              </a:rPr>
              <a:t>ENTERPRISE</a:t>
            </a:r>
            <a:endParaRPr lang="en-US" sz="1000" dirty="0"/>
          </a:p>
        </p:txBody>
      </p:sp>
      <p:sp>
        <p:nvSpPr>
          <p:cNvPr id="13" name="Shape 11"/>
          <p:cNvSpPr/>
          <p:nvPr/>
        </p:nvSpPr>
        <p:spPr>
          <a:xfrm>
            <a:off x="7040880" y="1737360"/>
            <a:ext cx="1645920" cy="457200"/>
          </a:xfrm>
          <a:prstGeom prst="rect">
            <a:avLst/>
          </a:prstGeom>
          <a:solidFill>
            <a:srgbClr val="F6693D"/>
          </a:solidFill>
          <a:ln w="12700">
            <a:solidFill>
              <a:srgbClr val="F6693D"/>
            </a:solidFill>
            <a:prstDash val="solid"/>
          </a:ln>
        </p:spPr>
      </p:sp>
      <p:sp>
        <p:nvSpPr>
          <p:cNvPr id="14" name="Text 12"/>
          <p:cNvSpPr/>
          <p:nvPr/>
        </p:nvSpPr>
        <p:spPr>
          <a:xfrm>
            <a:off x="7040880" y="1737360"/>
            <a:ext cx="1645920" cy="457200"/>
          </a:xfrm>
          <a:prstGeom prst="rect">
            <a:avLst/>
          </a:prstGeom>
          <a:noFill/>
          <a:ln/>
        </p:spPr>
        <p:txBody>
          <a:bodyPr wrap="square" lIns="0" tIns="0" rIns="0" bIns="0" rtlCol="0" anchor="ctr"/>
          <a:lstStyle/>
          <a:p>
            <a:pPr algn="ctr" indent="0" marL="0">
              <a:buNone/>
            </a:pPr>
            <a:r>
              <a:rPr lang="en-US" sz="1000" b="1" spc="200" kern="0" dirty="0">
                <a:solidFill>
                  <a:srgbClr val="FFFFFF"/>
                </a:solidFill>
                <a:latin typeface="Arial" pitchFamily="34" charset="0"/>
                <a:ea typeface="Arial" pitchFamily="34" charset="-122"/>
                <a:cs typeface="Arial" pitchFamily="34" charset="-120"/>
              </a:rPr>
              <a:t>CONSUMER + EDGE</a:t>
            </a:r>
            <a:endParaRPr lang="en-US" sz="1000" dirty="0"/>
          </a:p>
        </p:txBody>
      </p:sp>
      <p:sp>
        <p:nvSpPr>
          <p:cNvPr id="15" name="Text 13"/>
          <p:cNvSpPr/>
          <p:nvPr/>
        </p:nvSpPr>
        <p:spPr>
          <a:xfrm>
            <a:off x="457200" y="2212848"/>
            <a:ext cx="8229600" cy="182880"/>
          </a:xfrm>
          <a:prstGeom prst="rect">
            <a:avLst/>
          </a:prstGeom>
          <a:noFill/>
          <a:ln/>
        </p:spPr>
        <p:txBody>
          <a:bodyPr wrap="square" lIns="0" tIns="0" rIns="0" bIns="0" rtlCol="0" anchor="ctr"/>
          <a:lstStyle/>
          <a:p>
            <a:pPr algn="r" indent="0" marL="0">
              <a:buNone/>
            </a:pPr>
            <a:r>
              <a:rPr lang="en-US" sz="850" i="1" dirty="0">
                <a:solidFill>
                  <a:srgbClr val="666666"/>
                </a:solidFill>
                <a:latin typeface="Arial" pitchFamily="34" charset="0"/>
                <a:ea typeface="Arial" pitchFamily="34" charset="-122"/>
                <a:cs typeface="Arial" pitchFamily="34" charset="-120"/>
              </a:rPr>
              <a:t>Estimated share of advanced-AI chip demand, 2026E</a:t>
            </a:r>
            <a:endParaRPr lang="en-US" sz="850" dirty="0"/>
          </a:p>
        </p:txBody>
      </p:sp>
      <p:sp>
        <p:nvSpPr>
          <p:cNvPr id="16" name="Shape 14"/>
          <p:cNvSpPr/>
          <p:nvPr/>
        </p:nvSpPr>
        <p:spPr>
          <a:xfrm>
            <a:off x="457200" y="2560320"/>
            <a:ext cx="1988820" cy="2606040"/>
          </a:xfrm>
          <a:prstGeom prst="rect">
            <a:avLst/>
          </a:prstGeom>
          <a:solidFill>
            <a:srgbClr val="F9F9F9"/>
          </a:solidFill>
          <a:ln w="6350">
            <a:solidFill>
              <a:srgbClr val="E5E5E5"/>
            </a:solidFill>
            <a:prstDash val="solid"/>
          </a:ln>
        </p:spPr>
      </p:sp>
      <p:sp>
        <p:nvSpPr>
          <p:cNvPr id="17" name="Shape 15"/>
          <p:cNvSpPr/>
          <p:nvPr/>
        </p:nvSpPr>
        <p:spPr>
          <a:xfrm>
            <a:off x="457200" y="2560320"/>
            <a:ext cx="1988820" cy="292608"/>
          </a:xfrm>
          <a:prstGeom prst="rect">
            <a:avLst/>
          </a:prstGeom>
          <a:solidFill>
            <a:srgbClr val="FFB800"/>
          </a:solidFill>
          <a:ln w="12700">
            <a:solidFill>
              <a:srgbClr val="FFB800"/>
            </a:solidFill>
            <a:prstDash val="solid"/>
          </a:ln>
        </p:spPr>
      </p:sp>
      <p:sp>
        <p:nvSpPr>
          <p:cNvPr id="18" name="Text 16"/>
          <p:cNvSpPr/>
          <p:nvPr/>
        </p:nvSpPr>
        <p:spPr>
          <a:xfrm>
            <a:off x="457200" y="2560320"/>
            <a:ext cx="1988820" cy="292608"/>
          </a:xfrm>
          <a:prstGeom prst="rect">
            <a:avLst/>
          </a:prstGeom>
          <a:noFill/>
          <a:ln/>
        </p:spPr>
        <p:txBody>
          <a:bodyPr wrap="square" lIns="0" tIns="0" rIns="0" bIns="0" rtlCol="0" anchor="ctr"/>
          <a:lstStyle/>
          <a:p>
            <a:pPr algn="ctr" indent="0" marL="0">
              <a:buNone/>
            </a:pPr>
            <a:r>
              <a:rPr lang="en-US" sz="950" b="1" spc="200" kern="0" dirty="0">
                <a:solidFill>
                  <a:srgbClr val="000000"/>
                </a:solidFill>
                <a:latin typeface="Arial" pitchFamily="34" charset="0"/>
                <a:ea typeface="Arial" pitchFamily="34" charset="-122"/>
                <a:cs typeface="Arial" pitchFamily="34" charset="-120"/>
              </a:rPr>
              <a:t>HYPERSCALERS</a:t>
            </a:r>
            <a:endParaRPr lang="en-US" sz="950" dirty="0"/>
          </a:p>
        </p:txBody>
      </p:sp>
      <p:sp>
        <p:nvSpPr>
          <p:cNvPr id="19" name="Text 17"/>
          <p:cNvSpPr/>
          <p:nvPr/>
        </p:nvSpPr>
        <p:spPr>
          <a:xfrm>
            <a:off x="585216" y="2944368"/>
            <a:ext cx="1732788" cy="1371600"/>
          </a:xfrm>
          <a:prstGeom prst="rect">
            <a:avLst/>
          </a:prstGeom>
          <a:noFill/>
          <a:ln/>
        </p:spPr>
        <p:txBody>
          <a:bodyPr wrap="square" lIns="0" tIns="0" rIns="0" bIns="0" rtlCol="0" anchor="t"/>
          <a:lstStyle/>
          <a:p>
            <a:pPr indent="0" marL="0">
              <a:buNone/>
            </a:pPr>
            <a:r>
              <a:rPr lang="en-US" sz="1000" dirty="0">
                <a:solidFill>
                  <a:srgbClr val="333333"/>
                </a:solidFill>
                <a:latin typeface="Arial" pitchFamily="34" charset="0"/>
                <a:ea typeface="Arial" pitchFamily="34" charset="-122"/>
                <a:cs typeface="Arial" pitchFamily="34" charset="-120"/>
              </a:rPr>
              <a:t>Training frontier models and renting compute to everyone else.</a:t>
            </a:r>
            <a:endParaRPr lang="en-US" sz="1000" dirty="0"/>
          </a:p>
        </p:txBody>
      </p:sp>
      <p:sp>
        <p:nvSpPr>
          <p:cNvPr id="20" name="Shape 18"/>
          <p:cNvSpPr/>
          <p:nvPr/>
        </p:nvSpPr>
        <p:spPr>
          <a:xfrm>
            <a:off x="640080" y="4434840"/>
            <a:ext cx="1623060" cy="0"/>
          </a:xfrm>
          <a:prstGeom prst="line">
            <a:avLst/>
          </a:prstGeom>
          <a:noFill/>
          <a:ln w="6350">
            <a:solidFill>
              <a:srgbClr val="E5E5E5"/>
            </a:solidFill>
            <a:prstDash val="solid"/>
          </a:ln>
        </p:spPr>
      </p:sp>
      <p:sp>
        <p:nvSpPr>
          <p:cNvPr id="21" name="Text 19"/>
          <p:cNvSpPr/>
          <p:nvPr/>
        </p:nvSpPr>
        <p:spPr>
          <a:xfrm>
            <a:off x="585216" y="4507992"/>
            <a:ext cx="1732788" cy="201168"/>
          </a:xfrm>
          <a:prstGeom prst="rect">
            <a:avLst/>
          </a:prstGeom>
          <a:noFill/>
          <a:ln/>
        </p:spPr>
        <p:txBody>
          <a:bodyPr wrap="square" lIns="0" tIns="0" rIns="0" bIns="0" rtlCol="0" anchor="t"/>
          <a:lstStyle/>
          <a:p>
            <a:pPr indent="0" marL="0">
              <a:buNone/>
            </a:pPr>
            <a:r>
              <a:rPr lang="en-US" sz="750" b="1" spc="200" kern="0" dirty="0">
                <a:solidFill>
                  <a:srgbClr val="666666"/>
                </a:solidFill>
                <a:latin typeface="Arial" pitchFamily="34" charset="0"/>
                <a:ea typeface="Arial" pitchFamily="34" charset="-122"/>
                <a:cs typeface="Arial" pitchFamily="34" charset="-120"/>
              </a:rPr>
              <a:t>TOP BUYERS</a:t>
            </a:r>
            <a:endParaRPr lang="en-US" sz="750" dirty="0"/>
          </a:p>
        </p:txBody>
      </p:sp>
      <p:sp>
        <p:nvSpPr>
          <p:cNvPr id="22" name="Text 20"/>
          <p:cNvSpPr/>
          <p:nvPr/>
        </p:nvSpPr>
        <p:spPr>
          <a:xfrm>
            <a:off x="585216" y="4727448"/>
            <a:ext cx="1732788" cy="384048"/>
          </a:xfrm>
          <a:prstGeom prst="rect">
            <a:avLst/>
          </a:prstGeom>
          <a:noFill/>
          <a:ln/>
        </p:spPr>
        <p:txBody>
          <a:bodyPr wrap="square" lIns="0" tIns="0" rIns="0" bIns="0" rtlCol="0" anchor="t"/>
          <a:lstStyle/>
          <a:p>
            <a:pPr indent="0" marL="0">
              <a:buNone/>
            </a:pPr>
            <a:r>
              <a:rPr lang="en-US" sz="900" b="1" dirty="0">
                <a:solidFill>
                  <a:srgbClr val="000000"/>
                </a:solidFill>
                <a:latin typeface="Arial" pitchFamily="34" charset="0"/>
                <a:ea typeface="Arial" pitchFamily="34" charset="-122"/>
                <a:cs typeface="Arial" pitchFamily="34" charset="-120"/>
              </a:rPr>
              <a:t>AWS · Azure · Google · Meta · Oracle</a:t>
            </a:r>
            <a:endParaRPr lang="en-US" sz="900" dirty="0"/>
          </a:p>
        </p:txBody>
      </p:sp>
      <p:sp>
        <p:nvSpPr>
          <p:cNvPr id="23" name="Shape 21"/>
          <p:cNvSpPr/>
          <p:nvPr/>
        </p:nvSpPr>
        <p:spPr>
          <a:xfrm>
            <a:off x="2537460" y="2560320"/>
            <a:ext cx="1988820" cy="2606040"/>
          </a:xfrm>
          <a:prstGeom prst="rect">
            <a:avLst/>
          </a:prstGeom>
          <a:solidFill>
            <a:srgbClr val="F9F9F9"/>
          </a:solidFill>
          <a:ln w="6350">
            <a:solidFill>
              <a:srgbClr val="E5E5E5"/>
            </a:solidFill>
            <a:prstDash val="solid"/>
          </a:ln>
        </p:spPr>
      </p:sp>
      <p:sp>
        <p:nvSpPr>
          <p:cNvPr id="24" name="Shape 22"/>
          <p:cNvSpPr/>
          <p:nvPr/>
        </p:nvSpPr>
        <p:spPr>
          <a:xfrm>
            <a:off x="2537460" y="2560320"/>
            <a:ext cx="1988820" cy="292608"/>
          </a:xfrm>
          <a:prstGeom prst="rect">
            <a:avLst/>
          </a:prstGeom>
          <a:solidFill>
            <a:srgbClr val="008B8B"/>
          </a:solidFill>
          <a:ln w="12700">
            <a:solidFill>
              <a:srgbClr val="008B8B"/>
            </a:solidFill>
            <a:prstDash val="solid"/>
          </a:ln>
        </p:spPr>
      </p:sp>
      <p:sp>
        <p:nvSpPr>
          <p:cNvPr id="25" name="Text 23"/>
          <p:cNvSpPr/>
          <p:nvPr/>
        </p:nvSpPr>
        <p:spPr>
          <a:xfrm>
            <a:off x="2537460" y="2560320"/>
            <a:ext cx="1988820" cy="292608"/>
          </a:xfrm>
          <a:prstGeom prst="rect">
            <a:avLst/>
          </a:prstGeom>
          <a:noFill/>
          <a:ln/>
        </p:spPr>
        <p:txBody>
          <a:bodyPr wrap="square" lIns="0" tIns="0" rIns="0" bIns="0" rtlCol="0" anchor="ctr"/>
          <a:lstStyle/>
          <a:p>
            <a:pPr algn="ctr" indent="0" marL="0">
              <a:buNone/>
            </a:pPr>
            <a:r>
              <a:rPr lang="en-US" sz="950" b="1" spc="200" kern="0" dirty="0">
                <a:solidFill>
                  <a:srgbClr val="FFFFFF"/>
                </a:solidFill>
                <a:latin typeface="Arial" pitchFamily="34" charset="0"/>
                <a:ea typeface="Arial" pitchFamily="34" charset="-122"/>
                <a:cs typeface="Arial" pitchFamily="34" charset="-120"/>
              </a:rPr>
              <a:t>SOVEREIGNS</a:t>
            </a:r>
            <a:endParaRPr lang="en-US" sz="950" dirty="0"/>
          </a:p>
        </p:txBody>
      </p:sp>
      <p:sp>
        <p:nvSpPr>
          <p:cNvPr id="26" name="Text 24"/>
          <p:cNvSpPr/>
          <p:nvPr/>
        </p:nvSpPr>
        <p:spPr>
          <a:xfrm>
            <a:off x="2665476" y="2944368"/>
            <a:ext cx="1732788" cy="1371600"/>
          </a:xfrm>
          <a:prstGeom prst="rect">
            <a:avLst/>
          </a:prstGeom>
          <a:noFill/>
          <a:ln/>
        </p:spPr>
        <p:txBody>
          <a:bodyPr wrap="square" lIns="0" tIns="0" rIns="0" bIns="0" rtlCol="0" anchor="t"/>
          <a:lstStyle/>
          <a:p>
            <a:pPr indent="0" marL="0">
              <a:buNone/>
            </a:pPr>
            <a:r>
              <a:rPr lang="en-US" sz="1000" dirty="0">
                <a:solidFill>
                  <a:srgbClr val="333333"/>
                </a:solidFill>
                <a:latin typeface="Arial" pitchFamily="34" charset="0"/>
                <a:ea typeface="Arial" pitchFamily="34" charset="-122"/>
                <a:cs typeface="Arial" pitchFamily="34" charset="-120"/>
              </a:rPr>
              <a:t>National AI programs building sovereign access to frontier compute.</a:t>
            </a:r>
            <a:endParaRPr lang="en-US" sz="1000" dirty="0"/>
          </a:p>
        </p:txBody>
      </p:sp>
      <p:sp>
        <p:nvSpPr>
          <p:cNvPr id="27" name="Shape 25"/>
          <p:cNvSpPr/>
          <p:nvPr/>
        </p:nvSpPr>
        <p:spPr>
          <a:xfrm>
            <a:off x="2720340" y="4434840"/>
            <a:ext cx="1623060" cy="0"/>
          </a:xfrm>
          <a:prstGeom prst="line">
            <a:avLst/>
          </a:prstGeom>
          <a:noFill/>
          <a:ln w="6350">
            <a:solidFill>
              <a:srgbClr val="E5E5E5"/>
            </a:solidFill>
            <a:prstDash val="solid"/>
          </a:ln>
        </p:spPr>
      </p:sp>
      <p:sp>
        <p:nvSpPr>
          <p:cNvPr id="28" name="Text 26"/>
          <p:cNvSpPr/>
          <p:nvPr/>
        </p:nvSpPr>
        <p:spPr>
          <a:xfrm>
            <a:off x="2665476" y="4507992"/>
            <a:ext cx="1732788" cy="201168"/>
          </a:xfrm>
          <a:prstGeom prst="rect">
            <a:avLst/>
          </a:prstGeom>
          <a:noFill/>
          <a:ln/>
        </p:spPr>
        <p:txBody>
          <a:bodyPr wrap="square" lIns="0" tIns="0" rIns="0" bIns="0" rtlCol="0" anchor="t"/>
          <a:lstStyle/>
          <a:p>
            <a:pPr indent="0" marL="0">
              <a:buNone/>
            </a:pPr>
            <a:r>
              <a:rPr lang="en-US" sz="750" b="1" spc="200" kern="0" dirty="0">
                <a:solidFill>
                  <a:srgbClr val="666666"/>
                </a:solidFill>
                <a:latin typeface="Arial" pitchFamily="34" charset="0"/>
                <a:ea typeface="Arial" pitchFamily="34" charset="-122"/>
                <a:cs typeface="Arial" pitchFamily="34" charset="-120"/>
              </a:rPr>
              <a:t>TOP BUYERS</a:t>
            </a:r>
            <a:endParaRPr lang="en-US" sz="750" dirty="0"/>
          </a:p>
        </p:txBody>
      </p:sp>
      <p:sp>
        <p:nvSpPr>
          <p:cNvPr id="29" name="Text 27"/>
          <p:cNvSpPr/>
          <p:nvPr/>
        </p:nvSpPr>
        <p:spPr>
          <a:xfrm>
            <a:off x="2665476" y="4727448"/>
            <a:ext cx="1732788" cy="384048"/>
          </a:xfrm>
          <a:prstGeom prst="rect">
            <a:avLst/>
          </a:prstGeom>
          <a:noFill/>
          <a:ln/>
        </p:spPr>
        <p:txBody>
          <a:bodyPr wrap="square" lIns="0" tIns="0" rIns="0" bIns="0" rtlCol="0" anchor="t"/>
          <a:lstStyle/>
          <a:p>
            <a:pPr indent="0" marL="0">
              <a:buNone/>
            </a:pPr>
            <a:r>
              <a:rPr lang="en-US" sz="900" b="1" dirty="0">
                <a:solidFill>
                  <a:srgbClr val="000000"/>
                </a:solidFill>
                <a:latin typeface="Arial" pitchFamily="34" charset="0"/>
                <a:ea typeface="Arial" pitchFamily="34" charset="-122"/>
                <a:cs typeface="Arial" pitchFamily="34" charset="-120"/>
              </a:rPr>
              <a:t>UAE G42 · Saudi HUMAIN · UK AIRR · Japan METI</a:t>
            </a:r>
            <a:endParaRPr lang="en-US" sz="900" dirty="0"/>
          </a:p>
        </p:txBody>
      </p:sp>
      <p:sp>
        <p:nvSpPr>
          <p:cNvPr id="30" name="Shape 28"/>
          <p:cNvSpPr/>
          <p:nvPr/>
        </p:nvSpPr>
        <p:spPr>
          <a:xfrm>
            <a:off x="4617720" y="2560320"/>
            <a:ext cx="1988820" cy="2606040"/>
          </a:xfrm>
          <a:prstGeom prst="rect">
            <a:avLst/>
          </a:prstGeom>
          <a:solidFill>
            <a:srgbClr val="F9F9F9"/>
          </a:solidFill>
          <a:ln w="6350">
            <a:solidFill>
              <a:srgbClr val="E5E5E5"/>
            </a:solidFill>
            <a:prstDash val="solid"/>
          </a:ln>
        </p:spPr>
      </p:sp>
      <p:sp>
        <p:nvSpPr>
          <p:cNvPr id="31" name="Shape 29"/>
          <p:cNvSpPr/>
          <p:nvPr/>
        </p:nvSpPr>
        <p:spPr>
          <a:xfrm>
            <a:off x="4617720" y="2560320"/>
            <a:ext cx="1988820" cy="292608"/>
          </a:xfrm>
          <a:prstGeom prst="rect">
            <a:avLst/>
          </a:prstGeom>
          <a:solidFill>
            <a:srgbClr val="666666"/>
          </a:solidFill>
          <a:ln w="12700">
            <a:solidFill>
              <a:srgbClr val="666666"/>
            </a:solidFill>
            <a:prstDash val="solid"/>
          </a:ln>
        </p:spPr>
      </p:sp>
      <p:sp>
        <p:nvSpPr>
          <p:cNvPr id="32" name="Text 30"/>
          <p:cNvSpPr/>
          <p:nvPr/>
        </p:nvSpPr>
        <p:spPr>
          <a:xfrm>
            <a:off x="4617720" y="2560320"/>
            <a:ext cx="1988820" cy="292608"/>
          </a:xfrm>
          <a:prstGeom prst="rect">
            <a:avLst/>
          </a:prstGeom>
          <a:noFill/>
          <a:ln/>
        </p:spPr>
        <p:txBody>
          <a:bodyPr wrap="square" lIns="0" tIns="0" rIns="0" bIns="0" rtlCol="0" anchor="ctr"/>
          <a:lstStyle/>
          <a:p>
            <a:pPr algn="ctr" indent="0" marL="0">
              <a:buNone/>
            </a:pPr>
            <a:r>
              <a:rPr lang="en-US" sz="950" b="1" spc="200" kern="0" dirty="0">
                <a:solidFill>
                  <a:srgbClr val="FFFFFF"/>
                </a:solidFill>
                <a:latin typeface="Arial" pitchFamily="34" charset="0"/>
                <a:ea typeface="Arial" pitchFamily="34" charset="-122"/>
                <a:cs typeface="Arial" pitchFamily="34" charset="-120"/>
              </a:rPr>
              <a:t>ENTERPRISE</a:t>
            </a:r>
            <a:endParaRPr lang="en-US" sz="950" dirty="0"/>
          </a:p>
        </p:txBody>
      </p:sp>
      <p:sp>
        <p:nvSpPr>
          <p:cNvPr id="33" name="Text 31"/>
          <p:cNvSpPr/>
          <p:nvPr/>
        </p:nvSpPr>
        <p:spPr>
          <a:xfrm>
            <a:off x="4745736" y="2944368"/>
            <a:ext cx="1732788" cy="1371600"/>
          </a:xfrm>
          <a:prstGeom prst="rect">
            <a:avLst/>
          </a:prstGeom>
          <a:noFill/>
          <a:ln/>
        </p:spPr>
        <p:txBody>
          <a:bodyPr wrap="square" lIns="0" tIns="0" rIns="0" bIns="0" rtlCol="0" anchor="t"/>
          <a:lstStyle/>
          <a:p>
            <a:pPr indent="0" marL="0">
              <a:buNone/>
            </a:pPr>
            <a:r>
              <a:rPr lang="en-US" sz="1000" dirty="0">
                <a:solidFill>
                  <a:srgbClr val="333333"/>
                </a:solidFill>
                <a:latin typeface="Arial" pitchFamily="34" charset="0"/>
                <a:ea typeface="Arial" pitchFamily="34" charset="-122"/>
                <a:cs typeface="Arial" pitchFamily="34" charset="-120"/>
              </a:rPr>
              <a:t>Banks, pharma, and Fortune 500s deploying on-prem for regulated data.</a:t>
            </a:r>
            <a:endParaRPr lang="en-US" sz="1000" dirty="0"/>
          </a:p>
        </p:txBody>
      </p:sp>
      <p:sp>
        <p:nvSpPr>
          <p:cNvPr id="34" name="Shape 32"/>
          <p:cNvSpPr/>
          <p:nvPr/>
        </p:nvSpPr>
        <p:spPr>
          <a:xfrm>
            <a:off x="4800600" y="4434840"/>
            <a:ext cx="1623060" cy="0"/>
          </a:xfrm>
          <a:prstGeom prst="line">
            <a:avLst/>
          </a:prstGeom>
          <a:noFill/>
          <a:ln w="6350">
            <a:solidFill>
              <a:srgbClr val="E5E5E5"/>
            </a:solidFill>
            <a:prstDash val="solid"/>
          </a:ln>
        </p:spPr>
      </p:sp>
      <p:sp>
        <p:nvSpPr>
          <p:cNvPr id="35" name="Text 33"/>
          <p:cNvSpPr/>
          <p:nvPr/>
        </p:nvSpPr>
        <p:spPr>
          <a:xfrm>
            <a:off x="4745736" y="4507992"/>
            <a:ext cx="1732788" cy="201168"/>
          </a:xfrm>
          <a:prstGeom prst="rect">
            <a:avLst/>
          </a:prstGeom>
          <a:noFill/>
          <a:ln/>
        </p:spPr>
        <p:txBody>
          <a:bodyPr wrap="square" lIns="0" tIns="0" rIns="0" bIns="0" rtlCol="0" anchor="t"/>
          <a:lstStyle/>
          <a:p>
            <a:pPr indent="0" marL="0">
              <a:buNone/>
            </a:pPr>
            <a:r>
              <a:rPr lang="en-US" sz="750" b="1" spc="200" kern="0" dirty="0">
                <a:solidFill>
                  <a:srgbClr val="666666"/>
                </a:solidFill>
                <a:latin typeface="Arial" pitchFamily="34" charset="0"/>
                <a:ea typeface="Arial" pitchFamily="34" charset="-122"/>
                <a:cs typeface="Arial" pitchFamily="34" charset="-120"/>
              </a:rPr>
              <a:t>TOP BUYERS</a:t>
            </a:r>
            <a:endParaRPr lang="en-US" sz="750" dirty="0"/>
          </a:p>
        </p:txBody>
      </p:sp>
      <p:sp>
        <p:nvSpPr>
          <p:cNvPr id="36" name="Text 34"/>
          <p:cNvSpPr/>
          <p:nvPr/>
        </p:nvSpPr>
        <p:spPr>
          <a:xfrm>
            <a:off x="4745736" y="4727448"/>
            <a:ext cx="1732788" cy="384048"/>
          </a:xfrm>
          <a:prstGeom prst="rect">
            <a:avLst/>
          </a:prstGeom>
          <a:noFill/>
          <a:ln/>
        </p:spPr>
        <p:txBody>
          <a:bodyPr wrap="square" lIns="0" tIns="0" rIns="0" bIns="0" rtlCol="0" anchor="t"/>
          <a:lstStyle/>
          <a:p>
            <a:pPr indent="0" marL="0">
              <a:buNone/>
            </a:pPr>
            <a:r>
              <a:rPr lang="en-US" sz="900" b="1" dirty="0">
                <a:solidFill>
                  <a:srgbClr val="000000"/>
                </a:solidFill>
                <a:latin typeface="Arial" pitchFamily="34" charset="0"/>
                <a:ea typeface="Arial" pitchFamily="34" charset="-122"/>
                <a:cs typeface="Arial" pitchFamily="34" charset="-120"/>
              </a:rPr>
              <a:t>JPMorgan · Novartis · Walmart</a:t>
            </a:r>
            <a:endParaRPr lang="en-US" sz="900" dirty="0"/>
          </a:p>
        </p:txBody>
      </p:sp>
      <p:sp>
        <p:nvSpPr>
          <p:cNvPr id="37" name="Shape 35"/>
          <p:cNvSpPr/>
          <p:nvPr/>
        </p:nvSpPr>
        <p:spPr>
          <a:xfrm>
            <a:off x="6697980" y="2560320"/>
            <a:ext cx="1988820" cy="2606040"/>
          </a:xfrm>
          <a:prstGeom prst="rect">
            <a:avLst/>
          </a:prstGeom>
          <a:solidFill>
            <a:srgbClr val="F9F9F9"/>
          </a:solidFill>
          <a:ln w="6350">
            <a:solidFill>
              <a:srgbClr val="E5E5E5"/>
            </a:solidFill>
            <a:prstDash val="solid"/>
          </a:ln>
        </p:spPr>
      </p:sp>
      <p:sp>
        <p:nvSpPr>
          <p:cNvPr id="38" name="Shape 36"/>
          <p:cNvSpPr/>
          <p:nvPr/>
        </p:nvSpPr>
        <p:spPr>
          <a:xfrm>
            <a:off x="6697980" y="2560320"/>
            <a:ext cx="1988820" cy="292608"/>
          </a:xfrm>
          <a:prstGeom prst="rect">
            <a:avLst/>
          </a:prstGeom>
          <a:solidFill>
            <a:srgbClr val="F6693D"/>
          </a:solidFill>
          <a:ln w="12700">
            <a:solidFill>
              <a:srgbClr val="F6693D"/>
            </a:solidFill>
            <a:prstDash val="solid"/>
          </a:ln>
        </p:spPr>
      </p:sp>
      <p:sp>
        <p:nvSpPr>
          <p:cNvPr id="39" name="Text 37"/>
          <p:cNvSpPr/>
          <p:nvPr/>
        </p:nvSpPr>
        <p:spPr>
          <a:xfrm>
            <a:off x="6697980" y="2560320"/>
            <a:ext cx="1988820" cy="292608"/>
          </a:xfrm>
          <a:prstGeom prst="rect">
            <a:avLst/>
          </a:prstGeom>
          <a:noFill/>
          <a:ln/>
        </p:spPr>
        <p:txBody>
          <a:bodyPr wrap="square" lIns="0" tIns="0" rIns="0" bIns="0" rtlCol="0" anchor="ctr"/>
          <a:lstStyle/>
          <a:p>
            <a:pPr algn="ctr" indent="0" marL="0">
              <a:buNone/>
            </a:pPr>
            <a:r>
              <a:rPr lang="en-US" sz="950" b="1" spc="200" kern="0" dirty="0">
                <a:solidFill>
                  <a:srgbClr val="FFFFFF"/>
                </a:solidFill>
                <a:latin typeface="Arial" pitchFamily="34" charset="0"/>
                <a:ea typeface="Arial" pitchFamily="34" charset="-122"/>
                <a:cs typeface="Arial" pitchFamily="34" charset="-120"/>
              </a:rPr>
              <a:t>CONSUMER + EDGE</a:t>
            </a:r>
            <a:endParaRPr lang="en-US" sz="950" dirty="0"/>
          </a:p>
        </p:txBody>
      </p:sp>
      <p:sp>
        <p:nvSpPr>
          <p:cNvPr id="40" name="Text 38"/>
          <p:cNvSpPr/>
          <p:nvPr/>
        </p:nvSpPr>
        <p:spPr>
          <a:xfrm>
            <a:off x="6825996" y="2944368"/>
            <a:ext cx="1732788" cy="1371600"/>
          </a:xfrm>
          <a:prstGeom prst="rect">
            <a:avLst/>
          </a:prstGeom>
          <a:noFill/>
          <a:ln/>
        </p:spPr>
        <p:txBody>
          <a:bodyPr wrap="square" lIns="0" tIns="0" rIns="0" bIns="0" rtlCol="0" anchor="t"/>
          <a:lstStyle/>
          <a:p>
            <a:pPr indent="0" marL="0">
              <a:buNone/>
            </a:pPr>
            <a:r>
              <a:rPr lang="en-US" sz="1000" dirty="0">
                <a:solidFill>
                  <a:srgbClr val="333333"/>
                </a:solidFill>
                <a:latin typeface="Arial" pitchFamily="34" charset="0"/>
                <a:ea typeface="Arial" pitchFamily="34" charset="-122"/>
                <a:cs typeface="Arial" pitchFamily="34" charset="-120"/>
              </a:rPr>
              <a:t>AI inference moves into phones, PCs, cars, and factory robots.</a:t>
            </a:r>
            <a:endParaRPr lang="en-US" sz="1000" dirty="0"/>
          </a:p>
        </p:txBody>
      </p:sp>
      <p:sp>
        <p:nvSpPr>
          <p:cNvPr id="41" name="Shape 39"/>
          <p:cNvSpPr/>
          <p:nvPr/>
        </p:nvSpPr>
        <p:spPr>
          <a:xfrm>
            <a:off x="6880860" y="4434840"/>
            <a:ext cx="1623060" cy="0"/>
          </a:xfrm>
          <a:prstGeom prst="line">
            <a:avLst/>
          </a:prstGeom>
          <a:noFill/>
          <a:ln w="6350">
            <a:solidFill>
              <a:srgbClr val="E5E5E5"/>
            </a:solidFill>
            <a:prstDash val="solid"/>
          </a:ln>
        </p:spPr>
      </p:sp>
      <p:sp>
        <p:nvSpPr>
          <p:cNvPr id="42" name="Text 40"/>
          <p:cNvSpPr/>
          <p:nvPr/>
        </p:nvSpPr>
        <p:spPr>
          <a:xfrm>
            <a:off x="6825996" y="4507992"/>
            <a:ext cx="1732788" cy="201168"/>
          </a:xfrm>
          <a:prstGeom prst="rect">
            <a:avLst/>
          </a:prstGeom>
          <a:noFill/>
          <a:ln/>
        </p:spPr>
        <p:txBody>
          <a:bodyPr wrap="square" lIns="0" tIns="0" rIns="0" bIns="0" rtlCol="0" anchor="t"/>
          <a:lstStyle/>
          <a:p>
            <a:pPr indent="0" marL="0">
              <a:buNone/>
            </a:pPr>
            <a:r>
              <a:rPr lang="en-US" sz="750" b="1" spc="200" kern="0" dirty="0">
                <a:solidFill>
                  <a:srgbClr val="666666"/>
                </a:solidFill>
                <a:latin typeface="Arial" pitchFamily="34" charset="0"/>
                <a:ea typeface="Arial" pitchFamily="34" charset="-122"/>
                <a:cs typeface="Arial" pitchFamily="34" charset="-120"/>
              </a:rPr>
              <a:t>TOP BUYERS</a:t>
            </a:r>
            <a:endParaRPr lang="en-US" sz="750" dirty="0"/>
          </a:p>
        </p:txBody>
      </p:sp>
      <p:sp>
        <p:nvSpPr>
          <p:cNvPr id="43" name="Text 41"/>
          <p:cNvSpPr/>
          <p:nvPr/>
        </p:nvSpPr>
        <p:spPr>
          <a:xfrm>
            <a:off x="6825996" y="4727448"/>
            <a:ext cx="1732788" cy="384048"/>
          </a:xfrm>
          <a:prstGeom prst="rect">
            <a:avLst/>
          </a:prstGeom>
          <a:noFill/>
          <a:ln/>
        </p:spPr>
        <p:txBody>
          <a:bodyPr wrap="square" lIns="0" tIns="0" rIns="0" bIns="0" rtlCol="0" anchor="t"/>
          <a:lstStyle/>
          <a:p>
            <a:pPr indent="0" marL="0">
              <a:buNone/>
            </a:pPr>
            <a:r>
              <a:rPr lang="en-US" sz="900" b="1" dirty="0">
                <a:solidFill>
                  <a:srgbClr val="000000"/>
                </a:solidFill>
                <a:latin typeface="Arial" pitchFamily="34" charset="0"/>
                <a:ea typeface="Arial" pitchFamily="34" charset="-122"/>
                <a:cs typeface="Arial" pitchFamily="34" charset="-120"/>
              </a:rPr>
              <a:t>Apple · Samsung · Tesla · humanoid OEMs</a:t>
            </a:r>
            <a:endParaRPr lang="en-US" sz="900" dirty="0"/>
          </a:p>
        </p:txBody>
      </p:sp>
      <p:sp>
        <p:nvSpPr>
          <p:cNvPr id="44" name="Shape 42"/>
          <p:cNvSpPr/>
          <p:nvPr/>
        </p:nvSpPr>
        <p:spPr>
          <a:xfrm>
            <a:off x="457200" y="5257800"/>
            <a:ext cx="8229600" cy="411480"/>
          </a:xfrm>
          <a:prstGeom prst="rect">
            <a:avLst/>
          </a:prstGeom>
          <a:solidFill>
            <a:srgbClr val="FFD100"/>
          </a:solidFill>
          <a:ln w="12700">
            <a:solidFill>
              <a:srgbClr val="FFD100"/>
            </a:solidFill>
            <a:prstDash val="solid"/>
          </a:ln>
        </p:spPr>
      </p:sp>
      <p:sp>
        <p:nvSpPr>
          <p:cNvPr id="45" name="Text 43"/>
          <p:cNvSpPr/>
          <p:nvPr/>
        </p:nvSpPr>
        <p:spPr>
          <a:xfrm>
            <a:off x="640080" y="5257800"/>
            <a:ext cx="7863840" cy="411480"/>
          </a:xfrm>
          <a:prstGeom prst="rect">
            <a:avLst/>
          </a:prstGeom>
          <a:noFill/>
          <a:ln/>
        </p:spPr>
        <p:txBody>
          <a:bodyPr wrap="square" lIns="0" tIns="0" rIns="0" bIns="0" rtlCol="0" anchor="ctr"/>
          <a:lstStyle/>
          <a:p>
            <a:pPr indent="0" marL="0">
              <a:buNone/>
            </a:pPr>
            <a:r>
              <a:rPr lang="en-US" sz="1200" b="1" dirty="0">
                <a:solidFill>
                  <a:srgbClr val="000000"/>
                </a:solidFill>
                <a:latin typeface="Arial" pitchFamily="34" charset="0"/>
                <a:ea typeface="Arial" pitchFamily="34" charset="-122"/>
                <a:cs typeface="Arial" pitchFamily="34" charset="-120"/>
              </a:rPr>
              <a:t>Five buyers fund most of the AI compute cycle — their capex IS the market.</a:t>
            </a:r>
            <a:endParaRPr lang="en-US" sz="1200" dirty="0"/>
          </a:p>
        </p:txBody>
      </p:sp>
      <p:sp>
        <p:nvSpPr>
          <p:cNvPr id="46" name="Text 44"/>
          <p:cNvSpPr/>
          <p:nvPr/>
        </p:nvSpPr>
        <p:spPr>
          <a:xfrm>
            <a:off x="457200" y="5875020"/>
            <a:ext cx="8229600" cy="320040"/>
          </a:xfrm>
          <a:prstGeom prst="rect">
            <a:avLst/>
          </a:prstGeom>
          <a:noFill/>
          <a:ln/>
        </p:spPr>
        <p:txBody>
          <a:bodyPr wrap="square" lIns="0" tIns="0" rIns="0" bIns="0" rtlCol="0" anchor="t"/>
          <a:lstStyle/>
          <a:p>
            <a:pPr indent="0" marL="0">
              <a:buNone/>
            </a:pPr>
            <a:r>
              <a:rPr lang="en-US" sz="700" dirty="0">
                <a:solidFill>
                  <a:srgbClr val="999999"/>
                </a:solidFill>
                <a:latin typeface="Arial" pitchFamily="34" charset="0"/>
                <a:ea typeface="Arial" pitchFamily="34" charset="-122"/>
                <a:cs typeface="Arial" pitchFamily="34" charset="-120"/>
              </a:rPr>
              <a:t>Sources: SemiAnalysis and Omdia estimates of AI accelerator end-demand; TrendForce; hyperscaler 2026 capex guides (AWS, Microsoft, Google, Meta, Oracle); IDC. Shares are directional 2026E estimates.</a:t>
            </a:r>
            <a:endParaRPr lang="en-US" sz="700" dirty="0"/>
          </a:p>
        </p:txBody>
      </p:sp>
      <p:sp>
        <p:nvSpPr>
          <p:cNvPr id="47" name="Shape 45"/>
          <p:cNvSpPr/>
          <p:nvPr/>
        </p:nvSpPr>
        <p:spPr>
          <a:xfrm>
            <a:off x="0" y="6286500"/>
            <a:ext cx="9144000" cy="571500"/>
          </a:xfrm>
          <a:prstGeom prst="rect">
            <a:avLst/>
          </a:prstGeom>
          <a:solidFill>
            <a:srgbClr val="000000"/>
          </a:solidFill>
          <a:ln w="12700">
            <a:solidFill>
              <a:srgbClr val="000000"/>
            </a:solidFill>
            <a:prstDash val="solid"/>
          </a:ln>
        </p:spPr>
      </p:sp>
      <p:sp>
        <p:nvSpPr>
          <p:cNvPr id="48" name="Text 46"/>
          <p:cNvSpPr/>
          <p:nvPr/>
        </p:nvSpPr>
        <p:spPr>
          <a:xfrm>
            <a:off x="1371600" y="6332220"/>
            <a:ext cx="6400800" cy="45720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49" name="Text 47"/>
          <p:cNvSpPr/>
          <p:nvPr/>
        </p:nvSpPr>
        <p:spPr>
          <a:xfrm>
            <a:off x="8321040" y="6405372"/>
            <a:ext cx="548640" cy="27432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FFB800"/>
          </a:solidFill>
          <a:ln w="12700">
            <a:solidFill>
              <a:srgbClr val="FFB800"/>
            </a:solidFill>
            <a:prstDash val="solid"/>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1000" b="1" spc="100" kern="0" dirty="0">
                <a:solidFill>
                  <a:srgbClr val="000000"/>
                </a:solidFill>
                <a:latin typeface="Arial" pitchFamily="34" charset="0"/>
                <a:ea typeface="Arial" pitchFamily="34" charset="-122"/>
                <a:cs typeface="Arial" pitchFamily="34" charset="-120"/>
              </a:rPr>
              <a:t>MARKET</a:t>
            </a:r>
            <a:endParaRPr lang="en-US" sz="1000" dirty="0"/>
          </a:p>
        </p:txBody>
      </p:sp>
      <p:sp>
        <p:nvSpPr>
          <p:cNvPr id="4" name="Text 2"/>
          <p:cNvSpPr/>
          <p:nvPr/>
        </p:nvSpPr>
        <p:spPr>
          <a:xfrm>
            <a:off x="457200" y="182880"/>
            <a:ext cx="6583680" cy="685800"/>
          </a:xfrm>
          <a:prstGeom prst="rect">
            <a:avLst/>
          </a:prstGeom>
          <a:noFill/>
          <a:ln/>
        </p:spPr>
        <p:txBody>
          <a:bodyPr wrap="square" lIns="0" tIns="0" rIns="0" bIns="0" rtlCol="0" anchor="t"/>
          <a:lstStyle/>
          <a:p>
            <a:pPr indent="0" marL="0">
              <a:buNone/>
            </a:pPr>
            <a:r>
              <a:rPr lang="en-US" sz="2400" b="1" dirty="0">
                <a:solidFill>
                  <a:srgbClr val="000000"/>
                </a:solidFill>
                <a:latin typeface="Arial Black" pitchFamily="34" charset="0"/>
                <a:ea typeface="Arial Black" pitchFamily="34" charset="-122"/>
                <a:cs typeface="Arial Black" pitchFamily="34" charset="-120"/>
              </a:rPr>
              <a:t>Power is the new bottleneck.</a:t>
            </a:r>
            <a:endParaRPr lang="en-US" sz="2400" dirty="0"/>
          </a:p>
        </p:txBody>
      </p:sp>
      <p:sp>
        <p:nvSpPr>
          <p:cNvPr id="5" name="Text 3"/>
          <p:cNvSpPr/>
          <p:nvPr/>
        </p:nvSpPr>
        <p:spPr>
          <a:xfrm>
            <a:off x="457200" y="91440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A single hyperscale AI campus now draws as much electricity as a mid-sized city. The grid, not the chip, is starting to set the pace of buildouts.</a:t>
            </a:r>
            <a:endParaRPr lang="en-US" sz="1350" dirty="0"/>
          </a:p>
        </p:txBody>
      </p:sp>
      <p:sp>
        <p:nvSpPr>
          <p:cNvPr id="6" name="Shape 4"/>
          <p:cNvSpPr/>
          <p:nvPr/>
        </p:nvSpPr>
        <p:spPr>
          <a:xfrm>
            <a:off x="457200" y="1325880"/>
            <a:ext cx="8229600" cy="0"/>
          </a:xfrm>
          <a:prstGeom prst="line">
            <a:avLst/>
          </a:prstGeom>
          <a:noFill/>
          <a:ln w="9525">
            <a:solidFill>
              <a:srgbClr val="E5E5E5"/>
            </a:solidFill>
            <a:prstDash val="solid"/>
          </a:ln>
        </p:spPr>
      </p:sp>
      <p:sp>
        <p:nvSpPr>
          <p:cNvPr id="7" name="Text 5"/>
          <p:cNvSpPr/>
          <p:nvPr/>
        </p:nvSpPr>
        <p:spPr>
          <a:xfrm>
            <a:off x="480060" y="1920240"/>
            <a:ext cx="2606040" cy="685800"/>
          </a:xfrm>
          <a:prstGeom prst="rect">
            <a:avLst/>
          </a:prstGeom>
          <a:noFill/>
          <a:ln/>
        </p:spPr>
        <p:txBody>
          <a:bodyPr wrap="square" lIns="0" tIns="0" rIns="0" bIns="0" rtlCol="0" anchor="ctr"/>
          <a:lstStyle/>
          <a:p>
            <a:pPr algn="ctr" indent="0" marL="0">
              <a:buNone/>
            </a:pPr>
            <a:r>
              <a:rPr lang="en-US" sz="4000" b="1" dirty="0">
                <a:solidFill>
                  <a:srgbClr val="F6693D"/>
                </a:solidFill>
                <a:latin typeface="Arial Black" pitchFamily="34" charset="0"/>
                <a:ea typeface="Arial Black" pitchFamily="34" charset="-122"/>
                <a:cs typeface="Arial Black" pitchFamily="34" charset="-120"/>
              </a:rPr>
              <a:t>~12%</a:t>
            </a:r>
            <a:endParaRPr lang="en-US" sz="4000" dirty="0"/>
          </a:p>
        </p:txBody>
      </p:sp>
      <p:sp>
        <p:nvSpPr>
          <p:cNvPr id="8" name="Text 6"/>
          <p:cNvSpPr/>
          <p:nvPr/>
        </p:nvSpPr>
        <p:spPr>
          <a:xfrm>
            <a:off x="480060" y="2651760"/>
            <a:ext cx="2606040" cy="502920"/>
          </a:xfrm>
          <a:prstGeom prst="rect">
            <a:avLst/>
          </a:prstGeom>
          <a:noFill/>
          <a:ln/>
        </p:spPr>
        <p:txBody>
          <a:bodyPr wrap="square" lIns="0" tIns="0" rIns="0" bIns="0" rtlCol="0" anchor="t"/>
          <a:lstStyle/>
          <a:p>
            <a:pPr algn="ctr" indent="0" marL="0">
              <a:buNone/>
            </a:pPr>
            <a:r>
              <a:rPr lang="en-US" sz="1100" dirty="0">
                <a:solidFill>
                  <a:srgbClr val="666666"/>
                </a:solidFill>
                <a:latin typeface="Arial" pitchFamily="34" charset="0"/>
                <a:ea typeface="Arial" pitchFamily="34" charset="-122"/>
                <a:cs typeface="Arial" pitchFamily="34" charset="-120"/>
              </a:rPr>
              <a:t>of US electricity demand will go to data centers by 2028 — up from ~4% in 2023 (EPRI high case, 2024)</a:t>
            </a:r>
            <a:endParaRPr lang="en-US" sz="1100" dirty="0"/>
          </a:p>
        </p:txBody>
      </p:sp>
      <p:sp>
        <p:nvSpPr>
          <p:cNvPr id="9" name="Text 7"/>
          <p:cNvSpPr/>
          <p:nvPr/>
        </p:nvSpPr>
        <p:spPr>
          <a:xfrm>
            <a:off x="3268980" y="1920240"/>
            <a:ext cx="2606040" cy="685800"/>
          </a:xfrm>
          <a:prstGeom prst="rect">
            <a:avLst/>
          </a:prstGeom>
          <a:noFill/>
          <a:ln/>
        </p:spPr>
        <p:txBody>
          <a:bodyPr wrap="square" lIns="0" tIns="0" rIns="0" bIns="0" rtlCol="0" anchor="ctr"/>
          <a:lstStyle/>
          <a:p>
            <a:pPr algn="ctr" indent="0" marL="0">
              <a:buNone/>
            </a:pPr>
            <a:r>
              <a:rPr lang="en-US" sz="4000" b="1" dirty="0">
                <a:solidFill>
                  <a:srgbClr val="F6693D"/>
                </a:solidFill>
                <a:latin typeface="Arial Black" pitchFamily="34" charset="0"/>
                <a:ea typeface="Arial Black" pitchFamily="34" charset="-122"/>
                <a:cs typeface="Arial Black" pitchFamily="34" charset="-120"/>
              </a:rPr>
              <a:t>1 GW</a:t>
            </a:r>
            <a:endParaRPr lang="en-US" sz="4000" dirty="0"/>
          </a:p>
        </p:txBody>
      </p:sp>
      <p:sp>
        <p:nvSpPr>
          <p:cNvPr id="10" name="Text 8"/>
          <p:cNvSpPr/>
          <p:nvPr/>
        </p:nvSpPr>
        <p:spPr>
          <a:xfrm>
            <a:off x="3268980" y="2651760"/>
            <a:ext cx="2606040" cy="502920"/>
          </a:xfrm>
          <a:prstGeom prst="rect">
            <a:avLst/>
          </a:prstGeom>
          <a:noFill/>
          <a:ln/>
        </p:spPr>
        <p:txBody>
          <a:bodyPr wrap="square" lIns="0" tIns="0" rIns="0" bIns="0" rtlCol="0" anchor="t"/>
          <a:lstStyle/>
          <a:p>
            <a:pPr algn="ctr" indent="0" marL="0">
              <a:buNone/>
            </a:pPr>
            <a:r>
              <a:rPr lang="en-US" sz="1100" dirty="0">
                <a:solidFill>
                  <a:srgbClr val="666666"/>
                </a:solidFill>
                <a:latin typeface="Arial" pitchFamily="34" charset="0"/>
                <a:ea typeface="Arial" pitchFamily="34" charset="-122"/>
                <a:cs typeface="Arial" pitchFamily="34" charset="-120"/>
              </a:rPr>
              <a:t>typical new AI campus — the draw of ~750K US homes</a:t>
            </a:r>
            <a:endParaRPr lang="en-US" sz="1100" dirty="0"/>
          </a:p>
        </p:txBody>
      </p:sp>
      <p:sp>
        <p:nvSpPr>
          <p:cNvPr id="11" name="Text 9"/>
          <p:cNvSpPr/>
          <p:nvPr/>
        </p:nvSpPr>
        <p:spPr>
          <a:xfrm>
            <a:off x="6057900" y="1920240"/>
            <a:ext cx="2606040" cy="685800"/>
          </a:xfrm>
          <a:prstGeom prst="rect">
            <a:avLst/>
          </a:prstGeom>
          <a:noFill/>
          <a:ln/>
        </p:spPr>
        <p:txBody>
          <a:bodyPr wrap="square" lIns="0" tIns="0" rIns="0" bIns="0" rtlCol="0" anchor="ctr"/>
          <a:lstStyle/>
          <a:p>
            <a:pPr algn="ctr" indent="0" marL="0">
              <a:buNone/>
            </a:pPr>
            <a:r>
              <a:rPr lang="en-US" sz="4000" b="1" dirty="0">
                <a:solidFill>
                  <a:srgbClr val="CC0000"/>
                </a:solidFill>
                <a:latin typeface="Arial Black" pitchFamily="34" charset="0"/>
                <a:ea typeface="Arial Black" pitchFamily="34" charset="-122"/>
                <a:cs typeface="Arial Black" pitchFamily="34" charset="-120"/>
              </a:rPr>
              <a:t>~5 yr</a:t>
            </a:r>
            <a:endParaRPr lang="en-US" sz="4000" dirty="0"/>
          </a:p>
        </p:txBody>
      </p:sp>
      <p:sp>
        <p:nvSpPr>
          <p:cNvPr id="12" name="Text 10"/>
          <p:cNvSpPr/>
          <p:nvPr/>
        </p:nvSpPr>
        <p:spPr>
          <a:xfrm>
            <a:off x="6057900" y="2651760"/>
            <a:ext cx="2606040" cy="502920"/>
          </a:xfrm>
          <a:prstGeom prst="rect">
            <a:avLst/>
          </a:prstGeom>
          <a:noFill/>
          <a:ln/>
        </p:spPr>
        <p:txBody>
          <a:bodyPr wrap="square" lIns="0" tIns="0" rIns="0" bIns="0" rtlCol="0" anchor="t"/>
          <a:lstStyle/>
          <a:p>
            <a:pPr algn="ctr" indent="0" marL="0">
              <a:buNone/>
            </a:pPr>
            <a:r>
              <a:rPr lang="en-US" sz="1100" dirty="0">
                <a:solidFill>
                  <a:srgbClr val="666666"/>
                </a:solidFill>
                <a:latin typeface="Arial" pitchFamily="34" charset="0"/>
                <a:ea typeface="Arial" pitchFamily="34" charset="-122"/>
                <a:cs typeface="Arial" pitchFamily="34" charset="-120"/>
              </a:rPr>
              <a:t>avg wait for a new grid interconnection in PJM &amp; ERCOT</a:t>
            </a:r>
            <a:endParaRPr lang="en-US" sz="1100" dirty="0"/>
          </a:p>
        </p:txBody>
      </p:sp>
      <p:sp>
        <p:nvSpPr>
          <p:cNvPr id="13" name="Shape 11"/>
          <p:cNvSpPr/>
          <p:nvPr/>
        </p:nvSpPr>
        <p:spPr>
          <a:xfrm>
            <a:off x="457200" y="3474720"/>
            <a:ext cx="2697480" cy="365760"/>
          </a:xfrm>
          <a:prstGeom prst="rect">
            <a:avLst/>
          </a:prstGeom>
          <a:solidFill>
            <a:srgbClr val="FFB800"/>
          </a:solidFill>
          <a:ln w="12700">
            <a:solidFill>
              <a:srgbClr val="FFB800"/>
            </a:solidFill>
            <a:prstDash val="solid"/>
          </a:ln>
        </p:spPr>
      </p:sp>
      <p:sp>
        <p:nvSpPr>
          <p:cNvPr id="14" name="Text 12"/>
          <p:cNvSpPr/>
          <p:nvPr/>
        </p:nvSpPr>
        <p:spPr>
          <a:xfrm>
            <a:off x="457200" y="3474720"/>
            <a:ext cx="2697480" cy="365760"/>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Arial" pitchFamily="34" charset="0"/>
                <a:ea typeface="Arial" pitchFamily="34" charset="-122"/>
                <a:cs typeface="Arial" pitchFamily="34" charset="-120"/>
              </a:rPr>
              <a:t>GAS</a:t>
            </a:r>
            <a:endParaRPr lang="en-US" sz="1100" dirty="0"/>
          </a:p>
        </p:txBody>
      </p:sp>
      <p:sp>
        <p:nvSpPr>
          <p:cNvPr id="15" name="Shape 13"/>
          <p:cNvSpPr/>
          <p:nvPr/>
        </p:nvSpPr>
        <p:spPr>
          <a:xfrm>
            <a:off x="457200" y="3840480"/>
            <a:ext cx="2697480" cy="1417320"/>
          </a:xfrm>
          <a:prstGeom prst="rect">
            <a:avLst/>
          </a:prstGeom>
          <a:solidFill>
            <a:srgbClr val="F9F9F9"/>
          </a:solidFill>
          <a:ln w="6350">
            <a:solidFill>
              <a:srgbClr val="E5E5E5"/>
            </a:solidFill>
            <a:prstDash val="solid"/>
          </a:ln>
        </p:spPr>
      </p:sp>
      <p:sp>
        <p:nvSpPr>
          <p:cNvPr id="16" name="Text 14"/>
          <p:cNvSpPr/>
          <p:nvPr/>
        </p:nvSpPr>
        <p:spPr>
          <a:xfrm>
            <a:off x="594360" y="3931920"/>
            <a:ext cx="2423160" cy="960120"/>
          </a:xfrm>
          <a:prstGeom prst="rect">
            <a:avLst/>
          </a:prstGeom>
          <a:noFill/>
          <a:ln/>
        </p:spPr>
        <p:txBody>
          <a:bodyPr wrap="square" lIns="0" tIns="0" rIns="0" bIns="0" rtlCol="0" anchor="t"/>
          <a:lstStyle/>
          <a:p>
            <a:pPr indent="0" marL="0">
              <a:buNone/>
            </a:pPr>
            <a:r>
              <a:rPr lang="en-US" sz="1000" dirty="0">
                <a:solidFill>
                  <a:srgbClr val="333333"/>
                </a:solidFill>
                <a:latin typeface="Arial" pitchFamily="34" charset="0"/>
                <a:ea typeface="Arial" pitchFamily="34" charset="-122"/>
                <a:cs typeface="Arial" pitchFamily="34" charset="-120"/>
              </a:rPr>
              <a:t>Fastest to build, dispatchable. New CCGT contracts up sharply; GE Vernova backlog at record highs.</a:t>
            </a:r>
            <a:endParaRPr lang="en-US" sz="1000" dirty="0"/>
          </a:p>
        </p:txBody>
      </p:sp>
      <p:sp>
        <p:nvSpPr>
          <p:cNvPr id="17" name="Shape 15"/>
          <p:cNvSpPr/>
          <p:nvPr/>
        </p:nvSpPr>
        <p:spPr>
          <a:xfrm>
            <a:off x="594360" y="4919472"/>
            <a:ext cx="2423160" cy="0"/>
          </a:xfrm>
          <a:prstGeom prst="line">
            <a:avLst/>
          </a:prstGeom>
          <a:noFill/>
          <a:ln w="6350">
            <a:solidFill>
              <a:srgbClr val="E5E5E5"/>
            </a:solidFill>
            <a:prstDash val="solid"/>
          </a:ln>
        </p:spPr>
      </p:sp>
      <p:sp>
        <p:nvSpPr>
          <p:cNvPr id="18" name="Text 16"/>
          <p:cNvSpPr/>
          <p:nvPr/>
        </p:nvSpPr>
        <p:spPr>
          <a:xfrm>
            <a:off x="594360" y="4983480"/>
            <a:ext cx="2423160" cy="228600"/>
          </a:xfrm>
          <a:prstGeom prst="rect">
            <a:avLst/>
          </a:prstGeom>
          <a:noFill/>
          <a:ln/>
        </p:spPr>
        <p:txBody>
          <a:bodyPr wrap="square" lIns="0" tIns="0" rIns="0" bIns="0" rtlCol="0" anchor="t"/>
          <a:lstStyle/>
          <a:p>
            <a:pPr indent="0" marL="0">
              <a:buNone/>
            </a:pPr>
            <a:r>
              <a:rPr lang="en-US" sz="850" i="1" dirty="0">
                <a:solidFill>
                  <a:srgbClr val="666666"/>
                </a:solidFill>
                <a:latin typeface="Arial" pitchFamily="34" charset="0"/>
                <a:ea typeface="Arial" pitchFamily="34" charset="-122"/>
                <a:cs typeface="Arial" pitchFamily="34" charset="-120"/>
              </a:rPr>
              <a:t>GE Vernova · Siemens Energy</a:t>
            </a:r>
            <a:endParaRPr lang="en-US" sz="850" dirty="0"/>
          </a:p>
        </p:txBody>
      </p:sp>
      <p:sp>
        <p:nvSpPr>
          <p:cNvPr id="19" name="Shape 17"/>
          <p:cNvSpPr/>
          <p:nvPr/>
        </p:nvSpPr>
        <p:spPr>
          <a:xfrm>
            <a:off x="3291840" y="3474720"/>
            <a:ext cx="2697480" cy="365760"/>
          </a:xfrm>
          <a:prstGeom prst="rect">
            <a:avLst/>
          </a:prstGeom>
          <a:solidFill>
            <a:srgbClr val="008B8B"/>
          </a:solidFill>
          <a:ln w="12700">
            <a:solidFill>
              <a:srgbClr val="008B8B"/>
            </a:solidFill>
            <a:prstDash val="solid"/>
          </a:ln>
        </p:spPr>
      </p:sp>
      <p:sp>
        <p:nvSpPr>
          <p:cNvPr id="20" name="Text 18"/>
          <p:cNvSpPr/>
          <p:nvPr/>
        </p:nvSpPr>
        <p:spPr>
          <a:xfrm>
            <a:off x="3291840" y="3474720"/>
            <a:ext cx="2697480" cy="365760"/>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Arial" pitchFamily="34" charset="0"/>
                <a:ea typeface="Arial" pitchFamily="34" charset="-122"/>
                <a:cs typeface="Arial" pitchFamily="34" charset="-120"/>
              </a:rPr>
              <a:t>NUCLEAR</a:t>
            </a:r>
            <a:endParaRPr lang="en-US" sz="1100" dirty="0"/>
          </a:p>
        </p:txBody>
      </p:sp>
      <p:sp>
        <p:nvSpPr>
          <p:cNvPr id="21" name="Shape 19"/>
          <p:cNvSpPr/>
          <p:nvPr/>
        </p:nvSpPr>
        <p:spPr>
          <a:xfrm>
            <a:off x="3291840" y="3840480"/>
            <a:ext cx="2697480" cy="1417320"/>
          </a:xfrm>
          <a:prstGeom prst="rect">
            <a:avLst/>
          </a:prstGeom>
          <a:solidFill>
            <a:srgbClr val="F9F9F9"/>
          </a:solidFill>
          <a:ln w="6350">
            <a:solidFill>
              <a:srgbClr val="E5E5E5"/>
            </a:solidFill>
            <a:prstDash val="solid"/>
          </a:ln>
        </p:spPr>
      </p:sp>
      <p:sp>
        <p:nvSpPr>
          <p:cNvPr id="22" name="Text 20"/>
          <p:cNvSpPr/>
          <p:nvPr/>
        </p:nvSpPr>
        <p:spPr>
          <a:xfrm>
            <a:off x="3429000" y="3931920"/>
            <a:ext cx="2423160" cy="960120"/>
          </a:xfrm>
          <a:prstGeom prst="rect">
            <a:avLst/>
          </a:prstGeom>
          <a:noFill/>
          <a:ln/>
        </p:spPr>
        <p:txBody>
          <a:bodyPr wrap="square" lIns="0" tIns="0" rIns="0" bIns="0" rtlCol="0" anchor="t"/>
          <a:lstStyle/>
          <a:p>
            <a:pPr indent="0" marL="0">
              <a:buNone/>
            </a:pPr>
            <a:r>
              <a:rPr lang="en-US" sz="1000" dirty="0">
                <a:solidFill>
                  <a:srgbClr val="333333"/>
                </a:solidFill>
                <a:latin typeface="Arial" pitchFamily="34" charset="0"/>
                <a:ea typeface="Arial" pitchFamily="34" charset="-122"/>
                <a:cs typeface="Arial" pitchFamily="34" charset="-120"/>
              </a:rPr>
              <a:t>Three Mile Island reopening for Microsoft. SMRs (Oklo, X-Energy) signed to hyperscaler PPAs.</a:t>
            </a:r>
            <a:endParaRPr lang="en-US" sz="1000" dirty="0"/>
          </a:p>
        </p:txBody>
      </p:sp>
      <p:sp>
        <p:nvSpPr>
          <p:cNvPr id="23" name="Shape 21"/>
          <p:cNvSpPr/>
          <p:nvPr/>
        </p:nvSpPr>
        <p:spPr>
          <a:xfrm>
            <a:off x="3429000" y="4919472"/>
            <a:ext cx="2423160" cy="0"/>
          </a:xfrm>
          <a:prstGeom prst="line">
            <a:avLst/>
          </a:prstGeom>
          <a:noFill/>
          <a:ln w="6350">
            <a:solidFill>
              <a:srgbClr val="E5E5E5"/>
            </a:solidFill>
            <a:prstDash val="solid"/>
          </a:ln>
        </p:spPr>
      </p:sp>
      <p:sp>
        <p:nvSpPr>
          <p:cNvPr id="24" name="Text 22"/>
          <p:cNvSpPr/>
          <p:nvPr/>
        </p:nvSpPr>
        <p:spPr>
          <a:xfrm>
            <a:off x="3429000" y="4983480"/>
            <a:ext cx="2423160" cy="228600"/>
          </a:xfrm>
          <a:prstGeom prst="rect">
            <a:avLst/>
          </a:prstGeom>
          <a:noFill/>
          <a:ln/>
        </p:spPr>
        <p:txBody>
          <a:bodyPr wrap="square" lIns="0" tIns="0" rIns="0" bIns="0" rtlCol="0" anchor="t"/>
          <a:lstStyle/>
          <a:p>
            <a:pPr indent="0" marL="0">
              <a:buNone/>
            </a:pPr>
            <a:r>
              <a:rPr lang="en-US" sz="850" i="1" dirty="0">
                <a:solidFill>
                  <a:srgbClr val="666666"/>
                </a:solidFill>
                <a:latin typeface="Arial" pitchFamily="34" charset="0"/>
                <a:ea typeface="Arial" pitchFamily="34" charset="-122"/>
                <a:cs typeface="Arial" pitchFamily="34" charset="-120"/>
              </a:rPr>
              <a:t>Constellation · Oklo · NuScale</a:t>
            </a:r>
            <a:endParaRPr lang="en-US" sz="850" dirty="0"/>
          </a:p>
        </p:txBody>
      </p:sp>
      <p:sp>
        <p:nvSpPr>
          <p:cNvPr id="25" name="Shape 23"/>
          <p:cNvSpPr/>
          <p:nvPr/>
        </p:nvSpPr>
        <p:spPr>
          <a:xfrm>
            <a:off x="6126480" y="3474720"/>
            <a:ext cx="2697480" cy="365760"/>
          </a:xfrm>
          <a:prstGeom prst="rect">
            <a:avLst/>
          </a:prstGeom>
          <a:solidFill>
            <a:srgbClr val="00A854"/>
          </a:solidFill>
          <a:ln w="12700">
            <a:solidFill>
              <a:srgbClr val="00A854"/>
            </a:solidFill>
            <a:prstDash val="solid"/>
          </a:ln>
        </p:spPr>
      </p:sp>
      <p:sp>
        <p:nvSpPr>
          <p:cNvPr id="26" name="Text 24"/>
          <p:cNvSpPr/>
          <p:nvPr/>
        </p:nvSpPr>
        <p:spPr>
          <a:xfrm>
            <a:off x="6126480" y="3474720"/>
            <a:ext cx="2697480" cy="365760"/>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Arial" pitchFamily="34" charset="0"/>
                <a:ea typeface="Arial" pitchFamily="34" charset="-122"/>
                <a:cs typeface="Arial" pitchFamily="34" charset="-120"/>
              </a:rPr>
              <a:t>RENEWABLES + STORAGE</a:t>
            </a:r>
            <a:endParaRPr lang="en-US" sz="1100" dirty="0"/>
          </a:p>
        </p:txBody>
      </p:sp>
      <p:sp>
        <p:nvSpPr>
          <p:cNvPr id="27" name="Shape 25"/>
          <p:cNvSpPr/>
          <p:nvPr/>
        </p:nvSpPr>
        <p:spPr>
          <a:xfrm>
            <a:off x="6126480" y="3840480"/>
            <a:ext cx="2697480" cy="1417320"/>
          </a:xfrm>
          <a:prstGeom prst="rect">
            <a:avLst/>
          </a:prstGeom>
          <a:solidFill>
            <a:srgbClr val="F9F9F9"/>
          </a:solidFill>
          <a:ln w="6350">
            <a:solidFill>
              <a:srgbClr val="E5E5E5"/>
            </a:solidFill>
            <a:prstDash val="solid"/>
          </a:ln>
        </p:spPr>
      </p:sp>
      <p:sp>
        <p:nvSpPr>
          <p:cNvPr id="28" name="Text 26"/>
          <p:cNvSpPr/>
          <p:nvPr/>
        </p:nvSpPr>
        <p:spPr>
          <a:xfrm>
            <a:off x="6263640" y="3931920"/>
            <a:ext cx="2423160" cy="960120"/>
          </a:xfrm>
          <a:prstGeom prst="rect">
            <a:avLst/>
          </a:prstGeom>
          <a:noFill/>
          <a:ln/>
        </p:spPr>
        <p:txBody>
          <a:bodyPr wrap="square" lIns="0" tIns="0" rIns="0" bIns="0" rtlCol="0" anchor="t"/>
          <a:lstStyle/>
          <a:p>
            <a:pPr indent="0" marL="0">
              <a:buNone/>
            </a:pPr>
            <a:r>
              <a:rPr lang="en-US" sz="1000" dirty="0">
                <a:solidFill>
                  <a:srgbClr val="333333"/>
                </a:solidFill>
                <a:latin typeface="Arial" pitchFamily="34" charset="0"/>
                <a:ea typeface="Arial" pitchFamily="34" charset="-122"/>
                <a:cs typeface="Arial" pitchFamily="34" charset="-120"/>
              </a:rPr>
              <a:t>Solar + battery hybrids now the cheapest new capacity. Hyperscalers signing 24/7 PPAs.</a:t>
            </a:r>
            <a:endParaRPr lang="en-US" sz="1000" dirty="0"/>
          </a:p>
        </p:txBody>
      </p:sp>
      <p:sp>
        <p:nvSpPr>
          <p:cNvPr id="29" name="Shape 27"/>
          <p:cNvSpPr/>
          <p:nvPr/>
        </p:nvSpPr>
        <p:spPr>
          <a:xfrm>
            <a:off x="6263640" y="4919472"/>
            <a:ext cx="2423160" cy="0"/>
          </a:xfrm>
          <a:prstGeom prst="line">
            <a:avLst/>
          </a:prstGeom>
          <a:noFill/>
          <a:ln w="6350">
            <a:solidFill>
              <a:srgbClr val="E5E5E5"/>
            </a:solidFill>
            <a:prstDash val="solid"/>
          </a:ln>
        </p:spPr>
      </p:sp>
      <p:sp>
        <p:nvSpPr>
          <p:cNvPr id="30" name="Text 28"/>
          <p:cNvSpPr/>
          <p:nvPr/>
        </p:nvSpPr>
        <p:spPr>
          <a:xfrm>
            <a:off x="6263640" y="4983480"/>
            <a:ext cx="2423160" cy="228600"/>
          </a:xfrm>
          <a:prstGeom prst="rect">
            <a:avLst/>
          </a:prstGeom>
          <a:noFill/>
          <a:ln/>
        </p:spPr>
        <p:txBody>
          <a:bodyPr wrap="square" lIns="0" tIns="0" rIns="0" bIns="0" rtlCol="0" anchor="t"/>
          <a:lstStyle/>
          <a:p>
            <a:pPr indent="0" marL="0">
              <a:buNone/>
            </a:pPr>
            <a:r>
              <a:rPr lang="en-US" sz="850" i="1" dirty="0">
                <a:solidFill>
                  <a:srgbClr val="666666"/>
                </a:solidFill>
                <a:latin typeface="Arial" pitchFamily="34" charset="0"/>
                <a:ea typeface="Arial" pitchFamily="34" charset="-122"/>
                <a:cs typeface="Arial" pitchFamily="34" charset="-120"/>
              </a:rPr>
              <a:t>NextEra · AES · Fluence</a:t>
            </a:r>
            <a:endParaRPr lang="en-US" sz="850" dirty="0"/>
          </a:p>
        </p:txBody>
      </p:sp>
      <p:sp>
        <p:nvSpPr>
          <p:cNvPr id="31" name="Shape 29"/>
          <p:cNvSpPr/>
          <p:nvPr/>
        </p:nvSpPr>
        <p:spPr>
          <a:xfrm>
            <a:off x="457200" y="5394960"/>
            <a:ext cx="8229600" cy="411480"/>
          </a:xfrm>
          <a:prstGeom prst="rect">
            <a:avLst/>
          </a:prstGeom>
          <a:solidFill>
            <a:srgbClr val="FFD100"/>
          </a:solidFill>
          <a:ln w="12700">
            <a:solidFill>
              <a:srgbClr val="FFD100"/>
            </a:solidFill>
            <a:prstDash val="solid"/>
          </a:ln>
        </p:spPr>
      </p:sp>
      <p:sp>
        <p:nvSpPr>
          <p:cNvPr id="32" name="Text 30"/>
          <p:cNvSpPr/>
          <p:nvPr/>
        </p:nvSpPr>
        <p:spPr>
          <a:xfrm>
            <a:off x="640080" y="5394960"/>
            <a:ext cx="7863840" cy="411480"/>
          </a:xfrm>
          <a:prstGeom prst="rect">
            <a:avLst/>
          </a:prstGeom>
          <a:noFill/>
          <a:ln/>
        </p:spPr>
        <p:txBody>
          <a:bodyPr wrap="square" lIns="0" tIns="0" rIns="0" bIns="0" rtlCol="0" anchor="ctr"/>
          <a:lstStyle/>
          <a:p>
            <a:pPr indent="0" marL="0">
              <a:buNone/>
            </a:pPr>
            <a:r>
              <a:rPr lang="en-US" sz="1250" b="1" dirty="0">
                <a:solidFill>
                  <a:srgbClr val="000000"/>
                </a:solidFill>
                <a:latin typeface="Arial" pitchFamily="34" charset="0"/>
                <a:ea typeface="Arial" pitchFamily="34" charset="-122"/>
                <a:cs typeface="Arial" pitchFamily="34" charset="-120"/>
              </a:rPr>
              <a:t>GPUs are useless without electrons. Power names are trading like semis.</a:t>
            </a:r>
            <a:endParaRPr lang="en-US" sz="1250" dirty="0"/>
          </a:p>
        </p:txBody>
      </p:sp>
      <p:sp>
        <p:nvSpPr>
          <p:cNvPr id="33" name="Text 31"/>
          <p:cNvSpPr/>
          <p:nvPr/>
        </p:nvSpPr>
        <p:spPr>
          <a:xfrm>
            <a:off x="457200" y="5875020"/>
            <a:ext cx="8229600" cy="320040"/>
          </a:xfrm>
          <a:prstGeom prst="rect">
            <a:avLst/>
          </a:prstGeom>
          <a:noFill/>
          <a:ln/>
        </p:spPr>
        <p:txBody>
          <a:bodyPr wrap="square" lIns="0" tIns="0" rIns="0" bIns="0" rtlCol="0" anchor="t"/>
          <a:lstStyle/>
          <a:p>
            <a:pPr indent="0" marL="0">
              <a:buNone/>
            </a:pPr>
            <a:r>
              <a:rPr lang="en-US" sz="700" dirty="0">
                <a:solidFill>
                  <a:srgbClr val="999999"/>
                </a:solidFill>
                <a:latin typeface="Arial" pitchFamily="34" charset="0"/>
                <a:ea typeface="Arial" pitchFamily="34" charset="-122"/>
                <a:cs typeface="Arial" pitchFamily="34" charset="-120"/>
              </a:rPr>
              <a:t>Sources: EPRI (US data-center load forecast, 2024); DOE; Lawrence Berkeley National Lab; Microsoft / Constellation TMI announcement (Sep 2024); PJM, ERCOT interconnection queues.</a:t>
            </a:r>
            <a:endParaRPr lang="en-US" sz="700" dirty="0"/>
          </a:p>
        </p:txBody>
      </p:sp>
      <p:sp>
        <p:nvSpPr>
          <p:cNvPr id="34" name="Shape 32"/>
          <p:cNvSpPr/>
          <p:nvPr/>
        </p:nvSpPr>
        <p:spPr>
          <a:xfrm>
            <a:off x="0" y="6286500"/>
            <a:ext cx="9144000" cy="571500"/>
          </a:xfrm>
          <a:prstGeom prst="rect">
            <a:avLst/>
          </a:prstGeom>
          <a:solidFill>
            <a:srgbClr val="000000"/>
          </a:solidFill>
          <a:ln w="12700">
            <a:solidFill>
              <a:srgbClr val="000000"/>
            </a:solidFill>
            <a:prstDash val="solid"/>
          </a:ln>
        </p:spPr>
      </p:sp>
      <p:sp>
        <p:nvSpPr>
          <p:cNvPr id="35" name="Text 33"/>
          <p:cNvSpPr/>
          <p:nvPr/>
        </p:nvSpPr>
        <p:spPr>
          <a:xfrm>
            <a:off x="1371600" y="6332220"/>
            <a:ext cx="6400800" cy="45720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36" name="Text 34"/>
          <p:cNvSpPr/>
          <p:nvPr/>
        </p:nvSpPr>
        <p:spPr>
          <a:xfrm>
            <a:off x="8321040" y="6405372"/>
            <a:ext cx="548640" cy="27432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FFB800"/>
          </a:solidFill>
          <a:ln w="12700">
            <a:solidFill>
              <a:srgbClr val="FFB800"/>
            </a:solidFill>
            <a:prstDash val="solid"/>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1000" b="1" spc="100" kern="0" dirty="0">
                <a:solidFill>
                  <a:srgbClr val="000000"/>
                </a:solidFill>
                <a:latin typeface="Arial" pitchFamily="34" charset="0"/>
                <a:ea typeface="Arial" pitchFamily="34" charset="-122"/>
                <a:cs typeface="Arial" pitchFamily="34" charset="-120"/>
              </a:rPr>
              <a:t>MARKET</a:t>
            </a:r>
            <a:endParaRPr lang="en-US" sz="1000" dirty="0"/>
          </a:p>
        </p:txBody>
      </p:sp>
      <p:sp>
        <p:nvSpPr>
          <p:cNvPr id="4" name="Text 2"/>
          <p:cNvSpPr/>
          <p:nvPr/>
        </p:nvSpPr>
        <p:spPr>
          <a:xfrm>
            <a:off x="457200" y="182880"/>
            <a:ext cx="6583680" cy="685800"/>
          </a:xfrm>
          <a:prstGeom prst="rect">
            <a:avLst/>
          </a:prstGeom>
          <a:noFill/>
          <a:ln/>
        </p:spPr>
        <p:txBody>
          <a:bodyPr wrap="square" lIns="0" tIns="0" rIns="0" bIns="0" rtlCol="0" anchor="t"/>
          <a:lstStyle/>
          <a:p>
            <a:pPr indent="0" marL="0">
              <a:buNone/>
            </a:pPr>
            <a:r>
              <a:rPr lang="en-US" sz="2400" b="1" dirty="0">
                <a:solidFill>
                  <a:srgbClr val="000000"/>
                </a:solidFill>
                <a:latin typeface="Arial Black" pitchFamily="34" charset="0"/>
                <a:ea typeface="Arial Black" pitchFamily="34" charset="-122"/>
                <a:cs typeface="Arial Black" pitchFamily="34" charset="-120"/>
              </a:rPr>
              <a:t>Q1 funding doubled all of 2025 — two giants, one public, one merger</a:t>
            </a:r>
            <a:endParaRPr lang="en-US" sz="2400" dirty="0"/>
          </a:p>
        </p:txBody>
      </p:sp>
      <p:sp>
        <p:nvSpPr>
          <p:cNvPr id="5" name="Text 3"/>
          <p:cNvSpPr/>
          <p:nvPr/>
        </p:nvSpPr>
        <p:spPr>
          <a:xfrm>
            <a:off x="457200" y="91440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Two independent private labs, one public giant, and xAI — now inside SpaceX after February's $1.25T all-stock merger.</a:t>
            </a:r>
            <a:endParaRPr lang="en-US" sz="1350" dirty="0"/>
          </a:p>
        </p:txBody>
      </p:sp>
      <p:sp>
        <p:nvSpPr>
          <p:cNvPr id="6" name="Shape 4"/>
          <p:cNvSpPr/>
          <p:nvPr/>
        </p:nvSpPr>
        <p:spPr>
          <a:xfrm>
            <a:off x="457200" y="1325880"/>
            <a:ext cx="8229600" cy="0"/>
          </a:xfrm>
          <a:prstGeom prst="line">
            <a:avLst/>
          </a:prstGeom>
          <a:noFill/>
          <a:ln w="9525">
            <a:solidFill>
              <a:srgbClr val="E5E5E5"/>
            </a:solidFill>
            <a:prstDash val="solid"/>
          </a:ln>
        </p:spPr>
      </p:sp>
      <p:sp>
        <p:nvSpPr>
          <p:cNvPr id="7" name="Shape 5"/>
          <p:cNvSpPr/>
          <p:nvPr/>
        </p:nvSpPr>
        <p:spPr>
          <a:xfrm>
            <a:off x="457200" y="1691640"/>
            <a:ext cx="8229600" cy="758952"/>
          </a:xfrm>
          <a:prstGeom prst="rect">
            <a:avLst/>
          </a:prstGeom>
          <a:solidFill>
            <a:srgbClr val="FFFFFF"/>
          </a:solidFill>
          <a:ln w="6350">
            <a:solidFill>
              <a:srgbClr val="E5E5E5"/>
            </a:solidFill>
            <a:prstDash val="solid"/>
          </a:ln>
        </p:spPr>
      </p:sp>
      <p:pic>
        <p:nvPicPr>
          <p:cNvPr id="8" name="Image 0" descr="logos/openai.png">    </p:cNvPr>
          <p:cNvPicPr>
            <a:picLocks noChangeAspect="1"/>
          </p:cNvPicPr>
          <p:nvPr/>
        </p:nvPicPr>
        <p:blipFill>
          <a:blip r:embed="rId1"/>
          <a:srcRect l="0" r="0" t="0" b="0"/>
          <a:stretch/>
        </p:blipFill>
        <p:spPr>
          <a:xfrm>
            <a:off x="640080" y="1819656"/>
            <a:ext cx="502920" cy="502920"/>
          </a:xfrm>
          <a:prstGeom prst="rect">
            <a:avLst/>
          </a:prstGeom>
        </p:spPr>
      </p:pic>
      <p:sp>
        <p:nvSpPr>
          <p:cNvPr id="9" name="Text 6"/>
          <p:cNvSpPr/>
          <p:nvPr/>
        </p:nvSpPr>
        <p:spPr>
          <a:xfrm>
            <a:off x="1325880" y="1691640"/>
            <a:ext cx="1828800" cy="758952"/>
          </a:xfrm>
          <a:prstGeom prst="rect">
            <a:avLst/>
          </a:prstGeom>
          <a:noFill/>
          <a:ln/>
        </p:spPr>
        <p:txBody>
          <a:bodyPr wrap="square" lIns="0" tIns="0" rIns="0" bIns="0" rtlCol="0" anchor="ctr"/>
          <a:lstStyle/>
          <a:p>
            <a:pPr indent="0" marL="0">
              <a:buNone/>
            </a:pPr>
            <a:r>
              <a:rPr lang="en-US" sz="1500" b="1" dirty="0">
                <a:solidFill>
                  <a:srgbClr val="000000"/>
                </a:solidFill>
                <a:latin typeface="Arial" pitchFamily="34" charset="0"/>
                <a:ea typeface="Arial" pitchFamily="34" charset="-122"/>
                <a:cs typeface="Arial" pitchFamily="34" charset="-120"/>
              </a:rPr>
              <a:t>OpenAI</a:t>
            </a:r>
            <a:endParaRPr lang="en-US" sz="1500" dirty="0"/>
          </a:p>
        </p:txBody>
      </p:sp>
      <p:sp>
        <p:nvSpPr>
          <p:cNvPr id="10" name="Text 7"/>
          <p:cNvSpPr/>
          <p:nvPr/>
        </p:nvSpPr>
        <p:spPr>
          <a:xfrm>
            <a:off x="3200400" y="1691640"/>
            <a:ext cx="1280160" cy="758952"/>
          </a:xfrm>
          <a:prstGeom prst="rect">
            <a:avLst/>
          </a:prstGeom>
          <a:noFill/>
          <a:ln/>
        </p:spPr>
        <p:txBody>
          <a:bodyPr wrap="square" lIns="0" tIns="0" rIns="0" bIns="0" rtlCol="0" anchor="ctr"/>
          <a:lstStyle/>
          <a:p>
            <a:pPr algn="ctr" indent="0" marL="0">
              <a:buNone/>
            </a:pPr>
            <a:r>
              <a:rPr lang="en-US" sz="2000" b="1" dirty="0">
                <a:solidFill>
                  <a:srgbClr val="F6693D"/>
                </a:solidFill>
                <a:latin typeface="Arial Black" pitchFamily="34" charset="0"/>
                <a:ea typeface="Arial Black" pitchFamily="34" charset="-122"/>
                <a:cs typeface="Arial Black" pitchFamily="34" charset="-120"/>
              </a:rPr>
              <a:t>$852B</a:t>
            </a:r>
            <a:pPr algn="ctr" indent="0" marL="0">
              <a:buNone/>
            </a:pPr>
            <a:r>
              <a:rPr lang="en-US" sz="1000" b="1" baseline="30000" dirty="0">
                <a:solidFill>
                  <a:srgbClr val="F6693D"/>
                </a:solidFill>
                <a:latin typeface="Arial Black" pitchFamily="34" charset="0"/>
                <a:ea typeface="Arial Black" pitchFamily="34" charset="-122"/>
                <a:cs typeface="Arial Black" pitchFamily="34" charset="-120"/>
              </a:rPr>
              <a:t> 1</a:t>
            </a:r>
            <a:endParaRPr lang="en-US" sz="2000" dirty="0"/>
          </a:p>
        </p:txBody>
      </p:sp>
      <p:sp>
        <p:nvSpPr>
          <p:cNvPr id="11" name="Text 8"/>
          <p:cNvSpPr/>
          <p:nvPr/>
        </p:nvSpPr>
        <p:spPr>
          <a:xfrm>
            <a:off x="4480560" y="1691640"/>
            <a:ext cx="1188720" cy="758952"/>
          </a:xfrm>
          <a:prstGeom prst="rect">
            <a:avLst/>
          </a:prstGeom>
          <a:noFill/>
          <a:ln/>
        </p:spPr>
        <p:txBody>
          <a:bodyPr wrap="square" lIns="0" tIns="0" rIns="0" bIns="0" rtlCol="0" anchor="ctr"/>
          <a:lstStyle/>
          <a:p>
            <a:pPr algn="ctr" indent="0" marL="0">
              <a:buNone/>
            </a:pPr>
            <a:r>
              <a:rPr lang="en-US" sz="1200" dirty="0">
                <a:solidFill>
                  <a:srgbClr val="666666"/>
                </a:solidFill>
                <a:latin typeface="Arial" pitchFamily="34" charset="0"/>
                <a:ea typeface="Arial" pitchFamily="34" charset="-122"/>
                <a:cs typeface="Arial" pitchFamily="34" charset="-120"/>
              </a:rPr>
              <a:t>~35× ARR</a:t>
            </a:r>
            <a:endParaRPr lang="en-US" sz="1200" dirty="0"/>
          </a:p>
        </p:txBody>
      </p:sp>
      <p:sp>
        <p:nvSpPr>
          <p:cNvPr id="12" name="Text 9"/>
          <p:cNvSpPr/>
          <p:nvPr/>
        </p:nvSpPr>
        <p:spPr>
          <a:xfrm>
            <a:off x="5760720" y="1691640"/>
            <a:ext cx="2834640" cy="758952"/>
          </a:xfrm>
          <a:prstGeom prst="rect">
            <a:avLst/>
          </a:prstGeom>
          <a:noFill/>
          <a:ln/>
        </p:spPr>
        <p:txBody>
          <a:bodyPr wrap="square" lIns="0" tIns="0" rIns="0" bIns="0" rtlCol="0" anchor="ctr"/>
          <a:lstStyle/>
          <a:p>
            <a:pPr indent="0" marL="0">
              <a:buNone/>
            </a:pPr>
            <a:r>
              <a:rPr lang="en-US" sz="1100" dirty="0">
                <a:solidFill>
                  <a:srgbClr val="333333"/>
                </a:solidFill>
                <a:latin typeface="Arial" pitchFamily="34" charset="0"/>
                <a:ea typeface="Arial" pitchFamily="34" charset="-122"/>
                <a:cs typeface="Arial" pitchFamily="34" charset="-120"/>
              </a:rPr>
              <a:t>$122B round · AMZN / NVDA / SoftBank · Apr 2026</a:t>
            </a:r>
            <a:endParaRPr lang="en-US" sz="1100" dirty="0"/>
          </a:p>
        </p:txBody>
      </p:sp>
      <p:sp>
        <p:nvSpPr>
          <p:cNvPr id="13" name="Shape 10"/>
          <p:cNvSpPr/>
          <p:nvPr/>
        </p:nvSpPr>
        <p:spPr>
          <a:xfrm>
            <a:off x="457200" y="2496312"/>
            <a:ext cx="8229600" cy="758952"/>
          </a:xfrm>
          <a:prstGeom prst="rect">
            <a:avLst/>
          </a:prstGeom>
          <a:solidFill>
            <a:srgbClr val="F9F9F9"/>
          </a:solidFill>
          <a:ln w="6350">
            <a:solidFill>
              <a:srgbClr val="E5E5E5"/>
            </a:solidFill>
            <a:prstDash val="solid"/>
          </a:ln>
        </p:spPr>
      </p:sp>
      <p:pic>
        <p:nvPicPr>
          <p:cNvPr id="14" name="Image 1" descr="logos/anthropic.png">    </p:cNvPr>
          <p:cNvPicPr>
            <a:picLocks noChangeAspect="1"/>
          </p:cNvPicPr>
          <p:nvPr/>
        </p:nvPicPr>
        <p:blipFill>
          <a:blip r:embed="rId2"/>
          <a:srcRect l="0" r="0" t="0" b="0"/>
          <a:stretch/>
        </p:blipFill>
        <p:spPr>
          <a:xfrm>
            <a:off x="640080" y="2624328"/>
            <a:ext cx="502920" cy="502920"/>
          </a:xfrm>
          <a:prstGeom prst="rect">
            <a:avLst/>
          </a:prstGeom>
        </p:spPr>
      </p:pic>
      <p:sp>
        <p:nvSpPr>
          <p:cNvPr id="15" name="Text 11"/>
          <p:cNvSpPr/>
          <p:nvPr/>
        </p:nvSpPr>
        <p:spPr>
          <a:xfrm>
            <a:off x="1325880" y="2496312"/>
            <a:ext cx="1828800" cy="758952"/>
          </a:xfrm>
          <a:prstGeom prst="rect">
            <a:avLst/>
          </a:prstGeom>
          <a:noFill/>
          <a:ln/>
        </p:spPr>
        <p:txBody>
          <a:bodyPr wrap="square" lIns="0" tIns="0" rIns="0" bIns="0" rtlCol="0" anchor="ctr"/>
          <a:lstStyle/>
          <a:p>
            <a:pPr indent="0" marL="0">
              <a:buNone/>
            </a:pPr>
            <a:r>
              <a:rPr lang="en-US" sz="1500" b="1" dirty="0">
                <a:solidFill>
                  <a:srgbClr val="000000"/>
                </a:solidFill>
                <a:latin typeface="Arial" pitchFamily="34" charset="0"/>
                <a:ea typeface="Arial" pitchFamily="34" charset="-122"/>
                <a:cs typeface="Arial" pitchFamily="34" charset="-120"/>
              </a:rPr>
              <a:t>Anthropic</a:t>
            </a:r>
            <a:endParaRPr lang="en-US" sz="1500" dirty="0"/>
          </a:p>
        </p:txBody>
      </p:sp>
      <p:sp>
        <p:nvSpPr>
          <p:cNvPr id="16" name="Text 12"/>
          <p:cNvSpPr/>
          <p:nvPr/>
        </p:nvSpPr>
        <p:spPr>
          <a:xfrm>
            <a:off x="3200400" y="2496312"/>
            <a:ext cx="1280160" cy="758952"/>
          </a:xfrm>
          <a:prstGeom prst="rect">
            <a:avLst/>
          </a:prstGeom>
          <a:noFill/>
          <a:ln/>
        </p:spPr>
        <p:txBody>
          <a:bodyPr wrap="square" lIns="0" tIns="0" rIns="0" bIns="0" rtlCol="0" anchor="ctr"/>
          <a:lstStyle/>
          <a:p>
            <a:pPr algn="ctr" indent="0" marL="0">
              <a:buNone/>
            </a:pPr>
            <a:r>
              <a:rPr lang="en-US" sz="2000" b="1" dirty="0">
                <a:solidFill>
                  <a:srgbClr val="F6693D"/>
                </a:solidFill>
                <a:latin typeface="Arial Black" pitchFamily="34" charset="0"/>
                <a:ea typeface="Arial Black" pitchFamily="34" charset="-122"/>
                <a:cs typeface="Arial Black" pitchFamily="34" charset="-120"/>
              </a:rPr>
              <a:t>$380B</a:t>
            </a:r>
            <a:pPr algn="ctr" indent="0" marL="0">
              <a:buNone/>
            </a:pPr>
            <a:r>
              <a:rPr lang="en-US" sz="1000" b="1" baseline="30000" dirty="0">
                <a:solidFill>
                  <a:srgbClr val="F6693D"/>
                </a:solidFill>
                <a:latin typeface="Arial Black" pitchFamily="34" charset="0"/>
                <a:ea typeface="Arial Black" pitchFamily="34" charset="-122"/>
                <a:cs typeface="Arial Black" pitchFamily="34" charset="-120"/>
              </a:rPr>
              <a:t> 2</a:t>
            </a:r>
            <a:endParaRPr lang="en-US" sz="2000" dirty="0"/>
          </a:p>
        </p:txBody>
      </p:sp>
      <p:sp>
        <p:nvSpPr>
          <p:cNvPr id="17" name="Text 13"/>
          <p:cNvSpPr/>
          <p:nvPr/>
        </p:nvSpPr>
        <p:spPr>
          <a:xfrm>
            <a:off x="4480560" y="2496312"/>
            <a:ext cx="1188720" cy="758952"/>
          </a:xfrm>
          <a:prstGeom prst="rect">
            <a:avLst/>
          </a:prstGeom>
          <a:noFill/>
          <a:ln/>
        </p:spPr>
        <p:txBody>
          <a:bodyPr wrap="square" lIns="0" tIns="0" rIns="0" bIns="0" rtlCol="0" anchor="ctr"/>
          <a:lstStyle/>
          <a:p>
            <a:pPr algn="ctr" indent="0" marL="0">
              <a:buNone/>
            </a:pPr>
            <a:r>
              <a:rPr lang="en-US" sz="1200" dirty="0">
                <a:solidFill>
                  <a:srgbClr val="666666"/>
                </a:solidFill>
                <a:latin typeface="Arial" pitchFamily="34" charset="0"/>
                <a:ea typeface="Arial" pitchFamily="34" charset="-122"/>
                <a:cs typeface="Arial" pitchFamily="34" charset="-120"/>
              </a:rPr>
              <a:t>~13× ARR</a:t>
            </a:r>
            <a:endParaRPr lang="en-US" sz="1200" dirty="0"/>
          </a:p>
        </p:txBody>
      </p:sp>
      <p:sp>
        <p:nvSpPr>
          <p:cNvPr id="18" name="Text 14"/>
          <p:cNvSpPr/>
          <p:nvPr/>
        </p:nvSpPr>
        <p:spPr>
          <a:xfrm>
            <a:off x="5760720" y="2496312"/>
            <a:ext cx="2834640" cy="758952"/>
          </a:xfrm>
          <a:prstGeom prst="rect">
            <a:avLst/>
          </a:prstGeom>
          <a:noFill/>
          <a:ln/>
        </p:spPr>
        <p:txBody>
          <a:bodyPr wrap="square" lIns="0" tIns="0" rIns="0" bIns="0" rtlCol="0" anchor="ctr"/>
          <a:lstStyle/>
          <a:p>
            <a:pPr indent="0" marL="0">
              <a:buNone/>
            </a:pPr>
            <a:r>
              <a:rPr lang="en-US" sz="1100" dirty="0">
                <a:solidFill>
                  <a:srgbClr val="333333"/>
                </a:solidFill>
                <a:latin typeface="Arial" pitchFamily="34" charset="0"/>
                <a:ea typeface="Arial" pitchFamily="34" charset="-122"/>
                <a:cs typeface="Arial" pitchFamily="34" charset="-120"/>
              </a:rPr>
              <a:t>$30B Series G (Feb); VCs now offering $800B+</a:t>
            </a:r>
            <a:endParaRPr lang="en-US" sz="1100" dirty="0"/>
          </a:p>
        </p:txBody>
      </p:sp>
      <p:sp>
        <p:nvSpPr>
          <p:cNvPr id="19" name="Shape 15"/>
          <p:cNvSpPr/>
          <p:nvPr/>
        </p:nvSpPr>
        <p:spPr>
          <a:xfrm>
            <a:off x="457200" y="3300984"/>
            <a:ext cx="8229600" cy="758952"/>
          </a:xfrm>
          <a:prstGeom prst="rect">
            <a:avLst/>
          </a:prstGeom>
          <a:solidFill>
            <a:srgbClr val="FFFFFF"/>
          </a:solidFill>
          <a:ln w="6350">
            <a:solidFill>
              <a:srgbClr val="E5E5E5"/>
            </a:solidFill>
            <a:prstDash val="solid"/>
          </a:ln>
        </p:spPr>
      </p:sp>
      <p:pic>
        <p:nvPicPr>
          <p:cNvPr id="20" name="Image 2" descr="logos/google.png">    </p:cNvPr>
          <p:cNvPicPr>
            <a:picLocks noChangeAspect="1"/>
          </p:cNvPicPr>
          <p:nvPr/>
        </p:nvPicPr>
        <p:blipFill>
          <a:blip r:embed="rId3"/>
          <a:srcRect l="0" r="0" t="0" b="0"/>
          <a:stretch/>
        </p:blipFill>
        <p:spPr>
          <a:xfrm>
            <a:off x="640080" y="3429000"/>
            <a:ext cx="502920" cy="502920"/>
          </a:xfrm>
          <a:prstGeom prst="rect">
            <a:avLst/>
          </a:prstGeom>
        </p:spPr>
      </p:pic>
      <p:sp>
        <p:nvSpPr>
          <p:cNvPr id="21" name="Text 16"/>
          <p:cNvSpPr/>
          <p:nvPr/>
        </p:nvSpPr>
        <p:spPr>
          <a:xfrm>
            <a:off x="1325880" y="3300984"/>
            <a:ext cx="1828800" cy="758952"/>
          </a:xfrm>
          <a:prstGeom prst="rect">
            <a:avLst/>
          </a:prstGeom>
          <a:noFill/>
          <a:ln/>
        </p:spPr>
        <p:txBody>
          <a:bodyPr wrap="square" lIns="0" tIns="0" rIns="0" bIns="0" rtlCol="0" anchor="ctr"/>
          <a:lstStyle/>
          <a:p>
            <a:pPr indent="0" marL="0">
              <a:buNone/>
            </a:pPr>
            <a:r>
              <a:rPr lang="en-US" sz="1500" b="1" dirty="0">
                <a:solidFill>
                  <a:srgbClr val="000000"/>
                </a:solidFill>
                <a:latin typeface="Arial" pitchFamily="34" charset="0"/>
                <a:ea typeface="Arial" pitchFamily="34" charset="-122"/>
                <a:cs typeface="Arial" pitchFamily="34" charset="-120"/>
              </a:rPr>
              <a:t>Google</a:t>
            </a:r>
            <a:endParaRPr lang="en-US" sz="1500" dirty="0"/>
          </a:p>
        </p:txBody>
      </p:sp>
      <p:sp>
        <p:nvSpPr>
          <p:cNvPr id="22" name="Text 17"/>
          <p:cNvSpPr/>
          <p:nvPr/>
        </p:nvSpPr>
        <p:spPr>
          <a:xfrm>
            <a:off x="3200400" y="3300984"/>
            <a:ext cx="1280160" cy="758952"/>
          </a:xfrm>
          <a:prstGeom prst="rect">
            <a:avLst/>
          </a:prstGeom>
          <a:noFill/>
          <a:ln/>
        </p:spPr>
        <p:txBody>
          <a:bodyPr wrap="square" lIns="0" tIns="0" rIns="0" bIns="0" rtlCol="0" anchor="ctr"/>
          <a:lstStyle/>
          <a:p>
            <a:pPr algn="ctr" indent="0" marL="0">
              <a:buNone/>
            </a:pPr>
            <a:r>
              <a:rPr lang="en-US" sz="2000" b="1" dirty="0">
                <a:solidFill>
                  <a:srgbClr val="F6693D"/>
                </a:solidFill>
                <a:latin typeface="Arial Black" pitchFamily="34" charset="0"/>
                <a:ea typeface="Arial Black" pitchFamily="34" charset="-122"/>
                <a:cs typeface="Arial Black" pitchFamily="34" charset="-120"/>
              </a:rPr>
              <a:t>$2.3T</a:t>
            </a:r>
            <a:pPr algn="ctr" indent="0" marL="0">
              <a:buNone/>
            </a:pPr>
            <a:r>
              <a:rPr lang="en-US" sz="1000" b="1" baseline="30000" dirty="0">
                <a:solidFill>
                  <a:srgbClr val="F6693D"/>
                </a:solidFill>
                <a:latin typeface="Arial Black" pitchFamily="34" charset="0"/>
                <a:ea typeface="Arial Black" pitchFamily="34" charset="-122"/>
                <a:cs typeface="Arial Black" pitchFamily="34" charset="-120"/>
              </a:rPr>
              <a:t> 3</a:t>
            </a:r>
            <a:endParaRPr lang="en-US" sz="2000" dirty="0"/>
          </a:p>
        </p:txBody>
      </p:sp>
      <p:sp>
        <p:nvSpPr>
          <p:cNvPr id="23" name="Text 18"/>
          <p:cNvSpPr/>
          <p:nvPr/>
        </p:nvSpPr>
        <p:spPr>
          <a:xfrm>
            <a:off x="4480560" y="3300984"/>
            <a:ext cx="1188720" cy="758952"/>
          </a:xfrm>
          <a:prstGeom prst="rect">
            <a:avLst/>
          </a:prstGeom>
          <a:noFill/>
          <a:ln/>
        </p:spPr>
        <p:txBody>
          <a:bodyPr wrap="square" lIns="0" tIns="0" rIns="0" bIns="0" rtlCol="0" anchor="ctr"/>
          <a:lstStyle/>
          <a:p>
            <a:pPr algn="ctr" indent="0" marL="0">
              <a:buNone/>
            </a:pPr>
            <a:r>
              <a:rPr lang="en-US" sz="1200" dirty="0">
                <a:solidFill>
                  <a:srgbClr val="666666"/>
                </a:solidFill>
                <a:latin typeface="Arial" pitchFamily="34" charset="0"/>
                <a:ea typeface="Arial" pitchFamily="34" charset="-122"/>
                <a:cs typeface="Arial" pitchFamily="34" charset="-120"/>
              </a:rPr>
              <a:t>~20× P/E</a:t>
            </a:r>
            <a:endParaRPr lang="en-US" sz="1200" dirty="0"/>
          </a:p>
        </p:txBody>
      </p:sp>
      <p:sp>
        <p:nvSpPr>
          <p:cNvPr id="24" name="Text 19"/>
          <p:cNvSpPr/>
          <p:nvPr/>
        </p:nvSpPr>
        <p:spPr>
          <a:xfrm>
            <a:off x="5760720" y="3300984"/>
            <a:ext cx="2834640" cy="758952"/>
          </a:xfrm>
          <a:prstGeom prst="rect">
            <a:avLst/>
          </a:prstGeom>
          <a:noFill/>
          <a:ln/>
        </p:spPr>
        <p:txBody>
          <a:bodyPr wrap="square" lIns="0" tIns="0" rIns="0" bIns="0" rtlCol="0" anchor="ctr"/>
          <a:lstStyle/>
          <a:p>
            <a:pPr indent="0" marL="0">
              <a:buNone/>
            </a:pPr>
            <a:r>
              <a:rPr lang="en-US" sz="1100" dirty="0">
                <a:solidFill>
                  <a:srgbClr val="333333"/>
                </a:solidFill>
                <a:latin typeface="Arial" pitchFamily="34" charset="0"/>
                <a:ea typeface="Arial" pitchFamily="34" charset="-122"/>
                <a:cs typeface="Arial" pitchFamily="34" charset="-120"/>
              </a:rPr>
              <a:t>Alphabet (public) · Gemini 3 / DeepMind · ~$85B 2026 capex</a:t>
            </a:r>
            <a:endParaRPr lang="en-US" sz="1100" dirty="0"/>
          </a:p>
        </p:txBody>
      </p:sp>
      <p:sp>
        <p:nvSpPr>
          <p:cNvPr id="25" name="Shape 20"/>
          <p:cNvSpPr/>
          <p:nvPr/>
        </p:nvSpPr>
        <p:spPr>
          <a:xfrm>
            <a:off x="457200" y="4105656"/>
            <a:ext cx="8229600" cy="758952"/>
          </a:xfrm>
          <a:prstGeom prst="rect">
            <a:avLst/>
          </a:prstGeom>
          <a:solidFill>
            <a:srgbClr val="F9F9F9"/>
          </a:solidFill>
          <a:ln w="6350">
            <a:solidFill>
              <a:srgbClr val="E5E5E5"/>
            </a:solidFill>
            <a:prstDash val="solid"/>
          </a:ln>
        </p:spPr>
      </p:sp>
      <p:pic>
        <p:nvPicPr>
          <p:cNvPr id="26" name="Image 3" descr="logos/xai.png">    </p:cNvPr>
          <p:cNvPicPr>
            <a:picLocks noChangeAspect="1"/>
          </p:cNvPicPr>
          <p:nvPr/>
        </p:nvPicPr>
        <p:blipFill>
          <a:blip r:embed="rId4"/>
          <a:srcRect l="0" r="0" t="0" b="0"/>
          <a:stretch/>
        </p:blipFill>
        <p:spPr>
          <a:xfrm>
            <a:off x="640080" y="4233672"/>
            <a:ext cx="502920" cy="502920"/>
          </a:xfrm>
          <a:prstGeom prst="rect">
            <a:avLst/>
          </a:prstGeom>
        </p:spPr>
      </p:pic>
      <p:sp>
        <p:nvSpPr>
          <p:cNvPr id="27" name="Text 21"/>
          <p:cNvSpPr/>
          <p:nvPr/>
        </p:nvSpPr>
        <p:spPr>
          <a:xfrm>
            <a:off x="1325880" y="4105656"/>
            <a:ext cx="1828800" cy="758952"/>
          </a:xfrm>
          <a:prstGeom prst="rect">
            <a:avLst/>
          </a:prstGeom>
          <a:noFill/>
          <a:ln/>
        </p:spPr>
        <p:txBody>
          <a:bodyPr wrap="square" lIns="0" tIns="0" rIns="0" bIns="0" rtlCol="0" anchor="ctr"/>
          <a:lstStyle/>
          <a:p>
            <a:pPr indent="0" marL="0">
              <a:buNone/>
            </a:pPr>
            <a:r>
              <a:rPr lang="en-US" sz="1500" b="1" dirty="0">
                <a:solidFill>
                  <a:srgbClr val="000000"/>
                </a:solidFill>
                <a:latin typeface="Arial" pitchFamily="34" charset="0"/>
                <a:ea typeface="Arial" pitchFamily="34" charset="-122"/>
                <a:cs typeface="Arial" pitchFamily="34" charset="-120"/>
              </a:rPr>
              <a:t>xAI / SpaceX</a:t>
            </a:r>
            <a:endParaRPr lang="en-US" sz="1500" dirty="0"/>
          </a:p>
        </p:txBody>
      </p:sp>
      <p:sp>
        <p:nvSpPr>
          <p:cNvPr id="28" name="Text 22"/>
          <p:cNvSpPr/>
          <p:nvPr/>
        </p:nvSpPr>
        <p:spPr>
          <a:xfrm>
            <a:off x="3200400" y="4105656"/>
            <a:ext cx="1280160" cy="758952"/>
          </a:xfrm>
          <a:prstGeom prst="rect">
            <a:avLst/>
          </a:prstGeom>
          <a:noFill/>
          <a:ln/>
        </p:spPr>
        <p:txBody>
          <a:bodyPr wrap="square" lIns="0" tIns="0" rIns="0" bIns="0" rtlCol="0" anchor="ctr"/>
          <a:lstStyle/>
          <a:p>
            <a:pPr algn="ctr" indent="0" marL="0">
              <a:buNone/>
            </a:pPr>
            <a:r>
              <a:rPr lang="en-US" sz="2000" b="1" dirty="0">
                <a:solidFill>
                  <a:srgbClr val="F6693D"/>
                </a:solidFill>
                <a:latin typeface="Arial Black" pitchFamily="34" charset="0"/>
                <a:ea typeface="Arial Black" pitchFamily="34" charset="-122"/>
                <a:cs typeface="Arial Black" pitchFamily="34" charset="-120"/>
              </a:rPr>
              <a:t>$1.25T</a:t>
            </a:r>
            <a:pPr algn="ctr" indent="0" marL="0">
              <a:buNone/>
            </a:pPr>
            <a:r>
              <a:rPr lang="en-US" sz="1000" b="1" baseline="30000" dirty="0">
                <a:solidFill>
                  <a:srgbClr val="F6693D"/>
                </a:solidFill>
                <a:latin typeface="Arial Black" pitchFamily="34" charset="0"/>
                <a:ea typeface="Arial Black" pitchFamily="34" charset="-122"/>
                <a:cs typeface="Arial Black" pitchFamily="34" charset="-120"/>
              </a:rPr>
              <a:t> 4</a:t>
            </a:r>
            <a:endParaRPr lang="en-US" sz="2000" dirty="0"/>
          </a:p>
        </p:txBody>
      </p:sp>
      <p:sp>
        <p:nvSpPr>
          <p:cNvPr id="29" name="Text 23"/>
          <p:cNvSpPr/>
          <p:nvPr/>
        </p:nvSpPr>
        <p:spPr>
          <a:xfrm>
            <a:off x="4480560" y="4105656"/>
            <a:ext cx="1188720" cy="758952"/>
          </a:xfrm>
          <a:prstGeom prst="rect">
            <a:avLst/>
          </a:prstGeom>
          <a:noFill/>
          <a:ln/>
        </p:spPr>
        <p:txBody>
          <a:bodyPr wrap="square" lIns="0" tIns="0" rIns="0" bIns="0" rtlCol="0" anchor="ctr"/>
          <a:lstStyle/>
          <a:p>
            <a:pPr algn="ctr" indent="0" marL="0">
              <a:buNone/>
            </a:pPr>
            <a:r>
              <a:rPr lang="en-US" sz="1200" dirty="0">
                <a:solidFill>
                  <a:srgbClr val="666666"/>
                </a:solidFill>
                <a:latin typeface="Arial" pitchFamily="34" charset="0"/>
                <a:ea typeface="Arial" pitchFamily="34" charset="-122"/>
                <a:cs typeface="Arial" pitchFamily="34" charset="-120"/>
              </a:rPr>
              <a:t>combined</a:t>
            </a:r>
            <a:endParaRPr lang="en-US" sz="1200" dirty="0"/>
          </a:p>
        </p:txBody>
      </p:sp>
      <p:sp>
        <p:nvSpPr>
          <p:cNvPr id="30" name="Text 24"/>
          <p:cNvSpPr/>
          <p:nvPr/>
        </p:nvSpPr>
        <p:spPr>
          <a:xfrm>
            <a:off x="5760720" y="4105656"/>
            <a:ext cx="2834640" cy="758952"/>
          </a:xfrm>
          <a:prstGeom prst="rect">
            <a:avLst/>
          </a:prstGeom>
          <a:noFill/>
          <a:ln/>
        </p:spPr>
        <p:txBody>
          <a:bodyPr wrap="square" lIns="0" tIns="0" rIns="0" bIns="0" rtlCol="0" anchor="ctr"/>
          <a:lstStyle/>
          <a:p>
            <a:pPr indent="0" marL="0">
              <a:buNone/>
            </a:pPr>
            <a:r>
              <a:rPr lang="en-US" sz="1100" dirty="0">
                <a:solidFill>
                  <a:srgbClr val="333333"/>
                </a:solidFill>
                <a:latin typeface="Arial" pitchFamily="34" charset="0"/>
                <a:ea typeface="Arial" pitchFamily="34" charset="-122"/>
                <a:cs typeface="Arial" pitchFamily="34" charset="-120"/>
              </a:rPr>
              <a:t>All-stock merger closed Feb 2, 2026 — xAI now a SpaceX subsidiary</a:t>
            </a:r>
            <a:endParaRPr lang="en-US" sz="1100" dirty="0"/>
          </a:p>
        </p:txBody>
      </p:sp>
      <p:sp>
        <p:nvSpPr>
          <p:cNvPr id="31" name="Text 25"/>
          <p:cNvSpPr/>
          <p:nvPr/>
        </p:nvSpPr>
        <p:spPr>
          <a:xfrm>
            <a:off x="457200" y="4919472"/>
            <a:ext cx="8229600" cy="182880"/>
          </a:xfrm>
          <a:prstGeom prst="rect">
            <a:avLst/>
          </a:prstGeom>
          <a:noFill/>
          <a:ln/>
        </p:spPr>
        <p:txBody>
          <a:bodyPr wrap="square" lIns="0" tIns="0" rIns="0" bIns="0" rtlCol="0" anchor="t"/>
          <a:lstStyle/>
          <a:p>
            <a:pPr algn="r" indent="0" marL="0">
              <a:buNone/>
            </a:pPr>
            <a:r>
              <a:rPr lang="en-US" sz="800" i="1" dirty="0">
                <a:solidFill>
                  <a:srgbClr val="666666"/>
                </a:solidFill>
                <a:latin typeface="Arial" pitchFamily="34" charset="0"/>
                <a:ea typeface="Arial" pitchFamily="34" charset="-122"/>
                <a:cs typeface="Arial" pitchFamily="34" charset="-120"/>
              </a:rPr>
              <a:t>All valuations as of Apr 22, 2026.</a:t>
            </a:r>
            <a:endParaRPr lang="en-US" sz="800" dirty="0"/>
          </a:p>
        </p:txBody>
      </p:sp>
      <p:sp>
        <p:nvSpPr>
          <p:cNvPr id="32" name="Shape 26"/>
          <p:cNvSpPr/>
          <p:nvPr/>
        </p:nvSpPr>
        <p:spPr>
          <a:xfrm>
            <a:off x="457200" y="5166360"/>
            <a:ext cx="8229600" cy="502920"/>
          </a:xfrm>
          <a:prstGeom prst="rect">
            <a:avLst/>
          </a:prstGeom>
          <a:solidFill>
            <a:srgbClr val="FFD100"/>
          </a:solidFill>
          <a:ln w="12700">
            <a:solidFill>
              <a:srgbClr val="FFD100"/>
            </a:solidFill>
            <a:prstDash val="solid"/>
          </a:ln>
        </p:spPr>
      </p:sp>
      <p:sp>
        <p:nvSpPr>
          <p:cNvPr id="33" name="Text 27"/>
          <p:cNvSpPr/>
          <p:nvPr/>
        </p:nvSpPr>
        <p:spPr>
          <a:xfrm>
            <a:off x="640080" y="5166360"/>
            <a:ext cx="7863840" cy="502920"/>
          </a:xfrm>
          <a:prstGeom prst="rect">
            <a:avLst/>
          </a:prstGeom>
          <a:noFill/>
          <a:ln/>
        </p:spPr>
        <p:txBody>
          <a:bodyPr wrap="square" lIns="0" tIns="0" rIns="0" bIns="0" rtlCol="0" anchor="ctr"/>
          <a:lstStyle/>
          <a:p>
            <a:pPr indent="0" marL="0">
              <a:buNone/>
            </a:pPr>
            <a:r>
              <a:rPr lang="en-US" sz="1400" b="1" dirty="0">
                <a:solidFill>
                  <a:srgbClr val="000000"/>
                </a:solidFill>
                <a:latin typeface="Arial" pitchFamily="34" charset="0"/>
                <a:ea typeface="Arial" pitchFamily="34" charset="-122"/>
                <a:cs typeface="Arial" pitchFamily="34" charset="-120"/>
              </a:rPr>
              <a:t>Q1 2026 funding to foundational AI startups was 2× all of 2025.</a:t>
            </a:r>
            <a:pPr indent="0" marL="0">
              <a:buNone/>
            </a:pPr>
            <a:r>
              <a:rPr lang="en-US" sz="800" b="1" baseline="30000" dirty="0">
                <a:solidFill>
                  <a:srgbClr val="000000"/>
                </a:solidFill>
                <a:latin typeface="Arial" pitchFamily="34" charset="0"/>
                <a:ea typeface="Arial" pitchFamily="34" charset="-122"/>
                <a:cs typeface="Arial" pitchFamily="34" charset="-120"/>
              </a:rPr>
              <a:t> 5</a:t>
            </a:r>
            <a:endParaRPr lang="en-US" sz="1400" dirty="0"/>
          </a:p>
        </p:txBody>
      </p:sp>
      <p:sp>
        <p:nvSpPr>
          <p:cNvPr id="34" name="Text 28"/>
          <p:cNvSpPr/>
          <p:nvPr/>
        </p:nvSpPr>
        <p:spPr>
          <a:xfrm>
            <a:off x="457200" y="5875020"/>
            <a:ext cx="8229600" cy="457200"/>
          </a:xfrm>
          <a:prstGeom prst="rect">
            <a:avLst/>
          </a:prstGeom>
          <a:noFill/>
          <a:ln/>
        </p:spPr>
        <p:txBody>
          <a:bodyPr wrap="square" lIns="0" tIns="0" rIns="0" bIns="0" rtlCol="0" anchor="t"/>
          <a:lstStyle/>
          <a:p>
            <a:pPr indent="0" marL="0">
              <a:buNone/>
            </a:pPr>
            <a:r>
              <a:rPr lang="en-US" sz="700" b="1" dirty="0">
                <a:solidFill>
                  <a:srgbClr val="999999"/>
                </a:solidFill>
                <a:latin typeface="Arial" pitchFamily="34" charset="0"/>
                <a:ea typeface="Arial" pitchFamily="34" charset="-122"/>
                <a:cs typeface="Arial" pitchFamily="34" charset="-120"/>
              </a:rPr>
              <a:t>(1) </a:t>
            </a:r>
            <a:pPr indent="0" marL="0">
              <a:buNone/>
            </a:pPr>
            <a:r>
              <a:rPr lang="en-US" sz="700" dirty="0">
                <a:solidFill>
                  <a:srgbClr val="999999"/>
                </a:solidFill>
                <a:latin typeface="Arial" pitchFamily="34" charset="0"/>
                <a:ea typeface="Arial" pitchFamily="34" charset="-122"/>
                <a:cs typeface="Arial" pitchFamily="34" charset="-120"/>
              </a:rPr>
              <a:t>Bloomberg / CNBC — OpenAI $122B round, Apr 2026, </a:t>
            </a:r>
            <a:pPr indent="0" marL="0">
              <a:buNone/>
            </a:pPr>
            <a:r>
              <a:rPr lang="en-US" sz="700" b="1" dirty="0">
                <a:solidFill>
                  <a:srgbClr val="999999"/>
                </a:solidFill>
                <a:latin typeface="Arial" pitchFamily="34" charset="0"/>
                <a:ea typeface="Arial" pitchFamily="34" charset="-122"/>
                <a:cs typeface="Arial" pitchFamily="34" charset="-120"/>
              </a:rPr>
              <a:t>(2) </a:t>
            </a:r>
            <a:pPr indent="0" marL="0">
              <a:buNone/>
            </a:pPr>
            <a:r>
              <a:rPr lang="en-US" sz="700" dirty="0">
                <a:solidFill>
                  <a:srgbClr val="999999"/>
                </a:solidFill>
                <a:latin typeface="Arial" pitchFamily="34" charset="0"/>
                <a:ea typeface="Arial" pitchFamily="34" charset="-122"/>
                <a:cs typeface="Arial" pitchFamily="34" charset="-120"/>
              </a:rPr>
              <a:t>Sacra / Bloomberg — Anthropic Series G, Feb 2026, </a:t>
            </a:r>
            <a:pPr indent="0" marL="0">
              <a:buNone/>
            </a:pPr>
            <a:r>
              <a:rPr lang="en-US" sz="700" b="1" dirty="0">
                <a:solidFill>
                  <a:srgbClr val="999999"/>
                </a:solidFill>
                <a:latin typeface="Arial" pitchFamily="34" charset="0"/>
                <a:ea typeface="Arial" pitchFamily="34" charset="-122"/>
                <a:cs typeface="Arial" pitchFamily="34" charset="-120"/>
              </a:rPr>
              <a:t>(3) </a:t>
            </a:r>
            <a:pPr indent="0" marL="0">
              <a:buNone/>
            </a:pPr>
            <a:r>
              <a:rPr lang="en-US" sz="700" dirty="0">
                <a:solidFill>
                  <a:srgbClr val="999999"/>
                </a:solidFill>
                <a:latin typeface="Arial" pitchFamily="34" charset="0"/>
                <a:ea typeface="Arial" pitchFamily="34" charset="-122"/>
                <a:cs typeface="Arial" pitchFamily="34" charset="-120"/>
              </a:rPr>
              <a:t>Alphabet 10-K + 2026 capex guide, </a:t>
            </a:r>
            <a:pPr indent="0" marL="0">
              <a:buNone/>
            </a:pPr>
            <a:r>
              <a:rPr lang="en-US" sz="700" b="1" dirty="0">
                <a:solidFill>
                  <a:srgbClr val="999999"/>
                </a:solidFill>
                <a:latin typeface="Arial" pitchFamily="34" charset="0"/>
                <a:ea typeface="Arial" pitchFamily="34" charset="-122"/>
                <a:cs typeface="Arial" pitchFamily="34" charset="-120"/>
              </a:rPr>
              <a:t>(4) </a:t>
            </a:r>
            <a:pPr indent="0" marL="0">
              <a:buNone/>
            </a:pPr>
            <a:r>
              <a:rPr lang="en-US" sz="700" dirty="0">
                <a:solidFill>
                  <a:srgbClr val="999999"/>
                </a:solidFill>
                <a:latin typeface="Arial" pitchFamily="34" charset="0"/>
                <a:ea typeface="Arial" pitchFamily="34" charset="-122"/>
                <a:cs typeface="Arial" pitchFamily="34" charset="-120"/>
              </a:rPr>
              <a:t>TechCrunch / CNBC — xAI-SpaceX merger, Feb 2, 2026, </a:t>
            </a:r>
            <a:pPr indent="0" marL="0">
              <a:buNone/>
            </a:pPr>
            <a:r>
              <a:rPr lang="en-US" sz="700" b="1" dirty="0">
                <a:solidFill>
                  <a:srgbClr val="999999"/>
                </a:solidFill>
                <a:latin typeface="Arial" pitchFamily="34" charset="0"/>
                <a:ea typeface="Arial" pitchFamily="34" charset="-122"/>
                <a:cs typeface="Arial" pitchFamily="34" charset="-120"/>
              </a:rPr>
              <a:t>(5) </a:t>
            </a:r>
            <a:pPr indent="0" marL="0">
              <a:buNone/>
            </a:pPr>
            <a:r>
              <a:rPr lang="en-US" sz="700" dirty="0">
                <a:solidFill>
                  <a:srgbClr val="999999"/>
                </a:solidFill>
                <a:latin typeface="Arial" pitchFamily="34" charset="0"/>
                <a:ea typeface="Arial" pitchFamily="34" charset="-122"/>
                <a:cs typeface="Arial" pitchFamily="34" charset="-120"/>
              </a:rPr>
              <a:t>Crunchbase Q1 2026 VC data.</a:t>
            </a:r>
            <a:endParaRPr lang="en-US" sz="700" dirty="0"/>
          </a:p>
        </p:txBody>
      </p:sp>
      <p:sp>
        <p:nvSpPr>
          <p:cNvPr id="35" name="Shape 29"/>
          <p:cNvSpPr/>
          <p:nvPr/>
        </p:nvSpPr>
        <p:spPr>
          <a:xfrm>
            <a:off x="0" y="6286500"/>
            <a:ext cx="9144000" cy="571500"/>
          </a:xfrm>
          <a:prstGeom prst="rect">
            <a:avLst/>
          </a:prstGeom>
          <a:solidFill>
            <a:srgbClr val="000000"/>
          </a:solidFill>
          <a:ln w="12700">
            <a:solidFill>
              <a:srgbClr val="000000"/>
            </a:solidFill>
            <a:prstDash val="solid"/>
          </a:ln>
        </p:spPr>
      </p:sp>
      <p:sp>
        <p:nvSpPr>
          <p:cNvPr id="36" name="Text 30"/>
          <p:cNvSpPr/>
          <p:nvPr/>
        </p:nvSpPr>
        <p:spPr>
          <a:xfrm>
            <a:off x="1371600" y="6332220"/>
            <a:ext cx="6400800" cy="45720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37" name="Text 31"/>
          <p:cNvSpPr/>
          <p:nvPr/>
        </p:nvSpPr>
        <p:spPr>
          <a:xfrm>
            <a:off x="8321040" y="6405372"/>
            <a:ext cx="548640" cy="27432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FFB800"/>
          </a:solidFill>
          <a:ln w="12700">
            <a:solidFill>
              <a:srgbClr val="FFB800"/>
            </a:solidFill>
            <a:prstDash val="solid"/>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1000" b="1" spc="100" kern="0" dirty="0">
                <a:solidFill>
                  <a:srgbClr val="000000"/>
                </a:solidFill>
                <a:latin typeface="Arial" pitchFamily="34" charset="0"/>
                <a:ea typeface="Arial" pitchFamily="34" charset="-122"/>
                <a:cs typeface="Arial" pitchFamily="34" charset="-120"/>
              </a:rPr>
              <a:t>MARKET</a:t>
            </a:r>
            <a:endParaRPr lang="en-US" sz="1000" dirty="0"/>
          </a:p>
        </p:txBody>
      </p:sp>
      <p:sp>
        <p:nvSpPr>
          <p:cNvPr id="4" name="Text 2"/>
          <p:cNvSpPr/>
          <p:nvPr/>
        </p:nvSpPr>
        <p:spPr>
          <a:xfrm>
            <a:off x="457200" y="182880"/>
            <a:ext cx="6583680" cy="685800"/>
          </a:xfrm>
          <a:prstGeom prst="rect">
            <a:avLst/>
          </a:prstGeom>
          <a:noFill/>
          <a:ln/>
        </p:spPr>
        <p:txBody>
          <a:bodyPr wrap="square" lIns="0" tIns="0" rIns="0" bIns="0" rtlCol="0" anchor="t"/>
          <a:lstStyle/>
          <a:p>
            <a:pPr indent="0" marL="0">
              <a:buNone/>
            </a:pPr>
            <a:r>
              <a:rPr lang="en-US" sz="2400" b="1" dirty="0">
                <a:solidFill>
                  <a:srgbClr val="000000"/>
                </a:solidFill>
                <a:latin typeface="Arial Black" pitchFamily="34" charset="0"/>
                <a:ea typeface="Arial Black" pitchFamily="34" charset="-122"/>
                <a:cs typeface="Arial Black" pitchFamily="34" charset="-120"/>
              </a:rPr>
              <a:t>Top 10 Tech grow 4× faster than Top 10 Non-Tech — at a similar multiple</a:t>
            </a:r>
            <a:endParaRPr lang="en-US" sz="2400" dirty="0"/>
          </a:p>
        </p:txBody>
      </p:sp>
      <p:sp>
        <p:nvSpPr>
          <p:cNvPr id="5" name="Text 3"/>
          <p:cNvSpPr/>
          <p:nvPr/>
        </p:nvSpPr>
        <p:spPr>
          <a:xfrm>
            <a:off x="457200" y="91440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Top 10 Tech firms are growing 4× faster than the top 10 Non-Tech — at a similar multiple. The divergence in fundamentals has not been priced into valuations.</a:t>
            </a:r>
            <a:endParaRPr lang="en-US" sz="1350" dirty="0"/>
          </a:p>
        </p:txBody>
      </p:sp>
      <p:sp>
        <p:nvSpPr>
          <p:cNvPr id="6" name="Shape 4"/>
          <p:cNvSpPr/>
          <p:nvPr/>
        </p:nvSpPr>
        <p:spPr>
          <a:xfrm>
            <a:off x="457200" y="1325880"/>
            <a:ext cx="8229600" cy="0"/>
          </a:xfrm>
          <a:prstGeom prst="line">
            <a:avLst/>
          </a:prstGeom>
          <a:noFill/>
          <a:ln w="9525">
            <a:solidFill>
              <a:srgbClr val="E5E5E5"/>
            </a:solidFill>
            <a:prstDash val="solid"/>
          </a:ln>
        </p:spPr>
      </p:sp>
      <p:sp>
        <p:nvSpPr>
          <p:cNvPr id="7" name="Text 5"/>
          <p:cNvSpPr/>
          <p:nvPr/>
        </p:nvSpPr>
        <p:spPr>
          <a:xfrm>
            <a:off x="457200" y="1554480"/>
            <a:ext cx="3931920" cy="274320"/>
          </a:xfrm>
          <a:prstGeom prst="rect">
            <a:avLst/>
          </a:prstGeom>
          <a:noFill/>
          <a:ln/>
        </p:spPr>
        <p:txBody>
          <a:bodyPr wrap="square" lIns="0" tIns="0" rIns="0" bIns="0" rtlCol="0" anchor="b"/>
          <a:lstStyle/>
          <a:p>
            <a:pPr indent="0" marL="0">
              <a:buNone/>
            </a:pPr>
            <a:r>
              <a:rPr lang="en-US" sz="1400" b="1" dirty="0">
                <a:solidFill>
                  <a:srgbClr val="000000"/>
                </a:solidFill>
                <a:latin typeface="Arial" pitchFamily="34" charset="0"/>
                <a:ea typeface="Arial" pitchFamily="34" charset="-122"/>
                <a:cs typeface="Arial" pitchFamily="34" charset="-120"/>
              </a:rPr>
              <a:t>Top 10 Tech vs Top 10 Non-Tech — 2026E</a:t>
            </a:r>
            <a:endParaRPr lang="en-US" sz="1400" dirty="0"/>
          </a:p>
        </p:txBody>
      </p:sp>
      <p:sp>
        <p:nvSpPr>
          <p:cNvPr id="8" name="Shape 6"/>
          <p:cNvSpPr/>
          <p:nvPr/>
        </p:nvSpPr>
        <p:spPr>
          <a:xfrm>
            <a:off x="457200" y="1828800"/>
            <a:ext cx="3931920" cy="0"/>
          </a:xfrm>
          <a:prstGeom prst="line">
            <a:avLst/>
          </a:prstGeom>
          <a:noFill/>
          <a:ln w="19050">
            <a:solidFill>
              <a:srgbClr val="000000"/>
            </a:solidFill>
            <a:prstDash val="solid"/>
          </a:ln>
        </p:spPr>
      </p:sp>
      <p:sp>
        <p:nvSpPr>
          <p:cNvPr id="9" name="Shape 7"/>
          <p:cNvSpPr/>
          <p:nvPr/>
        </p:nvSpPr>
        <p:spPr>
          <a:xfrm>
            <a:off x="457200" y="2011680"/>
            <a:ext cx="3931920" cy="2926080"/>
          </a:xfrm>
          <a:prstGeom prst="rect">
            <a:avLst/>
          </a:prstGeom>
          <a:solidFill>
            <a:srgbClr val="FFFFFF"/>
          </a:solidFill>
          <a:ln w="6350">
            <a:solidFill>
              <a:srgbClr val="E5E5E5"/>
            </a:solidFill>
            <a:prstDash val="solid"/>
          </a:ln>
        </p:spPr>
      </p:sp>
      <p:sp>
        <p:nvSpPr>
          <p:cNvPr id="10" name="Shape 8"/>
          <p:cNvSpPr/>
          <p:nvPr/>
        </p:nvSpPr>
        <p:spPr>
          <a:xfrm>
            <a:off x="603504" y="3401568"/>
            <a:ext cx="512064" cy="804672"/>
          </a:xfrm>
          <a:prstGeom prst="rect">
            <a:avLst/>
          </a:prstGeom>
          <a:solidFill>
            <a:srgbClr val="F6693D"/>
          </a:solidFill>
          <a:ln w="12700">
            <a:solidFill>
              <a:srgbClr val="F6693D"/>
            </a:solidFill>
            <a:prstDash val="solid"/>
          </a:ln>
        </p:spPr>
      </p:sp>
      <p:sp>
        <p:nvSpPr>
          <p:cNvPr id="11" name="Text 9"/>
          <p:cNvSpPr/>
          <p:nvPr/>
        </p:nvSpPr>
        <p:spPr>
          <a:xfrm>
            <a:off x="603504" y="3127248"/>
            <a:ext cx="512064" cy="228600"/>
          </a:xfrm>
          <a:prstGeom prst="rect">
            <a:avLst/>
          </a:prstGeom>
          <a:noFill/>
          <a:ln/>
        </p:spPr>
        <p:txBody>
          <a:bodyPr wrap="square" lIns="0" tIns="0" rIns="0" bIns="0" rtlCol="0" anchor="ctr"/>
          <a:lstStyle/>
          <a:p>
            <a:pPr algn="ctr" indent="0" marL="0">
              <a:buNone/>
            </a:pPr>
            <a:r>
              <a:rPr lang="en-US" sz="1050" b="1" dirty="0">
                <a:solidFill>
                  <a:srgbClr val="F6693D"/>
                </a:solidFill>
                <a:latin typeface="Arial Black" pitchFamily="34" charset="0"/>
                <a:ea typeface="Arial Black" pitchFamily="34" charset="-122"/>
                <a:cs typeface="Arial Black" pitchFamily="34" charset="-120"/>
              </a:rPr>
              <a:t>22%</a:t>
            </a:r>
            <a:endParaRPr lang="en-US" sz="1050" dirty="0"/>
          </a:p>
        </p:txBody>
      </p:sp>
      <p:sp>
        <p:nvSpPr>
          <p:cNvPr id="12" name="Shape 10"/>
          <p:cNvSpPr/>
          <p:nvPr/>
        </p:nvSpPr>
        <p:spPr>
          <a:xfrm>
            <a:off x="1170432" y="4023360"/>
            <a:ext cx="512064" cy="182880"/>
          </a:xfrm>
          <a:prstGeom prst="rect">
            <a:avLst/>
          </a:prstGeom>
          <a:solidFill>
            <a:srgbClr val="666666"/>
          </a:solidFill>
          <a:ln w="12700">
            <a:solidFill>
              <a:srgbClr val="666666"/>
            </a:solidFill>
            <a:prstDash val="solid"/>
          </a:ln>
        </p:spPr>
      </p:sp>
      <p:sp>
        <p:nvSpPr>
          <p:cNvPr id="13" name="Text 11"/>
          <p:cNvSpPr/>
          <p:nvPr/>
        </p:nvSpPr>
        <p:spPr>
          <a:xfrm>
            <a:off x="1170432" y="3749040"/>
            <a:ext cx="512064" cy="228600"/>
          </a:xfrm>
          <a:prstGeom prst="rect">
            <a:avLst/>
          </a:prstGeom>
          <a:noFill/>
          <a:ln/>
        </p:spPr>
        <p:txBody>
          <a:bodyPr wrap="square" lIns="0" tIns="0" rIns="0" bIns="0" rtlCol="0" anchor="ctr"/>
          <a:lstStyle/>
          <a:p>
            <a:pPr algn="ctr" indent="0" marL="0">
              <a:buNone/>
            </a:pPr>
            <a:r>
              <a:rPr lang="en-US" sz="1050" b="1" dirty="0">
                <a:solidFill>
                  <a:srgbClr val="666666"/>
                </a:solidFill>
                <a:latin typeface="Arial Black" pitchFamily="34" charset="0"/>
                <a:ea typeface="Arial Black" pitchFamily="34" charset="-122"/>
                <a:cs typeface="Arial Black" pitchFamily="34" charset="-120"/>
              </a:rPr>
              <a:t>5%</a:t>
            </a:r>
            <a:endParaRPr lang="en-US" sz="1050" dirty="0"/>
          </a:p>
        </p:txBody>
      </p:sp>
      <p:sp>
        <p:nvSpPr>
          <p:cNvPr id="14" name="Shape 12"/>
          <p:cNvSpPr/>
          <p:nvPr/>
        </p:nvSpPr>
        <p:spPr>
          <a:xfrm>
            <a:off x="585216" y="4206240"/>
            <a:ext cx="1115568" cy="0"/>
          </a:xfrm>
          <a:prstGeom prst="line">
            <a:avLst/>
          </a:prstGeom>
          <a:noFill/>
          <a:ln w="9525">
            <a:solidFill>
              <a:srgbClr val="333333"/>
            </a:solidFill>
            <a:prstDash val="solid"/>
          </a:ln>
        </p:spPr>
      </p:sp>
      <p:sp>
        <p:nvSpPr>
          <p:cNvPr id="15" name="Text 13"/>
          <p:cNvSpPr/>
          <p:nvPr/>
        </p:nvSpPr>
        <p:spPr>
          <a:xfrm>
            <a:off x="548640" y="4315968"/>
            <a:ext cx="1188720" cy="256032"/>
          </a:xfrm>
          <a:prstGeom prst="rect">
            <a:avLst/>
          </a:prstGeom>
          <a:noFill/>
          <a:ln/>
        </p:spPr>
        <p:txBody>
          <a:bodyPr wrap="square" lIns="0" tIns="0" rIns="0" bIns="0" rtlCol="0" anchor="ctr"/>
          <a:lstStyle/>
          <a:p>
            <a:pPr algn="ctr" indent="0" marL="0">
              <a:buNone/>
            </a:pPr>
            <a:r>
              <a:rPr lang="en-US" sz="1000" b="1" dirty="0">
                <a:solidFill>
                  <a:srgbClr val="000000"/>
                </a:solidFill>
                <a:latin typeface="Arial" pitchFamily="34" charset="0"/>
                <a:ea typeface="Arial" pitchFamily="34" charset="-122"/>
                <a:cs typeface="Arial" pitchFamily="34" charset="-120"/>
              </a:rPr>
              <a:t>Revenue Growth</a:t>
            </a:r>
            <a:endParaRPr lang="en-US" sz="1000" dirty="0"/>
          </a:p>
        </p:txBody>
      </p:sp>
      <p:sp>
        <p:nvSpPr>
          <p:cNvPr id="16" name="Shape 14"/>
          <p:cNvSpPr/>
          <p:nvPr/>
        </p:nvSpPr>
        <p:spPr>
          <a:xfrm>
            <a:off x="1883664" y="2706624"/>
            <a:ext cx="512064" cy="1499616"/>
          </a:xfrm>
          <a:prstGeom prst="rect">
            <a:avLst/>
          </a:prstGeom>
          <a:solidFill>
            <a:srgbClr val="F6693D"/>
          </a:solidFill>
          <a:ln w="12700">
            <a:solidFill>
              <a:srgbClr val="F6693D"/>
            </a:solidFill>
            <a:prstDash val="solid"/>
          </a:ln>
        </p:spPr>
      </p:sp>
      <p:sp>
        <p:nvSpPr>
          <p:cNvPr id="17" name="Text 15"/>
          <p:cNvSpPr/>
          <p:nvPr/>
        </p:nvSpPr>
        <p:spPr>
          <a:xfrm>
            <a:off x="1883664" y="2432304"/>
            <a:ext cx="512064" cy="228600"/>
          </a:xfrm>
          <a:prstGeom prst="rect">
            <a:avLst/>
          </a:prstGeom>
          <a:noFill/>
          <a:ln/>
        </p:spPr>
        <p:txBody>
          <a:bodyPr wrap="square" lIns="0" tIns="0" rIns="0" bIns="0" rtlCol="0" anchor="ctr"/>
          <a:lstStyle/>
          <a:p>
            <a:pPr algn="ctr" indent="0" marL="0">
              <a:buNone/>
            </a:pPr>
            <a:r>
              <a:rPr lang="en-US" sz="1050" b="1" dirty="0">
                <a:solidFill>
                  <a:srgbClr val="F6693D"/>
                </a:solidFill>
                <a:latin typeface="Arial Black" pitchFamily="34" charset="0"/>
                <a:ea typeface="Arial Black" pitchFamily="34" charset="-122"/>
                <a:cs typeface="Arial Black" pitchFamily="34" charset="-120"/>
              </a:rPr>
              <a:t>41%</a:t>
            </a:r>
            <a:endParaRPr lang="en-US" sz="1050" dirty="0"/>
          </a:p>
        </p:txBody>
      </p:sp>
      <p:sp>
        <p:nvSpPr>
          <p:cNvPr id="18" name="Shape 16"/>
          <p:cNvSpPr/>
          <p:nvPr/>
        </p:nvSpPr>
        <p:spPr>
          <a:xfrm>
            <a:off x="2450592" y="3474720"/>
            <a:ext cx="512064" cy="731520"/>
          </a:xfrm>
          <a:prstGeom prst="rect">
            <a:avLst/>
          </a:prstGeom>
          <a:solidFill>
            <a:srgbClr val="666666"/>
          </a:solidFill>
          <a:ln w="12700">
            <a:solidFill>
              <a:srgbClr val="666666"/>
            </a:solidFill>
            <a:prstDash val="solid"/>
          </a:ln>
        </p:spPr>
      </p:sp>
      <p:sp>
        <p:nvSpPr>
          <p:cNvPr id="19" name="Text 17"/>
          <p:cNvSpPr/>
          <p:nvPr/>
        </p:nvSpPr>
        <p:spPr>
          <a:xfrm>
            <a:off x="2450592" y="3200400"/>
            <a:ext cx="512064" cy="228600"/>
          </a:xfrm>
          <a:prstGeom prst="rect">
            <a:avLst/>
          </a:prstGeom>
          <a:noFill/>
          <a:ln/>
        </p:spPr>
        <p:txBody>
          <a:bodyPr wrap="square" lIns="0" tIns="0" rIns="0" bIns="0" rtlCol="0" anchor="ctr"/>
          <a:lstStyle/>
          <a:p>
            <a:pPr algn="ctr" indent="0" marL="0">
              <a:buNone/>
            </a:pPr>
            <a:r>
              <a:rPr lang="en-US" sz="1050" b="1" dirty="0">
                <a:solidFill>
                  <a:srgbClr val="666666"/>
                </a:solidFill>
                <a:latin typeface="Arial Black" pitchFamily="34" charset="0"/>
                <a:ea typeface="Arial Black" pitchFamily="34" charset="-122"/>
                <a:cs typeface="Arial Black" pitchFamily="34" charset="-120"/>
              </a:rPr>
              <a:t>20%</a:t>
            </a:r>
            <a:endParaRPr lang="en-US" sz="1050" dirty="0"/>
          </a:p>
        </p:txBody>
      </p:sp>
      <p:sp>
        <p:nvSpPr>
          <p:cNvPr id="20" name="Shape 18"/>
          <p:cNvSpPr/>
          <p:nvPr/>
        </p:nvSpPr>
        <p:spPr>
          <a:xfrm>
            <a:off x="1865376" y="4206240"/>
            <a:ext cx="1115568" cy="0"/>
          </a:xfrm>
          <a:prstGeom prst="line">
            <a:avLst/>
          </a:prstGeom>
          <a:noFill/>
          <a:ln w="9525">
            <a:solidFill>
              <a:srgbClr val="333333"/>
            </a:solidFill>
            <a:prstDash val="solid"/>
          </a:ln>
        </p:spPr>
      </p:sp>
      <p:sp>
        <p:nvSpPr>
          <p:cNvPr id="21" name="Text 19"/>
          <p:cNvSpPr/>
          <p:nvPr/>
        </p:nvSpPr>
        <p:spPr>
          <a:xfrm>
            <a:off x="1828800" y="4315968"/>
            <a:ext cx="1188720" cy="256032"/>
          </a:xfrm>
          <a:prstGeom prst="rect">
            <a:avLst/>
          </a:prstGeom>
          <a:noFill/>
          <a:ln/>
        </p:spPr>
        <p:txBody>
          <a:bodyPr wrap="square" lIns="0" tIns="0" rIns="0" bIns="0" rtlCol="0" anchor="ctr"/>
          <a:lstStyle/>
          <a:p>
            <a:pPr algn="ctr" indent="0" marL="0">
              <a:buNone/>
            </a:pPr>
            <a:r>
              <a:rPr lang="en-US" sz="1000" b="1" dirty="0">
                <a:solidFill>
                  <a:srgbClr val="000000"/>
                </a:solidFill>
                <a:latin typeface="Arial" pitchFamily="34" charset="0"/>
                <a:ea typeface="Arial" pitchFamily="34" charset="-122"/>
                <a:cs typeface="Arial" pitchFamily="34" charset="-120"/>
              </a:rPr>
              <a:t>Op Margin</a:t>
            </a:r>
            <a:endParaRPr lang="en-US" sz="1000" dirty="0"/>
          </a:p>
        </p:txBody>
      </p:sp>
      <p:sp>
        <p:nvSpPr>
          <p:cNvPr id="22" name="Shape 20"/>
          <p:cNvSpPr/>
          <p:nvPr/>
        </p:nvSpPr>
        <p:spPr>
          <a:xfrm>
            <a:off x="3163824" y="3004457"/>
            <a:ext cx="512064" cy="1201783"/>
          </a:xfrm>
          <a:prstGeom prst="rect">
            <a:avLst/>
          </a:prstGeom>
          <a:solidFill>
            <a:srgbClr val="F6693D"/>
          </a:solidFill>
          <a:ln w="12700">
            <a:solidFill>
              <a:srgbClr val="F6693D"/>
            </a:solidFill>
            <a:prstDash val="solid"/>
          </a:ln>
        </p:spPr>
      </p:sp>
      <p:sp>
        <p:nvSpPr>
          <p:cNvPr id="23" name="Text 21"/>
          <p:cNvSpPr/>
          <p:nvPr/>
        </p:nvSpPr>
        <p:spPr>
          <a:xfrm>
            <a:off x="3163824" y="2730137"/>
            <a:ext cx="512064" cy="228600"/>
          </a:xfrm>
          <a:prstGeom prst="rect">
            <a:avLst/>
          </a:prstGeom>
          <a:noFill/>
          <a:ln/>
        </p:spPr>
        <p:txBody>
          <a:bodyPr wrap="square" lIns="0" tIns="0" rIns="0" bIns="0" rtlCol="0" anchor="ctr"/>
          <a:lstStyle/>
          <a:p>
            <a:pPr algn="ctr" indent="0" marL="0">
              <a:buNone/>
            </a:pPr>
            <a:r>
              <a:rPr lang="en-US" sz="1050" b="1" dirty="0">
                <a:solidFill>
                  <a:srgbClr val="F6693D"/>
                </a:solidFill>
                <a:latin typeface="Arial Black" pitchFamily="34" charset="0"/>
                <a:ea typeface="Arial Black" pitchFamily="34" charset="-122"/>
                <a:cs typeface="Arial Black" pitchFamily="34" charset="-120"/>
              </a:rPr>
              <a:t>23x</a:t>
            </a:r>
            <a:endParaRPr lang="en-US" sz="1050" dirty="0"/>
          </a:p>
        </p:txBody>
      </p:sp>
      <p:sp>
        <p:nvSpPr>
          <p:cNvPr id="24" name="Shape 22"/>
          <p:cNvSpPr/>
          <p:nvPr/>
        </p:nvSpPr>
        <p:spPr>
          <a:xfrm>
            <a:off x="3730752" y="2795451"/>
            <a:ext cx="512064" cy="1410789"/>
          </a:xfrm>
          <a:prstGeom prst="rect">
            <a:avLst/>
          </a:prstGeom>
          <a:solidFill>
            <a:srgbClr val="666666"/>
          </a:solidFill>
          <a:ln w="12700">
            <a:solidFill>
              <a:srgbClr val="666666"/>
            </a:solidFill>
            <a:prstDash val="solid"/>
          </a:ln>
        </p:spPr>
      </p:sp>
      <p:sp>
        <p:nvSpPr>
          <p:cNvPr id="25" name="Text 23"/>
          <p:cNvSpPr/>
          <p:nvPr/>
        </p:nvSpPr>
        <p:spPr>
          <a:xfrm>
            <a:off x="3730752" y="2521131"/>
            <a:ext cx="512064" cy="228600"/>
          </a:xfrm>
          <a:prstGeom prst="rect">
            <a:avLst/>
          </a:prstGeom>
          <a:noFill/>
          <a:ln/>
        </p:spPr>
        <p:txBody>
          <a:bodyPr wrap="square" lIns="0" tIns="0" rIns="0" bIns="0" rtlCol="0" anchor="ctr"/>
          <a:lstStyle/>
          <a:p>
            <a:pPr algn="ctr" indent="0" marL="0">
              <a:buNone/>
            </a:pPr>
            <a:r>
              <a:rPr lang="en-US" sz="1050" b="1" dirty="0">
                <a:solidFill>
                  <a:srgbClr val="666666"/>
                </a:solidFill>
                <a:latin typeface="Arial Black" pitchFamily="34" charset="0"/>
                <a:ea typeface="Arial Black" pitchFamily="34" charset="-122"/>
                <a:cs typeface="Arial Black" pitchFamily="34" charset="-120"/>
              </a:rPr>
              <a:t>27x</a:t>
            </a:r>
            <a:endParaRPr lang="en-US" sz="1050" dirty="0"/>
          </a:p>
        </p:txBody>
      </p:sp>
      <p:sp>
        <p:nvSpPr>
          <p:cNvPr id="26" name="Shape 24"/>
          <p:cNvSpPr/>
          <p:nvPr/>
        </p:nvSpPr>
        <p:spPr>
          <a:xfrm>
            <a:off x="3145536" y="4206240"/>
            <a:ext cx="1115568" cy="0"/>
          </a:xfrm>
          <a:prstGeom prst="line">
            <a:avLst/>
          </a:prstGeom>
          <a:noFill/>
          <a:ln w="9525">
            <a:solidFill>
              <a:srgbClr val="333333"/>
            </a:solidFill>
            <a:prstDash val="solid"/>
          </a:ln>
        </p:spPr>
      </p:sp>
      <p:sp>
        <p:nvSpPr>
          <p:cNvPr id="27" name="Text 25"/>
          <p:cNvSpPr/>
          <p:nvPr/>
        </p:nvSpPr>
        <p:spPr>
          <a:xfrm>
            <a:off x="3108960" y="4315968"/>
            <a:ext cx="1188720" cy="256032"/>
          </a:xfrm>
          <a:prstGeom prst="rect">
            <a:avLst/>
          </a:prstGeom>
          <a:noFill/>
          <a:ln/>
        </p:spPr>
        <p:txBody>
          <a:bodyPr wrap="square" lIns="0" tIns="0" rIns="0" bIns="0" rtlCol="0" anchor="ctr"/>
          <a:lstStyle/>
          <a:p>
            <a:pPr algn="ctr" indent="0" marL="0">
              <a:buNone/>
            </a:pPr>
            <a:r>
              <a:rPr lang="en-US" sz="1000" b="1" dirty="0">
                <a:solidFill>
                  <a:srgbClr val="000000"/>
                </a:solidFill>
                <a:latin typeface="Arial" pitchFamily="34" charset="0"/>
                <a:ea typeface="Arial" pitchFamily="34" charset="-122"/>
                <a:cs typeface="Arial" pitchFamily="34" charset="-120"/>
              </a:rPr>
              <a:t>P/E</a:t>
            </a:r>
            <a:endParaRPr lang="en-US" sz="1000" dirty="0"/>
          </a:p>
        </p:txBody>
      </p:sp>
      <p:sp>
        <p:nvSpPr>
          <p:cNvPr id="28" name="Shape 26"/>
          <p:cNvSpPr/>
          <p:nvPr/>
        </p:nvSpPr>
        <p:spPr>
          <a:xfrm>
            <a:off x="914400" y="5074920"/>
            <a:ext cx="164592" cy="109728"/>
          </a:xfrm>
          <a:prstGeom prst="rect">
            <a:avLst/>
          </a:prstGeom>
          <a:solidFill>
            <a:srgbClr val="F6693D"/>
          </a:solidFill>
          <a:ln w="12700">
            <a:solidFill>
              <a:srgbClr val="F6693D"/>
            </a:solidFill>
            <a:prstDash val="solid"/>
          </a:ln>
        </p:spPr>
      </p:sp>
      <p:sp>
        <p:nvSpPr>
          <p:cNvPr id="29" name="Text 27"/>
          <p:cNvSpPr/>
          <p:nvPr/>
        </p:nvSpPr>
        <p:spPr>
          <a:xfrm>
            <a:off x="1115568" y="5038344"/>
            <a:ext cx="1280160" cy="182880"/>
          </a:xfrm>
          <a:prstGeom prst="rect">
            <a:avLst/>
          </a:prstGeom>
          <a:noFill/>
          <a:ln/>
        </p:spPr>
        <p:txBody>
          <a:bodyPr wrap="square" lIns="0" tIns="0" rIns="0" bIns="0" rtlCol="0" anchor="ctr"/>
          <a:lstStyle/>
          <a:p>
            <a:pPr indent="0" marL="0">
              <a:buNone/>
            </a:pPr>
            <a:r>
              <a:rPr lang="en-US" sz="900" b="1" dirty="0">
                <a:solidFill>
                  <a:srgbClr val="000000"/>
                </a:solidFill>
                <a:latin typeface="Arial" pitchFamily="34" charset="0"/>
                <a:ea typeface="Arial" pitchFamily="34" charset="-122"/>
                <a:cs typeface="Arial" pitchFamily="34" charset="-120"/>
              </a:rPr>
              <a:t>Top 10 Tech</a:t>
            </a:r>
            <a:endParaRPr lang="en-US" sz="900" dirty="0"/>
          </a:p>
        </p:txBody>
      </p:sp>
      <p:sp>
        <p:nvSpPr>
          <p:cNvPr id="30" name="Shape 28"/>
          <p:cNvSpPr/>
          <p:nvPr/>
        </p:nvSpPr>
        <p:spPr>
          <a:xfrm>
            <a:off x="2468880" y="5074920"/>
            <a:ext cx="164592" cy="109728"/>
          </a:xfrm>
          <a:prstGeom prst="rect">
            <a:avLst/>
          </a:prstGeom>
          <a:solidFill>
            <a:srgbClr val="666666"/>
          </a:solidFill>
          <a:ln w="12700">
            <a:solidFill>
              <a:srgbClr val="666666"/>
            </a:solidFill>
            <a:prstDash val="solid"/>
          </a:ln>
        </p:spPr>
      </p:sp>
      <p:sp>
        <p:nvSpPr>
          <p:cNvPr id="31" name="Text 29"/>
          <p:cNvSpPr/>
          <p:nvPr/>
        </p:nvSpPr>
        <p:spPr>
          <a:xfrm>
            <a:off x="2670048" y="5038344"/>
            <a:ext cx="1554480" cy="182880"/>
          </a:xfrm>
          <a:prstGeom prst="rect">
            <a:avLst/>
          </a:prstGeom>
          <a:noFill/>
          <a:ln/>
        </p:spPr>
        <p:txBody>
          <a:bodyPr wrap="square" lIns="0" tIns="0" rIns="0" bIns="0" rtlCol="0" anchor="ctr"/>
          <a:lstStyle/>
          <a:p>
            <a:pPr indent="0" marL="0">
              <a:buNone/>
            </a:pPr>
            <a:r>
              <a:rPr lang="en-US" sz="900" b="1" dirty="0">
                <a:solidFill>
                  <a:srgbClr val="333333"/>
                </a:solidFill>
                <a:latin typeface="Arial" pitchFamily="34" charset="0"/>
                <a:ea typeface="Arial" pitchFamily="34" charset="-122"/>
                <a:cs typeface="Arial" pitchFamily="34" charset="-120"/>
              </a:rPr>
              <a:t>Top 10 Non-Tech</a:t>
            </a:r>
            <a:endParaRPr lang="en-US" sz="900" dirty="0"/>
          </a:p>
        </p:txBody>
      </p:sp>
      <p:sp>
        <p:nvSpPr>
          <p:cNvPr id="32" name="Text 30"/>
          <p:cNvSpPr/>
          <p:nvPr/>
        </p:nvSpPr>
        <p:spPr>
          <a:xfrm>
            <a:off x="4754880" y="1554480"/>
            <a:ext cx="3931920" cy="274320"/>
          </a:xfrm>
          <a:prstGeom prst="rect">
            <a:avLst/>
          </a:prstGeom>
          <a:noFill/>
          <a:ln/>
        </p:spPr>
        <p:txBody>
          <a:bodyPr wrap="square" lIns="0" tIns="0" rIns="0" bIns="0" rtlCol="0" anchor="b"/>
          <a:lstStyle/>
          <a:p>
            <a:pPr indent="0" marL="0">
              <a:buNone/>
            </a:pPr>
            <a:r>
              <a:rPr lang="en-US" sz="1400" b="1" dirty="0">
                <a:solidFill>
                  <a:srgbClr val="000000"/>
                </a:solidFill>
                <a:latin typeface="Arial" pitchFamily="34" charset="0"/>
                <a:ea typeface="Arial" pitchFamily="34" charset="-122"/>
                <a:cs typeface="Arial" pitchFamily="34" charset="-120"/>
              </a:rPr>
              <a:t>Top US — P/E vs revenue growth</a:t>
            </a:r>
            <a:endParaRPr lang="en-US" sz="1400" dirty="0"/>
          </a:p>
        </p:txBody>
      </p:sp>
      <p:sp>
        <p:nvSpPr>
          <p:cNvPr id="33" name="Shape 31"/>
          <p:cNvSpPr/>
          <p:nvPr/>
        </p:nvSpPr>
        <p:spPr>
          <a:xfrm>
            <a:off x="4754880" y="1828800"/>
            <a:ext cx="3931920" cy="0"/>
          </a:xfrm>
          <a:prstGeom prst="line">
            <a:avLst/>
          </a:prstGeom>
          <a:noFill/>
          <a:ln w="19050">
            <a:solidFill>
              <a:srgbClr val="000000"/>
            </a:solidFill>
            <a:prstDash val="solid"/>
          </a:ln>
        </p:spPr>
      </p:sp>
      <p:sp>
        <p:nvSpPr>
          <p:cNvPr id="34" name="Shape 32"/>
          <p:cNvSpPr/>
          <p:nvPr/>
        </p:nvSpPr>
        <p:spPr>
          <a:xfrm>
            <a:off x="4754880" y="2011680"/>
            <a:ext cx="3931920" cy="2926080"/>
          </a:xfrm>
          <a:prstGeom prst="rect">
            <a:avLst/>
          </a:prstGeom>
          <a:solidFill>
            <a:srgbClr val="FFFFFF"/>
          </a:solidFill>
          <a:ln w="6350">
            <a:solidFill>
              <a:srgbClr val="E5E5E5"/>
            </a:solidFill>
            <a:prstDash val="solid"/>
          </a:ln>
        </p:spPr>
      </p:sp>
      <p:sp>
        <p:nvSpPr>
          <p:cNvPr id="35" name="Shape 33"/>
          <p:cNvSpPr/>
          <p:nvPr/>
        </p:nvSpPr>
        <p:spPr>
          <a:xfrm>
            <a:off x="5074920" y="4151376"/>
            <a:ext cx="3520440" cy="0"/>
          </a:xfrm>
          <a:prstGeom prst="line">
            <a:avLst/>
          </a:prstGeom>
          <a:noFill/>
          <a:ln w="6350">
            <a:solidFill>
              <a:srgbClr val="EEEEEE"/>
            </a:solidFill>
            <a:prstDash val="solid"/>
          </a:ln>
        </p:spPr>
      </p:sp>
      <p:sp>
        <p:nvSpPr>
          <p:cNvPr id="36" name="Shape 34"/>
          <p:cNvSpPr/>
          <p:nvPr/>
        </p:nvSpPr>
        <p:spPr>
          <a:xfrm>
            <a:off x="5074920" y="3639312"/>
            <a:ext cx="3520440" cy="0"/>
          </a:xfrm>
          <a:prstGeom prst="line">
            <a:avLst/>
          </a:prstGeom>
          <a:noFill/>
          <a:ln w="6350">
            <a:solidFill>
              <a:srgbClr val="EEEEEE"/>
            </a:solidFill>
            <a:prstDash val="solid"/>
          </a:ln>
        </p:spPr>
      </p:sp>
      <p:sp>
        <p:nvSpPr>
          <p:cNvPr id="37" name="Shape 35"/>
          <p:cNvSpPr/>
          <p:nvPr/>
        </p:nvSpPr>
        <p:spPr>
          <a:xfrm>
            <a:off x="5074920" y="3127248"/>
            <a:ext cx="3520440" cy="0"/>
          </a:xfrm>
          <a:prstGeom prst="line">
            <a:avLst/>
          </a:prstGeom>
          <a:noFill/>
          <a:ln w="6350">
            <a:solidFill>
              <a:srgbClr val="EEEEEE"/>
            </a:solidFill>
            <a:prstDash val="solid"/>
          </a:ln>
        </p:spPr>
      </p:sp>
      <p:sp>
        <p:nvSpPr>
          <p:cNvPr id="38" name="Shape 36"/>
          <p:cNvSpPr/>
          <p:nvPr/>
        </p:nvSpPr>
        <p:spPr>
          <a:xfrm>
            <a:off x="5074920" y="2615184"/>
            <a:ext cx="3520440" cy="0"/>
          </a:xfrm>
          <a:prstGeom prst="line">
            <a:avLst/>
          </a:prstGeom>
          <a:noFill/>
          <a:ln w="6350">
            <a:solidFill>
              <a:srgbClr val="EEEEEE"/>
            </a:solidFill>
            <a:prstDash val="solid"/>
          </a:ln>
        </p:spPr>
      </p:sp>
      <p:sp>
        <p:nvSpPr>
          <p:cNvPr id="39" name="Shape 37"/>
          <p:cNvSpPr/>
          <p:nvPr/>
        </p:nvSpPr>
        <p:spPr>
          <a:xfrm>
            <a:off x="5074920" y="4663440"/>
            <a:ext cx="3520440" cy="0"/>
          </a:xfrm>
          <a:prstGeom prst="line">
            <a:avLst/>
          </a:prstGeom>
          <a:noFill/>
          <a:ln w="9525">
            <a:solidFill>
              <a:srgbClr val="666666"/>
            </a:solidFill>
            <a:prstDash val="solid"/>
          </a:ln>
        </p:spPr>
      </p:sp>
      <p:sp>
        <p:nvSpPr>
          <p:cNvPr id="40" name="Shape 38"/>
          <p:cNvSpPr/>
          <p:nvPr/>
        </p:nvSpPr>
        <p:spPr>
          <a:xfrm>
            <a:off x="5074920" y="2103120"/>
            <a:ext cx="0" cy="2560320"/>
          </a:xfrm>
          <a:prstGeom prst="line">
            <a:avLst/>
          </a:prstGeom>
          <a:noFill/>
          <a:ln w="9525">
            <a:solidFill>
              <a:srgbClr val="666666"/>
            </a:solidFill>
            <a:prstDash val="solid"/>
          </a:ln>
        </p:spPr>
      </p:sp>
      <p:sp>
        <p:nvSpPr>
          <p:cNvPr id="41" name="Text 39"/>
          <p:cNvSpPr/>
          <p:nvPr/>
        </p:nvSpPr>
        <p:spPr>
          <a:xfrm>
            <a:off x="4873752" y="4690872"/>
            <a:ext cx="402336" cy="146304"/>
          </a:xfrm>
          <a:prstGeom prst="rect">
            <a:avLst/>
          </a:prstGeom>
          <a:noFill/>
          <a:ln/>
        </p:spPr>
        <p:txBody>
          <a:bodyPr wrap="square" lIns="0" tIns="0" rIns="0" bIns="0" rtlCol="0" anchor="ctr"/>
          <a:lstStyle/>
          <a:p>
            <a:pPr algn="ctr" indent="0" marL="0">
              <a:buNone/>
            </a:pPr>
            <a:r>
              <a:rPr lang="en-US" sz="700" dirty="0">
                <a:solidFill>
                  <a:srgbClr val="999999"/>
                </a:solidFill>
                <a:latin typeface="Arial" pitchFamily="34" charset="0"/>
                <a:ea typeface="Arial" pitchFamily="34" charset="-122"/>
                <a:cs typeface="Arial" pitchFamily="34" charset="-120"/>
              </a:rPr>
              <a:t>-5%</a:t>
            </a:r>
            <a:endParaRPr lang="en-US" sz="700" dirty="0"/>
          </a:p>
        </p:txBody>
      </p:sp>
      <p:sp>
        <p:nvSpPr>
          <p:cNvPr id="42" name="Text 40"/>
          <p:cNvSpPr/>
          <p:nvPr/>
        </p:nvSpPr>
        <p:spPr>
          <a:xfrm>
            <a:off x="5193792" y="4690872"/>
            <a:ext cx="402336" cy="146304"/>
          </a:xfrm>
          <a:prstGeom prst="rect">
            <a:avLst/>
          </a:prstGeom>
          <a:noFill/>
          <a:ln/>
        </p:spPr>
        <p:txBody>
          <a:bodyPr wrap="square" lIns="0" tIns="0" rIns="0" bIns="0" rtlCol="0" anchor="ctr"/>
          <a:lstStyle/>
          <a:p>
            <a:pPr algn="ctr" indent="0" marL="0">
              <a:buNone/>
            </a:pPr>
            <a:r>
              <a:rPr lang="en-US" sz="700" dirty="0">
                <a:solidFill>
                  <a:srgbClr val="999999"/>
                </a:solidFill>
                <a:latin typeface="Arial" pitchFamily="34" charset="0"/>
                <a:ea typeface="Arial" pitchFamily="34" charset="-122"/>
                <a:cs typeface="Arial" pitchFamily="34" charset="-120"/>
              </a:rPr>
              <a:t>0%</a:t>
            </a:r>
            <a:endParaRPr lang="en-US" sz="700" dirty="0"/>
          </a:p>
        </p:txBody>
      </p:sp>
      <p:sp>
        <p:nvSpPr>
          <p:cNvPr id="43" name="Text 41"/>
          <p:cNvSpPr/>
          <p:nvPr/>
        </p:nvSpPr>
        <p:spPr>
          <a:xfrm>
            <a:off x="5833872" y="4690872"/>
            <a:ext cx="402336" cy="146304"/>
          </a:xfrm>
          <a:prstGeom prst="rect">
            <a:avLst/>
          </a:prstGeom>
          <a:noFill/>
          <a:ln/>
        </p:spPr>
        <p:txBody>
          <a:bodyPr wrap="square" lIns="0" tIns="0" rIns="0" bIns="0" rtlCol="0" anchor="ctr"/>
          <a:lstStyle/>
          <a:p>
            <a:pPr algn="ctr" indent="0" marL="0">
              <a:buNone/>
            </a:pPr>
            <a:r>
              <a:rPr lang="en-US" sz="700" dirty="0">
                <a:solidFill>
                  <a:srgbClr val="999999"/>
                </a:solidFill>
                <a:latin typeface="Arial" pitchFamily="34" charset="0"/>
                <a:ea typeface="Arial" pitchFamily="34" charset="-122"/>
                <a:cs typeface="Arial" pitchFamily="34" charset="-120"/>
              </a:rPr>
              <a:t>+10%</a:t>
            </a:r>
            <a:endParaRPr lang="en-US" sz="700" dirty="0"/>
          </a:p>
        </p:txBody>
      </p:sp>
      <p:sp>
        <p:nvSpPr>
          <p:cNvPr id="44" name="Text 42"/>
          <p:cNvSpPr/>
          <p:nvPr/>
        </p:nvSpPr>
        <p:spPr>
          <a:xfrm>
            <a:off x="6473952" y="4690872"/>
            <a:ext cx="402336" cy="146304"/>
          </a:xfrm>
          <a:prstGeom prst="rect">
            <a:avLst/>
          </a:prstGeom>
          <a:noFill/>
          <a:ln/>
        </p:spPr>
        <p:txBody>
          <a:bodyPr wrap="square" lIns="0" tIns="0" rIns="0" bIns="0" rtlCol="0" anchor="ctr"/>
          <a:lstStyle/>
          <a:p>
            <a:pPr algn="ctr" indent="0" marL="0">
              <a:buNone/>
            </a:pPr>
            <a:r>
              <a:rPr lang="en-US" sz="700" dirty="0">
                <a:solidFill>
                  <a:srgbClr val="999999"/>
                </a:solidFill>
                <a:latin typeface="Arial" pitchFamily="34" charset="0"/>
                <a:ea typeface="Arial" pitchFamily="34" charset="-122"/>
                <a:cs typeface="Arial" pitchFamily="34" charset="-120"/>
              </a:rPr>
              <a:t>+20%</a:t>
            </a:r>
            <a:endParaRPr lang="en-US" sz="700" dirty="0"/>
          </a:p>
        </p:txBody>
      </p:sp>
      <p:sp>
        <p:nvSpPr>
          <p:cNvPr id="45" name="Text 43"/>
          <p:cNvSpPr/>
          <p:nvPr/>
        </p:nvSpPr>
        <p:spPr>
          <a:xfrm>
            <a:off x="7114032" y="4690872"/>
            <a:ext cx="402336" cy="146304"/>
          </a:xfrm>
          <a:prstGeom prst="rect">
            <a:avLst/>
          </a:prstGeom>
          <a:noFill/>
          <a:ln/>
        </p:spPr>
        <p:txBody>
          <a:bodyPr wrap="square" lIns="0" tIns="0" rIns="0" bIns="0" rtlCol="0" anchor="ctr"/>
          <a:lstStyle/>
          <a:p>
            <a:pPr algn="ctr" indent="0" marL="0">
              <a:buNone/>
            </a:pPr>
            <a:r>
              <a:rPr lang="en-US" sz="700" dirty="0">
                <a:solidFill>
                  <a:srgbClr val="999999"/>
                </a:solidFill>
                <a:latin typeface="Arial" pitchFamily="34" charset="0"/>
                <a:ea typeface="Arial" pitchFamily="34" charset="-122"/>
                <a:cs typeface="Arial" pitchFamily="34" charset="-120"/>
              </a:rPr>
              <a:t>+30%</a:t>
            </a:r>
            <a:endParaRPr lang="en-US" sz="700" dirty="0"/>
          </a:p>
        </p:txBody>
      </p:sp>
      <p:sp>
        <p:nvSpPr>
          <p:cNvPr id="46" name="Text 44"/>
          <p:cNvSpPr/>
          <p:nvPr/>
        </p:nvSpPr>
        <p:spPr>
          <a:xfrm>
            <a:off x="7754112" y="4690872"/>
            <a:ext cx="402336" cy="146304"/>
          </a:xfrm>
          <a:prstGeom prst="rect">
            <a:avLst/>
          </a:prstGeom>
          <a:noFill/>
          <a:ln/>
        </p:spPr>
        <p:txBody>
          <a:bodyPr wrap="square" lIns="0" tIns="0" rIns="0" bIns="0" rtlCol="0" anchor="ctr"/>
          <a:lstStyle/>
          <a:p>
            <a:pPr algn="ctr" indent="0" marL="0">
              <a:buNone/>
            </a:pPr>
            <a:r>
              <a:rPr lang="en-US" sz="700" dirty="0">
                <a:solidFill>
                  <a:srgbClr val="999999"/>
                </a:solidFill>
                <a:latin typeface="Arial" pitchFamily="34" charset="0"/>
                <a:ea typeface="Arial" pitchFamily="34" charset="-122"/>
                <a:cs typeface="Arial" pitchFamily="34" charset="-120"/>
              </a:rPr>
              <a:t>+40%</a:t>
            </a:r>
            <a:endParaRPr lang="en-US" sz="700" dirty="0"/>
          </a:p>
        </p:txBody>
      </p:sp>
      <p:sp>
        <p:nvSpPr>
          <p:cNvPr id="47" name="Text 45"/>
          <p:cNvSpPr/>
          <p:nvPr/>
        </p:nvSpPr>
        <p:spPr>
          <a:xfrm>
            <a:off x="8394192" y="4690872"/>
            <a:ext cx="402336" cy="146304"/>
          </a:xfrm>
          <a:prstGeom prst="rect">
            <a:avLst/>
          </a:prstGeom>
          <a:noFill/>
          <a:ln/>
        </p:spPr>
        <p:txBody>
          <a:bodyPr wrap="square" lIns="0" tIns="0" rIns="0" bIns="0" rtlCol="0" anchor="ctr"/>
          <a:lstStyle/>
          <a:p>
            <a:pPr algn="ctr" indent="0" marL="0">
              <a:buNone/>
            </a:pPr>
            <a:r>
              <a:rPr lang="en-US" sz="700" dirty="0">
                <a:solidFill>
                  <a:srgbClr val="999999"/>
                </a:solidFill>
                <a:latin typeface="Arial" pitchFamily="34" charset="0"/>
                <a:ea typeface="Arial" pitchFamily="34" charset="-122"/>
                <a:cs typeface="Arial" pitchFamily="34" charset="-120"/>
              </a:rPr>
              <a:t>+50%</a:t>
            </a:r>
            <a:endParaRPr lang="en-US" sz="700" dirty="0"/>
          </a:p>
        </p:txBody>
      </p:sp>
      <p:sp>
        <p:nvSpPr>
          <p:cNvPr id="48" name="Text 46"/>
          <p:cNvSpPr/>
          <p:nvPr/>
        </p:nvSpPr>
        <p:spPr>
          <a:xfrm>
            <a:off x="4727448" y="4599432"/>
            <a:ext cx="301752" cy="128016"/>
          </a:xfrm>
          <a:prstGeom prst="rect">
            <a:avLst/>
          </a:prstGeom>
          <a:noFill/>
          <a:ln/>
        </p:spPr>
        <p:txBody>
          <a:bodyPr wrap="square" lIns="0" tIns="0" rIns="0" bIns="0" rtlCol="0" anchor="ctr"/>
          <a:lstStyle/>
          <a:p>
            <a:pPr algn="r" indent="0" marL="0">
              <a:buNone/>
            </a:pPr>
            <a:r>
              <a:rPr lang="en-US" sz="700" dirty="0">
                <a:solidFill>
                  <a:srgbClr val="999999"/>
                </a:solidFill>
                <a:latin typeface="Arial" pitchFamily="34" charset="0"/>
                <a:ea typeface="Arial" pitchFamily="34" charset="-122"/>
                <a:cs typeface="Arial" pitchFamily="34" charset="-120"/>
              </a:rPr>
              <a:t>0×</a:t>
            </a:r>
            <a:endParaRPr lang="en-US" sz="700" dirty="0"/>
          </a:p>
        </p:txBody>
      </p:sp>
      <p:sp>
        <p:nvSpPr>
          <p:cNvPr id="49" name="Text 47"/>
          <p:cNvSpPr/>
          <p:nvPr/>
        </p:nvSpPr>
        <p:spPr>
          <a:xfrm>
            <a:off x="4727448" y="4087368"/>
            <a:ext cx="301752" cy="128016"/>
          </a:xfrm>
          <a:prstGeom prst="rect">
            <a:avLst/>
          </a:prstGeom>
          <a:noFill/>
          <a:ln/>
        </p:spPr>
        <p:txBody>
          <a:bodyPr wrap="square" lIns="0" tIns="0" rIns="0" bIns="0" rtlCol="0" anchor="ctr"/>
          <a:lstStyle/>
          <a:p>
            <a:pPr algn="r" indent="0" marL="0">
              <a:buNone/>
            </a:pPr>
            <a:r>
              <a:rPr lang="en-US" sz="700" dirty="0">
                <a:solidFill>
                  <a:srgbClr val="999999"/>
                </a:solidFill>
                <a:latin typeface="Arial" pitchFamily="34" charset="0"/>
                <a:ea typeface="Arial" pitchFamily="34" charset="-122"/>
                <a:cs typeface="Arial" pitchFamily="34" charset="-120"/>
              </a:rPr>
              <a:t>10×</a:t>
            </a:r>
            <a:endParaRPr lang="en-US" sz="700" dirty="0"/>
          </a:p>
        </p:txBody>
      </p:sp>
      <p:sp>
        <p:nvSpPr>
          <p:cNvPr id="50" name="Text 48"/>
          <p:cNvSpPr/>
          <p:nvPr/>
        </p:nvSpPr>
        <p:spPr>
          <a:xfrm>
            <a:off x="4727448" y="3575304"/>
            <a:ext cx="301752" cy="128016"/>
          </a:xfrm>
          <a:prstGeom prst="rect">
            <a:avLst/>
          </a:prstGeom>
          <a:noFill/>
          <a:ln/>
        </p:spPr>
        <p:txBody>
          <a:bodyPr wrap="square" lIns="0" tIns="0" rIns="0" bIns="0" rtlCol="0" anchor="ctr"/>
          <a:lstStyle/>
          <a:p>
            <a:pPr algn="r" indent="0" marL="0">
              <a:buNone/>
            </a:pPr>
            <a:r>
              <a:rPr lang="en-US" sz="700" dirty="0">
                <a:solidFill>
                  <a:srgbClr val="999999"/>
                </a:solidFill>
                <a:latin typeface="Arial" pitchFamily="34" charset="0"/>
                <a:ea typeface="Arial" pitchFamily="34" charset="-122"/>
                <a:cs typeface="Arial" pitchFamily="34" charset="-120"/>
              </a:rPr>
              <a:t>20×</a:t>
            </a:r>
            <a:endParaRPr lang="en-US" sz="700" dirty="0"/>
          </a:p>
        </p:txBody>
      </p:sp>
      <p:sp>
        <p:nvSpPr>
          <p:cNvPr id="51" name="Text 49"/>
          <p:cNvSpPr/>
          <p:nvPr/>
        </p:nvSpPr>
        <p:spPr>
          <a:xfrm>
            <a:off x="4727448" y="3063240"/>
            <a:ext cx="301752" cy="128016"/>
          </a:xfrm>
          <a:prstGeom prst="rect">
            <a:avLst/>
          </a:prstGeom>
          <a:noFill/>
          <a:ln/>
        </p:spPr>
        <p:txBody>
          <a:bodyPr wrap="square" lIns="0" tIns="0" rIns="0" bIns="0" rtlCol="0" anchor="ctr"/>
          <a:lstStyle/>
          <a:p>
            <a:pPr algn="r" indent="0" marL="0">
              <a:buNone/>
            </a:pPr>
            <a:r>
              <a:rPr lang="en-US" sz="700" dirty="0">
                <a:solidFill>
                  <a:srgbClr val="999999"/>
                </a:solidFill>
                <a:latin typeface="Arial" pitchFamily="34" charset="0"/>
                <a:ea typeface="Arial" pitchFamily="34" charset="-122"/>
                <a:cs typeface="Arial" pitchFamily="34" charset="-120"/>
              </a:rPr>
              <a:t>30×</a:t>
            </a:r>
            <a:endParaRPr lang="en-US" sz="700" dirty="0"/>
          </a:p>
        </p:txBody>
      </p:sp>
      <p:sp>
        <p:nvSpPr>
          <p:cNvPr id="52" name="Text 50"/>
          <p:cNvSpPr/>
          <p:nvPr/>
        </p:nvSpPr>
        <p:spPr>
          <a:xfrm>
            <a:off x="4727448" y="2551176"/>
            <a:ext cx="301752" cy="128016"/>
          </a:xfrm>
          <a:prstGeom prst="rect">
            <a:avLst/>
          </a:prstGeom>
          <a:noFill/>
          <a:ln/>
        </p:spPr>
        <p:txBody>
          <a:bodyPr wrap="square" lIns="0" tIns="0" rIns="0" bIns="0" rtlCol="0" anchor="ctr"/>
          <a:lstStyle/>
          <a:p>
            <a:pPr algn="r" indent="0" marL="0">
              <a:buNone/>
            </a:pPr>
            <a:r>
              <a:rPr lang="en-US" sz="700" dirty="0">
                <a:solidFill>
                  <a:srgbClr val="999999"/>
                </a:solidFill>
                <a:latin typeface="Arial" pitchFamily="34" charset="0"/>
                <a:ea typeface="Arial" pitchFamily="34" charset="-122"/>
                <a:cs typeface="Arial" pitchFamily="34" charset="-120"/>
              </a:rPr>
              <a:t>40×</a:t>
            </a:r>
            <a:endParaRPr lang="en-US" sz="700" dirty="0"/>
          </a:p>
        </p:txBody>
      </p:sp>
      <p:sp>
        <p:nvSpPr>
          <p:cNvPr id="53" name="Text 51"/>
          <p:cNvSpPr/>
          <p:nvPr/>
        </p:nvSpPr>
        <p:spPr>
          <a:xfrm>
            <a:off x="4727448" y="2039112"/>
            <a:ext cx="301752" cy="128016"/>
          </a:xfrm>
          <a:prstGeom prst="rect">
            <a:avLst/>
          </a:prstGeom>
          <a:noFill/>
          <a:ln/>
        </p:spPr>
        <p:txBody>
          <a:bodyPr wrap="square" lIns="0" tIns="0" rIns="0" bIns="0" rtlCol="0" anchor="ctr"/>
          <a:lstStyle/>
          <a:p>
            <a:pPr algn="r" indent="0" marL="0">
              <a:buNone/>
            </a:pPr>
            <a:r>
              <a:rPr lang="en-US" sz="700" dirty="0">
                <a:solidFill>
                  <a:srgbClr val="999999"/>
                </a:solidFill>
                <a:latin typeface="Arial" pitchFamily="34" charset="0"/>
                <a:ea typeface="Arial" pitchFamily="34" charset="-122"/>
                <a:cs typeface="Arial" pitchFamily="34" charset="-120"/>
              </a:rPr>
              <a:t>50×</a:t>
            </a:r>
            <a:endParaRPr lang="en-US" sz="700" dirty="0"/>
          </a:p>
        </p:txBody>
      </p:sp>
      <p:sp>
        <p:nvSpPr>
          <p:cNvPr id="54" name="Text 52"/>
          <p:cNvSpPr/>
          <p:nvPr/>
        </p:nvSpPr>
        <p:spPr>
          <a:xfrm>
            <a:off x="5074920" y="4791456"/>
            <a:ext cx="3520440" cy="146304"/>
          </a:xfrm>
          <a:prstGeom prst="rect">
            <a:avLst/>
          </a:prstGeom>
          <a:noFill/>
          <a:ln/>
        </p:spPr>
        <p:txBody>
          <a:bodyPr wrap="square" lIns="0" tIns="0" rIns="0" bIns="0" rtlCol="0" anchor="ctr"/>
          <a:lstStyle/>
          <a:p>
            <a:pPr algn="ctr" indent="0" marL="0">
              <a:buNone/>
            </a:pPr>
            <a:r>
              <a:rPr lang="en-US" sz="800" i="1" dirty="0">
                <a:solidFill>
                  <a:srgbClr val="666666"/>
                </a:solidFill>
                <a:latin typeface="Arial" pitchFamily="34" charset="0"/>
                <a:ea typeface="Arial" pitchFamily="34" charset="-122"/>
                <a:cs typeface="Arial" pitchFamily="34" charset="-120"/>
              </a:rPr>
              <a:t>Forward revenue growth, 2026E → 2027E</a:t>
            </a:r>
            <a:endParaRPr lang="en-US" sz="800" dirty="0"/>
          </a:p>
        </p:txBody>
      </p:sp>
      <p:sp>
        <p:nvSpPr>
          <p:cNvPr id="55" name="Text 53"/>
          <p:cNvSpPr/>
          <p:nvPr/>
        </p:nvSpPr>
        <p:spPr>
          <a:xfrm>
            <a:off x="4754880" y="1801368"/>
            <a:ext cx="3931920" cy="128016"/>
          </a:xfrm>
          <a:prstGeom prst="rect">
            <a:avLst/>
          </a:prstGeom>
          <a:noFill/>
          <a:ln/>
        </p:spPr>
        <p:txBody>
          <a:bodyPr wrap="square" lIns="0" tIns="0" rIns="0" bIns="0" rtlCol="0" anchor="ctr"/>
          <a:lstStyle/>
          <a:p>
            <a:pPr indent="0" marL="0">
              <a:buNone/>
            </a:pPr>
            <a:r>
              <a:rPr lang="en-US" sz="800" i="1" dirty="0">
                <a:solidFill>
                  <a:srgbClr val="666666"/>
                </a:solidFill>
                <a:latin typeface="Arial" pitchFamily="34" charset="0"/>
                <a:ea typeface="Arial" pitchFamily="34" charset="-122"/>
                <a:cs typeface="Arial" pitchFamily="34" charset="-120"/>
              </a:rPr>
              <a:t>Forward P/E (2026E)</a:t>
            </a:r>
            <a:endParaRPr lang="en-US" sz="800" dirty="0"/>
          </a:p>
        </p:txBody>
      </p:sp>
      <p:sp>
        <p:nvSpPr>
          <p:cNvPr id="56" name="Shape 54"/>
          <p:cNvSpPr/>
          <p:nvPr/>
        </p:nvSpPr>
        <p:spPr>
          <a:xfrm>
            <a:off x="8535924" y="3375050"/>
            <a:ext cx="118872" cy="118872"/>
          </a:xfrm>
          <a:prstGeom prst="ellipse">
            <a:avLst/>
          </a:prstGeom>
          <a:solidFill>
            <a:srgbClr val="F6693D"/>
          </a:solidFill>
          <a:ln w="6350">
            <a:solidFill>
              <a:srgbClr val="FFFFFF"/>
            </a:solidFill>
            <a:prstDash val="solid"/>
          </a:ln>
        </p:spPr>
      </p:sp>
      <p:sp>
        <p:nvSpPr>
          <p:cNvPr id="57" name="Shape 55"/>
          <p:cNvSpPr/>
          <p:nvPr/>
        </p:nvSpPr>
        <p:spPr>
          <a:xfrm>
            <a:off x="6308130" y="3134380"/>
            <a:ext cx="118872" cy="118872"/>
          </a:xfrm>
          <a:prstGeom prst="ellipse">
            <a:avLst/>
          </a:prstGeom>
          <a:solidFill>
            <a:srgbClr val="F6693D"/>
          </a:solidFill>
          <a:ln w="6350">
            <a:solidFill>
              <a:srgbClr val="FFFFFF"/>
            </a:solidFill>
            <a:prstDash val="solid"/>
          </a:ln>
        </p:spPr>
      </p:sp>
      <p:sp>
        <p:nvSpPr>
          <p:cNvPr id="58" name="Shape 56"/>
          <p:cNvSpPr/>
          <p:nvPr/>
        </p:nvSpPr>
        <p:spPr>
          <a:xfrm>
            <a:off x="5780211" y="2991002"/>
            <a:ext cx="118872" cy="118872"/>
          </a:xfrm>
          <a:prstGeom prst="ellipse">
            <a:avLst/>
          </a:prstGeom>
          <a:solidFill>
            <a:srgbClr val="F6693D"/>
          </a:solidFill>
          <a:ln w="6350">
            <a:solidFill>
              <a:srgbClr val="FFFFFF"/>
            </a:solidFill>
            <a:prstDash val="solid"/>
          </a:ln>
        </p:spPr>
      </p:sp>
      <p:sp>
        <p:nvSpPr>
          <p:cNvPr id="59" name="Shape 57"/>
          <p:cNvSpPr/>
          <p:nvPr/>
        </p:nvSpPr>
        <p:spPr>
          <a:xfrm>
            <a:off x="6329081" y="3293120"/>
            <a:ext cx="118872" cy="118872"/>
          </a:xfrm>
          <a:prstGeom prst="ellipse">
            <a:avLst/>
          </a:prstGeom>
          <a:solidFill>
            <a:srgbClr val="F6693D"/>
          </a:solidFill>
          <a:ln w="6350">
            <a:solidFill>
              <a:srgbClr val="FFFFFF"/>
            </a:solidFill>
            <a:prstDash val="solid"/>
          </a:ln>
        </p:spPr>
      </p:sp>
      <p:sp>
        <p:nvSpPr>
          <p:cNvPr id="60" name="Shape 58"/>
          <p:cNvSpPr/>
          <p:nvPr/>
        </p:nvSpPr>
        <p:spPr>
          <a:xfrm>
            <a:off x="6090850" y="2960279"/>
            <a:ext cx="118872" cy="118872"/>
          </a:xfrm>
          <a:prstGeom prst="ellipse">
            <a:avLst/>
          </a:prstGeom>
          <a:solidFill>
            <a:srgbClr val="F6693D"/>
          </a:solidFill>
          <a:ln w="6350">
            <a:solidFill>
              <a:srgbClr val="FFFFFF"/>
            </a:solidFill>
            <a:prstDash val="solid"/>
          </a:ln>
        </p:spPr>
      </p:sp>
      <p:sp>
        <p:nvSpPr>
          <p:cNvPr id="61" name="Shape 59"/>
          <p:cNvSpPr/>
          <p:nvPr/>
        </p:nvSpPr>
        <p:spPr>
          <a:xfrm>
            <a:off x="8535924" y="2724729"/>
            <a:ext cx="118872" cy="118872"/>
          </a:xfrm>
          <a:prstGeom prst="ellipse">
            <a:avLst/>
          </a:prstGeom>
          <a:solidFill>
            <a:srgbClr val="F6693D"/>
          </a:solidFill>
          <a:ln w="6350">
            <a:solidFill>
              <a:srgbClr val="FFFFFF"/>
            </a:solidFill>
            <a:prstDash val="solid"/>
          </a:ln>
        </p:spPr>
      </p:sp>
      <p:sp>
        <p:nvSpPr>
          <p:cNvPr id="62" name="Shape 60"/>
          <p:cNvSpPr/>
          <p:nvPr/>
        </p:nvSpPr>
        <p:spPr>
          <a:xfrm>
            <a:off x="6515279" y="3467222"/>
            <a:ext cx="118872" cy="118872"/>
          </a:xfrm>
          <a:prstGeom prst="ellipse">
            <a:avLst/>
          </a:prstGeom>
          <a:solidFill>
            <a:srgbClr val="F6693D"/>
          </a:solidFill>
          <a:ln w="6350">
            <a:solidFill>
              <a:srgbClr val="FFFFFF"/>
            </a:solidFill>
            <a:prstDash val="solid"/>
          </a:ln>
        </p:spPr>
      </p:sp>
      <p:sp>
        <p:nvSpPr>
          <p:cNvPr id="63" name="Shape 61"/>
          <p:cNvSpPr/>
          <p:nvPr/>
        </p:nvSpPr>
        <p:spPr>
          <a:xfrm>
            <a:off x="6371844" y="2043684"/>
            <a:ext cx="118872" cy="118872"/>
          </a:xfrm>
          <a:prstGeom prst="ellipse">
            <a:avLst/>
          </a:prstGeom>
          <a:solidFill>
            <a:srgbClr val="333333"/>
          </a:solidFill>
          <a:ln w="6350">
            <a:solidFill>
              <a:srgbClr val="FFFFFF"/>
            </a:solidFill>
            <a:prstDash val="solid"/>
          </a:ln>
        </p:spPr>
      </p:sp>
      <p:sp>
        <p:nvSpPr>
          <p:cNvPr id="64" name="Shape 62"/>
          <p:cNvSpPr/>
          <p:nvPr/>
        </p:nvSpPr>
        <p:spPr>
          <a:xfrm>
            <a:off x="5721547" y="2340681"/>
            <a:ext cx="118872" cy="118872"/>
          </a:xfrm>
          <a:prstGeom prst="ellipse">
            <a:avLst/>
          </a:prstGeom>
          <a:solidFill>
            <a:srgbClr val="333333"/>
          </a:solidFill>
          <a:ln w="6350">
            <a:solidFill>
              <a:srgbClr val="FFFFFF"/>
            </a:solidFill>
            <a:prstDash val="solid"/>
          </a:ln>
        </p:spPr>
      </p:sp>
      <p:sp>
        <p:nvSpPr>
          <p:cNvPr id="65" name="Shape 63"/>
          <p:cNvSpPr/>
          <p:nvPr/>
        </p:nvSpPr>
        <p:spPr>
          <a:xfrm>
            <a:off x="5544246" y="3497946"/>
            <a:ext cx="118872" cy="118872"/>
          </a:xfrm>
          <a:prstGeom prst="ellipse">
            <a:avLst/>
          </a:prstGeom>
          <a:solidFill>
            <a:srgbClr val="333333"/>
          </a:solidFill>
          <a:ln w="6350">
            <a:solidFill>
              <a:srgbClr val="FFFFFF"/>
            </a:solidFill>
            <a:prstDash val="solid"/>
          </a:ln>
        </p:spPr>
      </p:sp>
      <p:sp>
        <p:nvSpPr>
          <p:cNvPr id="66" name="Shape 64"/>
          <p:cNvSpPr/>
          <p:nvPr/>
        </p:nvSpPr>
        <p:spPr>
          <a:xfrm>
            <a:off x="5625007" y="3871752"/>
            <a:ext cx="118872" cy="118872"/>
          </a:xfrm>
          <a:prstGeom prst="ellipse">
            <a:avLst/>
          </a:prstGeom>
          <a:solidFill>
            <a:srgbClr val="333333"/>
          </a:solidFill>
          <a:ln w="6350">
            <a:solidFill>
              <a:srgbClr val="FFFFFF"/>
            </a:solidFill>
            <a:prstDash val="solid"/>
          </a:ln>
        </p:spPr>
      </p:sp>
      <p:sp>
        <p:nvSpPr>
          <p:cNvPr id="67" name="Shape 65"/>
          <p:cNvSpPr/>
          <p:nvPr/>
        </p:nvSpPr>
        <p:spPr>
          <a:xfrm>
            <a:off x="6338059" y="3252155"/>
            <a:ext cx="118872" cy="118872"/>
          </a:xfrm>
          <a:prstGeom prst="ellipse">
            <a:avLst/>
          </a:prstGeom>
          <a:solidFill>
            <a:srgbClr val="333333"/>
          </a:solidFill>
          <a:ln w="6350">
            <a:solidFill>
              <a:srgbClr val="FFFFFF"/>
            </a:solidFill>
            <a:prstDash val="solid"/>
          </a:ln>
        </p:spPr>
      </p:sp>
      <p:sp>
        <p:nvSpPr>
          <p:cNvPr id="68" name="Shape 66"/>
          <p:cNvSpPr/>
          <p:nvPr/>
        </p:nvSpPr>
        <p:spPr>
          <a:xfrm>
            <a:off x="5131785" y="3641324"/>
            <a:ext cx="118872" cy="118872"/>
          </a:xfrm>
          <a:prstGeom prst="ellipse">
            <a:avLst/>
          </a:prstGeom>
          <a:solidFill>
            <a:srgbClr val="333333"/>
          </a:solidFill>
          <a:ln w="6350">
            <a:solidFill>
              <a:srgbClr val="FFFFFF"/>
            </a:solidFill>
            <a:prstDash val="solid"/>
          </a:ln>
        </p:spPr>
      </p:sp>
      <p:sp>
        <p:nvSpPr>
          <p:cNvPr id="69" name="Shape 67"/>
          <p:cNvSpPr/>
          <p:nvPr/>
        </p:nvSpPr>
        <p:spPr>
          <a:xfrm>
            <a:off x="5892115" y="3390412"/>
            <a:ext cx="118872" cy="118872"/>
          </a:xfrm>
          <a:prstGeom prst="ellipse">
            <a:avLst/>
          </a:prstGeom>
          <a:solidFill>
            <a:srgbClr val="333333"/>
          </a:solidFill>
          <a:ln w="6350">
            <a:solidFill>
              <a:srgbClr val="FFFFFF"/>
            </a:solidFill>
            <a:prstDash val="solid"/>
          </a:ln>
        </p:spPr>
      </p:sp>
      <p:sp>
        <p:nvSpPr>
          <p:cNvPr id="70" name="Text 68"/>
          <p:cNvSpPr/>
          <p:nvPr/>
        </p:nvSpPr>
        <p:spPr>
          <a:xfrm>
            <a:off x="7936992" y="3370478"/>
            <a:ext cx="822960" cy="118872"/>
          </a:xfrm>
          <a:prstGeom prst="rect">
            <a:avLst/>
          </a:prstGeom>
          <a:noFill/>
          <a:ln/>
        </p:spPr>
        <p:txBody>
          <a:bodyPr wrap="square" lIns="0" tIns="0" rIns="0" bIns="0" rtlCol="0" anchor="ctr"/>
          <a:lstStyle/>
          <a:p>
            <a:pPr indent="0" marL="0">
              <a:buNone/>
            </a:pPr>
            <a:r>
              <a:rPr lang="en-US" sz="700" b="1" dirty="0">
                <a:solidFill>
                  <a:srgbClr val="F6693D"/>
                </a:solidFill>
                <a:latin typeface="Arial" pitchFamily="34" charset="0"/>
                <a:ea typeface="Arial" pitchFamily="34" charset="-122"/>
                <a:cs typeface="Arial" pitchFamily="34" charset="-120"/>
              </a:rPr>
              <a:t>NVIDIA</a:t>
            </a:r>
            <a:endParaRPr lang="en-US" sz="700" dirty="0"/>
          </a:p>
        </p:txBody>
      </p:sp>
      <p:sp>
        <p:nvSpPr>
          <p:cNvPr id="71" name="Text 69"/>
          <p:cNvSpPr/>
          <p:nvPr/>
        </p:nvSpPr>
        <p:spPr>
          <a:xfrm>
            <a:off x="6440718" y="3056656"/>
            <a:ext cx="822960" cy="118872"/>
          </a:xfrm>
          <a:prstGeom prst="rect">
            <a:avLst/>
          </a:prstGeom>
          <a:noFill/>
          <a:ln/>
        </p:spPr>
        <p:txBody>
          <a:bodyPr wrap="square" lIns="0" tIns="0" rIns="0" bIns="0" rtlCol="0" anchor="ctr"/>
          <a:lstStyle/>
          <a:p>
            <a:pPr indent="0" marL="0">
              <a:buNone/>
            </a:pPr>
            <a:r>
              <a:rPr lang="en-US" sz="700" b="1" dirty="0">
                <a:solidFill>
                  <a:srgbClr val="F6693D"/>
                </a:solidFill>
                <a:latin typeface="Arial" pitchFamily="34" charset="0"/>
                <a:ea typeface="Arial" pitchFamily="34" charset="-122"/>
                <a:cs typeface="Arial" pitchFamily="34" charset="-120"/>
              </a:rPr>
              <a:t>Alphabet</a:t>
            </a:r>
            <a:endParaRPr lang="en-US" sz="700" dirty="0"/>
          </a:p>
        </p:txBody>
      </p:sp>
      <p:sp>
        <p:nvSpPr>
          <p:cNvPr id="72" name="Text 70"/>
          <p:cNvSpPr/>
          <p:nvPr/>
        </p:nvSpPr>
        <p:spPr>
          <a:xfrm>
            <a:off x="5455599" y="2986430"/>
            <a:ext cx="822960" cy="118872"/>
          </a:xfrm>
          <a:prstGeom prst="rect">
            <a:avLst/>
          </a:prstGeom>
          <a:noFill/>
          <a:ln/>
        </p:spPr>
        <p:txBody>
          <a:bodyPr wrap="square" lIns="0" tIns="0" rIns="0" bIns="0" rtlCol="0" anchor="ctr"/>
          <a:lstStyle/>
          <a:p>
            <a:pPr indent="0" marL="0">
              <a:buNone/>
            </a:pPr>
            <a:r>
              <a:rPr lang="en-US" sz="700" b="1" dirty="0">
                <a:solidFill>
                  <a:srgbClr val="F6693D"/>
                </a:solidFill>
                <a:latin typeface="Arial" pitchFamily="34" charset="0"/>
                <a:ea typeface="Arial" pitchFamily="34" charset="-122"/>
                <a:cs typeface="Arial" pitchFamily="34" charset="-120"/>
              </a:rPr>
              <a:t>Apple</a:t>
            </a:r>
            <a:endParaRPr lang="en-US" sz="700" dirty="0"/>
          </a:p>
        </p:txBody>
      </p:sp>
      <p:sp>
        <p:nvSpPr>
          <p:cNvPr id="73" name="Text 71"/>
          <p:cNvSpPr/>
          <p:nvPr/>
        </p:nvSpPr>
        <p:spPr>
          <a:xfrm>
            <a:off x="6461669" y="3407420"/>
            <a:ext cx="822960" cy="118872"/>
          </a:xfrm>
          <a:prstGeom prst="rect">
            <a:avLst/>
          </a:prstGeom>
          <a:noFill/>
          <a:ln/>
        </p:spPr>
        <p:txBody>
          <a:bodyPr wrap="square" lIns="0" tIns="0" rIns="0" bIns="0" rtlCol="0" anchor="ctr"/>
          <a:lstStyle/>
          <a:p>
            <a:pPr indent="0" marL="0">
              <a:buNone/>
            </a:pPr>
            <a:r>
              <a:rPr lang="en-US" sz="700" b="1" dirty="0">
                <a:solidFill>
                  <a:srgbClr val="F6693D"/>
                </a:solidFill>
                <a:latin typeface="Arial" pitchFamily="34" charset="0"/>
                <a:ea typeface="Arial" pitchFamily="34" charset="-122"/>
                <a:cs typeface="Arial" pitchFamily="34" charset="-120"/>
              </a:rPr>
              <a:t>Microsoft</a:t>
            </a:r>
            <a:endParaRPr lang="en-US" sz="700" dirty="0"/>
          </a:p>
        </p:txBody>
      </p:sp>
      <p:sp>
        <p:nvSpPr>
          <p:cNvPr id="74" name="Text 72"/>
          <p:cNvSpPr/>
          <p:nvPr/>
        </p:nvSpPr>
        <p:spPr>
          <a:xfrm>
            <a:off x="6223438" y="2955707"/>
            <a:ext cx="822960" cy="118872"/>
          </a:xfrm>
          <a:prstGeom prst="rect">
            <a:avLst/>
          </a:prstGeom>
          <a:noFill/>
          <a:ln/>
        </p:spPr>
        <p:txBody>
          <a:bodyPr wrap="square" lIns="0" tIns="0" rIns="0" bIns="0" rtlCol="0" anchor="ctr"/>
          <a:lstStyle/>
          <a:p>
            <a:pPr indent="0" marL="0">
              <a:buNone/>
            </a:pPr>
            <a:r>
              <a:rPr lang="en-US" sz="700" b="1" dirty="0">
                <a:solidFill>
                  <a:srgbClr val="F6693D"/>
                </a:solidFill>
                <a:latin typeface="Arial" pitchFamily="34" charset="0"/>
                <a:ea typeface="Arial" pitchFamily="34" charset="-122"/>
                <a:cs typeface="Arial" pitchFamily="34" charset="-120"/>
              </a:rPr>
              <a:t>Amazon</a:t>
            </a:r>
            <a:endParaRPr lang="en-US" sz="700" dirty="0"/>
          </a:p>
        </p:txBody>
      </p:sp>
      <p:sp>
        <p:nvSpPr>
          <p:cNvPr id="75" name="Text 73"/>
          <p:cNvSpPr/>
          <p:nvPr/>
        </p:nvSpPr>
        <p:spPr>
          <a:xfrm>
            <a:off x="7845552" y="2720157"/>
            <a:ext cx="822960" cy="118872"/>
          </a:xfrm>
          <a:prstGeom prst="rect">
            <a:avLst/>
          </a:prstGeom>
          <a:noFill/>
          <a:ln/>
        </p:spPr>
        <p:txBody>
          <a:bodyPr wrap="square" lIns="0" tIns="0" rIns="0" bIns="0" rtlCol="0" anchor="ctr"/>
          <a:lstStyle/>
          <a:p>
            <a:pPr indent="0" marL="0">
              <a:buNone/>
            </a:pPr>
            <a:r>
              <a:rPr lang="en-US" sz="700" b="1" dirty="0">
                <a:solidFill>
                  <a:srgbClr val="F6693D"/>
                </a:solidFill>
                <a:latin typeface="Arial" pitchFamily="34" charset="0"/>
                <a:ea typeface="Arial" pitchFamily="34" charset="-122"/>
                <a:cs typeface="Arial" pitchFamily="34" charset="-120"/>
              </a:rPr>
              <a:t>Broadcom</a:t>
            </a:r>
            <a:endParaRPr lang="en-US" sz="700" dirty="0"/>
          </a:p>
        </p:txBody>
      </p:sp>
      <p:sp>
        <p:nvSpPr>
          <p:cNvPr id="76" name="Text 74"/>
          <p:cNvSpPr/>
          <p:nvPr/>
        </p:nvSpPr>
        <p:spPr>
          <a:xfrm>
            <a:off x="6208955" y="3462650"/>
            <a:ext cx="822960" cy="118872"/>
          </a:xfrm>
          <a:prstGeom prst="rect">
            <a:avLst/>
          </a:prstGeom>
          <a:noFill/>
          <a:ln/>
        </p:spPr>
        <p:txBody>
          <a:bodyPr wrap="square" lIns="0" tIns="0" rIns="0" bIns="0" rtlCol="0" anchor="ctr"/>
          <a:lstStyle/>
          <a:p>
            <a:pPr indent="0" marL="0">
              <a:buNone/>
            </a:pPr>
            <a:r>
              <a:rPr lang="en-US" sz="700" b="1" dirty="0">
                <a:solidFill>
                  <a:srgbClr val="F6693D"/>
                </a:solidFill>
                <a:latin typeface="Arial" pitchFamily="34" charset="0"/>
                <a:ea typeface="Arial" pitchFamily="34" charset="-122"/>
                <a:cs typeface="Arial" pitchFamily="34" charset="-120"/>
              </a:rPr>
              <a:t>Meta</a:t>
            </a:r>
            <a:endParaRPr lang="en-US" sz="700" dirty="0"/>
          </a:p>
        </p:txBody>
      </p:sp>
      <p:sp>
        <p:nvSpPr>
          <p:cNvPr id="77" name="Text 75"/>
          <p:cNvSpPr/>
          <p:nvPr/>
        </p:nvSpPr>
        <p:spPr>
          <a:xfrm>
            <a:off x="6504432" y="2139696"/>
            <a:ext cx="822960" cy="118872"/>
          </a:xfrm>
          <a:prstGeom prst="rect">
            <a:avLst/>
          </a:prstGeom>
          <a:noFill/>
          <a:ln/>
        </p:spPr>
        <p:txBody>
          <a:bodyPr wrap="square" lIns="0" tIns="0" rIns="0" bIns="0" rtlCol="0" anchor="ctr"/>
          <a:lstStyle/>
          <a:p>
            <a:pPr indent="0" marL="0">
              <a:buNone/>
            </a:pPr>
            <a:r>
              <a:rPr lang="en-US" sz="700" b="1" dirty="0">
                <a:solidFill>
                  <a:srgbClr val="333333"/>
                </a:solidFill>
                <a:latin typeface="Arial" pitchFamily="34" charset="0"/>
                <a:ea typeface="Arial" pitchFamily="34" charset="-122"/>
                <a:cs typeface="Arial" pitchFamily="34" charset="-120"/>
              </a:rPr>
              <a:t>Tesla</a:t>
            </a:r>
            <a:endParaRPr lang="en-US" sz="700" dirty="0"/>
          </a:p>
        </p:txBody>
      </p:sp>
      <p:sp>
        <p:nvSpPr>
          <p:cNvPr id="78" name="Text 76"/>
          <p:cNvSpPr/>
          <p:nvPr/>
        </p:nvSpPr>
        <p:spPr>
          <a:xfrm>
            <a:off x="5854135" y="2454981"/>
            <a:ext cx="822960" cy="118872"/>
          </a:xfrm>
          <a:prstGeom prst="rect">
            <a:avLst/>
          </a:prstGeom>
          <a:noFill/>
          <a:ln/>
        </p:spPr>
        <p:txBody>
          <a:bodyPr wrap="square" lIns="0" tIns="0" rIns="0" bIns="0" rtlCol="0" anchor="ctr"/>
          <a:lstStyle/>
          <a:p>
            <a:pPr indent="0" marL="0">
              <a:buNone/>
            </a:pPr>
            <a:r>
              <a:rPr lang="en-US" sz="700" b="1" dirty="0">
                <a:solidFill>
                  <a:srgbClr val="333333"/>
                </a:solidFill>
                <a:latin typeface="Arial" pitchFamily="34" charset="0"/>
                <a:ea typeface="Arial" pitchFamily="34" charset="-122"/>
                <a:cs typeface="Arial" pitchFamily="34" charset="-120"/>
              </a:rPr>
              <a:t>Walmart</a:t>
            </a:r>
            <a:endParaRPr lang="en-US" sz="700" dirty="0"/>
          </a:p>
        </p:txBody>
      </p:sp>
      <p:sp>
        <p:nvSpPr>
          <p:cNvPr id="79" name="Text 77"/>
          <p:cNvSpPr/>
          <p:nvPr/>
        </p:nvSpPr>
        <p:spPr>
          <a:xfrm>
            <a:off x="5676834" y="3612246"/>
            <a:ext cx="822960" cy="118872"/>
          </a:xfrm>
          <a:prstGeom prst="rect">
            <a:avLst/>
          </a:prstGeom>
          <a:noFill/>
          <a:ln/>
        </p:spPr>
        <p:txBody>
          <a:bodyPr wrap="square" lIns="0" tIns="0" rIns="0" bIns="0" rtlCol="0" anchor="ctr"/>
          <a:lstStyle/>
          <a:p>
            <a:pPr indent="0" marL="0">
              <a:buNone/>
            </a:pPr>
            <a:r>
              <a:rPr lang="en-US" sz="700" b="1" dirty="0">
                <a:solidFill>
                  <a:srgbClr val="333333"/>
                </a:solidFill>
                <a:latin typeface="Arial" pitchFamily="34" charset="0"/>
                <a:ea typeface="Arial" pitchFamily="34" charset="-122"/>
                <a:cs typeface="Arial" pitchFamily="34" charset="-120"/>
              </a:rPr>
              <a:t>Berkshire</a:t>
            </a:r>
            <a:endParaRPr lang="en-US" sz="700" dirty="0"/>
          </a:p>
        </p:txBody>
      </p:sp>
      <p:sp>
        <p:nvSpPr>
          <p:cNvPr id="80" name="Text 78"/>
          <p:cNvSpPr/>
          <p:nvPr/>
        </p:nvSpPr>
        <p:spPr>
          <a:xfrm>
            <a:off x="5757595" y="3867180"/>
            <a:ext cx="822960" cy="118872"/>
          </a:xfrm>
          <a:prstGeom prst="rect">
            <a:avLst/>
          </a:prstGeom>
          <a:noFill/>
          <a:ln/>
        </p:spPr>
        <p:txBody>
          <a:bodyPr wrap="square" lIns="0" tIns="0" rIns="0" bIns="0" rtlCol="0" anchor="ctr"/>
          <a:lstStyle/>
          <a:p>
            <a:pPr indent="0" marL="0">
              <a:buNone/>
            </a:pPr>
            <a:r>
              <a:rPr lang="en-US" sz="700" b="1" dirty="0">
                <a:solidFill>
                  <a:srgbClr val="333333"/>
                </a:solidFill>
                <a:latin typeface="Arial" pitchFamily="34" charset="0"/>
                <a:ea typeface="Arial" pitchFamily="34" charset="-122"/>
                <a:cs typeface="Arial" pitchFamily="34" charset="-120"/>
              </a:rPr>
              <a:t>JPMorgan</a:t>
            </a:r>
            <a:endParaRPr lang="en-US" sz="700" dirty="0"/>
          </a:p>
        </p:txBody>
      </p:sp>
      <p:sp>
        <p:nvSpPr>
          <p:cNvPr id="81" name="Text 79"/>
          <p:cNvSpPr/>
          <p:nvPr/>
        </p:nvSpPr>
        <p:spPr>
          <a:xfrm>
            <a:off x="5922007" y="3357311"/>
            <a:ext cx="822960" cy="118872"/>
          </a:xfrm>
          <a:prstGeom prst="rect">
            <a:avLst/>
          </a:prstGeom>
          <a:noFill/>
          <a:ln/>
        </p:spPr>
        <p:txBody>
          <a:bodyPr wrap="square" lIns="0" tIns="0" rIns="0" bIns="0" rtlCol="0" anchor="ctr"/>
          <a:lstStyle/>
          <a:p>
            <a:pPr indent="0" marL="0">
              <a:buNone/>
            </a:pPr>
            <a:r>
              <a:rPr lang="en-US" sz="700" b="1" dirty="0">
                <a:solidFill>
                  <a:srgbClr val="333333"/>
                </a:solidFill>
                <a:latin typeface="Arial" pitchFamily="34" charset="0"/>
                <a:ea typeface="Arial" pitchFamily="34" charset="-122"/>
                <a:cs typeface="Arial" pitchFamily="34" charset="-120"/>
              </a:rPr>
              <a:t>Eli Lilly</a:t>
            </a:r>
            <a:endParaRPr lang="en-US" sz="700" dirty="0"/>
          </a:p>
        </p:txBody>
      </p:sp>
      <p:sp>
        <p:nvSpPr>
          <p:cNvPr id="82" name="Text 80"/>
          <p:cNvSpPr/>
          <p:nvPr/>
        </p:nvSpPr>
        <p:spPr>
          <a:xfrm>
            <a:off x="4825461" y="3636752"/>
            <a:ext cx="822960" cy="118872"/>
          </a:xfrm>
          <a:prstGeom prst="rect">
            <a:avLst/>
          </a:prstGeom>
          <a:noFill/>
          <a:ln/>
        </p:spPr>
        <p:txBody>
          <a:bodyPr wrap="square" lIns="0" tIns="0" rIns="0" bIns="0" rtlCol="0" anchor="ctr"/>
          <a:lstStyle/>
          <a:p>
            <a:pPr indent="0" marL="0">
              <a:buNone/>
            </a:pPr>
            <a:r>
              <a:rPr lang="en-US" sz="700" b="1" dirty="0">
                <a:solidFill>
                  <a:srgbClr val="333333"/>
                </a:solidFill>
                <a:latin typeface="Arial" pitchFamily="34" charset="0"/>
                <a:ea typeface="Arial" pitchFamily="34" charset="-122"/>
                <a:cs typeface="Arial" pitchFamily="34" charset="-120"/>
              </a:rPr>
              <a:t>Exxon</a:t>
            </a:r>
            <a:endParaRPr lang="en-US" sz="700" dirty="0"/>
          </a:p>
        </p:txBody>
      </p:sp>
      <p:sp>
        <p:nvSpPr>
          <p:cNvPr id="83" name="Text 81"/>
          <p:cNvSpPr/>
          <p:nvPr/>
        </p:nvSpPr>
        <p:spPr>
          <a:xfrm>
            <a:off x="6024703" y="3504712"/>
            <a:ext cx="822960" cy="118872"/>
          </a:xfrm>
          <a:prstGeom prst="rect">
            <a:avLst/>
          </a:prstGeom>
          <a:noFill/>
          <a:ln/>
        </p:spPr>
        <p:txBody>
          <a:bodyPr wrap="square" lIns="0" tIns="0" rIns="0" bIns="0" rtlCol="0" anchor="ctr"/>
          <a:lstStyle/>
          <a:p>
            <a:pPr indent="0" marL="0">
              <a:buNone/>
            </a:pPr>
            <a:r>
              <a:rPr lang="en-US" sz="700" b="1" dirty="0">
                <a:solidFill>
                  <a:srgbClr val="333333"/>
                </a:solidFill>
                <a:latin typeface="Arial" pitchFamily="34" charset="0"/>
                <a:ea typeface="Arial" pitchFamily="34" charset="-122"/>
                <a:cs typeface="Arial" pitchFamily="34" charset="-120"/>
              </a:rPr>
              <a:t>Visa</a:t>
            </a:r>
            <a:endParaRPr lang="en-US" sz="700" dirty="0"/>
          </a:p>
        </p:txBody>
      </p:sp>
      <p:sp>
        <p:nvSpPr>
          <p:cNvPr id="84" name="Shape 82"/>
          <p:cNvSpPr/>
          <p:nvPr/>
        </p:nvSpPr>
        <p:spPr>
          <a:xfrm>
            <a:off x="7818120" y="2157984"/>
            <a:ext cx="91440" cy="91440"/>
          </a:xfrm>
          <a:prstGeom prst="ellipse">
            <a:avLst/>
          </a:prstGeom>
          <a:solidFill>
            <a:srgbClr val="F6693D"/>
          </a:solidFill>
          <a:ln w="6350">
            <a:solidFill>
              <a:srgbClr val="FFFFFF"/>
            </a:solidFill>
            <a:prstDash val="solid"/>
          </a:ln>
        </p:spPr>
      </p:sp>
      <p:sp>
        <p:nvSpPr>
          <p:cNvPr id="85" name="Text 83"/>
          <p:cNvSpPr/>
          <p:nvPr/>
        </p:nvSpPr>
        <p:spPr>
          <a:xfrm>
            <a:off x="7936992" y="2130552"/>
            <a:ext cx="548640" cy="146304"/>
          </a:xfrm>
          <a:prstGeom prst="rect">
            <a:avLst/>
          </a:prstGeom>
          <a:noFill/>
          <a:ln/>
        </p:spPr>
        <p:txBody>
          <a:bodyPr wrap="square" lIns="0" tIns="0" rIns="0" bIns="0" rtlCol="0" anchor="ctr"/>
          <a:lstStyle/>
          <a:p>
            <a:pPr indent="0" marL="0">
              <a:buNone/>
            </a:pPr>
            <a:r>
              <a:rPr lang="en-US" sz="750" b="1" dirty="0">
                <a:solidFill>
                  <a:srgbClr val="333333"/>
                </a:solidFill>
                <a:latin typeface="Arial" pitchFamily="34" charset="0"/>
                <a:ea typeface="Arial" pitchFamily="34" charset="-122"/>
                <a:cs typeface="Arial" pitchFamily="34" charset="-120"/>
              </a:rPr>
              <a:t>Tech</a:t>
            </a:r>
            <a:endParaRPr lang="en-US" sz="750" dirty="0"/>
          </a:p>
        </p:txBody>
      </p:sp>
      <p:sp>
        <p:nvSpPr>
          <p:cNvPr id="86" name="Shape 84"/>
          <p:cNvSpPr/>
          <p:nvPr/>
        </p:nvSpPr>
        <p:spPr>
          <a:xfrm>
            <a:off x="7818120" y="2322576"/>
            <a:ext cx="91440" cy="91440"/>
          </a:xfrm>
          <a:prstGeom prst="ellipse">
            <a:avLst/>
          </a:prstGeom>
          <a:solidFill>
            <a:srgbClr val="333333"/>
          </a:solidFill>
          <a:ln w="6350">
            <a:solidFill>
              <a:srgbClr val="FFFFFF"/>
            </a:solidFill>
            <a:prstDash val="solid"/>
          </a:ln>
        </p:spPr>
      </p:sp>
      <p:sp>
        <p:nvSpPr>
          <p:cNvPr id="87" name="Text 85"/>
          <p:cNvSpPr/>
          <p:nvPr/>
        </p:nvSpPr>
        <p:spPr>
          <a:xfrm>
            <a:off x="7936992" y="2295144"/>
            <a:ext cx="777240" cy="146304"/>
          </a:xfrm>
          <a:prstGeom prst="rect">
            <a:avLst/>
          </a:prstGeom>
          <a:noFill/>
          <a:ln/>
        </p:spPr>
        <p:txBody>
          <a:bodyPr wrap="square" lIns="0" tIns="0" rIns="0" bIns="0" rtlCol="0" anchor="ctr"/>
          <a:lstStyle/>
          <a:p>
            <a:pPr indent="0" marL="0">
              <a:buNone/>
            </a:pPr>
            <a:r>
              <a:rPr lang="en-US" sz="750" b="1" dirty="0">
                <a:solidFill>
                  <a:srgbClr val="333333"/>
                </a:solidFill>
                <a:latin typeface="Arial" pitchFamily="34" charset="0"/>
                <a:ea typeface="Arial" pitchFamily="34" charset="-122"/>
                <a:cs typeface="Arial" pitchFamily="34" charset="-120"/>
              </a:rPr>
              <a:t>Non-Tech</a:t>
            </a:r>
            <a:endParaRPr lang="en-US" sz="750" dirty="0"/>
          </a:p>
        </p:txBody>
      </p:sp>
      <p:sp>
        <p:nvSpPr>
          <p:cNvPr id="88" name="Shape 86"/>
          <p:cNvSpPr/>
          <p:nvPr/>
        </p:nvSpPr>
        <p:spPr>
          <a:xfrm>
            <a:off x="457200" y="5394960"/>
            <a:ext cx="8229600" cy="411480"/>
          </a:xfrm>
          <a:prstGeom prst="rect">
            <a:avLst/>
          </a:prstGeom>
          <a:solidFill>
            <a:srgbClr val="333333"/>
          </a:solidFill>
          <a:ln w="12700">
            <a:solidFill>
              <a:srgbClr val="333333"/>
            </a:solidFill>
            <a:prstDash val="solid"/>
          </a:ln>
        </p:spPr>
      </p:sp>
      <p:sp>
        <p:nvSpPr>
          <p:cNvPr id="89" name="Text 87"/>
          <p:cNvSpPr/>
          <p:nvPr/>
        </p:nvSpPr>
        <p:spPr>
          <a:xfrm>
            <a:off x="640080" y="5394960"/>
            <a:ext cx="7863840" cy="411480"/>
          </a:xfrm>
          <a:prstGeom prst="rect">
            <a:avLst/>
          </a:prstGeom>
          <a:noFill/>
          <a:ln/>
        </p:spPr>
        <p:txBody>
          <a:bodyPr wrap="square" lIns="0" tIns="0" rIns="0" bIns="0" rtlCol="0" anchor="ctr"/>
          <a:lstStyle/>
          <a:p>
            <a:pPr indent="0" marL="0">
              <a:buNone/>
            </a:pPr>
            <a:r>
              <a:rPr lang="en-US" sz="1100" b="1" dirty="0">
                <a:solidFill>
                  <a:srgbClr val="FFFFFF"/>
                </a:solidFill>
                <a:latin typeface="Arial" pitchFamily="34" charset="0"/>
                <a:ea typeface="Arial" pitchFamily="34" charset="-122"/>
                <a:cs typeface="Arial" pitchFamily="34" charset="-120"/>
              </a:rPr>
              <a:t>Tech median: ~26× fwd P/E on ~17% forward revenue growth. Non-Tech: ~23× on ~5% (consensus, Apr 22, 2026). The divergence is in the engine, not the multiple.</a:t>
            </a:r>
            <a:endParaRPr lang="en-US" sz="1100" dirty="0"/>
          </a:p>
        </p:txBody>
      </p:sp>
      <p:sp>
        <p:nvSpPr>
          <p:cNvPr id="90" name="Text 88"/>
          <p:cNvSpPr/>
          <p:nvPr/>
        </p:nvSpPr>
        <p:spPr>
          <a:xfrm>
            <a:off x="457200" y="5875020"/>
            <a:ext cx="8229600" cy="320040"/>
          </a:xfrm>
          <a:prstGeom prst="rect">
            <a:avLst/>
          </a:prstGeom>
          <a:noFill/>
          <a:ln/>
        </p:spPr>
        <p:txBody>
          <a:bodyPr wrap="square" lIns="0" tIns="0" rIns="0" bIns="0" rtlCol="0" anchor="t"/>
          <a:lstStyle/>
          <a:p>
            <a:pPr indent="0" marL="0">
              <a:buNone/>
            </a:pPr>
            <a:r>
              <a:rPr lang="en-US" sz="700" dirty="0">
                <a:solidFill>
                  <a:srgbClr val="999999"/>
                </a:solidFill>
                <a:latin typeface="Arial" pitchFamily="34" charset="0"/>
                <a:ea typeface="Arial" pitchFamily="34" charset="-122"/>
                <a:cs typeface="Arial" pitchFamily="34" charset="-120"/>
              </a:rPr>
              <a:t>Sources: stockanalysis.com analyst consensus (AAPL/MSFT/GOOGL/AMZN/NVDA/META/AVGO/TSLA/LLY/JPM/V/XOM/BRK.B/WMT, as of Apr 22, 2026); companiesmarketcap.com (mkt caps, Apr 22, 2026). NVDA, AVGO clipped at +50% growth; TSLA at 50× fwd P/E.</a:t>
            </a:r>
            <a:endParaRPr lang="en-US" sz="700" dirty="0"/>
          </a:p>
        </p:txBody>
      </p:sp>
      <p:sp>
        <p:nvSpPr>
          <p:cNvPr id="91" name="Shape 89"/>
          <p:cNvSpPr/>
          <p:nvPr/>
        </p:nvSpPr>
        <p:spPr>
          <a:xfrm>
            <a:off x="0" y="6286500"/>
            <a:ext cx="9144000" cy="571500"/>
          </a:xfrm>
          <a:prstGeom prst="rect">
            <a:avLst/>
          </a:prstGeom>
          <a:solidFill>
            <a:srgbClr val="000000"/>
          </a:solidFill>
          <a:ln w="12700">
            <a:solidFill>
              <a:srgbClr val="000000"/>
            </a:solidFill>
            <a:prstDash val="solid"/>
          </a:ln>
        </p:spPr>
      </p:sp>
      <p:sp>
        <p:nvSpPr>
          <p:cNvPr id="92" name="Text 90"/>
          <p:cNvSpPr/>
          <p:nvPr/>
        </p:nvSpPr>
        <p:spPr>
          <a:xfrm>
            <a:off x="1371600" y="6332220"/>
            <a:ext cx="6400800" cy="45720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93" name="Text 91"/>
          <p:cNvSpPr/>
          <p:nvPr/>
        </p:nvSpPr>
        <p:spPr>
          <a:xfrm>
            <a:off x="8321040" y="6405372"/>
            <a:ext cx="548640" cy="27432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F6693D"/>
          </a:solidFill>
          <a:ln w="12700">
            <a:solidFill>
              <a:srgbClr val="F6693D"/>
            </a:solidFill>
            <a:prstDash val="solid"/>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1000" b="1" spc="100" kern="0" dirty="0">
                <a:solidFill>
                  <a:srgbClr val="000000"/>
                </a:solidFill>
                <a:latin typeface="Arial" pitchFamily="34" charset="0"/>
                <a:ea typeface="Arial" pitchFamily="34" charset="-122"/>
                <a:cs typeface="Arial" pitchFamily="34" charset="-120"/>
              </a:rPr>
              <a:t>SHIFTS</a:t>
            </a:r>
            <a:endParaRPr lang="en-US" sz="1000" dirty="0"/>
          </a:p>
        </p:txBody>
      </p:sp>
      <p:sp>
        <p:nvSpPr>
          <p:cNvPr id="4" name="Text 2"/>
          <p:cNvSpPr/>
          <p:nvPr/>
        </p:nvSpPr>
        <p:spPr>
          <a:xfrm>
            <a:off x="457200" y="182880"/>
            <a:ext cx="6583680" cy="685800"/>
          </a:xfrm>
          <a:prstGeom prst="rect">
            <a:avLst/>
          </a:prstGeom>
          <a:noFill/>
          <a:ln/>
        </p:spPr>
        <p:txBody>
          <a:bodyPr wrap="square" lIns="0" tIns="0" rIns="0" bIns="0" rtlCol="0" anchor="t"/>
          <a:lstStyle/>
          <a:p>
            <a:pPr indent="0" marL="0">
              <a:buNone/>
            </a:pPr>
            <a:r>
              <a:rPr lang="en-US" sz="2400" b="1" dirty="0">
                <a:solidFill>
                  <a:srgbClr val="000000"/>
                </a:solidFill>
                <a:latin typeface="Arial Black" pitchFamily="34" charset="0"/>
                <a:ea typeface="Arial Black" pitchFamily="34" charset="-122"/>
                <a:cs typeface="Arial Black" pitchFamily="34" charset="-120"/>
              </a:rPr>
              <a:t>Agentic AI uses 10–100× the compute per session — that's the capex thesis</a:t>
            </a:r>
            <a:endParaRPr lang="en-US" sz="2400" dirty="0"/>
          </a:p>
        </p:txBody>
      </p:sp>
      <p:sp>
        <p:nvSpPr>
          <p:cNvPr id="5" name="Text 3"/>
          <p:cNvSpPr/>
          <p:nvPr/>
        </p:nvSpPr>
        <p:spPr>
          <a:xfrm>
            <a:off x="457200" y="91440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Agents set goals, use tools, and complete tasks end-to-end. Each session uses 10–100× the compute of a chatbot query.</a:t>
            </a:r>
            <a:endParaRPr lang="en-US" sz="1350" dirty="0"/>
          </a:p>
        </p:txBody>
      </p:sp>
      <p:sp>
        <p:nvSpPr>
          <p:cNvPr id="6" name="Shape 4"/>
          <p:cNvSpPr/>
          <p:nvPr/>
        </p:nvSpPr>
        <p:spPr>
          <a:xfrm>
            <a:off x="457200" y="1325880"/>
            <a:ext cx="8229600" cy="0"/>
          </a:xfrm>
          <a:prstGeom prst="line">
            <a:avLst/>
          </a:prstGeom>
          <a:noFill/>
          <a:ln w="9525">
            <a:solidFill>
              <a:srgbClr val="E5E5E5"/>
            </a:solidFill>
            <a:prstDash val="solid"/>
          </a:ln>
        </p:spPr>
      </p:sp>
      <p:sp>
        <p:nvSpPr>
          <p:cNvPr id="7" name="Shape 5"/>
          <p:cNvSpPr/>
          <p:nvPr/>
        </p:nvSpPr>
        <p:spPr>
          <a:xfrm>
            <a:off x="457200" y="1691640"/>
            <a:ext cx="3017520" cy="2971800"/>
          </a:xfrm>
          <a:prstGeom prst="rect">
            <a:avLst/>
          </a:prstGeom>
          <a:solidFill>
            <a:srgbClr val="EEEEEE"/>
          </a:solidFill>
          <a:ln w="9525">
            <a:solidFill>
              <a:srgbClr val="BBBBBB"/>
            </a:solidFill>
            <a:prstDash val="dash"/>
          </a:ln>
        </p:spPr>
      </p:sp>
      <p:sp>
        <p:nvSpPr>
          <p:cNvPr id="8" name="Text 6"/>
          <p:cNvSpPr/>
          <p:nvPr/>
        </p:nvSpPr>
        <p:spPr>
          <a:xfrm>
            <a:off x="548640" y="1691640"/>
            <a:ext cx="2834640" cy="2971800"/>
          </a:xfrm>
          <a:prstGeom prst="rect">
            <a:avLst/>
          </a:prstGeom>
          <a:noFill/>
          <a:ln/>
        </p:spPr>
        <p:txBody>
          <a:bodyPr wrap="square" lIns="0" tIns="0" rIns="0" bIns="0" rtlCol="0" anchor="ctr"/>
          <a:lstStyle/>
          <a:p>
            <a:pPr algn="ctr" indent="0" marL="0">
              <a:buNone/>
            </a:pPr>
            <a:r>
              <a:rPr lang="en-US" sz="1000" i="1" dirty="0">
                <a:solidFill>
                  <a:srgbClr val="888888"/>
                </a:solidFill>
                <a:latin typeface="Arial" pitchFamily="34" charset="0"/>
                <a:ea typeface="Arial" pitchFamily="34" charset="-122"/>
                <a:cs typeface="Arial" pitchFamily="34" charset="-120"/>
              </a:rPr>
              <a:t>IMAGE: Screenshot — dark-mode IDE, AI agent editing Python code live, glowing orange cursor, 'Claude is editing' pill, streaming test output in a terminal pane, square framing</a:t>
            </a:r>
            <a:endParaRPr lang="en-US" sz="10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3611880" y="1691640"/>
          <a:ext cx="5074920" cy="914400"/>
        </p:xfrm>
        <a:graphic>
          <a:graphicData uri="http://schemas.openxmlformats.org/drawingml/2006/table">
            <a:tbl>
              <a:tblPr/>
              <a:tblGrid>
                <a:gridCol w="1325880"/>
                <a:gridCol w="1874520"/>
                <a:gridCol w="1874520"/>
              </a:tblGrid>
              <a:tr h="594360">
                <a:tc>
                  <a:txBody>
                    <a:bodyPr/>
                    <a:lstStyle/>
                    <a:p>
                      <a:pPr algn="ctr" indent="0" marL="0">
                        <a:buNone/>
                      </a:pPr>
                      <a:r>
                        <a:rPr lang="en-US" sz="950" b="1" dirty="0">
                          <a:solidFill>
                            <a:srgbClr val="FFFFFF"/>
                          </a:solidFill>
                          <a:latin typeface="Arial" pitchFamily="34" charset="0"/>
                          <a:ea typeface="Arial" pitchFamily="34" charset="-122"/>
                          <a:cs typeface="Arial" pitchFamily="34" charset="-120"/>
                        </a:rPr>
                        <a:t>Dimension</a:t>
                      </a:r>
                      <a:endParaRPr lang="en-US" sz="950" dirty="0">
                        <a:latin typeface="Arial" charset="0"/>
                        <a:ea typeface="Arial" charset="0"/>
                        <a:cs typeface="Arial" charset="0"/>
                      </a:endParaRPr>
                    </a:p>
                  </a:txBody>
                  <a:tcPr marL="91440" marR="9144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000000"/>
                    </a:solidFill>
                  </a:tcPr>
                </a:tc>
                <a:tc>
                  <a:txBody>
                    <a:bodyPr/>
                    <a:lstStyle/>
                    <a:p>
                      <a:pPr algn="ctr" indent="0" marL="0">
                        <a:buNone/>
                      </a:pPr>
                      <a:r>
                        <a:rPr lang="en-US" sz="950" b="1" dirty="0">
                          <a:solidFill>
                            <a:srgbClr val="FFFFFF"/>
                          </a:solidFill>
                          <a:latin typeface="Arial" pitchFamily="34" charset="0"/>
                          <a:ea typeface="Arial" pitchFamily="34" charset="-122"/>
                          <a:cs typeface="Arial" pitchFamily="34" charset="-120"/>
                        </a:rPr>
                        <a:t>Chatbot (2023–24)</a:t>
                      </a:r>
                      <a:endParaRPr lang="en-US" sz="950" dirty="0">
                        <a:latin typeface="Arial" charset="0"/>
                        <a:ea typeface="Arial" charset="0"/>
                        <a:cs typeface="Arial" charset="0"/>
                      </a:endParaRPr>
                    </a:p>
                  </a:txBody>
                  <a:tcPr marL="91440" marR="9144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000000"/>
                    </a:solidFill>
                  </a:tcPr>
                </a:tc>
                <a:tc>
                  <a:txBody>
                    <a:bodyPr/>
                    <a:lstStyle/>
                    <a:p>
                      <a:pPr algn="ctr" indent="0" marL="0">
                        <a:buNone/>
                      </a:pPr>
                      <a:r>
                        <a:rPr lang="en-US" sz="950" b="1" dirty="0">
                          <a:solidFill>
                            <a:srgbClr val="FFFFFF"/>
                          </a:solidFill>
                          <a:latin typeface="Arial" pitchFamily="34" charset="0"/>
                          <a:ea typeface="Arial" pitchFamily="34" charset="-122"/>
                          <a:cs typeface="Arial" pitchFamily="34" charset="-120"/>
                        </a:rPr>
                        <a:t>Agent (2025+)</a:t>
                      </a:r>
                      <a:endParaRPr lang="en-US" sz="950" dirty="0">
                        <a:latin typeface="Arial" charset="0"/>
                        <a:ea typeface="Arial" charset="0"/>
                        <a:cs typeface="Arial" charset="0"/>
                      </a:endParaRPr>
                    </a:p>
                  </a:txBody>
                  <a:tcPr marL="91440" marR="9144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000000"/>
                    </a:solidFill>
                  </a:tcPr>
                </a:tc>
              </a:tr>
              <a:tr h="594360">
                <a:tc>
                  <a:txBody>
                    <a:bodyPr/>
                    <a:lstStyle/>
                    <a:p>
                      <a:pPr algn="l" indent="0" marL="0">
                        <a:buNone/>
                      </a:pPr>
                      <a:r>
                        <a:rPr lang="en-US" sz="1000" b="1" dirty="0">
                          <a:solidFill>
                            <a:srgbClr val="000000"/>
                          </a:solidFill>
                          <a:latin typeface="Arial" pitchFamily="34" charset="0"/>
                          <a:ea typeface="Arial" pitchFamily="34" charset="-122"/>
                          <a:cs typeface="Arial" pitchFamily="34" charset="-120"/>
                        </a:rPr>
                        <a:t>Interaction</a:t>
                      </a:r>
                      <a:endParaRPr lang="en-US" sz="1000" dirty="0">
                        <a:latin typeface="Arial" charset="0"/>
                        <a:ea typeface="Arial" charset="0"/>
                        <a:cs typeface="Arial" charset="0"/>
                      </a:endParaRPr>
                    </a:p>
                  </a:txBody>
                  <a:tcPr marL="45720" marR="4572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F9F9F9"/>
                    </a:solidFill>
                  </a:tcPr>
                </a:tc>
                <a:tc>
                  <a:txBody>
                    <a:bodyPr/>
                    <a:lstStyle/>
                    <a:p>
                      <a:pPr algn="l" indent="0" marL="0">
                        <a:buNone/>
                      </a:pPr>
                      <a:r>
                        <a:rPr lang="en-US" sz="1000" dirty="0">
                          <a:solidFill>
                            <a:srgbClr val="333333"/>
                          </a:solidFill>
                          <a:latin typeface="Arial" pitchFamily="34" charset="0"/>
                          <a:ea typeface="Arial" pitchFamily="34" charset="-122"/>
                          <a:cs typeface="Arial" pitchFamily="34" charset="-120"/>
                        </a:rPr>
                        <a:t>You ask, it answers</a:t>
                      </a:r>
                      <a:endParaRPr lang="en-US" sz="1000" dirty="0">
                        <a:latin typeface="Arial" charset="0"/>
                        <a:ea typeface="Arial" charset="0"/>
                        <a:cs typeface="Arial" charset="0"/>
                      </a:endParaRPr>
                    </a:p>
                  </a:txBody>
                  <a:tcPr marL="45720" marR="4572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F9F9F9"/>
                    </a:solidFill>
                  </a:tcPr>
                </a:tc>
                <a:tc>
                  <a:txBody>
                    <a:bodyPr/>
                    <a:lstStyle/>
                    <a:p>
                      <a:pPr algn="l" indent="0" marL="0">
                        <a:buNone/>
                      </a:pPr>
                      <a:r>
                        <a:rPr lang="en-US" sz="1000" b="1" dirty="0">
                          <a:solidFill>
                            <a:srgbClr val="F6693D"/>
                          </a:solidFill>
                          <a:latin typeface="Arial" pitchFamily="34" charset="0"/>
                          <a:ea typeface="Arial" pitchFamily="34" charset="-122"/>
                          <a:cs typeface="Arial" pitchFamily="34" charset="-120"/>
                        </a:rPr>
                        <a:t>Sets goals, executes autonomously</a:t>
                      </a:r>
                      <a:endParaRPr lang="en-US" sz="1000" dirty="0">
                        <a:latin typeface="Arial" charset="0"/>
                        <a:ea typeface="Arial" charset="0"/>
                        <a:cs typeface="Arial" charset="0"/>
                      </a:endParaRPr>
                    </a:p>
                  </a:txBody>
                  <a:tcPr marL="45720" marR="4572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F9F9F9"/>
                    </a:solidFill>
                  </a:tcPr>
                </a:tc>
              </a:tr>
              <a:tr h="594360">
                <a:tc>
                  <a:txBody>
                    <a:bodyPr/>
                    <a:lstStyle/>
                    <a:p>
                      <a:pPr algn="l" indent="0" marL="0">
                        <a:buNone/>
                      </a:pPr>
                      <a:r>
                        <a:rPr lang="en-US" sz="1000" b="1" dirty="0">
                          <a:solidFill>
                            <a:srgbClr val="000000"/>
                          </a:solidFill>
                          <a:latin typeface="Arial" pitchFamily="34" charset="0"/>
                          <a:ea typeface="Arial" pitchFamily="34" charset="-122"/>
                          <a:cs typeface="Arial" pitchFamily="34" charset="-120"/>
                        </a:rPr>
                        <a:t>Tokens per session</a:t>
                      </a:r>
                      <a:endParaRPr lang="en-US" sz="1000" dirty="0">
                        <a:latin typeface="Arial" charset="0"/>
                        <a:ea typeface="Arial" charset="0"/>
                        <a:cs typeface="Arial" charset="0"/>
                      </a:endParaRPr>
                    </a:p>
                  </a:txBody>
                  <a:tcPr marL="45720" marR="4572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tcPr>
                </a:tc>
                <a:tc>
                  <a:txBody>
                    <a:bodyPr/>
                    <a:lstStyle/>
                    <a:p>
                      <a:pPr algn="l" indent="0" marL="0">
                        <a:buNone/>
                      </a:pPr>
                      <a:r>
                        <a:rPr lang="en-US" sz="1000" dirty="0">
                          <a:solidFill>
                            <a:srgbClr val="333333"/>
                          </a:solidFill>
                          <a:latin typeface="Arial" pitchFamily="34" charset="0"/>
                          <a:ea typeface="Arial" pitchFamily="34" charset="-122"/>
                          <a:cs typeface="Arial" pitchFamily="34" charset="-120"/>
                        </a:rPr>
                        <a:t>1K – 5K</a:t>
                      </a:r>
                      <a:endParaRPr lang="en-US" sz="1000" dirty="0">
                        <a:latin typeface="Arial" charset="0"/>
                        <a:ea typeface="Arial" charset="0"/>
                        <a:cs typeface="Arial" charset="0"/>
                      </a:endParaRPr>
                    </a:p>
                  </a:txBody>
                  <a:tcPr marL="45720" marR="4572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tcPr>
                </a:tc>
                <a:tc>
                  <a:txBody>
                    <a:bodyPr/>
                    <a:lstStyle/>
                    <a:p>
                      <a:pPr algn="l" indent="0" marL="0">
                        <a:buNone/>
                      </a:pPr>
                      <a:r>
                        <a:rPr lang="en-US" sz="1000" b="1" dirty="0">
                          <a:solidFill>
                            <a:srgbClr val="000000"/>
                          </a:solidFill>
                          <a:latin typeface="Arial" pitchFamily="34" charset="0"/>
                          <a:ea typeface="Arial" pitchFamily="34" charset="-122"/>
                          <a:cs typeface="Arial" pitchFamily="34" charset="-120"/>
                        </a:rPr>
                        <a:t>50K – 500K+</a:t>
                      </a:r>
                      <a:endParaRPr lang="en-US" sz="1000" dirty="0">
                        <a:latin typeface="Arial" charset="0"/>
                        <a:ea typeface="Arial" charset="0"/>
                        <a:cs typeface="Arial" charset="0"/>
                      </a:endParaRPr>
                    </a:p>
                  </a:txBody>
                  <a:tcPr marL="45720" marR="4572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tcPr>
                </a:tc>
              </a:tr>
              <a:tr h="594360">
                <a:tc>
                  <a:txBody>
                    <a:bodyPr/>
                    <a:lstStyle/>
                    <a:p>
                      <a:pPr algn="l" indent="0" marL="0">
                        <a:buNone/>
                      </a:pPr>
                      <a:r>
                        <a:rPr lang="en-US" sz="1000" b="1" dirty="0">
                          <a:solidFill>
                            <a:srgbClr val="000000"/>
                          </a:solidFill>
                          <a:latin typeface="Arial" pitchFamily="34" charset="0"/>
                          <a:ea typeface="Arial" pitchFamily="34" charset="-122"/>
                          <a:cs typeface="Arial" pitchFamily="34" charset="-120"/>
                        </a:rPr>
                        <a:t>Compute per user</a:t>
                      </a:r>
                      <a:endParaRPr lang="en-US" sz="1000" dirty="0">
                        <a:latin typeface="Arial" charset="0"/>
                        <a:ea typeface="Arial" charset="0"/>
                        <a:cs typeface="Arial" charset="0"/>
                      </a:endParaRPr>
                    </a:p>
                  </a:txBody>
                  <a:tcPr marL="45720" marR="4572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F9F9F9"/>
                    </a:solidFill>
                  </a:tcPr>
                </a:tc>
                <a:tc>
                  <a:txBody>
                    <a:bodyPr/>
                    <a:lstStyle/>
                    <a:p>
                      <a:pPr algn="l" indent="0" marL="0">
                        <a:buNone/>
                      </a:pPr>
                      <a:r>
                        <a:rPr lang="en-US" sz="1000" dirty="0">
                          <a:solidFill>
                            <a:srgbClr val="333333"/>
                          </a:solidFill>
                          <a:latin typeface="Arial" pitchFamily="34" charset="0"/>
                          <a:ea typeface="Arial" pitchFamily="34" charset="-122"/>
                          <a:cs typeface="Arial" pitchFamily="34" charset="-120"/>
                        </a:rPr>
                        <a:t>1×</a:t>
                      </a:r>
                      <a:endParaRPr lang="en-US" sz="1000" dirty="0">
                        <a:latin typeface="Arial" charset="0"/>
                        <a:ea typeface="Arial" charset="0"/>
                        <a:cs typeface="Arial" charset="0"/>
                      </a:endParaRPr>
                    </a:p>
                  </a:txBody>
                  <a:tcPr marL="45720" marR="4572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F9F9F9"/>
                    </a:solidFill>
                  </a:tcPr>
                </a:tc>
                <a:tc>
                  <a:txBody>
                    <a:bodyPr/>
                    <a:lstStyle/>
                    <a:p>
                      <a:pPr algn="l" indent="0" marL="0">
                        <a:buNone/>
                      </a:pPr>
                      <a:r>
                        <a:rPr lang="en-US" sz="1000" b="1" dirty="0">
                          <a:solidFill>
                            <a:srgbClr val="000000"/>
                          </a:solidFill>
                          <a:latin typeface="Arial" pitchFamily="34" charset="0"/>
                          <a:ea typeface="Arial" pitchFamily="34" charset="-122"/>
                          <a:cs typeface="Arial" pitchFamily="34" charset="-120"/>
                        </a:rPr>
                        <a:t>10 – 100×</a:t>
                      </a:r>
                      <a:endParaRPr lang="en-US" sz="1000" dirty="0">
                        <a:latin typeface="Arial" charset="0"/>
                        <a:ea typeface="Arial" charset="0"/>
                        <a:cs typeface="Arial" charset="0"/>
                      </a:endParaRPr>
                    </a:p>
                  </a:txBody>
                  <a:tcPr marL="45720" marR="4572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solidFill>
                      <a:srgbClr val="F9F9F9"/>
                    </a:solidFill>
                  </a:tcPr>
                </a:tc>
              </a:tr>
              <a:tr h="594360">
                <a:tc>
                  <a:txBody>
                    <a:bodyPr/>
                    <a:lstStyle/>
                    <a:p>
                      <a:pPr algn="l" indent="0" marL="0">
                        <a:buNone/>
                      </a:pPr>
                      <a:r>
                        <a:rPr lang="en-US" sz="1000" b="1" dirty="0">
                          <a:solidFill>
                            <a:srgbClr val="000000"/>
                          </a:solidFill>
                          <a:latin typeface="Arial" pitchFamily="34" charset="0"/>
                          <a:ea typeface="Arial" pitchFamily="34" charset="-122"/>
                          <a:cs typeface="Arial" pitchFamily="34" charset="-120"/>
                        </a:rPr>
                        <a:t>Tools</a:t>
                      </a:r>
                      <a:endParaRPr lang="en-US" sz="1000" dirty="0">
                        <a:latin typeface="Arial" charset="0"/>
                        <a:ea typeface="Arial" charset="0"/>
                        <a:cs typeface="Arial" charset="0"/>
                      </a:endParaRPr>
                    </a:p>
                  </a:txBody>
                  <a:tcPr marL="45720" marR="4572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tcPr>
                </a:tc>
                <a:tc>
                  <a:txBody>
                    <a:bodyPr/>
                    <a:lstStyle/>
                    <a:p>
                      <a:pPr algn="l" indent="0" marL="0">
                        <a:buNone/>
                      </a:pPr>
                      <a:r>
                        <a:rPr lang="en-US" sz="1000" dirty="0">
                          <a:solidFill>
                            <a:srgbClr val="333333"/>
                          </a:solidFill>
                          <a:latin typeface="Arial" pitchFamily="34" charset="0"/>
                          <a:ea typeface="Arial" pitchFamily="34" charset="-122"/>
                          <a:cs typeface="Arial" pitchFamily="34" charset="-120"/>
                        </a:rPr>
                        <a:t>None</a:t>
                      </a:r>
                      <a:endParaRPr lang="en-US" sz="1000" dirty="0">
                        <a:latin typeface="Arial" charset="0"/>
                        <a:ea typeface="Arial" charset="0"/>
                        <a:cs typeface="Arial" charset="0"/>
                      </a:endParaRPr>
                    </a:p>
                  </a:txBody>
                  <a:tcPr marL="45720" marR="4572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tcPr>
                </a:tc>
                <a:tc>
                  <a:txBody>
                    <a:bodyPr/>
                    <a:lstStyle/>
                    <a:p>
                      <a:pPr algn="l" indent="0" marL="0">
                        <a:buNone/>
                      </a:pPr>
                      <a:r>
                        <a:rPr lang="en-US" sz="1000" b="1" dirty="0">
                          <a:solidFill>
                            <a:srgbClr val="000000"/>
                          </a:solidFill>
                          <a:latin typeface="Arial" pitchFamily="34" charset="0"/>
                          <a:ea typeface="Arial" pitchFamily="34" charset="-122"/>
                          <a:cs typeface="Arial" pitchFamily="34" charset="-120"/>
                        </a:rPr>
                        <a:t>Code, APIs, browsers, databases</a:t>
                      </a:r>
                      <a:endParaRPr lang="en-US" sz="1000" dirty="0">
                        <a:latin typeface="Arial" charset="0"/>
                        <a:ea typeface="Arial" charset="0"/>
                        <a:cs typeface="Arial" charset="0"/>
                      </a:endParaRPr>
                    </a:p>
                  </a:txBody>
                  <a:tcPr marL="45720" marR="45720" marT="45720" marB="45720" anchor="ctr">
                    <a:lnL w="6350" cap="flat" cmpd="sng" algn="ctr">
                      <a:solidFill>
                        <a:srgbClr val="E5E5E5"/>
                      </a:solidFill>
                      <a:prstDash val="solid"/>
                      <a:round/>
                      <a:headEnd type="none" w="med" len="med"/>
                      <a:tailEnd type="none" w="med" len="med"/>
                    </a:lnL>
                    <a:lnR w="6350" cap="flat" cmpd="sng" algn="ctr">
                      <a:solidFill>
                        <a:srgbClr val="E5E5E5"/>
                      </a:solidFill>
                      <a:prstDash val="solid"/>
                      <a:round/>
                      <a:headEnd type="none" w="med" len="med"/>
                      <a:tailEnd type="none" w="med" len="med"/>
                    </a:lnR>
                    <a:lnT w="6350" cap="flat" cmpd="sng" algn="ctr">
                      <a:solidFill>
                        <a:srgbClr val="E5E5E5"/>
                      </a:solidFill>
                      <a:prstDash val="solid"/>
                      <a:round/>
                      <a:headEnd type="none" w="med" len="med"/>
                      <a:tailEnd type="none" w="med" len="med"/>
                    </a:lnT>
                    <a:lnB w="6350" cap="flat" cmpd="sng" algn="ctr">
                      <a:solidFill>
                        <a:srgbClr val="E5E5E5"/>
                      </a:solidFill>
                      <a:prstDash val="solid"/>
                      <a:round/>
                      <a:headEnd type="none" w="med" len="med"/>
                      <a:tailEnd type="none" w="med" len="med"/>
                    </a:lnB>
                  </a:tcPr>
                </a:tc>
              </a:tr>
            </a:tbl>
          </a:graphicData>
        </a:graphic>
      </p:graphicFrame>
      <p:sp>
        <p:nvSpPr>
          <p:cNvPr id="10" name="Shape 7"/>
          <p:cNvSpPr/>
          <p:nvPr/>
        </p:nvSpPr>
        <p:spPr>
          <a:xfrm>
            <a:off x="457200" y="5349240"/>
            <a:ext cx="8229600" cy="457200"/>
          </a:xfrm>
          <a:prstGeom prst="rect">
            <a:avLst/>
          </a:prstGeom>
          <a:solidFill>
            <a:srgbClr val="F6693D"/>
          </a:solidFill>
          <a:ln w="12700">
            <a:solidFill>
              <a:srgbClr val="F6693D"/>
            </a:solidFill>
            <a:prstDash val="solid"/>
          </a:ln>
        </p:spPr>
      </p:sp>
      <p:sp>
        <p:nvSpPr>
          <p:cNvPr id="11" name="Text 8"/>
          <p:cNvSpPr/>
          <p:nvPr/>
        </p:nvSpPr>
        <p:spPr>
          <a:xfrm>
            <a:off x="640080" y="5349240"/>
            <a:ext cx="7863840" cy="457200"/>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The 10–100× compute step-up per session is what every AI capex forecast is pricing in.</a:t>
            </a:r>
            <a:endParaRPr lang="en-US" sz="1300" dirty="0"/>
          </a:p>
        </p:txBody>
      </p:sp>
      <p:sp>
        <p:nvSpPr>
          <p:cNvPr id="12" name="Text 9"/>
          <p:cNvSpPr/>
          <p:nvPr/>
        </p:nvSpPr>
        <p:spPr>
          <a:xfrm>
            <a:off x="457200" y="5875020"/>
            <a:ext cx="8229600" cy="320040"/>
          </a:xfrm>
          <a:prstGeom prst="rect">
            <a:avLst/>
          </a:prstGeom>
          <a:noFill/>
          <a:ln/>
        </p:spPr>
        <p:txBody>
          <a:bodyPr wrap="square" lIns="0" tIns="0" rIns="0" bIns="0" rtlCol="0" anchor="t"/>
          <a:lstStyle/>
          <a:p>
            <a:pPr indent="0" marL="0">
              <a:buNone/>
            </a:pPr>
            <a:r>
              <a:rPr lang="en-US" sz="700" dirty="0">
                <a:solidFill>
                  <a:srgbClr val="999999"/>
                </a:solidFill>
                <a:latin typeface="Arial" pitchFamily="34" charset="0"/>
                <a:ea typeface="Arial" pitchFamily="34" charset="-122"/>
                <a:cs typeface="Arial" pitchFamily="34" charset="-120"/>
              </a:rPr>
              <a:t>Source: Anthropic, OpenAI, GitHub Trending; Morgan Stanley CIO Survey; Strategy Research.</a:t>
            </a:r>
            <a:endParaRPr lang="en-US" sz="700" dirty="0"/>
          </a:p>
        </p:txBody>
      </p:sp>
      <p:sp>
        <p:nvSpPr>
          <p:cNvPr id="13" name="Shape 10"/>
          <p:cNvSpPr/>
          <p:nvPr/>
        </p:nvSpPr>
        <p:spPr>
          <a:xfrm>
            <a:off x="0" y="6286500"/>
            <a:ext cx="9144000" cy="571500"/>
          </a:xfrm>
          <a:prstGeom prst="rect">
            <a:avLst/>
          </a:prstGeom>
          <a:solidFill>
            <a:srgbClr val="000000"/>
          </a:solidFill>
          <a:ln w="12700">
            <a:solidFill>
              <a:srgbClr val="000000"/>
            </a:solidFill>
            <a:prstDash val="solid"/>
          </a:ln>
        </p:spPr>
      </p:sp>
      <p:sp>
        <p:nvSpPr>
          <p:cNvPr id="14" name="Text 11"/>
          <p:cNvSpPr/>
          <p:nvPr/>
        </p:nvSpPr>
        <p:spPr>
          <a:xfrm>
            <a:off x="1371600" y="6332220"/>
            <a:ext cx="6400800" cy="45720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15" name="Text 12"/>
          <p:cNvSpPr/>
          <p:nvPr/>
        </p:nvSpPr>
        <p:spPr>
          <a:xfrm>
            <a:off x="8321040" y="6405372"/>
            <a:ext cx="548640" cy="27432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F6693D"/>
          </a:solidFill>
          <a:ln w="12700">
            <a:solidFill>
              <a:srgbClr val="F6693D"/>
            </a:solidFill>
            <a:prstDash val="solid"/>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1000" b="1" spc="100" kern="0" dirty="0">
                <a:solidFill>
                  <a:srgbClr val="000000"/>
                </a:solidFill>
                <a:latin typeface="Arial" pitchFamily="34" charset="0"/>
                <a:ea typeface="Arial" pitchFamily="34" charset="-122"/>
                <a:cs typeface="Arial" pitchFamily="34" charset="-120"/>
              </a:rPr>
              <a:t>SHIFTS</a:t>
            </a:r>
            <a:endParaRPr lang="en-US" sz="1000" dirty="0"/>
          </a:p>
        </p:txBody>
      </p:sp>
      <p:sp>
        <p:nvSpPr>
          <p:cNvPr id="4" name="Text 2"/>
          <p:cNvSpPr/>
          <p:nvPr/>
        </p:nvSpPr>
        <p:spPr>
          <a:xfrm>
            <a:off x="457200" y="182880"/>
            <a:ext cx="6583680" cy="685800"/>
          </a:xfrm>
          <a:prstGeom prst="rect">
            <a:avLst/>
          </a:prstGeom>
          <a:noFill/>
          <a:ln/>
        </p:spPr>
        <p:txBody>
          <a:bodyPr wrap="square" lIns="0" tIns="0" rIns="0" bIns="0" rtlCol="0" anchor="t"/>
          <a:lstStyle/>
          <a:p>
            <a:pPr indent="0" marL="0">
              <a:buNone/>
            </a:pPr>
            <a:r>
              <a:rPr lang="en-US" sz="2400" b="1" dirty="0">
                <a:solidFill>
                  <a:srgbClr val="000000"/>
                </a:solidFill>
                <a:latin typeface="Arial Black" pitchFamily="34" charset="0"/>
                <a:ea typeface="Arial Black" pitchFamily="34" charset="-122"/>
                <a:cs typeface="Arial Black" pitchFamily="34" charset="-120"/>
              </a:rPr>
              <a:t>Semis up, software down — one theme, two outcomes</a:t>
            </a:r>
            <a:endParaRPr lang="en-US" sz="2400" dirty="0"/>
          </a:p>
        </p:txBody>
      </p:sp>
      <p:sp>
        <p:nvSpPr>
          <p:cNvPr id="5" name="Text 3"/>
          <p:cNvSpPr/>
          <p:nvPr/>
        </p:nvSpPr>
        <p:spPr>
          <a:xfrm>
            <a:off x="457200" y="91440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A 50+ point spread inside a single theme — and the pain is now bleeding into private credit and PE-held SaaS.</a:t>
            </a:r>
            <a:endParaRPr lang="en-US" sz="1350" dirty="0"/>
          </a:p>
        </p:txBody>
      </p:sp>
      <p:sp>
        <p:nvSpPr>
          <p:cNvPr id="6" name="Shape 4"/>
          <p:cNvSpPr/>
          <p:nvPr/>
        </p:nvSpPr>
        <p:spPr>
          <a:xfrm>
            <a:off x="457200" y="1325880"/>
            <a:ext cx="8229600" cy="0"/>
          </a:xfrm>
          <a:prstGeom prst="line">
            <a:avLst/>
          </a:prstGeom>
          <a:noFill/>
          <a:ln w="9525">
            <a:solidFill>
              <a:srgbClr val="E5E5E5"/>
            </a:solidFill>
            <a:prstDash val="solid"/>
          </a:ln>
        </p:spPr>
      </p:sp>
      <p:sp>
        <p:nvSpPr>
          <p:cNvPr id="7" name="Text 5"/>
          <p:cNvSpPr/>
          <p:nvPr/>
        </p:nvSpPr>
        <p:spPr>
          <a:xfrm>
            <a:off x="457200" y="1417320"/>
            <a:ext cx="3931920" cy="274320"/>
          </a:xfrm>
          <a:prstGeom prst="rect">
            <a:avLst/>
          </a:prstGeom>
          <a:noFill/>
          <a:ln/>
        </p:spPr>
        <p:txBody>
          <a:bodyPr wrap="square" lIns="0" tIns="0" rIns="0" bIns="0" rtlCol="0" anchor="b"/>
          <a:lstStyle/>
          <a:p>
            <a:pPr indent="0" marL="0">
              <a:buNone/>
            </a:pPr>
            <a:r>
              <a:rPr lang="en-US" sz="1400" b="1" dirty="0">
                <a:solidFill>
                  <a:srgbClr val="000000"/>
                </a:solidFill>
                <a:latin typeface="Arial" pitchFamily="34" charset="0"/>
                <a:ea typeface="Arial" pitchFamily="34" charset="-122"/>
                <a:cs typeface="Arial" pitchFamily="34" charset="-120"/>
              </a:rPr>
              <a:t>YTD price return, rebased to 100</a:t>
            </a:r>
            <a:endParaRPr lang="en-US" sz="1400" dirty="0"/>
          </a:p>
        </p:txBody>
      </p:sp>
      <p:sp>
        <p:nvSpPr>
          <p:cNvPr id="8" name="Shape 6"/>
          <p:cNvSpPr/>
          <p:nvPr/>
        </p:nvSpPr>
        <p:spPr>
          <a:xfrm>
            <a:off x="457200" y="1691640"/>
            <a:ext cx="3931920" cy="0"/>
          </a:xfrm>
          <a:prstGeom prst="line">
            <a:avLst/>
          </a:prstGeom>
          <a:noFill/>
          <a:ln w="19050">
            <a:solidFill>
              <a:srgbClr val="000000"/>
            </a:solidFill>
            <a:prstDash val="solid"/>
          </a:ln>
        </p:spPr>
      </p:sp>
      <p:graphicFrame>
        <p:nvGraphicFramePr>
          <p:cNvPr id="9" name="Chart 0" descr=""/>
          <p:cNvGraphicFramePr/>
          <p:nvPr/>
        </p:nvGraphicFramePr>
        <p:xfrm>
          <a:off x="457200" y="1783080"/>
          <a:ext cx="3931920" cy="3429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4754880" y="1783080"/>
            <a:ext cx="3931920" cy="1645920"/>
          </a:xfrm>
          <a:prstGeom prst="rect">
            <a:avLst/>
          </a:prstGeom>
          <a:solidFill>
            <a:srgbClr val="FFFFFF"/>
          </a:solidFill>
          <a:ln w="6350">
            <a:solidFill>
              <a:srgbClr val="E5E5E5"/>
            </a:solidFill>
            <a:prstDash val="solid"/>
          </a:ln>
        </p:spPr>
      </p:sp>
      <p:sp>
        <p:nvSpPr>
          <p:cNvPr id="11" name="Shape 8"/>
          <p:cNvSpPr/>
          <p:nvPr/>
        </p:nvSpPr>
        <p:spPr>
          <a:xfrm>
            <a:off x="4754880" y="1783080"/>
            <a:ext cx="3931920" cy="54864"/>
          </a:xfrm>
          <a:prstGeom prst="rect">
            <a:avLst/>
          </a:prstGeom>
          <a:solidFill>
            <a:srgbClr val="F6693D"/>
          </a:solidFill>
          <a:ln w="12700">
            <a:solidFill>
              <a:srgbClr val="F6693D"/>
            </a:solidFill>
            <a:prstDash val="solid"/>
          </a:ln>
        </p:spPr>
      </p:sp>
      <p:sp>
        <p:nvSpPr>
          <p:cNvPr id="12" name="Text 9"/>
          <p:cNvSpPr/>
          <p:nvPr/>
        </p:nvSpPr>
        <p:spPr>
          <a:xfrm>
            <a:off x="4937760" y="1874520"/>
            <a:ext cx="3566160" cy="182880"/>
          </a:xfrm>
          <a:prstGeom prst="rect">
            <a:avLst/>
          </a:prstGeom>
          <a:noFill/>
          <a:ln/>
        </p:spPr>
        <p:txBody>
          <a:bodyPr wrap="square" lIns="0" tIns="0" rIns="0" bIns="0" rtlCol="0" anchor="ctr"/>
          <a:lstStyle/>
          <a:p>
            <a:pPr algn="l" indent="0" marL="0">
              <a:buNone/>
            </a:pPr>
            <a:r>
              <a:rPr lang="en-US" sz="1000" b="1" spc="300" kern="0" dirty="0">
                <a:solidFill>
                  <a:srgbClr val="666666"/>
                </a:solidFill>
                <a:latin typeface="Arial" pitchFamily="34" charset="0"/>
                <a:ea typeface="Arial" pitchFamily="34" charset="-122"/>
                <a:cs typeface="Arial" pitchFamily="34" charset="-120"/>
              </a:rPr>
              <a:t>WHY SEMIS ARE UP</a:t>
            </a:r>
            <a:endParaRPr lang="en-US" sz="1000" dirty="0"/>
          </a:p>
        </p:txBody>
      </p:sp>
      <p:sp>
        <p:nvSpPr>
          <p:cNvPr id="13" name="Text 10"/>
          <p:cNvSpPr/>
          <p:nvPr/>
        </p:nvSpPr>
        <p:spPr>
          <a:xfrm>
            <a:off x="4937760" y="2057400"/>
            <a:ext cx="3566160" cy="347472"/>
          </a:xfrm>
          <a:prstGeom prst="rect">
            <a:avLst/>
          </a:prstGeom>
          <a:noFill/>
          <a:ln/>
        </p:spPr>
        <p:txBody>
          <a:bodyPr wrap="square" lIns="0" tIns="0" rIns="0" bIns="0" rtlCol="0" anchor="ctr"/>
          <a:lstStyle/>
          <a:p>
            <a:pPr algn="l" indent="0" marL="0">
              <a:buNone/>
            </a:pPr>
            <a:r>
              <a:rPr lang="en-US" sz="1200" b="1" dirty="0">
                <a:solidFill>
                  <a:srgbClr val="333333"/>
                </a:solidFill>
                <a:latin typeface="Arial" pitchFamily="34" charset="0"/>
                <a:ea typeface="Arial" pitchFamily="34" charset="-122"/>
                <a:cs typeface="Arial" pitchFamily="34" charset="-120"/>
              </a:rPr>
              <a:t>Sold out, with demand still building.</a:t>
            </a:r>
            <a:endParaRPr lang="en-US" sz="1200" dirty="0"/>
          </a:p>
        </p:txBody>
      </p:sp>
      <p:sp>
        <p:nvSpPr>
          <p:cNvPr id="14" name="Shape 11"/>
          <p:cNvSpPr/>
          <p:nvPr/>
        </p:nvSpPr>
        <p:spPr>
          <a:xfrm>
            <a:off x="4937760" y="2468880"/>
            <a:ext cx="274320" cy="274320"/>
          </a:xfrm>
          <a:prstGeom prst="ellipse">
            <a:avLst/>
          </a:prstGeom>
          <a:solidFill>
            <a:srgbClr val="F6693D"/>
          </a:solidFill>
          <a:ln w="12700">
            <a:solidFill>
              <a:srgbClr val="F6693D"/>
            </a:solidFill>
            <a:prstDash val="solid"/>
          </a:ln>
        </p:spPr>
      </p:sp>
      <p:sp>
        <p:nvSpPr>
          <p:cNvPr id="15" name="Text 12"/>
          <p:cNvSpPr/>
          <p:nvPr/>
        </p:nvSpPr>
        <p:spPr>
          <a:xfrm>
            <a:off x="4937760" y="2468880"/>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Black" pitchFamily="34" charset="0"/>
                <a:ea typeface="Arial Black" pitchFamily="34" charset="-122"/>
                <a:cs typeface="Arial Black" pitchFamily="34" charset="-120"/>
              </a:rPr>
              <a:t>⚙</a:t>
            </a:r>
            <a:endParaRPr lang="en-US" sz="1100" dirty="0"/>
          </a:p>
        </p:txBody>
      </p:sp>
      <p:sp>
        <p:nvSpPr>
          <p:cNvPr id="16" name="Text 13"/>
          <p:cNvSpPr/>
          <p:nvPr/>
        </p:nvSpPr>
        <p:spPr>
          <a:xfrm>
            <a:off x="5303520" y="2441448"/>
            <a:ext cx="3200400" cy="329184"/>
          </a:xfrm>
          <a:prstGeom prst="rect">
            <a:avLst/>
          </a:prstGeom>
          <a:noFill/>
          <a:ln/>
        </p:spPr>
        <p:txBody>
          <a:bodyPr wrap="square" lIns="0" tIns="0" rIns="0" bIns="0" rtlCol="0" anchor="ctr"/>
          <a:lstStyle/>
          <a:p>
            <a:pPr algn="l" indent="0" marL="0">
              <a:buNone/>
            </a:pPr>
            <a:r>
              <a:rPr lang="en-US" sz="950" dirty="0">
                <a:solidFill>
                  <a:srgbClr val="333333"/>
                </a:solidFill>
                <a:latin typeface="Arial" pitchFamily="34" charset="0"/>
                <a:ea typeface="Arial" pitchFamily="34" charset="-122"/>
                <a:cs typeface="Arial" pitchFamily="34" charset="-120"/>
              </a:rPr>
              <a:t>HBM sold out through 2026; hyperscalers are locking in every GB of memory they can secure.</a:t>
            </a:r>
            <a:pPr algn="l" indent="0" marL="0">
              <a:buNone/>
            </a:pPr>
            <a:r>
              <a:rPr lang="en-US" sz="700" baseline="30000" dirty="0">
                <a:solidFill>
                  <a:srgbClr val="F6693D"/>
                </a:solidFill>
                <a:latin typeface="Arial" pitchFamily="34" charset="0"/>
                <a:ea typeface="Arial" pitchFamily="34" charset="-122"/>
                <a:cs typeface="Arial" pitchFamily="34" charset="-120"/>
              </a:rPr>
              <a:t> 1</a:t>
            </a:r>
            <a:endParaRPr lang="en-US" sz="950" dirty="0"/>
          </a:p>
        </p:txBody>
      </p:sp>
      <p:sp>
        <p:nvSpPr>
          <p:cNvPr id="17" name="Shape 14"/>
          <p:cNvSpPr/>
          <p:nvPr/>
        </p:nvSpPr>
        <p:spPr>
          <a:xfrm>
            <a:off x="4937760" y="2798064"/>
            <a:ext cx="274320" cy="274320"/>
          </a:xfrm>
          <a:prstGeom prst="ellipse">
            <a:avLst/>
          </a:prstGeom>
          <a:solidFill>
            <a:srgbClr val="F6693D"/>
          </a:solidFill>
          <a:ln w="12700">
            <a:solidFill>
              <a:srgbClr val="F6693D"/>
            </a:solidFill>
            <a:prstDash val="solid"/>
          </a:ln>
        </p:spPr>
      </p:sp>
      <p:sp>
        <p:nvSpPr>
          <p:cNvPr id="18" name="Text 15"/>
          <p:cNvSpPr/>
          <p:nvPr/>
        </p:nvSpPr>
        <p:spPr>
          <a:xfrm>
            <a:off x="4937760" y="2798064"/>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Black" pitchFamily="34" charset="0"/>
                <a:ea typeface="Arial Black" pitchFamily="34" charset="-122"/>
                <a:cs typeface="Arial Black" pitchFamily="34" charset="-120"/>
              </a:rPr>
              <a:t>⚡</a:t>
            </a:r>
            <a:endParaRPr lang="en-US" sz="1100" dirty="0"/>
          </a:p>
        </p:txBody>
      </p:sp>
      <p:sp>
        <p:nvSpPr>
          <p:cNvPr id="19" name="Text 16"/>
          <p:cNvSpPr/>
          <p:nvPr/>
        </p:nvSpPr>
        <p:spPr>
          <a:xfrm>
            <a:off x="5303520" y="2770632"/>
            <a:ext cx="3200400" cy="329184"/>
          </a:xfrm>
          <a:prstGeom prst="rect">
            <a:avLst/>
          </a:prstGeom>
          <a:noFill/>
          <a:ln/>
        </p:spPr>
        <p:txBody>
          <a:bodyPr wrap="square" lIns="0" tIns="0" rIns="0" bIns="0" rtlCol="0" anchor="ctr"/>
          <a:lstStyle/>
          <a:p>
            <a:pPr algn="l" indent="0" marL="0">
              <a:buNone/>
            </a:pPr>
            <a:r>
              <a:rPr lang="en-US" sz="950" dirty="0">
                <a:solidFill>
                  <a:srgbClr val="333333"/>
                </a:solidFill>
                <a:latin typeface="Arial" pitchFamily="34" charset="0"/>
                <a:ea typeface="Arial" pitchFamily="34" charset="-122"/>
                <a:cs typeface="Arial" pitchFamily="34" charset="-120"/>
              </a:rPr>
              <a:t>Data-center power demand keeps pulling forward; each new model generation wants more silicon.</a:t>
            </a:r>
            <a:endParaRPr lang="en-US" sz="950" dirty="0"/>
          </a:p>
        </p:txBody>
      </p:sp>
      <p:sp>
        <p:nvSpPr>
          <p:cNvPr id="20" name="Shape 17"/>
          <p:cNvSpPr/>
          <p:nvPr/>
        </p:nvSpPr>
        <p:spPr>
          <a:xfrm>
            <a:off x="4937760" y="3127248"/>
            <a:ext cx="274320" cy="274320"/>
          </a:xfrm>
          <a:prstGeom prst="ellipse">
            <a:avLst/>
          </a:prstGeom>
          <a:solidFill>
            <a:srgbClr val="F6693D"/>
          </a:solidFill>
          <a:ln w="12700">
            <a:solidFill>
              <a:srgbClr val="F6693D"/>
            </a:solidFill>
            <a:prstDash val="solid"/>
          </a:ln>
        </p:spPr>
      </p:sp>
      <p:sp>
        <p:nvSpPr>
          <p:cNvPr id="21" name="Text 18"/>
          <p:cNvSpPr/>
          <p:nvPr/>
        </p:nvSpPr>
        <p:spPr>
          <a:xfrm>
            <a:off x="4937760" y="3127248"/>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Black" pitchFamily="34" charset="0"/>
                <a:ea typeface="Arial Black" pitchFamily="34" charset="-122"/>
                <a:cs typeface="Arial Black" pitchFamily="34" charset="-120"/>
              </a:rPr>
              <a:t>↑</a:t>
            </a:r>
            <a:endParaRPr lang="en-US" sz="1100" dirty="0"/>
          </a:p>
        </p:txBody>
      </p:sp>
      <p:sp>
        <p:nvSpPr>
          <p:cNvPr id="22" name="Text 19"/>
          <p:cNvSpPr/>
          <p:nvPr/>
        </p:nvSpPr>
        <p:spPr>
          <a:xfrm>
            <a:off x="5303520" y="3099816"/>
            <a:ext cx="3200400" cy="329184"/>
          </a:xfrm>
          <a:prstGeom prst="rect">
            <a:avLst/>
          </a:prstGeom>
          <a:noFill/>
          <a:ln/>
        </p:spPr>
        <p:txBody>
          <a:bodyPr wrap="square" lIns="0" tIns="0" rIns="0" bIns="0" rtlCol="0" anchor="ctr"/>
          <a:lstStyle/>
          <a:p>
            <a:pPr algn="l" indent="0" marL="0">
              <a:buNone/>
            </a:pPr>
            <a:r>
              <a:rPr lang="en-US" sz="950" dirty="0">
                <a:solidFill>
                  <a:srgbClr val="333333"/>
                </a:solidFill>
                <a:latin typeface="Arial" pitchFamily="34" charset="0"/>
                <a:ea typeface="Arial" pitchFamily="34" charset="-122"/>
                <a:cs typeface="Arial" pitchFamily="34" charset="-120"/>
              </a:rPr>
              <a:t>ASPs and margins are expanding across memory and advanced-node logic.</a:t>
            </a:r>
            <a:endParaRPr lang="en-US" sz="950" dirty="0"/>
          </a:p>
        </p:txBody>
      </p:sp>
      <p:sp>
        <p:nvSpPr>
          <p:cNvPr id="23" name="Shape 20"/>
          <p:cNvSpPr/>
          <p:nvPr/>
        </p:nvSpPr>
        <p:spPr>
          <a:xfrm>
            <a:off x="4754880" y="3520440"/>
            <a:ext cx="3931920" cy="1645920"/>
          </a:xfrm>
          <a:prstGeom prst="rect">
            <a:avLst/>
          </a:prstGeom>
          <a:solidFill>
            <a:srgbClr val="FFFFFF"/>
          </a:solidFill>
          <a:ln w="6350">
            <a:solidFill>
              <a:srgbClr val="E5E5E5"/>
            </a:solidFill>
            <a:prstDash val="solid"/>
          </a:ln>
        </p:spPr>
      </p:sp>
      <p:sp>
        <p:nvSpPr>
          <p:cNvPr id="24" name="Shape 21"/>
          <p:cNvSpPr/>
          <p:nvPr/>
        </p:nvSpPr>
        <p:spPr>
          <a:xfrm>
            <a:off x="4754880" y="3520440"/>
            <a:ext cx="3931920" cy="54864"/>
          </a:xfrm>
          <a:prstGeom prst="rect">
            <a:avLst/>
          </a:prstGeom>
          <a:solidFill>
            <a:srgbClr val="CC0000"/>
          </a:solidFill>
          <a:ln w="12700">
            <a:solidFill>
              <a:srgbClr val="CC0000"/>
            </a:solidFill>
            <a:prstDash val="solid"/>
          </a:ln>
        </p:spPr>
      </p:sp>
      <p:sp>
        <p:nvSpPr>
          <p:cNvPr id="25" name="Text 22"/>
          <p:cNvSpPr/>
          <p:nvPr/>
        </p:nvSpPr>
        <p:spPr>
          <a:xfrm>
            <a:off x="4937760" y="3611880"/>
            <a:ext cx="3566160" cy="182880"/>
          </a:xfrm>
          <a:prstGeom prst="rect">
            <a:avLst/>
          </a:prstGeom>
          <a:noFill/>
          <a:ln/>
        </p:spPr>
        <p:txBody>
          <a:bodyPr wrap="square" lIns="0" tIns="0" rIns="0" bIns="0" rtlCol="0" anchor="ctr"/>
          <a:lstStyle/>
          <a:p>
            <a:pPr algn="l" indent="0" marL="0">
              <a:buNone/>
            </a:pPr>
            <a:r>
              <a:rPr lang="en-US" sz="1000" b="1" spc="300" kern="0" dirty="0">
                <a:solidFill>
                  <a:srgbClr val="666666"/>
                </a:solidFill>
                <a:latin typeface="Arial" pitchFamily="34" charset="0"/>
                <a:ea typeface="Arial" pitchFamily="34" charset="-122"/>
                <a:cs typeface="Arial" pitchFamily="34" charset="-120"/>
              </a:rPr>
              <a:t>WHY SOFTWARE IS DOWN</a:t>
            </a:r>
            <a:endParaRPr lang="en-US" sz="1000" dirty="0"/>
          </a:p>
        </p:txBody>
      </p:sp>
      <p:sp>
        <p:nvSpPr>
          <p:cNvPr id="26" name="Text 23"/>
          <p:cNvSpPr/>
          <p:nvPr/>
        </p:nvSpPr>
        <p:spPr>
          <a:xfrm>
            <a:off x="4937760" y="3794760"/>
            <a:ext cx="3566160" cy="347472"/>
          </a:xfrm>
          <a:prstGeom prst="rect">
            <a:avLst/>
          </a:prstGeom>
          <a:noFill/>
          <a:ln/>
        </p:spPr>
        <p:txBody>
          <a:bodyPr wrap="square" lIns="0" tIns="0" rIns="0" bIns="0" rtlCol="0" anchor="ctr"/>
          <a:lstStyle/>
          <a:p>
            <a:pPr algn="l" indent="0" marL="0">
              <a:buNone/>
            </a:pPr>
            <a:r>
              <a:rPr lang="en-US" sz="1200" b="1" dirty="0">
                <a:solidFill>
                  <a:srgbClr val="333333"/>
                </a:solidFill>
                <a:latin typeface="Arial" pitchFamily="34" charset="0"/>
                <a:ea typeface="Arial" pitchFamily="34" charset="-122"/>
                <a:cs typeface="Arial" pitchFamily="34" charset="-120"/>
              </a:rPr>
              <a:t>Per-seat pricing is under attack.</a:t>
            </a:r>
            <a:endParaRPr lang="en-US" sz="1200" dirty="0"/>
          </a:p>
        </p:txBody>
      </p:sp>
      <p:sp>
        <p:nvSpPr>
          <p:cNvPr id="27" name="Shape 24"/>
          <p:cNvSpPr/>
          <p:nvPr/>
        </p:nvSpPr>
        <p:spPr>
          <a:xfrm>
            <a:off x="4937760" y="4206240"/>
            <a:ext cx="274320" cy="274320"/>
          </a:xfrm>
          <a:prstGeom prst="ellipse">
            <a:avLst/>
          </a:prstGeom>
          <a:solidFill>
            <a:srgbClr val="CC0000"/>
          </a:solidFill>
          <a:ln w="12700">
            <a:solidFill>
              <a:srgbClr val="CC0000"/>
            </a:solidFill>
            <a:prstDash val="solid"/>
          </a:ln>
        </p:spPr>
      </p:sp>
      <p:sp>
        <p:nvSpPr>
          <p:cNvPr id="28" name="Text 25"/>
          <p:cNvSpPr/>
          <p:nvPr/>
        </p:nvSpPr>
        <p:spPr>
          <a:xfrm>
            <a:off x="4937760" y="4206240"/>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Black" pitchFamily="34" charset="0"/>
                <a:ea typeface="Arial Black" pitchFamily="34" charset="-122"/>
                <a:cs typeface="Arial Black" pitchFamily="34" charset="-120"/>
              </a:rPr>
              <a:t>◉</a:t>
            </a:r>
            <a:endParaRPr lang="en-US" sz="1100" dirty="0"/>
          </a:p>
        </p:txBody>
      </p:sp>
      <p:sp>
        <p:nvSpPr>
          <p:cNvPr id="29" name="Text 26"/>
          <p:cNvSpPr/>
          <p:nvPr/>
        </p:nvSpPr>
        <p:spPr>
          <a:xfrm>
            <a:off x="5303520" y="4178808"/>
            <a:ext cx="3200400" cy="329184"/>
          </a:xfrm>
          <a:prstGeom prst="rect">
            <a:avLst/>
          </a:prstGeom>
          <a:noFill/>
          <a:ln/>
        </p:spPr>
        <p:txBody>
          <a:bodyPr wrap="square" lIns="0" tIns="0" rIns="0" bIns="0" rtlCol="0" anchor="ctr"/>
          <a:lstStyle/>
          <a:p>
            <a:pPr algn="l" indent="0" marL="0">
              <a:buNone/>
            </a:pPr>
            <a:r>
              <a:rPr lang="en-US" sz="950" dirty="0">
                <a:solidFill>
                  <a:srgbClr val="333333"/>
                </a:solidFill>
                <a:latin typeface="Arial" pitchFamily="34" charset="0"/>
                <a:ea typeface="Arial" pitchFamily="34" charset="-122"/>
                <a:cs typeface="Arial" pitchFamily="34" charset="-120"/>
              </a:rPr>
              <a:t>Agentic AI threatens per-seat pricing; 2026 CIO surveys flag displacement risk on horizontal SaaS.</a:t>
            </a:r>
            <a:endParaRPr lang="en-US" sz="950" dirty="0"/>
          </a:p>
        </p:txBody>
      </p:sp>
      <p:sp>
        <p:nvSpPr>
          <p:cNvPr id="30" name="Shape 27"/>
          <p:cNvSpPr/>
          <p:nvPr/>
        </p:nvSpPr>
        <p:spPr>
          <a:xfrm>
            <a:off x="4937760" y="4535424"/>
            <a:ext cx="274320" cy="274320"/>
          </a:xfrm>
          <a:prstGeom prst="ellipse">
            <a:avLst/>
          </a:prstGeom>
          <a:solidFill>
            <a:srgbClr val="CC0000"/>
          </a:solidFill>
          <a:ln w="12700">
            <a:solidFill>
              <a:srgbClr val="CC0000"/>
            </a:solidFill>
            <a:prstDash val="solid"/>
          </a:ln>
        </p:spPr>
      </p:sp>
      <p:sp>
        <p:nvSpPr>
          <p:cNvPr id="31" name="Text 28"/>
          <p:cNvSpPr/>
          <p:nvPr/>
        </p:nvSpPr>
        <p:spPr>
          <a:xfrm>
            <a:off x="4937760" y="4535424"/>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Black" pitchFamily="34" charset="0"/>
                <a:ea typeface="Arial Black" pitchFamily="34" charset="-122"/>
                <a:cs typeface="Arial Black" pitchFamily="34" charset="-120"/>
              </a:rPr>
              <a:t>✕</a:t>
            </a:r>
            <a:endParaRPr lang="en-US" sz="1100" dirty="0"/>
          </a:p>
        </p:txBody>
      </p:sp>
      <p:sp>
        <p:nvSpPr>
          <p:cNvPr id="32" name="Text 29"/>
          <p:cNvSpPr/>
          <p:nvPr/>
        </p:nvSpPr>
        <p:spPr>
          <a:xfrm>
            <a:off x="5303520" y="4507992"/>
            <a:ext cx="3200400" cy="329184"/>
          </a:xfrm>
          <a:prstGeom prst="rect">
            <a:avLst/>
          </a:prstGeom>
          <a:noFill/>
          <a:ln/>
        </p:spPr>
        <p:txBody>
          <a:bodyPr wrap="square" lIns="0" tIns="0" rIns="0" bIns="0" rtlCol="0" anchor="ctr"/>
          <a:lstStyle/>
          <a:p>
            <a:pPr algn="l" indent="0" marL="0">
              <a:buNone/>
            </a:pPr>
            <a:r>
              <a:rPr lang="en-US" sz="950" dirty="0">
                <a:solidFill>
                  <a:srgbClr val="333333"/>
                </a:solidFill>
                <a:latin typeface="Arial" pitchFamily="34" charset="0"/>
                <a:ea typeface="Arial" pitchFamily="34" charset="-122"/>
                <a:cs typeface="Arial" pitchFamily="34" charset="-120"/>
              </a:rPr>
              <a:t>Public SaaS multiples re-rated lower as buyers underwrite slower seat growth and pricing pressure.</a:t>
            </a:r>
            <a:pPr algn="l" indent="0" marL="0">
              <a:buNone/>
            </a:pPr>
            <a:r>
              <a:rPr lang="en-US" sz="700" baseline="30000" dirty="0">
                <a:solidFill>
                  <a:srgbClr val="CC0000"/>
                </a:solidFill>
                <a:latin typeface="Arial" pitchFamily="34" charset="0"/>
                <a:ea typeface="Arial" pitchFamily="34" charset="-122"/>
                <a:cs typeface="Arial" pitchFamily="34" charset="-120"/>
              </a:rPr>
              <a:t> 2</a:t>
            </a:r>
            <a:endParaRPr lang="en-US" sz="950" dirty="0"/>
          </a:p>
        </p:txBody>
      </p:sp>
      <p:sp>
        <p:nvSpPr>
          <p:cNvPr id="33" name="Shape 30"/>
          <p:cNvSpPr/>
          <p:nvPr/>
        </p:nvSpPr>
        <p:spPr>
          <a:xfrm>
            <a:off x="4937760" y="4864608"/>
            <a:ext cx="274320" cy="274320"/>
          </a:xfrm>
          <a:prstGeom prst="ellipse">
            <a:avLst/>
          </a:prstGeom>
          <a:solidFill>
            <a:srgbClr val="CC0000"/>
          </a:solidFill>
          <a:ln w="12700">
            <a:solidFill>
              <a:srgbClr val="CC0000"/>
            </a:solidFill>
            <a:prstDash val="solid"/>
          </a:ln>
        </p:spPr>
      </p:sp>
      <p:sp>
        <p:nvSpPr>
          <p:cNvPr id="34" name="Text 31"/>
          <p:cNvSpPr/>
          <p:nvPr/>
        </p:nvSpPr>
        <p:spPr>
          <a:xfrm>
            <a:off x="4937760" y="4864608"/>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Black" pitchFamily="34" charset="0"/>
                <a:ea typeface="Arial Black" pitchFamily="34" charset="-122"/>
                <a:cs typeface="Arial Black" pitchFamily="34" charset="-120"/>
              </a:rPr>
              <a:t>↓</a:t>
            </a:r>
            <a:endParaRPr lang="en-US" sz="1100" dirty="0"/>
          </a:p>
        </p:txBody>
      </p:sp>
      <p:sp>
        <p:nvSpPr>
          <p:cNvPr id="35" name="Text 32"/>
          <p:cNvSpPr/>
          <p:nvPr/>
        </p:nvSpPr>
        <p:spPr>
          <a:xfrm>
            <a:off x="5303520" y="4837176"/>
            <a:ext cx="3200400" cy="329184"/>
          </a:xfrm>
          <a:prstGeom prst="rect">
            <a:avLst/>
          </a:prstGeom>
          <a:noFill/>
          <a:ln/>
        </p:spPr>
        <p:txBody>
          <a:bodyPr wrap="square" lIns="0" tIns="0" rIns="0" bIns="0" rtlCol="0" anchor="ctr"/>
          <a:lstStyle/>
          <a:p>
            <a:pPr algn="l" indent="0" marL="0">
              <a:buNone/>
            </a:pPr>
            <a:r>
              <a:rPr lang="en-US" sz="950" dirty="0">
                <a:solidFill>
                  <a:srgbClr val="333333"/>
                </a:solidFill>
                <a:latin typeface="Arial" pitchFamily="34" charset="0"/>
                <a:ea typeface="Arial" pitchFamily="34" charset="-122"/>
                <a:cs typeface="Arial" pitchFamily="34" charset="-120"/>
              </a:rPr>
              <a:t>Renewals slowing and deal cycles stretching as customers wait for vendor AI roadmaps to settle.</a:t>
            </a:r>
            <a:endParaRPr lang="en-US" sz="950" dirty="0"/>
          </a:p>
        </p:txBody>
      </p:sp>
      <p:sp>
        <p:nvSpPr>
          <p:cNvPr id="36" name="Text 33"/>
          <p:cNvSpPr/>
          <p:nvPr/>
        </p:nvSpPr>
        <p:spPr>
          <a:xfrm>
            <a:off x="457200" y="5349240"/>
            <a:ext cx="8229600" cy="274320"/>
          </a:xfrm>
          <a:prstGeom prst="rect">
            <a:avLst/>
          </a:prstGeom>
          <a:noFill/>
          <a:ln/>
        </p:spPr>
        <p:txBody>
          <a:bodyPr wrap="square" lIns="0" tIns="0" rIns="0" bIns="0" rtlCol="0" anchor="ctr"/>
          <a:lstStyle/>
          <a:p>
            <a:pPr algn="ctr" indent="0" marL="0">
              <a:buNone/>
            </a:pPr>
            <a:r>
              <a:rPr lang="en-US" sz="950" i="1" dirty="0">
                <a:solidFill>
                  <a:srgbClr val="666666"/>
                </a:solidFill>
                <a:latin typeface="Arial" pitchFamily="34" charset="0"/>
                <a:ea typeface="Arial" pitchFamily="34" charset="-122"/>
                <a:cs typeface="Arial" pitchFamily="34" charset="-120"/>
              </a:rPr>
              <a:t>One theme, two outcomes — and software's pain is now bleeding into private equity and private credit, both anchored in SaaS.</a:t>
            </a:r>
            <a:endParaRPr lang="en-US" sz="950" dirty="0"/>
          </a:p>
        </p:txBody>
      </p:sp>
      <p:sp>
        <p:nvSpPr>
          <p:cNvPr id="37" name="Text 34"/>
          <p:cNvSpPr/>
          <p:nvPr/>
        </p:nvSpPr>
        <p:spPr>
          <a:xfrm>
            <a:off x="457200" y="5875020"/>
            <a:ext cx="8229600" cy="457200"/>
          </a:xfrm>
          <a:prstGeom prst="rect">
            <a:avLst/>
          </a:prstGeom>
          <a:noFill/>
          <a:ln/>
        </p:spPr>
        <p:txBody>
          <a:bodyPr wrap="square" lIns="0" tIns="0" rIns="0" bIns="0" rtlCol="0" anchor="t"/>
          <a:lstStyle/>
          <a:p>
            <a:pPr indent="0" marL="0">
              <a:buNone/>
            </a:pPr>
            <a:r>
              <a:rPr lang="en-US" sz="700" b="1" dirty="0">
                <a:solidFill>
                  <a:srgbClr val="999999"/>
                </a:solidFill>
                <a:latin typeface="Arial" pitchFamily="34" charset="0"/>
                <a:ea typeface="Arial" pitchFamily="34" charset="-122"/>
                <a:cs typeface="Arial" pitchFamily="34" charset="-120"/>
              </a:rPr>
              <a:t>(1) </a:t>
            </a:r>
            <a:pPr indent="0" marL="0">
              <a:buNone/>
            </a:pPr>
            <a:r>
              <a:rPr lang="en-US" sz="700" dirty="0">
                <a:solidFill>
                  <a:srgbClr val="999999"/>
                </a:solidFill>
                <a:latin typeface="Arial" pitchFamily="34" charset="0"/>
                <a:ea typeface="Arial" pitchFamily="34" charset="-122"/>
                <a:cs typeface="Arial" pitchFamily="34" charset="-120"/>
              </a:rPr>
              <a:t>TrendForce via Data Center Dynamics, 2026, </a:t>
            </a:r>
            <a:pPr indent="0" marL="0">
              <a:buNone/>
            </a:pPr>
            <a:r>
              <a:rPr lang="en-US" sz="700" b="1" dirty="0">
                <a:solidFill>
                  <a:srgbClr val="999999"/>
                </a:solidFill>
                <a:latin typeface="Arial" pitchFamily="34" charset="0"/>
                <a:ea typeface="Arial" pitchFamily="34" charset="-122"/>
                <a:cs typeface="Arial" pitchFamily="34" charset="-120"/>
              </a:rPr>
              <a:t>(2) </a:t>
            </a:r>
            <a:pPr indent="0" marL="0">
              <a:buNone/>
            </a:pPr>
            <a:r>
              <a:rPr lang="en-US" sz="700" dirty="0">
                <a:solidFill>
                  <a:srgbClr val="999999"/>
                </a:solidFill>
                <a:latin typeface="Arial" pitchFamily="34" charset="0"/>
                <a:ea typeface="Arial" pitchFamily="34" charset="-122"/>
                <a:cs typeface="Arial" pitchFamily="34" charset="-120"/>
              </a:rPr>
              <a:t>multiples.vc public software multiples, Apr 2026.</a:t>
            </a:r>
            <a:endParaRPr lang="en-US" sz="700" dirty="0"/>
          </a:p>
        </p:txBody>
      </p:sp>
      <p:sp>
        <p:nvSpPr>
          <p:cNvPr id="38" name="Shape 35"/>
          <p:cNvSpPr/>
          <p:nvPr/>
        </p:nvSpPr>
        <p:spPr>
          <a:xfrm>
            <a:off x="0" y="6286500"/>
            <a:ext cx="9144000" cy="571500"/>
          </a:xfrm>
          <a:prstGeom prst="rect">
            <a:avLst/>
          </a:prstGeom>
          <a:solidFill>
            <a:srgbClr val="000000"/>
          </a:solidFill>
          <a:ln w="12700">
            <a:solidFill>
              <a:srgbClr val="000000"/>
            </a:solidFill>
            <a:prstDash val="solid"/>
          </a:ln>
        </p:spPr>
      </p:sp>
      <p:sp>
        <p:nvSpPr>
          <p:cNvPr id="39" name="Text 36"/>
          <p:cNvSpPr/>
          <p:nvPr/>
        </p:nvSpPr>
        <p:spPr>
          <a:xfrm>
            <a:off x="1371600" y="6332220"/>
            <a:ext cx="6400800" cy="45720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40" name="Text 37"/>
          <p:cNvSpPr/>
          <p:nvPr/>
        </p:nvSpPr>
        <p:spPr>
          <a:xfrm>
            <a:off x="8321040" y="6405372"/>
            <a:ext cx="548640" cy="27432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CC0000"/>
          </a:solidFill>
          <a:ln w="12700">
            <a:solidFill>
              <a:srgbClr val="CC0000"/>
            </a:solidFill>
            <a:prstDash val="solid"/>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Arial" pitchFamily="34" charset="0"/>
                <a:ea typeface="Arial" pitchFamily="34" charset="-122"/>
                <a:cs typeface="Arial" pitchFamily="34" charset="-120"/>
              </a:rPr>
              <a:t>RISKS</a:t>
            </a:r>
            <a:endParaRPr lang="en-US" sz="1000" dirty="0"/>
          </a:p>
        </p:txBody>
      </p:sp>
      <p:sp>
        <p:nvSpPr>
          <p:cNvPr id="4" name="Text 2"/>
          <p:cNvSpPr/>
          <p:nvPr/>
        </p:nvSpPr>
        <p:spPr>
          <a:xfrm>
            <a:off x="457200" y="182880"/>
            <a:ext cx="6583680" cy="685800"/>
          </a:xfrm>
          <a:prstGeom prst="rect">
            <a:avLst/>
          </a:prstGeom>
          <a:noFill/>
          <a:ln/>
        </p:spPr>
        <p:txBody>
          <a:bodyPr wrap="square" lIns="0" tIns="0" rIns="0" bIns="0" rtlCol="0" anchor="t"/>
          <a:lstStyle/>
          <a:p>
            <a:pPr indent="0" marL="0">
              <a:buNone/>
            </a:pPr>
            <a:r>
              <a:rPr lang="en-US" sz="2400" b="1" dirty="0">
                <a:solidFill>
                  <a:srgbClr val="000000"/>
                </a:solidFill>
                <a:latin typeface="Arial Black" pitchFamily="34" charset="0"/>
                <a:ea typeface="Arial Black" pitchFamily="34" charset="-122"/>
                <a:cs typeface="Arial Black" pitchFamily="34" charset="-120"/>
              </a:rPr>
              <a:t>The bubble question.</a:t>
            </a:r>
            <a:endParaRPr lang="en-US" sz="2400" dirty="0"/>
          </a:p>
        </p:txBody>
      </p:sp>
      <p:sp>
        <p:nvSpPr>
          <p:cNvPr id="5" name="Text 3"/>
          <p:cNvSpPr/>
          <p:nvPr/>
        </p:nvSpPr>
        <p:spPr>
          <a:xfrm>
            <a:off x="457200" y="91440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Four tests. Same questions investors asked about Cisco and the dotcoms. Different answers today.</a:t>
            </a:r>
            <a:endParaRPr lang="en-US" sz="1350" dirty="0"/>
          </a:p>
        </p:txBody>
      </p:sp>
      <p:sp>
        <p:nvSpPr>
          <p:cNvPr id="6" name="Shape 4"/>
          <p:cNvSpPr/>
          <p:nvPr/>
        </p:nvSpPr>
        <p:spPr>
          <a:xfrm>
            <a:off x="457200" y="1325880"/>
            <a:ext cx="8229600" cy="0"/>
          </a:xfrm>
          <a:prstGeom prst="line">
            <a:avLst/>
          </a:prstGeom>
          <a:noFill/>
          <a:ln w="9525">
            <a:solidFill>
              <a:srgbClr val="E5E5E5"/>
            </a:solidFill>
            <a:prstDash val="solid"/>
          </a:ln>
        </p:spPr>
      </p:sp>
      <p:sp>
        <p:nvSpPr>
          <p:cNvPr id="7" name="Shape 5"/>
          <p:cNvSpPr/>
          <p:nvPr/>
        </p:nvSpPr>
        <p:spPr>
          <a:xfrm>
            <a:off x="457200" y="1737360"/>
            <a:ext cx="3108960" cy="320040"/>
          </a:xfrm>
          <a:prstGeom prst="rect">
            <a:avLst/>
          </a:prstGeom>
          <a:solidFill>
            <a:srgbClr val="333333"/>
          </a:solidFill>
          <a:ln w="12700">
            <a:solidFill>
              <a:srgbClr val="333333"/>
            </a:solidFill>
            <a:prstDash val="solid"/>
          </a:ln>
        </p:spPr>
      </p:sp>
      <p:sp>
        <p:nvSpPr>
          <p:cNvPr id="8" name="Text 6"/>
          <p:cNvSpPr/>
          <p:nvPr/>
        </p:nvSpPr>
        <p:spPr>
          <a:xfrm>
            <a:off x="457200" y="1737360"/>
            <a:ext cx="3108960" cy="320040"/>
          </a:xfrm>
          <a:prstGeom prst="rect">
            <a:avLst/>
          </a:prstGeom>
          <a:noFill/>
          <a:ln/>
        </p:spPr>
        <p:txBody>
          <a:bodyPr wrap="square" lIns="0" tIns="0" rIns="0" bIns="0" rtlCol="0" anchor="ctr"/>
          <a:lstStyle/>
          <a:p>
            <a:pPr algn="ctr" indent="0" marL="0">
              <a:buNone/>
            </a:pPr>
            <a:r>
              <a:rPr lang="en-US" sz="1050" b="1" spc="200" kern="0" dirty="0">
                <a:solidFill>
                  <a:srgbClr val="FFFFFF"/>
                </a:solidFill>
                <a:latin typeface="Arial" pitchFamily="34" charset="0"/>
                <a:ea typeface="Arial" pitchFamily="34" charset="-122"/>
                <a:cs typeface="Arial" pitchFamily="34" charset="-120"/>
              </a:rPr>
              <a:t>TEST</a:t>
            </a:r>
            <a:endParaRPr lang="en-US" sz="1050" dirty="0"/>
          </a:p>
        </p:txBody>
      </p:sp>
      <p:sp>
        <p:nvSpPr>
          <p:cNvPr id="9" name="Shape 7"/>
          <p:cNvSpPr/>
          <p:nvPr/>
        </p:nvSpPr>
        <p:spPr>
          <a:xfrm>
            <a:off x="3611880" y="1737360"/>
            <a:ext cx="2468880" cy="320040"/>
          </a:xfrm>
          <a:prstGeom prst="rect">
            <a:avLst/>
          </a:prstGeom>
          <a:solidFill>
            <a:srgbClr val="CC0000"/>
          </a:solidFill>
          <a:ln w="12700">
            <a:solidFill>
              <a:srgbClr val="CC0000"/>
            </a:solidFill>
            <a:prstDash val="solid"/>
          </a:ln>
        </p:spPr>
      </p:sp>
      <p:sp>
        <p:nvSpPr>
          <p:cNvPr id="10" name="Text 8"/>
          <p:cNvSpPr/>
          <p:nvPr/>
        </p:nvSpPr>
        <p:spPr>
          <a:xfrm>
            <a:off x="3611880" y="1737360"/>
            <a:ext cx="2468880" cy="320040"/>
          </a:xfrm>
          <a:prstGeom prst="rect">
            <a:avLst/>
          </a:prstGeom>
          <a:noFill/>
          <a:ln/>
        </p:spPr>
        <p:txBody>
          <a:bodyPr wrap="square" lIns="0" tIns="0" rIns="0" bIns="0" rtlCol="0" anchor="ctr"/>
          <a:lstStyle/>
          <a:p>
            <a:pPr algn="ctr" indent="0" marL="0">
              <a:buNone/>
            </a:pPr>
            <a:r>
              <a:rPr lang="en-US" sz="1050" b="1" spc="200" kern="0" dirty="0">
                <a:solidFill>
                  <a:srgbClr val="FFFFFF"/>
                </a:solidFill>
                <a:latin typeface="Arial" pitchFamily="34" charset="0"/>
                <a:ea typeface="Arial" pitchFamily="34" charset="-122"/>
                <a:cs typeface="Arial" pitchFamily="34" charset="-120"/>
              </a:rPr>
              <a:t>✗  DOTCOM 2000</a:t>
            </a:r>
            <a:endParaRPr lang="en-US" sz="1050" dirty="0"/>
          </a:p>
        </p:txBody>
      </p:sp>
      <p:sp>
        <p:nvSpPr>
          <p:cNvPr id="11" name="Shape 9"/>
          <p:cNvSpPr/>
          <p:nvPr/>
        </p:nvSpPr>
        <p:spPr>
          <a:xfrm>
            <a:off x="6126480" y="1737360"/>
            <a:ext cx="2560320" cy="320040"/>
          </a:xfrm>
          <a:prstGeom prst="rect">
            <a:avLst/>
          </a:prstGeom>
          <a:solidFill>
            <a:srgbClr val="00A854"/>
          </a:solidFill>
          <a:ln w="12700">
            <a:solidFill>
              <a:srgbClr val="00A854"/>
            </a:solidFill>
            <a:prstDash val="solid"/>
          </a:ln>
        </p:spPr>
      </p:sp>
      <p:sp>
        <p:nvSpPr>
          <p:cNvPr id="12" name="Text 10"/>
          <p:cNvSpPr/>
          <p:nvPr/>
        </p:nvSpPr>
        <p:spPr>
          <a:xfrm>
            <a:off x="6126480" y="1737360"/>
            <a:ext cx="2560320" cy="320040"/>
          </a:xfrm>
          <a:prstGeom prst="rect">
            <a:avLst/>
          </a:prstGeom>
          <a:noFill/>
          <a:ln/>
        </p:spPr>
        <p:txBody>
          <a:bodyPr wrap="square" lIns="0" tIns="0" rIns="0" bIns="0" rtlCol="0" anchor="ctr"/>
          <a:lstStyle/>
          <a:p>
            <a:pPr algn="ctr" indent="0" marL="0">
              <a:buNone/>
            </a:pPr>
            <a:r>
              <a:rPr lang="en-US" sz="1050" b="1" spc="200" kern="0" dirty="0">
                <a:solidFill>
                  <a:srgbClr val="FFFFFF"/>
                </a:solidFill>
                <a:latin typeface="Arial" pitchFamily="34" charset="0"/>
                <a:ea typeface="Arial" pitchFamily="34" charset="-122"/>
                <a:cs typeface="Arial" pitchFamily="34" charset="-120"/>
              </a:rPr>
              <a:t>✓  AI 2026</a:t>
            </a:r>
            <a:endParaRPr lang="en-US" sz="1050" dirty="0"/>
          </a:p>
        </p:txBody>
      </p:sp>
      <p:sp>
        <p:nvSpPr>
          <p:cNvPr id="13" name="Shape 11"/>
          <p:cNvSpPr/>
          <p:nvPr/>
        </p:nvSpPr>
        <p:spPr>
          <a:xfrm>
            <a:off x="594360" y="2249424"/>
            <a:ext cx="365760" cy="365760"/>
          </a:xfrm>
          <a:prstGeom prst="ellipse">
            <a:avLst/>
          </a:prstGeom>
          <a:solidFill>
            <a:srgbClr val="333333"/>
          </a:solidFill>
          <a:ln w="12700">
            <a:solidFill>
              <a:srgbClr val="333333"/>
            </a:solidFill>
            <a:prstDash val="solid"/>
          </a:ln>
        </p:spPr>
      </p:sp>
      <p:sp>
        <p:nvSpPr>
          <p:cNvPr id="14" name="Text 12"/>
          <p:cNvSpPr/>
          <p:nvPr/>
        </p:nvSpPr>
        <p:spPr>
          <a:xfrm>
            <a:off x="594360" y="2249424"/>
            <a:ext cx="365760" cy="365760"/>
          </a:xfrm>
          <a:prstGeom prst="rect">
            <a:avLst/>
          </a:prstGeom>
          <a:noFill/>
          <a:ln/>
        </p:spPr>
        <p:txBody>
          <a:bodyPr wrap="square" lIns="0" tIns="0" rIns="0" bIns="0" rtlCol="0" anchor="ctr"/>
          <a:lstStyle/>
          <a:p>
            <a:pPr algn="ctr" indent="0" marL="0">
              <a:buNone/>
            </a:pPr>
            <a:r>
              <a:rPr lang="en-US" sz="1400" b="1" dirty="0">
                <a:solidFill>
                  <a:srgbClr val="FFB800"/>
                </a:solidFill>
                <a:latin typeface="Arial Black" pitchFamily="34" charset="0"/>
                <a:ea typeface="Arial Black" pitchFamily="34" charset="-122"/>
                <a:cs typeface="Arial Black" pitchFamily="34" charset="-120"/>
              </a:rPr>
              <a:t>$</a:t>
            </a:r>
            <a:endParaRPr lang="en-US" sz="1400" dirty="0"/>
          </a:p>
        </p:txBody>
      </p:sp>
      <p:sp>
        <p:nvSpPr>
          <p:cNvPr id="15" name="Text 13"/>
          <p:cNvSpPr/>
          <p:nvPr/>
        </p:nvSpPr>
        <p:spPr>
          <a:xfrm>
            <a:off x="1051560" y="2103120"/>
            <a:ext cx="2514600" cy="658368"/>
          </a:xfrm>
          <a:prstGeom prst="rect">
            <a:avLst/>
          </a:prstGeom>
          <a:noFill/>
          <a:ln/>
        </p:spPr>
        <p:txBody>
          <a:bodyPr wrap="square" lIns="0" tIns="0" rIns="0" bIns="0" rtlCol="0" anchor="ctr"/>
          <a:lstStyle/>
          <a:p>
            <a:pPr indent="0" marL="0">
              <a:buNone/>
            </a:pPr>
            <a:r>
              <a:rPr lang="en-US" sz="1000" b="1" dirty="0">
                <a:solidFill>
                  <a:srgbClr val="000000"/>
                </a:solidFill>
                <a:latin typeface="Arial" pitchFamily="34" charset="0"/>
                <a:ea typeface="Arial" pitchFamily="34" charset="-122"/>
                <a:cs typeface="Arial" pitchFamily="34" charset="-120"/>
              </a:rPr>
              <a:t>PRICE PER DOLLAR OF EARNINGS</a:t>
            </a:r>
            <a:endParaRPr lang="en-US" sz="1000" dirty="0"/>
          </a:p>
        </p:txBody>
      </p:sp>
      <p:sp>
        <p:nvSpPr>
          <p:cNvPr id="16" name="Text 14"/>
          <p:cNvSpPr/>
          <p:nvPr/>
        </p:nvSpPr>
        <p:spPr>
          <a:xfrm>
            <a:off x="3611880" y="2103120"/>
            <a:ext cx="2468880" cy="658368"/>
          </a:xfrm>
          <a:prstGeom prst="rect">
            <a:avLst/>
          </a:prstGeom>
          <a:noFill/>
          <a:ln/>
        </p:spPr>
        <p:txBody>
          <a:bodyPr wrap="square" lIns="1016" tIns="1016" rIns="1016" bIns="1016" rtlCol="0" anchor="ctr"/>
          <a:lstStyle/>
          <a:p>
            <a:pPr indent="0" marL="0">
              <a:buNone/>
            </a:pPr>
            <a:r>
              <a:rPr lang="en-US" sz="1600" b="1" dirty="0">
                <a:solidFill>
                  <a:srgbClr val="CC0000"/>
                </a:solidFill>
                <a:latin typeface="Arial" pitchFamily="34" charset="0"/>
                <a:ea typeface="Arial" pitchFamily="34" charset="-122"/>
                <a:cs typeface="Arial" pitchFamily="34" charset="-120"/>
              </a:rPr>
              <a:t>131×</a:t>
            </a:r>
            <a:pPr indent="0" marL="0">
              <a:buNone/>
            </a:pPr>
            <a:r>
              <a:rPr lang="en-US" sz="900" baseline="30000" dirty="0">
                <a:solidFill>
                  <a:srgbClr val="CC0000"/>
                </a:solidFill>
                <a:latin typeface="Arial" pitchFamily="34" charset="0"/>
                <a:ea typeface="Arial" pitchFamily="34" charset="-122"/>
                <a:cs typeface="Arial" pitchFamily="34" charset="-120"/>
              </a:rPr>
              <a:t> 1</a:t>
            </a:r>
            <a:pPr indent="0" marL="0">
              <a:buNone/>
            </a:pPr>
            <a:r>
              <a:rPr lang="en-US" sz="900" dirty="0">
                <a:solidFill>
                  <a:srgbClr val="666666"/>
                </a:solidFill>
                <a:latin typeface="Arial" pitchFamily="34" charset="0"/>
                <a:ea typeface="Arial" pitchFamily="34" charset="-122"/>
                <a:cs typeface="Arial" pitchFamily="34" charset="-120"/>
              </a:rPr>
              <a:t>  Cisco fwd P/E, Mar 2000</a:t>
            </a:r>
            <a:endParaRPr lang="en-US" sz="1600" dirty="0"/>
          </a:p>
        </p:txBody>
      </p:sp>
      <p:sp>
        <p:nvSpPr>
          <p:cNvPr id="17" name="Text 15"/>
          <p:cNvSpPr/>
          <p:nvPr/>
        </p:nvSpPr>
        <p:spPr>
          <a:xfrm>
            <a:off x="6126480" y="2103120"/>
            <a:ext cx="2560320" cy="658368"/>
          </a:xfrm>
          <a:prstGeom prst="rect">
            <a:avLst/>
          </a:prstGeom>
          <a:noFill/>
          <a:ln/>
        </p:spPr>
        <p:txBody>
          <a:bodyPr wrap="square" lIns="1016" tIns="1016" rIns="1016" bIns="1016" rtlCol="0" anchor="ctr"/>
          <a:lstStyle/>
          <a:p>
            <a:pPr indent="0" marL="0">
              <a:buNone/>
            </a:pPr>
            <a:r>
              <a:rPr lang="en-US" sz="1600" b="1" dirty="0">
                <a:solidFill>
                  <a:srgbClr val="00A854"/>
                </a:solidFill>
                <a:latin typeface="Arial" pitchFamily="34" charset="0"/>
                <a:ea typeface="Arial" pitchFamily="34" charset="-122"/>
                <a:cs typeface="Arial" pitchFamily="34" charset="-120"/>
              </a:rPr>
              <a:t>~24×</a:t>
            </a:r>
            <a:pPr indent="0" marL="0">
              <a:buNone/>
            </a:pPr>
            <a:r>
              <a:rPr lang="en-US" sz="900" baseline="30000" dirty="0">
                <a:solidFill>
                  <a:srgbClr val="00A854"/>
                </a:solidFill>
                <a:latin typeface="Arial" pitchFamily="34" charset="0"/>
                <a:ea typeface="Arial" pitchFamily="34" charset="-122"/>
                <a:cs typeface="Arial" pitchFamily="34" charset="-120"/>
              </a:rPr>
              <a:t> 2</a:t>
            </a:r>
            <a:pPr indent="0" marL="0">
              <a:buNone/>
            </a:pPr>
            <a:r>
              <a:rPr lang="en-US" sz="900" dirty="0">
                <a:solidFill>
                  <a:srgbClr val="666666"/>
                </a:solidFill>
                <a:latin typeface="Arial" pitchFamily="34" charset="0"/>
                <a:ea typeface="Arial" pitchFamily="34" charset="-122"/>
                <a:cs typeface="Arial" pitchFamily="34" charset="-120"/>
              </a:rPr>
              <a:t>  NVIDIA fwd P/E, Apr 17, 2026</a:t>
            </a:r>
            <a:endParaRPr lang="en-US" sz="1600" dirty="0"/>
          </a:p>
        </p:txBody>
      </p:sp>
      <p:sp>
        <p:nvSpPr>
          <p:cNvPr id="18" name="Shape 16"/>
          <p:cNvSpPr/>
          <p:nvPr/>
        </p:nvSpPr>
        <p:spPr>
          <a:xfrm>
            <a:off x="457200" y="2761488"/>
            <a:ext cx="8229600" cy="658368"/>
          </a:xfrm>
          <a:prstGeom prst="rect">
            <a:avLst/>
          </a:prstGeom>
          <a:solidFill>
            <a:srgbClr val="F9F9F9"/>
          </a:solidFill>
          <a:ln w="12700">
            <a:solidFill>
              <a:srgbClr val="F9F9F9"/>
            </a:solidFill>
            <a:prstDash val="solid"/>
          </a:ln>
        </p:spPr>
      </p:sp>
      <p:sp>
        <p:nvSpPr>
          <p:cNvPr id="19" name="Shape 17"/>
          <p:cNvSpPr/>
          <p:nvPr/>
        </p:nvSpPr>
        <p:spPr>
          <a:xfrm>
            <a:off x="594360" y="2907792"/>
            <a:ext cx="365760" cy="365760"/>
          </a:xfrm>
          <a:prstGeom prst="ellipse">
            <a:avLst/>
          </a:prstGeom>
          <a:solidFill>
            <a:srgbClr val="333333"/>
          </a:solidFill>
          <a:ln w="12700">
            <a:solidFill>
              <a:srgbClr val="333333"/>
            </a:solidFill>
            <a:prstDash val="solid"/>
          </a:ln>
        </p:spPr>
      </p:sp>
      <p:sp>
        <p:nvSpPr>
          <p:cNvPr id="20" name="Text 18"/>
          <p:cNvSpPr/>
          <p:nvPr/>
        </p:nvSpPr>
        <p:spPr>
          <a:xfrm>
            <a:off x="594360" y="2907792"/>
            <a:ext cx="365760" cy="365760"/>
          </a:xfrm>
          <a:prstGeom prst="rect">
            <a:avLst/>
          </a:prstGeom>
          <a:noFill/>
          <a:ln/>
        </p:spPr>
        <p:txBody>
          <a:bodyPr wrap="square" lIns="0" tIns="0" rIns="0" bIns="0" rtlCol="0" anchor="ctr"/>
          <a:lstStyle/>
          <a:p>
            <a:pPr algn="ctr" indent="0" marL="0">
              <a:buNone/>
            </a:pPr>
            <a:r>
              <a:rPr lang="en-US" sz="1400" b="1" dirty="0">
                <a:solidFill>
                  <a:srgbClr val="FFB800"/>
                </a:solidFill>
                <a:latin typeface="Arial Black" pitchFamily="34" charset="0"/>
                <a:ea typeface="Arial Black" pitchFamily="34" charset="-122"/>
                <a:cs typeface="Arial Black" pitchFamily="34" charset="-120"/>
              </a:rPr>
              <a:t>%</a:t>
            </a:r>
            <a:endParaRPr lang="en-US" sz="1400" dirty="0"/>
          </a:p>
        </p:txBody>
      </p:sp>
      <p:sp>
        <p:nvSpPr>
          <p:cNvPr id="21" name="Text 19"/>
          <p:cNvSpPr/>
          <p:nvPr/>
        </p:nvSpPr>
        <p:spPr>
          <a:xfrm>
            <a:off x="1051560" y="2761488"/>
            <a:ext cx="2514600" cy="658368"/>
          </a:xfrm>
          <a:prstGeom prst="rect">
            <a:avLst/>
          </a:prstGeom>
          <a:noFill/>
          <a:ln/>
        </p:spPr>
        <p:txBody>
          <a:bodyPr wrap="square" lIns="0" tIns="0" rIns="0" bIns="0" rtlCol="0" anchor="ctr"/>
          <a:lstStyle/>
          <a:p>
            <a:pPr indent="0" marL="0">
              <a:buNone/>
            </a:pPr>
            <a:r>
              <a:rPr lang="en-US" sz="1000" b="1" dirty="0">
                <a:solidFill>
                  <a:srgbClr val="000000"/>
                </a:solidFill>
                <a:latin typeface="Arial" pitchFamily="34" charset="0"/>
                <a:ea typeface="Arial" pitchFamily="34" charset="-122"/>
                <a:cs typeface="Arial" pitchFamily="34" charset="-120"/>
              </a:rPr>
              <a:t>LEADER PROFITABILITY</a:t>
            </a:r>
            <a:endParaRPr lang="en-US" sz="1000" dirty="0"/>
          </a:p>
        </p:txBody>
      </p:sp>
      <p:sp>
        <p:nvSpPr>
          <p:cNvPr id="22" name="Text 20"/>
          <p:cNvSpPr/>
          <p:nvPr/>
        </p:nvSpPr>
        <p:spPr>
          <a:xfrm>
            <a:off x="3611880" y="2761488"/>
            <a:ext cx="2468880" cy="658368"/>
          </a:xfrm>
          <a:prstGeom prst="rect">
            <a:avLst/>
          </a:prstGeom>
          <a:noFill/>
          <a:ln/>
        </p:spPr>
        <p:txBody>
          <a:bodyPr wrap="square" lIns="1016" tIns="1016" rIns="1016" bIns="1016" rtlCol="0" anchor="ctr"/>
          <a:lstStyle/>
          <a:p>
            <a:pPr indent="0" marL="0">
              <a:buNone/>
            </a:pPr>
            <a:r>
              <a:rPr lang="en-US" sz="1600" b="1" dirty="0">
                <a:solidFill>
                  <a:srgbClr val="CC0000"/>
                </a:solidFill>
                <a:latin typeface="Arial" pitchFamily="34" charset="0"/>
                <a:ea typeface="Arial" pitchFamily="34" charset="-122"/>
                <a:cs typeface="Arial" pitchFamily="34" charset="-120"/>
              </a:rPr>
              <a:t>14%</a:t>
            </a:r>
            <a:pPr indent="0" marL="0">
              <a:buNone/>
            </a:pPr>
            <a:r>
              <a:rPr lang="en-US" sz="900" baseline="30000" dirty="0">
                <a:solidFill>
                  <a:srgbClr val="CC0000"/>
                </a:solidFill>
                <a:latin typeface="Arial" pitchFamily="34" charset="0"/>
                <a:ea typeface="Arial" pitchFamily="34" charset="-122"/>
                <a:cs typeface="Arial" pitchFamily="34" charset="-120"/>
              </a:rPr>
              <a:t> 3</a:t>
            </a:r>
            <a:pPr indent="0" marL="0">
              <a:buNone/>
            </a:pPr>
            <a:r>
              <a:rPr lang="en-US" sz="900" dirty="0">
                <a:solidFill>
                  <a:srgbClr val="666666"/>
                </a:solidFill>
                <a:latin typeface="Arial" pitchFamily="34" charset="0"/>
                <a:ea typeface="Arial" pitchFamily="34" charset="-122"/>
                <a:cs typeface="Arial" pitchFamily="34" charset="-120"/>
              </a:rPr>
              <a:t>  of tech IPOs were profitable</a:t>
            </a:r>
            <a:endParaRPr lang="en-US" sz="1600" dirty="0"/>
          </a:p>
        </p:txBody>
      </p:sp>
      <p:sp>
        <p:nvSpPr>
          <p:cNvPr id="23" name="Text 21"/>
          <p:cNvSpPr/>
          <p:nvPr/>
        </p:nvSpPr>
        <p:spPr>
          <a:xfrm>
            <a:off x="6126480" y="2761488"/>
            <a:ext cx="2560320" cy="658368"/>
          </a:xfrm>
          <a:prstGeom prst="rect">
            <a:avLst/>
          </a:prstGeom>
          <a:noFill/>
          <a:ln/>
        </p:spPr>
        <p:txBody>
          <a:bodyPr wrap="square" lIns="1016" tIns="1016" rIns="1016" bIns="1016" rtlCol="0" anchor="ctr"/>
          <a:lstStyle/>
          <a:p>
            <a:pPr indent="0" marL="0">
              <a:buNone/>
            </a:pPr>
            <a:r>
              <a:rPr lang="en-US" sz="1600" b="1" dirty="0">
                <a:solidFill>
                  <a:srgbClr val="00A854"/>
                </a:solidFill>
                <a:latin typeface="Arial" pitchFamily="34" charset="0"/>
                <a:ea typeface="Arial" pitchFamily="34" charset="-122"/>
                <a:cs typeface="Arial" pitchFamily="34" charset="-120"/>
              </a:rPr>
              <a:t>26%</a:t>
            </a:r>
            <a:pPr indent="0" marL="0">
              <a:buNone/>
            </a:pPr>
            <a:r>
              <a:rPr lang="en-US" sz="900" baseline="30000" dirty="0">
                <a:solidFill>
                  <a:srgbClr val="00A854"/>
                </a:solidFill>
                <a:latin typeface="Arial" pitchFamily="34" charset="0"/>
                <a:ea typeface="Arial" pitchFamily="34" charset="-122"/>
                <a:cs typeface="Arial" pitchFamily="34" charset="-120"/>
              </a:rPr>
              <a:t> 4</a:t>
            </a:r>
            <a:pPr indent="0" marL="0">
              <a:buNone/>
            </a:pPr>
            <a:r>
              <a:rPr lang="en-US" sz="900" dirty="0">
                <a:solidFill>
                  <a:srgbClr val="666666"/>
                </a:solidFill>
                <a:latin typeface="Arial" pitchFamily="34" charset="0"/>
                <a:ea typeface="Arial" pitchFamily="34" charset="-122"/>
                <a:cs typeface="Arial" pitchFamily="34" charset="-120"/>
              </a:rPr>
              <a:t>  Mag 7 avg net margin (2× S&amp;P)</a:t>
            </a:r>
            <a:endParaRPr lang="en-US" sz="1600" dirty="0"/>
          </a:p>
        </p:txBody>
      </p:sp>
      <p:sp>
        <p:nvSpPr>
          <p:cNvPr id="24" name="Shape 22"/>
          <p:cNvSpPr/>
          <p:nvPr/>
        </p:nvSpPr>
        <p:spPr>
          <a:xfrm>
            <a:off x="594360" y="3566160"/>
            <a:ext cx="365760" cy="365760"/>
          </a:xfrm>
          <a:prstGeom prst="ellipse">
            <a:avLst/>
          </a:prstGeom>
          <a:solidFill>
            <a:srgbClr val="333333"/>
          </a:solidFill>
          <a:ln w="12700">
            <a:solidFill>
              <a:srgbClr val="333333"/>
            </a:solidFill>
            <a:prstDash val="solid"/>
          </a:ln>
        </p:spPr>
      </p:sp>
      <p:sp>
        <p:nvSpPr>
          <p:cNvPr id="25" name="Text 23"/>
          <p:cNvSpPr/>
          <p:nvPr/>
        </p:nvSpPr>
        <p:spPr>
          <a:xfrm>
            <a:off x="594360" y="3566160"/>
            <a:ext cx="365760" cy="365760"/>
          </a:xfrm>
          <a:prstGeom prst="rect">
            <a:avLst/>
          </a:prstGeom>
          <a:noFill/>
          <a:ln/>
        </p:spPr>
        <p:txBody>
          <a:bodyPr wrap="square" lIns="0" tIns="0" rIns="0" bIns="0" rtlCol="0" anchor="ctr"/>
          <a:lstStyle/>
          <a:p>
            <a:pPr algn="ctr" indent="0" marL="0">
              <a:buNone/>
            </a:pPr>
            <a:r>
              <a:rPr lang="en-US" sz="1400" b="1" dirty="0">
                <a:solidFill>
                  <a:srgbClr val="FFB800"/>
                </a:solidFill>
                <a:latin typeface="Arial Black" pitchFamily="34" charset="0"/>
                <a:ea typeface="Arial Black" pitchFamily="34" charset="-122"/>
                <a:cs typeface="Arial Black" pitchFamily="34" charset="-120"/>
              </a:rPr>
              <a:t>⇅</a:t>
            </a:r>
            <a:endParaRPr lang="en-US" sz="1400" dirty="0"/>
          </a:p>
        </p:txBody>
      </p:sp>
      <p:sp>
        <p:nvSpPr>
          <p:cNvPr id="26" name="Text 24"/>
          <p:cNvSpPr/>
          <p:nvPr/>
        </p:nvSpPr>
        <p:spPr>
          <a:xfrm>
            <a:off x="1051560" y="3419856"/>
            <a:ext cx="2514600" cy="658368"/>
          </a:xfrm>
          <a:prstGeom prst="rect">
            <a:avLst/>
          </a:prstGeom>
          <a:noFill/>
          <a:ln/>
        </p:spPr>
        <p:txBody>
          <a:bodyPr wrap="square" lIns="0" tIns="0" rIns="0" bIns="0" rtlCol="0" anchor="ctr"/>
          <a:lstStyle/>
          <a:p>
            <a:pPr indent="0" marL="0">
              <a:buNone/>
            </a:pPr>
            <a:r>
              <a:rPr lang="en-US" sz="1000" b="1" dirty="0">
                <a:solidFill>
                  <a:srgbClr val="000000"/>
                </a:solidFill>
                <a:latin typeface="Arial" pitchFamily="34" charset="0"/>
                <a:ea typeface="Arial" pitchFamily="34" charset="-122"/>
                <a:cs typeface="Arial" pitchFamily="34" charset="-120"/>
              </a:rPr>
              <a:t>SUPPLY VS. DEMAND</a:t>
            </a:r>
            <a:endParaRPr lang="en-US" sz="1000" dirty="0"/>
          </a:p>
        </p:txBody>
      </p:sp>
      <p:sp>
        <p:nvSpPr>
          <p:cNvPr id="27" name="Text 25"/>
          <p:cNvSpPr/>
          <p:nvPr/>
        </p:nvSpPr>
        <p:spPr>
          <a:xfrm>
            <a:off x="3611880" y="3419856"/>
            <a:ext cx="2468880" cy="658368"/>
          </a:xfrm>
          <a:prstGeom prst="rect">
            <a:avLst/>
          </a:prstGeom>
          <a:noFill/>
          <a:ln/>
        </p:spPr>
        <p:txBody>
          <a:bodyPr wrap="square" lIns="1016" tIns="1016" rIns="1016" bIns="1016" rtlCol="0" anchor="ctr"/>
          <a:lstStyle/>
          <a:p>
            <a:pPr indent="0" marL="0">
              <a:buNone/>
            </a:pPr>
            <a:r>
              <a:rPr lang="en-US" sz="1600" b="1" dirty="0">
                <a:solidFill>
                  <a:srgbClr val="CC0000"/>
                </a:solidFill>
                <a:latin typeface="Arial" pitchFamily="34" charset="0"/>
                <a:ea typeface="Arial" pitchFamily="34" charset="-122"/>
                <a:cs typeface="Arial" pitchFamily="34" charset="-120"/>
              </a:rPr>
              <a:t>Oversupply</a:t>
            </a:r>
            <a:pPr indent="0" marL="0">
              <a:buNone/>
            </a:pPr>
            <a:r>
              <a:rPr lang="en-US" sz="900" baseline="30000" dirty="0">
                <a:solidFill>
                  <a:srgbClr val="CC0000"/>
                </a:solidFill>
                <a:latin typeface="Arial" pitchFamily="34" charset="0"/>
                <a:ea typeface="Arial" pitchFamily="34" charset="-122"/>
                <a:cs typeface="Arial" pitchFamily="34" charset="-120"/>
              </a:rPr>
              <a:t> 5</a:t>
            </a:r>
            <a:pPr indent="0" marL="0">
              <a:buNone/>
            </a:pPr>
            <a:r>
              <a:rPr lang="en-US" sz="900" dirty="0">
                <a:solidFill>
                  <a:srgbClr val="666666"/>
                </a:solidFill>
                <a:latin typeface="Arial" pitchFamily="34" charset="0"/>
                <a:ea typeface="Arial" pitchFamily="34" charset="-122"/>
                <a:cs typeface="Arial" pitchFamily="34" charset="-120"/>
              </a:rPr>
              <a:t>  $500B dark fiber unused</a:t>
            </a:r>
            <a:endParaRPr lang="en-US" sz="1600" dirty="0"/>
          </a:p>
        </p:txBody>
      </p:sp>
      <p:sp>
        <p:nvSpPr>
          <p:cNvPr id="28" name="Text 26"/>
          <p:cNvSpPr/>
          <p:nvPr/>
        </p:nvSpPr>
        <p:spPr>
          <a:xfrm>
            <a:off x="6126480" y="3419856"/>
            <a:ext cx="2560320" cy="658368"/>
          </a:xfrm>
          <a:prstGeom prst="rect">
            <a:avLst/>
          </a:prstGeom>
          <a:noFill/>
          <a:ln/>
        </p:spPr>
        <p:txBody>
          <a:bodyPr wrap="square" lIns="1016" tIns="1016" rIns="1016" bIns="1016" rtlCol="0" anchor="ctr"/>
          <a:lstStyle/>
          <a:p>
            <a:pPr indent="0" marL="0">
              <a:buNone/>
            </a:pPr>
            <a:r>
              <a:rPr lang="en-US" sz="1600" b="1" dirty="0">
                <a:solidFill>
                  <a:srgbClr val="00A854"/>
                </a:solidFill>
                <a:latin typeface="Arial" pitchFamily="34" charset="0"/>
                <a:ea typeface="Arial" pitchFamily="34" charset="-122"/>
                <a:cs typeface="Arial" pitchFamily="34" charset="-120"/>
              </a:rPr>
              <a:t>Sold out</a:t>
            </a:r>
            <a:pPr indent="0" marL="0">
              <a:buNone/>
            </a:pPr>
            <a:r>
              <a:rPr lang="en-US" sz="900" baseline="30000" dirty="0">
                <a:solidFill>
                  <a:srgbClr val="00A854"/>
                </a:solidFill>
                <a:latin typeface="Arial" pitchFamily="34" charset="0"/>
                <a:ea typeface="Arial" pitchFamily="34" charset="-122"/>
                <a:cs typeface="Arial" pitchFamily="34" charset="-120"/>
              </a:rPr>
              <a:t> 6</a:t>
            </a:r>
            <a:pPr indent="0" marL="0">
              <a:buNone/>
            </a:pPr>
            <a:r>
              <a:rPr lang="en-US" sz="900" dirty="0">
                <a:solidFill>
                  <a:srgbClr val="666666"/>
                </a:solidFill>
                <a:latin typeface="Arial" pitchFamily="34" charset="0"/>
                <a:ea typeface="Arial" pitchFamily="34" charset="-122"/>
                <a:cs typeface="Arial" pitchFamily="34" charset="-120"/>
              </a:rPr>
              <a:t>  GPU 2nd market 90–95% of list</a:t>
            </a:r>
            <a:endParaRPr lang="en-US" sz="1600" dirty="0"/>
          </a:p>
        </p:txBody>
      </p:sp>
      <p:sp>
        <p:nvSpPr>
          <p:cNvPr id="29" name="Shape 27"/>
          <p:cNvSpPr/>
          <p:nvPr/>
        </p:nvSpPr>
        <p:spPr>
          <a:xfrm>
            <a:off x="457200" y="4078224"/>
            <a:ext cx="8229600" cy="658368"/>
          </a:xfrm>
          <a:prstGeom prst="rect">
            <a:avLst/>
          </a:prstGeom>
          <a:solidFill>
            <a:srgbClr val="F9F9F9"/>
          </a:solidFill>
          <a:ln w="12700">
            <a:solidFill>
              <a:srgbClr val="F9F9F9"/>
            </a:solidFill>
            <a:prstDash val="solid"/>
          </a:ln>
        </p:spPr>
      </p:sp>
      <p:sp>
        <p:nvSpPr>
          <p:cNvPr id="30" name="Shape 28"/>
          <p:cNvSpPr/>
          <p:nvPr/>
        </p:nvSpPr>
        <p:spPr>
          <a:xfrm>
            <a:off x="594360" y="4224528"/>
            <a:ext cx="365760" cy="365760"/>
          </a:xfrm>
          <a:prstGeom prst="ellipse">
            <a:avLst/>
          </a:prstGeom>
          <a:solidFill>
            <a:srgbClr val="333333"/>
          </a:solidFill>
          <a:ln w="12700">
            <a:solidFill>
              <a:srgbClr val="333333"/>
            </a:solidFill>
            <a:prstDash val="solid"/>
          </a:ln>
        </p:spPr>
      </p:sp>
      <p:sp>
        <p:nvSpPr>
          <p:cNvPr id="31" name="Text 29"/>
          <p:cNvSpPr/>
          <p:nvPr/>
        </p:nvSpPr>
        <p:spPr>
          <a:xfrm>
            <a:off x="594360" y="4224528"/>
            <a:ext cx="365760" cy="365760"/>
          </a:xfrm>
          <a:prstGeom prst="rect">
            <a:avLst/>
          </a:prstGeom>
          <a:noFill/>
          <a:ln/>
        </p:spPr>
        <p:txBody>
          <a:bodyPr wrap="square" lIns="0" tIns="0" rIns="0" bIns="0" rtlCol="0" anchor="ctr"/>
          <a:lstStyle/>
          <a:p>
            <a:pPr algn="ctr" indent="0" marL="0">
              <a:buNone/>
            </a:pPr>
            <a:r>
              <a:rPr lang="en-US" sz="1400" b="1" dirty="0">
                <a:solidFill>
                  <a:srgbClr val="FFB800"/>
                </a:solidFill>
                <a:latin typeface="Arial Black" pitchFamily="34" charset="0"/>
                <a:ea typeface="Arial Black" pitchFamily="34" charset="-122"/>
                <a:cs typeface="Arial Black" pitchFamily="34" charset="-120"/>
              </a:rPr>
              <a:t>◨</a:t>
            </a:r>
            <a:endParaRPr lang="en-US" sz="1400" dirty="0"/>
          </a:p>
        </p:txBody>
      </p:sp>
      <p:sp>
        <p:nvSpPr>
          <p:cNvPr id="32" name="Text 30"/>
          <p:cNvSpPr/>
          <p:nvPr/>
        </p:nvSpPr>
        <p:spPr>
          <a:xfrm>
            <a:off x="1051560" y="4078224"/>
            <a:ext cx="2514600" cy="658368"/>
          </a:xfrm>
          <a:prstGeom prst="rect">
            <a:avLst/>
          </a:prstGeom>
          <a:noFill/>
          <a:ln/>
        </p:spPr>
        <p:txBody>
          <a:bodyPr wrap="square" lIns="0" tIns="0" rIns="0" bIns="0" rtlCol="0" anchor="ctr"/>
          <a:lstStyle/>
          <a:p>
            <a:pPr indent="0" marL="0">
              <a:buNone/>
            </a:pPr>
            <a:r>
              <a:rPr lang="en-US" sz="1000" b="1" dirty="0">
                <a:solidFill>
                  <a:srgbClr val="000000"/>
                </a:solidFill>
                <a:latin typeface="Arial" pitchFamily="34" charset="0"/>
                <a:ea typeface="Arial" pitchFamily="34" charset="-122"/>
                <a:cs typeface="Arial" pitchFamily="34" charset="-120"/>
              </a:rPr>
              <a:t>BUYER BALANCE SHEETS</a:t>
            </a:r>
            <a:endParaRPr lang="en-US" sz="1000" dirty="0"/>
          </a:p>
        </p:txBody>
      </p:sp>
      <p:sp>
        <p:nvSpPr>
          <p:cNvPr id="33" name="Text 31"/>
          <p:cNvSpPr/>
          <p:nvPr/>
        </p:nvSpPr>
        <p:spPr>
          <a:xfrm>
            <a:off x="3611880" y="4078224"/>
            <a:ext cx="2468880" cy="658368"/>
          </a:xfrm>
          <a:prstGeom prst="rect">
            <a:avLst/>
          </a:prstGeom>
          <a:noFill/>
          <a:ln/>
        </p:spPr>
        <p:txBody>
          <a:bodyPr wrap="square" lIns="1016" tIns="1016" rIns="1016" bIns="1016" rtlCol="0" anchor="ctr"/>
          <a:lstStyle/>
          <a:p>
            <a:pPr indent="0" marL="0">
              <a:buNone/>
            </a:pPr>
            <a:r>
              <a:rPr lang="en-US" sz="1600" b="1" dirty="0">
                <a:solidFill>
                  <a:srgbClr val="CC0000"/>
                </a:solidFill>
                <a:latin typeface="Arial" pitchFamily="34" charset="0"/>
                <a:ea typeface="Arial" pitchFamily="34" charset="-122"/>
                <a:cs typeface="Arial" pitchFamily="34" charset="-120"/>
              </a:rPr>
              <a:t>20+</a:t>
            </a:r>
            <a:pPr indent="0" marL="0">
              <a:buNone/>
            </a:pPr>
            <a:r>
              <a:rPr lang="en-US" sz="900" baseline="30000" dirty="0">
                <a:solidFill>
                  <a:srgbClr val="CC0000"/>
                </a:solidFill>
                <a:latin typeface="Arial" pitchFamily="34" charset="0"/>
                <a:ea typeface="Arial" pitchFamily="34" charset="-122"/>
                <a:cs typeface="Arial" pitchFamily="34" charset="-120"/>
              </a:rPr>
              <a:t> 7</a:t>
            </a:r>
            <a:pPr indent="0" marL="0">
              <a:buNone/>
            </a:pPr>
            <a:r>
              <a:rPr lang="en-US" sz="900" dirty="0">
                <a:solidFill>
                  <a:srgbClr val="666666"/>
                </a:solidFill>
                <a:latin typeface="Arial" pitchFamily="34" charset="0"/>
                <a:ea typeface="Arial" pitchFamily="34" charset="-122"/>
                <a:cs typeface="Arial" pitchFamily="34" charset="-120"/>
              </a:rPr>
              <a:t>  major telcos went bankrupt</a:t>
            </a:r>
            <a:endParaRPr lang="en-US" sz="1600" dirty="0"/>
          </a:p>
        </p:txBody>
      </p:sp>
      <p:sp>
        <p:nvSpPr>
          <p:cNvPr id="34" name="Text 32"/>
          <p:cNvSpPr/>
          <p:nvPr/>
        </p:nvSpPr>
        <p:spPr>
          <a:xfrm>
            <a:off x="6126480" y="4078224"/>
            <a:ext cx="2560320" cy="658368"/>
          </a:xfrm>
          <a:prstGeom prst="rect">
            <a:avLst/>
          </a:prstGeom>
          <a:noFill/>
          <a:ln/>
        </p:spPr>
        <p:txBody>
          <a:bodyPr wrap="square" lIns="1016" tIns="1016" rIns="1016" bIns="1016" rtlCol="0" anchor="ctr"/>
          <a:lstStyle/>
          <a:p>
            <a:pPr indent="0" marL="0">
              <a:buNone/>
            </a:pPr>
            <a:r>
              <a:rPr lang="en-US" sz="1600" b="1" dirty="0">
                <a:solidFill>
                  <a:srgbClr val="00A854"/>
                </a:solidFill>
                <a:latin typeface="Arial" pitchFamily="34" charset="0"/>
                <a:ea typeface="Arial" pitchFamily="34" charset="-122"/>
                <a:cs typeface="Arial" pitchFamily="34" charset="-120"/>
              </a:rPr>
              <a:t>~48%</a:t>
            </a:r>
            <a:pPr indent="0" marL="0">
              <a:buNone/>
            </a:pPr>
            <a:r>
              <a:rPr lang="en-US" sz="900" baseline="30000" dirty="0">
                <a:solidFill>
                  <a:srgbClr val="00A854"/>
                </a:solidFill>
                <a:latin typeface="Arial" pitchFamily="34" charset="0"/>
                <a:ea typeface="Arial" pitchFamily="34" charset="-122"/>
                <a:cs typeface="Arial" pitchFamily="34" charset="-120"/>
              </a:rPr>
              <a:t> 8</a:t>
            </a:r>
            <a:pPr indent="0" marL="0">
              <a:buNone/>
            </a:pPr>
            <a:r>
              <a:rPr lang="en-US" sz="900" dirty="0">
                <a:solidFill>
                  <a:srgbClr val="666666"/>
                </a:solidFill>
                <a:latin typeface="Arial" pitchFamily="34" charset="0"/>
                <a:ea typeface="Arial" pitchFamily="34" charset="-122"/>
                <a:cs typeface="Arial" pitchFamily="34" charset="-120"/>
              </a:rPr>
              <a:t>  hyperscaler net debt/EBITDA (vs ~80% S&amp;P)</a:t>
            </a:r>
            <a:endParaRPr lang="en-US" sz="1600" dirty="0"/>
          </a:p>
        </p:txBody>
      </p:sp>
      <p:sp>
        <p:nvSpPr>
          <p:cNvPr id="35" name="Shape 33"/>
          <p:cNvSpPr/>
          <p:nvPr/>
        </p:nvSpPr>
        <p:spPr>
          <a:xfrm>
            <a:off x="457200" y="5074920"/>
            <a:ext cx="8229600" cy="365760"/>
          </a:xfrm>
          <a:prstGeom prst="rect">
            <a:avLst/>
          </a:prstGeom>
          <a:solidFill>
            <a:srgbClr val="FFD100"/>
          </a:solidFill>
          <a:ln w="12700">
            <a:solidFill>
              <a:srgbClr val="FFD100"/>
            </a:solidFill>
            <a:prstDash val="solid"/>
          </a:ln>
        </p:spPr>
      </p:sp>
      <p:sp>
        <p:nvSpPr>
          <p:cNvPr id="36" name="Text 34"/>
          <p:cNvSpPr/>
          <p:nvPr/>
        </p:nvSpPr>
        <p:spPr>
          <a:xfrm>
            <a:off x="640080" y="5074920"/>
            <a:ext cx="7863840" cy="365760"/>
          </a:xfrm>
          <a:prstGeom prst="rect">
            <a:avLst/>
          </a:prstGeom>
          <a:noFill/>
          <a:ln/>
        </p:spPr>
        <p:txBody>
          <a:bodyPr wrap="square" lIns="0" tIns="0" rIns="0" bIns="0" rtlCol="0" anchor="ctr"/>
          <a:lstStyle/>
          <a:p>
            <a:pPr indent="0" marL="0">
              <a:buNone/>
            </a:pPr>
            <a:r>
              <a:rPr lang="en-US" sz="1100" b="1" dirty="0">
                <a:solidFill>
                  <a:srgbClr val="000000"/>
                </a:solidFill>
                <a:latin typeface="Arial" pitchFamily="34" charset="0"/>
                <a:ea typeface="Arial" pitchFamily="34" charset="-122"/>
                <a:cs typeface="Arial" pitchFamily="34" charset="-120"/>
              </a:rPr>
              <a:t>Corrections happen. Bubbles require stretched valuations AND supply exceeding demand. </a:t>
            </a:r>
            <a:pPr indent="0" marL="0">
              <a:buNone/>
            </a:pPr>
            <a:r>
              <a:rPr lang="en-US" sz="1150" b="1" dirty="0">
                <a:solidFill>
                  <a:srgbClr val="CC0000"/>
                </a:solidFill>
                <a:latin typeface="Arial" pitchFamily="34" charset="0"/>
                <a:ea typeface="Arial" pitchFamily="34" charset="-122"/>
                <a:cs typeface="Arial" pitchFamily="34" charset="-120"/>
              </a:rPr>
              <a:t>Neither condition holds today.</a:t>
            </a:r>
            <a:endParaRPr lang="en-US" sz="1100" dirty="0"/>
          </a:p>
        </p:txBody>
      </p:sp>
      <p:sp>
        <p:nvSpPr>
          <p:cNvPr id="37" name="Text 35"/>
          <p:cNvSpPr/>
          <p:nvPr/>
        </p:nvSpPr>
        <p:spPr>
          <a:xfrm>
            <a:off x="457200" y="5875020"/>
            <a:ext cx="8229600" cy="457200"/>
          </a:xfrm>
          <a:prstGeom prst="rect">
            <a:avLst/>
          </a:prstGeom>
          <a:noFill/>
          <a:ln/>
        </p:spPr>
        <p:txBody>
          <a:bodyPr wrap="square" lIns="0" tIns="0" rIns="0" bIns="0" rtlCol="0" anchor="t"/>
          <a:lstStyle/>
          <a:p>
            <a:pPr indent="0" marL="0">
              <a:buNone/>
            </a:pPr>
            <a:r>
              <a:rPr lang="en-US" sz="700" b="1" dirty="0">
                <a:solidFill>
                  <a:srgbClr val="999999"/>
                </a:solidFill>
                <a:latin typeface="Arial" pitchFamily="34" charset="0"/>
                <a:ea typeface="Arial" pitchFamily="34" charset="-122"/>
                <a:cs typeface="Arial" pitchFamily="34" charset="-120"/>
              </a:rPr>
              <a:t>(1) </a:t>
            </a:r>
            <a:pPr indent="0" marL="0">
              <a:buNone/>
            </a:pPr>
            <a:r>
              <a:rPr lang="en-US" sz="700" dirty="0">
                <a:solidFill>
                  <a:srgbClr val="999999"/>
                </a:solidFill>
                <a:latin typeface="Arial" pitchFamily="34" charset="0"/>
                <a:ea typeface="Arial" pitchFamily="34" charset="-122"/>
                <a:cs typeface="Arial" pitchFamily="34" charset="-120"/>
              </a:rPr>
              <a:t>Harding Loevner retrospective, </a:t>
            </a:r>
            <a:pPr indent="0" marL="0">
              <a:buNone/>
            </a:pPr>
            <a:r>
              <a:rPr lang="en-US" sz="700" b="1" dirty="0">
                <a:solidFill>
                  <a:srgbClr val="999999"/>
                </a:solidFill>
                <a:latin typeface="Arial" pitchFamily="34" charset="0"/>
                <a:ea typeface="Arial" pitchFamily="34" charset="-122"/>
                <a:cs typeface="Arial" pitchFamily="34" charset="-120"/>
              </a:rPr>
              <a:t>(2) </a:t>
            </a:r>
            <a:pPr indent="0" marL="0">
              <a:buNone/>
            </a:pPr>
            <a:r>
              <a:rPr lang="en-US" sz="700" dirty="0">
                <a:solidFill>
                  <a:srgbClr val="999999"/>
                </a:solidFill>
                <a:latin typeface="Arial" pitchFamily="34" charset="0"/>
                <a:ea typeface="Arial" pitchFamily="34" charset="-122"/>
                <a:cs typeface="Arial" pitchFamily="34" charset="-120"/>
              </a:rPr>
              <a:t>GuruFocus (Apr 17, 2026), </a:t>
            </a:r>
            <a:pPr indent="0" marL="0">
              <a:buNone/>
            </a:pPr>
            <a:r>
              <a:rPr lang="en-US" sz="700" b="1" dirty="0">
                <a:solidFill>
                  <a:srgbClr val="999999"/>
                </a:solidFill>
                <a:latin typeface="Arial" pitchFamily="34" charset="0"/>
                <a:ea typeface="Arial" pitchFamily="34" charset="-122"/>
                <a:cs typeface="Arial" pitchFamily="34" charset="-120"/>
              </a:rPr>
              <a:t>(3) </a:t>
            </a:r>
            <a:pPr indent="0" marL="0">
              <a:buNone/>
            </a:pPr>
            <a:r>
              <a:rPr lang="en-US" sz="700" dirty="0">
                <a:solidFill>
                  <a:srgbClr val="999999"/>
                </a:solidFill>
                <a:latin typeface="Arial" pitchFamily="34" charset="0"/>
                <a:ea typeface="Arial" pitchFamily="34" charset="-122"/>
                <a:cs typeface="Arial" pitchFamily="34" charset="-120"/>
              </a:rPr>
              <a:t>Jay Ritter, Univ. of Florida IPO data, </a:t>
            </a:r>
            <a:pPr indent="0" marL="0">
              <a:buNone/>
            </a:pPr>
            <a:r>
              <a:rPr lang="en-US" sz="700" b="1" dirty="0">
                <a:solidFill>
                  <a:srgbClr val="999999"/>
                </a:solidFill>
                <a:latin typeface="Arial" pitchFamily="34" charset="0"/>
                <a:ea typeface="Arial" pitchFamily="34" charset="-122"/>
                <a:cs typeface="Arial" pitchFamily="34" charset="-120"/>
              </a:rPr>
              <a:t>(4) </a:t>
            </a:r>
            <a:pPr indent="0" marL="0">
              <a:buNone/>
            </a:pPr>
            <a:r>
              <a:rPr lang="en-US" sz="700" dirty="0">
                <a:solidFill>
                  <a:srgbClr val="999999"/>
                </a:solidFill>
                <a:latin typeface="Arial" pitchFamily="34" charset="0"/>
                <a:ea typeface="Arial" pitchFamily="34" charset="-122"/>
                <a:cs typeface="Arial" pitchFamily="34" charset="-120"/>
              </a:rPr>
              <a:t>Bloomberg / company filings, 2025 TTM, </a:t>
            </a:r>
            <a:pPr indent="0" marL="0">
              <a:buNone/>
            </a:pPr>
            <a:r>
              <a:rPr lang="en-US" sz="700" b="1" dirty="0">
                <a:solidFill>
                  <a:srgbClr val="999999"/>
                </a:solidFill>
                <a:latin typeface="Arial" pitchFamily="34" charset="0"/>
                <a:ea typeface="Arial" pitchFamily="34" charset="-122"/>
                <a:cs typeface="Arial" pitchFamily="34" charset="-120"/>
              </a:rPr>
              <a:t>(5) </a:t>
            </a:r>
            <a:pPr indent="0" marL="0">
              <a:buNone/>
            </a:pPr>
            <a:r>
              <a:rPr lang="en-US" sz="700" dirty="0">
                <a:solidFill>
                  <a:srgbClr val="999999"/>
                </a:solidFill>
                <a:latin typeface="Arial" pitchFamily="34" charset="0"/>
                <a:ea typeface="Arial" pitchFamily="34" charset="-122"/>
                <a:cs typeface="Arial" pitchFamily="34" charset="-120"/>
              </a:rPr>
              <a:t>FCC / industry retrospectives, </a:t>
            </a:r>
            <a:pPr indent="0" marL="0">
              <a:buNone/>
            </a:pPr>
            <a:r>
              <a:rPr lang="en-US" sz="700" b="1" dirty="0">
                <a:solidFill>
                  <a:srgbClr val="999999"/>
                </a:solidFill>
                <a:latin typeface="Arial" pitchFamily="34" charset="0"/>
                <a:ea typeface="Arial" pitchFamily="34" charset="-122"/>
                <a:cs typeface="Arial" pitchFamily="34" charset="-120"/>
              </a:rPr>
              <a:t>(6) </a:t>
            </a:r>
            <a:pPr indent="0" marL="0">
              <a:buNone/>
            </a:pPr>
            <a:r>
              <a:rPr lang="en-US" sz="700" dirty="0">
                <a:solidFill>
                  <a:srgbClr val="999999"/>
                </a:solidFill>
                <a:latin typeface="Arial" pitchFamily="34" charset="0"/>
                <a:ea typeface="Arial" pitchFamily="34" charset="-122"/>
                <a:cs typeface="Arial" pitchFamily="34" charset="-120"/>
              </a:rPr>
              <a:t>CoreWeave / 2nd-market trackers, 2026, </a:t>
            </a:r>
            <a:pPr indent="0" marL="0">
              <a:buNone/>
            </a:pPr>
            <a:r>
              <a:rPr lang="en-US" sz="700" b="1" dirty="0">
                <a:solidFill>
                  <a:srgbClr val="999999"/>
                </a:solidFill>
                <a:latin typeface="Arial" pitchFamily="34" charset="0"/>
                <a:ea typeface="Arial" pitchFamily="34" charset="-122"/>
                <a:cs typeface="Arial" pitchFamily="34" charset="-120"/>
              </a:rPr>
              <a:t>(7) </a:t>
            </a:r>
            <a:pPr indent="0" marL="0">
              <a:buNone/>
            </a:pPr>
            <a:r>
              <a:rPr lang="en-US" sz="700" dirty="0">
                <a:solidFill>
                  <a:srgbClr val="999999"/>
                </a:solidFill>
                <a:latin typeface="Arial" pitchFamily="34" charset="0"/>
                <a:ea typeface="Arial" pitchFamily="34" charset="-122"/>
                <a:cs typeface="Arial" pitchFamily="34" charset="-120"/>
              </a:rPr>
              <a:t>Public filings / press retrospectives, 2001–02, </a:t>
            </a:r>
            <a:pPr indent="0" marL="0">
              <a:buNone/>
            </a:pPr>
            <a:r>
              <a:rPr lang="en-US" sz="700" b="1" dirty="0">
                <a:solidFill>
                  <a:srgbClr val="999999"/>
                </a:solidFill>
                <a:latin typeface="Arial" pitchFamily="34" charset="0"/>
                <a:ea typeface="Arial" pitchFamily="34" charset="-122"/>
                <a:cs typeface="Arial" pitchFamily="34" charset="-120"/>
              </a:rPr>
              <a:t>(8) </a:t>
            </a:r>
            <a:pPr indent="0" marL="0">
              <a:buNone/>
            </a:pPr>
            <a:r>
              <a:rPr lang="en-US" sz="700" dirty="0">
                <a:solidFill>
                  <a:srgbClr val="999999"/>
                </a:solidFill>
                <a:latin typeface="Arial" pitchFamily="34" charset="0"/>
                <a:ea typeface="Arial" pitchFamily="34" charset="-122"/>
                <a:cs typeface="Arial" pitchFamily="34" charset="-120"/>
              </a:rPr>
              <a:t>Bloomberg, 2025 YE.</a:t>
            </a:r>
            <a:endParaRPr lang="en-US" sz="700" dirty="0"/>
          </a:p>
        </p:txBody>
      </p:sp>
      <p:sp>
        <p:nvSpPr>
          <p:cNvPr id="38" name="Shape 36"/>
          <p:cNvSpPr/>
          <p:nvPr/>
        </p:nvSpPr>
        <p:spPr>
          <a:xfrm>
            <a:off x="0" y="6286500"/>
            <a:ext cx="9144000" cy="571500"/>
          </a:xfrm>
          <a:prstGeom prst="rect">
            <a:avLst/>
          </a:prstGeom>
          <a:solidFill>
            <a:srgbClr val="000000"/>
          </a:solidFill>
          <a:ln w="12700">
            <a:solidFill>
              <a:srgbClr val="000000"/>
            </a:solidFill>
            <a:prstDash val="solid"/>
          </a:ln>
        </p:spPr>
      </p:sp>
      <p:sp>
        <p:nvSpPr>
          <p:cNvPr id="39" name="Text 37"/>
          <p:cNvSpPr/>
          <p:nvPr/>
        </p:nvSpPr>
        <p:spPr>
          <a:xfrm>
            <a:off x="1371600" y="6332220"/>
            <a:ext cx="6400800" cy="45720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40" name="Text 38"/>
          <p:cNvSpPr/>
          <p:nvPr/>
        </p:nvSpPr>
        <p:spPr>
          <a:xfrm>
            <a:off x="8321040" y="6405372"/>
            <a:ext cx="548640" cy="27432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CC0000"/>
          </a:solidFill>
          <a:ln w="12700">
            <a:solidFill>
              <a:srgbClr val="CC0000"/>
            </a:solidFill>
            <a:prstDash val="solid"/>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Arial" pitchFamily="34" charset="0"/>
                <a:ea typeface="Arial" pitchFamily="34" charset="-122"/>
                <a:cs typeface="Arial" pitchFamily="34" charset="-120"/>
              </a:rPr>
              <a:t>RISKS</a:t>
            </a:r>
            <a:endParaRPr lang="en-US" sz="1000" dirty="0"/>
          </a:p>
        </p:txBody>
      </p:sp>
      <p:sp>
        <p:nvSpPr>
          <p:cNvPr id="4" name="Text 2"/>
          <p:cNvSpPr/>
          <p:nvPr/>
        </p:nvSpPr>
        <p:spPr>
          <a:xfrm>
            <a:off x="457200" y="182880"/>
            <a:ext cx="6583680" cy="685800"/>
          </a:xfrm>
          <a:prstGeom prst="rect">
            <a:avLst/>
          </a:prstGeom>
          <a:noFill/>
          <a:ln/>
        </p:spPr>
        <p:txBody>
          <a:bodyPr wrap="square" lIns="0" tIns="0" rIns="0" bIns="0" rtlCol="0" anchor="t"/>
          <a:lstStyle/>
          <a:p>
            <a:pPr indent="0" marL="0">
              <a:buNone/>
            </a:pPr>
            <a:r>
              <a:rPr lang="en-US" sz="2400" b="1" dirty="0">
                <a:solidFill>
                  <a:srgbClr val="000000"/>
                </a:solidFill>
                <a:latin typeface="Arial Black" pitchFamily="34" charset="0"/>
                <a:ea typeface="Arial Black" pitchFamily="34" charset="-122"/>
                <a:cs typeface="Arial Black" pitchFamily="34" charset="-120"/>
              </a:rPr>
              <a:t>Four single points of failure.</a:t>
            </a:r>
            <a:endParaRPr lang="en-US" sz="2400" dirty="0"/>
          </a:p>
        </p:txBody>
      </p:sp>
      <p:sp>
        <p:nvSpPr>
          <p:cNvPr id="5" name="Text 3"/>
          <p:cNvSpPr/>
          <p:nvPr/>
        </p:nvSpPr>
        <p:spPr>
          <a:xfrm>
            <a:off x="457200" y="91440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Three of the four sit in Asia, and all four are single-sourced. US reshoring is real — but most leading-edge capacity doesn't ship until 2027+.</a:t>
            </a:r>
            <a:endParaRPr lang="en-US" sz="1350" dirty="0"/>
          </a:p>
        </p:txBody>
      </p:sp>
      <p:sp>
        <p:nvSpPr>
          <p:cNvPr id="6" name="Shape 4"/>
          <p:cNvSpPr/>
          <p:nvPr/>
        </p:nvSpPr>
        <p:spPr>
          <a:xfrm>
            <a:off x="457200" y="1325880"/>
            <a:ext cx="8229600" cy="0"/>
          </a:xfrm>
          <a:prstGeom prst="line">
            <a:avLst/>
          </a:prstGeom>
          <a:noFill/>
          <a:ln w="9525">
            <a:solidFill>
              <a:srgbClr val="E5E5E5"/>
            </a:solidFill>
            <a:prstDash val="solid"/>
          </a:ln>
        </p:spPr>
      </p:sp>
      <p:sp>
        <p:nvSpPr>
          <p:cNvPr id="7" name="Shape 5"/>
          <p:cNvSpPr/>
          <p:nvPr/>
        </p:nvSpPr>
        <p:spPr>
          <a:xfrm>
            <a:off x="457200" y="1783080"/>
            <a:ext cx="1920240" cy="274320"/>
          </a:xfrm>
          <a:prstGeom prst="rect">
            <a:avLst/>
          </a:prstGeom>
          <a:solidFill>
            <a:srgbClr val="CC0000"/>
          </a:solidFill>
          <a:ln w="12700">
            <a:solidFill>
              <a:srgbClr val="CC0000"/>
            </a:solidFill>
            <a:prstDash val="solid"/>
          </a:ln>
        </p:spPr>
      </p:sp>
      <p:sp>
        <p:nvSpPr>
          <p:cNvPr id="8" name="Text 6"/>
          <p:cNvSpPr/>
          <p:nvPr/>
        </p:nvSpPr>
        <p:spPr>
          <a:xfrm>
            <a:off x="457200" y="1783080"/>
            <a:ext cx="1920240" cy="274320"/>
          </a:xfrm>
          <a:prstGeom prst="rect">
            <a:avLst/>
          </a:prstGeom>
          <a:noFill/>
          <a:ln/>
        </p:spPr>
        <p:txBody>
          <a:bodyPr wrap="square" lIns="0" tIns="0" rIns="0" bIns="0" rtlCol="0" anchor="ctr"/>
          <a:lstStyle/>
          <a:p>
            <a:pPr algn="ctr" indent="0" marL="0">
              <a:buNone/>
            </a:pPr>
            <a:r>
              <a:rPr lang="en-US" sz="1000" b="1" spc="300" kern="0" dirty="0">
                <a:solidFill>
                  <a:srgbClr val="FFFFFF"/>
                </a:solidFill>
                <a:latin typeface="Arial" pitchFamily="34" charset="0"/>
                <a:ea typeface="Arial" pitchFamily="34" charset="-122"/>
                <a:cs typeface="Arial" pitchFamily="34" charset="-120"/>
              </a:rPr>
              <a:t>NETHERLANDS</a:t>
            </a:r>
            <a:endParaRPr lang="en-US" sz="1000" dirty="0"/>
          </a:p>
        </p:txBody>
      </p:sp>
      <p:sp>
        <p:nvSpPr>
          <p:cNvPr id="9" name="Shape 7"/>
          <p:cNvSpPr/>
          <p:nvPr/>
        </p:nvSpPr>
        <p:spPr>
          <a:xfrm>
            <a:off x="457200" y="2057400"/>
            <a:ext cx="1920240" cy="1645920"/>
          </a:xfrm>
          <a:prstGeom prst="rect">
            <a:avLst/>
          </a:prstGeom>
          <a:solidFill>
            <a:srgbClr val="FFFFFF"/>
          </a:solidFill>
          <a:ln w="6350">
            <a:solidFill>
              <a:srgbClr val="E5E5E5"/>
            </a:solidFill>
            <a:prstDash val="solid"/>
          </a:ln>
        </p:spPr>
      </p:sp>
      <p:sp>
        <p:nvSpPr>
          <p:cNvPr id="10" name="Text 8"/>
          <p:cNvSpPr/>
          <p:nvPr/>
        </p:nvSpPr>
        <p:spPr>
          <a:xfrm>
            <a:off x="457200" y="2103120"/>
            <a:ext cx="1920240" cy="457200"/>
          </a:xfrm>
          <a:prstGeom prst="rect">
            <a:avLst/>
          </a:prstGeom>
          <a:noFill/>
          <a:ln/>
        </p:spPr>
        <p:txBody>
          <a:bodyPr wrap="square" lIns="0" tIns="0" rIns="0" bIns="0" rtlCol="0" anchor="ctr"/>
          <a:lstStyle/>
          <a:p>
            <a:pPr algn="ctr" indent="0" marL="0">
              <a:buNone/>
            </a:pPr>
            <a:r>
              <a:rPr lang="en-US" sz="3600" b="1" dirty="0">
                <a:solidFill>
                  <a:srgbClr val="CC0000"/>
                </a:solidFill>
                <a:latin typeface="Arial Black" pitchFamily="34" charset="0"/>
                <a:ea typeface="Arial Black" pitchFamily="34" charset="-122"/>
                <a:cs typeface="Arial Black" pitchFamily="34" charset="-120"/>
              </a:rPr>
              <a:t>▲</a:t>
            </a:r>
            <a:endParaRPr lang="en-US" sz="3600" dirty="0"/>
          </a:p>
        </p:txBody>
      </p:sp>
      <p:sp>
        <p:nvSpPr>
          <p:cNvPr id="11" name="Text 9"/>
          <p:cNvSpPr/>
          <p:nvPr/>
        </p:nvSpPr>
        <p:spPr>
          <a:xfrm>
            <a:off x="457200" y="2587752"/>
            <a:ext cx="1920240" cy="274320"/>
          </a:xfrm>
          <a:prstGeom prst="rect">
            <a:avLst/>
          </a:prstGeom>
          <a:noFill/>
          <a:ln/>
        </p:spPr>
        <p:txBody>
          <a:bodyPr wrap="square" lIns="0" tIns="0" rIns="0" bIns="0" rtlCol="0" anchor="ctr"/>
          <a:lstStyle/>
          <a:p>
            <a:pPr algn="ctr" indent="0" marL="0">
              <a:buNone/>
            </a:pPr>
            <a:r>
              <a:rPr lang="en-US" sz="1300" b="1" dirty="0">
                <a:solidFill>
                  <a:srgbClr val="333333"/>
                </a:solidFill>
                <a:latin typeface="Arial" pitchFamily="34" charset="0"/>
                <a:ea typeface="Arial" pitchFamily="34" charset="-122"/>
                <a:cs typeface="Arial" pitchFamily="34" charset="-120"/>
              </a:rPr>
              <a:t>EUV Litho</a:t>
            </a:r>
            <a:endParaRPr lang="en-US" sz="1300" dirty="0"/>
          </a:p>
        </p:txBody>
      </p:sp>
      <p:sp>
        <p:nvSpPr>
          <p:cNvPr id="12" name="Shape 10"/>
          <p:cNvSpPr/>
          <p:nvPr/>
        </p:nvSpPr>
        <p:spPr>
          <a:xfrm>
            <a:off x="960120" y="2907792"/>
            <a:ext cx="914400" cy="0"/>
          </a:xfrm>
          <a:prstGeom prst="line">
            <a:avLst/>
          </a:prstGeom>
          <a:noFill/>
          <a:ln w="19050">
            <a:solidFill>
              <a:srgbClr val="CC0000"/>
            </a:solidFill>
            <a:prstDash val="solid"/>
          </a:ln>
        </p:spPr>
      </p:sp>
      <p:sp>
        <p:nvSpPr>
          <p:cNvPr id="13" name="Text 11"/>
          <p:cNvSpPr/>
          <p:nvPr/>
        </p:nvSpPr>
        <p:spPr>
          <a:xfrm>
            <a:off x="566928" y="2999232"/>
            <a:ext cx="1700784" cy="640080"/>
          </a:xfrm>
          <a:prstGeom prst="rect">
            <a:avLst/>
          </a:prstGeom>
          <a:noFill/>
          <a:ln/>
        </p:spPr>
        <p:txBody>
          <a:bodyPr wrap="square" lIns="0" tIns="0" rIns="0" bIns="0" rtlCol="0" anchor="t"/>
          <a:lstStyle/>
          <a:p>
            <a:pPr algn="l" indent="0" marL="0">
              <a:buNone/>
            </a:pPr>
            <a:r>
              <a:rPr lang="en-US" sz="900" dirty="0">
                <a:solidFill>
                  <a:srgbClr val="333333"/>
                </a:solidFill>
                <a:latin typeface="Arial" pitchFamily="34" charset="0"/>
                <a:ea typeface="Arial" pitchFamily="34" charset="-122"/>
                <a:cs typeface="Arial" pitchFamily="34" charset="-120"/>
              </a:rPr>
              <a:t>Only firm in the world building EUV scanners — new machines ship in dozens per year, not hundreds.</a:t>
            </a:r>
            <a:pPr algn="l" indent="0" marL="0">
              <a:buNone/>
            </a:pPr>
            <a:r>
              <a:rPr lang="en-US" sz="700" baseline="30000" dirty="0">
                <a:solidFill>
                  <a:srgbClr val="CC0000"/>
                </a:solidFill>
                <a:latin typeface="Arial" pitchFamily="34" charset="0"/>
                <a:ea typeface="Arial" pitchFamily="34" charset="-122"/>
                <a:cs typeface="Arial" pitchFamily="34" charset="-120"/>
              </a:rPr>
              <a:t> 1</a:t>
            </a:r>
            <a:endParaRPr lang="en-US" sz="900" dirty="0"/>
          </a:p>
        </p:txBody>
      </p:sp>
      <p:sp>
        <p:nvSpPr>
          <p:cNvPr id="14" name="Shape 12"/>
          <p:cNvSpPr/>
          <p:nvPr/>
        </p:nvSpPr>
        <p:spPr>
          <a:xfrm>
            <a:off x="2468880" y="1783080"/>
            <a:ext cx="1920240" cy="274320"/>
          </a:xfrm>
          <a:prstGeom prst="rect">
            <a:avLst/>
          </a:prstGeom>
          <a:solidFill>
            <a:srgbClr val="CC0000"/>
          </a:solidFill>
          <a:ln w="12700">
            <a:solidFill>
              <a:srgbClr val="CC0000"/>
            </a:solidFill>
            <a:prstDash val="solid"/>
          </a:ln>
        </p:spPr>
      </p:sp>
      <p:sp>
        <p:nvSpPr>
          <p:cNvPr id="15" name="Text 13"/>
          <p:cNvSpPr/>
          <p:nvPr/>
        </p:nvSpPr>
        <p:spPr>
          <a:xfrm>
            <a:off x="2468880" y="1783080"/>
            <a:ext cx="1920240" cy="274320"/>
          </a:xfrm>
          <a:prstGeom prst="rect">
            <a:avLst/>
          </a:prstGeom>
          <a:noFill/>
          <a:ln/>
        </p:spPr>
        <p:txBody>
          <a:bodyPr wrap="square" lIns="0" tIns="0" rIns="0" bIns="0" rtlCol="0" anchor="ctr"/>
          <a:lstStyle/>
          <a:p>
            <a:pPr algn="ctr" indent="0" marL="0">
              <a:buNone/>
            </a:pPr>
            <a:r>
              <a:rPr lang="en-US" sz="1000" b="1" spc="300" kern="0" dirty="0">
                <a:solidFill>
                  <a:srgbClr val="FFFFFF"/>
                </a:solidFill>
                <a:latin typeface="Arial" pitchFamily="34" charset="0"/>
                <a:ea typeface="Arial" pitchFamily="34" charset="-122"/>
                <a:cs typeface="Arial" pitchFamily="34" charset="-120"/>
              </a:rPr>
              <a:t>TAIWAN</a:t>
            </a:r>
            <a:endParaRPr lang="en-US" sz="1000" dirty="0"/>
          </a:p>
        </p:txBody>
      </p:sp>
      <p:sp>
        <p:nvSpPr>
          <p:cNvPr id="16" name="Shape 14"/>
          <p:cNvSpPr/>
          <p:nvPr/>
        </p:nvSpPr>
        <p:spPr>
          <a:xfrm>
            <a:off x="2468880" y="2057400"/>
            <a:ext cx="1920240" cy="1645920"/>
          </a:xfrm>
          <a:prstGeom prst="rect">
            <a:avLst/>
          </a:prstGeom>
          <a:solidFill>
            <a:srgbClr val="FFFFFF"/>
          </a:solidFill>
          <a:ln w="6350">
            <a:solidFill>
              <a:srgbClr val="E5E5E5"/>
            </a:solidFill>
            <a:prstDash val="solid"/>
          </a:ln>
        </p:spPr>
      </p:sp>
      <p:sp>
        <p:nvSpPr>
          <p:cNvPr id="17" name="Text 15"/>
          <p:cNvSpPr/>
          <p:nvPr/>
        </p:nvSpPr>
        <p:spPr>
          <a:xfrm>
            <a:off x="2468880" y="2103120"/>
            <a:ext cx="1920240" cy="457200"/>
          </a:xfrm>
          <a:prstGeom prst="rect">
            <a:avLst/>
          </a:prstGeom>
          <a:noFill/>
          <a:ln/>
        </p:spPr>
        <p:txBody>
          <a:bodyPr wrap="square" lIns="0" tIns="0" rIns="0" bIns="0" rtlCol="0" anchor="ctr"/>
          <a:lstStyle/>
          <a:p>
            <a:pPr algn="ctr" indent="0" marL="0">
              <a:buNone/>
            </a:pPr>
            <a:r>
              <a:rPr lang="en-US" sz="3600" b="1" dirty="0">
                <a:solidFill>
                  <a:srgbClr val="CC0000"/>
                </a:solidFill>
                <a:latin typeface="Arial Black" pitchFamily="34" charset="0"/>
                <a:ea typeface="Arial Black" pitchFamily="34" charset="-122"/>
                <a:cs typeface="Arial Black" pitchFamily="34" charset="-120"/>
              </a:rPr>
              <a:t>▦</a:t>
            </a:r>
            <a:endParaRPr lang="en-US" sz="3600" dirty="0"/>
          </a:p>
        </p:txBody>
      </p:sp>
      <p:sp>
        <p:nvSpPr>
          <p:cNvPr id="18" name="Text 16"/>
          <p:cNvSpPr/>
          <p:nvPr/>
        </p:nvSpPr>
        <p:spPr>
          <a:xfrm>
            <a:off x="2468880" y="2587752"/>
            <a:ext cx="1920240" cy="274320"/>
          </a:xfrm>
          <a:prstGeom prst="rect">
            <a:avLst/>
          </a:prstGeom>
          <a:noFill/>
          <a:ln/>
        </p:spPr>
        <p:txBody>
          <a:bodyPr wrap="square" lIns="0" tIns="0" rIns="0" bIns="0" rtlCol="0" anchor="ctr"/>
          <a:lstStyle/>
          <a:p>
            <a:pPr algn="ctr" indent="0" marL="0">
              <a:buNone/>
            </a:pPr>
            <a:r>
              <a:rPr lang="en-US" sz="1300" b="1" dirty="0">
                <a:solidFill>
                  <a:srgbClr val="333333"/>
                </a:solidFill>
                <a:latin typeface="Arial" pitchFamily="34" charset="0"/>
                <a:ea typeface="Arial" pitchFamily="34" charset="-122"/>
                <a:cs typeface="Arial" pitchFamily="34" charset="-120"/>
              </a:rPr>
              <a:t>Leading Logic</a:t>
            </a:r>
            <a:endParaRPr lang="en-US" sz="1300" dirty="0"/>
          </a:p>
        </p:txBody>
      </p:sp>
      <p:sp>
        <p:nvSpPr>
          <p:cNvPr id="19" name="Shape 17"/>
          <p:cNvSpPr/>
          <p:nvPr/>
        </p:nvSpPr>
        <p:spPr>
          <a:xfrm>
            <a:off x="2971800" y="2907792"/>
            <a:ext cx="914400" cy="0"/>
          </a:xfrm>
          <a:prstGeom prst="line">
            <a:avLst/>
          </a:prstGeom>
          <a:noFill/>
          <a:ln w="19050">
            <a:solidFill>
              <a:srgbClr val="CC0000"/>
            </a:solidFill>
            <a:prstDash val="solid"/>
          </a:ln>
        </p:spPr>
      </p:sp>
      <p:sp>
        <p:nvSpPr>
          <p:cNvPr id="20" name="Text 18"/>
          <p:cNvSpPr/>
          <p:nvPr/>
        </p:nvSpPr>
        <p:spPr>
          <a:xfrm>
            <a:off x="2578608" y="2999232"/>
            <a:ext cx="1700784" cy="640080"/>
          </a:xfrm>
          <a:prstGeom prst="rect">
            <a:avLst/>
          </a:prstGeom>
          <a:noFill/>
          <a:ln/>
        </p:spPr>
        <p:txBody>
          <a:bodyPr wrap="square" lIns="0" tIns="0" rIns="0" bIns="0" rtlCol="0" anchor="t"/>
          <a:lstStyle/>
          <a:p>
            <a:pPr algn="l" indent="0" marL="0">
              <a:buNone/>
            </a:pPr>
            <a:r>
              <a:rPr lang="en-US" sz="900" dirty="0">
                <a:solidFill>
                  <a:srgbClr val="333333"/>
                </a:solidFill>
                <a:latin typeface="Arial" pitchFamily="34" charset="0"/>
                <a:ea typeface="Arial" pitchFamily="34" charset="-122"/>
                <a:cs typeface="Arial" pitchFamily="34" charset="-120"/>
              </a:rPr>
              <a:t>Virtually every advanced-node chip runs through TSMC fabs in Hsinchu and Tainan — no real volume alternative exists.</a:t>
            </a:r>
            <a:pPr algn="l" indent="0" marL="0">
              <a:buNone/>
            </a:pPr>
            <a:r>
              <a:rPr lang="en-US" sz="700" baseline="30000" dirty="0">
                <a:solidFill>
                  <a:srgbClr val="CC0000"/>
                </a:solidFill>
                <a:latin typeface="Arial" pitchFamily="34" charset="0"/>
                <a:ea typeface="Arial" pitchFamily="34" charset="-122"/>
                <a:cs typeface="Arial" pitchFamily="34" charset="-120"/>
              </a:rPr>
              <a:t> 2</a:t>
            </a:r>
            <a:endParaRPr lang="en-US" sz="900" dirty="0"/>
          </a:p>
        </p:txBody>
      </p:sp>
      <p:sp>
        <p:nvSpPr>
          <p:cNvPr id="21" name="Shape 19"/>
          <p:cNvSpPr/>
          <p:nvPr/>
        </p:nvSpPr>
        <p:spPr>
          <a:xfrm>
            <a:off x="4480560" y="1783080"/>
            <a:ext cx="1920240" cy="274320"/>
          </a:xfrm>
          <a:prstGeom prst="rect">
            <a:avLst/>
          </a:prstGeom>
          <a:solidFill>
            <a:srgbClr val="CC0000"/>
          </a:solidFill>
          <a:ln w="12700">
            <a:solidFill>
              <a:srgbClr val="CC0000"/>
            </a:solidFill>
            <a:prstDash val="solid"/>
          </a:ln>
        </p:spPr>
      </p:sp>
      <p:sp>
        <p:nvSpPr>
          <p:cNvPr id="22" name="Text 20"/>
          <p:cNvSpPr/>
          <p:nvPr/>
        </p:nvSpPr>
        <p:spPr>
          <a:xfrm>
            <a:off x="4480560" y="1783080"/>
            <a:ext cx="1920240" cy="274320"/>
          </a:xfrm>
          <a:prstGeom prst="rect">
            <a:avLst/>
          </a:prstGeom>
          <a:noFill/>
          <a:ln/>
        </p:spPr>
        <p:txBody>
          <a:bodyPr wrap="square" lIns="0" tIns="0" rIns="0" bIns="0" rtlCol="0" anchor="ctr"/>
          <a:lstStyle/>
          <a:p>
            <a:pPr algn="ctr" indent="0" marL="0">
              <a:buNone/>
            </a:pPr>
            <a:r>
              <a:rPr lang="en-US" sz="1000" b="1" spc="300" kern="0" dirty="0">
                <a:solidFill>
                  <a:srgbClr val="FFFFFF"/>
                </a:solidFill>
                <a:latin typeface="Arial" pitchFamily="34" charset="0"/>
                <a:ea typeface="Arial" pitchFamily="34" charset="-122"/>
                <a:cs typeface="Arial" pitchFamily="34" charset="-120"/>
              </a:rPr>
              <a:t>KOREA</a:t>
            </a:r>
            <a:endParaRPr lang="en-US" sz="1000" dirty="0"/>
          </a:p>
        </p:txBody>
      </p:sp>
      <p:sp>
        <p:nvSpPr>
          <p:cNvPr id="23" name="Shape 21"/>
          <p:cNvSpPr/>
          <p:nvPr/>
        </p:nvSpPr>
        <p:spPr>
          <a:xfrm>
            <a:off x="4480560" y="2057400"/>
            <a:ext cx="1920240" cy="1645920"/>
          </a:xfrm>
          <a:prstGeom prst="rect">
            <a:avLst/>
          </a:prstGeom>
          <a:solidFill>
            <a:srgbClr val="FFFFFF"/>
          </a:solidFill>
          <a:ln w="6350">
            <a:solidFill>
              <a:srgbClr val="E5E5E5"/>
            </a:solidFill>
            <a:prstDash val="solid"/>
          </a:ln>
        </p:spPr>
      </p:sp>
      <p:sp>
        <p:nvSpPr>
          <p:cNvPr id="24" name="Text 22"/>
          <p:cNvSpPr/>
          <p:nvPr/>
        </p:nvSpPr>
        <p:spPr>
          <a:xfrm>
            <a:off x="4480560" y="2103120"/>
            <a:ext cx="1920240" cy="457200"/>
          </a:xfrm>
          <a:prstGeom prst="rect">
            <a:avLst/>
          </a:prstGeom>
          <a:noFill/>
          <a:ln/>
        </p:spPr>
        <p:txBody>
          <a:bodyPr wrap="square" lIns="0" tIns="0" rIns="0" bIns="0" rtlCol="0" anchor="ctr"/>
          <a:lstStyle/>
          <a:p>
            <a:pPr algn="ctr" indent="0" marL="0">
              <a:buNone/>
            </a:pPr>
            <a:r>
              <a:rPr lang="en-US" sz="3600" b="1" dirty="0">
                <a:solidFill>
                  <a:srgbClr val="CC0000"/>
                </a:solidFill>
                <a:latin typeface="Arial Black" pitchFamily="34" charset="0"/>
                <a:ea typeface="Arial Black" pitchFamily="34" charset="-122"/>
                <a:cs typeface="Arial Black" pitchFamily="34" charset="-120"/>
              </a:rPr>
              <a:t>☰</a:t>
            </a:r>
            <a:endParaRPr lang="en-US" sz="3600" dirty="0"/>
          </a:p>
        </p:txBody>
      </p:sp>
      <p:sp>
        <p:nvSpPr>
          <p:cNvPr id="25" name="Text 23"/>
          <p:cNvSpPr/>
          <p:nvPr/>
        </p:nvSpPr>
        <p:spPr>
          <a:xfrm>
            <a:off x="4480560" y="2587752"/>
            <a:ext cx="1920240" cy="274320"/>
          </a:xfrm>
          <a:prstGeom prst="rect">
            <a:avLst/>
          </a:prstGeom>
          <a:noFill/>
          <a:ln/>
        </p:spPr>
        <p:txBody>
          <a:bodyPr wrap="square" lIns="0" tIns="0" rIns="0" bIns="0" rtlCol="0" anchor="ctr"/>
          <a:lstStyle/>
          <a:p>
            <a:pPr algn="ctr" indent="0" marL="0">
              <a:buNone/>
            </a:pPr>
            <a:r>
              <a:rPr lang="en-US" sz="1300" b="1" dirty="0">
                <a:solidFill>
                  <a:srgbClr val="333333"/>
                </a:solidFill>
                <a:latin typeface="Arial" pitchFamily="34" charset="0"/>
                <a:ea typeface="Arial" pitchFamily="34" charset="-122"/>
                <a:cs typeface="Arial" pitchFamily="34" charset="-120"/>
              </a:rPr>
              <a:t>HBM Memory</a:t>
            </a:r>
            <a:endParaRPr lang="en-US" sz="1300" dirty="0"/>
          </a:p>
        </p:txBody>
      </p:sp>
      <p:sp>
        <p:nvSpPr>
          <p:cNvPr id="26" name="Shape 24"/>
          <p:cNvSpPr/>
          <p:nvPr/>
        </p:nvSpPr>
        <p:spPr>
          <a:xfrm>
            <a:off x="4983480" y="2907792"/>
            <a:ext cx="914400" cy="0"/>
          </a:xfrm>
          <a:prstGeom prst="line">
            <a:avLst/>
          </a:prstGeom>
          <a:noFill/>
          <a:ln w="19050">
            <a:solidFill>
              <a:srgbClr val="CC0000"/>
            </a:solidFill>
            <a:prstDash val="solid"/>
          </a:ln>
        </p:spPr>
      </p:sp>
      <p:sp>
        <p:nvSpPr>
          <p:cNvPr id="27" name="Text 25"/>
          <p:cNvSpPr/>
          <p:nvPr/>
        </p:nvSpPr>
        <p:spPr>
          <a:xfrm>
            <a:off x="4590288" y="2999232"/>
            <a:ext cx="1700784" cy="640080"/>
          </a:xfrm>
          <a:prstGeom prst="rect">
            <a:avLst/>
          </a:prstGeom>
          <a:noFill/>
          <a:ln/>
        </p:spPr>
        <p:txBody>
          <a:bodyPr wrap="square" lIns="0" tIns="0" rIns="0" bIns="0" rtlCol="0" anchor="t"/>
          <a:lstStyle/>
          <a:p>
            <a:pPr algn="l" indent="0" marL="0">
              <a:buNone/>
            </a:pPr>
            <a:r>
              <a:rPr lang="en-US" sz="900" dirty="0">
                <a:solidFill>
                  <a:srgbClr val="333333"/>
                </a:solidFill>
                <a:latin typeface="Arial" pitchFamily="34" charset="0"/>
                <a:ea typeface="Arial" pitchFamily="34" charset="-122"/>
                <a:cs typeface="Arial" pitchFamily="34" charset="-120"/>
              </a:rPr>
              <a:t>Two Korean firms supply nearly all the high-bandwidth memory AI accelerators depend on — both booked through 2026.</a:t>
            </a:r>
            <a:pPr algn="l" indent="0" marL="0">
              <a:buNone/>
            </a:pPr>
            <a:r>
              <a:rPr lang="en-US" sz="700" baseline="30000" dirty="0">
                <a:solidFill>
                  <a:srgbClr val="CC0000"/>
                </a:solidFill>
                <a:latin typeface="Arial" pitchFamily="34" charset="0"/>
                <a:ea typeface="Arial" pitchFamily="34" charset="-122"/>
                <a:cs typeface="Arial" pitchFamily="34" charset="-120"/>
              </a:rPr>
              <a:t> 3</a:t>
            </a:r>
            <a:endParaRPr lang="en-US" sz="900" dirty="0"/>
          </a:p>
        </p:txBody>
      </p:sp>
      <p:sp>
        <p:nvSpPr>
          <p:cNvPr id="28" name="Shape 26"/>
          <p:cNvSpPr/>
          <p:nvPr/>
        </p:nvSpPr>
        <p:spPr>
          <a:xfrm>
            <a:off x="6492240" y="1783080"/>
            <a:ext cx="1920240" cy="274320"/>
          </a:xfrm>
          <a:prstGeom prst="rect">
            <a:avLst/>
          </a:prstGeom>
          <a:solidFill>
            <a:srgbClr val="CC0000"/>
          </a:solidFill>
          <a:ln w="12700">
            <a:solidFill>
              <a:srgbClr val="CC0000"/>
            </a:solidFill>
            <a:prstDash val="solid"/>
          </a:ln>
        </p:spPr>
      </p:sp>
      <p:sp>
        <p:nvSpPr>
          <p:cNvPr id="29" name="Text 27"/>
          <p:cNvSpPr/>
          <p:nvPr/>
        </p:nvSpPr>
        <p:spPr>
          <a:xfrm>
            <a:off x="6492240" y="1783080"/>
            <a:ext cx="1920240" cy="274320"/>
          </a:xfrm>
          <a:prstGeom prst="rect">
            <a:avLst/>
          </a:prstGeom>
          <a:noFill/>
          <a:ln/>
        </p:spPr>
        <p:txBody>
          <a:bodyPr wrap="square" lIns="0" tIns="0" rIns="0" bIns="0" rtlCol="0" anchor="ctr"/>
          <a:lstStyle/>
          <a:p>
            <a:pPr algn="ctr" indent="0" marL="0">
              <a:buNone/>
            </a:pPr>
            <a:r>
              <a:rPr lang="en-US" sz="1000" b="1" spc="300" kern="0" dirty="0">
                <a:solidFill>
                  <a:srgbClr val="FFFFFF"/>
                </a:solidFill>
                <a:latin typeface="Arial" pitchFamily="34" charset="0"/>
                <a:ea typeface="Arial" pitchFamily="34" charset="-122"/>
                <a:cs typeface="Arial" pitchFamily="34" charset="-120"/>
              </a:rPr>
              <a:t>TAIWAN</a:t>
            </a:r>
            <a:endParaRPr lang="en-US" sz="1000" dirty="0"/>
          </a:p>
        </p:txBody>
      </p:sp>
      <p:sp>
        <p:nvSpPr>
          <p:cNvPr id="30" name="Shape 28"/>
          <p:cNvSpPr/>
          <p:nvPr/>
        </p:nvSpPr>
        <p:spPr>
          <a:xfrm>
            <a:off x="6492240" y="2057400"/>
            <a:ext cx="1920240" cy="1645920"/>
          </a:xfrm>
          <a:prstGeom prst="rect">
            <a:avLst/>
          </a:prstGeom>
          <a:solidFill>
            <a:srgbClr val="FFFFFF"/>
          </a:solidFill>
          <a:ln w="6350">
            <a:solidFill>
              <a:srgbClr val="E5E5E5"/>
            </a:solidFill>
            <a:prstDash val="solid"/>
          </a:ln>
        </p:spPr>
      </p:sp>
      <p:sp>
        <p:nvSpPr>
          <p:cNvPr id="31" name="Text 29"/>
          <p:cNvSpPr/>
          <p:nvPr/>
        </p:nvSpPr>
        <p:spPr>
          <a:xfrm>
            <a:off x="6492240" y="2103120"/>
            <a:ext cx="1920240" cy="457200"/>
          </a:xfrm>
          <a:prstGeom prst="rect">
            <a:avLst/>
          </a:prstGeom>
          <a:noFill/>
          <a:ln/>
        </p:spPr>
        <p:txBody>
          <a:bodyPr wrap="square" lIns="0" tIns="0" rIns="0" bIns="0" rtlCol="0" anchor="ctr"/>
          <a:lstStyle/>
          <a:p>
            <a:pPr algn="ctr" indent="0" marL="0">
              <a:buNone/>
            </a:pPr>
            <a:r>
              <a:rPr lang="en-US" sz="3600" b="1" dirty="0">
                <a:solidFill>
                  <a:srgbClr val="CC0000"/>
                </a:solidFill>
                <a:latin typeface="Arial Black" pitchFamily="34" charset="0"/>
                <a:ea typeface="Arial Black" pitchFamily="34" charset="-122"/>
                <a:cs typeface="Arial Black" pitchFamily="34" charset="-120"/>
              </a:rPr>
              <a:t>◫</a:t>
            </a:r>
            <a:endParaRPr lang="en-US" sz="3600" dirty="0"/>
          </a:p>
        </p:txBody>
      </p:sp>
      <p:sp>
        <p:nvSpPr>
          <p:cNvPr id="32" name="Text 30"/>
          <p:cNvSpPr/>
          <p:nvPr/>
        </p:nvSpPr>
        <p:spPr>
          <a:xfrm>
            <a:off x="6492240" y="2587752"/>
            <a:ext cx="1920240" cy="274320"/>
          </a:xfrm>
          <a:prstGeom prst="rect">
            <a:avLst/>
          </a:prstGeom>
          <a:noFill/>
          <a:ln/>
        </p:spPr>
        <p:txBody>
          <a:bodyPr wrap="square" lIns="0" tIns="0" rIns="0" bIns="0" rtlCol="0" anchor="ctr"/>
          <a:lstStyle/>
          <a:p>
            <a:pPr algn="ctr" indent="0" marL="0">
              <a:buNone/>
            </a:pPr>
            <a:r>
              <a:rPr lang="en-US" sz="1300" b="1" dirty="0">
                <a:solidFill>
                  <a:srgbClr val="333333"/>
                </a:solidFill>
                <a:latin typeface="Arial" pitchFamily="34" charset="0"/>
                <a:ea typeface="Arial" pitchFamily="34" charset="-122"/>
                <a:cs typeface="Arial" pitchFamily="34" charset="-120"/>
              </a:rPr>
              <a:t>Advanced Packaging</a:t>
            </a:r>
            <a:endParaRPr lang="en-US" sz="1300" dirty="0"/>
          </a:p>
        </p:txBody>
      </p:sp>
      <p:sp>
        <p:nvSpPr>
          <p:cNvPr id="33" name="Shape 31"/>
          <p:cNvSpPr/>
          <p:nvPr/>
        </p:nvSpPr>
        <p:spPr>
          <a:xfrm>
            <a:off x="6995160" y="2907792"/>
            <a:ext cx="914400" cy="0"/>
          </a:xfrm>
          <a:prstGeom prst="line">
            <a:avLst/>
          </a:prstGeom>
          <a:noFill/>
          <a:ln w="19050">
            <a:solidFill>
              <a:srgbClr val="CC0000"/>
            </a:solidFill>
            <a:prstDash val="solid"/>
          </a:ln>
        </p:spPr>
      </p:sp>
      <p:sp>
        <p:nvSpPr>
          <p:cNvPr id="34" name="Text 32"/>
          <p:cNvSpPr/>
          <p:nvPr/>
        </p:nvSpPr>
        <p:spPr>
          <a:xfrm>
            <a:off x="6601968" y="2999232"/>
            <a:ext cx="1700784" cy="640080"/>
          </a:xfrm>
          <a:prstGeom prst="rect">
            <a:avLst/>
          </a:prstGeom>
          <a:noFill/>
          <a:ln/>
        </p:spPr>
        <p:txBody>
          <a:bodyPr wrap="square" lIns="0" tIns="0" rIns="0" bIns="0" rtlCol="0" anchor="t"/>
          <a:lstStyle/>
          <a:p>
            <a:pPr algn="l" indent="0" marL="0">
              <a:buNone/>
            </a:pPr>
            <a:r>
              <a:rPr lang="en-US" sz="900" dirty="0">
                <a:solidFill>
                  <a:srgbClr val="333333"/>
                </a:solidFill>
                <a:latin typeface="Arial" pitchFamily="34" charset="0"/>
                <a:ea typeface="Arial" pitchFamily="34" charset="-122"/>
                <a:cs typeface="Arial" pitchFamily="34" charset="-120"/>
              </a:rPr>
              <a:t>TSMC's CoWoS step fuses the GPU die to its HBM stack — the only volume supplier, sold out through 2026.</a:t>
            </a:r>
            <a:pPr algn="l" indent="0" marL="0">
              <a:buNone/>
            </a:pPr>
            <a:r>
              <a:rPr lang="en-US" sz="700" baseline="30000" dirty="0">
                <a:solidFill>
                  <a:srgbClr val="CC0000"/>
                </a:solidFill>
                <a:latin typeface="Arial" pitchFamily="34" charset="0"/>
                <a:ea typeface="Arial" pitchFamily="34" charset="-122"/>
                <a:cs typeface="Arial" pitchFamily="34" charset="-120"/>
              </a:rPr>
              <a:t> 4</a:t>
            </a:r>
            <a:endParaRPr lang="en-US" sz="900" dirty="0"/>
          </a:p>
        </p:txBody>
      </p:sp>
      <p:sp>
        <p:nvSpPr>
          <p:cNvPr id="35" name="Text 33"/>
          <p:cNvSpPr/>
          <p:nvPr/>
        </p:nvSpPr>
        <p:spPr>
          <a:xfrm>
            <a:off x="457200" y="3931920"/>
            <a:ext cx="8229600" cy="228600"/>
          </a:xfrm>
          <a:prstGeom prst="rect">
            <a:avLst/>
          </a:prstGeom>
          <a:noFill/>
          <a:ln/>
        </p:spPr>
        <p:txBody>
          <a:bodyPr wrap="square" lIns="0" tIns="0" rIns="0" bIns="0" rtlCol="0" anchor="ctr"/>
          <a:lstStyle/>
          <a:p>
            <a:pPr algn="l" indent="0" marL="0">
              <a:buNone/>
            </a:pPr>
            <a:r>
              <a:rPr lang="en-US" sz="1000" b="1" spc="300" kern="0" dirty="0">
                <a:solidFill>
                  <a:srgbClr val="333333"/>
                </a:solidFill>
                <a:latin typeface="Arial" pitchFamily="34" charset="0"/>
                <a:ea typeface="Arial" pitchFamily="34" charset="-122"/>
                <a:cs typeface="Arial" pitchFamily="34" charset="-120"/>
              </a:rPr>
              <a:t>US RESHORING — WHEN LEADING-EDGE CAPACITY COMES ONLINE</a:t>
            </a:r>
            <a:endParaRPr lang="en-US" sz="1000" dirty="0"/>
          </a:p>
        </p:txBody>
      </p:sp>
      <p:sp>
        <p:nvSpPr>
          <p:cNvPr id="36" name="Shape 34"/>
          <p:cNvSpPr/>
          <p:nvPr/>
        </p:nvSpPr>
        <p:spPr>
          <a:xfrm>
            <a:off x="640080" y="4572000"/>
            <a:ext cx="7863840" cy="0"/>
          </a:xfrm>
          <a:prstGeom prst="line">
            <a:avLst/>
          </a:prstGeom>
          <a:noFill/>
          <a:ln w="19050">
            <a:solidFill>
              <a:srgbClr val="333333"/>
            </a:solidFill>
            <a:prstDash val="solid"/>
          </a:ln>
        </p:spPr>
      </p:sp>
      <p:sp>
        <p:nvSpPr>
          <p:cNvPr id="37" name="Shape 35"/>
          <p:cNvSpPr/>
          <p:nvPr/>
        </p:nvSpPr>
        <p:spPr>
          <a:xfrm>
            <a:off x="566928" y="4498848"/>
            <a:ext cx="146304" cy="146304"/>
          </a:xfrm>
          <a:prstGeom prst="ellipse">
            <a:avLst/>
          </a:prstGeom>
          <a:solidFill>
            <a:srgbClr val="CC0000"/>
          </a:solidFill>
          <a:ln w="12700">
            <a:solidFill>
              <a:srgbClr val="CC0000"/>
            </a:solidFill>
            <a:prstDash val="solid"/>
          </a:ln>
        </p:spPr>
      </p:sp>
      <p:sp>
        <p:nvSpPr>
          <p:cNvPr id="38" name="Text 36"/>
          <p:cNvSpPr/>
          <p:nvPr/>
        </p:nvSpPr>
        <p:spPr>
          <a:xfrm>
            <a:off x="457200" y="4206240"/>
            <a:ext cx="1280160" cy="274320"/>
          </a:xfrm>
          <a:prstGeom prst="rect">
            <a:avLst/>
          </a:prstGeom>
          <a:noFill/>
          <a:ln/>
        </p:spPr>
        <p:txBody>
          <a:bodyPr wrap="square" lIns="0" tIns="0" rIns="0" bIns="0" rtlCol="0" anchor="b"/>
          <a:lstStyle/>
          <a:p>
            <a:pPr algn="l" indent="0" marL="0">
              <a:buNone/>
            </a:pPr>
            <a:r>
              <a:rPr lang="en-US" sz="1000" b="1" dirty="0">
                <a:solidFill>
                  <a:srgbClr val="333333"/>
                </a:solidFill>
                <a:latin typeface="Arial" pitchFamily="34" charset="0"/>
                <a:ea typeface="Arial" pitchFamily="34" charset="-122"/>
                <a:cs typeface="Arial" pitchFamily="34" charset="-120"/>
              </a:rPr>
              <a:t>TSMC AZ Fab 1</a:t>
            </a:r>
            <a:endParaRPr lang="en-US" sz="1000" dirty="0"/>
          </a:p>
        </p:txBody>
      </p:sp>
      <p:sp>
        <p:nvSpPr>
          <p:cNvPr id="39" name="Text 37"/>
          <p:cNvSpPr/>
          <p:nvPr/>
        </p:nvSpPr>
        <p:spPr>
          <a:xfrm>
            <a:off x="365760" y="4709160"/>
            <a:ext cx="640080" cy="228600"/>
          </a:xfrm>
          <a:prstGeom prst="rect">
            <a:avLst/>
          </a:prstGeom>
          <a:noFill/>
          <a:ln/>
        </p:spPr>
        <p:txBody>
          <a:bodyPr wrap="square" lIns="0" tIns="0" rIns="0" bIns="0" rtlCol="0" anchor="t"/>
          <a:lstStyle/>
          <a:p>
            <a:pPr algn="l" indent="0" marL="0">
              <a:buNone/>
            </a:pPr>
            <a:r>
              <a:rPr lang="en-US" sz="1000" b="1" dirty="0">
                <a:solidFill>
                  <a:srgbClr val="CC0000"/>
                </a:solidFill>
                <a:latin typeface="Arial" pitchFamily="34" charset="0"/>
                <a:ea typeface="Arial" pitchFamily="34" charset="-122"/>
                <a:cs typeface="Arial" pitchFamily="34" charset="-120"/>
              </a:rPr>
              <a:t>2025</a:t>
            </a:r>
            <a:endParaRPr lang="en-US" sz="1000" dirty="0"/>
          </a:p>
        </p:txBody>
      </p:sp>
      <p:sp>
        <p:nvSpPr>
          <p:cNvPr id="40" name="Shape 38"/>
          <p:cNvSpPr/>
          <p:nvPr/>
        </p:nvSpPr>
        <p:spPr>
          <a:xfrm>
            <a:off x="2532888" y="4498848"/>
            <a:ext cx="146304" cy="146304"/>
          </a:xfrm>
          <a:prstGeom prst="ellipse">
            <a:avLst/>
          </a:prstGeom>
          <a:solidFill>
            <a:srgbClr val="CC0000"/>
          </a:solidFill>
          <a:ln w="12700">
            <a:solidFill>
              <a:srgbClr val="CC0000"/>
            </a:solidFill>
            <a:prstDash val="solid"/>
          </a:ln>
        </p:spPr>
      </p:sp>
      <p:sp>
        <p:nvSpPr>
          <p:cNvPr id="41" name="Text 39"/>
          <p:cNvSpPr/>
          <p:nvPr/>
        </p:nvSpPr>
        <p:spPr>
          <a:xfrm>
            <a:off x="1828800" y="4206240"/>
            <a:ext cx="1554480" cy="274320"/>
          </a:xfrm>
          <a:prstGeom prst="rect">
            <a:avLst/>
          </a:prstGeom>
          <a:noFill/>
          <a:ln/>
        </p:spPr>
        <p:txBody>
          <a:bodyPr wrap="square" lIns="0" tIns="0" rIns="0" bIns="0" rtlCol="0" anchor="b"/>
          <a:lstStyle/>
          <a:p>
            <a:pPr algn="ctr" indent="0" marL="0">
              <a:buNone/>
            </a:pPr>
            <a:r>
              <a:rPr lang="en-US" sz="1000" b="1" dirty="0">
                <a:solidFill>
                  <a:srgbClr val="333333"/>
                </a:solidFill>
                <a:latin typeface="Arial" pitchFamily="34" charset="0"/>
                <a:ea typeface="Arial" pitchFamily="34" charset="-122"/>
                <a:cs typeface="Arial" pitchFamily="34" charset="-120"/>
              </a:rPr>
              <a:t>Samsung Taylor</a:t>
            </a:r>
            <a:endParaRPr lang="en-US" sz="1000" dirty="0"/>
          </a:p>
        </p:txBody>
      </p:sp>
      <p:sp>
        <p:nvSpPr>
          <p:cNvPr id="42" name="Text 40"/>
          <p:cNvSpPr/>
          <p:nvPr/>
        </p:nvSpPr>
        <p:spPr>
          <a:xfrm>
            <a:off x="2240280" y="4709160"/>
            <a:ext cx="731520" cy="228600"/>
          </a:xfrm>
          <a:prstGeom prst="rect">
            <a:avLst/>
          </a:prstGeom>
          <a:noFill/>
          <a:ln/>
        </p:spPr>
        <p:txBody>
          <a:bodyPr wrap="square" lIns="0" tIns="0" rIns="0" bIns="0" rtlCol="0" anchor="t"/>
          <a:lstStyle/>
          <a:p>
            <a:pPr algn="ctr" indent="0" marL="0">
              <a:buNone/>
            </a:pPr>
            <a:r>
              <a:rPr lang="en-US" sz="1000" b="1" dirty="0">
                <a:solidFill>
                  <a:srgbClr val="CC0000"/>
                </a:solidFill>
                <a:latin typeface="Arial" pitchFamily="34" charset="0"/>
                <a:ea typeface="Arial" pitchFamily="34" charset="-122"/>
                <a:cs typeface="Arial" pitchFamily="34" charset="-120"/>
              </a:rPr>
              <a:t>2026</a:t>
            </a:r>
            <a:endParaRPr lang="en-US" sz="1000" dirty="0"/>
          </a:p>
        </p:txBody>
      </p:sp>
      <p:sp>
        <p:nvSpPr>
          <p:cNvPr id="43" name="Shape 41"/>
          <p:cNvSpPr/>
          <p:nvPr/>
        </p:nvSpPr>
        <p:spPr>
          <a:xfrm>
            <a:off x="4498848" y="4498848"/>
            <a:ext cx="146304" cy="146304"/>
          </a:xfrm>
          <a:prstGeom prst="ellipse">
            <a:avLst/>
          </a:prstGeom>
          <a:solidFill>
            <a:srgbClr val="CC0000"/>
          </a:solidFill>
          <a:ln w="12700">
            <a:solidFill>
              <a:srgbClr val="CC0000"/>
            </a:solidFill>
            <a:prstDash val="solid"/>
          </a:ln>
        </p:spPr>
      </p:sp>
      <p:sp>
        <p:nvSpPr>
          <p:cNvPr id="44" name="Text 42"/>
          <p:cNvSpPr/>
          <p:nvPr/>
        </p:nvSpPr>
        <p:spPr>
          <a:xfrm>
            <a:off x="3794760" y="4206240"/>
            <a:ext cx="1554480" cy="274320"/>
          </a:xfrm>
          <a:prstGeom prst="rect">
            <a:avLst/>
          </a:prstGeom>
          <a:noFill/>
          <a:ln/>
        </p:spPr>
        <p:txBody>
          <a:bodyPr wrap="square" lIns="0" tIns="0" rIns="0" bIns="0" rtlCol="0" anchor="b"/>
          <a:lstStyle/>
          <a:p>
            <a:pPr algn="ctr" indent="0" marL="0">
              <a:buNone/>
            </a:pPr>
            <a:r>
              <a:rPr lang="en-US" sz="1000" b="1" dirty="0">
                <a:solidFill>
                  <a:srgbClr val="333333"/>
                </a:solidFill>
                <a:latin typeface="Arial" pitchFamily="34" charset="0"/>
                <a:ea typeface="Arial" pitchFamily="34" charset="-122"/>
                <a:cs typeface="Arial" pitchFamily="34" charset="-120"/>
              </a:rPr>
              <a:t>TSMC AZ Fab 2</a:t>
            </a:r>
            <a:endParaRPr lang="en-US" sz="1000" dirty="0"/>
          </a:p>
        </p:txBody>
      </p:sp>
      <p:sp>
        <p:nvSpPr>
          <p:cNvPr id="45" name="Text 43"/>
          <p:cNvSpPr/>
          <p:nvPr/>
        </p:nvSpPr>
        <p:spPr>
          <a:xfrm>
            <a:off x="4206240" y="4709160"/>
            <a:ext cx="731520" cy="228600"/>
          </a:xfrm>
          <a:prstGeom prst="rect">
            <a:avLst/>
          </a:prstGeom>
          <a:noFill/>
          <a:ln/>
        </p:spPr>
        <p:txBody>
          <a:bodyPr wrap="square" lIns="0" tIns="0" rIns="0" bIns="0" rtlCol="0" anchor="t"/>
          <a:lstStyle/>
          <a:p>
            <a:pPr algn="ctr" indent="0" marL="0">
              <a:buNone/>
            </a:pPr>
            <a:r>
              <a:rPr lang="en-US" sz="1000" b="1" dirty="0">
                <a:solidFill>
                  <a:srgbClr val="CC0000"/>
                </a:solidFill>
                <a:latin typeface="Arial" pitchFamily="34" charset="0"/>
                <a:ea typeface="Arial" pitchFamily="34" charset="-122"/>
                <a:cs typeface="Arial" pitchFamily="34" charset="-120"/>
              </a:rPr>
              <a:t>2027</a:t>
            </a:r>
            <a:endParaRPr lang="en-US" sz="1000" dirty="0"/>
          </a:p>
        </p:txBody>
      </p:sp>
      <p:sp>
        <p:nvSpPr>
          <p:cNvPr id="46" name="Shape 44"/>
          <p:cNvSpPr/>
          <p:nvPr/>
        </p:nvSpPr>
        <p:spPr>
          <a:xfrm>
            <a:off x="6464808" y="4498848"/>
            <a:ext cx="146304" cy="146304"/>
          </a:xfrm>
          <a:prstGeom prst="ellipse">
            <a:avLst/>
          </a:prstGeom>
          <a:solidFill>
            <a:srgbClr val="CC0000"/>
          </a:solidFill>
          <a:ln w="12700">
            <a:solidFill>
              <a:srgbClr val="CC0000"/>
            </a:solidFill>
            <a:prstDash val="solid"/>
          </a:ln>
        </p:spPr>
      </p:sp>
      <p:sp>
        <p:nvSpPr>
          <p:cNvPr id="47" name="Text 45"/>
          <p:cNvSpPr/>
          <p:nvPr/>
        </p:nvSpPr>
        <p:spPr>
          <a:xfrm>
            <a:off x="5760720" y="4206240"/>
            <a:ext cx="1554480" cy="274320"/>
          </a:xfrm>
          <a:prstGeom prst="rect">
            <a:avLst/>
          </a:prstGeom>
          <a:noFill/>
          <a:ln/>
        </p:spPr>
        <p:txBody>
          <a:bodyPr wrap="square" lIns="0" tIns="0" rIns="0" bIns="0" rtlCol="0" anchor="b"/>
          <a:lstStyle/>
          <a:p>
            <a:pPr algn="ctr" indent="0" marL="0">
              <a:buNone/>
            </a:pPr>
            <a:r>
              <a:rPr lang="en-US" sz="1000" b="1" dirty="0">
                <a:solidFill>
                  <a:srgbClr val="333333"/>
                </a:solidFill>
                <a:latin typeface="Arial" pitchFamily="34" charset="0"/>
                <a:ea typeface="Arial" pitchFamily="34" charset="-122"/>
                <a:cs typeface="Arial" pitchFamily="34" charset="-120"/>
              </a:rPr>
              <a:t>Intel Ohio</a:t>
            </a:r>
            <a:endParaRPr lang="en-US" sz="1000" dirty="0"/>
          </a:p>
        </p:txBody>
      </p:sp>
      <p:sp>
        <p:nvSpPr>
          <p:cNvPr id="48" name="Text 46"/>
          <p:cNvSpPr/>
          <p:nvPr/>
        </p:nvSpPr>
        <p:spPr>
          <a:xfrm>
            <a:off x="6172200" y="4709160"/>
            <a:ext cx="731520" cy="228600"/>
          </a:xfrm>
          <a:prstGeom prst="rect">
            <a:avLst/>
          </a:prstGeom>
          <a:noFill/>
          <a:ln/>
        </p:spPr>
        <p:txBody>
          <a:bodyPr wrap="square" lIns="0" tIns="0" rIns="0" bIns="0" rtlCol="0" anchor="t"/>
          <a:lstStyle/>
          <a:p>
            <a:pPr algn="ctr" indent="0" marL="0">
              <a:buNone/>
            </a:pPr>
            <a:r>
              <a:rPr lang="en-US" sz="1000" b="1" dirty="0">
                <a:solidFill>
                  <a:srgbClr val="CC0000"/>
                </a:solidFill>
                <a:latin typeface="Arial" pitchFamily="34" charset="0"/>
                <a:ea typeface="Arial" pitchFamily="34" charset="-122"/>
                <a:cs typeface="Arial" pitchFamily="34" charset="-120"/>
              </a:rPr>
              <a:t>2028</a:t>
            </a:r>
            <a:endParaRPr lang="en-US" sz="1000" dirty="0"/>
          </a:p>
        </p:txBody>
      </p:sp>
      <p:sp>
        <p:nvSpPr>
          <p:cNvPr id="49" name="Shape 47"/>
          <p:cNvSpPr/>
          <p:nvPr/>
        </p:nvSpPr>
        <p:spPr>
          <a:xfrm>
            <a:off x="8430768" y="4498848"/>
            <a:ext cx="146304" cy="146304"/>
          </a:xfrm>
          <a:prstGeom prst="ellipse">
            <a:avLst/>
          </a:prstGeom>
          <a:solidFill>
            <a:srgbClr val="CC0000"/>
          </a:solidFill>
          <a:ln w="12700">
            <a:solidFill>
              <a:srgbClr val="CC0000"/>
            </a:solidFill>
            <a:prstDash val="solid"/>
          </a:ln>
        </p:spPr>
      </p:sp>
      <p:sp>
        <p:nvSpPr>
          <p:cNvPr id="50" name="Text 48"/>
          <p:cNvSpPr/>
          <p:nvPr/>
        </p:nvSpPr>
        <p:spPr>
          <a:xfrm>
            <a:off x="7406640" y="4206240"/>
            <a:ext cx="1280160" cy="274320"/>
          </a:xfrm>
          <a:prstGeom prst="rect">
            <a:avLst/>
          </a:prstGeom>
          <a:noFill/>
          <a:ln/>
        </p:spPr>
        <p:txBody>
          <a:bodyPr wrap="square" lIns="0" tIns="0" rIns="0" bIns="0" rtlCol="0" anchor="b"/>
          <a:lstStyle/>
          <a:p>
            <a:pPr algn="r" indent="0" marL="0">
              <a:buNone/>
            </a:pPr>
            <a:r>
              <a:rPr lang="en-US" sz="1000" b="1" dirty="0">
                <a:solidFill>
                  <a:srgbClr val="333333"/>
                </a:solidFill>
                <a:latin typeface="Arial" pitchFamily="34" charset="0"/>
                <a:ea typeface="Arial" pitchFamily="34" charset="-122"/>
                <a:cs typeface="Arial" pitchFamily="34" charset="-120"/>
              </a:rPr>
              <a:t>Micron Clay NY</a:t>
            </a:r>
            <a:endParaRPr lang="en-US" sz="1000" dirty="0"/>
          </a:p>
        </p:txBody>
      </p:sp>
      <p:sp>
        <p:nvSpPr>
          <p:cNvPr id="51" name="Text 49"/>
          <p:cNvSpPr/>
          <p:nvPr/>
        </p:nvSpPr>
        <p:spPr>
          <a:xfrm>
            <a:off x="7955280" y="4709160"/>
            <a:ext cx="731520" cy="228600"/>
          </a:xfrm>
          <a:prstGeom prst="rect">
            <a:avLst/>
          </a:prstGeom>
          <a:noFill/>
          <a:ln/>
        </p:spPr>
        <p:txBody>
          <a:bodyPr wrap="square" lIns="0" tIns="0" rIns="0" bIns="0" rtlCol="0" anchor="t"/>
          <a:lstStyle/>
          <a:p>
            <a:pPr algn="r" indent="0" marL="0">
              <a:buNone/>
            </a:pPr>
            <a:r>
              <a:rPr lang="en-US" sz="1000" b="1" dirty="0">
                <a:solidFill>
                  <a:srgbClr val="CC0000"/>
                </a:solidFill>
                <a:latin typeface="Arial" pitchFamily="34" charset="0"/>
                <a:ea typeface="Arial" pitchFamily="34" charset="-122"/>
                <a:cs typeface="Arial" pitchFamily="34" charset="-120"/>
              </a:rPr>
              <a:t>2030+</a:t>
            </a:r>
            <a:endParaRPr lang="en-US" sz="1000" dirty="0"/>
          </a:p>
        </p:txBody>
      </p:sp>
      <p:sp>
        <p:nvSpPr>
          <p:cNvPr id="52" name="Text 50"/>
          <p:cNvSpPr/>
          <p:nvPr/>
        </p:nvSpPr>
        <p:spPr>
          <a:xfrm>
            <a:off x="457200" y="5349240"/>
            <a:ext cx="8229600" cy="274320"/>
          </a:xfrm>
          <a:prstGeom prst="rect">
            <a:avLst/>
          </a:prstGeom>
          <a:noFill/>
          <a:ln/>
        </p:spPr>
        <p:txBody>
          <a:bodyPr wrap="square" lIns="0" tIns="0" rIns="0" bIns="0" rtlCol="0" anchor="ctr"/>
          <a:lstStyle/>
          <a:p>
            <a:pPr algn="ctr" indent="0" marL="0">
              <a:buNone/>
            </a:pPr>
            <a:r>
              <a:rPr lang="en-US" sz="950" i="1" dirty="0">
                <a:solidFill>
                  <a:srgbClr val="666666"/>
                </a:solidFill>
                <a:latin typeface="Arial" pitchFamily="34" charset="0"/>
                <a:ea typeface="Arial" pitchFamily="34" charset="-122"/>
                <a:cs typeface="Arial" pitchFamily="34" charset="-120"/>
              </a:rPr>
              <a:t>Each link is single-sourced — and there is no spare capacity in the chain to absorb a shock at any one of them.</a:t>
            </a:r>
            <a:endParaRPr lang="en-US" sz="950" dirty="0"/>
          </a:p>
        </p:txBody>
      </p:sp>
      <p:sp>
        <p:nvSpPr>
          <p:cNvPr id="53" name="Text 51"/>
          <p:cNvSpPr/>
          <p:nvPr/>
        </p:nvSpPr>
        <p:spPr>
          <a:xfrm>
            <a:off x="457200" y="5875020"/>
            <a:ext cx="8229600" cy="457200"/>
          </a:xfrm>
          <a:prstGeom prst="rect">
            <a:avLst/>
          </a:prstGeom>
          <a:noFill/>
          <a:ln/>
        </p:spPr>
        <p:txBody>
          <a:bodyPr wrap="square" lIns="0" tIns="0" rIns="0" bIns="0" rtlCol="0" anchor="t"/>
          <a:lstStyle/>
          <a:p>
            <a:pPr indent="0" marL="0">
              <a:buNone/>
            </a:pPr>
            <a:r>
              <a:rPr lang="en-US" sz="700" b="1" dirty="0">
                <a:solidFill>
                  <a:srgbClr val="999999"/>
                </a:solidFill>
                <a:latin typeface="Arial" pitchFamily="34" charset="0"/>
                <a:ea typeface="Arial" pitchFamily="34" charset="-122"/>
                <a:cs typeface="Arial" pitchFamily="34" charset="-120"/>
              </a:rPr>
              <a:t>(1) </a:t>
            </a:r>
            <a:pPr indent="0" marL="0">
              <a:buNone/>
            </a:pPr>
            <a:r>
              <a:rPr lang="en-US" sz="700" dirty="0">
                <a:solidFill>
                  <a:srgbClr val="999999"/>
                </a:solidFill>
                <a:latin typeface="Arial" pitchFamily="34" charset="0"/>
                <a:ea typeface="Arial" pitchFamily="34" charset="-122"/>
                <a:cs typeface="Arial" pitchFamily="34" charset="-120"/>
              </a:rPr>
              <a:t>ASML 2025 annual report, </a:t>
            </a:r>
            <a:pPr indent="0" marL="0">
              <a:buNone/>
            </a:pPr>
            <a:r>
              <a:rPr lang="en-US" sz="700" b="1" dirty="0">
                <a:solidFill>
                  <a:srgbClr val="999999"/>
                </a:solidFill>
                <a:latin typeface="Arial" pitchFamily="34" charset="0"/>
                <a:ea typeface="Arial" pitchFamily="34" charset="-122"/>
                <a:cs typeface="Arial" pitchFamily="34" charset="-120"/>
              </a:rPr>
              <a:t>(2) </a:t>
            </a:r>
            <a:pPr indent="0" marL="0">
              <a:buNone/>
            </a:pPr>
            <a:r>
              <a:rPr lang="en-US" sz="700" dirty="0">
                <a:solidFill>
                  <a:srgbClr val="999999"/>
                </a:solidFill>
                <a:latin typeface="Arial" pitchFamily="34" charset="0"/>
                <a:ea typeface="Arial" pitchFamily="34" charset="-122"/>
                <a:cs typeface="Arial" pitchFamily="34" charset="-120"/>
              </a:rPr>
              <a:t>TrendForce / Counterpoint, 2025, </a:t>
            </a:r>
            <a:pPr indent="0" marL="0">
              <a:buNone/>
            </a:pPr>
            <a:r>
              <a:rPr lang="en-US" sz="700" b="1" dirty="0">
                <a:solidFill>
                  <a:srgbClr val="999999"/>
                </a:solidFill>
                <a:latin typeface="Arial" pitchFamily="34" charset="0"/>
                <a:ea typeface="Arial" pitchFamily="34" charset="-122"/>
                <a:cs typeface="Arial" pitchFamily="34" charset="-120"/>
              </a:rPr>
              <a:t>(3) </a:t>
            </a:r>
            <a:pPr indent="0" marL="0">
              <a:buNone/>
            </a:pPr>
            <a:r>
              <a:rPr lang="en-US" sz="700" dirty="0">
                <a:solidFill>
                  <a:srgbClr val="999999"/>
                </a:solidFill>
                <a:latin typeface="Arial" pitchFamily="34" charset="0"/>
                <a:ea typeface="Arial" pitchFamily="34" charset="-122"/>
                <a:cs typeface="Arial" pitchFamily="34" charset="-120"/>
              </a:rPr>
              <a:t>TrendForce HBM tracker; SK Hynix Q1 2026 commentary, </a:t>
            </a:r>
            <a:pPr indent="0" marL="0">
              <a:buNone/>
            </a:pPr>
            <a:r>
              <a:rPr lang="en-US" sz="700" b="1" dirty="0">
                <a:solidFill>
                  <a:srgbClr val="999999"/>
                </a:solidFill>
                <a:latin typeface="Arial" pitchFamily="34" charset="0"/>
                <a:ea typeface="Arial" pitchFamily="34" charset="-122"/>
                <a:cs typeface="Arial" pitchFamily="34" charset="-120"/>
              </a:rPr>
              <a:t>(4) </a:t>
            </a:r>
            <a:pPr indent="0" marL="0">
              <a:buNone/>
            </a:pPr>
            <a:r>
              <a:rPr lang="en-US" sz="700" dirty="0">
                <a:solidFill>
                  <a:srgbClr val="999999"/>
                </a:solidFill>
                <a:latin typeface="Arial" pitchFamily="34" charset="0"/>
                <a:ea typeface="Arial" pitchFamily="34" charset="-122"/>
                <a:cs typeface="Arial" pitchFamily="34" charset="-120"/>
              </a:rPr>
              <a:t>TSMC Q4 2025 earnings commentary.</a:t>
            </a:r>
            <a:endParaRPr lang="en-US" sz="700" dirty="0"/>
          </a:p>
        </p:txBody>
      </p:sp>
      <p:sp>
        <p:nvSpPr>
          <p:cNvPr id="54" name="Shape 52"/>
          <p:cNvSpPr/>
          <p:nvPr/>
        </p:nvSpPr>
        <p:spPr>
          <a:xfrm>
            <a:off x="0" y="6286500"/>
            <a:ext cx="9144000" cy="571500"/>
          </a:xfrm>
          <a:prstGeom prst="rect">
            <a:avLst/>
          </a:prstGeom>
          <a:solidFill>
            <a:srgbClr val="000000"/>
          </a:solidFill>
          <a:ln w="12700">
            <a:solidFill>
              <a:srgbClr val="000000"/>
            </a:solidFill>
            <a:prstDash val="solid"/>
          </a:ln>
        </p:spPr>
      </p:sp>
      <p:sp>
        <p:nvSpPr>
          <p:cNvPr id="55" name="Text 53"/>
          <p:cNvSpPr/>
          <p:nvPr/>
        </p:nvSpPr>
        <p:spPr>
          <a:xfrm>
            <a:off x="1371600" y="6332220"/>
            <a:ext cx="6400800" cy="45720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56" name="Text 54"/>
          <p:cNvSpPr/>
          <p:nvPr/>
        </p:nvSpPr>
        <p:spPr>
          <a:xfrm>
            <a:off x="8321040" y="6405372"/>
            <a:ext cx="548640" cy="27432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CC0000"/>
          </a:solidFill>
          <a:ln w="12700">
            <a:solidFill>
              <a:srgbClr val="CC0000"/>
            </a:solidFill>
            <a:prstDash val="solid"/>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Arial" pitchFamily="34" charset="0"/>
                <a:ea typeface="Arial" pitchFamily="34" charset="-122"/>
                <a:cs typeface="Arial" pitchFamily="34" charset="-120"/>
              </a:rPr>
              <a:t>RISKS</a:t>
            </a:r>
            <a:endParaRPr lang="en-US" sz="1000" dirty="0"/>
          </a:p>
        </p:txBody>
      </p:sp>
      <p:sp>
        <p:nvSpPr>
          <p:cNvPr id="4" name="Text 2"/>
          <p:cNvSpPr/>
          <p:nvPr/>
        </p:nvSpPr>
        <p:spPr>
          <a:xfrm>
            <a:off x="457200" y="182880"/>
            <a:ext cx="6583680" cy="685800"/>
          </a:xfrm>
          <a:prstGeom prst="rect">
            <a:avLst/>
          </a:prstGeom>
          <a:noFill/>
          <a:ln/>
        </p:spPr>
        <p:txBody>
          <a:bodyPr wrap="square" lIns="0" tIns="0" rIns="0" bIns="0" rtlCol="0" anchor="t"/>
          <a:lstStyle/>
          <a:p>
            <a:pPr indent="0" marL="0">
              <a:buNone/>
            </a:pPr>
            <a:r>
              <a:rPr lang="en-US" sz="2400" b="1" dirty="0">
                <a:solidFill>
                  <a:srgbClr val="000000"/>
                </a:solidFill>
                <a:latin typeface="Arial Black" pitchFamily="34" charset="0"/>
                <a:ea typeface="Arial Black" pitchFamily="34" charset="-122"/>
                <a:cs typeface="Arial Black" pitchFamily="34" charset="-120"/>
              </a:rPr>
              <a:t>Export controls, EU rules, and rare-earths decide who sells what</a:t>
            </a:r>
            <a:endParaRPr lang="en-US" sz="2400" dirty="0"/>
          </a:p>
        </p:txBody>
      </p:sp>
      <p:sp>
        <p:nvSpPr>
          <p:cNvPr id="5" name="Text 3"/>
          <p:cNvSpPr/>
          <p:nvPr/>
        </p:nvSpPr>
        <p:spPr>
          <a:xfrm>
            <a:off x="457200" y="91440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Export controls, EU compliance, and reshoring subsidies now decide who can sell what, to whom, from where.</a:t>
            </a:r>
            <a:endParaRPr lang="en-US" sz="1350" dirty="0"/>
          </a:p>
        </p:txBody>
      </p:sp>
      <p:sp>
        <p:nvSpPr>
          <p:cNvPr id="6" name="Shape 4"/>
          <p:cNvSpPr/>
          <p:nvPr/>
        </p:nvSpPr>
        <p:spPr>
          <a:xfrm>
            <a:off x="457200" y="1325880"/>
            <a:ext cx="8229600" cy="0"/>
          </a:xfrm>
          <a:prstGeom prst="line">
            <a:avLst/>
          </a:prstGeom>
          <a:noFill/>
          <a:ln w="9525">
            <a:solidFill>
              <a:srgbClr val="E5E5E5"/>
            </a:solidFill>
            <a:prstDash val="solid"/>
          </a:ln>
        </p:spPr>
      </p:sp>
      <p:sp>
        <p:nvSpPr>
          <p:cNvPr id="7" name="Shape 5"/>
          <p:cNvSpPr/>
          <p:nvPr/>
        </p:nvSpPr>
        <p:spPr>
          <a:xfrm>
            <a:off x="457200" y="1783080"/>
            <a:ext cx="2560320" cy="411480"/>
          </a:xfrm>
          <a:prstGeom prst="rect">
            <a:avLst/>
          </a:prstGeom>
          <a:solidFill>
            <a:srgbClr val="CC0000"/>
          </a:solidFill>
          <a:ln w="12700">
            <a:solidFill>
              <a:srgbClr val="CC0000"/>
            </a:solidFill>
            <a:prstDash val="solid"/>
          </a:ln>
        </p:spPr>
      </p:sp>
      <p:sp>
        <p:nvSpPr>
          <p:cNvPr id="8" name="Text 6"/>
          <p:cNvSpPr/>
          <p:nvPr/>
        </p:nvSpPr>
        <p:spPr>
          <a:xfrm>
            <a:off x="457200" y="1783080"/>
            <a:ext cx="2560320" cy="411480"/>
          </a:xfrm>
          <a:prstGeom prst="rect">
            <a:avLst/>
          </a:prstGeom>
          <a:noFill/>
          <a:ln/>
        </p:spPr>
        <p:txBody>
          <a:bodyPr wrap="square" lIns="0" tIns="0" rIns="0" bIns="0" rtlCol="0" anchor="ctr"/>
          <a:lstStyle/>
          <a:p>
            <a:pPr algn="ctr" indent="0" marL="0">
              <a:buNone/>
            </a:pPr>
            <a:r>
              <a:rPr lang="en-US" sz="1150" b="1" spc="200" kern="0" dirty="0">
                <a:solidFill>
                  <a:srgbClr val="FFFFFF"/>
                </a:solidFill>
                <a:latin typeface="Arial" pitchFamily="34" charset="0"/>
                <a:ea typeface="Arial" pitchFamily="34" charset="-122"/>
                <a:cs typeface="Arial" pitchFamily="34" charset="-120"/>
              </a:rPr>
              <a:t>EXPORT CONTROLS</a:t>
            </a:r>
            <a:endParaRPr lang="en-US" sz="1150" dirty="0"/>
          </a:p>
        </p:txBody>
      </p:sp>
      <p:sp>
        <p:nvSpPr>
          <p:cNvPr id="9" name="Shape 7"/>
          <p:cNvSpPr/>
          <p:nvPr/>
        </p:nvSpPr>
        <p:spPr>
          <a:xfrm>
            <a:off x="457200" y="2194560"/>
            <a:ext cx="2560320" cy="3474720"/>
          </a:xfrm>
          <a:prstGeom prst="rect">
            <a:avLst/>
          </a:prstGeom>
          <a:solidFill>
            <a:srgbClr val="F9F9F9"/>
          </a:solidFill>
          <a:ln w="6350">
            <a:solidFill>
              <a:srgbClr val="E5E5E5"/>
            </a:solidFill>
            <a:prstDash val="solid"/>
          </a:ln>
        </p:spPr>
      </p:sp>
      <p:sp>
        <p:nvSpPr>
          <p:cNvPr id="10" name="Text 8"/>
          <p:cNvSpPr/>
          <p:nvPr/>
        </p:nvSpPr>
        <p:spPr>
          <a:xfrm>
            <a:off x="457200" y="2331720"/>
            <a:ext cx="2560320" cy="914400"/>
          </a:xfrm>
          <a:prstGeom prst="rect">
            <a:avLst/>
          </a:prstGeom>
          <a:noFill/>
          <a:ln/>
        </p:spPr>
        <p:txBody>
          <a:bodyPr wrap="square" lIns="0" tIns="0" rIns="0" bIns="0" rtlCol="0" anchor="ctr"/>
          <a:lstStyle/>
          <a:p>
            <a:pPr algn="ctr" indent="0" marL="0">
              <a:buNone/>
            </a:pPr>
            <a:r>
              <a:rPr lang="en-US" sz="4800" b="1" dirty="0">
                <a:solidFill>
                  <a:srgbClr val="CC0000"/>
                </a:solidFill>
                <a:latin typeface="Arial Black" pitchFamily="34" charset="0"/>
                <a:ea typeface="Arial Black" pitchFamily="34" charset="-122"/>
                <a:cs typeface="Arial Black" pitchFamily="34" charset="-120"/>
              </a:rPr>
              <a:t>▣</a:t>
            </a:r>
            <a:endParaRPr lang="en-US" sz="4800" dirty="0"/>
          </a:p>
        </p:txBody>
      </p:sp>
      <p:sp>
        <p:nvSpPr>
          <p:cNvPr id="11" name="Shape 9"/>
          <p:cNvSpPr/>
          <p:nvPr/>
        </p:nvSpPr>
        <p:spPr>
          <a:xfrm>
            <a:off x="822960" y="3291840"/>
            <a:ext cx="1828800" cy="0"/>
          </a:xfrm>
          <a:prstGeom prst="line">
            <a:avLst/>
          </a:prstGeom>
          <a:noFill/>
          <a:ln w="19050">
            <a:solidFill>
              <a:srgbClr val="CC0000"/>
            </a:solidFill>
            <a:prstDash val="solid"/>
          </a:ln>
        </p:spPr>
      </p:sp>
      <p:sp>
        <p:nvSpPr>
          <p:cNvPr id="12" name="Text 10"/>
          <p:cNvSpPr/>
          <p:nvPr/>
        </p:nvSpPr>
        <p:spPr>
          <a:xfrm>
            <a:off x="640080" y="3429000"/>
            <a:ext cx="2240280" cy="1874520"/>
          </a:xfrm>
          <a:prstGeom prst="rect">
            <a:avLst/>
          </a:prstGeom>
          <a:noFill/>
          <a:ln/>
        </p:spPr>
        <p:txBody>
          <a:bodyPr wrap="square" rtlCol="0" anchor="t"/>
          <a:lstStyle/>
          <a:p>
            <a:pPr marL="342900" indent="-342900">
              <a:spcAft>
                <a:spcPts val="500"/>
              </a:spcAft>
              <a:buSzPct val="100000"/>
              <a:buChar char="•"/>
            </a:pPr>
            <a:r>
              <a:rPr lang="en-US" sz="1000" dirty="0">
                <a:solidFill>
                  <a:srgbClr val="333333"/>
                </a:solidFill>
                <a:latin typeface="Arial" pitchFamily="34" charset="0"/>
                <a:ea typeface="Arial" pitchFamily="34" charset="-122"/>
                <a:cs typeface="Arial" pitchFamily="34" charset="-120"/>
              </a:rPr>
              <a:t>H100 / H200 / Blackwell banned from China.</a:t>
            </a:r>
            <a:pPr indent="0" marL="0">
              <a:spcAft>
                <a:spcPts val="500"/>
              </a:spcAft>
              <a:buNone/>
            </a:pPr>
            <a:r>
              <a:rPr lang="en-US" sz="700" baseline="30000" dirty="0">
                <a:solidFill>
                  <a:srgbClr val="333333"/>
                </a:solidFill>
                <a:latin typeface="Arial" pitchFamily="34" charset="0"/>
                <a:ea typeface="Arial" pitchFamily="34" charset="-122"/>
                <a:cs typeface="Arial" pitchFamily="34" charset="-120"/>
              </a:rPr>
              <a:t> 1</a:t>
            </a:r>
            <a:endParaRPr lang="en-US" sz="1000" dirty="0"/>
          </a:p>
          <a:p>
            <a:pPr marL="342900" indent="-342900">
              <a:spcAft>
                <a:spcPts val="500"/>
              </a:spcAft>
              <a:buSzPct val="100000"/>
              <a:buChar char="•"/>
            </a:pPr>
            <a:r>
              <a:rPr lang="en-US" sz="1000" dirty="0">
                <a:solidFill>
                  <a:srgbClr val="333333"/>
                </a:solidFill>
                <a:latin typeface="Arial" pitchFamily="34" charset="0"/>
                <a:ea typeface="Arial" pitchFamily="34" charset="-122"/>
                <a:cs typeface="Arial" pitchFamily="34" charset="-120"/>
              </a:rPr>
              <a:t>H20 reinstated with a 15% Treasury fee.</a:t>
            </a:r>
            <a:pPr indent="0" marL="0">
              <a:spcAft>
                <a:spcPts val="500"/>
              </a:spcAft>
              <a:buNone/>
            </a:pPr>
            <a:r>
              <a:rPr lang="en-US" sz="700" baseline="30000" dirty="0">
                <a:solidFill>
                  <a:srgbClr val="333333"/>
                </a:solidFill>
                <a:latin typeface="Arial" pitchFamily="34" charset="0"/>
                <a:ea typeface="Arial" pitchFamily="34" charset="-122"/>
                <a:cs typeface="Arial" pitchFamily="34" charset="-120"/>
              </a:rPr>
              <a:t> 2</a:t>
            </a:r>
            <a:endParaRPr lang="en-US" sz="1000" dirty="0"/>
          </a:p>
          <a:p>
            <a:pPr marL="342900" indent="-342900">
              <a:spcAft>
                <a:spcPts val="500"/>
              </a:spcAft>
              <a:buSzPct val="100000"/>
              <a:buChar char="•"/>
            </a:pPr>
            <a:r>
              <a:rPr lang="en-US" sz="1000" dirty="0">
                <a:solidFill>
                  <a:srgbClr val="333333"/>
                </a:solidFill>
                <a:latin typeface="Arial" pitchFamily="34" charset="0"/>
                <a:ea typeface="Arial" pitchFamily="34" charset="-122"/>
                <a:cs typeface="Arial" pitchFamily="34" charset="-120"/>
              </a:rPr>
              <a:t>$5.5B NVIDIA H20 writedown.</a:t>
            </a:r>
            <a:pPr indent="0" marL="0">
              <a:spcAft>
                <a:spcPts val="500"/>
              </a:spcAft>
              <a:buNone/>
            </a:pPr>
            <a:r>
              <a:rPr lang="en-US" sz="700" baseline="30000" dirty="0">
                <a:solidFill>
                  <a:srgbClr val="333333"/>
                </a:solidFill>
                <a:latin typeface="Arial" pitchFamily="34" charset="0"/>
                <a:ea typeface="Arial" pitchFamily="34" charset="-122"/>
                <a:cs typeface="Arial" pitchFamily="34" charset="-120"/>
              </a:rPr>
              <a:t> 3</a:t>
            </a:r>
            <a:endParaRPr lang="en-US" sz="1000" dirty="0"/>
          </a:p>
          <a:p>
            <a:pPr marL="342900" indent="-342900">
              <a:spcAft>
                <a:spcPts val="500"/>
              </a:spcAft>
              <a:buSzPct val="100000"/>
              <a:buChar char="•"/>
            </a:pPr>
            <a:r>
              <a:rPr lang="en-US" sz="1000" dirty="0">
                <a:solidFill>
                  <a:srgbClr val="333333"/>
                </a:solidFill>
                <a:latin typeface="Arial" pitchFamily="34" charset="0"/>
                <a:ea typeface="Arial" pitchFamily="34" charset="-122"/>
                <a:cs typeface="Arial" pitchFamily="34" charset="-120"/>
              </a:rPr>
              <a:t>ASML DUV banned; China ~20% of revenue.</a:t>
            </a:r>
            <a:pPr indent="0" marL="0">
              <a:spcAft>
                <a:spcPts val="500"/>
              </a:spcAft>
              <a:buNone/>
            </a:pPr>
            <a:r>
              <a:rPr lang="en-US" sz="700" baseline="30000" dirty="0">
                <a:solidFill>
                  <a:srgbClr val="333333"/>
                </a:solidFill>
                <a:latin typeface="Arial" pitchFamily="34" charset="0"/>
                <a:ea typeface="Arial" pitchFamily="34" charset="-122"/>
                <a:cs typeface="Arial" pitchFamily="34" charset="-120"/>
              </a:rPr>
              <a:t> 4</a:t>
            </a:r>
            <a:endParaRPr lang="en-US" sz="1000" dirty="0"/>
          </a:p>
        </p:txBody>
      </p:sp>
      <p:sp>
        <p:nvSpPr>
          <p:cNvPr id="13" name="Shape 11"/>
          <p:cNvSpPr/>
          <p:nvPr/>
        </p:nvSpPr>
        <p:spPr>
          <a:xfrm>
            <a:off x="3291840" y="1783080"/>
            <a:ext cx="2560320" cy="411480"/>
          </a:xfrm>
          <a:prstGeom prst="rect">
            <a:avLst/>
          </a:prstGeom>
          <a:solidFill>
            <a:srgbClr val="F6693D"/>
          </a:solidFill>
          <a:ln w="12700">
            <a:solidFill>
              <a:srgbClr val="F6693D"/>
            </a:solidFill>
            <a:prstDash val="solid"/>
          </a:ln>
        </p:spPr>
      </p:sp>
      <p:sp>
        <p:nvSpPr>
          <p:cNvPr id="14" name="Text 12"/>
          <p:cNvSpPr/>
          <p:nvPr/>
        </p:nvSpPr>
        <p:spPr>
          <a:xfrm>
            <a:off x="3291840" y="1783080"/>
            <a:ext cx="2560320" cy="411480"/>
          </a:xfrm>
          <a:prstGeom prst="rect">
            <a:avLst/>
          </a:prstGeom>
          <a:noFill/>
          <a:ln/>
        </p:spPr>
        <p:txBody>
          <a:bodyPr wrap="square" lIns="0" tIns="0" rIns="0" bIns="0" rtlCol="0" anchor="ctr"/>
          <a:lstStyle/>
          <a:p>
            <a:pPr algn="ctr" indent="0" marL="0">
              <a:buNone/>
            </a:pPr>
            <a:r>
              <a:rPr lang="en-US" sz="1150" b="1" spc="200" kern="0" dirty="0">
                <a:solidFill>
                  <a:srgbClr val="FFFFFF"/>
                </a:solidFill>
                <a:latin typeface="Arial" pitchFamily="34" charset="0"/>
                <a:ea typeface="Arial" pitchFamily="34" charset="-122"/>
                <a:cs typeface="Arial" pitchFamily="34" charset="-120"/>
              </a:rPr>
              <a:t>AI REGULATION</a:t>
            </a:r>
            <a:endParaRPr lang="en-US" sz="1150" dirty="0"/>
          </a:p>
        </p:txBody>
      </p:sp>
      <p:sp>
        <p:nvSpPr>
          <p:cNvPr id="15" name="Shape 13"/>
          <p:cNvSpPr/>
          <p:nvPr/>
        </p:nvSpPr>
        <p:spPr>
          <a:xfrm>
            <a:off x="3291840" y="2194560"/>
            <a:ext cx="2560320" cy="3474720"/>
          </a:xfrm>
          <a:prstGeom prst="rect">
            <a:avLst/>
          </a:prstGeom>
          <a:solidFill>
            <a:srgbClr val="F9F9F9"/>
          </a:solidFill>
          <a:ln w="6350">
            <a:solidFill>
              <a:srgbClr val="E5E5E5"/>
            </a:solidFill>
            <a:prstDash val="solid"/>
          </a:ln>
        </p:spPr>
      </p:sp>
      <p:sp>
        <p:nvSpPr>
          <p:cNvPr id="16" name="Text 14"/>
          <p:cNvSpPr/>
          <p:nvPr/>
        </p:nvSpPr>
        <p:spPr>
          <a:xfrm>
            <a:off x="3291840" y="2331720"/>
            <a:ext cx="2560320" cy="914400"/>
          </a:xfrm>
          <a:prstGeom prst="rect">
            <a:avLst/>
          </a:prstGeom>
          <a:noFill/>
          <a:ln/>
        </p:spPr>
        <p:txBody>
          <a:bodyPr wrap="square" lIns="0" tIns="0" rIns="0" bIns="0" rtlCol="0" anchor="ctr"/>
          <a:lstStyle/>
          <a:p>
            <a:pPr algn="ctr" indent="0" marL="0">
              <a:buNone/>
            </a:pPr>
            <a:r>
              <a:rPr lang="en-US" sz="4800" b="1" dirty="0">
                <a:solidFill>
                  <a:srgbClr val="F6693D"/>
                </a:solidFill>
                <a:latin typeface="Arial Black" pitchFamily="34" charset="0"/>
                <a:ea typeface="Arial Black" pitchFamily="34" charset="-122"/>
                <a:cs typeface="Arial Black" pitchFamily="34" charset="-120"/>
              </a:rPr>
              <a:t>§</a:t>
            </a:r>
            <a:endParaRPr lang="en-US" sz="4800" dirty="0"/>
          </a:p>
        </p:txBody>
      </p:sp>
      <p:sp>
        <p:nvSpPr>
          <p:cNvPr id="17" name="Shape 15"/>
          <p:cNvSpPr/>
          <p:nvPr/>
        </p:nvSpPr>
        <p:spPr>
          <a:xfrm>
            <a:off x="3657600" y="3291840"/>
            <a:ext cx="1828800" cy="0"/>
          </a:xfrm>
          <a:prstGeom prst="line">
            <a:avLst/>
          </a:prstGeom>
          <a:noFill/>
          <a:ln w="19050">
            <a:solidFill>
              <a:srgbClr val="F6693D"/>
            </a:solidFill>
            <a:prstDash val="solid"/>
          </a:ln>
        </p:spPr>
      </p:sp>
      <p:sp>
        <p:nvSpPr>
          <p:cNvPr id="18" name="Text 16"/>
          <p:cNvSpPr/>
          <p:nvPr/>
        </p:nvSpPr>
        <p:spPr>
          <a:xfrm>
            <a:off x="3474720" y="3429000"/>
            <a:ext cx="2240280" cy="1874520"/>
          </a:xfrm>
          <a:prstGeom prst="rect">
            <a:avLst/>
          </a:prstGeom>
          <a:noFill/>
          <a:ln/>
        </p:spPr>
        <p:txBody>
          <a:bodyPr wrap="square" rtlCol="0" anchor="t"/>
          <a:lstStyle/>
          <a:p>
            <a:pPr marL="342900" indent="-342900">
              <a:spcAft>
                <a:spcPts val="500"/>
              </a:spcAft>
              <a:buSzPct val="100000"/>
              <a:buChar char="•"/>
            </a:pPr>
            <a:r>
              <a:rPr lang="en-US" sz="1000" dirty="0">
                <a:solidFill>
                  <a:srgbClr val="333333"/>
                </a:solidFill>
                <a:latin typeface="Arial" pitchFamily="34" charset="0"/>
                <a:ea typeface="Arial" pitchFamily="34" charset="-122"/>
                <a:cs typeface="Arial" pitchFamily="34" charset="-120"/>
              </a:rPr>
              <a:t>EU AI Act enforcement: Aug 2, 2026.</a:t>
            </a:r>
            <a:pPr indent="0" marL="0">
              <a:spcAft>
                <a:spcPts val="500"/>
              </a:spcAft>
              <a:buNone/>
            </a:pPr>
            <a:r>
              <a:rPr lang="en-US" sz="700" baseline="30000" dirty="0">
                <a:solidFill>
                  <a:srgbClr val="333333"/>
                </a:solidFill>
                <a:latin typeface="Arial" pitchFamily="34" charset="0"/>
                <a:ea typeface="Arial" pitchFamily="34" charset="-122"/>
                <a:cs typeface="Arial" pitchFamily="34" charset="-120"/>
              </a:rPr>
              <a:t> 5</a:t>
            </a:r>
            <a:endParaRPr lang="en-US" sz="1000" dirty="0"/>
          </a:p>
          <a:p>
            <a:pPr marL="342900" indent="-342900">
              <a:spcAft>
                <a:spcPts val="500"/>
              </a:spcAft>
              <a:buSzPct val="100000"/>
              <a:buChar char="•"/>
            </a:pPr>
            <a:r>
              <a:rPr lang="en-US" sz="1000" dirty="0">
                <a:solidFill>
                  <a:srgbClr val="333333"/>
                </a:solidFill>
                <a:latin typeface="Arial" pitchFamily="34" charset="0"/>
                <a:ea typeface="Arial" pitchFamily="34" charset="-122"/>
                <a:cs typeface="Arial" pitchFamily="34" charset="-120"/>
              </a:rPr>
              <a:t>Fines up to €35M or 7% of global revenue.</a:t>
            </a:r>
            <a:pPr indent="0" marL="0">
              <a:spcAft>
                <a:spcPts val="500"/>
              </a:spcAft>
              <a:buNone/>
            </a:pPr>
            <a:r>
              <a:rPr lang="en-US" sz="700" baseline="30000" dirty="0">
                <a:solidFill>
                  <a:srgbClr val="333333"/>
                </a:solidFill>
                <a:latin typeface="Arial" pitchFamily="34" charset="0"/>
                <a:ea typeface="Arial" pitchFamily="34" charset="-122"/>
                <a:cs typeface="Arial" pitchFamily="34" charset="-120"/>
              </a:rPr>
              <a:t> 6</a:t>
            </a:r>
            <a:endParaRPr lang="en-US" sz="1000" dirty="0"/>
          </a:p>
          <a:p>
            <a:pPr marL="342900" indent="-342900">
              <a:spcAft>
                <a:spcPts val="500"/>
              </a:spcAft>
              <a:buSzPct val="100000"/>
              <a:buChar char="•"/>
            </a:pPr>
            <a:r>
              <a:rPr lang="en-US" sz="1000" dirty="0">
                <a:solidFill>
                  <a:srgbClr val="333333"/>
                </a:solidFill>
                <a:latin typeface="Arial" pitchFamily="34" charset="0"/>
                <a:ea typeface="Arial" pitchFamily="34" charset="-122"/>
                <a:cs typeface="Arial" pitchFamily="34" charset="-120"/>
              </a:rPr>
              <a:t>Initial compliance: $8–15M per system.</a:t>
            </a:r>
            <a:pPr indent="0" marL="0">
              <a:spcAft>
                <a:spcPts val="500"/>
              </a:spcAft>
              <a:buNone/>
            </a:pPr>
            <a:r>
              <a:rPr lang="en-US" sz="700" baseline="30000" dirty="0">
                <a:solidFill>
                  <a:srgbClr val="333333"/>
                </a:solidFill>
                <a:latin typeface="Arial" pitchFamily="34" charset="0"/>
                <a:ea typeface="Arial" pitchFamily="34" charset="-122"/>
                <a:cs typeface="Arial" pitchFamily="34" charset="-120"/>
              </a:rPr>
              <a:t> 7</a:t>
            </a:r>
            <a:endParaRPr lang="en-US" sz="1000" dirty="0"/>
          </a:p>
          <a:p>
            <a:pPr marL="342900" indent="-342900">
              <a:spcAft>
                <a:spcPts val="500"/>
              </a:spcAft>
              <a:buSzPct val="100000"/>
              <a:buChar char="•"/>
            </a:pPr>
            <a:r>
              <a:rPr lang="en-US" sz="1000" dirty="0">
                <a:solidFill>
                  <a:srgbClr val="333333"/>
                </a:solidFill>
                <a:latin typeface="Arial" pitchFamily="34" charset="0"/>
                <a:ea typeface="Arial" pitchFamily="34" charset="-122"/>
                <a:cs typeface="Arial" pitchFamily="34" charset="-120"/>
              </a:rPr>
              <a:t>Only 36% of enterprises feel prepared.</a:t>
            </a:r>
            <a:pPr indent="0" marL="0">
              <a:spcAft>
                <a:spcPts val="500"/>
              </a:spcAft>
              <a:buNone/>
            </a:pPr>
            <a:r>
              <a:rPr lang="en-US" sz="700" baseline="30000" dirty="0">
                <a:solidFill>
                  <a:srgbClr val="333333"/>
                </a:solidFill>
                <a:latin typeface="Arial" pitchFamily="34" charset="0"/>
                <a:ea typeface="Arial" pitchFamily="34" charset="-122"/>
                <a:cs typeface="Arial" pitchFamily="34" charset="-120"/>
              </a:rPr>
              <a:t> 8</a:t>
            </a:r>
            <a:endParaRPr lang="en-US" sz="1000" dirty="0"/>
          </a:p>
        </p:txBody>
      </p:sp>
      <p:sp>
        <p:nvSpPr>
          <p:cNvPr id="19" name="Shape 17"/>
          <p:cNvSpPr/>
          <p:nvPr/>
        </p:nvSpPr>
        <p:spPr>
          <a:xfrm>
            <a:off x="6126480" y="1783080"/>
            <a:ext cx="2560320" cy="411480"/>
          </a:xfrm>
          <a:prstGeom prst="rect">
            <a:avLst/>
          </a:prstGeom>
          <a:solidFill>
            <a:srgbClr val="FFB800"/>
          </a:solidFill>
          <a:ln w="12700">
            <a:solidFill>
              <a:srgbClr val="FFB800"/>
            </a:solidFill>
            <a:prstDash val="solid"/>
          </a:ln>
        </p:spPr>
      </p:sp>
      <p:sp>
        <p:nvSpPr>
          <p:cNvPr id="20" name="Text 18"/>
          <p:cNvSpPr/>
          <p:nvPr/>
        </p:nvSpPr>
        <p:spPr>
          <a:xfrm>
            <a:off x="6126480" y="1783080"/>
            <a:ext cx="2560320" cy="411480"/>
          </a:xfrm>
          <a:prstGeom prst="rect">
            <a:avLst/>
          </a:prstGeom>
          <a:noFill/>
          <a:ln/>
        </p:spPr>
        <p:txBody>
          <a:bodyPr wrap="square" lIns="0" tIns="0" rIns="0" bIns="0" rtlCol="0" anchor="ctr"/>
          <a:lstStyle/>
          <a:p>
            <a:pPr algn="ctr" indent="0" marL="0">
              <a:buNone/>
            </a:pPr>
            <a:r>
              <a:rPr lang="en-US" sz="1150" b="1" spc="200" kern="0" dirty="0">
                <a:solidFill>
                  <a:srgbClr val="FFFFFF"/>
                </a:solidFill>
                <a:latin typeface="Arial" pitchFamily="34" charset="0"/>
                <a:ea typeface="Arial" pitchFamily="34" charset="-122"/>
                <a:cs typeface="Arial" pitchFamily="34" charset="-120"/>
              </a:rPr>
              <a:t>TRADE &amp; RESHORING</a:t>
            </a:r>
            <a:endParaRPr lang="en-US" sz="1150" dirty="0"/>
          </a:p>
        </p:txBody>
      </p:sp>
      <p:sp>
        <p:nvSpPr>
          <p:cNvPr id="21" name="Shape 19"/>
          <p:cNvSpPr/>
          <p:nvPr/>
        </p:nvSpPr>
        <p:spPr>
          <a:xfrm>
            <a:off x="6126480" y="2194560"/>
            <a:ext cx="2560320" cy="3474720"/>
          </a:xfrm>
          <a:prstGeom prst="rect">
            <a:avLst/>
          </a:prstGeom>
          <a:solidFill>
            <a:srgbClr val="F9F9F9"/>
          </a:solidFill>
          <a:ln w="6350">
            <a:solidFill>
              <a:srgbClr val="E5E5E5"/>
            </a:solidFill>
            <a:prstDash val="solid"/>
          </a:ln>
        </p:spPr>
      </p:sp>
      <p:sp>
        <p:nvSpPr>
          <p:cNvPr id="22" name="Text 20"/>
          <p:cNvSpPr/>
          <p:nvPr/>
        </p:nvSpPr>
        <p:spPr>
          <a:xfrm>
            <a:off x="6126480" y="2331720"/>
            <a:ext cx="2560320" cy="914400"/>
          </a:xfrm>
          <a:prstGeom prst="rect">
            <a:avLst/>
          </a:prstGeom>
          <a:noFill/>
          <a:ln/>
        </p:spPr>
        <p:txBody>
          <a:bodyPr wrap="square" lIns="0" tIns="0" rIns="0" bIns="0" rtlCol="0" anchor="ctr"/>
          <a:lstStyle/>
          <a:p>
            <a:pPr algn="ctr" indent="0" marL="0">
              <a:buNone/>
            </a:pPr>
            <a:r>
              <a:rPr lang="en-US" sz="4800" b="1" dirty="0">
                <a:solidFill>
                  <a:srgbClr val="FFB800"/>
                </a:solidFill>
                <a:latin typeface="Arial Black" pitchFamily="34" charset="0"/>
                <a:ea typeface="Arial Black" pitchFamily="34" charset="-122"/>
                <a:cs typeface="Arial Black" pitchFamily="34" charset="-120"/>
              </a:rPr>
              <a:t>⚒</a:t>
            </a:r>
            <a:endParaRPr lang="en-US" sz="4800" dirty="0"/>
          </a:p>
        </p:txBody>
      </p:sp>
      <p:sp>
        <p:nvSpPr>
          <p:cNvPr id="23" name="Shape 21"/>
          <p:cNvSpPr/>
          <p:nvPr/>
        </p:nvSpPr>
        <p:spPr>
          <a:xfrm>
            <a:off x="6492240" y="3291840"/>
            <a:ext cx="1828800" cy="0"/>
          </a:xfrm>
          <a:prstGeom prst="line">
            <a:avLst/>
          </a:prstGeom>
          <a:noFill/>
          <a:ln w="19050">
            <a:solidFill>
              <a:srgbClr val="FFB800"/>
            </a:solidFill>
            <a:prstDash val="solid"/>
          </a:ln>
        </p:spPr>
      </p:sp>
      <p:sp>
        <p:nvSpPr>
          <p:cNvPr id="24" name="Text 22"/>
          <p:cNvSpPr/>
          <p:nvPr/>
        </p:nvSpPr>
        <p:spPr>
          <a:xfrm>
            <a:off x="6309360" y="3429000"/>
            <a:ext cx="2240280" cy="1874520"/>
          </a:xfrm>
          <a:prstGeom prst="rect">
            <a:avLst/>
          </a:prstGeom>
          <a:noFill/>
          <a:ln/>
        </p:spPr>
        <p:txBody>
          <a:bodyPr wrap="square" rtlCol="0" anchor="t"/>
          <a:lstStyle/>
          <a:p>
            <a:pPr marL="342900" indent="-342900">
              <a:spcAft>
                <a:spcPts val="500"/>
              </a:spcAft>
              <a:buSzPct val="100000"/>
              <a:buChar char="•"/>
            </a:pPr>
            <a:r>
              <a:rPr lang="en-US" sz="1000" dirty="0">
                <a:solidFill>
                  <a:srgbClr val="333333"/>
                </a:solidFill>
                <a:latin typeface="Arial" pitchFamily="34" charset="0"/>
                <a:ea typeface="Arial" pitchFamily="34" charset="-122"/>
                <a:cs typeface="Arial" pitchFamily="34" charset="-120"/>
              </a:rPr>
              <a:t>CHIPS Act: ~$36B committed of $52.7B.</a:t>
            </a:r>
            <a:pPr indent="0" marL="0">
              <a:spcAft>
                <a:spcPts val="500"/>
              </a:spcAft>
              <a:buNone/>
            </a:pPr>
            <a:r>
              <a:rPr lang="en-US" sz="700" baseline="30000" dirty="0">
                <a:solidFill>
                  <a:srgbClr val="333333"/>
                </a:solidFill>
                <a:latin typeface="Arial" pitchFamily="34" charset="0"/>
                <a:ea typeface="Arial" pitchFamily="34" charset="-122"/>
                <a:cs typeface="Arial" pitchFamily="34" charset="-120"/>
              </a:rPr>
              <a:t> 9</a:t>
            </a:r>
            <a:endParaRPr lang="en-US" sz="1000" dirty="0"/>
          </a:p>
          <a:p>
            <a:pPr marL="342900" indent="-342900">
              <a:spcAft>
                <a:spcPts val="500"/>
              </a:spcAft>
              <a:buSzPct val="100000"/>
              <a:buChar char="•"/>
            </a:pPr>
            <a:r>
              <a:rPr lang="en-US" sz="1000" dirty="0">
                <a:solidFill>
                  <a:srgbClr val="333333"/>
                </a:solidFill>
                <a:latin typeface="Arial" pitchFamily="34" charset="0"/>
                <a:ea typeface="Arial" pitchFamily="34" charset="-122"/>
                <a:cs typeface="Arial" pitchFamily="34" charset="-120"/>
              </a:rPr>
              <a:t>China controls ~90% of rare-earth processing.</a:t>
            </a:r>
            <a:pPr indent="0" marL="0">
              <a:spcAft>
                <a:spcPts val="500"/>
              </a:spcAft>
              <a:buNone/>
            </a:pPr>
            <a:r>
              <a:rPr lang="en-US" sz="700" baseline="30000" dirty="0">
                <a:solidFill>
                  <a:srgbClr val="333333"/>
                </a:solidFill>
                <a:latin typeface="Arial" pitchFamily="34" charset="0"/>
                <a:ea typeface="Arial" pitchFamily="34" charset="-122"/>
                <a:cs typeface="Arial" pitchFamily="34" charset="-120"/>
              </a:rPr>
              <a:t> 10</a:t>
            </a:r>
            <a:endParaRPr lang="en-US" sz="1000" dirty="0"/>
          </a:p>
          <a:p>
            <a:pPr marL="342900" indent="-342900">
              <a:spcAft>
                <a:spcPts val="500"/>
              </a:spcAft>
              <a:buSzPct val="100000"/>
              <a:buChar char="•"/>
            </a:pPr>
            <a:r>
              <a:rPr lang="en-US" sz="1000" dirty="0">
                <a:solidFill>
                  <a:srgbClr val="333333"/>
                </a:solidFill>
                <a:latin typeface="Arial" pitchFamily="34" charset="0"/>
                <a:ea typeface="Arial" pitchFamily="34" charset="-122"/>
                <a:cs typeface="Arial" pitchFamily="34" charset="-120"/>
              </a:rPr>
              <a:t>Gallium / germanium controls since Jul 2023.</a:t>
            </a:r>
            <a:pPr indent="0" marL="0">
              <a:spcAft>
                <a:spcPts val="500"/>
              </a:spcAft>
              <a:buNone/>
            </a:pPr>
            <a:r>
              <a:rPr lang="en-US" sz="700" baseline="30000" dirty="0">
                <a:solidFill>
                  <a:srgbClr val="333333"/>
                </a:solidFill>
                <a:latin typeface="Arial" pitchFamily="34" charset="0"/>
                <a:ea typeface="Arial" pitchFamily="34" charset="-122"/>
                <a:cs typeface="Arial" pitchFamily="34" charset="-120"/>
              </a:rPr>
              <a:t> 11</a:t>
            </a:r>
            <a:endParaRPr lang="en-US" sz="1000" dirty="0"/>
          </a:p>
          <a:p>
            <a:pPr marL="342900" indent="-342900">
              <a:spcAft>
                <a:spcPts val="500"/>
              </a:spcAft>
              <a:buSzPct val="100000"/>
              <a:buChar char="•"/>
            </a:pPr>
            <a:r>
              <a:rPr lang="en-US" sz="1000" dirty="0">
                <a:solidFill>
                  <a:srgbClr val="333333"/>
                </a:solidFill>
                <a:latin typeface="Arial" pitchFamily="34" charset="0"/>
                <a:ea typeface="Arial" pitchFamily="34" charset="-122"/>
                <a:cs typeface="Arial" pitchFamily="34" charset="-120"/>
              </a:rPr>
              <a:t>SMIC 5nm yield ~20% vs &gt;70% threshold.</a:t>
            </a:r>
            <a:pPr indent="0" marL="0">
              <a:spcAft>
                <a:spcPts val="500"/>
              </a:spcAft>
              <a:buNone/>
            </a:pPr>
            <a:r>
              <a:rPr lang="en-US" sz="700" baseline="30000" dirty="0">
                <a:solidFill>
                  <a:srgbClr val="333333"/>
                </a:solidFill>
                <a:latin typeface="Arial" pitchFamily="34" charset="0"/>
                <a:ea typeface="Arial" pitchFamily="34" charset="-122"/>
                <a:cs typeface="Arial" pitchFamily="34" charset="-120"/>
              </a:rPr>
              <a:t> 12</a:t>
            </a:r>
            <a:endParaRPr lang="en-US" sz="1000" dirty="0"/>
          </a:p>
        </p:txBody>
      </p:sp>
      <p:sp>
        <p:nvSpPr>
          <p:cNvPr id="25" name="Text 23"/>
          <p:cNvSpPr/>
          <p:nvPr/>
        </p:nvSpPr>
        <p:spPr>
          <a:xfrm>
            <a:off x="457200" y="5875020"/>
            <a:ext cx="8229600" cy="457200"/>
          </a:xfrm>
          <a:prstGeom prst="rect">
            <a:avLst/>
          </a:prstGeom>
          <a:noFill/>
          <a:ln/>
        </p:spPr>
        <p:txBody>
          <a:bodyPr wrap="square" lIns="0" tIns="0" rIns="0" bIns="0" rtlCol="0" anchor="t"/>
          <a:lstStyle/>
          <a:p>
            <a:pPr indent="0" marL="0">
              <a:buNone/>
            </a:pPr>
            <a:r>
              <a:rPr lang="en-US" sz="700" b="1" dirty="0">
                <a:solidFill>
                  <a:srgbClr val="999999"/>
                </a:solidFill>
                <a:latin typeface="Arial" pitchFamily="34" charset="0"/>
                <a:ea typeface="Arial" pitchFamily="34" charset="-122"/>
                <a:cs typeface="Arial" pitchFamily="34" charset="-120"/>
              </a:rPr>
              <a:t>(1) </a:t>
            </a:r>
            <a:pPr indent="0" marL="0">
              <a:buNone/>
            </a:pPr>
            <a:r>
              <a:rPr lang="en-US" sz="700" dirty="0">
                <a:solidFill>
                  <a:srgbClr val="999999"/>
                </a:solidFill>
                <a:latin typeface="Arial" pitchFamily="34" charset="0"/>
                <a:ea typeface="Arial" pitchFamily="34" charset="-122"/>
                <a:cs typeface="Arial" pitchFamily="34" charset="-120"/>
              </a:rPr>
              <a:t>US BIS export rules, 2023–25, </a:t>
            </a:r>
            <a:pPr indent="0" marL="0">
              <a:buNone/>
            </a:pPr>
            <a:r>
              <a:rPr lang="en-US" sz="700" b="1" dirty="0">
                <a:solidFill>
                  <a:srgbClr val="999999"/>
                </a:solidFill>
                <a:latin typeface="Arial" pitchFamily="34" charset="0"/>
                <a:ea typeface="Arial" pitchFamily="34" charset="-122"/>
                <a:cs typeface="Arial" pitchFamily="34" charset="-120"/>
              </a:rPr>
              <a:t>(2) </a:t>
            </a:r>
            <a:pPr indent="0" marL="0">
              <a:buNone/>
            </a:pPr>
            <a:r>
              <a:rPr lang="en-US" sz="700" dirty="0">
                <a:solidFill>
                  <a:srgbClr val="999999"/>
                </a:solidFill>
                <a:latin typeface="Arial" pitchFamily="34" charset="0"/>
                <a:ea typeface="Arial" pitchFamily="34" charset="-122"/>
                <a:cs typeface="Arial" pitchFamily="34" charset="-120"/>
              </a:rPr>
              <a:t>US Treasury / NVIDIA, Jul 2025, </a:t>
            </a:r>
            <a:pPr indent="0" marL="0">
              <a:buNone/>
            </a:pPr>
            <a:r>
              <a:rPr lang="en-US" sz="700" b="1" dirty="0">
                <a:solidFill>
                  <a:srgbClr val="999999"/>
                </a:solidFill>
                <a:latin typeface="Arial" pitchFamily="34" charset="0"/>
                <a:ea typeface="Arial" pitchFamily="34" charset="-122"/>
                <a:cs typeface="Arial" pitchFamily="34" charset="-120"/>
              </a:rPr>
              <a:t>(3) </a:t>
            </a:r>
            <a:pPr indent="0" marL="0">
              <a:buNone/>
            </a:pPr>
            <a:r>
              <a:rPr lang="en-US" sz="700" dirty="0">
                <a:solidFill>
                  <a:srgbClr val="999999"/>
                </a:solidFill>
                <a:latin typeface="Arial" pitchFamily="34" charset="0"/>
                <a:ea typeface="Arial" pitchFamily="34" charset="-122"/>
                <a:cs typeface="Arial" pitchFamily="34" charset="-120"/>
              </a:rPr>
              <a:t>NVIDIA 10-Q, FY26 Q1, </a:t>
            </a:r>
            <a:pPr indent="0" marL="0">
              <a:buNone/>
            </a:pPr>
            <a:r>
              <a:rPr lang="en-US" sz="700" b="1" dirty="0">
                <a:solidFill>
                  <a:srgbClr val="999999"/>
                </a:solidFill>
                <a:latin typeface="Arial" pitchFamily="34" charset="0"/>
                <a:ea typeface="Arial" pitchFamily="34" charset="-122"/>
                <a:cs typeface="Arial" pitchFamily="34" charset="-120"/>
              </a:rPr>
              <a:t>(4) </a:t>
            </a:r>
            <a:pPr indent="0" marL="0">
              <a:buNone/>
            </a:pPr>
            <a:r>
              <a:rPr lang="en-US" sz="700" dirty="0">
                <a:solidFill>
                  <a:srgbClr val="999999"/>
                </a:solidFill>
                <a:latin typeface="Arial" pitchFamily="34" charset="0"/>
                <a:ea typeface="Arial" pitchFamily="34" charset="-122"/>
                <a:cs typeface="Arial" pitchFamily="34" charset="-120"/>
              </a:rPr>
              <a:t>ASML 2025 annual report, </a:t>
            </a:r>
            <a:pPr indent="0" marL="0">
              <a:buNone/>
            </a:pPr>
            <a:r>
              <a:rPr lang="en-US" sz="700" b="1" dirty="0">
                <a:solidFill>
                  <a:srgbClr val="999999"/>
                </a:solidFill>
                <a:latin typeface="Arial" pitchFamily="34" charset="0"/>
                <a:ea typeface="Arial" pitchFamily="34" charset="-122"/>
                <a:cs typeface="Arial" pitchFamily="34" charset="-120"/>
              </a:rPr>
              <a:t>(5) </a:t>
            </a:r>
            <a:pPr indent="0" marL="0">
              <a:buNone/>
            </a:pPr>
            <a:r>
              <a:rPr lang="en-US" sz="700" dirty="0">
                <a:solidFill>
                  <a:srgbClr val="999999"/>
                </a:solidFill>
                <a:latin typeface="Arial" pitchFamily="34" charset="0"/>
                <a:ea typeface="Arial" pitchFamily="34" charset="-122"/>
                <a:cs typeface="Arial" pitchFamily="34" charset="-120"/>
              </a:rPr>
              <a:t>EU AI Act, Article 99, </a:t>
            </a:r>
            <a:pPr indent="0" marL="0">
              <a:buNone/>
            </a:pPr>
            <a:r>
              <a:rPr lang="en-US" sz="700" b="1" dirty="0">
                <a:solidFill>
                  <a:srgbClr val="999999"/>
                </a:solidFill>
                <a:latin typeface="Arial" pitchFamily="34" charset="0"/>
                <a:ea typeface="Arial" pitchFamily="34" charset="-122"/>
                <a:cs typeface="Arial" pitchFamily="34" charset="-120"/>
              </a:rPr>
              <a:t>(6) </a:t>
            </a:r>
            <a:pPr indent="0" marL="0">
              <a:buNone/>
            </a:pPr>
            <a:r>
              <a:rPr lang="en-US" sz="700" dirty="0">
                <a:solidFill>
                  <a:srgbClr val="999999"/>
                </a:solidFill>
                <a:latin typeface="Arial" pitchFamily="34" charset="0"/>
                <a:ea typeface="Arial" pitchFamily="34" charset="-122"/>
                <a:cs typeface="Arial" pitchFamily="34" charset="-120"/>
              </a:rPr>
              <a:t>EU AI Act, Article 99, </a:t>
            </a:r>
            <a:pPr indent="0" marL="0">
              <a:buNone/>
            </a:pPr>
            <a:r>
              <a:rPr lang="en-US" sz="700" b="1" dirty="0">
                <a:solidFill>
                  <a:srgbClr val="999999"/>
                </a:solidFill>
                <a:latin typeface="Arial" pitchFamily="34" charset="0"/>
                <a:ea typeface="Arial" pitchFamily="34" charset="-122"/>
                <a:cs typeface="Arial" pitchFamily="34" charset="-120"/>
              </a:rPr>
              <a:t>(7) </a:t>
            </a:r>
            <a:pPr indent="0" marL="0">
              <a:buNone/>
            </a:pPr>
            <a:r>
              <a:rPr lang="en-US" sz="700" dirty="0">
                <a:solidFill>
                  <a:srgbClr val="999999"/>
                </a:solidFill>
                <a:latin typeface="Arial" pitchFamily="34" charset="0"/>
                <a:ea typeface="Arial" pitchFamily="34" charset="-122"/>
                <a:cs typeface="Arial" pitchFamily="34" charset="-120"/>
              </a:rPr>
              <a:t>EU Commission / law firm analyses, 2025, </a:t>
            </a:r>
            <a:pPr indent="0" marL="0">
              <a:buNone/>
            </a:pPr>
            <a:r>
              <a:rPr lang="en-US" sz="700" b="1" dirty="0">
                <a:solidFill>
                  <a:srgbClr val="999999"/>
                </a:solidFill>
                <a:latin typeface="Arial" pitchFamily="34" charset="0"/>
                <a:ea typeface="Arial" pitchFamily="34" charset="-122"/>
                <a:cs typeface="Arial" pitchFamily="34" charset="-120"/>
              </a:rPr>
              <a:t>(8) </a:t>
            </a:r>
            <a:pPr indent="0" marL="0">
              <a:buNone/>
            </a:pPr>
            <a:r>
              <a:rPr lang="en-US" sz="700" dirty="0">
                <a:solidFill>
                  <a:srgbClr val="999999"/>
                </a:solidFill>
                <a:latin typeface="Arial" pitchFamily="34" charset="0"/>
                <a:ea typeface="Arial" pitchFamily="34" charset="-122"/>
                <a:cs typeface="Arial" pitchFamily="34" charset="-120"/>
              </a:rPr>
              <a:t>Gartner enterprise AI readiness, 2026, </a:t>
            </a:r>
            <a:pPr indent="0" marL="0">
              <a:buNone/>
            </a:pPr>
            <a:r>
              <a:rPr lang="en-US" sz="700" b="1" dirty="0">
                <a:solidFill>
                  <a:srgbClr val="999999"/>
                </a:solidFill>
                <a:latin typeface="Arial" pitchFamily="34" charset="0"/>
                <a:ea typeface="Arial" pitchFamily="34" charset="-122"/>
                <a:cs typeface="Arial" pitchFamily="34" charset="-120"/>
              </a:rPr>
              <a:t>(9) </a:t>
            </a:r>
            <a:pPr indent="0" marL="0">
              <a:buNone/>
            </a:pPr>
            <a:r>
              <a:rPr lang="en-US" sz="700" dirty="0">
                <a:solidFill>
                  <a:srgbClr val="999999"/>
                </a:solidFill>
                <a:latin typeface="Arial" pitchFamily="34" charset="0"/>
                <a:ea typeface="Arial" pitchFamily="34" charset="-122"/>
                <a:cs typeface="Arial" pitchFamily="34" charset="-120"/>
              </a:rPr>
              <a:t>US Commerce Dept CHIPS Office, Nov 2025, </a:t>
            </a:r>
            <a:pPr indent="0" marL="0">
              <a:buNone/>
            </a:pPr>
            <a:r>
              <a:rPr lang="en-US" sz="700" b="1" dirty="0">
                <a:solidFill>
                  <a:srgbClr val="999999"/>
                </a:solidFill>
                <a:latin typeface="Arial" pitchFamily="34" charset="0"/>
                <a:ea typeface="Arial" pitchFamily="34" charset="-122"/>
                <a:cs typeface="Arial" pitchFamily="34" charset="-120"/>
              </a:rPr>
              <a:t>(10) </a:t>
            </a:r>
            <a:pPr indent="0" marL="0">
              <a:buNone/>
            </a:pPr>
            <a:r>
              <a:rPr lang="en-US" sz="700" dirty="0">
                <a:solidFill>
                  <a:srgbClr val="999999"/>
                </a:solidFill>
                <a:latin typeface="Arial" pitchFamily="34" charset="0"/>
                <a:ea typeface="Arial" pitchFamily="34" charset="-122"/>
                <a:cs typeface="Arial" pitchFamily="34" charset="-120"/>
              </a:rPr>
              <a:t>IEA / USGS rare-earth reports, 2025, </a:t>
            </a:r>
            <a:pPr indent="0" marL="0">
              <a:buNone/>
            </a:pPr>
            <a:r>
              <a:rPr lang="en-US" sz="700" b="1" dirty="0">
                <a:solidFill>
                  <a:srgbClr val="999999"/>
                </a:solidFill>
                <a:latin typeface="Arial" pitchFamily="34" charset="0"/>
                <a:ea typeface="Arial" pitchFamily="34" charset="-122"/>
                <a:cs typeface="Arial" pitchFamily="34" charset="-120"/>
              </a:rPr>
              <a:t>(11) </a:t>
            </a:r>
            <a:pPr indent="0" marL="0">
              <a:buNone/>
            </a:pPr>
            <a:r>
              <a:rPr lang="en-US" sz="700" dirty="0">
                <a:solidFill>
                  <a:srgbClr val="999999"/>
                </a:solidFill>
                <a:latin typeface="Arial" pitchFamily="34" charset="0"/>
                <a:ea typeface="Arial" pitchFamily="34" charset="-122"/>
                <a:cs typeface="Arial" pitchFamily="34" charset="-120"/>
              </a:rPr>
              <a:t>China MOFCOM, Jul 2023, </a:t>
            </a:r>
            <a:pPr indent="0" marL="0">
              <a:buNone/>
            </a:pPr>
            <a:r>
              <a:rPr lang="en-US" sz="700" b="1" dirty="0">
                <a:solidFill>
                  <a:srgbClr val="999999"/>
                </a:solidFill>
                <a:latin typeface="Arial" pitchFamily="34" charset="0"/>
                <a:ea typeface="Arial" pitchFamily="34" charset="-122"/>
                <a:cs typeface="Arial" pitchFamily="34" charset="-120"/>
              </a:rPr>
              <a:t>(12) </a:t>
            </a:r>
            <a:pPr indent="0" marL="0">
              <a:buNone/>
            </a:pPr>
            <a:r>
              <a:rPr lang="en-US" sz="700" dirty="0">
                <a:solidFill>
                  <a:srgbClr val="999999"/>
                </a:solidFill>
                <a:latin typeface="Arial" pitchFamily="34" charset="0"/>
                <a:ea typeface="Arial" pitchFamily="34" charset="-122"/>
                <a:cs typeface="Arial" pitchFamily="34" charset="-120"/>
              </a:rPr>
              <a:t>TechInsights / trade press, 2025–26.</a:t>
            </a:r>
            <a:endParaRPr lang="en-US" sz="700" dirty="0"/>
          </a:p>
        </p:txBody>
      </p:sp>
      <p:sp>
        <p:nvSpPr>
          <p:cNvPr id="26" name="Shape 24"/>
          <p:cNvSpPr/>
          <p:nvPr/>
        </p:nvSpPr>
        <p:spPr>
          <a:xfrm>
            <a:off x="0" y="6286500"/>
            <a:ext cx="9144000" cy="571500"/>
          </a:xfrm>
          <a:prstGeom prst="rect">
            <a:avLst/>
          </a:prstGeom>
          <a:solidFill>
            <a:srgbClr val="000000"/>
          </a:solidFill>
          <a:ln w="12700">
            <a:solidFill>
              <a:srgbClr val="000000"/>
            </a:solidFill>
            <a:prstDash val="solid"/>
          </a:ln>
        </p:spPr>
      </p:sp>
      <p:sp>
        <p:nvSpPr>
          <p:cNvPr id="27" name="Text 25"/>
          <p:cNvSpPr/>
          <p:nvPr/>
        </p:nvSpPr>
        <p:spPr>
          <a:xfrm>
            <a:off x="1371600" y="6332220"/>
            <a:ext cx="6400800" cy="45720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28" name="Text 26"/>
          <p:cNvSpPr/>
          <p:nvPr/>
        </p:nvSpPr>
        <p:spPr>
          <a:xfrm>
            <a:off x="8321040" y="6405372"/>
            <a:ext cx="548640" cy="27432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CC0000"/>
          </a:solidFill>
          <a:ln w="12700">
            <a:solidFill>
              <a:srgbClr val="CC0000"/>
            </a:solidFill>
            <a:prstDash val="solid"/>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Arial" pitchFamily="34" charset="0"/>
                <a:ea typeface="Arial" pitchFamily="34" charset="-122"/>
                <a:cs typeface="Arial" pitchFamily="34" charset="-120"/>
              </a:rPr>
              <a:t>RISKS</a:t>
            </a:r>
            <a:endParaRPr lang="en-US" sz="1000" dirty="0"/>
          </a:p>
        </p:txBody>
      </p:sp>
      <p:sp>
        <p:nvSpPr>
          <p:cNvPr id="4" name="Text 2"/>
          <p:cNvSpPr/>
          <p:nvPr/>
        </p:nvSpPr>
        <p:spPr>
          <a:xfrm>
            <a:off x="457200" y="182880"/>
            <a:ext cx="6583680" cy="685800"/>
          </a:xfrm>
          <a:prstGeom prst="rect">
            <a:avLst/>
          </a:prstGeom>
          <a:noFill/>
          <a:ln/>
        </p:spPr>
        <p:txBody>
          <a:bodyPr wrap="square" lIns="0" tIns="0" rIns="0" bIns="0" rtlCol="0" anchor="t"/>
          <a:lstStyle/>
          <a:p>
            <a:pPr indent="0" marL="0">
              <a:buNone/>
            </a:pPr>
            <a:r>
              <a:rPr lang="en-US" sz="2400" b="1" dirty="0">
                <a:solidFill>
                  <a:srgbClr val="000000"/>
                </a:solidFill>
                <a:latin typeface="Arial Black" pitchFamily="34" charset="0"/>
                <a:ea typeface="Arial Black" pitchFamily="34" charset="-122"/>
                <a:cs typeface="Arial Black" pitchFamily="34" charset="-120"/>
              </a:rPr>
              <a:t>Communities, voters, and labor are pricing the AI infrastructure bet lower</a:t>
            </a:r>
            <a:endParaRPr lang="en-US" sz="2400" dirty="0"/>
          </a:p>
        </p:txBody>
      </p:sp>
      <p:sp>
        <p:nvSpPr>
          <p:cNvPr id="5" name="Text 3"/>
          <p:cNvSpPr/>
          <p:nvPr/>
        </p:nvSpPr>
        <p:spPr>
          <a:xfrm>
            <a:off x="457200" y="91440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NIMBY revolt, anti-AI sentiment, and a labor shortage are each capable of pricing the infrastructure bet lower.</a:t>
            </a:r>
            <a:endParaRPr lang="en-US" sz="1350" dirty="0"/>
          </a:p>
        </p:txBody>
      </p:sp>
      <p:sp>
        <p:nvSpPr>
          <p:cNvPr id="6" name="Shape 4"/>
          <p:cNvSpPr/>
          <p:nvPr/>
        </p:nvSpPr>
        <p:spPr>
          <a:xfrm>
            <a:off x="457200" y="1325880"/>
            <a:ext cx="8229600" cy="0"/>
          </a:xfrm>
          <a:prstGeom prst="line">
            <a:avLst/>
          </a:prstGeom>
          <a:noFill/>
          <a:ln w="9525">
            <a:solidFill>
              <a:srgbClr val="E5E5E5"/>
            </a:solidFill>
            <a:prstDash val="solid"/>
          </a:ln>
        </p:spPr>
      </p:sp>
      <p:sp>
        <p:nvSpPr>
          <p:cNvPr id="7" name="Shape 5"/>
          <p:cNvSpPr/>
          <p:nvPr/>
        </p:nvSpPr>
        <p:spPr>
          <a:xfrm>
            <a:off x="457200" y="1691640"/>
            <a:ext cx="3200400" cy="3200400"/>
          </a:xfrm>
          <a:prstGeom prst="rect">
            <a:avLst/>
          </a:prstGeom>
          <a:solidFill>
            <a:srgbClr val="EEEEEE"/>
          </a:solidFill>
          <a:ln w="9525">
            <a:solidFill>
              <a:srgbClr val="BBBBBB"/>
            </a:solidFill>
            <a:prstDash val="dash"/>
          </a:ln>
        </p:spPr>
      </p:sp>
      <p:sp>
        <p:nvSpPr>
          <p:cNvPr id="8" name="Text 6"/>
          <p:cNvSpPr/>
          <p:nvPr/>
        </p:nvSpPr>
        <p:spPr>
          <a:xfrm>
            <a:off x="548640" y="1691640"/>
            <a:ext cx="3017520" cy="3200400"/>
          </a:xfrm>
          <a:prstGeom prst="rect">
            <a:avLst/>
          </a:prstGeom>
          <a:noFill/>
          <a:ln/>
        </p:spPr>
        <p:txBody>
          <a:bodyPr wrap="square" lIns="0" tIns="0" rIns="0" bIns="0" rtlCol="0" anchor="ctr"/>
          <a:lstStyle/>
          <a:p>
            <a:pPr algn="ctr" indent="0" marL="0">
              <a:buNone/>
            </a:pPr>
            <a:r>
              <a:rPr lang="en-US" sz="1000" i="1" dirty="0">
                <a:solidFill>
                  <a:srgbClr val="888888"/>
                </a:solidFill>
                <a:latin typeface="Arial" pitchFamily="34" charset="0"/>
                <a:ea typeface="Arial" pitchFamily="34" charset="-122"/>
                <a:cs typeface="Arial" pitchFamily="34" charset="-120"/>
              </a:rPr>
              <a:t>IMAGE: Photojournalism — 'STOP THE AI RACE' hand-lettered protest signs at a dusk rally, shoulder-height crowd POV, warm golden-hour sky, faces in shadow, signs in sharp focus, square</a:t>
            </a:r>
            <a:endParaRPr lang="en-US" sz="1000" dirty="0"/>
          </a:p>
        </p:txBody>
      </p:sp>
      <p:sp>
        <p:nvSpPr>
          <p:cNvPr id="9" name="Text 7"/>
          <p:cNvSpPr/>
          <p:nvPr/>
        </p:nvSpPr>
        <p:spPr>
          <a:xfrm>
            <a:off x="3886200" y="1783080"/>
            <a:ext cx="4800600" cy="685800"/>
          </a:xfrm>
          <a:prstGeom prst="rect">
            <a:avLst/>
          </a:prstGeom>
          <a:noFill/>
          <a:ln/>
        </p:spPr>
        <p:txBody>
          <a:bodyPr wrap="square" lIns="0" tIns="0" rIns="0" bIns="0" rtlCol="0" anchor="t"/>
          <a:lstStyle/>
          <a:p>
            <a:pPr indent="0" marL="0">
              <a:buNone/>
            </a:pPr>
            <a:r>
              <a:rPr lang="en-US" sz="1150" dirty="0">
                <a:solidFill>
                  <a:srgbClr val="666666"/>
                </a:solidFill>
                <a:latin typeface="Arial" pitchFamily="34" charset="0"/>
                <a:ea typeface="Arial" pitchFamily="34" charset="-122"/>
                <a:cs typeface="Arial" pitchFamily="34" charset="-120"/>
              </a:rPr>
              <a:t>Three forces now price the AI infrastructure bet lower: communities blocking the builds, voters souring on the technology, and a shortage of the skilled workers who wire it all up.</a:t>
            </a:r>
            <a:endParaRPr lang="en-US" sz="1150" dirty="0"/>
          </a:p>
        </p:txBody>
      </p:sp>
      <p:sp>
        <p:nvSpPr>
          <p:cNvPr id="10" name="Shape 8"/>
          <p:cNvSpPr/>
          <p:nvPr/>
        </p:nvSpPr>
        <p:spPr>
          <a:xfrm>
            <a:off x="3886200" y="2514600"/>
            <a:ext cx="4800600" cy="868680"/>
          </a:xfrm>
          <a:prstGeom prst="rect">
            <a:avLst/>
          </a:prstGeom>
          <a:solidFill>
            <a:srgbClr val="F9F9F9"/>
          </a:solidFill>
          <a:ln w="6350">
            <a:solidFill>
              <a:srgbClr val="E5E5E5"/>
            </a:solidFill>
            <a:prstDash val="solid"/>
          </a:ln>
        </p:spPr>
      </p:sp>
      <p:sp>
        <p:nvSpPr>
          <p:cNvPr id="11" name="Shape 9"/>
          <p:cNvSpPr/>
          <p:nvPr/>
        </p:nvSpPr>
        <p:spPr>
          <a:xfrm>
            <a:off x="3886200" y="2514600"/>
            <a:ext cx="4800600" cy="292608"/>
          </a:xfrm>
          <a:prstGeom prst="rect">
            <a:avLst/>
          </a:prstGeom>
          <a:solidFill>
            <a:srgbClr val="CC0000"/>
          </a:solidFill>
          <a:ln w="12700">
            <a:solidFill>
              <a:srgbClr val="CC0000"/>
            </a:solidFill>
            <a:prstDash val="solid"/>
          </a:ln>
        </p:spPr>
      </p:sp>
      <p:sp>
        <p:nvSpPr>
          <p:cNvPr id="12" name="Text 10"/>
          <p:cNvSpPr/>
          <p:nvPr/>
        </p:nvSpPr>
        <p:spPr>
          <a:xfrm>
            <a:off x="3886200" y="2514600"/>
            <a:ext cx="4800600" cy="292608"/>
          </a:xfrm>
          <a:prstGeom prst="rect">
            <a:avLst/>
          </a:prstGeom>
          <a:noFill/>
          <a:ln/>
        </p:spPr>
        <p:txBody>
          <a:bodyPr wrap="square" lIns="1905" tIns="1905" rIns="1905" bIns="1905" rtlCol="0" anchor="ctr"/>
          <a:lstStyle/>
          <a:p>
            <a:pPr algn="l" indent="0" marL="0">
              <a:buNone/>
            </a:pPr>
            <a:r>
              <a:rPr lang="en-US" sz="1000" b="1" spc="200" kern="0" dirty="0">
                <a:solidFill>
                  <a:srgbClr val="FFFFFF"/>
                </a:solidFill>
                <a:latin typeface="Arial" pitchFamily="34" charset="0"/>
                <a:ea typeface="Arial" pitchFamily="34" charset="-122"/>
                <a:cs typeface="Arial" pitchFamily="34" charset="-120"/>
              </a:rPr>
              <a:t>NIMBY REVOLT</a:t>
            </a:r>
            <a:endParaRPr lang="en-US" sz="1000" dirty="0"/>
          </a:p>
        </p:txBody>
      </p:sp>
      <p:sp>
        <p:nvSpPr>
          <p:cNvPr id="13" name="Text 11"/>
          <p:cNvSpPr/>
          <p:nvPr/>
        </p:nvSpPr>
        <p:spPr>
          <a:xfrm>
            <a:off x="4023360" y="2880360"/>
            <a:ext cx="4526280" cy="429768"/>
          </a:xfrm>
          <a:prstGeom prst="rect">
            <a:avLst/>
          </a:prstGeom>
          <a:noFill/>
          <a:ln/>
        </p:spPr>
        <p:txBody>
          <a:bodyPr wrap="square" lIns="0" tIns="0" rIns="0" bIns="0" rtlCol="0" anchor="t"/>
          <a:lstStyle/>
          <a:p>
            <a:pPr indent="0" marL="0">
              <a:buNone/>
            </a:pPr>
            <a:r>
              <a:rPr lang="en-US" sz="1050" dirty="0">
                <a:solidFill>
                  <a:srgbClr val="333333"/>
                </a:solidFill>
                <a:latin typeface="Arial" pitchFamily="34" charset="0"/>
                <a:ea typeface="Arial" pitchFamily="34" charset="-122"/>
                <a:cs typeface="Arial" pitchFamily="34" charset="-120"/>
              </a:rPr>
              <a:t>$18B halted, $46B delayed. 142 activist groups across 24 states — Virginia leads with 42 chapters.</a:t>
            </a:r>
            <a:pPr indent="0" marL="0">
              <a:buNone/>
            </a:pPr>
            <a:r>
              <a:rPr lang="en-US" sz="700" baseline="30000" dirty="0">
                <a:solidFill>
                  <a:srgbClr val="333333"/>
                </a:solidFill>
                <a:latin typeface="Arial" pitchFamily="34" charset="0"/>
                <a:ea typeface="Arial" pitchFamily="34" charset="-122"/>
                <a:cs typeface="Arial" pitchFamily="34" charset="-120"/>
              </a:rPr>
              <a:t> 1</a:t>
            </a:r>
            <a:endParaRPr lang="en-US" sz="1050" dirty="0"/>
          </a:p>
        </p:txBody>
      </p:sp>
      <p:sp>
        <p:nvSpPr>
          <p:cNvPr id="14" name="Shape 12"/>
          <p:cNvSpPr/>
          <p:nvPr/>
        </p:nvSpPr>
        <p:spPr>
          <a:xfrm>
            <a:off x="3886200" y="3456432"/>
            <a:ext cx="4800600" cy="868680"/>
          </a:xfrm>
          <a:prstGeom prst="rect">
            <a:avLst/>
          </a:prstGeom>
          <a:solidFill>
            <a:srgbClr val="F9F9F9"/>
          </a:solidFill>
          <a:ln w="6350">
            <a:solidFill>
              <a:srgbClr val="E5E5E5"/>
            </a:solidFill>
            <a:prstDash val="solid"/>
          </a:ln>
        </p:spPr>
      </p:sp>
      <p:sp>
        <p:nvSpPr>
          <p:cNvPr id="15" name="Shape 13"/>
          <p:cNvSpPr/>
          <p:nvPr/>
        </p:nvSpPr>
        <p:spPr>
          <a:xfrm>
            <a:off x="3886200" y="3456432"/>
            <a:ext cx="4800600" cy="292608"/>
          </a:xfrm>
          <a:prstGeom prst="rect">
            <a:avLst/>
          </a:prstGeom>
          <a:solidFill>
            <a:srgbClr val="CC0000"/>
          </a:solidFill>
          <a:ln w="12700">
            <a:solidFill>
              <a:srgbClr val="CC0000"/>
            </a:solidFill>
            <a:prstDash val="solid"/>
          </a:ln>
        </p:spPr>
      </p:sp>
      <p:sp>
        <p:nvSpPr>
          <p:cNvPr id="16" name="Text 14"/>
          <p:cNvSpPr/>
          <p:nvPr/>
        </p:nvSpPr>
        <p:spPr>
          <a:xfrm>
            <a:off x="3886200" y="3456432"/>
            <a:ext cx="4800600" cy="292608"/>
          </a:xfrm>
          <a:prstGeom prst="rect">
            <a:avLst/>
          </a:prstGeom>
          <a:noFill/>
          <a:ln/>
        </p:spPr>
        <p:txBody>
          <a:bodyPr wrap="square" lIns="1905" tIns="1905" rIns="1905" bIns="1905" rtlCol="0" anchor="ctr"/>
          <a:lstStyle/>
          <a:p>
            <a:pPr algn="l" indent="0" marL="0">
              <a:buNone/>
            </a:pPr>
            <a:r>
              <a:rPr lang="en-US" sz="1000" b="1" spc="200" kern="0" dirty="0">
                <a:solidFill>
                  <a:srgbClr val="FFFFFF"/>
                </a:solidFill>
                <a:latin typeface="Arial" pitchFamily="34" charset="0"/>
                <a:ea typeface="Arial" pitchFamily="34" charset="-122"/>
                <a:cs typeface="Arial" pitchFamily="34" charset="-120"/>
              </a:rPr>
              <a:t>ANTI-AI SENTIMENT</a:t>
            </a:r>
            <a:endParaRPr lang="en-US" sz="1000" dirty="0"/>
          </a:p>
        </p:txBody>
      </p:sp>
      <p:sp>
        <p:nvSpPr>
          <p:cNvPr id="17" name="Text 15"/>
          <p:cNvSpPr/>
          <p:nvPr/>
        </p:nvSpPr>
        <p:spPr>
          <a:xfrm>
            <a:off x="4023360" y="3822192"/>
            <a:ext cx="4526280" cy="429768"/>
          </a:xfrm>
          <a:prstGeom prst="rect">
            <a:avLst/>
          </a:prstGeom>
          <a:noFill/>
          <a:ln/>
        </p:spPr>
        <p:txBody>
          <a:bodyPr wrap="square" lIns="0" tIns="0" rIns="0" bIns="0" rtlCol="0" anchor="t"/>
          <a:lstStyle/>
          <a:p>
            <a:pPr indent="0" marL="0">
              <a:buNone/>
            </a:pPr>
            <a:r>
              <a:rPr lang="en-US" sz="1050" dirty="0">
                <a:solidFill>
                  <a:srgbClr val="333333"/>
                </a:solidFill>
                <a:latin typeface="Arial" pitchFamily="34" charset="0"/>
                <a:ea typeface="Arial" pitchFamily="34" charset="-122"/>
                <a:cs typeface="Arial" pitchFamily="34" charset="-120"/>
              </a:rPr>
              <a:t>Only 26%</a:t>
            </a:r>
            <a:pPr indent="0" marL="0">
              <a:buNone/>
            </a:pPr>
            <a:r>
              <a:rPr lang="en-US" sz="700" baseline="30000" dirty="0">
                <a:solidFill>
                  <a:srgbClr val="333333"/>
                </a:solidFill>
                <a:latin typeface="Arial" pitchFamily="34" charset="0"/>
                <a:ea typeface="Arial" pitchFamily="34" charset="-122"/>
                <a:cs typeface="Arial" pitchFamily="34" charset="-120"/>
              </a:rPr>
              <a:t> 2</a:t>
            </a:r>
            <a:pPr indent="0" marL="0">
              <a:buNone/>
            </a:pPr>
            <a:r>
              <a:rPr lang="en-US" sz="1050" dirty="0">
                <a:solidFill>
                  <a:srgbClr val="333333"/>
                </a:solidFill>
                <a:latin typeface="Arial" pitchFamily="34" charset="0"/>
                <a:ea typeface="Arial" pitchFamily="34" charset="-122"/>
                <a:cs typeface="Arial" pitchFamily="34" charset="-120"/>
              </a:rPr>
              <a:t> (Echelon Insights, Mar 2026) of Americans view AI positively. March 2026 "Stop the AI Race" protests</a:t>
            </a:r>
            <a:pPr indent="0" marL="0">
              <a:buNone/>
            </a:pPr>
            <a:r>
              <a:rPr lang="en-US" sz="700" baseline="30000" dirty="0">
                <a:solidFill>
                  <a:srgbClr val="333333"/>
                </a:solidFill>
                <a:latin typeface="Arial" pitchFamily="34" charset="0"/>
                <a:ea typeface="Arial" pitchFamily="34" charset="-122"/>
                <a:cs typeface="Arial" pitchFamily="34" charset="-120"/>
              </a:rPr>
              <a:t> 3</a:t>
            </a:r>
            <a:pPr indent="0" marL="0">
              <a:buNone/>
            </a:pPr>
            <a:r>
              <a:rPr lang="en-US" sz="1050" dirty="0">
                <a:solidFill>
                  <a:srgbClr val="333333"/>
                </a:solidFill>
                <a:latin typeface="Arial" pitchFamily="34" charset="0"/>
                <a:ea typeface="Arial" pitchFamily="34" charset="-122"/>
                <a:cs typeface="Arial" pitchFamily="34" charset="-120"/>
              </a:rPr>
              <a:t> hit lab HQs in SF and DC.</a:t>
            </a:r>
            <a:endParaRPr lang="en-US" sz="1050" dirty="0"/>
          </a:p>
        </p:txBody>
      </p:sp>
      <p:sp>
        <p:nvSpPr>
          <p:cNvPr id="18" name="Shape 16"/>
          <p:cNvSpPr/>
          <p:nvPr/>
        </p:nvSpPr>
        <p:spPr>
          <a:xfrm>
            <a:off x="3886200" y="4398264"/>
            <a:ext cx="4800600" cy="868680"/>
          </a:xfrm>
          <a:prstGeom prst="rect">
            <a:avLst/>
          </a:prstGeom>
          <a:solidFill>
            <a:srgbClr val="F9F9F9"/>
          </a:solidFill>
          <a:ln w="6350">
            <a:solidFill>
              <a:srgbClr val="E5E5E5"/>
            </a:solidFill>
            <a:prstDash val="solid"/>
          </a:ln>
        </p:spPr>
      </p:sp>
      <p:sp>
        <p:nvSpPr>
          <p:cNvPr id="19" name="Shape 17"/>
          <p:cNvSpPr/>
          <p:nvPr/>
        </p:nvSpPr>
        <p:spPr>
          <a:xfrm>
            <a:off x="3886200" y="4398264"/>
            <a:ext cx="4800600" cy="292608"/>
          </a:xfrm>
          <a:prstGeom prst="rect">
            <a:avLst/>
          </a:prstGeom>
          <a:solidFill>
            <a:srgbClr val="CC0000"/>
          </a:solidFill>
          <a:ln w="12700">
            <a:solidFill>
              <a:srgbClr val="CC0000"/>
            </a:solidFill>
            <a:prstDash val="solid"/>
          </a:ln>
        </p:spPr>
      </p:sp>
      <p:sp>
        <p:nvSpPr>
          <p:cNvPr id="20" name="Text 18"/>
          <p:cNvSpPr/>
          <p:nvPr/>
        </p:nvSpPr>
        <p:spPr>
          <a:xfrm>
            <a:off x="3886200" y="4398264"/>
            <a:ext cx="4800600" cy="292608"/>
          </a:xfrm>
          <a:prstGeom prst="rect">
            <a:avLst/>
          </a:prstGeom>
          <a:noFill/>
          <a:ln/>
        </p:spPr>
        <p:txBody>
          <a:bodyPr wrap="square" lIns="1905" tIns="1905" rIns="1905" bIns="1905" rtlCol="0" anchor="ctr"/>
          <a:lstStyle/>
          <a:p>
            <a:pPr algn="l" indent="0" marL="0">
              <a:buNone/>
            </a:pPr>
            <a:r>
              <a:rPr lang="en-US" sz="1000" b="1" spc="200" kern="0" dirty="0">
                <a:solidFill>
                  <a:srgbClr val="FFFFFF"/>
                </a:solidFill>
                <a:latin typeface="Arial" pitchFamily="34" charset="0"/>
                <a:ea typeface="Arial" pitchFamily="34" charset="-122"/>
                <a:cs typeface="Arial" pitchFamily="34" charset="-120"/>
              </a:rPr>
              <a:t>LABOR SHORTAGE</a:t>
            </a:r>
            <a:endParaRPr lang="en-US" sz="1000" dirty="0"/>
          </a:p>
        </p:txBody>
      </p:sp>
      <p:sp>
        <p:nvSpPr>
          <p:cNvPr id="21" name="Text 19"/>
          <p:cNvSpPr/>
          <p:nvPr/>
        </p:nvSpPr>
        <p:spPr>
          <a:xfrm>
            <a:off x="4023360" y="4764024"/>
            <a:ext cx="4526280" cy="429768"/>
          </a:xfrm>
          <a:prstGeom prst="rect">
            <a:avLst/>
          </a:prstGeom>
          <a:noFill/>
          <a:ln/>
        </p:spPr>
        <p:txBody>
          <a:bodyPr wrap="square" lIns="0" tIns="0" rIns="0" bIns="0" rtlCol="0" anchor="t"/>
          <a:lstStyle/>
          <a:p>
            <a:pPr indent="0" marL="0">
              <a:buNone/>
            </a:pPr>
            <a:r>
              <a:rPr lang="en-US" sz="1050" dirty="0">
                <a:solidFill>
                  <a:srgbClr val="333333"/>
                </a:solidFill>
                <a:latin typeface="Arial" pitchFamily="34" charset="0"/>
                <a:ea typeface="Arial" pitchFamily="34" charset="-122"/>
                <a:cs typeface="Arial" pitchFamily="34" charset="-120"/>
              </a:rPr>
              <a:t>A ~480K data-center workforce gap against 400+ sites under construction.</a:t>
            </a:r>
            <a:pPr indent="0" marL="0">
              <a:buNone/>
            </a:pPr>
            <a:r>
              <a:rPr lang="en-US" sz="700" baseline="30000" dirty="0">
                <a:solidFill>
                  <a:srgbClr val="333333"/>
                </a:solidFill>
                <a:latin typeface="Arial" pitchFamily="34" charset="0"/>
                <a:ea typeface="Arial" pitchFamily="34" charset="-122"/>
                <a:cs typeface="Arial" pitchFamily="34" charset="-120"/>
              </a:rPr>
              <a:t> 4</a:t>
            </a:r>
            <a:pPr indent="0" marL="0">
              <a:buNone/>
            </a:pPr>
            <a:r>
              <a:rPr lang="en-US" sz="1050" dirty="0">
                <a:solidFill>
                  <a:srgbClr val="333333"/>
                </a:solidFill>
                <a:latin typeface="Arial" pitchFamily="34" charset="0"/>
                <a:ea typeface="Arial" pitchFamily="34" charset="-122"/>
                <a:cs typeface="Arial" pitchFamily="34" charset="-120"/>
              </a:rPr>
              <a:t> Talent, not capital, is binding.</a:t>
            </a:r>
            <a:endParaRPr lang="en-US" sz="1050" dirty="0"/>
          </a:p>
        </p:txBody>
      </p:sp>
      <p:sp>
        <p:nvSpPr>
          <p:cNvPr id="22" name="Shape 20"/>
          <p:cNvSpPr/>
          <p:nvPr/>
        </p:nvSpPr>
        <p:spPr>
          <a:xfrm>
            <a:off x="457200" y="5394960"/>
            <a:ext cx="8229600" cy="365760"/>
          </a:xfrm>
          <a:prstGeom prst="rect">
            <a:avLst/>
          </a:prstGeom>
          <a:solidFill>
            <a:srgbClr val="CC0000"/>
          </a:solidFill>
          <a:ln w="12700">
            <a:solidFill>
              <a:srgbClr val="CC0000"/>
            </a:solidFill>
            <a:prstDash val="solid"/>
          </a:ln>
        </p:spPr>
      </p:sp>
      <p:sp>
        <p:nvSpPr>
          <p:cNvPr id="23" name="Text 21"/>
          <p:cNvSpPr/>
          <p:nvPr/>
        </p:nvSpPr>
        <p:spPr>
          <a:xfrm>
            <a:off x="640080" y="5394960"/>
            <a:ext cx="7863840" cy="365760"/>
          </a:xfrm>
          <a:prstGeom prst="rect">
            <a:avLst/>
          </a:prstGeom>
          <a:noFill/>
          <a:ln/>
        </p:spPr>
        <p:txBody>
          <a:bodyPr wrap="square" lIns="0" tIns="0" rIns="0" bIns="0" rtlCol="0" anchor="ctr"/>
          <a:lstStyle/>
          <a:p>
            <a:pPr indent="0" marL="0">
              <a:buNone/>
            </a:pPr>
            <a:r>
              <a:rPr lang="en-US" sz="1100" b="1" dirty="0">
                <a:solidFill>
                  <a:srgbClr val="FFFFFF"/>
                </a:solidFill>
                <a:latin typeface="Arial" pitchFamily="34" charset="0"/>
                <a:ea typeface="Arial" pitchFamily="34" charset="-122"/>
                <a:cs typeface="Arial" pitchFamily="34" charset="-120"/>
              </a:rPr>
              <a:t>The permitting layer is the new supply-chain layer — and it is politically, not technically, constrained.</a:t>
            </a:r>
            <a:endParaRPr lang="en-US" sz="1100" dirty="0"/>
          </a:p>
        </p:txBody>
      </p:sp>
      <p:sp>
        <p:nvSpPr>
          <p:cNvPr id="24" name="Text 22"/>
          <p:cNvSpPr/>
          <p:nvPr/>
        </p:nvSpPr>
        <p:spPr>
          <a:xfrm>
            <a:off x="457200" y="5875020"/>
            <a:ext cx="8229600" cy="457200"/>
          </a:xfrm>
          <a:prstGeom prst="rect">
            <a:avLst/>
          </a:prstGeom>
          <a:noFill/>
          <a:ln/>
        </p:spPr>
        <p:txBody>
          <a:bodyPr wrap="square" lIns="0" tIns="0" rIns="0" bIns="0" rtlCol="0" anchor="t"/>
          <a:lstStyle/>
          <a:p>
            <a:pPr indent="0" marL="0">
              <a:buNone/>
            </a:pPr>
            <a:r>
              <a:rPr lang="en-US" sz="700" b="1" dirty="0">
                <a:solidFill>
                  <a:srgbClr val="999999"/>
                </a:solidFill>
                <a:latin typeface="Arial" pitchFamily="34" charset="0"/>
                <a:ea typeface="Arial" pitchFamily="34" charset="-122"/>
                <a:cs typeface="Arial" pitchFamily="34" charset="-120"/>
              </a:rPr>
              <a:t>(1) </a:t>
            </a:r>
            <a:pPr indent="0" marL="0">
              <a:buNone/>
            </a:pPr>
            <a:r>
              <a:rPr lang="en-US" sz="700" dirty="0">
                <a:solidFill>
                  <a:srgbClr val="999999"/>
                </a:solidFill>
                <a:latin typeface="Arial" pitchFamily="34" charset="0"/>
                <a:ea typeface="Arial" pitchFamily="34" charset="-122"/>
                <a:cs typeface="Arial" pitchFamily="34" charset="-120"/>
              </a:rPr>
              <a:t>Data Center Watch, 2026 NIMBY tracker, </a:t>
            </a:r>
            <a:pPr indent="0" marL="0">
              <a:buNone/>
            </a:pPr>
            <a:r>
              <a:rPr lang="en-US" sz="700" b="1" dirty="0">
                <a:solidFill>
                  <a:srgbClr val="999999"/>
                </a:solidFill>
                <a:latin typeface="Arial" pitchFamily="34" charset="0"/>
                <a:ea typeface="Arial" pitchFamily="34" charset="-122"/>
                <a:cs typeface="Arial" pitchFamily="34" charset="-120"/>
              </a:rPr>
              <a:t>(2) </a:t>
            </a:r>
            <a:pPr indent="0" marL="0">
              <a:buNone/>
            </a:pPr>
            <a:r>
              <a:rPr lang="en-US" sz="700" dirty="0">
                <a:solidFill>
                  <a:srgbClr val="999999"/>
                </a:solidFill>
                <a:latin typeface="Arial" pitchFamily="34" charset="0"/>
                <a:ea typeface="Arial" pitchFamily="34" charset="-122"/>
                <a:cs typeface="Arial" pitchFamily="34" charset="-120"/>
              </a:rPr>
              <a:t>Echelon Insights, Mar 2026 AI sentiment poll, </a:t>
            </a:r>
            <a:pPr indent="0" marL="0">
              <a:buNone/>
            </a:pPr>
            <a:r>
              <a:rPr lang="en-US" sz="700" b="1" dirty="0">
                <a:solidFill>
                  <a:srgbClr val="999999"/>
                </a:solidFill>
                <a:latin typeface="Arial" pitchFamily="34" charset="0"/>
                <a:ea typeface="Arial" pitchFamily="34" charset="-122"/>
                <a:cs typeface="Arial" pitchFamily="34" charset="-120"/>
              </a:rPr>
              <a:t>(3) </a:t>
            </a:r>
            <a:pPr indent="0" marL="0">
              <a:buNone/>
            </a:pPr>
            <a:r>
              <a:rPr lang="en-US" sz="700" dirty="0">
                <a:solidFill>
                  <a:srgbClr val="999999"/>
                </a:solidFill>
                <a:latin typeface="Arial" pitchFamily="34" charset="0"/>
                <a:ea typeface="Arial" pitchFamily="34" charset="-122"/>
                <a:cs typeface="Arial" pitchFamily="34" charset="-120"/>
              </a:rPr>
              <a:t>Fortune / TIME / CNN / NBC News — Stop the AI Race coverage, </a:t>
            </a:r>
            <a:pPr indent="0" marL="0">
              <a:buNone/>
            </a:pPr>
            <a:r>
              <a:rPr lang="en-US" sz="700" b="1" dirty="0">
                <a:solidFill>
                  <a:srgbClr val="999999"/>
                </a:solidFill>
                <a:latin typeface="Arial" pitchFamily="34" charset="0"/>
                <a:ea typeface="Arial" pitchFamily="34" charset="-122"/>
                <a:cs typeface="Arial" pitchFamily="34" charset="-120"/>
              </a:rPr>
              <a:t>(4) </a:t>
            </a:r>
            <a:pPr indent="0" marL="0">
              <a:buNone/>
            </a:pPr>
            <a:r>
              <a:rPr lang="en-US" sz="700" dirty="0">
                <a:solidFill>
                  <a:srgbClr val="999999"/>
                </a:solidFill>
                <a:latin typeface="Arial" pitchFamily="34" charset="0"/>
                <a:ea typeface="Arial" pitchFamily="34" charset="-122"/>
                <a:cs typeface="Arial" pitchFamily="34" charset="-120"/>
              </a:rPr>
              <a:t>Data Center Frontier — workforce gap analysis.</a:t>
            </a:r>
            <a:endParaRPr lang="en-US" sz="700" dirty="0"/>
          </a:p>
        </p:txBody>
      </p:sp>
      <p:sp>
        <p:nvSpPr>
          <p:cNvPr id="25" name="Shape 23"/>
          <p:cNvSpPr/>
          <p:nvPr/>
        </p:nvSpPr>
        <p:spPr>
          <a:xfrm>
            <a:off x="0" y="6286500"/>
            <a:ext cx="9144000" cy="571500"/>
          </a:xfrm>
          <a:prstGeom prst="rect">
            <a:avLst/>
          </a:prstGeom>
          <a:solidFill>
            <a:srgbClr val="000000"/>
          </a:solidFill>
          <a:ln w="12700">
            <a:solidFill>
              <a:srgbClr val="000000"/>
            </a:solidFill>
            <a:prstDash val="solid"/>
          </a:ln>
        </p:spPr>
      </p:sp>
      <p:sp>
        <p:nvSpPr>
          <p:cNvPr id="26" name="Text 24"/>
          <p:cNvSpPr/>
          <p:nvPr/>
        </p:nvSpPr>
        <p:spPr>
          <a:xfrm>
            <a:off x="1371600" y="6332220"/>
            <a:ext cx="6400800" cy="45720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27" name="Text 25"/>
          <p:cNvSpPr/>
          <p:nvPr/>
        </p:nvSpPr>
        <p:spPr>
          <a:xfrm>
            <a:off x="8321040" y="6405372"/>
            <a:ext cx="548640" cy="27432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6B46C1"/>
          </a:solidFill>
          <a:ln w="12700">
            <a:solidFill>
              <a:srgbClr val="6B46C1"/>
            </a:solidFill>
            <a:prstDash val="solid"/>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Arial" pitchFamily="34" charset="0"/>
                <a:ea typeface="Arial" pitchFamily="34" charset="-122"/>
                <a:cs typeface="Arial" pitchFamily="34" charset="-120"/>
              </a:rPr>
              <a:t>FRONTIER</a:t>
            </a:r>
            <a:endParaRPr lang="en-US" sz="1000" dirty="0"/>
          </a:p>
        </p:txBody>
      </p:sp>
      <p:sp>
        <p:nvSpPr>
          <p:cNvPr id="4" name="Text 2"/>
          <p:cNvSpPr/>
          <p:nvPr/>
        </p:nvSpPr>
        <p:spPr>
          <a:xfrm>
            <a:off x="457200" y="182880"/>
            <a:ext cx="6583680" cy="685800"/>
          </a:xfrm>
          <a:prstGeom prst="rect">
            <a:avLst/>
          </a:prstGeom>
          <a:noFill/>
          <a:ln/>
        </p:spPr>
        <p:txBody>
          <a:bodyPr wrap="square" lIns="0" tIns="0" rIns="0" bIns="0" rtlCol="0" anchor="t"/>
          <a:lstStyle/>
          <a:p>
            <a:pPr indent="0" marL="0">
              <a:buNone/>
            </a:pPr>
            <a:r>
              <a:rPr lang="en-US" sz="2400" b="1" dirty="0">
                <a:solidFill>
                  <a:srgbClr val="000000"/>
                </a:solidFill>
                <a:latin typeface="Arial Black" pitchFamily="34" charset="0"/>
                <a:ea typeface="Arial Black" pitchFamily="34" charset="-122"/>
                <a:cs typeface="Arial Black" pitchFamily="34" charset="-120"/>
              </a:rPr>
              <a:t>Orbital compute sidesteps Earth-bound bottlenecks — pilot stage today</a:t>
            </a:r>
            <a:endParaRPr lang="en-US" sz="2400" dirty="0"/>
          </a:p>
        </p:txBody>
      </p:sp>
      <p:sp>
        <p:nvSpPr>
          <p:cNvPr id="5" name="Text 3"/>
          <p:cNvSpPr/>
          <p:nvPr/>
        </p:nvSpPr>
        <p:spPr>
          <a:xfrm>
            <a:off x="457200" y="91440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No interconnection queue. No permits. No water. 1,361 W/m²</a:t>
            </a:r>
            <a:pPr indent="0" marL="0">
              <a:buNone/>
            </a:pPr>
            <a:r>
              <a:rPr lang="en-US" sz="700" baseline="30000" dirty="0">
                <a:solidFill>
                  <a:srgbClr val="666666"/>
                </a:solidFill>
                <a:latin typeface="Arial" pitchFamily="34" charset="0"/>
                <a:ea typeface="Arial" pitchFamily="34" charset="-122"/>
                <a:cs typeface="Arial" pitchFamily="34" charset="-120"/>
              </a:rPr>
              <a:t> 1</a:t>
            </a:r>
            <a:pPr indent="0" marL="0">
              <a:buNone/>
            </a:pPr>
            <a:r>
              <a:rPr lang="en-US" sz="1350" dirty="0">
                <a:solidFill>
                  <a:srgbClr val="666666"/>
                </a:solidFill>
                <a:latin typeface="Arial" pitchFamily="34" charset="0"/>
                <a:ea typeface="Arial" pitchFamily="34" charset="-122"/>
                <a:cs typeface="Arial" pitchFamily="34" charset="-120"/>
              </a:rPr>
              <a:t> of unfiltered solar, 24/7. Orbital compute sidesteps Earth's bottlenecks.</a:t>
            </a:r>
            <a:endParaRPr lang="en-US" sz="1350" dirty="0"/>
          </a:p>
        </p:txBody>
      </p:sp>
      <p:sp>
        <p:nvSpPr>
          <p:cNvPr id="6" name="Shape 4"/>
          <p:cNvSpPr/>
          <p:nvPr/>
        </p:nvSpPr>
        <p:spPr>
          <a:xfrm>
            <a:off x="457200" y="1325880"/>
            <a:ext cx="8229600" cy="0"/>
          </a:xfrm>
          <a:prstGeom prst="line">
            <a:avLst/>
          </a:prstGeom>
          <a:noFill/>
          <a:ln w="9525">
            <a:solidFill>
              <a:srgbClr val="E5E5E5"/>
            </a:solidFill>
            <a:prstDash val="solid"/>
          </a:ln>
        </p:spPr>
      </p:sp>
      <p:sp>
        <p:nvSpPr>
          <p:cNvPr id="7" name="Shape 5"/>
          <p:cNvSpPr/>
          <p:nvPr/>
        </p:nvSpPr>
        <p:spPr>
          <a:xfrm>
            <a:off x="5349240" y="1463040"/>
            <a:ext cx="3337560" cy="3474720"/>
          </a:xfrm>
          <a:prstGeom prst="rect">
            <a:avLst/>
          </a:prstGeom>
          <a:solidFill>
            <a:srgbClr val="EEEEEE"/>
          </a:solidFill>
          <a:ln w="9525">
            <a:solidFill>
              <a:srgbClr val="BBBBBB"/>
            </a:solidFill>
            <a:prstDash val="dash"/>
          </a:ln>
        </p:spPr>
      </p:sp>
      <p:sp>
        <p:nvSpPr>
          <p:cNvPr id="8" name="Text 6"/>
          <p:cNvSpPr/>
          <p:nvPr/>
        </p:nvSpPr>
        <p:spPr>
          <a:xfrm>
            <a:off x="5440680" y="1463040"/>
            <a:ext cx="3154680" cy="3474720"/>
          </a:xfrm>
          <a:prstGeom prst="rect">
            <a:avLst/>
          </a:prstGeom>
          <a:noFill/>
          <a:ln/>
        </p:spPr>
        <p:txBody>
          <a:bodyPr wrap="square" lIns="0" tIns="0" rIns="0" bIns="0" rtlCol="0" anchor="ctr"/>
          <a:lstStyle/>
          <a:p>
            <a:pPr algn="ctr" indent="0" marL="0">
              <a:buNone/>
            </a:pPr>
            <a:r>
              <a:rPr lang="en-US" sz="1000" i="1" dirty="0">
                <a:solidFill>
                  <a:srgbClr val="888888"/>
                </a:solidFill>
                <a:latin typeface="Arial" pitchFamily="34" charset="0"/>
                <a:ea typeface="Arial" pitchFamily="34" charset="-122"/>
                <a:cs typeface="Arial" pitchFamily="34" charset="-120"/>
              </a:rPr>
              <a:t>IMAGE: Render — modular orbital data-center satellite with 50-meter solar wings catching a violet tint, above Earth's dawn limb with atmospheric glow, deep indigo space, hyperrealistic Octane quality, slightly portrait</a:t>
            </a:r>
            <a:endParaRPr lang="en-US" sz="1000" dirty="0"/>
          </a:p>
        </p:txBody>
      </p:sp>
      <p:sp>
        <p:nvSpPr>
          <p:cNvPr id="9" name="Shape 7"/>
          <p:cNvSpPr/>
          <p:nvPr/>
        </p:nvSpPr>
        <p:spPr>
          <a:xfrm>
            <a:off x="457200" y="1463040"/>
            <a:ext cx="4709160" cy="320040"/>
          </a:xfrm>
          <a:prstGeom prst="rect">
            <a:avLst/>
          </a:prstGeom>
          <a:solidFill>
            <a:srgbClr val="333333"/>
          </a:solidFill>
          <a:ln w="12700">
            <a:solidFill>
              <a:srgbClr val="333333"/>
            </a:solidFill>
            <a:prstDash val="solid"/>
          </a:ln>
        </p:spPr>
      </p:sp>
      <p:sp>
        <p:nvSpPr>
          <p:cNvPr id="10" name="Text 8"/>
          <p:cNvSpPr/>
          <p:nvPr/>
        </p:nvSpPr>
        <p:spPr>
          <a:xfrm>
            <a:off x="457200" y="1463040"/>
            <a:ext cx="4709160" cy="320040"/>
          </a:xfrm>
          <a:prstGeom prst="rect">
            <a:avLst/>
          </a:prstGeom>
          <a:noFill/>
          <a:ln/>
        </p:spPr>
        <p:txBody>
          <a:bodyPr wrap="square" lIns="3810" tIns="3810" rIns="3810" bIns="3810" rtlCol="0" anchor="ctr"/>
          <a:lstStyle/>
          <a:p>
            <a:pPr algn="l" indent="0" marL="0">
              <a:buNone/>
            </a:pPr>
            <a:r>
              <a:rPr lang="en-US" sz="1100" b="1" spc="300" kern="0" dirty="0">
                <a:solidFill>
                  <a:srgbClr val="FFFFFF"/>
                </a:solidFill>
                <a:latin typeface="Arial" pitchFamily="34" charset="0"/>
                <a:ea typeface="Arial" pitchFamily="34" charset="-122"/>
                <a:cs typeface="Arial" pitchFamily="34" charset="-120"/>
              </a:rPr>
              <a:t>NO GRID QUEUE</a:t>
            </a:r>
            <a:endParaRPr lang="en-US" sz="1100" dirty="0"/>
          </a:p>
        </p:txBody>
      </p:sp>
      <p:sp>
        <p:nvSpPr>
          <p:cNvPr id="11" name="Shape 9"/>
          <p:cNvSpPr/>
          <p:nvPr/>
        </p:nvSpPr>
        <p:spPr>
          <a:xfrm>
            <a:off x="457200" y="1783080"/>
            <a:ext cx="4709160" cy="731520"/>
          </a:xfrm>
          <a:prstGeom prst="rect">
            <a:avLst/>
          </a:prstGeom>
          <a:solidFill>
            <a:srgbClr val="F9F9F9"/>
          </a:solidFill>
          <a:ln w="6350">
            <a:solidFill>
              <a:srgbClr val="E5E5E5"/>
            </a:solidFill>
            <a:prstDash val="solid"/>
          </a:ln>
        </p:spPr>
      </p:sp>
      <p:sp>
        <p:nvSpPr>
          <p:cNvPr id="12" name="Text 10"/>
          <p:cNvSpPr/>
          <p:nvPr/>
        </p:nvSpPr>
        <p:spPr>
          <a:xfrm>
            <a:off x="685800" y="1828800"/>
            <a:ext cx="4343400" cy="658368"/>
          </a:xfrm>
          <a:prstGeom prst="rect">
            <a:avLst/>
          </a:prstGeom>
          <a:noFill/>
          <a:ln/>
        </p:spPr>
        <p:txBody>
          <a:bodyPr wrap="square" lIns="0" tIns="0" rIns="0" bIns="0" rtlCol="0" anchor="ctr"/>
          <a:lstStyle/>
          <a:p>
            <a:pPr indent="0" marL="0">
              <a:buNone/>
            </a:pPr>
            <a:r>
              <a:rPr lang="en-US" sz="1000" dirty="0">
                <a:solidFill>
                  <a:srgbClr val="333333"/>
                </a:solidFill>
                <a:latin typeface="Arial" pitchFamily="34" charset="0"/>
                <a:ea typeface="Arial" pitchFamily="34" charset="-122"/>
                <a:cs typeface="Arial" pitchFamily="34" charset="-120"/>
              </a:rPr>
              <a:t>Earth's interconnection backlogs, zoning battles, and cooling constraints don't exist in orbit.</a:t>
            </a:r>
            <a:endParaRPr lang="en-US" sz="1000" dirty="0"/>
          </a:p>
        </p:txBody>
      </p:sp>
      <p:sp>
        <p:nvSpPr>
          <p:cNvPr id="13" name="Shape 11"/>
          <p:cNvSpPr/>
          <p:nvPr/>
        </p:nvSpPr>
        <p:spPr>
          <a:xfrm>
            <a:off x="457200" y="2651760"/>
            <a:ext cx="4709160" cy="320040"/>
          </a:xfrm>
          <a:prstGeom prst="rect">
            <a:avLst/>
          </a:prstGeom>
          <a:solidFill>
            <a:srgbClr val="333333"/>
          </a:solidFill>
          <a:ln w="12700">
            <a:solidFill>
              <a:srgbClr val="333333"/>
            </a:solidFill>
            <a:prstDash val="solid"/>
          </a:ln>
        </p:spPr>
      </p:sp>
      <p:sp>
        <p:nvSpPr>
          <p:cNvPr id="14" name="Text 12"/>
          <p:cNvSpPr/>
          <p:nvPr/>
        </p:nvSpPr>
        <p:spPr>
          <a:xfrm>
            <a:off x="457200" y="2651760"/>
            <a:ext cx="4709160" cy="320040"/>
          </a:xfrm>
          <a:prstGeom prst="rect">
            <a:avLst/>
          </a:prstGeom>
          <a:noFill/>
          <a:ln/>
        </p:spPr>
        <p:txBody>
          <a:bodyPr wrap="square" lIns="3810" tIns="3810" rIns="3810" bIns="3810" rtlCol="0" anchor="ctr"/>
          <a:lstStyle/>
          <a:p>
            <a:pPr algn="l" indent="0" marL="0">
              <a:buNone/>
            </a:pPr>
            <a:r>
              <a:rPr lang="en-US" sz="1100" b="1" spc="300" kern="0" dirty="0">
                <a:solidFill>
                  <a:srgbClr val="FFFFFF"/>
                </a:solidFill>
                <a:latin typeface="Arial" pitchFamily="34" charset="0"/>
                <a:ea typeface="Arial" pitchFamily="34" charset="-122"/>
                <a:cs typeface="Arial" pitchFamily="34" charset="-120"/>
              </a:rPr>
              <a:t>UNLIMITED SOLAR</a:t>
            </a:r>
            <a:endParaRPr lang="en-US" sz="1100" dirty="0"/>
          </a:p>
        </p:txBody>
      </p:sp>
      <p:sp>
        <p:nvSpPr>
          <p:cNvPr id="15" name="Shape 13"/>
          <p:cNvSpPr/>
          <p:nvPr/>
        </p:nvSpPr>
        <p:spPr>
          <a:xfrm>
            <a:off x="457200" y="2971800"/>
            <a:ext cx="4709160" cy="731520"/>
          </a:xfrm>
          <a:prstGeom prst="rect">
            <a:avLst/>
          </a:prstGeom>
          <a:solidFill>
            <a:srgbClr val="F9F9F9"/>
          </a:solidFill>
          <a:ln w="6350">
            <a:solidFill>
              <a:srgbClr val="E5E5E5"/>
            </a:solidFill>
            <a:prstDash val="solid"/>
          </a:ln>
        </p:spPr>
      </p:sp>
      <p:sp>
        <p:nvSpPr>
          <p:cNvPr id="16" name="Text 14"/>
          <p:cNvSpPr/>
          <p:nvPr/>
        </p:nvSpPr>
        <p:spPr>
          <a:xfrm>
            <a:off x="685800" y="3017520"/>
            <a:ext cx="4343400" cy="658368"/>
          </a:xfrm>
          <a:prstGeom prst="rect">
            <a:avLst/>
          </a:prstGeom>
          <a:noFill/>
          <a:ln/>
        </p:spPr>
        <p:txBody>
          <a:bodyPr wrap="square" lIns="0" tIns="0" rIns="0" bIns="0" rtlCol="0" anchor="ctr"/>
          <a:lstStyle/>
          <a:p>
            <a:pPr indent="0" marL="0">
              <a:buNone/>
            </a:pPr>
            <a:r>
              <a:rPr lang="en-US" sz="1000" dirty="0">
                <a:solidFill>
                  <a:srgbClr val="333333"/>
                </a:solidFill>
                <a:latin typeface="Arial" pitchFamily="34" charset="0"/>
                <a:ea typeface="Arial" pitchFamily="34" charset="-122"/>
                <a:cs typeface="Arial" pitchFamily="34" charset="-120"/>
              </a:rPr>
              <a:t>1,361 W/m² of unfiltered sunlight, 24/7 — no intermittency, no capacity-factor limits.</a:t>
            </a:r>
            <a:endParaRPr lang="en-US" sz="1000" dirty="0"/>
          </a:p>
        </p:txBody>
      </p:sp>
      <p:sp>
        <p:nvSpPr>
          <p:cNvPr id="17" name="Shape 15"/>
          <p:cNvSpPr/>
          <p:nvPr/>
        </p:nvSpPr>
        <p:spPr>
          <a:xfrm>
            <a:off x="457200" y="3840480"/>
            <a:ext cx="4709160" cy="320040"/>
          </a:xfrm>
          <a:prstGeom prst="rect">
            <a:avLst/>
          </a:prstGeom>
          <a:solidFill>
            <a:srgbClr val="333333"/>
          </a:solidFill>
          <a:ln w="12700">
            <a:solidFill>
              <a:srgbClr val="333333"/>
            </a:solidFill>
            <a:prstDash val="solid"/>
          </a:ln>
        </p:spPr>
      </p:sp>
      <p:sp>
        <p:nvSpPr>
          <p:cNvPr id="18" name="Text 16"/>
          <p:cNvSpPr/>
          <p:nvPr/>
        </p:nvSpPr>
        <p:spPr>
          <a:xfrm>
            <a:off x="457200" y="3840480"/>
            <a:ext cx="4709160" cy="320040"/>
          </a:xfrm>
          <a:prstGeom prst="rect">
            <a:avLst/>
          </a:prstGeom>
          <a:noFill/>
          <a:ln/>
        </p:spPr>
        <p:txBody>
          <a:bodyPr wrap="square" lIns="3810" tIns="3810" rIns="3810" bIns="3810" rtlCol="0" anchor="ctr"/>
          <a:lstStyle/>
          <a:p>
            <a:pPr algn="l" indent="0" marL="0">
              <a:buNone/>
            </a:pPr>
            <a:r>
              <a:rPr lang="en-US" sz="1100" b="1" spc="300" kern="0" dirty="0">
                <a:solidFill>
                  <a:srgbClr val="FFFFFF"/>
                </a:solidFill>
                <a:latin typeface="Arial" pitchFamily="34" charset="0"/>
                <a:ea typeface="Arial" pitchFamily="34" charset="-122"/>
                <a:cs typeface="Arial" pitchFamily="34" charset="-120"/>
              </a:rPr>
              <a:t>BEYOND BORDERS</a:t>
            </a:r>
            <a:endParaRPr lang="en-US" sz="1100" dirty="0"/>
          </a:p>
        </p:txBody>
      </p:sp>
      <p:sp>
        <p:nvSpPr>
          <p:cNvPr id="19" name="Shape 17"/>
          <p:cNvSpPr/>
          <p:nvPr/>
        </p:nvSpPr>
        <p:spPr>
          <a:xfrm>
            <a:off x="457200" y="4160520"/>
            <a:ext cx="4709160" cy="731520"/>
          </a:xfrm>
          <a:prstGeom prst="rect">
            <a:avLst/>
          </a:prstGeom>
          <a:solidFill>
            <a:srgbClr val="F9F9F9"/>
          </a:solidFill>
          <a:ln w="6350">
            <a:solidFill>
              <a:srgbClr val="E5E5E5"/>
            </a:solidFill>
            <a:prstDash val="solid"/>
          </a:ln>
        </p:spPr>
      </p:sp>
      <p:sp>
        <p:nvSpPr>
          <p:cNvPr id="20" name="Text 18"/>
          <p:cNvSpPr/>
          <p:nvPr/>
        </p:nvSpPr>
        <p:spPr>
          <a:xfrm>
            <a:off x="685800" y="4206240"/>
            <a:ext cx="4343400" cy="658368"/>
          </a:xfrm>
          <a:prstGeom prst="rect">
            <a:avLst/>
          </a:prstGeom>
          <a:noFill/>
          <a:ln/>
        </p:spPr>
        <p:txBody>
          <a:bodyPr wrap="square" lIns="0" tIns="0" rIns="0" bIns="0" rtlCol="0" anchor="ctr"/>
          <a:lstStyle/>
          <a:p>
            <a:pPr indent="0" marL="0">
              <a:buNone/>
            </a:pPr>
            <a:r>
              <a:rPr lang="en-US" sz="1000" dirty="0">
                <a:solidFill>
                  <a:srgbClr val="333333"/>
                </a:solidFill>
                <a:latin typeface="Arial" pitchFamily="34" charset="0"/>
                <a:ea typeface="Arial" pitchFamily="34" charset="-122"/>
                <a:cs typeface="Arial" pitchFamily="34" charset="-120"/>
              </a:rPr>
              <a:t>Sidesteps data-localization laws, export controls, and the jurisdictional patchwork.</a:t>
            </a:r>
            <a:endParaRPr lang="en-US" sz="1000" dirty="0"/>
          </a:p>
        </p:txBody>
      </p:sp>
      <p:sp>
        <p:nvSpPr>
          <p:cNvPr id="21" name="Shape 19"/>
          <p:cNvSpPr/>
          <p:nvPr/>
        </p:nvSpPr>
        <p:spPr>
          <a:xfrm>
            <a:off x="457200" y="5349240"/>
            <a:ext cx="8229600" cy="365760"/>
          </a:xfrm>
          <a:prstGeom prst="rect">
            <a:avLst/>
          </a:prstGeom>
          <a:solidFill>
            <a:srgbClr val="333333"/>
          </a:solidFill>
          <a:ln w="12700">
            <a:solidFill>
              <a:srgbClr val="333333"/>
            </a:solidFill>
            <a:prstDash val="solid"/>
          </a:ln>
        </p:spPr>
      </p:sp>
      <p:sp>
        <p:nvSpPr>
          <p:cNvPr id="22" name="Text 20"/>
          <p:cNvSpPr/>
          <p:nvPr/>
        </p:nvSpPr>
        <p:spPr>
          <a:xfrm>
            <a:off x="640080" y="5349240"/>
            <a:ext cx="7863840" cy="365760"/>
          </a:xfrm>
          <a:prstGeom prst="rect">
            <a:avLst/>
          </a:prstGeom>
          <a:noFill/>
          <a:ln/>
        </p:spPr>
        <p:txBody>
          <a:bodyPr wrap="square" lIns="0" tIns="0" rIns="0" bIns="0" rtlCol="0" anchor="ctr"/>
          <a:lstStyle/>
          <a:p>
            <a:pPr indent="0" marL="0">
              <a:buNone/>
            </a:pPr>
            <a:r>
              <a:rPr lang="en-US" sz="950" b="1" spc="300" kern="0" dirty="0">
                <a:solidFill>
                  <a:srgbClr val="FFB800"/>
                </a:solidFill>
                <a:latin typeface="Arial" pitchFamily="34" charset="0"/>
                <a:ea typeface="Arial" pitchFamily="34" charset="-122"/>
                <a:cs typeface="Arial" pitchFamily="34" charset="-120"/>
              </a:rPr>
              <a:t>PLAYERS   </a:t>
            </a:r>
            <a:pPr indent="0" marL="0">
              <a:buNone/>
            </a:pPr>
            <a:r>
              <a:rPr lang="en-US" sz="1100" b="1" dirty="0">
                <a:solidFill>
                  <a:srgbClr val="FFFFFF"/>
                </a:solidFill>
                <a:latin typeface="Arial" pitchFamily="34" charset="0"/>
                <a:ea typeface="Arial" pitchFamily="34" charset="-122"/>
                <a:cs typeface="Arial" pitchFamily="34" charset="-120"/>
              </a:rPr>
              <a:t>Starcloud · SpaceX · Google Suncatcher · Aetherflux</a:t>
            </a:r>
            <a:pPr indent="0" marL="0">
              <a:buNone/>
            </a:pPr>
            <a:r>
              <a:rPr lang="en-US" sz="800" baseline="30000" dirty="0">
                <a:solidFill>
                  <a:srgbClr val="FFFFFF"/>
                </a:solidFill>
                <a:latin typeface="Arial" pitchFamily="34" charset="0"/>
                <a:ea typeface="Arial" pitchFamily="34" charset="-122"/>
                <a:cs typeface="Arial" pitchFamily="34" charset="-120"/>
              </a:rPr>
              <a:t> 2</a:t>
            </a:r>
            <a:endParaRPr lang="en-US" sz="950" dirty="0"/>
          </a:p>
        </p:txBody>
      </p:sp>
      <p:sp>
        <p:nvSpPr>
          <p:cNvPr id="23" name="Text 21"/>
          <p:cNvSpPr/>
          <p:nvPr/>
        </p:nvSpPr>
        <p:spPr>
          <a:xfrm>
            <a:off x="457200" y="5875020"/>
            <a:ext cx="8229600" cy="457200"/>
          </a:xfrm>
          <a:prstGeom prst="rect">
            <a:avLst/>
          </a:prstGeom>
          <a:noFill/>
          <a:ln/>
        </p:spPr>
        <p:txBody>
          <a:bodyPr wrap="square" lIns="0" tIns="0" rIns="0" bIns="0" rtlCol="0" anchor="t"/>
          <a:lstStyle/>
          <a:p>
            <a:pPr indent="0" marL="0">
              <a:buNone/>
            </a:pPr>
            <a:r>
              <a:rPr lang="en-US" sz="700" b="1" dirty="0">
                <a:solidFill>
                  <a:srgbClr val="999999"/>
                </a:solidFill>
                <a:latin typeface="Arial" pitchFamily="34" charset="0"/>
                <a:ea typeface="Arial" pitchFamily="34" charset="-122"/>
                <a:cs typeface="Arial" pitchFamily="34" charset="-120"/>
              </a:rPr>
              <a:t>(1) </a:t>
            </a:r>
            <a:pPr indent="0" marL="0">
              <a:buNone/>
            </a:pPr>
            <a:r>
              <a:rPr lang="en-US" sz="700" dirty="0">
                <a:solidFill>
                  <a:srgbClr val="999999"/>
                </a:solidFill>
                <a:latin typeface="Arial" pitchFamily="34" charset="0"/>
                <a:ea typeface="Arial" pitchFamily="34" charset="-122"/>
                <a:cs typeface="Arial" pitchFamily="34" charset="-120"/>
              </a:rPr>
              <a:t>NASA solar constant, 1,361 W/m² at 1 AU, </a:t>
            </a:r>
            <a:pPr indent="0" marL="0">
              <a:buNone/>
            </a:pPr>
            <a:r>
              <a:rPr lang="en-US" sz="700" b="1" dirty="0">
                <a:solidFill>
                  <a:srgbClr val="999999"/>
                </a:solidFill>
                <a:latin typeface="Arial" pitchFamily="34" charset="0"/>
                <a:ea typeface="Arial" pitchFamily="34" charset="-122"/>
                <a:cs typeface="Arial" pitchFamily="34" charset="-120"/>
              </a:rPr>
              <a:t>(2) </a:t>
            </a:r>
            <a:pPr indent="0" marL="0">
              <a:buNone/>
            </a:pPr>
            <a:r>
              <a:rPr lang="en-US" sz="700" dirty="0">
                <a:solidFill>
                  <a:srgbClr val="999999"/>
                </a:solidFill>
                <a:latin typeface="Arial" pitchFamily="34" charset="0"/>
                <a:ea typeface="Arial" pitchFamily="34" charset="-122"/>
                <a:cs typeface="Arial" pitchFamily="34" charset="-120"/>
              </a:rPr>
              <a:t>FCC filings; Starcloud, SpaceX, Google Suncatcher, Aetherflux announcements; CNBC.</a:t>
            </a:r>
            <a:endParaRPr lang="en-US" sz="700" dirty="0"/>
          </a:p>
        </p:txBody>
      </p:sp>
      <p:sp>
        <p:nvSpPr>
          <p:cNvPr id="24" name="Shape 22"/>
          <p:cNvSpPr/>
          <p:nvPr/>
        </p:nvSpPr>
        <p:spPr>
          <a:xfrm>
            <a:off x="0" y="6286500"/>
            <a:ext cx="9144000" cy="571500"/>
          </a:xfrm>
          <a:prstGeom prst="rect">
            <a:avLst/>
          </a:prstGeom>
          <a:solidFill>
            <a:srgbClr val="000000"/>
          </a:solidFill>
          <a:ln w="12700">
            <a:solidFill>
              <a:srgbClr val="000000"/>
            </a:solidFill>
            <a:prstDash val="solid"/>
          </a:ln>
        </p:spPr>
      </p:sp>
      <p:sp>
        <p:nvSpPr>
          <p:cNvPr id="25" name="Text 23"/>
          <p:cNvSpPr/>
          <p:nvPr/>
        </p:nvSpPr>
        <p:spPr>
          <a:xfrm>
            <a:off x="1371600" y="6332220"/>
            <a:ext cx="6400800" cy="45720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26" name="Text 24"/>
          <p:cNvSpPr/>
          <p:nvPr/>
        </p:nvSpPr>
        <p:spPr>
          <a:xfrm>
            <a:off x="8321040" y="6405372"/>
            <a:ext cx="548640" cy="27432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6B46C1"/>
          </a:solidFill>
          <a:ln w="12700">
            <a:solidFill>
              <a:srgbClr val="6B46C1"/>
            </a:solidFill>
            <a:prstDash val="solid"/>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Arial" pitchFamily="34" charset="0"/>
                <a:ea typeface="Arial" pitchFamily="34" charset="-122"/>
                <a:cs typeface="Arial" pitchFamily="34" charset="-120"/>
              </a:rPr>
              <a:t>FRONTIER</a:t>
            </a:r>
            <a:endParaRPr lang="en-US" sz="1000" dirty="0"/>
          </a:p>
        </p:txBody>
      </p:sp>
      <p:sp>
        <p:nvSpPr>
          <p:cNvPr id="4" name="Text 2"/>
          <p:cNvSpPr/>
          <p:nvPr/>
        </p:nvSpPr>
        <p:spPr>
          <a:xfrm>
            <a:off x="457200" y="182880"/>
            <a:ext cx="6583680" cy="685800"/>
          </a:xfrm>
          <a:prstGeom prst="rect">
            <a:avLst/>
          </a:prstGeom>
          <a:noFill/>
          <a:ln/>
        </p:spPr>
        <p:txBody>
          <a:bodyPr wrap="square" lIns="0" tIns="0" rIns="0" bIns="0" rtlCol="0" anchor="t"/>
          <a:lstStyle/>
          <a:p>
            <a:pPr indent="0" marL="0">
              <a:buNone/>
            </a:pPr>
            <a:r>
              <a:rPr lang="en-US" sz="2400" b="1" dirty="0">
                <a:solidFill>
                  <a:srgbClr val="000000"/>
                </a:solidFill>
                <a:latin typeface="Arial Black" pitchFamily="34" charset="0"/>
                <a:ea typeface="Arial Black" pitchFamily="34" charset="-122"/>
                <a:cs typeface="Arial Black" pitchFamily="34" charset="-120"/>
              </a:rPr>
              <a:t>Humanoids hit pilot scale — every robot is a walking inference endpoint</a:t>
            </a:r>
            <a:endParaRPr lang="en-US" sz="2400" dirty="0"/>
          </a:p>
        </p:txBody>
      </p:sp>
      <p:sp>
        <p:nvSpPr>
          <p:cNvPr id="5" name="Text 3"/>
          <p:cNvSpPr/>
          <p:nvPr/>
        </p:nvSpPr>
        <p:spPr>
          <a:xfrm>
            <a:off x="457200" y="91440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Humanoids enter manufacturing, logistics, and healthcare at pilot scale. Every robot is a walking inference endpoint.</a:t>
            </a:r>
            <a:endParaRPr lang="en-US" sz="1350" dirty="0"/>
          </a:p>
        </p:txBody>
      </p:sp>
      <p:sp>
        <p:nvSpPr>
          <p:cNvPr id="6" name="Shape 4"/>
          <p:cNvSpPr/>
          <p:nvPr/>
        </p:nvSpPr>
        <p:spPr>
          <a:xfrm>
            <a:off x="457200" y="1325880"/>
            <a:ext cx="8229600" cy="0"/>
          </a:xfrm>
          <a:prstGeom prst="line">
            <a:avLst/>
          </a:prstGeom>
          <a:noFill/>
          <a:ln w="9525">
            <a:solidFill>
              <a:srgbClr val="E5E5E5"/>
            </a:solidFill>
            <a:prstDash val="solid"/>
          </a:ln>
        </p:spPr>
      </p:sp>
      <p:sp>
        <p:nvSpPr>
          <p:cNvPr id="7" name="Shape 5"/>
          <p:cNvSpPr/>
          <p:nvPr/>
        </p:nvSpPr>
        <p:spPr>
          <a:xfrm>
            <a:off x="1371600" y="1463040"/>
            <a:ext cx="6400800" cy="2011680"/>
          </a:xfrm>
          <a:prstGeom prst="rect">
            <a:avLst/>
          </a:prstGeom>
          <a:solidFill>
            <a:srgbClr val="EEEEEE"/>
          </a:solidFill>
          <a:ln w="9525">
            <a:solidFill>
              <a:srgbClr val="BBBBBB"/>
            </a:solidFill>
            <a:prstDash val="dash"/>
          </a:ln>
        </p:spPr>
      </p:sp>
      <p:sp>
        <p:nvSpPr>
          <p:cNvPr id="8" name="Text 6"/>
          <p:cNvSpPr/>
          <p:nvPr/>
        </p:nvSpPr>
        <p:spPr>
          <a:xfrm>
            <a:off x="1463040" y="1463040"/>
            <a:ext cx="6217920" cy="2011680"/>
          </a:xfrm>
          <a:prstGeom prst="rect">
            <a:avLst/>
          </a:prstGeom>
          <a:noFill/>
          <a:ln/>
        </p:spPr>
        <p:txBody>
          <a:bodyPr wrap="square" lIns="0" tIns="0" rIns="0" bIns="0" rtlCol="0" anchor="ctr"/>
          <a:lstStyle/>
          <a:p>
            <a:pPr algn="ctr" indent="0" marL="0">
              <a:buNone/>
            </a:pPr>
            <a:r>
              <a:rPr lang="en-US" sz="1000" i="1" dirty="0">
                <a:solidFill>
                  <a:srgbClr val="888888"/>
                </a:solidFill>
                <a:latin typeface="Arial" pitchFamily="34" charset="0"/>
                <a:ea typeface="Arial" pitchFamily="34" charset="-122"/>
                <a:cs typeface="Arial" pitchFamily="34" charset="-120"/>
              </a:rPr>
              <a:t>IMAGE: Panoramic photo — humanoid robot mid-stride on a factory floor, matte-white body with violet joint accents, motion blur on limbs, amber work-lights, a blurred human worker in a safety vest in the background</a:t>
            </a:r>
            <a:endParaRPr lang="en-US" sz="1000" dirty="0"/>
          </a:p>
        </p:txBody>
      </p:sp>
      <p:sp>
        <p:nvSpPr>
          <p:cNvPr id="9" name="Shape 7"/>
          <p:cNvSpPr/>
          <p:nvPr/>
        </p:nvSpPr>
        <p:spPr>
          <a:xfrm>
            <a:off x="457200" y="3657600"/>
            <a:ext cx="2697480" cy="320040"/>
          </a:xfrm>
          <a:prstGeom prst="rect">
            <a:avLst/>
          </a:prstGeom>
          <a:solidFill>
            <a:srgbClr val="333333"/>
          </a:solidFill>
          <a:ln w="12700">
            <a:solidFill>
              <a:srgbClr val="333333"/>
            </a:solidFill>
            <a:prstDash val="solid"/>
          </a:ln>
        </p:spPr>
      </p:sp>
      <p:sp>
        <p:nvSpPr>
          <p:cNvPr id="10" name="Text 8"/>
          <p:cNvSpPr/>
          <p:nvPr/>
        </p:nvSpPr>
        <p:spPr>
          <a:xfrm>
            <a:off x="457200" y="3657600"/>
            <a:ext cx="2697480" cy="320040"/>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Arial" pitchFamily="34" charset="0"/>
                <a:ea typeface="Arial" pitchFamily="34" charset="-122"/>
                <a:cs typeface="Arial" pitchFamily="34" charset="-120"/>
              </a:rPr>
              <a:t>PHYSICAL WORK</a:t>
            </a:r>
            <a:endParaRPr lang="en-US" sz="1100" dirty="0"/>
          </a:p>
        </p:txBody>
      </p:sp>
      <p:sp>
        <p:nvSpPr>
          <p:cNvPr id="11" name="Shape 9"/>
          <p:cNvSpPr/>
          <p:nvPr/>
        </p:nvSpPr>
        <p:spPr>
          <a:xfrm>
            <a:off x="457200" y="3977640"/>
            <a:ext cx="2697480" cy="1188720"/>
          </a:xfrm>
          <a:prstGeom prst="rect">
            <a:avLst/>
          </a:prstGeom>
          <a:solidFill>
            <a:srgbClr val="F9F9F9"/>
          </a:solidFill>
          <a:ln w="6350">
            <a:solidFill>
              <a:srgbClr val="E5E5E5"/>
            </a:solidFill>
            <a:prstDash val="solid"/>
          </a:ln>
        </p:spPr>
      </p:sp>
      <p:sp>
        <p:nvSpPr>
          <p:cNvPr id="12" name="Text 10"/>
          <p:cNvSpPr/>
          <p:nvPr/>
        </p:nvSpPr>
        <p:spPr>
          <a:xfrm>
            <a:off x="594360" y="4069080"/>
            <a:ext cx="2423160" cy="1051560"/>
          </a:xfrm>
          <a:prstGeom prst="rect">
            <a:avLst/>
          </a:prstGeom>
          <a:noFill/>
          <a:ln/>
        </p:spPr>
        <p:txBody>
          <a:bodyPr wrap="square" lIns="0" tIns="0" rIns="0" bIns="0" rtlCol="0" anchor="t"/>
          <a:lstStyle/>
          <a:p>
            <a:pPr indent="0" marL="0">
              <a:buNone/>
            </a:pPr>
            <a:r>
              <a:rPr lang="en-US" sz="1000" dirty="0">
                <a:solidFill>
                  <a:srgbClr val="333333"/>
                </a:solidFill>
                <a:latin typeface="Arial" pitchFamily="34" charset="0"/>
                <a:ea typeface="Arial" pitchFamily="34" charset="-122"/>
                <a:cs typeface="Arial" pitchFamily="34" charset="-120"/>
              </a:rPr>
              <a:t>Manufacturing, logistics, warehousing, agriculture, healthcare — pilots are underway.</a:t>
            </a:r>
            <a:pPr indent="0" marL="0">
              <a:buNone/>
            </a:pPr>
            <a:r>
              <a:rPr lang="en-US" sz="650" baseline="30000" dirty="0">
                <a:solidFill>
                  <a:srgbClr val="333333"/>
                </a:solidFill>
                <a:latin typeface="Arial" pitchFamily="34" charset="0"/>
                <a:ea typeface="Arial" pitchFamily="34" charset="-122"/>
                <a:cs typeface="Arial" pitchFamily="34" charset="-120"/>
              </a:rPr>
              <a:t> 1</a:t>
            </a:r>
            <a:endParaRPr lang="en-US" sz="1000" dirty="0"/>
          </a:p>
        </p:txBody>
      </p:sp>
      <p:sp>
        <p:nvSpPr>
          <p:cNvPr id="13" name="Shape 11"/>
          <p:cNvSpPr/>
          <p:nvPr/>
        </p:nvSpPr>
        <p:spPr>
          <a:xfrm>
            <a:off x="3291840" y="3657600"/>
            <a:ext cx="2697480" cy="320040"/>
          </a:xfrm>
          <a:prstGeom prst="rect">
            <a:avLst/>
          </a:prstGeom>
          <a:solidFill>
            <a:srgbClr val="333333"/>
          </a:solidFill>
          <a:ln w="12700">
            <a:solidFill>
              <a:srgbClr val="333333"/>
            </a:solidFill>
            <a:prstDash val="solid"/>
          </a:ln>
        </p:spPr>
      </p:sp>
      <p:sp>
        <p:nvSpPr>
          <p:cNvPr id="14" name="Text 12"/>
          <p:cNvSpPr/>
          <p:nvPr/>
        </p:nvSpPr>
        <p:spPr>
          <a:xfrm>
            <a:off x="3291840" y="3657600"/>
            <a:ext cx="2697480" cy="320040"/>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Arial" pitchFamily="34" charset="0"/>
                <a:ea typeface="Arial" pitchFamily="34" charset="-122"/>
                <a:cs typeface="Arial" pitchFamily="34" charset="-120"/>
              </a:rPr>
              <a:t>TIRELESS COWORKERS</a:t>
            </a:r>
            <a:endParaRPr lang="en-US" sz="1100" dirty="0"/>
          </a:p>
        </p:txBody>
      </p:sp>
      <p:sp>
        <p:nvSpPr>
          <p:cNvPr id="15" name="Shape 13"/>
          <p:cNvSpPr/>
          <p:nvPr/>
        </p:nvSpPr>
        <p:spPr>
          <a:xfrm>
            <a:off x="3291840" y="3977640"/>
            <a:ext cx="2697480" cy="1188720"/>
          </a:xfrm>
          <a:prstGeom prst="rect">
            <a:avLst/>
          </a:prstGeom>
          <a:solidFill>
            <a:srgbClr val="F9F9F9"/>
          </a:solidFill>
          <a:ln w="6350">
            <a:solidFill>
              <a:srgbClr val="E5E5E5"/>
            </a:solidFill>
            <a:prstDash val="solid"/>
          </a:ln>
        </p:spPr>
      </p:sp>
      <p:sp>
        <p:nvSpPr>
          <p:cNvPr id="16" name="Text 14"/>
          <p:cNvSpPr/>
          <p:nvPr/>
        </p:nvSpPr>
        <p:spPr>
          <a:xfrm>
            <a:off x="3429000" y="4069080"/>
            <a:ext cx="2423160" cy="1051560"/>
          </a:xfrm>
          <a:prstGeom prst="rect">
            <a:avLst/>
          </a:prstGeom>
          <a:noFill/>
          <a:ln/>
        </p:spPr>
        <p:txBody>
          <a:bodyPr wrap="square" lIns="0" tIns="0" rIns="0" bIns="0" rtlCol="0" anchor="t"/>
          <a:lstStyle/>
          <a:p>
            <a:pPr indent="0" marL="0">
              <a:buNone/>
            </a:pPr>
            <a:r>
              <a:rPr lang="en-US" sz="1000" dirty="0">
                <a:solidFill>
                  <a:srgbClr val="333333"/>
                </a:solidFill>
                <a:latin typeface="Arial" pitchFamily="34" charset="0"/>
                <a:ea typeface="Arial" pitchFamily="34" charset="-122"/>
                <a:cs typeface="Arial" pitchFamily="34" charset="-120"/>
              </a:rPr>
              <a:t>Humanoids take hazardous and ergonomically punishing tasks. Humans keep judgment.</a:t>
            </a:r>
            <a:endParaRPr lang="en-US" sz="1000" dirty="0"/>
          </a:p>
        </p:txBody>
      </p:sp>
      <p:sp>
        <p:nvSpPr>
          <p:cNvPr id="17" name="Shape 15"/>
          <p:cNvSpPr/>
          <p:nvPr/>
        </p:nvSpPr>
        <p:spPr>
          <a:xfrm>
            <a:off x="6126480" y="3657600"/>
            <a:ext cx="2697480" cy="320040"/>
          </a:xfrm>
          <a:prstGeom prst="rect">
            <a:avLst/>
          </a:prstGeom>
          <a:solidFill>
            <a:srgbClr val="333333"/>
          </a:solidFill>
          <a:ln w="12700">
            <a:solidFill>
              <a:srgbClr val="333333"/>
            </a:solidFill>
            <a:prstDash val="solid"/>
          </a:ln>
        </p:spPr>
      </p:sp>
      <p:sp>
        <p:nvSpPr>
          <p:cNvPr id="18" name="Text 16"/>
          <p:cNvSpPr/>
          <p:nvPr/>
        </p:nvSpPr>
        <p:spPr>
          <a:xfrm>
            <a:off x="6126480" y="3657600"/>
            <a:ext cx="2697480" cy="320040"/>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Arial" pitchFamily="34" charset="0"/>
                <a:ea typeface="Arial" pitchFamily="34" charset="-122"/>
                <a:cs typeface="Arial" pitchFamily="34" charset="-120"/>
              </a:rPr>
              <a:t>INFERENCE AT THE EDGE</a:t>
            </a:r>
            <a:endParaRPr lang="en-US" sz="1100" dirty="0"/>
          </a:p>
        </p:txBody>
      </p:sp>
      <p:sp>
        <p:nvSpPr>
          <p:cNvPr id="19" name="Shape 17"/>
          <p:cNvSpPr/>
          <p:nvPr/>
        </p:nvSpPr>
        <p:spPr>
          <a:xfrm>
            <a:off x="6126480" y="3977640"/>
            <a:ext cx="2697480" cy="1188720"/>
          </a:xfrm>
          <a:prstGeom prst="rect">
            <a:avLst/>
          </a:prstGeom>
          <a:solidFill>
            <a:srgbClr val="F9F9F9"/>
          </a:solidFill>
          <a:ln w="6350">
            <a:solidFill>
              <a:srgbClr val="E5E5E5"/>
            </a:solidFill>
            <a:prstDash val="solid"/>
          </a:ln>
        </p:spPr>
      </p:sp>
      <p:sp>
        <p:nvSpPr>
          <p:cNvPr id="20" name="Text 18"/>
          <p:cNvSpPr/>
          <p:nvPr/>
        </p:nvSpPr>
        <p:spPr>
          <a:xfrm>
            <a:off x="6263640" y="4069080"/>
            <a:ext cx="2423160" cy="1051560"/>
          </a:xfrm>
          <a:prstGeom prst="rect">
            <a:avLst/>
          </a:prstGeom>
          <a:noFill/>
          <a:ln/>
        </p:spPr>
        <p:txBody>
          <a:bodyPr wrap="square" lIns="0" tIns="0" rIns="0" bIns="0" rtlCol="0" anchor="t"/>
          <a:lstStyle/>
          <a:p>
            <a:pPr indent="0" marL="0">
              <a:buNone/>
            </a:pPr>
            <a:r>
              <a:rPr lang="en-US" sz="1000" dirty="0">
                <a:solidFill>
                  <a:srgbClr val="333333"/>
                </a:solidFill>
                <a:latin typeface="Arial" pitchFamily="34" charset="0"/>
                <a:ea typeface="Arial" pitchFamily="34" charset="-122"/>
                <a:cs typeface="Arial" pitchFamily="34" charset="-120"/>
              </a:rPr>
              <a:t>Every robot runs foundation models in real time. At scale, rivals LLM compute.</a:t>
            </a:r>
            <a:pPr indent="0" marL="0">
              <a:buNone/>
            </a:pPr>
            <a:r>
              <a:rPr lang="en-US" sz="650" baseline="30000" dirty="0">
                <a:solidFill>
                  <a:srgbClr val="333333"/>
                </a:solidFill>
                <a:latin typeface="Arial" pitchFamily="34" charset="0"/>
                <a:ea typeface="Arial" pitchFamily="34" charset="-122"/>
                <a:cs typeface="Arial" pitchFamily="34" charset="-120"/>
              </a:rPr>
              <a:t> 2</a:t>
            </a:r>
            <a:endParaRPr lang="en-US" sz="1000" dirty="0"/>
          </a:p>
        </p:txBody>
      </p:sp>
      <p:sp>
        <p:nvSpPr>
          <p:cNvPr id="21" name="Shape 19"/>
          <p:cNvSpPr/>
          <p:nvPr/>
        </p:nvSpPr>
        <p:spPr>
          <a:xfrm>
            <a:off x="457200" y="5349240"/>
            <a:ext cx="8229600" cy="365760"/>
          </a:xfrm>
          <a:prstGeom prst="rect">
            <a:avLst/>
          </a:prstGeom>
          <a:solidFill>
            <a:srgbClr val="333333"/>
          </a:solidFill>
          <a:ln w="12700">
            <a:solidFill>
              <a:srgbClr val="333333"/>
            </a:solidFill>
            <a:prstDash val="solid"/>
          </a:ln>
        </p:spPr>
      </p:sp>
      <p:sp>
        <p:nvSpPr>
          <p:cNvPr id="22" name="Text 20"/>
          <p:cNvSpPr/>
          <p:nvPr/>
        </p:nvSpPr>
        <p:spPr>
          <a:xfrm>
            <a:off x="640080" y="5349240"/>
            <a:ext cx="7863840" cy="365760"/>
          </a:xfrm>
          <a:prstGeom prst="rect">
            <a:avLst/>
          </a:prstGeom>
          <a:noFill/>
          <a:ln/>
        </p:spPr>
        <p:txBody>
          <a:bodyPr wrap="square" lIns="0" tIns="0" rIns="0" bIns="0" rtlCol="0" anchor="ctr"/>
          <a:lstStyle/>
          <a:p>
            <a:pPr indent="0" marL="0">
              <a:buNone/>
            </a:pPr>
            <a:r>
              <a:rPr lang="en-US" sz="950" b="1" spc="300" kern="0" dirty="0">
                <a:solidFill>
                  <a:srgbClr val="FFB800"/>
                </a:solidFill>
                <a:latin typeface="Arial" pitchFamily="34" charset="0"/>
                <a:ea typeface="Arial" pitchFamily="34" charset="-122"/>
                <a:cs typeface="Arial" pitchFamily="34" charset="-120"/>
              </a:rPr>
              <a:t>PLAYERS   </a:t>
            </a:r>
            <a:pPr indent="0" marL="0">
              <a:buNone/>
            </a:pPr>
            <a:r>
              <a:rPr lang="en-US" sz="1100" b="1" dirty="0">
                <a:solidFill>
                  <a:srgbClr val="FFFFFF"/>
                </a:solidFill>
                <a:latin typeface="Arial" pitchFamily="34" charset="0"/>
                <a:ea typeface="Arial" pitchFamily="34" charset="-122"/>
                <a:cs typeface="Arial" pitchFamily="34" charset="-120"/>
              </a:rPr>
              <a:t>Tesla Optimus · Figure · Boston Dynamics · Unitree · Agility</a:t>
            </a:r>
            <a:pPr indent="0" marL="0">
              <a:buNone/>
            </a:pPr>
            <a:r>
              <a:rPr lang="en-US" sz="800" baseline="30000" dirty="0">
                <a:solidFill>
                  <a:srgbClr val="FFFFFF"/>
                </a:solidFill>
                <a:latin typeface="Arial" pitchFamily="34" charset="0"/>
                <a:ea typeface="Arial" pitchFamily="34" charset="-122"/>
                <a:cs typeface="Arial" pitchFamily="34" charset="-120"/>
              </a:rPr>
              <a:t> 3</a:t>
            </a:r>
            <a:endParaRPr lang="en-US" sz="950" dirty="0"/>
          </a:p>
        </p:txBody>
      </p:sp>
      <p:sp>
        <p:nvSpPr>
          <p:cNvPr id="23" name="Text 21"/>
          <p:cNvSpPr/>
          <p:nvPr/>
        </p:nvSpPr>
        <p:spPr>
          <a:xfrm>
            <a:off x="457200" y="5875020"/>
            <a:ext cx="8229600" cy="457200"/>
          </a:xfrm>
          <a:prstGeom prst="rect">
            <a:avLst/>
          </a:prstGeom>
          <a:noFill/>
          <a:ln/>
        </p:spPr>
        <p:txBody>
          <a:bodyPr wrap="square" lIns="0" tIns="0" rIns="0" bIns="0" rtlCol="0" anchor="t"/>
          <a:lstStyle/>
          <a:p>
            <a:pPr indent="0" marL="0">
              <a:buNone/>
            </a:pPr>
            <a:r>
              <a:rPr lang="en-US" sz="700" b="1" dirty="0">
                <a:solidFill>
                  <a:srgbClr val="999999"/>
                </a:solidFill>
                <a:latin typeface="Arial" pitchFamily="34" charset="0"/>
                <a:ea typeface="Arial" pitchFamily="34" charset="-122"/>
                <a:cs typeface="Arial" pitchFamily="34" charset="-120"/>
              </a:rPr>
              <a:t>(1) </a:t>
            </a:r>
            <a:pPr indent="0" marL="0">
              <a:buNone/>
            </a:pPr>
            <a:r>
              <a:rPr lang="en-US" sz="700" dirty="0">
                <a:solidFill>
                  <a:srgbClr val="999999"/>
                </a:solidFill>
                <a:latin typeface="Arial" pitchFamily="34" charset="0"/>
                <a:ea typeface="Arial" pitchFamily="34" charset="-122"/>
                <a:cs typeface="Arial" pitchFamily="34" charset="-120"/>
              </a:rPr>
              <a:t>Goldman Sachs — humanoid robotics market outlook, </a:t>
            </a:r>
            <a:pPr indent="0" marL="0">
              <a:buNone/>
            </a:pPr>
            <a:r>
              <a:rPr lang="en-US" sz="700" b="1" dirty="0">
                <a:solidFill>
                  <a:srgbClr val="999999"/>
                </a:solidFill>
                <a:latin typeface="Arial" pitchFamily="34" charset="0"/>
                <a:ea typeface="Arial" pitchFamily="34" charset="-122"/>
                <a:cs typeface="Arial" pitchFamily="34" charset="-120"/>
              </a:rPr>
              <a:t>(2) </a:t>
            </a:r>
            <a:pPr indent="0" marL="0">
              <a:buNone/>
            </a:pPr>
            <a:r>
              <a:rPr lang="en-US" sz="700" dirty="0">
                <a:solidFill>
                  <a:srgbClr val="999999"/>
                </a:solidFill>
                <a:latin typeface="Arial" pitchFamily="34" charset="0"/>
                <a:ea typeface="Arial" pitchFamily="34" charset="-122"/>
                <a:cs typeface="Arial" pitchFamily="34" charset="-120"/>
              </a:rPr>
              <a:t>NVIDIA FY2026 — robotics compute keynotes, </a:t>
            </a:r>
            <a:pPr indent="0" marL="0">
              <a:buNone/>
            </a:pPr>
            <a:r>
              <a:rPr lang="en-US" sz="700" b="1" dirty="0">
                <a:solidFill>
                  <a:srgbClr val="999999"/>
                </a:solidFill>
                <a:latin typeface="Arial" pitchFamily="34" charset="0"/>
                <a:ea typeface="Arial" pitchFamily="34" charset="-122"/>
                <a:cs typeface="Arial" pitchFamily="34" charset="-120"/>
              </a:rPr>
              <a:t>(3) </a:t>
            </a:r>
            <a:pPr indent="0" marL="0">
              <a:buNone/>
            </a:pPr>
            <a:r>
              <a:rPr lang="en-US" sz="700" dirty="0">
                <a:solidFill>
                  <a:srgbClr val="999999"/>
                </a:solidFill>
                <a:latin typeface="Arial" pitchFamily="34" charset="0"/>
                <a:ea typeface="Arial" pitchFamily="34" charset="-122"/>
                <a:cs typeface="Arial" pitchFamily="34" charset="-120"/>
              </a:rPr>
              <a:t>Tesla, Figure AI, Hyundai/Boston Dynamics, Unitree, Agility — company announcements.</a:t>
            </a:r>
            <a:endParaRPr lang="en-US" sz="700" dirty="0"/>
          </a:p>
        </p:txBody>
      </p:sp>
      <p:sp>
        <p:nvSpPr>
          <p:cNvPr id="24" name="Shape 22"/>
          <p:cNvSpPr/>
          <p:nvPr/>
        </p:nvSpPr>
        <p:spPr>
          <a:xfrm>
            <a:off x="0" y="6286500"/>
            <a:ext cx="9144000" cy="571500"/>
          </a:xfrm>
          <a:prstGeom prst="rect">
            <a:avLst/>
          </a:prstGeom>
          <a:solidFill>
            <a:srgbClr val="000000"/>
          </a:solidFill>
          <a:ln w="12700">
            <a:solidFill>
              <a:srgbClr val="000000"/>
            </a:solidFill>
            <a:prstDash val="solid"/>
          </a:ln>
        </p:spPr>
      </p:sp>
      <p:sp>
        <p:nvSpPr>
          <p:cNvPr id="25" name="Text 23"/>
          <p:cNvSpPr/>
          <p:nvPr/>
        </p:nvSpPr>
        <p:spPr>
          <a:xfrm>
            <a:off x="1371600" y="6332220"/>
            <a:ext cx="6400800" cy="45720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26" name="Text 24"/>
          <p:cNvSpPr/>
          <p:nvPr/>
        </p:nvSpPr>
        <p:spPr>
          <a:xfrm>
            <a:off x="8321040" y="6405372"/>
            <a:ext cx="548640" cy="27432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6B46C1"/>
          </a:solidFill>
          <a:ln w="12700">
            <a:solidFill>
              <a:srgbClr val="6B46C1"/>
            </a:solidFill>
            <a:prstDash val="solid"/>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Arial" pitchFamily="34" charset="0"/>
                <a:ea typeface="Arial" pitchFamily="34" charset="-122"/>
                <a:cs typeface="Arial" pitchFamily="34" charset="-120"/>
              </a:rPr>
              <a:t>FRONTIER</a:t>
            </a:r>
            <a:endParaRPr lang="en-US" sz="1000" dirty="0"/>
          </a:p>
        </p:txBody>
      </p:sp>
      <p:sp>
        <p:nvSpPr>
          <p:cNvPr id="4" name="Text 2"/>
          <p:cNvSpPr/>
          <p:nvPr/>
        </p:nvSpPr>
        <p:spPr>
          <a:xfrm>
            <a:off x="457200" y="182880"/>
            <a:ext cx="6583680" cy="685800"/>
          </a:xfrm>
          <a:prstGeom prst="rect">
            <a:avLst/>
          </a:prstGeom>
          <a:noFill/>
          <a:ln/>
        </p:spPr>
        <p:txBody>
          <a:bodyPr wrap="square" lIns="0" tIns="0" rIns="0" bIns="0" rtlCol="0" anchor="t"/>
          <a:lstStyle/>
          <a:p>
            <a:pPr indent="0" marL="0">
              <a:buNone/>
            </a:pPr>
            <a:r>
              <a:rPr lang="en-US" sz="2400" b="1" dirty="0">
                <a:solidFill>
                  <a:srgbClr val="000000"/>
                </a:solidFill>
                <a:latin typeface="Arial Black" pitchFamily="34" charset="0"/>
                <a:ea typeface="Arial Black" pitchFamily="34" charset="-122"/>
                <a:cs typeface="Arial Black" pitchFamily="34" charset="-120"/>
              </a:rPr>
              <a:t>Every autonomous mile compounds — every AV runs frontier edge compute</a:t>
            </a:r>
            <a:endParaRPr lang="en-US" sz="2400" dirty="0"/>
          </a:p>
        </p:txBody>
      </p:sp>
      <p:sp>
        <p:nvSpPr>
          <p:cNvPr id="5" name="Text 3"/>
          <p:cNvSpPr/>
          <p:nvPr/>
        </p:nvSpPr>
        <p:spPr>
          <a:xfrm>
            <a:off x="457200" y="91440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More miles → better models → more deployments. Every vehicle is a rolling inference machine consuming frontier-scale compute.</a:t>
            </a:r>
            <a:endParaRPr lang="en-US" sz="1350" dirty="0"/>
          </a:p>
        </p:txBody>
      </p:sp>
      <p:sp>
        <p:nvSpPr>
          <p:cNvPr id="6" name="Shape 4"/>
          <p:cNvSpPr/>
          <p:nvPr/>
        </p:nvSpPr>
        <p:spPr>
          <a:xfrm>
            <a:off x="457200" y="1325880"/>
            <a:ext cx="8229600" cy="0"/>
          </a:xfrm>
          <a:prstGeom prst="line">
            <a:avLst/>
          </a:prstGeom>
          <a:noFill/>
          <a:ln w="9525">
            <a:solidFill>
              <a:srgbClr val="E5E5E5"/>
            </a:solidFill>
            <a:prstDash val="solid"/>
          </a:ln>
        </p:spPr>
      </p:sp>
      <p:sp>
        <p:nvSpPr>
          <p:cNvPr id="7" name="Shape 5"/>
          <p:cNvSpPr/>
          <p:nvPr/>
        </p:nvSpPr>
        <p:spPr>
          <a:xfrm>
            <a:off x="457200" y="1463040"/>
            <a:ext cx="2560320" cy="3794760"/>
          </a:xfrm>
          <a:prstGeom prst="rect">
            <a:avLst/>
          </a:prstGeom>
          <a:solidFill>
            <a:srgbClr val="EEEEEE"/>
          </a:solidFill>
          <a:ln w="9525">
            <a:solidFill>
              <a:srgbClr val="BBBBBB"/>
            </a:solidFill>
            <a:prstDash val="dash"/>
          </a:ln>
        </p:spPr>
      </p:sp>
      <p:sp>
        <p:nvSpPr>
          <p:cNvPr id="8" name="Text 6"/>
          <p:cNvSpPr/>
          <p:nvPr/>
        </p:nvSpPr>
        <p:spPr>
          <a:xfrm>
            <a:off x="548640" y="1463040"/>
            <a:ext cx="2377440" cy="3794760"/>
          </a:xfrm>
          <a:prstGeom prst="rect">
            <a:avLst/>
          </a:prstGeom>
          <a:noFill/>
          <a:ln/>
        </p:spPr>
        <p:txBody>
          <a:bodyPr wrap="square" lIns="0" tIns="0" rIns="0" bIns="0" rtlCol="0" anchor="ctr"/>
          <a:lstStyle/>
          <a:p>
            <a:pPr algn="ctr" indent="0" marL="0">
              <a:buNone/>
            </a:pPr>
            <a:r>
              <a:rPr lang="en-US" sz="1000" i="1" dirty="0">
                <a:solidFill>
                  <a:srgbClr val="888888"/>
                </a:solidFill>
                <a:latin typeface="Arial" pitchFamily="34" charset="0"/>
                <a:ea typeface="Arial" pitchFamily="34" charset="-122"/>
                <a:cs typeface="Arial" pitchFamily="34" charset="-120"/>
              </a:rPr>
              <a:t>IMAGE: Long-exposure photo — white minivan robotaxi with a violet-glowing roof lidar on a rainy dusk city street, red and white traffic light trails, wet asphalt reflecting neon storefronts, tall portrait</a:t>
            </a:r>
            <a:endParaRPr lang="en-US" sz="1000" dirty="0"/>
          </a:p>
        </p:txBody>
      </p:sp>
      <p:sp>
        <p:nvSpPr>
          <p:cNvPr id="9" name="Shape 7"/>
          <p:cNvSpPr/>
          <p:nvPr/>
        </p:nvSpPr>
        <p:spPr>
          <a:xfrm>
            <a:off x="3200400" y="1463040"/>
            <a:ext cx="5486400" cy="320040"/>
          </a:xfrm>
          <a:prstGeom prst="rect">
            <a:avLst/>
          </a:prstGeom>
          <a:solidFill>
            <a:srgbClr val="333333"/>
          </a:solidFill>
          <a:ln w="12700">
            <a:solidFill>
              <a:srgbClr val="333333"/>
            </a:solidFill>
            <a:prstDash val="solid"/>
          </a:ln>
        </p:spPr>
      </p:sp>
      <p:sp>
        <p:nvSpPr>
          <p:cNvPr id="10" name="Text 8"/>
          <p:cNvSpPr/>
          <p:nvPr/>
        </p:nvSpPr>
        <p:spPr>
          <a:xfrm>
            <a:off x="3200400" y="1463040"/>
            <a:ext cx="5486400" cy="320040"/>
          </a:xfrm>
          <a:prstGeom prst="rect">
            <a:avLst/>
          </a:prstGeom>
          <a:noFill/>
          <a:ln/>
        </p:spPr>
        <p:txBody>
          <a:bodyPr wrap="square" lIns="1905" tIns="1905" rIns="1905" bIns="1905" rtlCol="0" anchor="ctr"/>
          <a:lstStyle/>
          <a:p>
            <a:pPr algn="l" indent="0" marL="0">
              <a:buNone/>
            </a:pPr>
            <a:r>
              <a:rPr lang="en-US" sz="1100" b="1" spc="200" kern="0" dirty="0">
                <a:solidFill>
                  <a:srgbClr val="FFFFFF"/>
                </a:solidFill>
                <a:latin typeface="Arial" pitchFamily="34" charset="0"/>
                <a:ea typeface="Arial" pitchFamily="34" charset="-122"/>
                <a:cs typeface="Arial" pitchFamily="34" charset="-120"/>
              </a:rPr>
              <a:t>THE SAFETY CASE</a:t>
            </a:r>
            <a:endParaRPr lang="en-US" sz="1100" dirty="0"/>
          </a:p>
        </p:txBody>
      </p:sp>
      <p:sp>
        <p:nvSpPr>
          <p:cNvPr id="11" name="Shape 9"/>
          <p:cNvSpPr/>
          <p:nvPr/>
        </p:nvSpPr>
        <p:spPr>
          <a:xfrm>
            <a:off x="3200400" y="1783080"/>
            <a:ext cx="5486400" cy="822960"/>
          </a:xfrm>
          <a:prstGeom prst="rect">
            <a:avLst/>
          </a:prstGeom>
          <a:solidFill>
            <a:srgbClr val="F9F9F9"/>
          </a:solidFill>
          <a:ln w="6350">
            <a:solidFill>
              <a:srgbClr val="E5E5E5"/>
            </a:solidFill>
            <a:prstDash val="solid"/>
          </a:ln>
        </p:spPr>
      </p:sp>
      <p:sp>
        <p:nvSpPr>
          <p:cNvPr id="12" name="Text 10"/>
          <p:cNvSpPr/>
          <p:nvPr/>
        </p:nvSpPr>
        <p:spPr>
          <a:xfrm>
            <a:off x="3337560" y="1828800"/>
            <a:ext cx="5212080" cy="731520"/>
          </a:xfrm>
          <a:prstGeom prst="rect">
            <a:avLst/>
          </a:prstGeom>
          <a:noFill/>
          <a:ln/>
        </p:spPr>
        <p:txBody>
          <a:bodyPr wrap="square" lIns="0" tIns="0" rIns="0" bIns="0" rtlCol="0" anchor="ctr"/>
          <a:lstStyle/>
          <a:p>
            <a:pPr indent="0" marL="0">
              <a:buNone/>
            </a:pPr>
            <a:r>
              <a:rPr lang="en-US" sz="1050" dirty="0">
                <a:solidFill>
                  <a:srgbClr val="333333"/>
                </a:solidFill>
                <a:latin typeface="Arial" pitchFamily="34" charset="0"/>
                <a:ea typeface="Arial" pitchFamily="34" charset="-122"/>
                <a:cs typeface="Arial" pitchFamily="34" charset="-120"/>
              </a:rPr>
              <a:t>Human drivers cause ~1.35M deaths a year.</a:t>
            </a:r>
            <a:pPr indent="0" marL="0">
              <a:buNone/>
            </a:pPr>
            <a:r>
              <a:rPr lang="en-US" sz="700" baseline="30000" dirty="0">
                <a:solidFill>
                  <a:srgbClr val="333333"/>
                </a:solidFill>
                <a:latin typeface="Arial" pitchFamily="34" charset="0"/>
                <a:ea typeface="Arial" pitchFamily="34" charset="-122"/>
                <a:cs typeface="Arial" pitchFamily="34" charset="-120"/>
              </a:rPr>
              <a:t> 1</a:t>
            </a:r>
            <a:pPr indent="0" marL="0">
              <a:buNone/>
            </a:pPr>
            <a:r>
              <a:rPr lang="en-US" sz="1050" dirty="0">
                <a:solidFill>
                  <a:srgbClr val="333333"/>
                </a:solidFill>
                <a:latin typeface="Arial" pitchFamily="34" charset="0"/>
                <a:ea typeface="Arial" pitchFamily="34" charset="-122"/>
                <a:cs typeface="Arial" pitchFamily="34" charset="-120"/>
              </a:rPr>
              <a:t> Autonomous systems don't tire or lose focus.</a:t>
            </a:r>
            <a:endParaRPr lang="en-US" sz="1050" dirty="0"/>
          </a:p>
        </p:txBody>
      </p:sp>
      <p:sp>
        <p:nvSpPr>
          <p:cNvPr id="13" name="Shape 11"/>
          <p:cNvSpPr/>
          <p:nvPr/>
        </p:nvSpPr>
        <p:spPr>
          <a:xfrm>
            <a:off x="3200400" y="2743200"/>
            <a:ext cx="5486400" cy="320040"/>
          </a:xfrm>
          <a:prstGeom prst="rect">
            <a:avLst/>
          </a:prstGeom>
          <a:solidFill>
            <a:srgbClr val="333333"/>
          </a:solidFill>
          <a:ln w="12700">
            <a:solidFill>
              <a:srgbClr val="333333"/>
            </a:solidFill>
            <a:prstDash val="solid"/>
          </a:ln>
        </p:spPr>
      </p:sp>
      <p:sp>
        <p:nvSpPr>
          <p:cNvPr id="14" name="Text 12"/>
          <p:cNvSpPr/>
          <p:nvPr/>
        </p:nvSpPr>
        <p:spPr>
          <a:xfrm>
            <a:off x="3200400" y="2743200"/>
            <a:ext cx="5486400" cy="320040"/>
          </a:xfrm>
          <a:prstGeom prst="rect">
            <a:avLst/>
          </a:prstGeom>
          <a:noFill/>
          <a:ln/>
        </p:spPr>
        <p:txBody>
          <a:bodyPr wrap="square" lIns="1905" tIns="1905" rIns="1905" bIns="1905" rtlCol="0" anchor="ctr"/>
          <a:lstStyle/>
          <a:p>
            <a:pPr algn="l" indent="0" marL="0">
              <a:buNone/>
            </a:pPr>
            <a:r>
              <a:rPr lang="en-US" sz="1100" b="1" spc="200" kern="0" dirty="0">
                <a:solidFill>
                  <a:srgbClr val="FFFFFF"/>
                </a:solidFill>
                <a:latin typeface="Arial" pitchFamily="34" charset="0"/>
                <a:ea typeface="Arial" pitchFamily="34" charset="-122"/>
                <a:cs typeface="Arial" pitchFamily="34" charset="-120"/>
              </a:rPr>
              <a:t>DATA FLYWHEEL</a:t>
            </a:r>
            <a:endParaRPr lang="en-US" sz="1100" dirty="0"/>
          </a:p>
        </p:txBody>
      </p:sp>
      <p:sp>
        <p:nvSpPr>
          <p:cNvPr id="15" name="Shape 13"/>
          <p:cNvSpPr/>
          <p:nvPr/>
        </p:nvSpPr>
        <p:spPr>
          <a:xfrm>
            <a:off x="3200400" y="3063240"/>
            <a:ext cx="5486400" cy="822960"/>
          </a:xfrm>
          <a:prstGeom prst="rect">
            <a:avLst/>
          </a:prstGeom>
          <a:solidFill>
            <a:srgbClr val="F9F9F9"/>
          </a:solidFill>
          <a:ln w="6350">
            <a:solidFill>
              <a:srgbClr val="E5E5E5"/>
            </a:solidFill>
            <a:prstDash val="solid"/>
          </a:ln>
        </p:spPr>
      </p:sp>
      <p:sp>
        <p:nvSpPr>
          <p:cNvPr id="16" name="Text 14"/>
          <p:cNvSpPr/>
          <p:nvPr/>
        </p:nvSpPr>
        <p:spPr>
          <a:xfrm>
            <a:off x="3337560" y="3108960"/>
            <a:ext cx="5212080" cy="731520"/>
          </a:xfrm>
          <a:prstGeom prst="rect">
            <a:avLst/>
          </a:prstGeom>
          <a:noFill/>
          <a:ln/>
        </p:spPr>
        <p:txBody>
          <a:bodyPr wrap="square" lIns="0" tIns="0" rIns="0" bIns="0" rtlCol="0" anchor="ctr"/>
          <a:lstStyle/>
          <a:p>
            <a:pPr indent="0" marL="0">
              <a:buNone/>
            </a:pPr>
            <a:r>
              <a:rPr lang="en-US" sz="1050" dirty="0">
                <a:solidFill>
                  <a:srgbClr val="333333"/>
                </a:solidFill>
                <a:latin typeface="Arial" pitchFamily="34" charset="0"/>
                <a:ea typeface="Arial" pitchFamily="34" charset="-122"/>
                <a:cs typeface="Arial" pitchFamily="34" charset="-120"/>
              </a:rPr>
              <a:t>Every mile generates training data. Better models unlock more cities. Flywheel self-reinforces.</a:t>
            </a:r>
            <a:endParaRPr lang="en-US" sz="1050" dirty="0"/>
          </a:p>
        </p:txBody>
      </p:sp>
      <p:sp>
        <p:nvSpPr>
          <p:cNvPr id="17" name="Shape 15"/>
          <p:cNvSpPr/>
          <p:nvPr/>
        </p:nvSpPr>
        <p:spPr>
          <a:xfrm>
            <a:off x="3200400" y="4023360"/>
            <a:ext cx="5486400" cy="320040"/>
          </a:xfrm>
          <a:prstGeom prst="rect">
            <a:avLst/>
          </a:prstGeom>
          <a:solidFill>
            <a:srgbClr val="333333"/>
          </a:solidFill>
          <a:ln w="12700">
            <a:solidFill>
              <a:srgbClr val="333333"/>
            </a:solidFill>
            <a:prstDash val="solid"/>
          </a:ln>
        </p:spPr>
      </p:sp>
      <p:sp>
        <p:nvSpPr>
          <p:cNvPr id="18" name="Text 16"/>
          <p:cNvSpPr/>
          <p:nvPr/>
        </p:nvSpPr>
        <p:spPr>
          <a:xfrm>
            <a:off x="3200400" y="4023360"/>
            <a:ext cx="5486400" cy="320040"/>
          </a:xfrm>
          <a:prstGeom prst="rect">
            <a:avLst/>
          </a:prstGeom>
          <a:noFill/>
          <a:ln/>
        </p:spPr>
        <p:txBody>
          <a:bodyPr wrap="square" lIns="1905" tIns="1905" rIns="1905" bIns="1905" rtlCol="0" anchor="ctr"/>
          <a:lstStyle/>
          <a:p>
            <a:pPr algn="l" indent="0" marL="0">
              <a:buNone/>
            </a:pPr>
            <a:r>
              <a:rPr lang="en-US" sz="1100" b="1" spc="200" kern="0" dirty="0">
                <a:solidFill>
                  <a:srgbClr val="FFFFFF"/>
                </a:solidFill>
                <a:latin typeface="Arial" pitchFamily="34" charset="0"/>
                <a:ea typeface="Arial" pitchFamily="34" charset="-122"/>
                <a:cs typeface="Arial" pitchFamily="34" charset="-120"/>
              </a:rPr>
              <a:t>EDGE INFERENCE</a:t>
            </a:r>
            <a:endParaRPr lang="en-US" sz="1100" dirty="0"/>
          </a:p>
        </p:txBody>
      </p:sp>
      <p:sp>
        <p:nvSpPr>
          <p:cNvPr id="19" name="Shape 17"/>
          <p:cNvSpPr/>
          <p:nvPr/>
        </p:nvSpPr>
        <p:spPr>
          <a:xfrm>
            <a:off x="3200400" y="4343400"/>
            <a:ext cx="5486400" cy="822960"/>
          </a:xfrm>
          <a:prstGeom prst="rect">
            <a:avLst/>
          </a:prstGeom>
          <a:solidFill>
            <a:srgbClr val="F9F9F9"/>
          </a:solidFill>
          <a:ln w="6350">
            <a:solidFill>
              <a:srgbClr val="E5E5E5"/>
            </a:solidFill>
            <a:prstDash val="solid"/>
          </a:ln>
        </p:spPr>
      </p:sp>
      <p:sp>
        <p:nvSpPr>
          <p:cNvPr id="20" name="Text 18"/>
          <p:cNvSpPr/>
          <p:nvPr/>
        </p:nvSpPr>
        <p:spPr>
          <a:xfrm>
            <a:off x="3337560" y="4389120"/>
            <a:ext cx="5212080" cy="731520"/>
          </a:xfrm>
          <a:prstGeom prst="rect">
            <a:avLst/>
          </a:prstGeom>
          <a:noFill/>
          <a:ln/>
        </p:spPr>
        <p:txBody>
          <a:bodyPr wrap="square" lIns="0" tIns="0" rIns="0" bIns="0" rtlCol="0" anchor="ctr"/>
          <a:lstStyle/>
          <a:p>
            <a:pPr indent="0" marL="0">
              <a:buNone/>
            </a:pPr>
            <a:r>
              <a:rPr lang="en-US" sz="1050" dirty="0">
                <a:solidFill>
                  <a:srgbClr val="333333"/>
                </a:solidFill>
                <a:latin typeface="Arial" pitchFamily="34" charset="0"/>
                <a:ea typeface="Arial" pitchFamily="34" charset="-122"/>
                <a:cs typeface="Arial" pitchFamily="34" charset="-120"/>
              </a:rPr>
              <a:t>Each AV runs thousands of AI ops / second across cameras, lidar, radar — frontier-scale compute.</a:t>
            </a:r>
            <a:pPr indent="0" marL="0">
              <a:buNone/>
            </a:pPr>
            <a:r>
              <a:rPr lang="en-US" sz="700" baseline="30000" dirty="0">
                <a:solidFill>
                  <a:srgbClr val="333333"/>
                </a:solidFill>
                <a:latin typeface="Arial" pitchFamily="34" charset="0"/>
                <a:ea typeface="Arial" pitchFamily="34" charset="-122"/>
                <a:cs typeface="Arial" pitchFamily="34" charset="-120"/>
              </a:rPr>
              <a:t> 2</a:t>
            </a:r>
            <a:endParaRPr lang="en-US" sz="1050" dirty="0"/>
          </a:p>
        </p:txBody>
      </p:sp>
      <p:sp>
        <p:nvSpPr>
          <p:cNvPr id="21" name="Shape 19"/>
          <p:cNvSpPr/>
          <p:nvPr/>
        </p:nvSpPr>
        <p:spPr>
          <a:xfrm>
            <a:off x="457200" y="5394960"/>
            <a:ext cx="8229600" cy="320040"/>
          </a:xfrm>
          <a:prstGeom prst="rect">
            <a:avLst/>
          </a:prstGeom>
          <a:solidFill>
            <a:srgbClr val="333333"/>
          </a:solidFill>
          <a:ln w="12700">
            <a:solidFill>
              <a:srgbClr val="333333"/>
            </a:solidFill>
            <a:prstDash val="solid"/>
          </a:ln>
        </p:spPr>
      </p:sp>
      <p:sp>
        <p:nvSpPr>
          <p:cNvPr id="22" name="Text 20"/>
          <p:cNvSpPr/>
          <p:nvPr/>
        </p:nvSpPr>
        <p:spPr>
          <a:xfrm>
            <a:off x="640080" y="5394960"/>
            <a:ext cx="7863840" cy="320040"/>
          </a:xfrm>
          <a:prstGeom prst="rect">
            <a:avLst/>
          </a:prstGeom>
          <a:noFill/>
          <a:ln/>
        </p:spPr>
        <p:txBody>
          <a:bodyPr wrap="square" lIns="0" tIns="0" rIns="0" bIns="0" rtlCol="0" anchor="ctr"/>
          <a:lstStyle/>
          <a:p>
            <a:pPr indent="0" marL="0">
              <a:buNone/>
            </a:pPr>
            <a:r>
              <a:rPr lang="en-US" sz="950" b="1" spc="300" kern="0" dirty="0">
                <a:solidFill>
                  <a:srgbClr val="FFB800"/>
                </a:solidFill>
                <a:latin typeface="Arial" pitchFamily="34" charset="0"/>
                <a:ea typeface="Arial" pitchFamily="34" charset="-122"/>
                <a:cs typeface="Arial" pitchFamily="34" charset="-120"/>
              </a:rPr>
              <a:t>PLAYERS   </a:t>
            </a:r>
            <a:pPr indent="0" marL="0">
              <a:buNone/>
            </a:pPr>
            <a:r>
              <a:rPr lang="en-US" sz="1100" b="1" dirty="0">
                <a:solidFill>
                  <a:srgbClr val="FFFFFF"/>
                </a:solidFill>
                <a:latin typeface="Arial" pitchFamily="34" charset="0"/>
                <a:ea typeface="Arial" pitchFamily="34" charset="-122"/>
                <a:cs typeface="Arial" pitchFamily="34" charset="-120"/>
              </a:rPr>
              <a:t>Waymo · Tesla FSD · Baidu Apollo · Aurora</a:t>
            </a:r>
            <a:pPr indent="0" marL="0">
              <a:buNone/>
            </a:pPr>
            <a:r>
              <a:rPr lang="en-US" sz="800" baseline="30000" dirty="0">
                <a:solidFill>
                  <a:srgbClr val="FFFFFF"/>
                </a:solidFill>
                <a:latin typeface="Arial" pitchFamily="34" charset="0"/>
                <a:ea typeface="Arial" pitchFamily="34" charset="-122"/>
                <a:cs typeface="Arial" pitchFamily="34" charset="-120"/>
              </a:rPr>
              <a:t> 3</a:t>
            </a:r>
            <a:endParaRPr lang="en-US" sz="950" dirty="0"/>
          </a:p>
        </p:txBody>
      </p:sp>
      <p:sp>
        <p:nvSpPr>
          <p:cNvPr id="23" name="Text 21"/>
          <p:cNvSpPr/>
          <p:nvPr/>
        </p:nvSpPr>
        <p:spPr>
          <a:xfrm>
            <a:off x="457200" y="5875020"/>
            <a:ext cx="8229600" cy="457200"/>
          </a:xfrm>
          <a:prstGeom prst="rect">
            <a:avLst/>
          </a:prstGeom>
          <a:noFill/>
          <a:ln/>
        </p:spPr>
        <p:txBody>
          <a:bodyPr wrap="square" lIns="0" tIns="0" rIns="0" bIns="0" rtlCol="0" anchor="t"/>
          <a:lstStyle/>
          <a:p>
            <a:pPr indent="0" marL="0">
              <a:buNone/>
            </a:pPr>
            <a:r>
              <a:rPr lang="en-US" sz="700" b="1" dirty="0">
                <a:solidFill>
                  <a:srgbClr val="999999"/>
                </a:solidFill>
                <a:latin typeface="Arial" pitchFamily="34" charset="0"/>
                <a:ea typeface="Arial" pitchFamily="34" charset="-122"/>
                <a:cs typeface="Arial" pitchFamily="34" charset="-120"/>
              </a:rPr>
              <a:t>(1) </a:t>
            </a:r>
            <a:pPr indent="0" marL="0">
              <a:buNone/>
            </a:pPr>
            <a:r>
              <a:rPr lang="en-US" sz="700" dirty="0">
                <a:solidFill>
                  <a:srgbClr val="999999"/>
                </a:solidFill>
                <a:latin typeface="Arial" pitchFamily="34" charset="0"/>
                <a:ea typeface="Arial" pitchFamily="34" charset="-122"/>
                <a:cs typeface="Arial" pitchFamily="34" charset="-120"/>
              </a:rPr>
              <a:t>WHO Global Road Safety report, </a:t>
            </a:r>
            <a:pPr indent="0" marL="0">
              <a:buNone/>
            </a:pPr>
            <a:r>
              <a:rPr lang="en-US" sz="700" b="1" dirty="0">
                <a:solidFill>
                  <a:srgbClr val="999999"/>
                </a:solidFill>
                <a:latin typeface="Arial" pitchFamily="34" charset="0"/>
                <a:ea typeface="Arial" pitchFamily="34" charset="-122"/>
                <a:cs typeface="Arial" pitchFamily="34" charset="-120"/>
              </a:rPr>
              <a:t>(2) </a:t>
            </a:r>
            <a:pPr indent="0" marL="0">
              <a:buNone/>
            </a:pPr>
            <a:r>
              <a:rPr lang="en-US" sz="700" dirty="0">
                <a:solidFill>
                  <a:srgbClr val="999999"/>
                </a:solidFill>
                <a:latin typeface="Arial" pitchFamily="34" charset="0"/>
                <a:ea typeface="Arial" pitchFamily="34" charset="-122"/>
                <a:cs typeface="Arial" pitchFamily="34" charset="-120"/>
              </a:rPr>
              <a:t>NVIDIA FY2026 — automotive/DRIVE platform, </a:t>
            </a:r>
            <a:pPr indent="0" marL="0">
              <a:buNone/>
            </a:pPr>
            <a:r>
              <a:rPr lang="en-US" sz="700" b="1" dirty="0">
                <a:solidFill>
                  <a:srgbClr val="999999"/>
                </a:solidFill>
                <a:latin typeface="Arial" pitchFamily="34" charset="0"/>
                <a:ea typeface="Arial" pitchFamily="34" charset="-122"/>
                <a:cs typeface="Arial" pitchFamily="34" charset="-120"/>
              </a:rPr>
              <a:t>(3) </a:t>
            </a:r>
            <a:pPr indent="0" marL="0">
              <a:buNone/>
            </a:pPr>
            <a:r>
              <a:rPr lang="en-US" sz="700" dirty="0">
                <a:solidFill>
                  <a:srgbClr val="999999"/>
                </a:solidFill>
                <a:latin typeface="Arial" pitchFamily="34" charset="0"/>
                <a:ea typeface="Arial" pitchFamily="34" charset="-122"/>
                <a:cs typeface="Arial" pitchFamily="34" charset="-120"/>
              </a:rPr>
              <a:t>Waymo, Tesla, Baidu Apollo, Aurora — company disclosures.</a:t>
            </a:r>
            <a:endParaRPr lang="en-US" sz="700" dirty="0"/>
          </a:p>
        </p:txBody>
      </p:sp>
      <p:sp>
        <p:nvSpPr>
          <p:cNvPr id="24" name="Shape 22"/>
          <p:cNvSpPr/>
          <p:nvPr/>
        </p:nvSpPr>
        <p:spPr>
          <a:xfrm>
            <a:off x="0" y="6286500"/>
            <a:ext cx="9144000" cy="571500"/>
          </a:xfrm>
          <a:prstGeom prst="rect">
            <a:avLst/>
          </a:prstGeom>
          <a:solidFill>
            <a:srgbClr val="000000"/>
          </a:solidFill>
          <a:ln w="12700">
            <a:solidFill>
              <a:srgbClr val="000000"/>
            </a:solidFill>
            <a:prstDash val="solid"/>
          </a:ln>
        </p:spPr>
      </p:sp>
      <p:sp>
        <p:nvSpPr>
          <p:cNvPr id="25" name="Text 23"/>
          <p:cNvSpPr/>
          <p:nvPr/>
        </p:nvSpPr>
        <p:spPr>
          <a:xfrm>
            <a:off x="1371600" y="6332220"/>
            <a:ext cx="6400800" cy="45720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26" name="Text 24"/>
          <p:cNvSpPr/>
          <p:nvPr/>
        </p:nvSpPr>
        <p:spPr>
          <a:xfrm>
            <a:off x="8321040" y="6405372"/>
            <a:ext cx="548640" cy="27432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Shape 0"/>
          <p:cNvSpPr/>
          <p:nvPr/>
        </p:nvSpPr>
        <p:spPr>
          <a:xfrm>
            <a:off x="7132320" y="164592"/>
            <a:ext cx="1737360" cy="292608"/>
          </a:xfrm>
          <a:prstGeom prst="roundRect">
            <a:avLst>
              <a:gd name="adj" fmla="val 15625"/>
            </a:avLst>
          </a:prstGeom>
          <a:solidFill>
            <a:srgbClr val="6B46C1"/>
          </a:solidFill>
          <a:ln w="12700">
            <a:solidFill>
              <a:srgbClr val="6B46C1"/>
            </a:solidFill>
            <a:prstDash val="solid"/>
          </a:ln>
        </p:spPr>
      </p:sp>
      <p:sp>
        <p:nvSpPr>
          <p:cNvPr id="3" name="Text 1"/>
          <p:cNvSpPr/>
          <p:nvPr/>
        </p:nvSpPr>
        <p:spPr>
          <a:xfrm>
            <a:off x="7132320" y="164592"/>
            <a:ext cx="1737360" cy="292608"/>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Arial" pitchFamily="34" charset="0"/>
                <a:ea typeface="Arial" pitchFamily="34" charset="-122"/>
                <a:cs typeface="Arial" pitchFamily="34" charset="-120"/>
              </a:rPr>
              <a:t>FRONTIER</a:t>
            </a:r>
            <a:endParaRPr lang="en-US" sz="1000" dirty="0"/>
          </a:p>
        </p:txBody>
      </p:sp>
      <p:sp>
        <p:nvSpPr>
          <p:cNvPr id="4" name="Text 2"/>
          <p:cNvSpPr/>
          <p:nvPr/>
        </p:nvSpPr>
        <p:spPr>
          <a:xfrm>
            <a:off x="457200" y="182880"/>
            <a:ext cx="6583680" cy="685800"/>
          </a:xfrm>
          <a:prstGeom prst="rect">
            <a:avLst/>
          </a:prstGeom>
          <a:noFill/>
          <a:ln/>
        </p:spPr>
        <p:txBody>
          <a:bodyPr wrap="square" lIns="0" tIns="0" rIns="0" bIns="0" rtlCol="0" anchor="t"/>
          <a:lstStyle/>
          <a:p>
            <a:pPr indent="0" marL="0">
              <a:buNone/>
            </a:pPr>
            <a:r>
              <a:rPr lang="en-US" sz="2400" b="1" dirty="0">
                <a:solidFill>
                  <a:srgbClr val="000000"/>
                </a:solidFill>
                <a:latin typeface="Arial Black" pitchFamily="34" charset="0"/>
                <a:ea typeface="Arial Black" pitchFamily="34" charset="-122"/>
                <a:cs typeface="Arial Black" pitchFamily="34" charset="-120"/>
              </a:rPr>
              <a:t>AI is rewriting drug discovery.</a:t>
            </a:r>
            <a:endParaRPr lang="en-US" sz="2400" dirty="0"/>
          </a:p>
        </p:txBody>
      </p:sp>
      <p:sp>
        <p:nvSpPr>
          <p:cNvPr id="5" name="Text 3"/>
          <p:cNvSpPr/>
          <p:nvPr/>
        </p:nvSpPr>
        <p:spPr>
          <a:xfrm>
            <a:off x="457200" y="91440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Three mechanisms compress the R&amp;D cycle's earliest stages from years to hours. Clinical trials still take years — AI collapses the design stage, not the regulatory one.</a:t>
            </a:r>
            <a:endParaRPr lang="en-US" sz="1350" dirty="0"/>
          </a:p>
        </p:txBody>
      </p:sp>
      <p:sp>
        <p:nvSpPr>
          <p:cNvPr id="6" name="Shape 4"/>
          <p:cNvSpPr/>
          <p:nvPr/>
        </p:nvSpPr>
        <p:spPr>
          <a:xfrm>
            <a:off x="457200" y="1325880"/>
            <a:ext cx="8229600" cy="0"/>
          </a:xfrm>
          <a:prstGeom prst="line">
            <a:avLst/>
          </a:prstGeom>
          <a:noFill/>
          <a:ln w="9525">
            <a:solidFill>
              <a:srgbClr val="E5E5E5"/>
            </a:solidFill>
            <a:prstDash val="solid"/>
          </a:ln>
        </p:spPr>
      </p:sp>
      <p:sp>
        <p:nvSpPr>
          <p:cNvPr id="7" name="Shape 5"/>
          <p:cNvSpPr/>
          <p:nvPr/>
        </p:nvSpPr>
        <p:spPr>
          <a:xfrm>
            <a:off x="457200" y="1691640"/>
            <a:ext cx="3017520" cy="3355848"/>
          </a:xfrm>
          <a:prstGeom prst="rect">
            <a:avLst/>
          </a:prstGeom>
          <a:solidFill>
            <a:srgbClr val="EEEEEE"/>
          </a:solidFill>
          <a:ln w="9525">
            <a:solidFill>
              <a:srgbClr val="BBBBBB"/>
            </a:solidFill>
            <a:prstDash val="dash"/>
          </a:ln>
        </p:spPr>
      </p:sp>
      <p:sp>
        <p:nvSpPr>
          <p:cNvPr id="8" name="Text 6"/>
          <p:cNvSpPr/>
          <p:nvPr/>
        </p:nvSpPr>
        <p:spPr>
          <a:xfrm>
            <a:off x="548640" y="1691640"/>
            <a:ext cx="2834640" cy="3355848"/>
          </a:xfrm>
          <a:prstGeom prst="rect">
            <a:avLst/>
          </a:prstGeom>
          <a:noFill/>
          <a:ln/>
        </p:spPr>
        <p:txBody>
          <a:bodyPr wrap="square" lIns="0" tIns="0" rIns="0" bIns="0" rtlCol="0" anchor="ctr"/>
          <a:lstStyle/>
          <a:p>
            <a:pPr algn="ctr" indent="0" marL="0">
              <a:buNone/>
            </a:pPr>
            <a:r>
              <a:rPr lang="en-US" sz="1000" i="1" dirty="0">
                <a:solidFill>
                  <a:srgbClr val="888888"/>
                </a:solidFill>
                <a:latin typeface="Arial" pitchFamily="34" charset="0"/>
                <a:ea typeface="Arial" pitchFamily="34" charset="-122"/>
                <a:cs typeface="Arial" pitchFamily="34" charset="-120"/>
              </a:rPr>
              <a:t>IMAGE: Render — protein ribbon diagram in a violet-to-magenta-to-gold gradient on graphite black, razor-sharp front with softly-blurred back, faint electron-density mesh around the structure, no labels or annotations</a:t>
            </a:r>
            <a:endParaRPr lang="en-US" sz="1000" dirty="0"/>
          </a:p>
        </p:txBody>
      </p:sp>
      <p:sp>
        <p:nvSpPr>
          <p:cNvPr id="9" name="Shape 7"/>
          <p:cNvSpPr/>
          <p:nvPr/>
        </p:nvSpPr>
        <p:spPr>
          <a:xfrm>
            <a:off x="3657600" y="1691640"/>
            <a:ext cx="5029200" cy="1069848"/>
          </a:xfrm>
          <a:prstGeom prst="rect">
            <a:avLst/>
          </a:prstGeom>
          <a:solidFill>
            <a:srgbClr val="F9F9F9"/>
          </a:solidFill>
          <a:ln w="6350">
            <a:solidFill>
              <a:srgbClr val="E5E5E5"/>
            </a:solidFill>
            <a:prstDash val="solid"/>
          </a:ln>
        </p:spPr>
      </p:sp>
      <p:sp>
        <p:nvSpPr>
          <p:cNvPr id="10" name="Shape 8"/>
          <p:cNvSpPr/>
          <p:nvPr/>
        </p:nvSpPr>
        <p:spPr>
          <a:xfrm>
            <a:off x="3657600" y="1691640"/>
            <a:ext cx="5029200" cy="292608"/>
          </a:xfrm>
          <a:prstGeom prst="rect">
            <a:avLst/>
          </a:prstGeom>
          <a:solidFill>
            <a:srgbClr val="333333"/>
          </a:solidFill>
          <a:ln w="12700">
            <a:solidFill>
              <a:srgbClr val="333333"/>
            </a:solidFill>
            <a:prstDash val="solid"/>
          </a:ln>
        </p:spPr>
      </p:sp>
      <p:sp>
        <p:nvSpPr>
          <p:cNvPr id="11" name="Text 9"/>
          <p:cNvSpPr/>
          <p:nvPr/>
        </p:nvSpPr>
        <p:spPr>
          <a:xfrm>
            <a:off x="3822192" y="1691640"/>
            <a:ext cx="4754880" cy="292608"/>
          </a:xfrm>
          <a:prstGeom prst="rect">
            <a:avLst/>
          </a:prstGeom>
          <a:noFill/>
          <a:ln/>
        </p:spPr>
        <p:txBody>
          <a:bodyPr wrap="square" lIns="0" tIns="0" rIns="0" bIns="0" rtlCol="0" anchor="ctr"/>
          <a:lstStyle/>
          <a:p>
            <a:pPr indent="0" marL="0">
              <a:buNone/>
            </a:pPr>
            <a:r>
              <a:rPr lang="en-US" sz="1050" b="1" spc="200" kern="0" dirty="0">
                <a:solidFill>
                  <a:srgbClr val="FFB800"/>
                </a:solidFill>
                <a:latin typeface="Arial" pitchFamily="34" charset="0"/>
                <a:ea typeface="Arial" pitchFamily="34" charset="-122"/>
                <a:cs typeface="Arial" pitchFamily="34" charset="-120"/>
              </a:rPr>
              <a:t>01   </a:t>
            </a:r>
            <a:pPr indent="0" marL="0">
              <a:buNone/>
            </a:pPr>
            <a:r>
              <a:rPr lang="en-US" sz="1050" b="1" spc="200" kern="0" dirty="0">
                <a:solidFill>
                  <a:srgbClr val="FFFFFF"/>
                </a:solidFill>
                <a:latin typeface="Arial" pitchFamily="34" charset="0"/>
                <a:ea typeface="Arial" pitchFamily="34" charset="-122"/>
                <a:cs typeface="Arial" pitchFamily="34" charset="-120"/>
              </a:rPr>
              <a:t>STRUCTURE PREDICTION</a:t>
            </a:r>
            <a:endParaRPr lang="en-US" sz="1050" dirty="0"/>
          </a:p>
        </p:txBody>
      </p:sp>
      <p:sp>
        <p:nvSpPr>
          <p:cNvPr id="12" name="Text 10"/>
          <p:cNvSpPr/>
          <p:nvPr/>
        </p:nvSpPr>
        <p:spPr>
          <a:xfrm>
            <a:off x="3840480" y="2029968"/>
            <a:ext cx="4663440" cy="685800"/>
          </a:xfrm>
          <a:prstGeom prst="rect">
            <a:avLst/>
          </a:prstGeom>
          <a:noFill/>
          <a:ln/>
        </p:spPr>
        <p:txBody>
          <a:bodyPr wrap="square" lIns="0" tIns="0" rIns="0" bIns="0" rtlCol="0" anchor="t"/>
          <a:lstStyle/>
          <a:p>
            <a:pPr indent="0" marL="0">
              <a:buNone/>
            </a:pPr>
            <a:r>
              <a:rPr lang="en-US" sz="950" dirty="0">
                <a:solidFill>
                  <a:srgbClr val="333333"/>
                </a:solidFill>
                <a:latin typeface="Arial" pitchFamily="34" charset="0"/>
                <a:ea typeface="Arial" pitchFamily="34" charset="-122"/>
                <a:cs typeface="Arial" pitchFamily="34" charset="-120"/>
              </a:rPr>
              <a:t>Predicting a protein's 3D shape from its amino-acid sequence was a 50-year unsolved problem. Crystallography took months per protein. Deep learning now infers structure in seconds</a:t>
            </a:r>
            <a:pPr indent="0" marL="0">
              <a:buNone/>
            </a:pPr>
            <a:r>
              <a:rPr lang="en-US" sz="650" baseline="30000" dirty="0">
                <a:solidFill>
                  <a:srgbClr val="333333"/>
                </a:solidFill>
                <a:latin typeface="Arial" pitchFamily="34" charset="0"/>
                <a:ea typeface="Arial" pitchFamily="34" charset="-122"/>
                <a:cs typeface="Arial" pitchFamily="34" charset="-120"/>
              </a:rPr>
              <a:t> 1</a:t>
            </a:r>
            <a:pPr indent="0" marL="0">
              <a:buNone/>
            </a:pPr>
            <a:r>
              <a:rPr lang="en-US" sz="950" dirty="0">
                <a:solidFill>
                  <a:srgbClr val="333333"/>
                </a:solidFill>
                <a:latin typeface="Arial" pitchFamily="34" charset="0"/>
                <a:ea typeface="Arial" pitchFamily="34" charset="-122"/>
                <a:cs typeface="Arial" pitchFamily="34" charset="-120"/>
              </a:rPr>
              <a:t> — unlocking every drug target at once.</a:t>
            </a:r>
            <a:endParaRPr lang="en-US" sz="950" dirty="0"/>
          </a:p>
        </p:txBody>
      </p:sp>
      <p:sp>
        <p:nvSpPr>
          <p:cNvPr id="13" name="Shape 11"/>
          <p:cNvSpPr/>
          <p:nvPr/>
        </p:nvSpPr>
        <p:spPr>
          <a:xfrm>
            <a:off x="3657600" y="2834640"/>
            <a:ext cx="5029200" cy="1069848"/>
          </a:xfrm>
          <a:prstGeom prst="rect">
            <a:avLst/>
          </a:prstGeom>
          <a:solidFill>
            <a:srgbClr val="F9F9F9"/>
          </a:solidFill>
          <a:ln w="6350">
            <a:solidFill>
              <a:srgbClr val="E5E5E5"/>
            </a:solidFill>
            <a:prstDash val="solid"/>
          </a:ln>
        </p:spPr>
      </p:sp>
      <p:sp>
        <p:nvSpPr>
          <p:cNvPr id="14" name="Shape 12"/>
          <p:cNvSpPr/>
          <p:nvPr/>
        </p:nvSpPr>
        <p:spPr>
          <a:xfrm>
            <a:off x="3657600" y="2834640"/>
            <a:ext cx="5029200" cy="292608"/>
          </a:xfrm>
          <a:prstGeom prst="rect">
            <a:avLst/>
          </a:prstGeom>
          <a:solidFill>
            <a:srgbClr val="333333"/>
          </a:solidFill>
          <a:ln w="12700">
            <a:solidFill>
              <a:srgbClr val="333333"/>
            </a:solidFill>
            <a:prstDash val="solid"/>
          </a:ln>
        </p:spPr>
      </p:sp>
      <p:sp>
        <p:nvSpPr>
          <p:cNvPr id="15" name="Text 13"/>
          <p:cNvSpPr/>
          <p:nvPr/>
        </p:nvSpPr>
        <p:spPr>
          <a:xfrm>
            <a:off x="3822192" y="2834640"/>
            <a:ext cx="4754880" cy="292608"/>
          </a:xfrm>
          <a:prstGeom prst="rect">
            <a:avLst/>
          </a:prstGeom>
          <a:noFill/>
          <a:ln/>
        </p:spPr>
        <p:txBody>
          <a:bodyPr wrap="square" lIns="0" tIns="0" rIns="0" bIns="0" rtlCol="0" anchor="ctr"/>
          <a:lstStyle/>
          <a:p>
            <a:pPr indent="0" marL="0">
              <a:buNone/>
            </a:pPr>
            <a:r>
              <a:rPr lang="en-US" sz="1050" b="1" spc="200" kern="0" dirty="0">
                <a:solidFill>
                  <a:srgbClr val="FFB800"/>
                </a:solidFill>
                <a:latin typeface="Arial" pitchFamily="34" charset="0"/>
                <a:ea typeface="Arial" pitchFamily="34" charset="-122"/>
                <a:cs typeface="Arial" pitchFamily="34" charset="-120"/>
              </a:rPr>
              <a:t>02   </a:t>
            </a:r>
            <a:pPr indent="0" marL="0">
              <a:buNone/>
            </a:pPr>
            <a:r>
              <a:rPr lang="en-US" sz="1050" b="1" spc="200" kern="0" dirty="0">
                <a:solidFill>
                  <a:srgbClr val="FFFFFF"/>
                </a:solidFill>
                <a:latin typeface="Arial" pitchFamily="34" charset="0"/>
                <a:ea typeface="Arial" pitchFamily="34" charset="-122"/>
                <a:cs typeface="Arial" pitchFamily="34" charset="-120"/>
              </a:rPr>
              <a:t>GENERATIVE MOLECULE DESIGN</a:t>
            </a:r>
            <a:endParaRPr lang="en-US" sz="1050" dirty="0"/>
          </a:p>
        </p:txBody>
      </p:sp>
      <p:sp>
        <p:nvSpPr>
          <p:cNvPr id="16" name="Text 14"/>
          <p:cNvSpPr/>
          <p:nvPr/>
        </p:nvSpPr>
        <p:spPr>
          <a:xfrm>
            <a:off x="3840480" y="3172968"/>
            <a:ext cx="4663440" cy="685800"/>
          </a:xfrm>
          <a:prstGeom prst="rect">
            <a:avLst/>
          </a:prstGeom>
          <a:noFill/>
          <a:ln/>
        </p:spPr>
        <p:txBody>
          <a:bodyPr wrap="square" lIns="0" tIns="0" rIns="0" bIns="0" rtlCol="0" anchor="t"/>
          <a:lstStyle/>
          <a:p>
            <a:pPr indent="0" marL="0">
              <a:buNone/>
            </a:pPr>
            <a:r>
              <a:rPr lang="en-US" sz="950" dirty="0">
                <a:solidFill>
                  <a:srgbClr val="333333"/>
                </a:solidFill>
                <a:latin typeface="Arial" pitchFamily="34" charset="0"/>
                <a:ea typeface="Arial" pitchFamily="34" charset="-122"/>
                <a:cs typeface="Arial" pitchFamily="34" charset="-120"/>
              </a:rPr>
              <a:t>There are ~10⁶⁰ drug-like small molecules.</a:t>
            </a:r>
            <a:pPr indent="0" marL="0">
              <a:buNone/>
            </a:pPr>
            <a:r>
              <a:rPr lang="en-US" sz="650" baseline="30000" dirty="0">
                <a:solidFill>
                  <a:srgbClr val="333333"/>
                </a:solidFill>
                <a:latin typeface="Arial" pitchFamily="34" charset="0"/>
                <a:ea typeface="Arial" pitchFamily="34" charset="-122"/>
                <a:cs typeface="Arial" pitchFamily="34" charset="-120"/>
              </a:rPr>
              <a:t> 2</a:t>
            </a:r>
            <a:pPr indent="0" marL="0">
              <a:buNone/>
            </a:pPr>
            <a:r>
              <a:rPr lang="en-US" sz="950" dirty="0">
                <a:solidFill>
                  <a:srgbClr val="333333"/>
                </a:solidFill>
                <a:latin typeface="Arial" pitchFamily="34" charset="0"/>
                <a:ea typeface="Arial" pitchFamily="34" charset="-122"/>
                <a:cs typeface="Arial" pitchFamily="34" charset="-120"/>
              </a:rPr>
              <a:t> Wet labs can screen millions. Generative models search the rest — proposing novel binders optimized for selectivity, potency, and drug-like properties.</a:t>
            </a:r>
            <a:endParaRPr lang="en-US" sz="950" dirty="0"/>
          </a:p>
        </p:txBody>
      </p:sp>
      <p:sp>
        <p:nvSpPr>
          <p:cNvPr id="17" name="Shape 15"/>
          <p:cNvSpPr/>
          <p:nvPr/>
        </p:nvSpPr>
        <p:spPr>
          <a:xfrm>
            <a:off x="3657600" y="3977640"/>
            <a:ext cx="5029200" cy="1069848"/>
          </a:xfrm>
          <a:prstGeom prst="rect">
            <a:avLst/>
          </a:prstGeom>
          <a:solidFill>
            <a:srgbClr val="F9F9F9"/>
          </a:solidFill>
          <a:ln w="6350">
            <a:solidFill>
              <a:srgbClr val="E5E5E5"/>
            </a:solidFill>
            <a:prstDash val="solid"/>
          </a:ln>
        </p:spPr>
      </p:sp>
      <p:sp>
        <p:nvSpPr>
          <p:cNvPr id="18" name="Shape 16"/>
          <p:cNvSpPr/>
          <p:nvPr/>
        </p:nvSpPr>
        <p:spPr>
          <a:xfrm>
            <a:off x="3657600" y="3977640"/>
            <a:ext cx="5029200" cy="292608"/>
          </a:xfrm>
          <a:prstGeom prst="rect">
            <a:avLst/>
          </a:prstGeom>
          <a:solidFill>
            <a:srgbClr val="333333"/>
          </a:solidFill>
          <a:ln w="12700">
            <a:solidFill>
              <a:srgbClr val="333333"/>
            </a:solidFill>
            <a:prstDash val="solid"/>
          </a:ln>
        </p:spPr>
      </p:sp>
      <p:sp>
        <p:nvSpPr>
          <p:cNvPr id="19" name="Text 17"/>
          <p:cNvSpPr/>
          <p:nvPr/>
        </p:nvSpPr>
        <p:spPr>
          <a:xfrm>
            <a:off x="3822192" y="3977640"/>
            <a:ext cx="4754880" cy="292608"/>
          </a:xfrm>
          <a:prstGeom prst="rect">
            <a:avLst/>
          </a:prstGeom>
          <a:noFill/>
          <a:ln/>
        </p:spPr>
        <p:txBody>
          <a:bodyPr wrap="square" lIns="0" tIns="0" rIns="0" bIns="0" rtlCol="0" anchor="ctr"/>
          <a:lstStyle/>
          <a:p>
            <a:pPr indent="0" marL="0">
              <a:buNone/>
            </a:pPr>
            <a:r>
              <a:rPr lang="en-US" sz="1050" b="1" spc="200" kern="0" dirty="0">
                <a:solidFill>
                  <a:srgbClr val="FFB800"/>
                </a:solidFill>
                <a:latin typeface="Arial" pitchFamily="34" charset="0"/>
                <a:ea typeface="Arial" pitchFamily="34" charset="-122"/>
                <a:cs typeface="Arial" pitchFamily="34" charset="-120"/>
              </a:rPr>
              <a:t>03   </a:t>
            </a:r>
            <a:pPr indent="0" marL="0">
              <a:buNone/>
            </a:pPr>
            <a:r>
              <a:rPr lang="en-US" sz="1050" b="1" spc="200" kern="0" dirty="0">
                <a:solidFill>
                  <a:srgbClr val="FFFFFF"/>
                </a:solidFill>
                <a:latin typeface="Arial" pitchFamily="34" charset="0"/>
                <a:ea typeface="Arial" pitchFamily="34" charset="-122"/>
                <a:cs typeface="Arial" pitchFamily="34" charset="-120"/>
              </a:rPr>
              <a:t>IN SILICO VALIDATION</a:t>
            </a:r>
            <a:endParaRPr lang="en-US" sz="1050" dirty="0"/>
          </a:p>
        </p:txBody>
      </p:sp>
      <p:sp>
        <p:nvSpPr>
          <p:cNvPr id="20" name="Text 18"/>
          <p:cNvSpPr/>
          <p:nvPr/>
        </p:nvSpPr>
        <p:spPr>
          <a:xfrm>
            <a:off x="3840480" y="4315968"/>
            <a:ext cx="4663440" cy="685800"/>
          </a:xfrm>
          <a:prstGeom prst="rect">
            <a:avLst/>
          </a:prstGeom>
          <a:noFill/>
          <a:ln/>
        </p:spPr>
        <p:txBody>
          <a:bodyPr wrap="square" lIns="0" tIns="0" rIns="0" bIns="0" rtlCol="0" anchor="t"/>
          <a:lstStyle/>
          <a:p>
            <a:pPr indent="0" marL="0">
              <a:buNone/>
            </a:pPr>
            <a:r>
              <a:rPr lang="en-US" sz="950" dirty="0">
                <a:solidFill>
                  <a:srgbClr val="333333"/>
                </a:solidFill>
                <a:latin typeface="Arial" pitchFamily="34" charset="0"/>
                <a:ea typeface="Arial" pitchFamily="34" charset="-122"/>
                <a:cs typeface="Arial" pitchFamily="34" charset="-120"/>
              </a:rPr>
              <a:t>Molecular dynamics and binding-affinity prediction filter candidates before synthesis. Weeks of bench work become hours of GPU compute. Far fewer molecules reach animal testing.</a:t>
            </a:r>
            <a:endParaRPr lang="en-US" sz="950" dirty="0"/>
          </a:p>
        </p:txBody>
      </p:sp>
      <p:sp>
        <p:nvSpPr>
          <p:cNvPr id="21" name="Shape 19"/>
          <p:cNvSpPr/>
          <p:nvPr/>
        </p:nvSpPr>
        <p:spPr>
          <a:xfrm>
            <a:off x="457200" y="5193792"/>
            <a:ext cx="8229600" cy="384048"/>
          </a:xfrm>
          <a:prstGeom prst="rect">
            <a:avLst/>
          </a:prstGeom>
          <a:solidFill>
            <a:srgbClr val="FFD100"/>
          </a:solidFill>
          <a:ln w="12700">
            <a:solidFill>
              <a:srgbClr val="FFD100"/>
            </a:solidFill>
            <a:prstDash val="solid"/>
          </a:ln>
        </p:spPr>
      </p:sp>
      <p:sp>
        <p:nvSpPr>
          <p:cNvPr id="22" name="Text 20"/>
          <p:cNvSpPr/>
          <p:nvPr/>
        </p:nvSpPr>
        <p:spPr>
          <a:xfrm>
            <a:off x="640080" y="5193792"/>
            <a:ext cx="7863840" cy="384048"/>
          </a:xfrm>
          <a:prstGeom prst="rect">
            <a:avLst/>
          </a:prstGeom>
          <a:noFill/>
          <a:ln/>
        </p:spPr>
        <p:txBody>
          <a:bodyPr wrap="square" lIns="0" tIns="0" rIns="0" bIns="0" rtlCol="0" anchor="ctr"/>
          <a:lstStyle/>
          <a:p>
            <a:pPr indent="0" marL="0">
              <a:buNone/>
            </a:pPr>
            <a:r>
              <a:rPr lang="en-US" sz="1000" b="1" dirty="0">
                <a:solidFill>
                  <a:srgbClr val="000000"/>
                </a:solidFill>
                <a:latin typeface="Arial" pitchFamily="34" charset="0"/>
                <a:ea typeface="Arial" pitchFamily="34" charset="-122"/>
                <a:cs typeface="Arial" pitchFamily="34" charset="-120"/>
              </a:rPr>
              <a:t>Traditional pharma: 10–15 years, ~$2.6B per approved drug, &lt;10% Phase I success.</a:t>
            </a:r>
            <a:pPr indent="0" marL="0">
              <a:buNone/>
            </a:pPr>
            <a:r>
              <a:rPr lang="en-US" sz="700" b="1" baseline="30000" dirty="0">
                <a:solidFill>
                  <a:srgbClr val="000000"/>
                </a:solidFill>
                <a:latin typeface="Arial" pitchFamily="34" charset="0"/>
                <a:ea typeface="Arial" pitchFamily="34" charset="-122"/>
                <a:cs typeface="Arial" pitchFamily="34" charset="-120"/>
              </a:rPr>
              <a:t> 3</a:t>
            </a:r>
            <a:pPr indent="0" marL="0">
              <a:buNone/>
            </a:pPr>
            <a:r>
              <a:rPr lang="en-US" sz="1000" b="1" dirty="0">
                <a:solidFill>
                  <a:srgbClr val="000000"/>
                </a:solidFill>
                <a:latin typeface="Arial" pitchFamily="34" charset="0"/>
                <a:ea typeface="Arial" pitchFamily="34" charset="-122"/>
                <a:cs typeface="Arial" pitchFamily="34" charset="-120"/>
              </a:rPr>
              <a:t> AI collapses the design stage — clinical trials are still bound by biology and the FDA.</a:t>
            </a:r>
            <a:endParaRPr lang="en-US" sz="1000" dirty="0"/>
          </a:p>
        </p:txBody>
      </p:sp>
      <p:sp>
        <p:nvSpPr>
          <p:cNvPr id="23" name="Text 21"/>
          <p:cNvSpPr/>
          <p:nvPr/>
        </p:nvSpPr>
        <p:spPr>
          <a:xfrm>
            <a:off x="457200" y="5875020"/>
            <a:ext cx="8229600" cy="457200"/>
          </a:xfrm>
          <a:prstGeom prst="rect">
            <a:avLst/>
          </a:prstGeom>
          <a:noFill/>
          <a:ln/>
        </p:spPr>
        <p:txBody>
          <a:bodyPr wrap="square" lIns="0" tIns="0" rIns="0" bIns="0" rtlCol="0" anchor="t"/>
          <a:lstStyle/>
          <a:p>
            <a:pPr indent="0" marL="0">
              <a:buNone/>
            </a:pPr>
            <a:r>
              <a:rPr lang="en-US" sz="700" b="1" dirty="0">
                <a:solidFill>
                  <a:srgbClr val="999999"/>
                </a:solidFill>
                <a:latin typeface="Arial" pitchFamily="34" charset="0"/>
                <a:ea typeface="Arial" pitchFamily="34" charset="-122"/>
                <a:cs typeface="Arial" pitchFamily="34" charset="-120"/>
              </a:rPr>
              <a:t>(1) </a:t>
            </a:r>
            <a:pPr indent="0" marL="0">
              <a:buNone/>
            </a:pPr>
            <a:r>
              <a:rPr lang="en-US" sz="700" dirty="0">
                <a:solidFill>
                  <a:srgbClr val="999999"/>
                </a:solidFill>
                <a:latin typeface="Arial" pitchFamily="34" charset="0"/>
                <a:ea typeface="Arial" pitchFamily="34" charset="-122"/>
                <a:cs typeface="Arial" pitchFamily="34" charset="-120"/>
              </a:rPr>
              <a:t>Jumper et al., AlphaFold, Nature 2020, </a:t>
            </a:r>
            <a:pPr indent="0" marL="0">
              <a:buNone/>
            </a:pPr>
            <a:r>
              <a:rPr lang="en-US" sz="700" b="1" dirty="0">
                <a:solidFill>
                  <a:srgbClr val="999999"/>
                </a:solidFill>
                <a:latin typeface="Arial" pitchFamily="34" charset="0"/>
                <a:ea typeface="Arial" pitchFamily="34" charset="-122"/>
                <a:cs typeface="Arial" pitchFamily="34" charset="-120"/>
              </a:rPr>
              <a:t>(2) </a:t>
            </a:r>
            <a:pPr indent="0" marL="0">
              <a:buNone/>
            </a:pPr>
            <a:r>
              <a:rPr lang="en-US" sz="700" dirty="0">
                <a:solidFill>
                  <a:srgbClr val="999999"/>
                </a:solidFill>
                <a:latin typeface="Arial" pitchFamily="34" charset="0"/>
                <a:ea typeface="Arial" pitchFamily="34" charset="-122"/>
                <a:cs typeface="Arial" pitchFamily="34" charset="-120"/>
              </a:rPr>
              <a:t>Hughes et al., Br. J. Pharmacol. — screening scale, </a:t>
            </a:r>
            <a:pPr indent="0" marL="0">
              <a:buNone/>
            </a:pPr>
            <a:r>
              <a:rPr lang="en-US" sz="700" b="1" dirty="0">
                <a:solidFill>
                  <a:srgbClr val="999999"/>
                </a:solidFill>
                <a:latin typeface="Arial" pitchFamily="34" charset="0"/>
                <a:ea typeface="Arial" pitchFamily="34" charset="-122"/>
                <a:cs typeface="Arial" pitchFamily="34" charset="-120"/>
              </a:rPr>
              <a:t>(3) </a:t>
            </a:r>
            <a:pPr indent="0" marL="0">
              <a:buNone/>
            </a:pPr>
            <a:r>
              <a:rPr lang="en-US" sz="700" dirty="0">
                <a:solidFill>
                  <a:srgbClr val="999999"/>
                </a:solidFill>
                <a:latin typeface="Arial" pitchFamily="34" charset="0"/>
                <a:ea typeface="Arial" pitchFamily="34" charset="-122"/>
                <a:cs typeface="Arial" pitchFamily="34" charset="-120"/>
              </a:rPr>
              <a:t>Tufts CSDD — drug-development cost and timeline.</a:t>
            </a:r>
            <a:endParaRPr lang="en-US" sz="700" dirty="0"/>
          </a:p>
        </p:txBody>
      </p:sp>
      <p:sp>
        <p:nvSpPr>
          <p:cNvPr id="24" name="Shape 22"/>
          <p:cNvSpPr/>
          <p:nvPr/>
        </p:nvSpPr>
        <p:spPr>
          <a:xfrm>
            <a:off x="0" y="6286500"/>
            <a:ext cx="9144000" cy="571500"/>
          </a:xfrm>
          <a:prstGeom prst="rect">
            <a:avLst/>
          </a:prstGeom>
          <a:solidFill>
            <a:srgbClr val="000000"/>
          </a:solidFill>
          <a:ln w="12700">
            <a:solidFill>
              <a:srgbClr val="000000"/>
            </a:solidFill>
            <a:prstDash val="solid"/>
          </a:ln>
        </p:spPr>
      </p:sp>
      <p:sp>
        <p:nvSpPr>
          <p:cNvPr id="25" name="Text 23"/>
          <p:cNvSpPr/>
          <p:nvPr/>
        </p:nvSpPr>
        <p:spPr>
          <a:xfrm>
            <a:off x="1371600" y="6332220"/>
            <a:ext cx="6400800" cy="45720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26" name="Text 24"/>
          <p:cNvSpPr/>
          <p:nvPr/>
        </p:nvSpPr>
        <p:spPr>
          <a:xfrm>
            <a:off x="8321040" y="6405372"/>
            <a:ext cx="548640" cy="27432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182880"/>
            <a:ext cx="8229600" cy="685800"/>
          </a:xfrm>
          <a:prstGeom prst="rect">
            <a:avLst/>
          </a:prstGeom>
          <a:noFill/>
          <a:ln/>
        </p:spPr>
        <p:txBody>
          <a:bodyPr wrap="square" lIns="0" tIns="0" rIns="0" bIns="0" rtlCol="0" anchor="t"/>
          <a:lstStyle/>
          <a:p>
            <a:pPr indent="0" marL="0">
              <a:buNone/>
            </a:pPr>
            <a:r>
              <a:rPr lang="en-US" sz="2400" b="1" dirty="0">
                <a:solidFill>
                  <a:srgbClr val="000000"/>
                </a:solidFill>
                <a:latin typeface="Arial Black" pitchFamily="34" charset="0"/>
                <a:ea typeface="Arial Black" pitchFamily="34" charset="-122"/>
                <a:cs typeface="Arial Black" pitchFamily="34" charset="-120"/>
              </a:rPr>
              <a:t>Generational scale. Basket over. Bottleneck moves. Exposure is a thesis.</a:t>
            </a:r>
            <a:endParaRPr lang="en-US" sz="2400" dirty="0"/>
          </a:p>
        </p:txBody>
      </p:sp>
      <p:sp>
        <p:nvSpPr>
          <p:cNvPr id="3" name="Text 1"/>
          <p:cNvSpPr/>
          <p:nvPr/>
        </p:nvSpPr>
        <p:spPr>
          <a:xfrm>
            <a:off x="457200" y="91440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Four big-picture takeaways.</a:t>
            </a:r>
            <a:endParaRPr lang="en-US" sz="1350" dirty="0"/>
          </a:p>
        </p:txBody>
      </p:sp>
      <p:sp>
        <p:nvSpPr>
          <p:cNvPr id="4" name="Shape 2"/>
          <p:cNvSpPr/>
          <p:nvPr/>
        </p:nvSpPr>
        <p:spPr>
          <a:xfrm>
            <a:off x="457200" y="1325880"/>
            <a:ext cx="8229600" cy="0"/>
          </a:xfrm>
          <a:prstGeom prst="line">
            <a:avLst/>
          </a:prstGeom>
          <a:noFill/>
          <a:ln w="9525">
            <a:solidFill>
              <a:srgbClr val="E5E5E5"/>
            </a:solidFill>
            <a:prstDash val="solid"/>
          </a:ln>
        </p:spPr>
      </p:sp>
      <p:sp>
        <p:nvSpPr>
          <p:cNvPr id="5" name="Shape 3"/>
          <p:cNvSpPr/>
          <p:nvPr/>
        </p:nvSpPr>
        <p:spPr>
          <a:xfrm>
            <a:off x="457200" y="1463040"/>
            <a:ext cx="868680" cy="868680"/>
          </a:xfrm>
          <a:prstGeom prst="rect">
            <a:avLst/>
          </a:prstGeom>
          <a:solidFill>
            <a:srgbClr val="008B8B"/>
          </a:solidFill>
          <a:ln w="12700">
            <a:solidFill>
              <a:srgbClr val="008B8B"/>
            </a:solidFill>
            <a:prstDash val="solid"/>
          </a:ln>
        </p:spPr>
      </p:sp>
      <p:sp>
        <p:nvSpPr>
          <p:cNvPr id="6" name="Text 4"/>
          <p:cNvSpPr/>
          <p:nvPr/>
        </p:nvSpPr>
        <p:spPr>
          <a:xfrm>
            <a:off x="457200" y="1463040"/>
            <a:ext cx="868680" cy="868680"/>
          </a:xfrm>
          <a:prstGeom prst="rect">
            <a:avLst/>
          </a:prstGeom>
          <a:noFill/>
          <a:ln/>
        </p:spPr>
        <p:txBody>
          <a:bodyPr wrap="square" lIns="0" tIns="0" rIns="0" bIns="0" rtlCol="0" anchor="ctr"/>
          <a:lstStyle/>
          <a:p>
            <a:pPr algn="ctr" indent="0" marL="0">
              <a:buNone/>
            </a:pPr>
            <a:r>
              <a:rPr lang="en-US" sz="2600" b="1" dirty="0">
                <a:solidFill>
                  <a:srgbClr val="FFFFFF"/>
                </a:solidFill>
                <a:latin typeface="Arial Black" pitchFamily="34" charset="0"/>
                <a:ea typeface="Arial Black" pitchFamily="34" charset="-122"/>
                <a:cs typeface="Arial Black" pitchFamily="34" charset="-120"/>
              </a:rPr>
              <a:t>01</a:t>
            </a:r>
            <a:endParaRPr lang="en-US" sz="2600" dirty="0"/>
          </a:p>
        </p:txBody>
      </p:sp>
      <p:sp>
        <p:nvSpPr>
          <p:cNvPr id="7" name="Text 5"/>
          <p:cNvSpPr/>
          <p:nvPr/>
        </p:nvSpPr>
        <p:spPr>
          <a:xfrm>
            <a:off x="1508760" y="1481328"/>
            <a:ext cx="7178040" cy="329184"/>
          </a:xfrm>
          <a:prstGeom prst="rect">
            <a:avLst/>
          </a:prstGeom>
          <a:noFill/>
          <a:ln/>
        </p:spPr>
        <p:txBody>
          <a:bodyPr wrap="square" lIns="0" tIns="0" rIns="0" bIns="0" rtlCol="0" anchor="t"/>
          <a:lstStyle/>
          <a:p>
            <a:pPr indent="0" marL="0">
              <a:buNone/>
            </a:pPr>
            <a:r>
              <a:rPr lang="en-US" sz="1500" b="1" dirty="0">
                <a:solidFill>
                  <a:srgbClr val="333333"/>
                </a:solidFill>
                <a:latin typeface="Arial" pitchFamily="34" charset="0"/>
                <a:ea typeface="Arial" pitchFamily="34" charset="-122"/>
                <a:cs typeface="Arial" pitchFamily="34" charset="-120"/>
              </a:rPr>
              <a:t>AI is the defining capital-allocation event of this decade.</a:t>
            </a:r>
            <a:endParaRPr lang="en-US" sz="1500" dirty="0"/>
          </a:p>
        </p:txBody>
      </p:sp>
      <p:sp>
        <p:nvSpPr>
          <p:cNvPr id="8" name="Text 6"/>
          <p:cNvSpPr/>
          <p:nvPr/>
        </p:nvSpPr>
        <p:spPr>
          <a:xfrm>
            <a:off x="1508760" y="1828800"/>
            <a:ext cx="7178040" cy="621792"/>
          </a:xfrm>
          <a:prstGeom prst="rect">
            <a:avLst/>
          </a:prstGeom>
          <a:noFill/>
          <a:ln/>
        </p:spPr>
        <p:txBody>
          <a:bodyPr wrap="square" lIns="0" tIns="0" rIns="0" bIns="0" rtlCol="0" anchor="t"/>
          <a:lstStyle/>
          <a:p>
            <a:pPr indent="0" marL="0">
              <a:buNone/>
            </a:pPr>
            <a:r>
              <a:rPr lang="en-US" sz="1050" dirty="0">
                <a:solidFill>
                  <a:srgbClr val="666666"/>
                </a:solidFill>
                <a:latin typeface="Arial" pitchFamily="34" charset="0"/>
                <a:ea typeface="Arial" pitchFamily="34" charset="-122"/>
                <a:cs typeface="Arial" pitchFamily="34" charset="-120"/>
              </a:rPr>
              <a:t>A handful of hyperscalers are deploying capital fast enough to reshape power grids, real estate, and global supply chains all at once. AI capex has become the dominant driver of US business investment, and the scale itself is the story.</a:t>
            </a:r>
            <a:endParaRPr lang="en-US" sz="1050" dirty="0"/>
          </a:p>
        </p:txBody>
      </p:sp>
      <p:sp>
        <p:nvSpPr>
          <p:cNvPr id="9" name="Shape 7"/>
          <p:cNvSpPr/>
          <p:nvPr/>
        </p:nvSpPr>
        <p:spPr>
          <a:xfrm>
            <a:off x="457200" y="2487168"/>
            <a:ext cx="868680" cy="868680"/>
          </a:xfrm>
          <a:prstGeom prst="rect">
            <a:avLst/>
          </a:prstGeom>
          <a:solidFill>
            <a:srgbClr val="FFB800"/>
          </a:solidFill>
          <a:ln w="12700">
            <a:solidFill>
              <a:srgbClr val="FFB800"/>
            </a:solidFill>
            <a:prstDash val="solid"/>
          </a:ln>
        </p:spPr>
      </p:sp>
      <p:sp>
        <p:nvSpPr>
          <p:cNvPr id="10" name="Text 8"/>
          <p:cNvSpPr/>
          <p:nvPr/>
        </p:nvSpPr>
        <p:spPr>
          <a:xfrm>
            <a:off x="457200" y="2487168"/>
            <a:ext cx="868680" cy="868680"/>
          </a:xfrm>
          <a:prstGeom prst="rect">
            <a:avLst/>
          </a:prstGeom>
          <a:noFill/>
          <a:ln/>
        </p:spPr>
        <p:txBody>
          <a:bodyPr wrap="square" lIns="0" tIns="0" rIns="0" bIns="0" rtlCol="0" anchor="ctr"/>
          <a:lstStyle/>
          <a:p>
            <a:pPr algn="ctr" indent="0" marL="0">
              <a:buNone/>
            </a:pPr>
            <a:r>
              <a:rPr lang="en-US" sz="2600" b="1" dirty="0">
                <a:solidFill>
                  <a:srgbClr val="FFFFFF"/>
                </a:solidFill>
                <a:latin typeface="Arial Black" pitchFamily="34" charset="0"/>
                <a:ea typeface="Arial Black" pitchFamily="34" charset="-122"/>
                <a:cs typeface="Arial Black" pitchFamily="34" charset="-120"/>
              </a:rPr>
              <a:t>02</a:t>
            </a:r>
            <a:endParaRPr lang="en-US" sz="2600" dirty="0"/>
          </a:p>
        </p:txBody>
      </p:sp>
      <p:sp>
        <p:nvSpPr>
          <p:cNvPr id="11" name="Text 9"/>
          <p:cNvSpPr/>
          <p:nvPr/>
        </p:nvSpPr>
        <p:spPr>
          <a:xfrm>
            <a:off x="1508760" y="2505456"/>
            <a:ext cx="7178040" cy="329184"/>
          </a:xfrm>
          <a:prstGeom prst="rect">
            <a:avLst/>
          </a:prstGeom>
          <a:noFill/>
          <a:ln/>
        </p:spPr>
        <p:txBody>
          <a:bodyPr wrap="square" lIns="0" tIns="0" rIns="0" bIns="0" rtlCol="0" anchor="t"/>
          <a:lstStyle/>
          <a:p>
            <a:pPr indent="0" marL="0">
              <a:buNone/>
            </a:pPr>
            <a:r>
              <a:rPr lang="en-US" sz="1500" b="1" dirty="0">
                <a:solidFill>
                  <a:srgbClr val="333333"/>
                </a:solidFill>
                <a:latin typeface="Arial" pitchFamily="34" charset="0"/>
                <a:ea typeface="Arial" pitchFamily="34" charset="-122"/>
                <a:cs typeface="Arial" pitchFamily="34" charset="-120"/>
              </a:rPr>
              <a:t>The basket trade is over. Stock selection now drives AI returns.</a:t>
            </a:r>
            <a:endParaRPr lang="en-US" sz="1500" dirty="0"/>
          </a:p>
        </p:txBody>
      </p:sp>
      <p:sp>
        <p:nvSpPr>
          <p:cNvPr id="12" name="Text 10"/>
          <p:cNvSpPr/>
          <p:nvPr/>
        </p:nvSpPr>
        <p:spPr>
          <a:xfrm>
            <a:off x="1508760" y="2852928"/>
            <a:ext cx="7178040" cy="621792"/>
          </a:xfrm>
          <a:prstGeom prst="rect">
            <a:avLst/>
          </a:prstGeom>
          <a:noFill/>
          <a:ln/>
        </p:spPr>
        <p:txBody>
          <a:bodyPr wrap="square" lIns="0" tIns="0" rIns="0" bIns="0" rtlCol="0" anchor="t"/>
          <a:lstStyle/>
          <a:p>
            <a:pPr indent="0" marL="0">
              <a:buNone/>
            </a:pPr>
            <a:r>
              <a:rPr lang="en-US" sz="1050" dirty="0">
                <a:solidFill>
                  <a:srgbClr val="666666"/>
                </a:solidFill>
                <a:latin typeface="Arial" pitchFamily="34" charset="0"/>
                <a:ea typeface="Arial" pitchFamily="34" charset="-122"/>
                <a:cs typeface="Arial" pitchFamily="34" charset="-120"/>
              </a:rPr>
              <a:t>Returns inside the AI complex have dispersed sharply. Owning the whole space no longer works; alpha now sits in choosing which layer of the stack, and which name within it, you actually want to own.</a:t>
            </a:r>
            <a:endParaRPr lang="en-US" sz="1050" dirty="0"/>
          </a:p>
        </p:txBody>
      </p:sp>
      <p:sp>
        <p:nvSpPr>
          <p:cNvPr id="13" name="Shape 11"/>
          <p:cNvSpPr/>
          <p:nvPr/>
        </p:nvSpPr>
        <p:spPr>
          <a:xfrm>
            <a:off x="457200" y="3511296"/>
            <a:ext cx="868680" cy="868680"/>
          </a:xfrm>
          <a:prstGeom prst="rect">
            <a:avLst/>
          </a:prstGeom>
          <a:solidFill>
            <a:srgbClr val="CC0000"/>
          </a:solidFill>
          <a:ln w="12700">
            <a:solidFill>
              <a:srgbClr val="CC0000"/>
            </a:solidFill>
            <a:prstDash val="solid"/>
          </a:ln>
        </p:spPr>
      </p:sp>
      <p:sp>
        <p:nvSpPr>
          <p:cNvPr id="14" name="Text 12"/>
          <p:cNvSpPr/>
          <p:nvPr/>
        </p:nvSpPr>
        <p:spPr>
          <a:xfrm>
            <a:off x="457200" y="3511296"/>
            <a:ext cx="868680" cy="868680"/>
          </a:xfrm>
          <a:prstGeom prst="rect">
            <a:avLst/>
          </a:prstGeom>
          <a:noFill/>
          <a:ln/>
        </p:spPr>
        <p:txBody>
          <a:bodyPr wrap="square" lIns="0" tIns="0" rIns="0" bIns="0" rtlCol="0" anchor="ctr"/>
          <a:lstStyle/>
          <a:p>
            <a:pPr algn="ctr" indent="0" marL="0">
              <a:buNone/>
            </a:pPr>
            <a:r>
              <a:rPr lang="en-US" sz="2600" b="1" dirty="0">
                <a:solidFill>
                  <a:srgbClr val="FFFFFF"/>
                </a:solidFill>
                <a:latin typeface="Arial Black" pitchFamily="34" charset="0"/>
                <a:ea typeface="Arial Black" pitchFamily="34" charset="-122"/>
                <a:cs typeface="Arial Black" pitchFamily="34" charset="-120"/>
              </a:rPr>
              <a:t>03</a:t>
            </a:r>
            <a:endParaRPr lang="en-US" sz="2600" dirty="0"/>
          </a:p>
        </p:txBody>
      </p:sp>
      <p:sp>
        <p:nvSpPr>
          <p:cNvPr id="15" name="Text 13"/>
          <p:cNvSpPr/>
          <p:nvPr/>
        </p:nvSpPr>
        <p:spPr>
          <a:xfrm>
            <a:off x="1508760" y="3529584"/>
            <a:ext cx="7178040" cy="329184"/>
          </a:xfrm>
          <a:prstGeom prst="rect">
            <a:avLst/>
          </a:prstGeom>
          <a:noFill/>
          <a:ln/>
        </p:spPr>
        <p:txBody>
          <a:bodyPr wrap="square" lIns="0" tIns="0" rIns="0" bIns="0" rtlCol="0" anchor="t"/>
          <a:lstStyle/>
          <a:p>
            <a:pPr indent="0" marL="0">
              <a:buNone/>
            </a:pPr>
            <a:r>
              <a:rPr lang="en-US" sz="1500" b="1" dirty="0">
                <a:solidFill>
                  <a:srgbClr val="333333"/>
                </a:solidFill>
                <a:latin typeface="Arial" pitchFamily="34" charset="0"/>
                <a:ea typeface="Arial" pitchFamily="34" charset="-122"/>
                <a:cs typeface="Arial" pitchFamily="34" charset="-120"/>
              </a:rPr>
              <a:t>The bottleneck moves through the AI stack. Own the next one.</a:t>
            </a:r>
            <a:endParaRPr lang="en-US" sz="1500" dirty="0"/>
          </a:p>
        </p:txBody>
      </p:sp>
      <p:sp>
        <p:nvSpPr>
          <p:cNvPr id="16" name="Text 14"/>
          <p:cNvSpPr/>
          <p:nvPr/>
        </p:nvSpPr>
        <p:spPr>
          <a:xfrm>
            <a:off x="1508760" y="3877056"/>
            <a:ext cx="7178040" cy="621792"/>
          </a:xfrm>
          <a:prstGeom prst="rect">
            <a:avLst/>
          </a:prstGeom>
          <a:noFill/>
          <a:ln/>
        </p:spPr>
        <p:txBody>
          <a:bodyPr wrap="square" lIns="0" tIns="0" rIns="0" bIns="0" rtlCol="0" anchor="t"/>
          <a:lstStyle/>
          <a:p>
            <a:pPr indent="0" marL="0">
              <a:buNone/>
            </a:pPr>
            <a:r>
              <a:rPr lang="en-US" sz="1050" dirty="0">
                <a:solidFill>
                  <a:srgbClr val="666666"/>
                </a:solidFill>
                <a:latin typeface="Arial" pitchFamily="34" charset="0"/>
                <a:ea typeface="Arial" pitchFamily="34" charset="-122"/>
                <a:cs typeface="Arial" pitchFamily="34" charset="-120"/>
              </a:rPr>
              <a:t>From foundry capacity to memory to advanced packaging to power and the grid, the binding constraint keeps shifting. Whoever owns the next bottleneck captures the margin until the next one forms.</a:t>
            </a:r>
            <a:endParaRPr lang="en-US" sz="1050" dirty="0"/>
          </a:p>
        </p:txBody>
      </p:sp>
      <p:sp>
        <p:nvSpPr>
          <p:cNvPr id="17" name="Shape 15"/>
          <p:cNvSpPr/>
          <p:nvPr/>
        </p:nvSpPr>
        <p:spPr>
          <a:xfrm>
            <a:off x="457200" y="4535424"/>
            <a:ext cx="868680" cy="868680"/>
          </a:xfrm>
          <a:prstGeom prst="rect">
            <a:avLst/>
          </a:prstGeom>
          <a:solidFill>
            <a:srgbClr val="6B46C1"/>
          </a:solidFill>
          <a:ln w="12700">
            <a:solidFill>
              <a:srgbClr val="6B46C1"/>
            </a:solidFill>
            <a:prstDash val="solid"/>
          </a:ln>
        </p:spPr>
      </p:sp>
      <p:sp>
        <p:nvSpPr>
          <p:cNvPr id="18" name="Text 16"/>
          <p:cNvSpPr/>
          <p:nvPr/>
        </p:nvSpPr>
        <p:spPr>
          <a:xfrm>
            <a:off x="457200" y="4535424"/>
            <a:ext cx="868680" cy="868680"/>
          </a:xfrm>
          <a:prstGeom prst="rect">
            <a:avLst/>
          </a:prstGeom>
          <a:noFill/>
          <a:ln/>
        </p:spPr>
        <p:txBody>
          <a:bodyPr wrap="square" lIns="0" tIns="0" rIns="0" bIns="0" rtlCol="0" anchor="ctr"/>
          <a:lstStyle/>
          <a:p>
            <a:pPr algn="ctr" indent="0" marL="0">
              <a:buNone/>
            </a:pPr>
            <a:r>
              <a:rPr lang="en-US" sz="2600" b="1" dirty="0">
                <a:solidFill>
                  <a:srgbClr val="FFFFFF"/>
                </a:solidFill>
                <a:latin typeface="Arial Black" pitchFamily="34" charset="0"/>
                <a:ea typeface="Arial Black" pitchFamily="34" charset="-122"/>
                <a:cs typeface="Arial Black" pitchFamily="34" charset="-120"/>
              </a:rPr>
              <a:t>04</a:t>
            </a:r>
            <a:endParaRPr lang="en-US" sz="2600" dirty="0"/>
          </a:p>
        </p:txBody>
      </p:sp>
      <p:sp>
        <p:nvSpPr>
          <p:cNvPr id="19" name="Text 17"/>
          <p:cNvSpPr/>
          <p:nvPr/>
        </p:nvSpPr>
        <p:spPr>
          <a:xfrm>
            <a:off x="1508760" y="4553712"/>
            <a:ext cx="7178040" cy="329184"/>
          </a:xfrm>
          <a:prstGeom prst="rect">
            <a:avLst/>
          </a:prstGeom>
          <a:noFill/>
          <a:ln/>
        </p:spPr>
        <p:txBody>
          <a:bodyPr wrap="square" lIns="0" tIns="0" rIns="0" bIns="0" rtlCol="0" anchor="t"/>
          <a:lstStyle/>
          <a:p>
            <a:pPr indent="0" marL="0">
              <a:buNone/>
            </a:pPr>
            <a:r>
              <a:rPr lang="en-US" sz="1500" b="1" dirty="0">
                <a:solidFill>
                  <a:srgbClr val="333333"/>
                </a:solidFill>
                <a:latin typeface="Arial" pitchFamily="34" charset="0"/>
                <a:ea typeface="Arial" pitchFamily="34" charset="-122"/>
                <a:cs typeface="Arial" pitchFamily="34" charset="-120"/>
              </a:rPr>
              <a:t>If you index, you already own the AI capex thesis.</a:t>
            </a:r>
            <a:endParaRPr lang="en-US" sz="1500" dirty="0"/>
          </a:p>
        </p:txBody>
      </p:sp>
      <p:sp>
        <p:nvSpPr>
          <p:cNvPr id="20" name="Text 18"/>
          <p:cNvSpPr/>
          <p:nvPr/>
        </p:nvSpPr>
        <p:spPr>
          <a:xfrm>
            <a:off x="1508760" y="4901184"/>
            <a:ext cx="7178040" cy="621792"/>
          </a:xfrm>
          <a:prstGeom prst="rect">
            <a:avLst/>
          </a:prstGeom>
          <a:noFill/>
          <a:ln/>
        </p:spPr>
        <p:txBody>
          <a:bodyPr wrap="square" lIns="0" tIns="0" rIns="0" bIns="0" rtlCol="0" anchor="t"/>
          <a:lstStyle/>
          <a:p>
            <a:pPr indent="0" marL="0">
              <a:buNone/>
            </a:pPr>
            <a:r>
              <a:rPr lang="en-US" sz="1050" dirty="0">
                <a:solidFill>
                  <a:srgbClr val="666666"/>
                </a:solidFill>
                <a:latin typeface="Arial" pitchFamily="34" charset="0"/>
                <a:ea typeface="Arial" pitchFamily="34" charset="-122"/>
                <a:cs typeface="Arial" pitchFamily="34" charset="-120"/>
              </a:rPr>
              <a:t>US large-cap indices already embed AI capex exposure at concentrated weights. Recognize that exposure, size it, or hedge it, but the position should be a deliberate choice rather than a default.</a:t>
            </a:r>
            <a:endParaRPr lang="en-US" sz="1050" dirty="0"/>
          </a:p>
        </p:txBody>
      </p:sp>
      <p:sp>
        <p:nvSpPr>
          <p:cNvPr id="21" name="Text 19"/>
          <p:cNvSpPr/>
          <p:nvPr/>
        </p:nvSpPr>
        <p:spPr>
          <a:xfrm>
            <a:off x="457200" y="5623560"/>
            <a:ext cx="8229600" cy="320040"/>
          </a:xfrm>
          <a:prstGeom prst="rect">
            <a:avLst/>
          </a:prstGeom>
          <a:noFill/>
          <a:ln/>
        </p:spPr>
        <p:txBody>
          <a:bodyPr wrap="square" lIns="0" tIns="0" rIns="0" bIns="0" rtlCol="0" anchor="t"/>
          <a:lstStyle/>
          <a:p>
            <a:pPr indent="0" marL="0">
              <a:buNone/>
            </a:pPr>
            <a:r>
              <a:rPr lang="en-US" sz="700" dirty="0">
                <a:solidFill>
                  <a:srgbClr val="999999"/>
                </a:solidFill>
                <a:latin typeface="Arial" pitchFamily="34" charset="0"/>
                <a:ea typeface="Arial" pitchFamily="34" charset="-122"/>
                <a:cs typeface="Arial" pitchFamily="34" charset="-120"/>
              </a:rPr>
              <a:t>Sources: company filings; Goldman Sachs; SemiAnalysis; BofA; TrendForce. See appendix for figure-by-figure citations.</a:t>
            </a:r>
            <a:endParaRPr lang="en-US" sz="700" dirty="0"/>
          </a:p>
        </p:txBody>
      </p:sp>
      <p:sp>
        <p:nvSpPr>
          <p:cNvPr id="22" name="Shape 20"/>
          <p:cNvSpPr/>
          <p:nvPr/>
        </p:nvSpPr>
        <p:spPr>
          <a:xfrm>
            <a:off x="0" y="6286500"/>
            <a:ext cx="9144000" cy="571500"/>
          </a:xfrm>
          <a:prstGeom prst="rect">
            <a:avLst/>
          </a:prstGeom>
          <a:solidFill>
            <a:srgbClr val="000000"/>
          </a:solidFill>
          <a:ln w="12700">
            <a:solidFill>
              <a:srgbClr val="000000"/>
            </a:solidFill>
            <a:prstDash val="solid"/>
          </a:ln>
        </p:spPr>
      </p:sp>
      <p:sp>
        <p:nvSpPr>
          <p:cNvPr id="23" name="Text 21"/>
          <p:cNvSpPr/>
          <p:nvPr/>
        </p:nvSpPr>
        <p:spPr>
          <a:xfrm>
            <a:off x="1371600" y="6332220"/>
            <a:ext cx="6400800" cy="45720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24" name="Text 22"/>
          <p:cNvSpPr/>
          <p:nvPr/>
        </p:nvSpPr>
        <p:spPr>
          <a:xfrm>
            <a:off x="8321040" y="6405372"/>
            <a:ext cx="548640" cy="27432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182880"/>
            <a:ext cx="6583680" cy="685800"/>
          </a:xfrm>
          <a:prstGeom prst="rect">
            <a:avLst/>
          </a:prstGeom>
          <a:noFill/>
          <a:ln/>
        </p:spPr>
        <p:txBody>
          <a:bodyPr wrap="square" lIns="0" tIns="0" rIns="0" bIns="0" rtlCol="0" anchor="t"/>
          <a:lstStyle/>
          <a:p>
            <a:pPr indent="0" marL="0">
              <a:buNone/>
            </a:pPr>
            <a:r>
              <a:rPr lang="en-US" sz="2400" b="1" dirty="0">
                <a:solidFill>
                  <a:srgbClr val="000000"/>
                </a:solidFill>
                <a:latin typeface="Arial Black" pitchFamily="34" charset="0"/>
                <a:ea typeface="Arial Black" pitchFamily="34" charset="-122"/>
                <a:cs typeface="Arial Black" pitchFamily="34" charset="-120"/>
              </a:rPr>
              <a:t>Appendix — sources (1 of 2).</a:t>
            </a:r>
            <a:endParaRPr lang="en-US" sz="2400" dirty="0"/>
          </a:p>
        </p:txBody>
      </p:sp>
      <p:sp>
        <p:nvSpPr>
          <p:cNvPr id="3" name="Text 1"/>
          <p:cNvSpPr/>
          <p:nvPr/>
        </p:nvSpPr>
        <p:spPr>
          <a:xfrm>
            <a:off x="457200" y="91440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Every figure, where to find it. LANDSCAPE · MARKET · SHIFTS.</a:t>
            </a:r>
            <a:endParaRPr lang="en-US" sz="1350" dirty="0"/>
          </a:p>
        </p:txBody>
      </p:sp>
      <p:sp>
        <p:nvSpPr>
          <p:cNvPr id="4" name="Shape 2"/>
          <p:cNvSpPr/>
          <p:nvPr/>
        </p:nvSpPr>
        <p:spPr>
          <a:xfrm>
            <a:off x="457200" y="1325880"/>
            <a:ext cx="8229600" cy="0"/>
          </a:xfrm>
          <a:prstGeom prst="line">
            <a:avLst/>
          </a:prstGeom>
          <a:noFill/>
          <a:ln w="9525">
            <a:solidFill>
              <a:srgbClr val="E5E5E5"/>
            </a:solidFill>
            <a:prstDash val="solid"/>
          </a:ln>
        </p:spPr>
      </p:sp>
      <p:sp>
        <p:nvSpPr>
          <p:cNvPr id="5" name="Shape 3"/>
          <p:cNvSpPr/>
          <p:nvPr/>
        </p:nvSpPr>
        <p:spPr>
          <a:xfrm>
            <a:off x="457200" y="1417320"/>
            <a:ext cx="8229600" cy="320040"/>
          </a:xfrm>
          <a:prstGeom prst="rect">
            <a:avLst/>
          </a:prstGeom>
          <a:solidFill>
            <a:srgbClr val="F9F9F9"/>
          </a:solidFill>
          <a:ln w="6350">
            <a:solidFill>
              <a:srgbClr val="E5E5E5"/>
            </a:solidFill>
            <a:prstDash val="solid"/>
          </a:ln>
        </p:spPr>
      </p:sp>
      <p:sp>
        <p:nvSpPr>
          <p:cNvPr id="6" name="Text 4"/>
          <p:cNvSpPr/>
          <p:nvPr/>
        </p:nvSpPr>
        <p:spPr>
          <a:xfrm>
            <a:off x="640080" y="1417320"/>
            <a:ext cx="7863840" cy="320040"/>
          </a:xfrm>
          <a:prstGeom prst="rect">
            <a:avLst/>
          </a:prstGeom>
          <a:noFill/>
          <a:ln/>
        </p:spPr>
        <p:txBody>
          <a:bodyPr wrap="square" lIns="0" tIns="0" rIns="0" bIns="0" rtlCol="0" anchor="ctr"/>
          <a:lstStyle/>
          <a:p>
            <a:pPr indent="0" marL="0">
              <a:buNone/>
            </a:pPr>
            <a:r>
              <a:rPr lang="en-US" sz="850" dirty="0">
                <a:solidFill>
                  <a:srgbClr val="333333"/>
                </a:solidFill>
                <a:latin typeface="Arial" pitchFamily="34" charset="0"/>
                <a:ea typeface="Arial" pitchFamily="34" charset="-122"/>
                <a:cs typeface="Arial" pitchFamily="34" charset="-120"/>
              </a:rPr>
              <a:t>All figures retrieved as of Apr 2026 unless noted. Market caps &amp; consensus: companiesmarketcap.com · stockanalysis.com. YTD returns: Yahoo Finance (Apr 17, 2026).</a:t>
            </a:r>
            <a:endParaRPr lang="en-US" sz="850" dirty="0"/>
          </a:p>
        </p:txBody>
      </p:sp>
      <p:sp>
        <p:nvSpPr>
          <p:cNvPr id="7" name="Shape 5"/>
          <p:cNvSpPr/>
          <p:nvPr/>
        </p:nvSpPr>
        <p:spPr>
          <a:xfrm>
            <a:off x="457200" y="1874520"/>
            <a:ext cx="2624328" cy="201168"/>
          </a:xfrm>
          <a:prstGeom prst="rect">
            <a:avLst/>
          </a:prstGeom>
          <a:solidFill>
            <a:srgbClr val="008B8B"/>
          </a:solidFill>
          <a:ln w="12700">
            <a:solidFill>
              <a:srgbClr val="008B8B"/>
            </a:solidFill>
            <a:prstDash val="solid"/>
          </a:ln>
        </p:spPr>
      </p:sp>
      <p:sp>
        <p:nvSpPr>
          <p:cNvPr id="8" name="Text 6"/>
          <p:cNvSpPr/>
          <p:nvPr/>
        </p:nvSpPr>
        <p:spPr>
          <a:xfrm>
            <a:off x="457200" y="1874520"/>
            <a:ext cx="2624328" cy="201168"/>
          </a:xfrm>
          <a:prstGeom prst="rect">
            <a:avLst/>
          </a:prstGeom>
          <a:noFill/>
          <a:ln/>
        </p:spPr>
        <p:txBody>
          <a:bodyPr wrap="square" lIns="0" tIns="0" rIns="0" bIns="0" rtlCol="0" anchor="ctr"/>
          <a:lstStyle/>
          <a:p>
            <a:pPr algn="ctr" indent="0" marL="0">
              <a:buNone/>
            </a:pPr>
            <a:r>
              <a:rPr lang="en-US" sz="900" b="1" spc="200" kern="0" dirty="0">
                <a:solidFill>
                  <a:srgbClr val="FFFFFF"/>
                </a:solidFill>
                <a:latin typeface="Arial" pitchFamily="34" charset="0"/>
                <a:ea typeface="Arial" pitchFamily="34" charset="-122"/>
                <a:cs typeface="Arial" pitchFamily="34" charset="-120"/>
              </a:rPr>
              <a:t>LANDSCAPE  ·  3–6</a:t>
            </a:r>
            <a:endParaRPr lang="en-US" sz="900" dirty="0"/>
          </a:p>
        </p:txBody>
      </p:sp>
      <p:sp>
        <p:nvSpPr>
          <p:cNvPr id="9" name="Text 7"/>
          <p:cNvSpPr/>
          <p:nvPr/>
        </p:nvSpPr>
        <p:spPr>
          <a:xfrm>
            <a:off x="502920" y="2148840"/>
            <a:ext cx="2532888" cy="3566160"/>
          </a:xfrm>
          <a:prstGeom prst="rect">
            <a:avLst/>
          </a:prstGeom>
          <a:noFill/>
          <a:ln/>
        </p:spPr>
        <p:txBody>
          <a:bodyPr wrap="square" lIns="0" tIns="0" rIns="0" bIns="0" rtlCol="0" anchor="t"/>
          <a:lstStyle/>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3  ·  </a:t>
            </a:r>
            <a:pPr indent="0" marL="0">
              <a:spcAft>
                <a:spcPts val="200"/>
              </a:spcAft>
              <a:buNone/>
            </a:pPr>
            <a:r>
              <a:rPr lang="en-US" sz="850" dirty="0">
                <a:solidFill>
                  <a:srgbClr val="000000"/>
                </a:solidFill>
                <a:latin typeface="Arial" pitchFamily="34" charset="0"/>
                <a:ea typeface="Arial" pitchFamily="34" charset="-122"/>
                <a:cs typeface="Arial" pitchFamily="34" charset="-120"/>
              </a:rPr>
              <a:t>"~$750B hyperscaler capex, 2026"</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CreditSights / MUFG estimates (Apr 2026)</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3  ·  </a:t>
            </a:r>
            <a:pPr indent="0" marL="0">
              <a:spcAft>
                <a:spcPts val="200"/>
              </a:spcAft>
              <a:buNone/>
            </a:pPr>
            <a:r>
              <a:rPr lang="en-US" sz="850" dirty="0">
                <a:solidFill>
                  <a:srgbClr val="000000"/>
                </a:solidFill>
                <a:latin typeface="Arial" pitchFamily="34" charset="0"/>
                <a:ea typeface="Arial" pitchFamily="34" charset="-122"/>
                <a:cs typeface="Arial" pitchFamily="34" charset="-120"/>
              </a:rPr>
              <a:t>Jensen Huang "most important" remarks</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public appearance, Sept 2025</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4  ·  </a:t>
            </a:r>
            <a:pPr indent="0" marL="0">
              <a:spcAft>
                <a:spcPts val="200"/>
              </a:spcAft>
              <a:buNone/>
            </a:pPr>
            <a:r>
              <a:rPr lang="en-US" sz="850" dirty="0">
                <a:solidFill>
                  <a:srgbClr val="000000"/>
                </a:solidFill>
                <a:latin typeface="Arial" pitchFamily="34" charset="0"/>
                <a:ea typeface="Arial" pitchFamily="34" charset="-122"/>
                <a:cs typeface="Arial" pitchFamily="34" charset="-120"/>
              </a:rPr>
              <a:t>Six-phase evolution timeline</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Strategy Research synthesis</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5  ·  </a:t>
            </a:r>
            <a:pPr indent="0" marL="0">
              <a:spcAft>
                <a:spcPts val="200"/>
              </a:spcAft>
              <a:buNone/>
            </a:pPr>
            <a:r>
              <a:rPr lang="en-US" sz="850" dirty="0">
                <a:solidFill>
                  <a:srgbClr val="000000"/>
                </a:solidFill>
                <a:latin typeface="Arial" pitchFamily="34" charset="0"/>
                <a:ea typeface="Arial" pitchFamily="34" charset="-122"/>
                <a:cs typeface="Arial" pitchFamily="34" charset="-120"/>
              </a:rPr>
              <a:t>11-layer AI stack</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Strategy Research</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6  ·  </a:t>
            </a:r>
            <a:pPr indent="0" marL="0">
              <a:spcAft>
                <a:spcPts val="200"/>
              </a:spcAft>
              <a:buNone/>
            </a:pPr>
            <a:r>
              <a:rPr lang="en-US" sz="850" dirty="0">
                <a:solidFill>
                  <a:srgbClr val="000000"/>
                </a:solidFill>
                <a:latin typeface="Arial" pitchFamily="34" charset="0"/>
                <a:ea typeface="Arial" pitchFamily="34" charset="-122"/>
                <a:cs typeface="Arial" pitchFamily="34" charset="-120"/>
              </a:rPr>
              <a:t>Internet / PC adoption curves</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Mary Meeker, Bond / KPCB Internet Trends 2019</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6  ·  </a:t>
            </a:r>
            <a:pPr indent="0" marL="0">
              <a:spcAft>
                <a:spcPts val="200"/>
              </a:spcAft>
              <a:buNone/>
            </a:pPr>
            <a:r>
              <a:rPr lang="en-US" sz="850" dirty="0">
                <a:solidFill>
                  <a:srgbClr val="000000"/>
                </a:solidFill>
                <a:latin typeface="Arial" pitchFamily="34" charset="0"/>
                <a:ea typeface="Arial" pitchFamily="34" charset="-122"/>
                <a:cs typeface="Arial" pitchFamily="34" charset="-120"/>
              </a:rPr>
              <a:t>AI revenue Y0–Y4 trajectory</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company filings and consensus estimates</a:t>
            </a:r>
            <a:endParaRPr lang="en-US" sz="850" dirty="0"/>
          </a:p>
        </p:txBody>
      </p:sp>
      <p:sp>
        <p:nvSpPr>
          <p:cNvPr id="10" name="Shape 8"/>
          <p:cNvSpPr/>
          <p:nvPr/>
        </p:nvSpPr>
        <p:spPr>
          <a:xfrm>
            <a:off x="3264408" y="1874520"/>
            <a:ext cx="2624328" cy="201168"/>
          </a:xfrm>
          <a:prstGeom prst="rect">
            <a:avLst/>
          </a:prstGeom>
          <a:solidFill>
            <a:srgbClr val="FFB800"/>
          </a:solidFill>
          <a:ln w="12700">
            <a:solidFill>
              <a:srgbClr val="FFB800"/>
            </a:solidFill>
            <a:prstDash val="solid"/>
          </a:ln>
        </p:spPr>
      </p:sp>
      <p:sp>
        <p:nvSpPr>
          <p:cNvPr id="11" name="Text 9"/>
          <p:cNvSpPr/>
          <p:nvPr/>
        </p:nvSpPr>
        <p:spPr>
          <a:xfrm>
            <a:off x="3264408" y="1874520"/>
            <a:ext cx="2624328" cy="201168"/>
          </a:xfrm>
          <a:prstGeom prst="rect">
            <a:avLst/>
          </a:prstGeom>
          <a:noFill/>
          <a:ln/>
        </p:spPr>
        <p:txBody>
          <a:bodyPr wrap="square" lIns="0" tIns="0" rIns="0" bIns="0" rtlCol="0" anchor="ctr"/>
          <a:lstStyle/>
          <a:p>
            <a:pPr algn="ctr" indent="0" marL="0">
              <a:buNone/>
            </a:pPr>
            <a:r>
              <a:rPr lang="en-US" sz="900" b="1" spc="200" kern="0" dirty="0">
                <a:solidFill>
                  <a:srgbClr val="000000"/>
                </a:solidFill>
                <a:latin typeface="Arial" pitchFamily="34" charset="0"/>
                <a:ea typeface="Arial" pitchFamily="34" charset="-122"/>
                <a:cs typeface="Arial" pitchFamily="34" charset="-120"/>
              </a:rPr>
              <a:t>MARKET  ·  7–11</a:t>
            </a:r>
            <a:endParaRPr lang="en-US" sz="900" dirty="0"/>
          </a:p>
        </p:txBody>
      </p:sp>
      <p:sp>
        <p:nvSpPr>
          <p:cNvPr id="12" name="Text 10"/>
          <p:cNvSpPr/>
          <p:nvPr/>
        </p:nvSpPr>
        <p:spPr>
          <a:xfrm>
            <a:off x="3310128" y="2148840"/>
            <a:ext cx="2532888" cy="3566160"/>
          </a:xfrm>
          <a:prstGeom prst="rect">
            <a:avLst/>
          </a:prstGeom>
          <a:noFill/>
          <a:ln/>
        </p:spPr>
        <p:txBody>
          <a:bodyPr wrap="square" lIns="0" tIns="0" rIns="0" bIns="0" rtlCol="0" anchor="t"/>
          <a:lstStyle/>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7  ·  </a:t>
            </a:r>
            <a:pPr indent="0" marL="0">
              <a:spcAft>
                <a:spcPts val="200"/>
              </a:spcAft>
              <a:buNone/>
            </a:pPr>
            <a:r>
              <a:rPr lang="en-US" sz="850" dirty="0">
                <a:solidFill>
                  <a:srgbClr val="000000"/>
                </a:solidFill>
                <a:latin typeface="Arial" pitchFamily="34" charset="0"/>
                <a:ea typeface="Arial" pitchFamily="34" charset="-122"/>
                <a:cs typeface="Arial" pitchFamily="34" charset="-120"/>
              </a:rPr>
              <a:t>Four-stage AI chipmaking process</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SIA / SEMI industry taxonomy</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7  ·  </a:t>
            </a:r>
            <a:pPr indent="0" marL="0">
              <a:spcAft>
                <a:spcPts val="200"/>
              </a:spcAft>
              <a:buNone/>
            </a:pPr>
            <a:r>
              <a:rPr lang="en-US" sz="850" dirty="0">
                <a:solidFill>
                  <a:srgbClr val="000000"/>
                </a:solidFill>
                <a:latin typeface="Arial" pitchFamily="34" charset="0"/>
                <a:ea typeface="Arial" pitchFamily="34" charset="-122"/>
                <a:cs typeface="Arial" pitchFamily="34" charset="-120"/>
              </a:rPr>
              <a:t>"$20B fab" cost benchmark</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SEMI World Fab Forecast; TSMC / Samsung capex disclosures</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7  ·  </a:t>
            </a:r>
            <a:pPr indent="0" marL="0">
              <a:spcAft>
                <a:spcPts val="200"/>
              </a:spcAft>
              <a:buNone/>
            </a:pPr>
            <a:r>
              <a:rPr lang="en-US" sz="850" dirty="0">
                <a:solidFill>
                  <a:srgbClr val="000000"/>
                </a:solidFill>
                <a:latin typeface="Arial" pitchFamily="34" charset="0"/>
                <a:ea typeface="Arial" pitchFamily="34" charset="-122"/>
                <a:cs typeface="Arial" pitchFamily="34" charset="-120"/>
              </a:rPr>
              <a:t>HBM + CoWoS advanced packaging</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TrendForce; TSMC CoWoS capacity disclosures</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8  ·  </a:t>
            </a:r>
            <a:pPr indent="0" marL="0">
              <a:spcAft>
                <a:spcPts val="200"/>
              </a:spcAft>
              <a:buNone/>
            </a:pPr>
            <a:r>
              <a:rPr lang="en-US" sz="850" dirty="0">
                <a:solidFill>
                  <a:srgbClr val="000000"/>
                </a:solidFill>
                <a:latin typeface="Arial" pitchFamily="34" charset="0"/>
                <a:ea typeface="Arial" pitchFamily="34" charset="-122"/>
                <a:cs typeface="Arial" pitchFamily="34" charset="-120"/>
              </a:rPr>
              <a:t>"~60% hyperscaler share of AI chips"</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SemiAnalysis / Omdia 2026E estimates</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8  ·  </a:t>
            </a:r>
            <a:pPr indent="0" marL="0">
              <a:spcAft>
                <a:spcPts val="200"/>
              </a:spcAft>
              <a:buNone/>
            </a:pPr>
            <a:r>
              <a:rPr lang="en-US" sz="850" dirty="0">
                <a:solidFill>
                  <a:srgbClr val="000000"/>
                </a:solidFill>
                <a:latin typeface="Arial" pitchFamily="34" charset="0"/>
                <a:ea typeface="Arial" pitchFamily="34" charset="-122"/>
                <a:cs typeface="Arial" pitchFamily="34" charset="-120"/>
              </a:rPr>
              <a:t>Hyperscaler 2026 capex guides</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AWS, MSFT, GOOGL, META, ORCL filings</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9  ·  </a:t>
            </a:r>
            <a:pPr indent="0" marL="0">
              <a:spcAft>
                <a:spcPts val="200"/>
              </a:spcAft>
              <a:buNone/>
            </a:pPr>
            <a:r>
              <a:rPr lang="en-US" sz="850" dirty="0">
                <a:solidFill>
                  <a:srgbClr val="000000"/>
                </a:solidFill>
                <a:latin typeface="Arial" pitchFamily="34" charset="0"/>
                <a:ea typeface="Arial" pitchFamily="34" charset="-122"/>
                <a:cs typeface="Arial" pitchFamily="34" charset="-120"/>
              </a:rPr>
              <a:t>"~12% US electricity by 2028"</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EPRI (2024) data-center load forecast</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9  ·  </a:t>
            </a:r>
            <a:pPr indent="0" marL="0">
              <a:spcAft>
                <a:spcPts val="200"/>
              </a:spcAft>
              <a:buNone/>
            </a:pPr>
            <a:r>
              <a:rPr lang="en-US" sz="850" dirty="0">
                <a:solidFill>
                  <a:srgbClr val="000000"/>
                </a:solidFill>
                <a:latin typeface="Arial" pitchFamily="34" charset="0"/>
                <a:ea typeface="Arial" pitchFamily="34" charset="-122"/>
                <a:cs typeface="Arial" pitchFamily="34" charset="-120"/>
              </a:rPr>
              <a:t>"1 GW typical AI campus"</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LBNL, DOE</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9  ·  </a:t>
            </a:r>
            <a:pPr indent="0" marL="0">
              <a:spcAft>
                <a:spcPts val="200"/>
              </a:spcAft>
              <a:buNone/>
            </a:pPr>
            <a:r>
              <a:rPr lang="en-US" sz="850" dirty="0">
                <a:solidFill>
                  <a:srgbClr val="000000"/>
                </a:solidFill>
                <a:latin typeface="Arial" pitchFamily="34" charset="0"/>
                <a:ea typeface="Arial" pitchFamily="34" charset="-122"/>
                <a:cs typeface="Arial" pitchFamily="34" charset="-120"/>
              </a:rPr>
              <a:t>"~5 yr interconnection wait"</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PJM, ERCOT interconnection queues</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9  ·  </a:t>
            </a:r>
            <a:pPr indent="0" marL="0">
              <a:spcAft>
                <a:spcPts val="200"/>
              </a:spcAft>
              <a:buNone/>
            </a:pPr>
            <a:r>
              <a:rPr lang="en-US" sz="850" dirty="0">
                <a:solidFill>
                  <a:srgbClr val="000000"/>
                </a:solidFill>
                <a:latin typeface="Arial" pitchFamily="34" charset="0"/>
                <a:ea typeface="Arial" pitchFamily="34" charset="-122"/>
                <a:cs typeface="Arial" pitchFamily="34" charset="-120"/>
              </a:rPr>
              <a:t>TMI reopening</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Microsoft / Constellation (Sept 2024)</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10  ·  </a:t>
            </a:r>
            <a:pPr indent="0" marL="0">
              <a:spcAft>
                <a:spcPts val="200"/>
              </a:spcAft>
              <a:buNone/>
            </a:pPr>
            <a:r>
              <a:rPr lang="en-US" sz="850" dirty="0">
                <a:solidFill>
                  <a:srgbClr val="000000"/>
                </a:solidFill>
                <a:latin typeface="Arial" pitchFamily="34" charset="0"/>
                <a:ea typeface="Arial" pitchFamily="34" charset="-122"/>
                <a:cs typeface="Arial" pitchFamily="34" charset="-120"/>
              </a:rPr>
              <a:t>OpenAI $852B @ ~35× ARR</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TechCrunch, Sacra ARR run-rates</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10  ·  </a:t>
            </a:r>
            <a:pPr indent="0" marL="0">
              <a:spcAft>
                <a:spcPts val="200"/>
              </a:spcAft>
              <a:buNone/>
            </a:pPr>
            <a:r>
              <a:rPr lang="en-US" sz="850" dirty="0">
                <a:solidFill>
                  <a:srgbClr val="000000"/>
                </a:solidFill>
                <a:latin typeface="Arial" pitchFamily="34" charset="0"/>
                <a:ea typeface="Arial" pitchFamily="34" charset="-122"/>
                <a:cs typeface="Arial" pitchFamily="34" charset="-120"/>
              </a:rPr>
              <a:t>Anthropic $380B</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TechCrunch, Bloomberg (Feb 2026)</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10  ·  </a:t>
            </a:r>
            <a:pPr indent="0" marL="0">
              <a:spcAft>
                <a:spcPts val="200"/>
              </a:spcAft>
              <a:buNone/>
            </a:pPr>
            <a:r>
              <a:rPr lang="en-US" sz="850" dirty="0">
                <a:solidFill>
                  <a:srgbClr val="000000"/>
                </a:solidFill>
                <a:latin typeface="Arial" pitchFamily="34" charset="0"/>
                <a:ea typeface="Arial" pitchFamily="34" charset="-122"/>
                <a:cs typeface="Arial" pitchFamily="34" charset="-120"/>
              </a:rPr>
              <a:t>Alphabet $2.3T / ~$85B 2026 capex</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Alphabet 10-K and 2026 capex guide</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10  ·  </a:t>
            </a:r>
            <a:pPr indent="0" marL="0">
              <a:spcAft>
                <a:spcPts val="200"/>
              </a:spcAft>
              <a:buNone/>
            </a:pPr>
            <a:r>
              <a:rPr lang="en-US" sz="850" dirty="0">
                <a:solidFill>
                  <a:srgbClr val="000000"/>
                </a:solidFill>
                <a:latin typeface="Arial" pitchFamily="34" charset="0"/>
                <a:ea typeface="Arial" pitchFamily="34" charset="-122"/>
                <a:cs typeface="Arial" pitchFamily="34" charset="-120"/>
              </a:rPr>
              <a:t>xAI / SpaceX $1.25T merger</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CNBC, TechCrunch (Feb 2, 2026)</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10  ·  </a:t>
            </a:r>
            <a:pPr indent="0" marL="0">
              <a:spcAft>
                <a:spcPts val="200"/>
              </a:spcAft>
              <a:buNone/>
            </a:pPr>
            <a:r>
              <a:rPr lang="en-US" sz="850" dirty="0">
                <a:solidFill>
                  <a:srgbClr val="000000"/>
                </a:solidFill>
                <a:latin typeface="Arial" pitchFamily="34" charset="0"/>
                <a:ea typeface="Arial" pitchFamily="34" charset="-122"/>
                <a:cs typeface="Arial" pitchFamily="34" charset="-120"/>
              </a:rPr>
              <a:t>Q1 2026 funding 2× all of 2025</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Crunchbase Q1 2026 VC data</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11  ·  </a:t>
            </a:r>
            <a:pPr indent="0" marL="0">
              <a:spcAft>
                <a:spcPts val="200"/>
              </a:spcAft>
              <a:buNone/>
            </a:pPr>
            <a:r>
              <a:rPr lang="en-US" sz="850" dirty="0">
                <a:solidFill>
                  <a:srgbClr val="000000"/>
                </a:solidFill>
                <a:latin typeface="Arial" pitchFamily="34" charset="0"/>
                <a:ea typeface="Arial" pitchFamily="34" charset="-122"/>
                <a:cs typeface="Arial" pitchFamily="34" charset="-120"/>
              </a:rPr>
              <a:t>Top 10 Tech vs Non-Tech metrics</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stockanalysis.com consensus (Apr 22, 2026)</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11  ·  </a:t>
            </a:r>
            <a:pPr indent="0" marL="0">
              <a:spcAft>
                <a:spcPts val="200"/>
              </a:spcAft>
              <a:buNone/>
            </a:pPr>
            <a:r>
              <a:rPr lang="en-US" sz="850" dirty="0">
                <a:solidFill>
                  <a:srgbClr val="000000"/>
                </a:solidFill>
                <a:latin typeface="Arial" pitchFamily="34" charset="0"/>
                <a:ea typeface="Arial" pitchFamily="34" charset="-122"/>
                <a:cs typeface="Arial" pitchFamily="34" charset="-120"/>
              </a:rPr>
              <a:t>Market caps</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companiesmarketcap.com (Apr 22, 2026)</a:t>
            </a:r>
            <a:endParaRPr lang="en-US" sz="850" dirty="0"/>
          </a:p>
        </p:txBody>
      </p:sp>
      <p:sp>
        <p:nvSpPr>
          <p:cNvPr id="13" name="Shape 11"/>
          <p:cNvSpPr/>
          <p:nvPr/>
        </p:nvSpPr>
        <p:spPr>
          <a:xfrm>
            <a:off x="6071616" y="1874520"/>
            <a:ext cx="2624328" cy="201168"/>
          </a:xfrm>
          <a:prstGeom prst="rect">
            <a:avLst/>
          </a:prstGeom>
          <a:solidFill>
            <a:srgbClr val="F6693D"/>
          </a:solidFill>
          <a:ln w="12700">
            <a:solidFill>
              <a:srgbClr val="F6693D"/>
            </a:solidFill>
            <a:prstDash val="solid"/>
          </a:ln>
        </p:spPr>
      </p:sp>
      <p:sp>
        <p:nvSpPr>
          <p:cNvPr id="14" name="Text 12"/>
          <p:cNvSpPr/>
          <p:nvPr/>
        </p:nvSpPr>
        <p:spPr>
          <a:xfrm>
            <a:off x="6071616" y="1874520"/>
            <a:ext cx="2624328" cy="201168"/>
          </a:xfrm>
          <a:prstGeom prst="rect">
            <a:avLst/>
          </a:prstGeom>
          <a:noFill/>
          <a:ln/>
        </p:spPr>
        <p:txBody>
          <a:bodyPr wrap="square" lIns="0" tIns="0" rIns="0" bIns="0" rtlCol="0" anchor="ctr"/>
          <a:lstStyle/>
          <a:p>
            <a:pPr algn="ctr" indent="0" marL="0">
              <a:buNone/>
            </a:pPr>
            <a:r>
              <a:rPr lang="en-US" sz="900" b="1" spc="200" kern="0" dirty="0">
                <a:solidFill>
                  <a:srgbClr val="FFFFFF"/>
                </a:solidFill>
                <a:latin typeface="Arial" pitchFamily="34" charset="0"/>
                <a:ea typeface="Arial" pitchFamily="34" charset="-122"/>
                <a:cs typeface="Arial" pitchFamily="34" charset="-120"/>
              </a:rPr>
              <a:t>SHIFTS  ·  12–13</a:t>
            </a:r>
            <a:endParaRPr lang="en-US" sz="900" dirty="0"/>
          </a:p>
        </p:txBody>
      </p:sp>
      <p:sp>
        <p:nvSpPr>
          <p:cNvPr id="15" name="Text 13"/>
          <p:cNvSpPr/>
          <p:nvPr/>
        </p:nvSpPr>
        <p:spPr>
          <a:xfrm>
            <a:off x="6117336" y="2148840"/>
            <a:ext cx="2532888" cy="3566160"/>
          </a:xfrm>
          <a:prstGeom prst="rect">
            <a:avLst/>
          </a:prstGeom>
          <a:noFill/>
          <a:ln/>
        </p:spPr>
        <p:txBody>
          <a:bodyPr wrap="square" lIns="0" tIns="0" rIns="0" bIns="0" rtlCol="0" anchor="t"/>
          <a:lstStyle/>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12  ·  </a:t>
            </a:r>
            <a:pPr indent="0" marL="0">
              <a:spcAft>
                <a:spcPts val="200"/>
              </a:spcAft>
              <a:buNone/>
            </a:pPr>
            <a:r>
              <a:rPr lang="en-US" sz="850" dirty="0">
                <a:solidFill>
                  <a:srgbClr val="000000"/>
                </a:solidFill>
                <a:latin typeface="Arial" pitchFamily="34" charset="0"/>
                <a:ea typeface="Arial" pitchFamily="34" charset="-122"/>
                <a:cs typeface="Arial" pitchFamily="34" charset="-120"/>
              </a:rPr>
              <a:t>"10–100× compute per session"</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Anthropic, OpenAI; Morgan Stanley CIO Survey</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12  ·  </a:t>
            </a:r>
            <a:pPr indent="0" marL="0">
              <a:spcAft>
                <a:spcPts val="200"/>
              </a:spcAft>
              <a:buNone/>
            </a:pPr>
            <a:r>
              <a:rPr lang="en-US" sz="850" dirty="0">
                <a:solidFill>
                  <a:srgbClr val="000000"/>
                </a:solidFill>
                <a:latin typeface="Arial" pitchFamily="34" charset="0"/>
                <a:ea typeface="Arial" pitchFamily="34" charset="-122"/>
                <a:cs typeface="Arial" pitchFamily="34" charset="-120"/>
              </a:rPr>
              <a:t>Chatbot vs agent token counts</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Anthropic, OpenAI; GitHub Trending</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13  ·  </a:t>
            </a:r>
            <a:pPr indent="0" marL="0">
              <a:spcAft>
                <a:spcPts val="200"/>
              </a:spcAft>
              <a:buNone/>
            </a:pPr>
            <a:r>
              <a:rPr lang="en-US" sz="850" dirty="0">
                <a:solidFill>
                  <a:srgbClr val="000000"/>
                </a:solidFill>
                <a:latin typeface="Arial" pitchFamily="34" charset="0"/>
                <a:ea typeface="Arial" pitchFamily="34" charset="-122"/>
                <a:cs typeface="Arial" pitchFamily="34" charset="-120"/>
              </a:rPr>
              <a:t>YTD prices rebased to 100</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Yahoo Finance (Apr 17, 2026)</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13  ·  </a:t>
            </a:r>
            <a:pPr indent="0" marL="0">
              <a:spcAft>
                <a:spcPts val="200"/>
              </a:spcAft>
              <a:buNone/>
            </a:pPr>
            <a:r>
              <a:rPr lang="en-US" sz="850" dirty="0">
                <a:solidFill>
                  <a:srgbClr val="000000"/>
                </a:solidFill>
                <a:latin typeface="Arial" pitchFamily="34" charset="0"/>
                <a:ea typeface="Arial" pitchFamily="34" charset="-122"/>
                <a:cs typeface="Arial" pitchFamily="34" charset="-120"/>
              </a:rPr>
              <a:t>Memory supercycle single-stock YTDs</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Yahoo Finance; Counterpoint Research</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13  ·  </a:t>
            </a:r>
            <a:pPr indent="0" marL="0">
              <a:spcAft>
                <a:spcPts val="200"/>
              </a:spcAft>
              <a:buNone/>
            </a:pPr>
            <a:r>
              <a:rPr lang="en-US" sz="850" dirty="0">
                <a:solidFill>
                  <a:srgbClr val="000000"/>
                </a:solidFill>
                <a:latin typeface="Arial" pitchFamily="34" charset="0"/>
                <a:ea typeface="Arial" pitchFamily="34" charset="-122"/>
                <a:cs typeface="Arial" pitchFamily="34" charset="-120"/>
              </a:rPr>
              <a:t>Software single-stock YTDs</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Yahoo Finance; Morgan Stanley CIO Survey</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13  ·  </a:t>
            </a:r>
            <a:pPr indent="0" marL="0">
              <a:spcAft>
                <a:spcPts val="200"/>
              </a:spcAft>
              <a:buNone/>
            </a:pPr>
            <a:r>
              <a:rPr lang="en-US" sz="850" dirty="0">
                <a:solidFill>
                  <a:srgbClr val="000000"/>
                </a:solidFill>
                <a:latin typeface="Arial" pitchFamily="34" charset="0"/>
                <a:ea typeface="Arial" pitchFamily="34" charset="-122"/>
                <a:cs typeface="Arial" pitchFamily="34" charset="-120"/>
              </a:rPr>
              <a:t>BDC index / PE SaaS marks</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Bloomberg BDC; PitchBook secondary marks</a:t>
            </a:r>
            <a:endParaRPr lang="en-US" sz="850" dirty="0"/>
          </a:p>
        </p:txBody>
      </p:sp>
      <p:sp>
        <p:nvSpPr>
          <p:cNvPr id="16" name="Text 14"/>
          <p:cNvSpPr/>
          <p:nvPr/>
        </p:nvSpPr>
        <p:spPr>
          <a:xfrm>
            <a:off x="457200" y="5875020"/>
            <a:ext cx="8229600" cy="320040"/>
          </a:xfrm>
          <a:prstGeom prst="rect">
            <a:avLst/>
          </a:prstGeom>
          <a:noFill/>
          <a:ln/>
        </p:spPr>
        <p:txBody>
          <a:bodyPr wrap="square" lIns="0" tIns="0" rIns="0" bIns="0" rtlCol="0" anchor="t"/>
          <a:lstStyle/>
          <a:p>
            <a:pPr indent="0" marL="0">
              <a:buNone/>
            </a:pPr>
            <a:r>
              <a:rPr lang="en-US" sz="700" dirty="0">
                <a:solidFill>
                  <a:srgbClr val="999999"/>
                </a:solidFill>
                <a:latin typeface="Arial" pitchFamily="34" charset="0"/>
                <a:ea typeface="Arial" pitchFamily="34" charset="-122"/>
                <a:cs typeface="Arial" pitchFamily="34" charset="-120"/>
              </a:rPr>
              <a:t>Appendix 1 of 2 — continues on the next page with RISKS, FRONTIER, and TAKEAWAYS.</a:t>
            </a:r>
            <a:endParaRPr lang="en-US" sz="700" dirty="0"/>
          </a:p>
        </p:txBody>
      </p:sp>
      <p:sp>
        <p:nvSpPr>
          <p:cNvPr id="17" name="Shape 15"/>
          <p:cNvSpPr/>
          <p:nvPr/>
        </p:nvSpPr>
        <p:spPr>
          <a:xfrm>
            <a:off x="0" y="6286500"/>
            <a:ext cx="9144000" cy="571500"/>
          </a:xfrm>
          <a:prstGeom prst="rect">
            <a:avLst/>
          </a:prstGeom>
          <a:solidFill>
            <a:srgbClr val="000000"/>
          </a:solidFill>
          <a:ln w="12700">
            <a:solidFill>
              <a:srgbClr val="000000"/>
            </a:solidFill>
            <a:prstDash val="solid"/>
          </a:ln>
        </p:spPr>
      </p:sp>
      <p:sp>
        <p:nvSpPr>
          <p:cNvPr id="18" name="Text 16"/>
          <p:cNvSpPr/>
          <p:nvPr/>
        </p:nvSpPr>
        <p:spPr>
          <a:xfrm>
            <a:off x="1371600" y="6332220"/>
            <a:ext cx="6400800" cy="45720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19" name="Text 17"/>
          <p:cNvSpPr/>
          <p:nvPr/>
        </p:nvSpPr>
        <p:spPr>
          <a:xfrm>
            <a:off x="8321040" y="6405372"/>
            <a:ext cx="548640" cy="27432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182880"/>
            <a:ext cx="6583680" cy="685800"/>
          </a:xfrm>
          <a:prstGeom prst="rect">
            <a:avLst/>
          </a:prstGeom>
          <a:noFill/>
          <a:ln/>
        </p:spPr>
        <p:txBody>
          <a:bodyPr wrap="square" lIns="0" tIns="0" rIns="0" bIns="0" rtlCol="0" anchor="t"/>
          <a:lstStyle/>
          <a:p>
            <a:pPr indent="0" marL="0">
              <a:buNone/>
            </a:pPr>
            <a:r>
              <a:rPr lang="en-US" sz="2400" b="1" dirty="0">
                <a:solidFill>
                  <a:srgbClr val="000000"/>
                </a:solidFill>
                <a:latin typeface="Arial Black" pitchFamily="34" charset="0"/>
                <a:ea typeface="Arial Black" pitchFamily="34" charset="-122"/>
                <a:cs typeface="Arial Black" pitchFamily="34" charset="-120"/>
              </a:rPr>
              <a:t>Appendix — sources (2 of 2).</a:t>
            </a:r>
            <a:endParaRPr lang="en-US" sz="2400" dirty="0"/>
          </a:p>
        </p:txBody>
      </p:sp>
      <p:sp>
        <p:nvSpPr>
          <p:cNvPr id="3" name="Text 1"/>
          <p:cNvSpPr/>
          <p:nvPr/>
        </p:nvSpPr>
        <p:spPr>
          <a:xfrm>
            <a:off x="457200" y="914400"/>
            <a:ext cx="8229600" cy="457200"/>
          </a:xfrm>
          <a:prstGeom prst="rect">
            <a:avLst/>
          </a:prstGeom>
          <a:noFill/>
          <a:ln/>
        </p:spPr>
        <p:txBody>
          <a:bodyPr wrap="square" lIns="0" tIns="0" rIns="0" bIns="0" rtlCol="0" anchor="t"/>
          <a:lstStyle/>
          <a:p>
            <a:pPr indent="0" marL="0">
              <a:buNone/>
            </a:pPr>
            <a:r>
              <a:rPr lang="en-US" sz="1350" dirty="0">
                <a:solidFill>
                  <a:srgbClr val="666666"/>
                </a:solidFill>
                <a:latin typeface="Arial" pitchFamily="34" charset="0"/>
                <a:ea typeface="Arial" pitchFamily="34" charset="-122"/>
                <a:cs typeface="Arial" pitchFamily="34" charset="-120"/>
              </a:rPr>
              <a:t>Every figure, where to find it. RISKS · FRONTIER · TAKEAWAYS.</a:t>
            </a:r>
            <a:endParaRPr lang="en-US" sz="1350" dirty="0"/>
          </a:p>
        </p:txBody>
      </p:sp>
      <p:sp>
        <p:nvSpPr>
          <p:cNvPr id="4" name="Shape 2"/>
          <p:cNvSpPr/>
          <p:nvPr/>
        </p:nvSpPr>
        <p:spPr>
          <a:xfrm>
            <a:off x="457200" y="1325880"/>
            <a:ext cx="8229600" cy="0"/>
          </a:xfrm>
          <a:prstGeom prst="line">
            <a:avLst/>
          </a:prstGeom>
          <a:noFill/>
          <a:ln w="9525">
            <a:solidFill>
              <a:srgbClr val="E5E5E5"/>
            </a:solidFill>
            <a:prstDash val="solid"/>
          </a:ln>
        </p:spPr>
      </p:sp>
      <p:sp>
        <p:nvSpPr>
          <p:cNvPr id="5" name="Shape 3"/>
          <p:cNvSpPr/>
          <p:nvPr/>
        </p:nvSpPr>
        <p:spPr>
          <a:xfrm>
            <a:off x="457200" y="1417320"/>
            <a:ext cx="8229600" cy="320040"/>
          </a:xfrm>
          <a:prstGeom prst="rect">
            <a:avLst/>
          </a:prstGeom>
          <a:solidFill>
            <a:srgbClr val="F9F9F9"/>
          </a:solidFill>
          <a:ln w="6350">
            <a:solidFill>
              <a:srgbClr val="E5E5E5"/>
            </a:solidFill>
            <a:prstDash val="solid"/>
          </a:ln>
        </p:spPr>
      </p:sp>
      <p:sp>
        <p:nvSpPr>
          <p:cNvPr id="6" name="Text 4"/>
          <p:cNvSpPr/>
          <p:nvPr/>
        </p:nvSpPr>
        <p:spPr>
          <a:xfrm>
            <a:off x="640080" y="1417320"/>
            <a:ext cx="7863840" cy="320040"/>
          </a:xfrm>
          <a:prstGeom prst="rect">
            <a:avLst/>
          </a:prstGeom>
          <a:noFill/>
          <a:ln/>
        </p:spPr>
        <p:txBody>
          <a:bodyPr wrap="square" lIns="0" tIns="0" rIns="0" bIns="0" rtlCol="0" anchor="ctr"/>
          <a:lstStyle/>
          <a:p>
            <a:pPr indent="0" marL="0">
              <a:buNone/>
            </a:pPr>
            <a:r>
              <a:rPr lang="en-US" sz="850" dirty="0">
                <a:solidFill>
                  <a:srgbClr val="333333"/>
                </a:solidFill>
                <a:latin typeface="Arial" pitchFamily="34" charset="0"/>
                <a:ea typeface="Arial" pitchFamily="34" charset="-122"/>
                <a:cs typeface="Arial" pitchFamily="34" charset="-120"/>
              </a:rPr>
              <a:t>All figures retrieved as of Apr 2026 unless noted. Market caps &amp; consensus: companiesmarketcap.com · stockanalysis.com. YTD returns: Yahoo Finance (Apr 17, 2026).</a:t>
            </a:r>
            <a:endParaRPr lang="en-US" sz="850" dirty="0"/>
          </a:p>
        </p:txBody>
      </p:sp>
      <p:sp>
        <p:nvSpPr>
          <p:cNvPr id="7" name="Shape 5"/>
          <p:cNvSpPr/>
          <p:nvPr/>
        </p:nvSpPr>
        <p:spPr>
          <a:xfrm>
            <a:off x="457200" y="1874520"/>
            <a:ext cx="2624328" cy="201168"/>
          </a:xfrm>
          <a:prstGeom prst="rect">
            <a:avLst/>
          </a:prstGeom>
          <a:solidFill>
            <a:srgbClr val="CC0000"/>
          </a:solidFill>
          <a:ln w="12700">
            <a:solidFill>
              <a:srgbClr val="CC0000"/>
            </a:solidFill>
            <a:prstDash val="solid"/>
          </a:ln>
        </p:spPr>
      </p:sp>
      <p:sp>
        <p:nvSpPr>
          <p:cNvPr id="8" name="Text 6"/>
          <p:cNvSpPr/>
          <p:nvPr/>
        </p:nvSpPr>
        <p:spPr>
          <a:xfrm>
            <a:off x="457200" y="1874520"/>
            <a:ext cx="2624328" cy="201168"/>
          </a:xfrm>
          <a:prstGeom prst="rect">
            <a:avLst/>
          </a:prstGeom>
          <a:noFill/>
          <a:ln/>
        </p:spPr>
        <p:txBody>
          <a:bodyPr wrap="square" lIns="0" tIns="0" rIns="0" bIns="0" rtlCol="0" anchor="ctr"/>
          <a:lstStyle/>
          <a:p>
            <a:pPr algn="ctr" indent="0" marL="0">
              <a:buNone/>
            </a:pPr>
            <a:r>
              <a:rPr lang="en-US" sz="900" b="1" spc="200" kern="0" dirty="0">
                <a:solidFill>
                  <a:srgbClr val="FFFFFF"/>
                </a:solidFill>
                <a:latin typeface="Arial" pitchFamily="34" charset="0"/>
                <a:ea typeface="Arial" pitchFamily="34" charset="-122"/>
                <a:cs typeface="Arial" pitchFamily="34" charset="-120"/>
              </a:rPr>
              <a:t>RISKS  ·  14–17</a:t>
            </a:r>
            <a:endParaRPr lang="en-US" sz="900" dirty="0"/>
          </a:p>
        </p:txBody>
      </p:sp>
      <p:sp>
        <p:nvSpPr>
          <p:cNvPr id="9" name="Text 7"/>
          <p:cNvSpPr/>
          <p:nvPr/>
        </p:nvSpPr>
        <p:spPr>
          <a:xfrm>
            <a:off x="502920" y="2148840"/>
            <a:ext cx="2532888" cy="3566160"/>
          </a:xfrm>
          <a:prstGeom prst="rect">
            <a:avLst/>
          </a:prstGeom>
          <a:noFill/>
          <a:ln/>
        </p:spPr>
        <p:txBody>
          <a:bodyPr wrap="square" lIns="0" tIns="0" rIns="0" bIns="0" rtlCol="0" anchor="t"/>
          <a:lstStyle/>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14  ·  </a:t>
            </a:r>
            <a:pPr indent="0" marL="0">
              <a:spcAft>
                <a:spcPts val="200"/>
              </a:spcAft>
              <a:buNone/>
            </a:pPr>
            <a:r>
              <a:rPr lang="en-US" sz="850" dirty="0">
                <a:solidFill>
                  <a:srgbClr val="000000"/>
                </a:solidFill>
                <a:latin typeface="Arial" pitchFamily="34" charset="0"/>
                <a:ea typeface="Arial" pitchFamily="34" charset="-122"/>
                <a:cs typeface="Arial" pitchFamily="34" charset="-120"/>
              </a:rPr>
              <a:t>"131× Cisco fwd P/E, Mar 2000"</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Harding Loevner</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14  ·  </a:t>
            </a:r>
            <a:pPr indent="0" marL="0">
              <a:spcAft>
                <a:spcPts val="200"/>
              </a:spcAft>
              <a:buNone/>
            </a:pPr>
            <a:r>
              <a:rPr lang="en-US" sz="850" dirty="0">
                <a:solidFill>
                  <a:srgbClr val="000000"/>
                </a:solidFill>
                <a:latin typeface="Arial" pitchFamily="34" charset="0"/>
                <a:ea typeface="Arial" pitchFamily="34" charset="-122"/>
                <a:cs typeface="Arial" pitchFamily="34" charset="-120"/>
              </a:rPr>
              <a:t>"~24× NVDA fwd P/E, Apr 17 2026"</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GuruFocus</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14  ·  </a:t>
            </a:r>
            <a:pPr indent="0" marL="0">
              <a:spcAft>
                <a:spcPts val="200"/>
              </a:spcAft>
              <a:buNone/>
            </a:pPr>
            <a:r>
              <a:rPr lang="en-US" sz="850" dirty="0">
                <a:solidFill>
                  <a:srgbClr val="000000"/>
                </a:solidFill>
                <a:latin typeface="Arial" pitchFamily="34" charset="0"/>
                <a:ea typeface="Arial" pitchFamily="34" charset="-122"/>
                <a:cs typeface="Arial" pitchFamily="34" charset="-120"/>
              </a:rPr>
              <a:t>"14% of 2000 tech IPOs profitable"</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Jay Ritter, University of Florida</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14  ·  </a:t>
            </a:r>
            <a:pPr indent="0" marL="0">
              <a:spcAft>
                <a:spcPts val="200"/>
              </a:spcAft>
              <a:buNone/>
            </a:pPr>
            <a:r>
              <a:rPr lang="en-US" sz="850" dirty="0">
                <a:solidFill>
                  <a:srgbClr val="000000"/>
                </a:solidFill>
                <a:latin typeface="Arial" pitchFamily="34" charset="0"/>
                <a:ea typeface="Arial" pitchFamily="34" charset="-122"/>
                <a:cs typeface="Arial" pitchFamily="34" charset="-120"/>
              </a:rPr>
              <a:t>"$500B dark fiber unused"</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FCC dark-fiber data</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14  ·  </a:t>
            </a:r>
            <a:pPr indent="0" marL="0">
              <a:spcAft>
                <a:spcPts val="200"/>
              </a:spcAft>
              <a:buNone/>
            </a:pPr>
            <a:r>
              <a:rPr lang="en-US" sz="850" dirty="0">
                <a:solidFill>
                  <a:srgbClr val="000000"/>
                </a:solidFill>
                <a:latin typeface="Arial" pitchFamily="34" charset="0"/>
                <a:ea typeface="Arial" pitchFamily="34" charset="-122"/>
                <a:cs typeface="Arial" pitchFamily="34" charset="-120"/>
              </a:rPr>
              <a:t>"GPU 2nd market 90–95% list"</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CoreWeave 2nd-market pricing</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14  ·  </a:t>
            </a:r>
            <a:pPr indent="0" marL="0">
              <a:spcAft>
                <a:spcPts val="200"/>
              </a:spcAft>
              <a:buNone/>
            </a:pPr>
            <a:r>
              <a:rPr lang="en-US" sz="850" dirty="0">
                <a:solidFill>
                  <a:srgbClr val="000000"/>
                </a:solidFill>
                <a:latin typeface="Arial" pitchFamily="34" charset="0"/>
                <a:ea typeface="Arial" pitchFamily="34" charset="-122"/>
                <a:cs typeface="Arial" pitchFamily="34" charset="-120"/>
              </a:rPr>
              <a:t>"Hyperscaler net debt/EBITDA ~48%"</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Bloomberg</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15  ·  </a:t>
            </a:r>
            <a:pPr indent="0" marL="0">
              <a:spcAft>
                <a:spcPts val="200"/>
              </a:spcAft>
              <a:buNone/>
            </a:pPr>
            <a:r>
              <a:rPr lang="en-US" sz="850" dirty="0">
                <a:solidFill>
                  <a:srgbClr val="000000"/>
                </a:solidFill>
                <a:latin typeface="Arial" pitchFamily="34" charset="0"/>
                <a:ea typeface="Arial" pitchFamily="34" charset="-122"/>
                <a:cs typeface="Arial" pitchFamily="34" charset="-120"/>
              </a:rPr>
              <a:t>"TSMC ~90% advanced-node share"</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TSMC filings; SIA</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15  ·  </a:t>
            </a:r>
            <a:pPr indent="0" marL="0">
              <a:spcAft>
                <a:spcPts val="200"/>
              </a:spcAft>
              <a:buNone/>
            </a:pPr>
            <a:r>
              <a:rPr lang="en-US" sz="850" dirty="0">
                <a:solidFill>
                  <a:srgbClr val="000000"/>
                </a:solidFill>
                <a:latin typeface="Arial" pitchFamily="34" charset="0"/>
                <a:ea typeface="Arial" pitchFamily="34" charset="-122"/>
                <a:cs typeface="Arial" pitchFamily="34" charset="-120"/>
              </a:rPr>
              <a:t>"SK Hynix + Samsung ~76% DRAM"</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TrendForce; SIA</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15  ·  </a:t>
            </a:r>
            <a:pPr indent="0" marL="0">
              <a:spcAft>
                <a:spcPts val="200"/>
              </a:spcAft>
              <a:buNone/>
            </a:pPr>
            <a:r>
              <a:rPr lang="en-US" sz="850" dirty="0">
                <a:solidFill>
                  <a:srgbClr val="000000"/>
                </a:solidFill>
                <a:latin typeface="Arial" pitchFamily="34" charset="0"/>
                <a:ea typeface="Arial" pitchFamily="34" charset="-122"/>
                <a:cs typeface="Arial" pitchFamily="34" charset="-120"/>
              </a:rPr>
              <a:t>"ASML &lt;100 EUV / yr"</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ASML filings</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15  ·  </a:t>
            </a:r>
            <a:pPr indent="0" marL="0">
              <a:spcAft>
                <a:spcPts val="200"/>
              </a:spcAft>
              <a:buNone/>
            </a:pPr>
            <a:r>
              <a:rPr lang="en-US" sz="850" dirty="0">
                <a:solidFill>
                  <a:srgbClr val="000000"/>
                </a:solidFill>
                <a:latin typeface="Arial" pitchFamily="34" charset="0"/>
                <a:ea typeface="Arial" pitchFamily="34" charset="-122"/>
                <a:cs typeface="Arial" pitchFamily="34" charset="-120"/>
              </a:rPr>
              <a:t>US reshoring fab timelines</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TSMC, Samsung, Micron, Intel filings</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15  ·  </a:t>
            </a:r>
            <a:pPr indent="0" marL="0">
              <a:spcAft>
                <a:spcPts val="200"/>
              </a:spcAft>
              <a:buNone/>
            </a:pPr>
            <a:r>
              <a:rPr lang="en-US" sz="850" dirty="0">
                <a:solidFill>
                  <a:srgbClr val="000000"/>
                </a:solidFill>
                <a:latin typeface="Arial" pitchFamily="34" charset="0"/>
                <a:ea typeface="Arial" pitchFamily="34" charset="-122"/>
                <a:cs typeface="Arial" pitchFamily="34" charset="-120"/>
              </a:rPr>
              <a:t>"CHIPS $36B of $52.7B committed"</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US Commerce Dept (Nov 2025)</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16  ·  </a:t>
            </a:r>
            <a:pPr indent="0" marL="0">
              <a:spcAft>
                <a:spcPts val="200"/>
              </a:spcAft>
              <a:buNone/>
            </a:pPr>
            <a:r>
              <a:rPr lang="en-US" sz="850" dirty="0">
                <a:solidFill>
                  <a:srgbClr val="000000"/>
                </a:solidFill>
                <a:latin typeface="Arial" pitchFamily="34" charset="0"/>
                <a:ea typeface="Arial" pitchFamily="34" charset="-122"/>
                <a:cs typeface="Arial" pitchFamily="34" charset="-120"/>
              </a:rPr>
              <a:t>H100/H200/Blackwell export ban</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US Bureau of Industry and Security</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16  ·  </a:t>
            </a:r>
            <a:pPr indent="0" marL="0">
              <a:spcAft>
                <a:spcPts val="200"/>
              </a:spcAft>
              <a:buNone/>
            </a:pPr>
            <a:r>
              <a:rPr lang="en-US" sz="850" dirty="0">
                <a:solidFill>
                  <a:srgbClr val="000000"/>
                </a:solidFill>
                <a:latin typeface="Arial" pitchFamily="34" charset="0"/>
                <a:ea typeface="Arial" pitchFamily="34" charset="-122"/>
                <a:cs typeface="Arial" pitchFamily="34" charset="-120"/>
              </a:rPr>
              <a:t>"NVIDIA $5.5B H20 writedown"</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NVIDIA 10-Q</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16  ·  </a:t>
            </a:r>
            <a:pPr indent="0" marL="0">
              <a:spcAft>
                <a:spcPts val="200"/>
              </a:spcAft>
              <a:buNone/>
            </a:pPr>
            <a:r>
              <a:rPr lang="en-US" sz="850" dirty="0">
                <a:solidFill>
                  <a:srgbClr val="000000"/>
                </a:solidFill>
                <a:latin typeface="Arial" pitchFamily="34" charset="0"/>
                <a:ea typeface="Arial" pitchFamily="34" charset="-122"/>
                <a:cs typeface="Arial" pitchFamily="34" charset="-120"/>
              </a:rPr>
              <a:t>ASML DUV ban; China ~20% revenue</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ASML filings</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16  ·  </a:t>
            </a:r>
            <a:pPr indent="0" marL="0">
              <a:spcAft>
                <a:spcPts val="200"/>
              </a:spcAft>
              <a:buNone/>
            </a:pPr>
            <a:r>
              <a:rPr lang="en-US" sz="850" dirty="0">
                <a:solidFill>
                  <a:srgbClr val="000000"/>
                </a:solidFill>
                <a:latin typeface="Arial" pitchFamily="34" charset="0"/>
                <a:ea typeface="Arial" pitchFamily="34" charset="-122"/>
                <a:cs typeface="Arial" pitchFamily="34" charset="-120"/>
              </a:rPr>
              <a:t>"EU AI Act Aug 2, 2026 enforcement"</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EU AI Act Article 99 / Chapter V</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16  ·  </a:t>
            </a:r>
            <a:pPr indent="0" marL="0">
              <a:spcAft>
                <a:spcPts val="200"/>
              </a:spcAft>
              <a:buNone/>
            </a:pPr>
            <a:r>
              <a:rPr lang="en-US" sz="850" dirty="0">
                <a:solidFill>
                  <a:srgbClr val="000000"/>
                </a:solidFill>
                <a:latin typeface="Arial" pitchFamily="34" charset="0"/>
                <a:ea typeface="Arial" pitchFamily="34" charset="-122"/>
                <a:cs typeface="Arial" pitchFamily="34" charset="-120"/>
              </a:rPr>
              <a:t>"SMIC 5nm yield ~20%"</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public industry reports</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17  ·  </a:t>
            </a:r>
            <a:pPr indent="0" marL="0">
              <a:spcAft>
                <a:spcPts val="200"/>
              </a:spcAft>
              <a:buNone/>
            </a:pPr>
            <a:r>
              <a:rPr lang="en-US" sz="850" dirty="0">
                <a:solidFill>
                  <a:srgbClr val="000000"/>
                </a:solidFill>
                <a:latin typeface="Arial" pitchFamily="34" charset="0"/>
                <a:ea typeface="Arial" pitchFamily="34" charset="-122"/>
                <a:cs typeface="Arial" pitchFamily="34" charset="-120"/>
              </a:rPr>
              <a:t>"$18B halted / $46B delayed"</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Data Center Watch</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17  ·  </a:t>
            </a:r>
            <a:pPr indent="0" marL="0">
              <a:spcAft>
                <a:spcPts val="200"/>
              </a:spcAft>
              <a:buNone/>
            </a:pPr>
            <a:r>
              <a:rPr lang="en-US" sz="850" dirty="0">
                <a:solidFill>
                  <a:srgbClr val="000000"/>
                </a:solidFill>
                <a:latin typeface="Arial" pitchFamily="34" charset="0"/>
                <a:ea typeface="Arial" pitchFamily="34" charset="-122"/>
                <a:cs typeface="Arial" pitchFamily="34" charset="-120"/>
              </a:rPr>
              <a:t>"142 activist groups, 24 states"</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Data Center Watch</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17  ·  </a:t>
            </a:r>
            <a:pPr indent="0" marL="0">
              <a:spcAft>
                <a:spcPts val="200"/>
              </a:spcAft>
              <a:buNone/>
            </a:pPr>
            <a:r>
              <a:rPr lang="en-US" sz="850" dirty="0">
                <a:solidFill>
                  <a:srgbClr val="000000"/>
                </a:solidFill>
                <a:latin typeface="Arial" pitchFamily="34" charset="0"/>
                <a:ea typeface="Arial" pitchFamily="34" charset="-122"/>
                <a:cs typeface="Arial" pitchFamily="34" charset="-120"/>
              </a:rPr>
              <a:t>"26% of Americans positive on AI"</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Echelon Insights</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17  ·  </a:t>
            </a:r>
            <a:pPr indent="0" marL="0">
              <a:spcAft>
                <a:spcPts val="200"/>
              </a:spcAft>
              <a:buNone/>
            </a:pPr>
            <a:r>
              <a:rPr lang="en-US" sz="850" dirty="0">
                <a:solidFill>
                  <a:srgbClr val="000000"/>
                </a:solidFill>
                <a:latin typeface="Arial" pitchFamily="34" charset="0"/>
                <a:ea typeface="Arial" pitchFamily="34" charset="-122"/>
                <a:cs typeface="Arial" pitchFamily="34" charset="-120"/>
              </a:rPr>
              <a:t>"Stop the AI Race" Mar 2026 protests</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Stop the AI Race; TIME; CNN</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17  ·  </a:t>
            </a:r>
            <a:pPr indent="0" marL="0">
              <a:spcAft>
                <a:spcPts val="200"/>
              </a:spcAft>
              <a:buNone/>
            </a:pPr>
            <a:r>
              <a:rPr lang="en-US" sz="850" dirty="0">
                <a:solidFill>
                  <a:srgbClr val="000000"/>
                </a:solidFill>
                <a:latin typeface="Arial" pitchFamily="34" charset="0"/>
                <a:ea typeface="Arial" pitchFamily="34" charset="-122"/>
                <a:cs typeface="Arial" pitchFamily="34" charset="-120"/>
              </a:rPr>
              <a:t>"~480K data-center workforce gap"</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Data Center Frontier</a:t>
            </a:r>
            <a:endParaRPr lang="en-US" sz="850" dirty="0"/>
          </a:p>
        </p:txBody>
      </p:sp>
      <p:sp>
        <p:nvSpPr>
          <p:cNvPr id="10" name="Shape 8"/>
          <p:cNvSpPr/>
          <p:nvPr/>
        </p:nvSpPr>
        <p:spPr>
          <a:xfrm>
            <a:off x="3264408" y="1874520"/>
            <a:ext cx="2624328" cy="201168"/>
          </a:xfrm>
          <a:prstGeom prst="rect">
            <a:avLst/>
          </a:prstGeom>
          <a:solidFill>
            <a:srgbClr val="6B46C1"/>
          </a:solidFill>
          <a:ln w="12700">
            <a:solidFill>
              <a:srgbClr val="6B46C1"/>
            </a:solidFill>
            <a:prstDash val="solid"/>
          </a:ln>
        </p:spPr>
      </p:sp>
      <p:sp>
        <p:nvSpPr>
          <p:cNvPr id="11" name="Text 9"/>
          <p:cNvSpPr/>
          <p:nvPr/>
        </p:nvSpPr>
        <p:spPr>
          <a:xfrm>
            <a:off x="3264408" y="1874520"/>
            <a:ext cx="2624328" cy="201168"/>
          </a:xfrm>
          <a:prstGeom prst="rect">
            <a:avLst/>
          </a:prstGeom>
          <a:noFill/>
          <a:ln/>
        </p:spPr>
        <p:txBody>
          <a:bodyPr wrap="square" lIns="0" tIns="0" rIns="0" bIns="0" rtlCol="0" anchor="ctr"/>
          <a:lstStyle/>
          <a:p>
            <a:pPr algn="ctr" indent="0" marL="0">
              <a:buNone/>
            </a:pPr>
            <a:r>
              <a:rPr lang="en-US" sz="900" b="1" spc="200" kern="0" dirty="0">
                <a:solidFill>
                  <a:srgbClr val="FFFFFF"/>
                </a:solidFill>
                <a:latin typeface="Arial" pitchFamily="34" charset="0"/>
                <a:ea typeface="Arial" pitchFamily="34" charset="-122"/>
                <a:cs typeface="Arial" pitchFamily="34" charset="-120"/>
              </a:rPr>
              <a:t>FRONTIER  ·  18–21</a:t>
            </a:r>
            <a:endParaRPr lang="en-US" sz="900" dirty="0"/>
          </a:p>
        </p:txBody>
      </p:sp>
      <p:sp>
        <p:nvSpPr>
          <p:cNvPr id="12" name="Text 10"/>
          <p:cNvSpPr/>
          <p:nvPr/>
        </p:nvSpPr>
        <p:spPr>
          <a:xfrm>
            <a:off x="3310128" y="2148840"/>
            <a:ext cx="2532888" cy="3566160"/>
          </a:xfrm>
          <a:prstGeom prst="rect">
            <a:avLst/>
          </a:prstGeom>
          <a:noFill/>
          <a:ln/>
        </p:spPr>
        <p:txBody>
          <a:bodyPr wrap="square" lIns="0" tIns="0" rIns="0" bIns="0" rtlCol="0" anchor="t"/>
          <a:lstStyle/>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18  ·  </a:t>
            </a:r>
            <a:pPr indent="0" marL="0">
              <a:spcAft>
                <a:spcPts val="200"/>
              </a:spcAft>
              <a:buNone/>
            </a:pPr>
            <a:r>
              <a:rPr lang="en-US" sz="850" dirty="0">
                <a:solidFill>
                  <a:srgbClr val="000000"/>
                </a:solidFill>
                <a:latin typeface="Arial" pitchFamily="34" charset="0"/>
                <a:ea typeface="Arial" pitchFamily="34" charset="-122"/>
                <a:cs typeface="Arial" pitchFamily="34" charset="-120"/>
              </a:rPr>
              <a:t>"1,361 W/m² unfiltered solar"</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solar constant (physical)</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18  ·  </a:t>
            </a:r>
            <a:pPr indent="0" marL="0">
              <a:spcAft>
                <a:spcPts val="200"/>
              </a:spcAft>
              <a:buNone/>
            </a:pPr>
            <a:r>
              <a:rPr lang="en-US" sz="850" dirty="0">
                <a:solidFill>
                  <a:srgbClr val="000000"/>
                </a:solidFill>
                <a:latin typeface="Arial" pitchFamily="34" charset="0"/>
                <a:ea typeface="Arial" pitchFamily="34" charset="-122"/>
                <a:cs typeface="Arial" pitchFamily="34" charset="-120"/>
              </a:rPr>
              <a:t>Orbital compute players</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FCC filings; Starcloud, SpaceX, Google Suncatcher, Aetherflux; CNBC</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19  ·  </a:t>
            </a:r>
            <a:pPr indent="0" marL="0">
              <a:spcAft>
                <a:spcPts val="200"/>
              </a:spcAft>
              <a:buNone/>
            </a:pPr>
            <a:r>
              <a:rPr lang="en-US" sz="850" dirty="0">
                <a:solidFill>
                  <a:srgbClr val="000000"/>
                </a:solidFill>
                <a:latin typeface="Arial" pitchFamily="34" charset="0"/>
                <a:ea typeface="Arial" pitchFamily="34" charset="-122"/>
                <a:cs typeface="Arial" pitchFamily="34" charset="-120"/>
              </a:rPr>
              <a:t>Humanoid deployments in pilots</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Goldman Sachs humanoid research</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19  ·  </a:t>
            </a:r>
            <a:pPr indent="0" marL="0">
              <a:spcAft>
                <a:spcPts val="200"/>
              </a:spcAft>
              <a:buNone/>
            </a:pPr>
            <a:r>
              <a:rPr lang="en-US" sz="850" dirty="0">
                <a:solidFill>
                  <a:srgbClr val="000000"/>
                </a:solidFill>
                <a:latin typeface="Arial" pitchFamily="34" charset="0"/>
                <a:ea typeface="Arial" pitchFamily="34" charset="-122"/>
                <a:cs typeface="Arial" pitchFamily="34" charset="-120"/>
              </a:rPr>
              <a:t>Player list</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Tesla, Figure, Boston Dynamics, Unitree, Agility announcements</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20  ·  </a:t>
            </a:r>
            <a:pPr indent="0" marL="0">
              <a:spcAft>
                <a:spcPts val="200"/>
              </a:spcAft>
              <a:buNone/>
            </a:pPr>
            <a:r>
              <a:rPr lang="en-US" sz="850" dirty="0">
                <a:solidFill>
                  <a:srgbClr val="000000"/>
                </a:solidFill>
                <a:latin typeface="Arial" pitchFamily="34" charset="0"/>
                <a:ea typeface="Arial" pitchFamily="34" charset="-122"/>
                <a:cs typeface="Arial" pitchFamily="34" charset="-120"/>
              </a:rPr>
              <a:t>"~1.35M road deaths / year"</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WHO Global Road Safety</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20  ·  </a:t>
            </a:r>
            <a:pPr indent="0" marL="0">
              <a:spcAft>
                <a:spcPts val="200"/>
              </a:spcAft>
              <a:buNone/>
            </a:pPr>
            <a:r>
              <a:rPr lang="en-US" sz="850" dirty="0">
                <a:solidFill>
                  <a:srgbClr val="000000"/>
                </a:solidFill>
                <a:latin typeface="Arial" pitchFamily="34" charset="0"/>
                <a:ea typeface="Arial" pitchFamily="34" charset="-122"/>
                <a:cs typeface="Arial" pitchFamily="34" charset="-120"/>
              </a:rPr>
              <a:t>AV inference compute scale</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NVIDIA FY2026</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21  ·  </a:t>
            </a:r>
            <a:pPr indent="0" marL="0">
              <a:spcAft>
                <a:spcPts val="200"/>
              </a:spcAft>
              <a:buNone/>
            </a:pPr>
            <a:r>
              <a:rPr lang="en-US" sz="850" dirty="0">
                <a:solidFill>
                  <a:srgbClr val="000000"/>
                </a:solidFill>
                <a:latin typeface="Arial" pitchFamily="34" charset="0"/>
                <a:ea typeface="Arial" pitchFamily="34" charset="-122"/>
                <a:cs typeface="Arial" pitchFamily="34" charset="-120"/>
              </a:rPr>
              <a:t>AlphaFold structure prediction</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Jumper et al., Nature 2020</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21  ·  </a:t>
            </a:r>
            <a:pPr indent="0" marL="0">
              <a:spcAft>
                <a:spcPts val="200"/>
              </a:spcAft>
              <a:buNone/>
            </a:pPr>
            <a:r>
              <a:rPr lang="en-US" sz="850" dirty="0">
                <a:solidFill>
                  <a:srgbClr val="000000"/>
                </a:solidFill>
                <a:latin typeface="Arial" pitchFamily="34" charset="0"/>
                <a:ea typeface="Arial" pitchFamily="34" charset="-122"/>
                <a:cs typeface="Arial" pitchFamily="34" charset="-120"/>
              </a:rPr>
              <a:t>"~10⁶⁰ drug-like small molecules"</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Hughes et al., Br. J. Pharmacol.</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21  ·  </a:t>
            </a:r>
            <a:pPr indent="0" marL="0">
              <a:spcAft>
                <a:spcPts val="200"/>
              </a:spcAft>
              <a:buNone/>
            </a:pPr>
            <a:r>
              <a:rPr lang="en-US" sz="850" dirty="0">
                <a:solidFill>
                  <a:srgbClr val="000000"/>
                </a:solidFill>
                <a:latin typeface="Arial" pitchFamily="34" charset="0"/>
                <a:ea typeface="Arial" pitchFamily="34" charset="-122"/>
                <a:cs typeface="Arial" pitchFamily="34" charset="-120"/>
              </a:rPr>
              <a:t>"10–15 yrs / ~$2.6B per drug"</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Tufts CSDD drug-development studies</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21  ·  </a:t>
            </a:r>
            <a:pPr indent="0" marL="0">
              <a:spcAft>
                <a:spcPts val="200"/>
              </a:spcAft>
              <a:buNone/>
            </a:pPr>
            <a:r>
              <a:rPr lang="en-US" sz="850" dirty="0">
                <a:solidFill>
                  <a:srgbClr val="000000"/>
                </a:solidFill>
                <a:latin typeface="Arial" pitchFamily="34" charset="0"/>
                <a:ea typeface="Arial" pitchFamily="34" charset="-122"/>
                <a:cs typeface="Arial" pitchFamily="34" charset="-120"/>
              </a:rPr>
              <a:t>"&lt;10% Phase I success"</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Hughes et al., Br. J. Pharmacol.</a:t>
            </a:r>
            <a:endParaRPr lang="en-US" sz="850" dirty="0"/>
          </a:p>
        </p:txBody>
      </p:sp>
      <p:sp>
        <p:nvSpPr>
          <p:cNvPr id="13" name="Shape 11"/>
          <p:cNvSpPr/>
          <p:nvPr/>
        </p:nvSpPr>
        <p:spPr>
          <a:xfrm>
            <a:off x="6071616" y="1874520"/>
            <a:ext cx="2624328" cy="201168"/>
          </a:xfrm>
          <a:prstGeom prst="rect">
            <a:avLst/>
          </a:prstGeom>
          <a:solidFill>
            <a:srgbClr val="000000"/>
          </a:solidFill>
          <a:ln w="12700">
            <a:solidFill>
              <a:srgbClr val="000000"/>
            </a:solidFill>
            <a:prstDash val="solid"/>
          </a:ln>
        </p:spPr>
      </p:sp>
      <p:sp>
        <p:nvSpPr>
          <p:cNvPr id="14" name="Text 12"/>
          <p:cNvSpPr/>
          <p:nvPr/>
        </p:nvSpPr>
        <p:spPr>
          <a:xfrm>
            <a:off x="6071616" y="1874520"/>
            <a:ext cx="2624328" cy="201168"/>
          </a:xfrm>
          <a:prstGeom prst="rect">
            <a:avLst/>
          </a:prstGeom>
          <a:noFill/>
          <a:ln/>
        </p:spPr>
        <p:txBody>
          <a:bodyPr wrap="square" lIns="0" tIns="0" rIns="0" bIns="0" rtlCol="0" anchor="ctr"/>
          <a:lstStyle/>
          <a:p>
            <a:pPr algn="ctr" indent="0" marL="0">
              <a:buNone/>
            </a:pPr>
            <a:r>
              <a:rPr lang="en-US" sz="900" b="1" spc="200" kern="0" dirty="0">
                <a:solidFill>
                  <a:srgbClr val="FFFFFF"/>
                </a:solidFill>
                <a:latin typeface="Arial" pitchFamily="34" charset="0"/>
                <a:ea typeface="Arial" pitchFamily="34" charset="-122"/>
                <a:cs typeface="Arial" pitchFamily="34" charset="-120"/>
              </a:rPr>
              <a:t>TAKEAWAYS  ·  22</a:t>
            </a:r>
            <a:endParaRPr lang="en-US" sz="900" dirty="0"/>
          </a:p>
        </p:txBody>
      </p:sp>
      <p:sp>
        <p:nvSpPr>
          <p:cNvPr id="15" name="Text 13"/>
          <p:cNvSpPr/>
          <p:nvPr/>
        </p:nvSpPr>
        <p:spPr>
          <a:xfrm>
            <a:off x="6117336" y="2148840"/>
            <a:ext cx="2532888" cy="3566160"/>
          </a:xfrm>
          <a:prstGeom prst="rect">
            <a:avLst/>
          </a:prstGeom>
          <a:noFill/>
          <a:ln/>
        </p:spPr>
        <p:txBody>
          <a:bodyPr wrap="square" lIns="0" tIns="0" rIns="0" bIns="0" rtlCol="0" anchor="t"/>
          <a:lstStyle/>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22  ·  </a:t>
            </a:r>
            <a:pPr indent="0" marL="0">
              <a:spcAft>
                <a:spcPts val="200"/>
              </a:spcAft>
              <a:buNone/>
            </a:pPr>
            <a:r>
              <a:rPr lang="en-US" sz="850" dirty="0">
                <a:solidFill>
                  <a:srgbClr val="000000"/>
                </a:solidFill>
                <a:latin typeface="Arial" pitchFamily="34" charset="0"/>
                <a:ea typeface="Arial" pitchFamily="34" charset="-122"/>
                <a:cs typeface="Arial" pitchFamily="34" charset="-120"/>
              </a:rPr>
              <a:t>"~$750B hyperscaler 2026 capex"</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CreditSights / MUFG (Apr 2026)</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22  ·  </a:t>
            </a:r>
            <a:pPr indent="0" marL="0">
              <a:spcAft>
                <a:spcPts val="200"/>
              </a:spcAft>
              <a:buNone/>
            </a:pPr>
            <a:r>
              <a:rPr lang="en-US" sz="850" dirty="0">
                <a:solidFill>
                  <a:srgbClr val="000000"/>
                </a:solidFill>
                <a:latin typeface="Arial" pitchFamily="34" charset="0"/>
                <a:ea typeface="Arial" pitchFamily="34" charset="-122"/>
                <a:cs typeface="Arial" pitchFamily="34" charset="-120"/>
              </a:rPr>
              <a:t>"AI correlation 80% → 20%"</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Goldman Sachs correlation data</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22  ·  </a:t>
            </a:r>
            <a:pPr indent="0" marL="0">
              <a:spcAft>
                <a:spcPts val="200"/>
              </a:spcAft>
              <a:buNone/>
            </a:pPr>
            <a:r>
              <a:rPr lang="en-US" sz="850" dirty="0">
                <a:solidFill>
                  <a:srgbClr val="000000"/>
                </a:solidFill>
                <a:latin typeface="Arial" pitchFamily="34" charset="0"/>
                <a:ea typeface="Arial" pitchFamily="34" charset="-122"/>
                <a:cs typeface="Arial" pitchFamily="34" charset="-120"/>
              </a:rPr>
              <a:t>"Semis +38% / software –20% YTD"</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Yahoo Finance (Apr 17, 2026)</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22  ·  </a:t>
            </a:r>
            <a:pPr indent="0" marL="0">
              <a:spcAft>
                <a:spcPts val="200"/>
              </a:spcAft>
              <a:buNone/>
            </a:pPr>
            <a:r>
              <a:rPr lang="en-US" sz="850" dirty="0">
                <a:solidFill>
                  <a:srgbClr val="000000"/>
                </a:solidFill>
                <a:latin typeface="Arial" pitchFamily="34" charset="0"/>
                <a:ea typeface="Arial" pitchFamily="34" charset="-122"/>
                <a:cs typeface="Arial" pitchFamily="34" charset="-120"/>
              </a:rPr>
              <a:t>"HBM TAM $35B → $100B, 2025–28"</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BofA HBM TAM; TrendForce</a:t>
            </a:r>
            <a:endParaRPr lang="en-US" sz="850" dirty="0"/>
          </a:p>
          <a:p>
            <a:pPr indent="0" marL="0">
              <a:spcAft>
                <a:spcPts val="200"/>
              </a:spcAft>
              <a:buNone/>
            </a:pPr>
            <a:r>
              <a:rPr lang="en-US" sz="850" b="1" dirty="0">
                <a:solidFill>
                  <a:srgbClr val="000000"/>
                </a:solidFill>
                <a:latin typeface="Arial" pitchFamily="34" charset="0"/>
                <a:ea typeface="Arial" pitchFamily="34" charset="-122"/>
                <a:cs typeface="Arial" pitchFamily="34" charset="-120"/>
              </a:rPr>
              <a:t>Slide 22  ·  </a:t>
            </a:r>
            <a:pPr indent="0" marL="0">
              <a:spcAft>
                <a:spcPts val="200"/>
              </a:spcAft>
              <a:buNone/>
            </a:pPr>
            <a:r>
              <a:rPr lang="en-US" sz="850" dirty="0">
                <a:solidFill>
                  <a:srgbClr val="000000"/>
                </a:solidFill>
                <a:latin typeface="Arial" pitchFamily="34" charset="0"/>
                <a:ea typeface="Arial" pitchFamily="34" charset="-122"/>
                <a:cs typeface="Arial" pitchFamily="34" charset="-120"/>
              </a:rPr>
              <a:t>Hyperscaler FCF impact</a:t>
            </a:r>
            <a:pPr indent="0" marL="0">
              <a:spcAft>
                <a:spcPts val="200"/>
              </a:spcAft>
              <a:buNone/>
            </a:pPr>
            <a:r>
              <a:rPr lang="en-US" sz="850" dirty="0">
                <a:solidFill>
                  <a:srgbClr val="666666"/>
                </a:solidFill>
                <a:latin typeface="Arial" pitchFamily="34" charset="0"/>
                <a:ea typeface="Arial" pitchFamily="34" charset="-122"/>
                <a:cs typeface="Arial" pitchFamily="34" charset="-120"/>
              </a:rPr>
              <a:t>  —  </a:t>
            </a:r>
            <a:pPr indent="0" marL="0">
              <a:spcAft>
                <a:spcPts val="200"/>
              </a:spcAft>
              <a:buNone/>
            </a:pPr>
            <a:r>
              <a:rPr lang="en-US" sz="850" i="1" dirty="0">
                <a:solidFill>
                  <a:srgbClr val="666666"/>
                </a:solidFill>
                <a:latin typeface="Arial" pitchFamily="34" charset="0"/>
                <a:ea typeface="Arial" pitchFamily="34" charset="-122"/>
                <a:cs typeface="Arial" pitchFamily="34" charset="-120"/>
              </a:rPr>
              <a:t>Amazon, Meta 10-Qs</a:t>
            </a:r>
            <a:endParaRPr lang="en-US" sz="850" dirty="0"/>
          </a:p>
        </p:txBody>
      </p:sp>
      <p:sp>
        <p:nvSpPr>
          <p:cNvPr id="16" name="Text 14"/>
          <p:cNvSpPr/>
          <p:nvPr/>
        </p:nvSpPr>
        <p:spPr>
          <a:xfrm>
            <a:off x="457200" y="5875020"/>
            <a:ext cx="8229600" cy="320040"/>
          </a:xfrm>
          <a:prstGeom prst="rect">
            <a:avLst/>
          </a:prstGeom>
          <a:noFill/>
          <a:ln/>
        </p:spPr>
        <p:txBody>
          <a:bodyPr wrap="square" lIns="0" tIns="0" rIns="0" bIns="0" rtlCol="0" anchor="t"/>
          <a:lstStyle/>
          <a:p>
            <a:pPr indent="0" marL="0">
              <a:buNone/>
            </a:pPr>
            <a:r>
              <a:rPr lang="en-US" sz="700" dirty="0">
                <a:solidFill>
                  <a:srgbClr val="999999"/>
                </a:solidFill>
                <a:latin typeface="Arial" pitchFamily="34" charset="0"/>
                <a:ea typeface="Arial" pitchFamily="34" charset="-122"/>
                <a:cs typeface="Arial" pitchFamily="34" charset="-120"/>
              </a:rPr>
              <a:t>Appendix 2 of 2. End of deck.</a:t>
            </a:r>
            <a:endParaRPr lang="en-US" sz="700" dirty="0"/>
          </a:p>
        </p:txBody>
      </p:sp>
      <p:sp>
        <p:nvSpPr>
          <p:cNvPr id="17" name="Shape 15"/>
          <p:cNvSpPr/>
          <p:nvPr/>
        </p:nvSpPr>
        <p:spPr>
          <a:xfrm>
            <a:off x="0" y="6286500"/>
            <a:ext cx="9144000" cy="571500"/>
          </a:xfrm>
          <a:prstGeom prst="rect">
            <a:avLst/>
          </a:prstGeom>
          <a:solidFill>
            <a:srgbClr val="000000"/>
          </a:solidFill>
          <a:ln w="12700">
            <a:solidFill>
              <a:srgbClr val="000000"/>
            </a:solidFill>
            <a:prstDash val="solid"/>
          </a:ln>
        </p:spPr>
      </p:sp>
      <p:sp>
        <p:nvSpPr>
          <p:cNvPr id="18" name="Text 16"/>
          <p:cNvSpPr/>
          <p:nvPr/>
        </p:nvSpPr>
        <p:spPr>
          <a:xfrm>
            <a:off x="1371600" y="6332220"/>
            <a:ext cx="6400800" cy="457200"/>
          </a:xfrm>
          <a:prstGeom prst="rect">
            <a:avLst/>
          </a:prstGeom>
          <a:noFill/>
          <a:ln/>
        </p:spPr>
        <p:txBody>
          <a:bodyPr wrap="square" lIns="0" tIns="0" rIns="0" bIns="0" rtlCol="0" anchor="ctr"/>
          <a:lstStyle/>
          <a:p>
            <a:pPr algn="ctr" indent="0" marL="0">
              <a:buNone/>
            </a:pPr>
            <a:r>
              <a:rPr lang="en-US" sz="650" b="1" dirty="0">
                <a:solidFill>
                  <a:srgbClr val="FFFFFF"/>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19" name="Text 17"/>
          <p:cNvSpPr/>
          <p:nvPr/>
        </p:nvSpPr>
        <p:spPr>
          <a:xfrm>
            <a:off x="8321040" y="6405372"/>
            <a:ext cx="548640" cy="274320"/>
          </a:xfrm>
          <a:prstGeom prst="rect">
            <a:avLst/>
          </a:prstGeom>
          <a:noFill/>
          <a:ln/>
        </p:spPr>
        <p:txBody>
          <a:bodyPr wrap="square" lIns="0" tIns="0" rIns="0" bIns="0" rtlCol="0" anchor="ctr"/>
          <a:lstStyle/>
          <a:p>
            <a:pPr algn="r" indent="0" marL="0">
              <a:buNone/>
            </a:pPr>
            <a:r>
              <a:rPr lang="en-US" sz="900" dirty="0">
                <a:solidFill>
                  <a:srgbClr val="FFFFFF"/>
                </a:solidFill>
                <a:latin typeface="Arial" pitchFamily="34" charset="0"/>
                <a:ea typeface="Arial" pitchFamily="34" charset="-122"/>
                <a:cs typeface="Arial" pitchFamily="34" charset="-120"/>
              </a:rPr>
              <a:t>24</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Markets — May 2026</dc:title>
  <dc:subject>PptxGenJS Presentation</dc:subject>
  <dc:creator>Strategy</dc:creator>
  <cp:lastModifiedBy>Strategy</cp:lastModifiedBy>
  <cp:revision>1</cp:revision>
  <dcterms:created xsi:type="dcterms:W3CDTF">2026-04-27T21:16:02Z</dcterms:created>
  <dcterms:modified xsi:type="dcterms:W3CDTF">2026-04-27T21:16:02Z</dcterms:modified>
</cp:coreProperties>
</file>