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2026E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Logic</c:v>
                  </c:pt>
                  <c:pt idx="1">
                    <c:v>Memory</c:v>
                  </c:pt>
                  <c:pt idx="2">
                    <c:v>Analog</c:v>
                  </c:pt>
                  <c:pt idx="3">
                    <c:v>Micro</c:v>
                  </c:pt>
                  <c:pt idx="4">
                    <c:v>Discrete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302</c:v>
                </c:pt>
                <c:pt idx="1">
                  <c:v>295</c:v>
                </c:pt>
                <c:pt idx="2">
                  <c:v>95</c:v>
                </c:pt>
                <c:pt idx="3">
                  <c:v>85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HBM TAM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16</c:v>
                </c:pt>
                <c:pt idx="2">
                  <c:v>35</c:v>
                </c:pt>
                <c:pt idx="3">
                  <c:v>55</c:v>
                </c:pt>
                <c:pt idx="4">
                  <c:v>80</c:v>
                </c:pt>
                <c:pt idx="5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SK Hynix</c:v>
                  </c:pt>
                  <c:pt idx="1">
                    <c:v>Micron</c:v>
                  </c:pt>
                  <c:pt idx="2">
                    <c:v>Samsung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22</c:v>
                </c:pt>
                <c:pt idx="2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 (SOXX)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 (IGV)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10 Tech</c:v>
                </c:pt>
              </c:strCache>
            </c:strRef>
          </c:tx>
          <c:spPr>
            <a:solidFill>
              <a:srgbClr val="FFFFFF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28</c:v>
                </c:pt>
                <c:pt idx="1">
                  <c:v>22</c:v>
                </c:pt>
                <c:pt idx="2">
                  <c:v>28</c:v>
                </c:pt>
                <c:pt idx="3">
                  <c:v>20</c:v>
                </c:pt>
                <c:pt idx="4">
                  <c:v>28</c:v>
                </c:pt>
                <c:pt idx="5">
                  <c:v>24</c:v>
                </c:pt>
                <c:pt idx="6">
                  <c:v>19</c:v>
                </c:pt>
                <c:pt idx="7">
                  <c:v>22</c:v>
                </c:pt>
                <c:pt idx="8">
                  <c:v>10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Top 10 Non-Tech</c:v>
                </c:pt>
              </c:strCache>
            </c:strRef>
          </c:tx>
          <c:spPr>
            <a:solidFill>
              <a:srgbClr val="FFB80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B800"/>
              </a:solidFill>
              <a:ln w="9525" cap="flat">
                <a:solidFill>
                  <a:srgbClr val="FFB800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34</c:v>
                </c:pt>
                <c:pt idx="1">
                  <c:v>48</c:v>
                </c:pt>
                <c:pt idx="2">
                  <c:v>32</c:v>
                </c:pt>
                <c:pt idx="3">
                  <c:v>24</c:v>
                </c:pt>
                <c:pt idx="4">
                  <c:v>15</c:v>
                </c:pt>
                <c:pt idx="5">
                  <c:v>22</c:v>
                </c:pt>
                <c:pt idx="6">
                  <c:v>18</c:v>
                </c:pt>
                <c:pt idx="7">
                  <c:v>14</c:v>
                </c:pt>
                <c:pt idx="8">
                  <c:v/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Revenue growth, 2026E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P/E, 2026E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IBM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2010 Mkt Cap</c:v>
                  </c:pt>
                  <c:pt idx="1">
                    <c:v>Cumulative CAPEX</c:v>
                  </c:pt>
                  <c:pt idx="2">
                    <c:v>2026 Mkt Cap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175</c:v>
                </c:pt>
                <c:pt idx="1">
                  <c:v>275</c:v>
                </c:pt>
                <c:pt idx="2">
                  <c:v>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Microsoft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2010 Mkt Cap</c:v>
                  </c:pt>
                  <c:pt idx="1">
                    <c:v>Cumulative CAPEX</c:v>
                  </c:pt>
                  <c:pt idx="2">
                    <c:v>2026 Mkt Cap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550</c:v>
                </c:pt>
                <c:pt idx="2">
                  <c:v>424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89320" y="822960"/>
            <a:ext cx="2743200" cy="27889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6080760" y="822960"/>
            <a:ext cx="2560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Hero — abstract GPU / data-center close-up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223760" y="320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685800"/>
            <a:ext cx="1554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731520" cy="914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459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capex cycle repricing every layer of tech.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Note  |  Equity Research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argument, in five parts.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Landscape, Market, Shifts, Risks, Frontier. Each answers a different question about the same ~$750B capex cycle.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874520"/>
            <a:ext cx="9144000" cy="21488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933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AT A GLANCE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56616" y="2359152"/>
            <a:ext cx="1554480" cy="15087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" y="2359152"/>
            <a:ext cx="1554480" cy="54864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" y="25237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56616" y="29809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8056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is, where it runs, who fabs it.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56616" y="36393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3–8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5688" y="2359152"/>
            <a:ext cx="1554480" cy="15087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75688" y="2359152"/>
            <a:ext cx="1554480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75688" y="25237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075688" y="29809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67128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buys the chips and who builds the models.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075688" y="36393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9–12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94760" y="2359152"/>
            <a:ext cx="1554480" cy="15087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94760" y="2359152"/>
            <a:ext cx="155448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25237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794760" y="29809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era, the divergence, the repricing.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94760" y="36393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13–15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513832" y="2359152"/>
            <a:ext cx="1554480" cy="15087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13832" y="2359152"/>
            <a:ext cx="155448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25237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513832" y="29809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05272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Bubble, narrative, supply chain, policy, backlash.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513832" y="36393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16–20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7232904" y="2359152"/>
            <a:ext cx="1554480" cy="15087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32904" y="2359152"/>
            <a:ext cx="1554480" cy="54864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2904" y="25237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7232904" y="29809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24344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Orbital, physical, autonomous vehicles.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32904" y="36393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21–23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24 slides, read top to bottom.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the largest capex cycle in history, it touches every layer of the economy, and it is repricing everything — in both directions.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$750B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hyperscaler capex — Big 5 combined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18745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$4T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606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AI data-center spend through 2030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18745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+38%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606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semiconductors (SOXX) YTD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18745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–20%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606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(IGV) YTD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~58-point spread between semis and software. The same AI wave is creating winners and losers simultaneously.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Deutsche Bank; iShares SOXX &amp; IGV YTD total return as of Apr 17, 2026.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6916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17830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6916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931920"/>
            <a:ext cx="822960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3931920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0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3520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rates for AI far eclipse those of prior technologies.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revenue trajectories are illustrative — refine before publication.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AI.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69164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57276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1892808"/>
            <a:ext cx="1258214" cy="2011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1892808"/>
            <a:ext cx="54864" cy="20116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1984248"/>
            <a:ext cx="1075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94309" y="2221992"/>
            <a:ext cx="1075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4309" y="2606040"/>
            <a:ext cx="10753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2487168" y="157276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1892808"/>
            <a:ext cx="1258214" cy="2011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1892808"/>
            <a:ext cx="54864" cy="20116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1984248"/>
            <a:ext cx="1075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104949" y="2221992"/>
            <a:ext cx="1075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4949" y="2606040"/>
            <a:ext cx="10753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3797808" y="157276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1892808"/>
            <a:ext cx="1258214" cy="2011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1892808"/>
            <a:ext cx="54864" cy="20116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1984248"/>
            <a:ext cx="1075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415589" y="2221992"/>
            <a:ext cx="1075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15589" y="2606040"/>
            <a:ext cx="10753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5108448" y="157276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1892808"/>
            <a:ext cx="1258214" cy="201168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1892808"/>
            <a:ext cx="54864" cy="20116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1984248"/>
            <a:ext cx="1075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26229" y="2221992"/>
            <a:ext cx="1075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726229" y="2606040"/>
            <a:ext cx="10753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6419088" y="157276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1892808"/>
            <a:ext cx="1258214" cy="2011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1892808"/>
            <a:ext cx="54864" cy="201168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1984248"/>
            <a:ext cx="1075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36869" y="2221992"/>
            <a:ext cx="1075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036869" y="2606040"/>
            <a:ext cx="10753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7729728" y="157276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1892808"/>
            <a:ext cx="1258214" cy="201168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1892808"/>
            <a:ext cx="54864" cy="20116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1984248"/>
            <a:ext cx="1075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47509" y="2221992"/>
            <a:ext cx="107533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47509" y="2606040"/>
            <a:ext cx="10753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rare earths in the ground to agents that act on your behalf. Eleven layers, each investable, each with its own constraint.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137160" cy="2057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17320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583680" y="1435608"/>
            <a:ext cx="2057400" cy="169164"/>
          </a:xfrm>
          <a:prstGeom prst="roundRect">
            <a:avLst>
              <a:gd name="adj" fmla="val 16216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435608"/>
            <a:ext cx="205740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FASTEST-GROWING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659636"/>
            <a:ext cx="137160" cy="2057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659636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1659636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1901952"/>
            <a:ext cx="137160" cy="2057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1901952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97480" y="1901952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144268"/>
            <a:ext cx="137160" cy="2057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144268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97480" y="2144268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386584"/>
            <a:ext cx="137160" cy="2057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2386584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97480" y="2386584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628900"/>
            <a:ext cx="137160" cy="2057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2628900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97480" y="2628900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2871216"/>
            <a:ext cx="137160" cy="2057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2871216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697480" y="2871216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2889504"/>
            <a:ext cx="2057400" cy="169164"/>
          </a:xfrm>
          <a:prstGeom prst="roundRect">
            <a:avLst>
              <a:gd name="adj" fmla="val 16216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2889504"/>
            <a:ext cx="205740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BOTTLENECK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3113532"/>
            <a:ext cx="137160" cy="2057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3113532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697480" y="3113532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3355848"/>
            <a:ext cx="137160" cy="2057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355848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697480" y="3355848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7200" y="3598164"/>
            <a:ext cx="137160" cy="2057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3598164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697480" y="3598164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3840480"/>
            <a:ext cx="137160" cy="2057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" y="3840480"/>
            <a:ext cx="20116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697480" y="3840480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Layers ordered top (closest to user) to bottom (closest to atoms).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one makes an AI chip alone.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it reaches a data center. There is no domestic alternative.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8229600" cy="77724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World map — chip supply-chain flows between US / Taiwan / Korea / NL / Japan / China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260604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77440"/>
            <a:ext cx="2606040" cy="54864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4505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6791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software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7121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NVDA, AMD, AVGO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154680" y="2377440"/>
            <a:ext cx="260604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54680" y="2377440"/>
            <a:ext cx="260604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4505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Taiwan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6791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Leading-edge fabs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91840" y="287121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(~90% advanced)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52160" y="2377440"/>
            <a:ext cx="260604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52160" y="2377440"/>
            <a:ext cx="2606040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24505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S. Korea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89320" y="26791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 &amp; HBM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89320" y="287121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Hynix, Samsung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218688"/>
            <a:ext cx="260604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218688"/>
            <a:ext cx="2606040" cy="54864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29184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Netherlands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3520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lithography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371246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(&lt;100/yr)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54680" y="3218688"/>
            <a:ext cx="260604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54680" y="3218688"/>
            <a:ext cx="260604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29184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Japan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520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&amp; equipment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291840" y="371246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Tokyo Electron, Shin-Etsu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852160" y="3218688"/>
            <a:ext cx="260604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52160" y="3218688"/>
            <a:ext cx="2606040" cy="5486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89320" y="329184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China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89320" y="3520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Mature-node fabs, rare earths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989320" y="371246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SMIC, Huawei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TSMC, ASML, SK Hynix, Samsung, Tokyo Electron filings; SIA.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part of the stack now.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data-center electricity demand is on track to more than double by 2030 (IEA). Where the electrons come from is now a market call.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1417320"/>
            <a:ext cx="5486400" cy="10972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920240" y="141732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Data-center with turbines / solar array / transmission lines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256032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51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GAS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256032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01752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&amp; firm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3218688"/>
            <a:ext cx="2331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Turbines can power a data center in under a year — the near-term backbone of the buildout.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2651760"/>
            <a:ext cx="256032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651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&amp; PPAs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2971800"/>
            <a:ext cx="256032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301752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3218688"/>
            <a:ext cx="2331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 are the largest corporate buyers of renewable energy. Long-term PPAs lock in clean power.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2651760"/>
            <a:ext cx="256032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2651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&amp; INTERCONNECT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971800"/>
            <a:ext cx="256032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301752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3218688"/>
            <a:ext cx="2331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Interconnection queues take years. Grid build is the binding constraint on deployment speed.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886200"/>
            <a:ext cx="8229600" cy="20116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86200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· SMR pipeline and geothermal — the only sources credibly scaling past 2030 without straining grids.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IEA World Energy Outlook 2025; EIA; utility interconnection-queue data.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buyer base is broadening.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5 hyperscalers drive ~$750B. But neoclouds, sovereigns, labs, and enterprises are now material — not just the original four.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" y="1691640"/>
            <a:ext cx="1572768" cy="1828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0896" y="1691640"/>
            <a:ext cx="1572768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81965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2075688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~$750B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84048" y="258775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combined capex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4048" y="2862072"/>
            <a:ext cx="1426464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91693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— all top-10 S&amp;P names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84048" y="315468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AMZN · GOOGL · MSFT · META · ORCL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48256" y="1691640"/>
            <a:ext cx="1572768" cy="1828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48256" y="1691640"/>
            <a:ext cx="1572768" cy="54864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21408" y="181965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LABS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21408" y="2075688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names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21408" y="258775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demand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121408" y="2862072"/>
            <a:ext cx="1426464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21408" y="291693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round sizes live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121408" y="315468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· xAI · Mistral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785616" y="1691640"/>
            <a:ext cx="1572768" cy="1828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85616" y="1691640"/>
            <a:ext cx="1572768" cy="54864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58768" y="181965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NEOCLOUDS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58768" y="2075688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~4×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858768" y="258775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than hypers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858768" y="2862072"/>
            <a:ext cx="1426464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58768" y="291693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GPU-as-a-service, rented short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858768" y="315468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· Lambda · Crusoe · Vultr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522976" y="1691640"/>
            <a:ext cx="1572768" cy="1828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2976" y="1691640"/>
            <a:ext cx="1572768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96128" y="181965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596128" y="2075688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$100B+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596128" y="258775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announced sovereign AI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596128" y="2862072"/>
            <a:ext cx="1426464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96128" y="291693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Gulf + G7 pools of capital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96128" y="315468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Saudi · UAE · France · Japan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260336" y="1691640"/>
            <a:ext cx="1572768" cy="1828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60336" y="1691640"/>
            <a:ext cx="1572768" cy="54864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33488" y="181965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333488" y="2075688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Big 4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7333488" y="258775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in-house fleets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333488" y="2862072"/>
            <a:ext cx="1426464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33488" y="2916936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chips, not API seats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333488" y="315468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Tesla · Apple · ByteDance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 (Apr 2026 consensus); sovereign AI announcements; CoreWeave, Lambda, Crusoe, Vultr filings.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~$975B market.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has flipped the engine. Logic and memory — ~60% of the industry — now drive the whole thing. Analog and micros are along for the ride.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 revenue by segment, 2026E ($B)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captured by node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783080"/>
          <a:ext cx="3931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Datapoint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$216B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rev, +65% YoY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FY27 rev guide (Feb)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TSMC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advanced-node supply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 Hynix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HBM share; 70% for Rubin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EUV machines built per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$975B total revenue, +26% YoY. Logic + memory = ~$600B — tracking hyperscaler capex almost dollar-for-dollar.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 Fall 2025 forecast; SIA; NVIDIA FY2026 10-K (Jan 2026); TSMC, SK Hynix filings; TrendForce; ASML annual capacity guidance.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8" name="Text 14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Memory is the bottleneck.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wait on memory. Context windows are exploding. HBM is a three-supplier oligopoly on its way to a $100B TAM.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TAM ($B) — 25× growth, 2023 → 2028E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supplier share, Q1 2026 (%)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2" name="Chart 1" descr=""/>
          <p:cNvGraphicFramePr/>
          <p:nvPr/>
        </p:nvGraphicFramePr>
        <p:xfrm>
          <a:off x="4754880" y="17830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35204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HBM4 = 56× the bandwidth of DDR5. All three suppliers sold out for 2026.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Bank of America 2026 HBM TAM forecast; TrendForce; Counterpoint Research; SK Hynix, Micron, Samsung Q4 2025 filings; UBS (HBM4 share est.).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8" name="Text 14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 are a market.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frontier labs now worth ~$1.5T in aggregate private value. Q1 2026 doubled all of 2025's foundational-AI VC funding — and VCs are still chasing.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event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$852B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~35× ARR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$122B round · AMZN / NVDA / SoftBank · Apr 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~13× ARR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$30B Series G (Feb); VCs now offering $800B+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$230B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~77× ARR*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$20B Nvidia-led Series E · Q1 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Mistral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~14× ARR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€1.7B Series C · Jun 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5204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CNBC, Tech-Insider (Apr 2026); Crunchbase Q1 2026 VC data; Sacra ARR run-rates; Bloomberg. *xAI ARR estimated.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chatbots to coworkers.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are buying dev-tool companies (Bun, Astral) to lock the coding stack.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company announcements.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basket trade is over.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are up, software is down — a ~58-point YTD spread inside one theme.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783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0" y="2103120"/>
            <a:ext cx="914400" cy="2468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669280" y="21031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210312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754880" y="2350008"/>
            <a:ext cx="914400" cy="2468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669280" y="23500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92240" y="235000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754880" y="2596896"/>
            <a:ext cx="914400" cy="2468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669280" y="25968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92240" y="259689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754880" y="2926080"/>
            <a:ext cx="393192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2926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diSAAS-ter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754880" y="3246120"/>
            <a:ext cx="914400" cy="2468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0" y="32461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324612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754880" y="3493008"/>
            <a:ext cx="914400" cy="2468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669280" y="34930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92240" y="3493008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754880" y="3739896"/>
            <a:ext cx="914400" cy="2468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669280" y="37398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492240" y="373989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iShares SOXX / IGV / QQQ YTD total return, Apr 17, 2026; Yahoo Finance; Counterpoint Research; Morgan Stanley CIO Survey. Single-stock YTDs indicative.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5" name="Text 32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investors pay less, for more.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393192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2748686"/>
            <a:ext cx="512064" cy="54315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249265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70432" y="3168396"/>
            <a:ext cx="512064" cy="123444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29123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" y="32918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3649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83664" y="2279599"/>
            <a:ext cx="512064" cy="1012241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02356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50592" y="2798064"/>
            <a:ext cx="512064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254203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865376" y="32918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33649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63824" y="2480637"/>
            <a:ext cx="512064" cy="81120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224605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30752" y="2339558"/>
            <a:ext cx="512064" cy="95228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08352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45536" y="32918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33649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365760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362102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365760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36210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P/E vs 2026E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1783080"/>
            <a:ext cx="393192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2834640"/>
            <a:ext cx="1965960" cy="105156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783080"/>
            <a:ext cx="1965960" cy="1051560"/>
          </a:xfrm>
          <a:prstGeom prst="rect">
            <a:avLst/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36576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 for low growth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0" y="181051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Inexpensive for high growth</a:t>
            </a:r>
            <a:endParaRPr lang="en-US" sz="85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754880" y="17830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Shape 37"/>
          <p:cNvSpPr/>
          <p:nvPr/>
        </p:nvSpPr>
        <p:spPr>
          <a:xfrm>
            <a:off x="457200" y="3931920"/>
            <a:ext cx="822960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3931920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growing ~4× faster than top 10 Non-Tech — at a cheaper multiple.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 consensus estimates (2026E); company filings. Top 10 defined by 2026E revenue within each group. Individual P/E / growth points are indicative — refine before publication.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5" name="Text 42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 not 2000.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10896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1691640"/>
            <a:ext cx="246888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DOTCOM 2000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691640"/>
            <a:ext cx="256032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2026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011680"/>
            <a:ext cx="310896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11880" y="2011680"/>
            <a:ext cx="246888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2011680"/>
            <a:ext cx="25603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414016"/>
            <a:ext cx="8229600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414016"/>
            <a:ext cx="310896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11880" y="2414016"/>
            <a:ext cx="246888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0" y="2414016"/>
            <a:ext cx="25603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2816352"/>
            <a:ext cx="310896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11880" y="2816352"/>
            <a:ext cx="246888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2816352"/>
            <a:ext cx="25603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8229600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611880" y="3218688"/>
            <a:ext cx="246888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26480" y="3218688"/>
            <a:ext cx="25603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703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underinvestment to overreach.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narratives lead to misconception — the same commentariat that once demanded more capex now warns of too much. Capital allocation is the CEO's job.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4160520" cy="2423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91640"/>
            <a:ext cx="370332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636776"/>
            <a:ext cx="109728" cy="109728"/>
          </a:xfrm>
          <a:prstGeom prst="ellipse">
            <a:avLst/>
          </a:prstGeom>
          <a:solidFill>
            <a:srgbClr val="CC0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25112" y="1636776"/>
            <a:ext cx="109728" cy="109728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6479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19476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"Too much cash &amp; buybacks,</a:t>
            </a:r>
            <a:endParaRPr lang="en-US" sz="800" dirty="0"/>
          </a:p>
          <a:p>
            <a:pPr indent="0" marL="0">
              <a:buNone/>
            </a:pPr>
            <a:r>
              <a:rPr lang="en-US" sz="8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enough CAPEX"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794760" y="176479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8892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"Too much CAPEX"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20116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606040"/>
            <a:ext cx="36576" cy="53035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624328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"Big Tech's Plunk Is Costing a Lot More Than the Stock Lending"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621792" y="2953512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press, 2019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24328" y="2606040"/>
            <a:ext cx="20116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4328" y="2606040"/>
            <a:ext cx="36576" cy="53035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97480" y="2624328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"Big Tech's Buyback Spree Runs Its Limits"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2697480" y="2953512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press, 2019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48640" y="3191256"/>
            <a:ext cx="20116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191256"/>
            <a:ext cx="36576" cy="53035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3209544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"Companies have been buying back massive amounts of stock this year"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21792" y="3538728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press, 2019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2624328" y="3191256"/>
            <a:ext cx="20116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4328" y="3191256"/>
            <a:ext cx="36576" cy="53035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97480" y="3209544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"Tech AI spending may approach $700B this year, but the blow to cash raises red flags"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2697480" y="3538728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press, 2026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457200" y="3931920"/>
            <a:ext cx="416052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9319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"Capital allocation is the CEO's most important job." </a:t>
            </a:r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Outsiders, W. Thorndike II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75488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vs Microsoft, 2010 → 2026 ($B)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35" name="Chart 0" descr=""/>
          <p:cNvGraphicFramePr/>
          <p:nvPr/>
        </p:nvGraphicFramePr>
        <p:xfrm>
          <a:off x="4754880" y="1783080"/>
          <a:ext cx="393192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754880" y="3611880"/>
            <a:ext cx="1920240" cy="2286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754880" y="36118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~2× larger CAPEX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766560" y="3611880"/>
            <a:ext cx="1920240" cy="22860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766560" y="36118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~10× larger mkt cap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754880" y="38862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investing may have severe consequences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57200" y="4160520"/>
            <a:ext cx="822960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 (IBM, Microsoft); Bloomberg; financial press archive (2019); W. Thorndike, "The Outsiders" (2012). Microsoft cumulative CAPEX ~$550B is a placeholder — refine before publication.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5" name="Text 42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chip supply chain is fragile.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17830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514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combined DRAM share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17830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514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machines ASML builds per year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17830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514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401568"/>
            <a:ext cx="1943100" cy="5943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4381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online ~2026–27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537460" y="3401568"/>
            <a:ext cx="1943100" cy="5943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83180" y="34381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83180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0" y="3401568"/>
            <a:ext cx="1943100" cy="5943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34381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17720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ground; online ~2028–30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606540" y="3401568"/>
            <a:ext cx="1943100" cy="5943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2260" y="34381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52260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 under build; online ~2027–28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has cleaved the stack.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256032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91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560320" cy="1874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214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$5.5B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25420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H20 writedown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2852928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907792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banned from China.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share ~20%.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1691640"/>
            <a:ext cx="2560320" cy="36576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691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2057400"/>
            <a:ext cx="2560320" cy="1874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1214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383280" y="25420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fine cap (of global revenue) — Aug 2 enforcement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4720" y="2852928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2907792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of enterprises feel prepared.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26480" y="1691640"/>
            <a:ext cx="256032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1691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057400"/>
            <a:ext cx="2560320" cy="1874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1214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217920" y="25420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 authorized)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09360" y="2852928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2907792"/>
            <a:ext cx="2331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public is turning.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783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$64B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514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data-center projects blocked or delayed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783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514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Americans view AI positively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783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~480K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5146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workforce gap (US)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2697480" cy="2286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1089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340156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is the epicenter with 42 groups.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1840" y="3108960"/>
            <a:ext cx="2697480" cy="2286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1089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37560" y="340156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21, 2026 "Stop the AI Race" protests targeted Anthropic, OpenAI, xAI HQs. 56% of Americans are anxious about AI.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3108960"/>
            <a:ext cx="2697480" cy="2286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31089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72200" y="340156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ops roles short 467K–498K workers. 400+ data centers under construction; talent, not capital, is binding.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Computing beyond Earth.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17320"/>
            <a:ext cx="3337560" cy="21031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1732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(solar wings, Earth below)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709160" cy="292608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17320"/>
            <a:ext cx="470916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709928"/>
            <a:ext cx="4709160" cy="3657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72821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4709160" cy="292608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148840"/>
            <a:ext cx="470916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4709160" cy="3657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45973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4709160" cy="292608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80360"/>
            <a:ext cx="470916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172968"/>
            <a:ext cx="4709160" cy="3657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9125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033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gets a body.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17320"/>
            <a:ext cx="6400800" cy="12801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1732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on a factory / warehouse floor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2697480" cy="5943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54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283464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3108960"/>
            <a:ext cx="2697480" cy="5943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154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283464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3108960"/>
            <a:ext cx="2697480" cy="5943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3154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Autonomy is a flywheel.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17320"/>
            <a:ext cx="2560320" cy="22860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AV sensor-visualization or fleet photo (Waymo / Tesla FSD)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17320"/>
            <a:ext cx="548640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691640"/>
            <a:ext cx="548640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71907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176272"/>
            <a:ext cx="548640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2450592"/>
            <a:ext cx="548640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247802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0" y="2935224"/>
            <a:ext cx="548640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935224"/>
            <a:ext cx="5486400" cy="2743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3209544"/>
            <a:ext cx="548640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323697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822192"/>
            <a:ext cx="822960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82219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takeaways.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548640" cy="5486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6459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548640" cy="5486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05740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28600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(SOXX) +38% YTD, software (IGV) –20% YTD — a 58-point spread. Memory oligopolies with pricing power outperform cloud providers burning cash.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548640" cy="5486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26974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292608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337560"/>
            <a:ext cx="548640" cy="5486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97280" y="333756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97280" y="356616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iShares SOXX / IGV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46908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2026-04-23T00:14:52Z</dcterms:created>
  <dcterms:modified xsi:type="dcterms:W3CDTF">2026-04-23T00:14:52Z</dcterms:modified>
</cp:coreProperties>
</file>