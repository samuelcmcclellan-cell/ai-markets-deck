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Compute demanded</c:v>
                </c:pt>
              </c:strCache>
            </c:strRef>
          </c:tx>
          <c:spPr>
            <a:solidFill>
              <a:srgbClr val="2BC4C4">
                <a:alpha val="30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Sheet1!$A$2:$A$22</c:f>
              <c:multiLvlStrCache>
                <c:ptCount val="21"/>
                <c:lvl>
                  <c:pt idx="0">
                    <c:v>0</c:v>
                  </c:pt>
                  <c:pt idx="1">
                    <c:v/>
                  </c:pt>
                  <c:pt idx="2">
                    <c:v/>
                  </c:pt>
                  <c:pt idx="3">
                    <c:v/>
                  </c:pt>
                  <c:pt idx="4">
                    <c:v/>
                  </c:pt>
                  <c:pt idx="5">
                    <c:v>25</c:v>
                  </c:pt>
                  <c:pt idx="6">
                    <c:v/>
                  </c:pt>
                  <c:pt idx="7">
                    <c:v/>
                  </c:pt>
                  <c:pt idx="8">
                    <c:v/>
                  </c:pt>
                  <c:pt idx="9">
                    <c:v/>
                  </c:pt>
                  <c:pt idx="10">
                    <c:v>50</c:v>
                  </c:pt>
                  <c:pt idx="11">
                    <c:v/>
                  </c:pt>
                  <c:pt idx="12">
                    <c:v/>
                  </c:pt>
                  <c:pt idx="13">
                    <c:v/>
                  </c:pt>
                  <c:pt idx="14">
                    <c:v/>
                  </c:pt>
                  <c:pt idx="15">
                    <c:v>75</c:v>
                  </c:pt>
                  <c:pt idx="16">
                    <c:v/>
                  </c:pt>
                  <c:pt idx="17">
                    <c:v/>
                  </c:pt>
                  <c:pt idx="18">
                    <c:v/>
                  </c:pt>
                  <c:pt idx="19">
                    <c:v/>
                  </c:pt>
                  <c:pt idx="20">
                    <c:v>100</c:v>
                  </c:pt>
                </c:lvl>
              </c:multiLvlStrCache>
            </c:multiLvlStrRef>
          </c:cat>
          <c:val>
            <c:numRef>
              <c:f>Sheet1!$B$2:$B$22</c:f>
              <c:numCache>
                <c:formatCode>General</c:formatCode>
                <c:ptCount val="21"/>
                <c:pt idx="0">
                  <c:v>0</c:v>
                </c:pt>
                <c:pt idx="1">
                  <c:v>0.8213410245942243</c:v>
                </c:pt>
                <c:pt idx="2">
                  <c:v>1.8522653968754919</c:v>
                </c:pt>
                <c:pt idx="3">
                  <c:v>3.1462529483783452</c:v>
                </c:pt>
                <c:pt idx="4">
                  <c:v>4.7704300737470735</c:v>
                </c:pt>
                <c:pt idx="5">
                  <c:v>6.80905195346089</c:v>
                </c:pt>
                <c:pt idx="6">
                  <c:v>9.367873342787117</c:v>
                </c:pt>
                <c:pt idx="7">
                  <c:v>12.57963466430917</c:v>
                </c:pt>
                <c:pt idx="8">
                  <c:v>16.61094799843026</c:v>
                </c:pt>
                <c:pt idx="9">
                  <c:v>21.67094018681646</c:v>
                </c:pt>
                <c:pt idx="10">
                  <c:v>28.022101415049644</c:v>
                </c:pt>
                <c:pt idx="11">
                  <c:v>35.99390205134219</c:v>
                </c:pt>
                <c:pt idx="12">
                  <c:v>45.999884123139324</c:v>
                </c:pt>
                <c:pt idx="13">
                  <c:v>58.559114062397896</c:v>
                </c:pt>
                <c:pt idx="14">
                  <c:v>74.32310959380688</c:v>
                </c:pt>
                <c:pt idx="15">
                  <c:v>94.10963761472414</c:v>
                </c:pt>
                <c:pt idx="16">
                  <c:v>118.94513635249562</c:v>
                </c:pt>
                <c:pt idx="17">
                  <c:v>150.11796247448132</c:v>
                </c:pt>
                <c:pt idx="18">
                  <c:v>189.24522537714472</c:v>
                </c:pt>
                <c:pt idx="19">
                  <c:v>238.35667572377835</c:v>
                </c:pt>
                <c:pt idx="20">
                  <c:v>300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A9AA0"/>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2A2A3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YTD total return (%)</c:v>
                </c:pt>
              </c:strCache>
            </c:strRef>
          </c:tx>
          <c:spPr>
            <a:solidFill>
              <a:srgbClr val="F6693D"/>
            </a:solidFill>
            <a:effectLst/>
          </c:spPr>
          <c:invertIfNegative val="0"/>
          <c:dLbls>
            <c:numFmt formatCode="0" sourceLinked="0"/>
            <c:txPr>
              <a:bodyPr/>
              <a:lstStyle/>
              <a:p>
                <a:pPr>
                  <a:defRPr b="1" i="0" strike="noStrike" sz="900" u="none">
                    <a:solidFill>
                      <a:srgbClr val="E8E8EA"/>
                    </a:solidFill>
                    <a:latin typeface="Arial"/>
                  </a:defRPr>
                </a:pPr>
              </a:p>
            </c:txPr>
            <c:showLegendKey val="0"/>
            <c:showVal val="1"/>
            <c:showCatName val="0"/>
            <c:showSerName val="0"/>
            <c:showPercent val="0"/>
            <c:showBubbleSize val="0"/>
            <c:showLeaderLines val="0"/>
          </c:dLbls>
          <c:dPt>
            <c:idx val="0"/>
            <c:invertIfNegative val="0"/>
            <c:bubble3D val="0"/>
            <c:spPr>
              <a:solidFill>
                <a:srgbClr val="F6693D"/>
              </a:solidFill>
              <a:effectLst/>
            </c:spPr>
          </c:dPt>
          <c:dPt>
            <c:idx val="1"/>
            <c:invertIfNegative val="0"/>
            <c:bubble3D val="0"/>
            <c:spPr>
              <a:solidFill>
                <a:srgbClr val="2BC4C4"/>
              </a:solidFill>
              <a:effectLst/>
            </c:spPr>
          </c:dPt>
          <c:dPt>
            <c:idx val="2"/>
            <c:invertIfNegative val="0"/>
            <c:bubble3D val="0"/>
            <c:spPr>
              <a:solidFill>
                <a:srgbClr val="3E3E46"/>
              </a:solidFill>
              <a:effectLst/>
            </c:spPr>
          </c:dPt>
          <c:dPt>
            <c:idx val="3"/>
            <c:invertIfNegative val="0"/>
            <c:bubble3D val="0"/>
            <c:spPr>
              <a:solidFill>
                <a:srgbClr val="FFB800"/>
              </a:solidFill>
              <a:effectLst/>
            </c:spPr>
          </c:dPt>
          <c:dPt>
            <c:idx val="4"/>
            <c:invertIfNegative val="0"/>
            <c:bubble3D val="0"/>
            <c:spPr>
              <a:solidFill>
                <a:srgbClr val="E5484D"/>
              </a:solidFill>
              <a:effectLst/>
            </c:spPr>
          </c:dPt>
          <c:cat>
            <c:multiLvlStrRef>
              <c:f>Sheet1!$A$2:$A$6</c:f>
              <c:multiLvlStrCache>
                <c:ptCount val="5"/>
                <c:lvl>
                  <c:pt idx="0">
                    <c:v>Semis (SOXX)</c:v>
                  </c:pt>
                  <c:pt idx="1">
                    <c:v>Equal-weight (RSP)</c:v>
                  </c:pt>
                  <c:pt idx="2">
                    <c:v>S&amp;P 500</c:v>
                  </c:pt>
                  <c:pt idx="3">
                    <c:v>Mag 7 (MAGS)</c:v>
                  </c:pt>
                  <c:pt idx="4">
                    <c:v>Software (IGV)</c:v>
                  </c:pt>
                </c:lvl>
              </c:multiLvlStrCache>
            </c:multiLvlStrRef>
          </c:cat>
          <c:val>
            <c:numRef>
              <c:f>Sheet1!$B$2:$B$6</c:f>
              <c:numCache>
                <c:formatCode>General</c:formatCode>
                <c:ptCount val="5"/>
                <c:pt idx="0">
                  <c:v>79.5</c:v>
                </c:pt>
                <c:pt idx="1">
                  <c:v>14.3</c:v>
                </c:pt>
                <c:pt idx="2">
                  <c:v>11.3</c:v>
                </c:pt>
                <c:pt idx="3">
                  <c:v>5.9</c:v>
                </c:pt>
                <c:pt idx="4">
                  <c:v>-9.5</c:v>
                </c:pt>
              </c:numCache>
            </c:numRef>
          </c:val>
        </c:ser>
        <c:dLbls>
          <c:numFmt formatCode="0" sourceLinked="0"/>
          <c:txPr>
            <a:bodyPr/>
            <a:lstStyle/>
            <a:p>
              <a:pPr>
                <a:defRPr b="1" i="0" strike="noStrike" sz="900" u="none">
                  <a:solidFill>
                    <a:srgbClr val="E8E8E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9A9AA0"/>
                </a:solidFill>
                <a:latin typeface="Arial"/>
              </a:defRPr>
            </a:pPr>
            <a:endParaRPr lang="en-US"/>
          </a:p>
        </c:txPr>
        <c:crossAx val="2094734552"/>
        <c:crosses val="autoZero"/>
        <c:auto val="1"/>
        <c:lblAlgn val="ctr"/>
        <c:noMultiLvlLbl val="1"/>
      </c:catAx>
      <c:valAx>
        <c:axId val="2094734552"/>
        <c:scaling>
          <c:orientation val="minMax"/>
          <c:min val="-20"/>
        </c:scaling>
        <c:delete val="1"/>
        <c:axPos val="l"/>
        <c:majorGridlines>
          <c:spPr>
            <a:ln w="6350" cap="flat">
              <a:solidFill>
                <a:srgbClr val="2A2A3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Combined capex ($B)</c:v>
                </c:pt>
              </c:strCache>
            </c:strRef>
          </c:tx>
          <c:spPr>
            <a:solidFill>
              <a:srgbClr val="3E3E46"/>
            </a:solidFill>
            <a:effectLst/>
          </c:spPr>
          <c:invertIfNegative val="0"/>
          <c:dLbls>
            <c:numFmt formatCode="0" sourceLinked="0"/>
            <c:txPr>
              <a:bodyPr/>
              <a:lstStyle/>
              <a:p>
                <a:pPr>
                  <a:defRPr b="1" i="0" strike="noStrike" sz="900" u="none">
                    <a:solidFill>
                      <a:srgbClr val="E8E8EA"/>
                    </a:solidFill>
                    <a:latin typeface="Arial"/>
                  </a:defRPr>
                </a:pPr>
              </a:p>
            </c:txPr>
            <c:showLegendKey val="0"/>
            <c:showVal val="1"/>
            <c:showCatName val="0"/>
            <c:showSerName val="0"/>
            <c:showPercent val="0"/>
            <c:showBubbleSize val="0"/>
            <c:showLeaderLines val="0"/>
          </c:dLbls>
          <c:dPt>
            <c:idx val="0"/>
            <c:invertIfNegative val="0"/>
            <c:bubble3D val="0"/>
            <c:spPr>
              <a:solidFill>
                <a:srgbClr val="3E3E46"/>
              </a:solidFill>
              <a:effectLst/>
            </c:spPr>
          </c:dPt>
          <c:dPt>
            <c:idx val="1"/>
            <c:invertIfNegative val="0"/>
            <c:bubble3D val="0"/>
            <c:spPr>
              <a:solidFill>
                <a:srgbClr val="F6693D"/>
              </a:solidFill>
              <a:effectLst/>
            </c:spPr>
          </c:dPt>
          <c:cat>
            <c:multiLvlStrRef>
              <c:f>Sheet1!$A$2:$A$3</c:f>
              <c:multiLvlStrCache>
                <c:ptCount val="2"/>
                <c:lvl>
                  <c:pt idx="0">
                    <c:v>2025</c:v>
                  </c:pt>
                  <c:pt idx="1">
                    <c:v>2026E</c:v>
                  </c:pt>
                </c:lvl>
              </c:multiLvlStrCache>
            </c:multiLvlStrRef>
          </c:cat>
          <c:val>
            <c:numRef>
              <c:f>Sheet1!$B$2:$B$3</c:f>
              <c:numCache>
                <c:formatCode>General</c:formatCode>
                <c:ptCount val="2"/>
                <c:pt idx="0">
                  <c:v>410</c:v>
                </c:pt>
                <c:pt idx="1">
                  <c:v>705</c:v>
                </c:pt>
              </c:numCache>
            </c:numRef>
          </c:val>
        </c:ser>
        <c:dLbls>
          <c:numFmt formatCode="0" sourceLinked="0"/>
          <c:txPr>
            <a:bodyPr/>
            <a:lstStyle/>
            <a:p>
              <a:pPr>
                <a:defRPr b="1" i="0" strike="noStrike" sz="900" u="none">
                  <a:solidFill>
                    <a:srgbClr val="E8E8E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A9AA0"/>
                </a:solidFill>
                <a:latin typeface="Arial"/>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2A2A3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Allocation</c:v>
                </c:pt>
              </c:strCache>
            </c:strRef>
          </c:tx>
          <c:spPr>
            <a:solidFill>
              <a:schemeClr val="accent1"/>
            </a:solidFill>
            <a:ln w="9525" cap="flat">
              <a:solidFill>
                <a:srgbClr val="F9F9F9"/>
              </a:solidFill>
              <a:prstDash val="solid"/>
              <a:round/>
            </a:ln>
            <a:effectLst/>
          </c:spPr>
          <c:dPt>
            <c:idx val="0"/>
            <c:bubble3D val="0"/>
            <c:spPr>
              <a:solidFill>
                <a:srgbClr val="F6693D"/>
              </a:solidFill>
              <a:effectLst/>
            </c:spPr>
          </c:dPt>
          <c:dPt>
            <c:idx val="1"/>
            <c:bubble3D val="0"/>
            <c:spPr>
              <a:solidFill>
                <a:srgbClr val="FFB800"/>
              </a:solidFill>
              <a:effectLst/>
            </c:spPr>
          </c:dPt>
          <c:dPt>
            <c:idx val="2"/>
            <c:bubble3D val="0"/>
            <c:spPr>
              <a:solidFill>
                <a:srgbClr val="3E3E46"/>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Top 3 — $18</c:v>
                </c:pt>
                <c:pt idx="1">
                  <c:v>Rest of top 10 — $19</c:v>
                </c:pt>
                <c:pt idx="2">
                  <c:v>Other 490 — $63</c:v>
                </c:pt>
              </c:strCache>
            </c:strRef>
          </c:cat>
          <c:val>
            <c:numRef>
              <c:f>Sheet1!$B$2:$B$4</c:f>
              <c:numCache>
                <c:ptCount val="3"/>
                <c:pt idx="0">
                  <c:v>18</c:v>
                </c:pt>
                <c:pt idx="1">
                  <c:v>19</c:v>
                </c:pt>
                <c:pt idx="2">
                  <c:v>63</c:v>
                </c:pt>
              </c:numCache>
            </c:numRef>
          </c:val>
        </c:ser>
        <c:firstSliceAng val="0"/>
        <c:holeSize val="60"/>
      </c:doughnutChart>
      <c:spPr>
        <a:noFill/>
        <a:ln>
          <a:noFill/>
        </a:ln>
        <a:effectLst/>
      </c:spPr>
    </c:plotArea>
    <c:legend>
      <c:legendPos val="b"/>
      <c:overlay val="0"/>
      <c:txPr>
        <a:bodyPr/>
        <a:lstStyle/>
        <a:p>
          <a:pPr>
            <a:defRPr sz="800">
              <a:solidFill>
                <a:srgbClr val="E8E8EA"/>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in one breath: part one is what’s happening right now — models became loop-running agents, tokens became a rationed input, and Washington moved from regulating AI to debating who owns it. Part two is how markets reprice all of it: equities split the trade, the labor data started moving, the financing moved into the bond market, and your benchmark quietly became an AI fund. Twelve slides, two parts, one question throughout: what does this do to portfolios.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slide — and why this isn’t 2023’s hype cycle: three independent systems shifting in the same direction at once. Capability: models became loop-running systems (slide 4). Economics: tokens went from subsidized to rationed (slide 5). Policy: when governments debate taking equity, the asset class changed category (slide 6). Each column carries one proof stat: $47B of run rate, $920M/month of rental, a 50% equity-tax proposal. The banner is the line to read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Framework slide — four dimensions where the assisted-to-agentic transition shows up. Interface shifted from chat to background loops. Cost moved from flat seats to metered tokens. Output evolved from snippets to disposable apps. Bottleneck moved from human attention to compute allocation. Each of these shows up in the market data on the slides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slide of part one. Left: the unit of work changed — from one-shot prompting to loops that try, fail, fix, and ship without a human in each cycle. Cherny’s line is the cleanest articulation. Right: the Jevons paradox (coal, 1865) applied — as agents make software effectively free to produce, we don’t write the same software cheaper, we write categorically more of it: PDF summaries become dashboards become disposable single-use apps become giant research projects. Investment translation: efficiency improvements do NOT cap compute demand — they expand it. That’s the demand engine behind everything in part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 points, one message: enterprises now treat tokens as a metered input with a budget line. Uber: $1,500/month per employee. Walmart: killed unlimited access for Code Puppy. The third card is the supply side — SK Hynix sees no HBM relief before ~2030 even after doubling capacity, and Google’s $920M/month rental is what scarcity costs when you don’t own capacity. The READ box carries the investability point: token budgets are the new same-store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policy slide stays neutral by quoting all sides. EO: voluntary 30-day NSA review, cyber-focused, no licensing — lighter than feared, but a calendar item before every frontier release. SWF: a one-time 50% equity tax to fund AI Dividends — when Sanders proposes and Trump echoes, the Overton window has genuinely moved. Sacks' critique is the third leg: nationalization as a threat to the property rights underpinning lab valuations. The investable point: public-ownership tail risk now belongs in any model of lab equity, the IPO pipeline, and the hyperscalers holding lab stakes. This slide is also the political receiving end of the labor story on slide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two opens with the equity scoreboard. SOXX +80% YTD (best run since 2000, ~$5.7T added in the April rally alone); equal-weight +14% beats cap-weight +11%; MAGS +6% lags; software −10%, priced for disruption. The market is no longer trading 'AI yes/no' — it’s trading position in the chain. The right rail is the concentration story: 37% of the index in ten names (double the 25-year norm), Nvidia alone at 7%, and a forward multiple that’s elevated but not extreme — provided the AI earnings stream keeps compounding.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labor slide — new this version, with verified June 2026 data. Left: the structural story — a job stops being task execution and becomes orchestration of parallel agent loops; the 20–25% coordination figure is the pool agents are bought to recover. Right: the data — Challenger’s May report made AI the #1 stated layoff reason for the first time (~40% of announced cuts, with the honest caveat that it’s self-reported and partly scapegoating); the entry level is where it bites (grad unemployment 5.6% vs 4.2%, declining payrolls for the youngest AI-exposed cohort); and the advantage gap stratifies pay within surviving roles. Markets price labor twice: as a cost line agents deflate, and as the political trigger for slide 6’s ownership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Bonds, part one: the gap. Capex went from $410B to ~$705B guided (+72%) — and three of four raised guidance in the latest round. The cash math: ~94% of operating cash flow committed to capex, dividends, and buybacks; Big-4 FCF at a decade low; Amazon outright negative ($200B capex vs ~$140B operating cash flow); Alphabet’s FCF down ~90% to ~$8B. For a decade the megacap social contract was self-funding plus buybacks. It broke in 2026 — and something had to fill the gap.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Bonds, part two: the wave. Five mega-deals in six months — Oracle $18B (Sep ’25), Meta $30B (Oct ’25, the largest non-M&amp;A IG deal on record), Alphabet $17.5B and Amazon $15B (Nov ’25), Oracle again $25B across eight tranches (Feb ’26). Street consensus: ~$300B of AI-linked IG supply in 2026. The signal layer: Oracle’s 5-yr CDS above ~125bp despite light leverage — credit is already discriminating by funding capacity, not just rating. The READ box is the takeaway for equity holders: spreads reprice before earnings revisions. Balance sheets are still lightly levered vs IG norms — this is not 2008 telecom — but the funding model changed permanently.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so-what slide. Nobody in this room would deliberately put 37% of an equity sleeve in ten correlated names sharing one earnings driver — but a benchmark allocation does precisely that ($37 of every $100). Four gauges, each paired with an action: demand (capex guidance + token budgets — the new same-store sales), financing (CDS and new-issue spreads, per slide 10), rates (long-duration cash flows + record supply), and concentration (equal-weight vs cap-weight as the orderly preview of the disorderly version). Honest caveat: equal-weight won 2026 but lost 2024–25 — the message is 'size the bet on purpose,' not 'sell megacaps.' Closing line is the deck’s thesis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closer — the option value sitting behind the multiples, kept disciplined. Embodiment: agentic loops in a body, walking a shift. Orbit: it removes the exact power-and-cooling constraints behind token rationing (slide 5), and SpaceX is simultaneously the neocloud king and the launch monopolist — if orbital compute happens it’s an extension of the most vertically integrated player in the stack. Wheels: every robotaxi mile is metered inference. Proteins: frontier models lead biology benchmarks; discovery becomes compute-bound. Every card is new compute demand — the Jevons curve extended a decade. Flagged speculative; gauges, not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 matter. Canonical stamp: data as of June 2026; returns through Jun 5–9 closes. New LABOR &amp; POLICY column covers the web-verified Challenger and NY Fed figures. Honesty notes: the Jevons curve is illustrative; AI layoff attributions are self-reported and may overstate causation; frontier items are speculative; the three image placeholders (cover, token meter, capitol) are pending final art and labeled as such on-slide.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4"/>
        </a:solidFill>
      </p:bgPr>
    </p:bg>
    <p:spTree>
      <p:nvGrpSpPr>
        <p:cNvPr id="1" name=""/>
        <p:cNvGrpSpPr/>
        <p:nvPr/>
      </p:nvGrpSpPr>
      <p:grpSpPr>
        <a:xfrm>
          <a:off x="0" y="0"/>
          <a:ext cx="0" cy="0"/>
          <a:chOff x="0" y="0"/>
          <a:chExt cx="0" cy="0"/>
        </a:xfrm>
      </p:grpSpPr>
      <p:sp>
        <p:nvSpPr>
          <p:cNvPr id="2" name="Text 0"/>
          <p:cNvSpPr/>
          <p:nvPr/>
        </p:nvSpPr>
        <p:spPr>
          <a:xfrm>
            <a:off x="6766560" y="274320"/>
            <a:ext cx="1920240" cy="320040"/>
          </a:xfrm>
          <a:prstGeom prst="rect">
            <a:avLst/>
          </a:prstGeom>
          <a:noFill/>
          <a:ln/>
        </p:spPr>
        <p:txBody>
          <a:bodyPr wrap="square" lIns="0" tIns="0" rIns="0" bIns="0" rtlCol="0" anchor="ctr"/>
          <a:lstStyle/>
          <a:p>
            <a:pPr algn="r" indent="0" marL="0">
              <a:buNone/>
            </a:pPr>
            <a:r>
              <a:rPr lang="en-US" sz="1400" spc="200" kern="0" dirty="0">
                <a:solidFill>
                  <a:srgbClr val="9A9AA0"/>
                </a:solidFill>
                <a:latin typeface="Arial" pitchFamily="34" charset="0"/>
                <a:ea typeface="Arial" pitchFamily="34" charset="-122"/>
                <a:cs typeface="Arial" pitchFamily="34" charset="-120"/>
              </a:rPr>
              <a:t>JUNE 2026</a:t>
            </a:r>
            <a:endParaRPr lang="en-US" sz="1400" dirty="0"/>
          </a:p>
        </p:txBody>
      </p:sp>
      <p:sp>
        <p:nvSpPr>
          <p:cNvPr id="3" name="Shape 1"/>
          <p:cNvSpPr/>
          <p:nvPr/>
        </p:nvSpPr>
        <p:spPr>
          <a:xfrm>
            <a:off x="457200" y="914400"/>
            <a:ext cx="1280160" cy="64008"/>
          </a:xfrm>
          <a:prstGeom prst="rect">
            <a:avLst/>
          </a:prstGeom>
          <a:solidFill>
            <a:srgbClr val="FFD100"/>
          </a:solidFill>
          <a:ln/>
        </p:spPr>
      </p:sp>
      <p:sp>
        <p:nvSpPr>
          <p:cNvPr id="4" name="Text 2"/>
          <p:cNvSpPr/>
          <p:nvPr/>
        </p:nvSpPr>
        <p:spPr>
          <a:xfrm>
            <a:off x="457200" y="1143000"/>
            <a:ext cx="5669280" cy="1554480"/>
          </a:xfrm>
          <a:prstGeom prst="rect">
            <a:avLst/>
          </a:prstGeom>
          <a:noFill/>
          <a:ln/>
        </p:spPr>
        <p:txBody>
          <a:bodyPr wrap="square" lIns="0" tIns="0" rIns="0" bIns="0" rtlCol="0" anchor="ctr"/>
          <a:lstStyle/>
          <a:p>
            <a:pPr indent="0" marL="0">
              <a:buNone/>
            </a:pPr>
            <a:r>
              <a:rPr lang="en-US" sz="4000" b="1" dirty="0">
                <a:solidFill>
                  <a:srgbClr val="FFFFFF"/>
                </a:solidFill>
                <a:latin typeface="Arial Black" pitchFamily="34" charset="0"/>
                <a:ea typeface="Arial Black" pitchFamily="34" charset="-122"/>
                <a:cs typeface="Arial Black" pitchFamily="34" charset="-120"/>
              </a:rPr>
              <a:t>AI in the Market.</a:t>
            </a:r>
            <a:endParaRPr lang="en-US" sz="4000" dirty="0"/>
          </a:p>
        </p:txBody>
      </p:sp>
      <p:sp>
        <p:nvSpPr>
          <p:cNvPr id="5" name="Text 3"/>
          <p:cNvSpPr/>
          <p:nvPr/>
        </p:nvSpPr>
        <p:spPr>
          <a:xfrm>
            <a:off x="457200" y="2331720"/>
            <a:ext cx="5669280" cy="914400"/>
          </a:xfrm>
          <a:prstGeom prst="rect">
            <a:avLst/>
          </a:prstGeom>
          <a:noFill/>
          <a:ln/>
        </p:spPr>
        <p:txBody>
          <a:bodyPr wrap="square" lIns="0" tIns="0" rIns="0" bIns="0" rtlCol="0" anchor="ctr"/>
          <a:lstStyle/>
          <a:p>
            <a:pPr indent="0" marL="0">
              <a:buNone/>
            </a:pPr>
            <a:r>
              <a:rPr lang="en-US" sz="2000" b="1" dirty="0">
                <a:solidFill>
                  <a:srgbClr val="FFD100"/>
                </a:solidFill>
                <a:latin typeface="Arial Black" pitchFamily="34" charset="0"/>
                <a:ea typeface="Arial Black" pitchFamily="34" charset="-122"/>
                <a:cs typeface="Arial Black" pitchFamily="34" charset="-120"/>
              </a:rPr>
              <a:t>What’s happening now — and how markets reprice.</a:t>
            </a:r>
            <a:endParaRPr lang="en-US" sz="2000" dirty="0"/>
          </a:p>
        </p:txBody>
      </p:sp>
      <p:sp>
        <p:nvSpPr>
          <p:cNvPr id="6" name="Text 4"/>
          <p:cNvSpPr/>
          <p:nvPr/>
        </p:nvSpPr>
        <p:spPr>
          <a:xfrm>
            <a:off x="457200" y="3291840"/>
            <a:ext cx="5486400" cy="548640"/>
          </a:xfrm>
          <a:prstGeom prst="rect">
            <a:avLst/>
          </a:prstGeom>
          <a:noFill/>
          <a:ln/>
        </p:spPr>
        <p:txBody>
          <a:bodyPr wrap="square" lIns="0" tIns="0" rIns="0" bIns="0" rtlCol="0" anchor="ctr"/>
          <a:lstStyle/>
          <a:p>
            <a:pPr indent="0" marL="0">
              <a:buNone/>
            </a:pPr>
            <a:r>
              <a:rPr lang="en-US" sz="1300" dirty="0">
                <a:solidFill>
                  <a:srgbClr val="E8E8EA"/>
                </a:solidFill>
                <a:latin typeface="Arial" pitchFamily="34" charset="0"/>
                <a:ea typeface="Arial" pitchFamily="34" charset="-122"/>
                <a:cs typeface="Arial" pitchFamily="34" charset="-120"/>
              </a:rPr>
              <a:t>Agentic loops, token rationing, and Washington’s entry — then the repricing: equities, labor, and a $300B bond wave.</a:t>
            </a:r>
            <a:endParaRPr lang="en-US" sz="1300" dirty="0"/>
          </a:p>
        </p:txBody>
      </p:sp>
      <p:sp>
        <p:nvSpPr>
          <p:cNvPr id="7" name="Text 5"/>
          <p:cNvSpPr/>
          <p:nvPr/>
        </p:nvSpPr>
        <p:spPr>
          <a:xfrm>
            <a:off x="457200" y="3977640"/>
            <a:ext cx="4572000" cy="320040"/>
          </a:xfrm>
          <a:prstGeom prst="rect">
            <a:avLst/>
          </a:prstGeom>
          <a:noFill/>
          <a:ln/>
        </p:spPr>
        <p:txBody>
          <a:bodyPr wrap="square" lIns="0" tIns="0" rIns="0" bIns="0" rtlCol="0" anchor="ctr"/>
          <a:lstStyle/>
          <a:p>
            <a:pPr indent="0" marL="0">
              <a:buNone/>
            </a:pPr>
            <a:r>
              <a:rPr lang="en-US" sz="1200" b="1" dirty="0">
                <a:solidFill>
                  <a:srgbClr val="9A9AA0"/>
                </a:solidFill>
                <a:latin typeface="Arial" pitchFamily="34" charset="0"/>
                <a:ea typeface="Arial" pitchFamily="34" charset="-122"/>
                <a:cs typeface="Arial" pitchFamily="34" charset="-120"/>
              </a:rPr>
              <a:t>Strategy  |  Institutional</a:t>
            </a:r>
            <a:endParaRPr lang="en-US" sz="1200" dirty="0"/>
          </a:p>
        </p:txBody>
      </p:sp>
      <p:sp>
        <p:nvSpPr>
          <p:cNvPr id="8" name="Shape 6"/>
          <p:cNvSpPr/>
          <p:nvPr/>
        </p:nvSpPr>
        <p:spPr>
          <a:xfrm>
            <a:off x="6309360" y="777240"/>
            <a:ext cx="2377440" cy="3520440"/>
          </a:xfrm>
          <a:prstGeom prst="rect">
            <a:avLst/>
          </a:prstGeom>
          <a:solidFill>
            <a:srgbClr val="1E1E24"/>
          </a:solidFill>
          <a:ln w="12700">
            <a:solidFill>
              <a:srgbClr val="2A2A30"/>
            </a:solidFill>
            <a:prstDash val="dash"/>
          </a:ln>
        </p:spPr>
      </p:sp>
      <p:sp>
        <p:nvSpPr>
          <p:cNvPr id="9" name="Shape 7"/>
          <p:cNvSpPr/>
          <p:nvPr/>
        </p:nvSpPr>
        <p:spPr>
          <a:xfrm>
            <a:off x="6309360" y="777240"/>
            <a:ext cx="274320" cy="32004"/>
          </a:xfrm>
          <a:prstGeom prst="rect">
            <a:avLst/>
          </a:prstGeom>
          <a:solidFill>
            <a:srgbClr val="FFD100"/>
          </a:solidFill>
          <a:ln/>
        </p:spPr>
      </p:sp>
      <p:sp>
        <p:nvSpPr>
          <p:cNvPr id="10" name="Shape 8"/>
          <p:cNvSpPr/>
          <p:nvPr/>
        </p:nvSpPr>
        <p:spPr>
          <a:xfrm>
            <a:off x="6309360" y="777240"/>
            <a:ext cx="32004" cy="274320"/>
          </a:xfrm>
          <a:prstGeom prst="rect">
            <a:avLst/>
          </a:prstGeom>
          <a:solidFill>
            <a:srgbClr val="FFD100"/>
          </a:solidFill>
          <a:ln/>
        </p:spPr>
      </p:sp>
      <p:sp>
        <p:nvSpPr>
          <p:cNvPr id="11" name="Shape 9"/>
          <p:cNvSpPr/>
          <p:nvPr/>
        </p:nvSpPr>
        <p:spPr>
          <a:xfrm>
            <a:off x="8412480" y="4265676"/>
            <a:ext cx="274320" cy="32004"/>
          </a:xfrm>
          <a:prstGeom prst="rect">
            <a:avLst/>
          </a:prstGeom>
          <a:solidFill>
            <a:srgbClr val="FFD100"/>
          </a:solidFill>
          <a:ln/>
        </p:spPr>
      </p:sp>
      <p:sp>
        <p:nvSpPr>
          <p:cNvPr id="12" name="Shape 10"/>
          <p:cNvSpPr/>
          <p:nvPr/>
        </p:nvSpPr>
        <p:spPr>
          <a:xfrm>
            <a:off x="8654796" y="4023360"/>
            <a:ext cx="32004" cy="274320"/>
          </a:xfrm>
          <a:prstGeom prst="rect">
            <a:avLst/>
          </a:prstGeom>
          <a:solidFill>
            <a:srgbClr val="FFD100"/>
          </a:solidFill>
          <a:ln/>
        </p:spPr>
      </p:sp>
      <p:sp>
        <p:nvSpPr>
          <p:cNvPr id="13" name="Shape 11"/>
          <p:cNvSpPr/>
          <p:nvPr/>
        </p:nvSpPr>
        <p:spPr>
          <a:xfrm>
            <a:off x="7178040" y="2098548"/>
            <a:ext cx="640080" cy="347472"/>
          </a:xfrm>
          <a:prstGeom prst="triangle">
            <a:avLst/>
          </a:prstGeom>
          <a:ln w="19050">
            <a:solidFill>
              <a:srgbClr val="9A9AA0"/>
            </a:solidFill>
            <a:prstDash val="solid"/>
          </a:ln>
        </p:spPr>
      </p:sp>
      <p:sp>
        <p:nvSpPr>
          <p:cNvPr id="14" name="Shape 12"/>
          <p:cNvSpPr/>
          <p:nvPr/>
        </p:nvSpPr>
        <p:spPr>
          <a:xfrm>
            <a:off x="7626096" y="1970532"/>
            <a:ext cx="146304" cy="146304"/>
          </a:xfrm>
          <a:prstGeom prst="ellipse">
            <a:avLst/>
          </a:prstGeom>
          <a:ln w="19050">
            <a:solidFill>
              <a:srgbClr val="9A9AA0"/>
            </a:solidFill>
            <a:prstDash val="solid"/>
          </a:ln>
        </p:spPr>
      </p:sp>
      <p:sp>
        <p:nvSpPr>
          <p:cNvPr id="15" name="Text 13"/>
          <p:cNvSpPr/>
          <p:nvPr/>
        </p:nvSpPr>
        <p:spPr>
          <a:xfrm>
            <a:off x="6400800" y="2555748"/>
            <a:ext cx="2194560" cy="219456"/>
          </a:xfrm>
          <a:prstGeom prst="rect">
            <a:avLst/>
          </a:prstGeom>
          <a:noFill/>
          <a:ln/>
        </p:spPr>
        <p:txBody>
          <a:bodyPr wrap="square" lIns="0" tIns="0" rIns="0" bIns="0" rtlCol="0" anchor="ctr"/>
          <a:lstStyle/>
          <a:p>
            <a:pPr algn="ctr" indent="0" marL="0">
              <a:buNone/>
            </a:pPr>
            <a:r>
              <a:rPr lang="en-US" sz="800" b="1" spc="200" kern="0" dirty="0">
                <a:solidFill>
                  <a:srgbClr val="FFD100"/>
                </a:solidFill>
                <a:latin typeface="Arial" pitchFamily="34" charset="0"/>
                <a:ea typeface="Arial" pitchFamily="34" charset="-122"/>
                <a:cs typeface="Arial" pitchFamily="34" charset="-120"/>
              </a:rPr>
              <a:t>IMAGE — AGENTIC LOOP LIGHT TRAILS</a:t>
            </a:r>
            <a:endParaRPr lang="en-US" sz="800" dirty="0"/>
          </a:p>
        </p:txBody>
      </p:sp>
      <p:sp>
        <p:nvSpPr>
          <p:cNvPr id="16" name="Text 14"/>
          <p:cNvSpPr/>
          <p:nvPr/>
        </p:nvSpPr>
        <p:spPr>
          <a:xfrm>
            <a:off x="6492240" y="2811780"/>
            <a:ext cx="2011680" cy="594360"/>
          </a:xfrm>
          <a:prstGeom prst="rect">
            <a:avLst/>
          </a:prstGeom>
          <a:noFill/>
          <a:ln/>
        </p:spPr>
        <p:txBody>
          <a:bodyPr wrap="square" lIns="0" tIns="0" rIns="0" bIns="0" rtlCol="0" anchor="t"/>
          <a:lstStyle/>
          <a:p>
            <a:pPr algn="ctr" indent="0" marL="0">
              <a:buNone/>
            </a:pPr>
            <a:r>
              <a:rPr lang="en-US" sz="700" i="1" dirty="0">
                <a:solidFill>
                  <a:srgbClr val="9A9AA0"/>
                </a:solidFill>
                <a:latin typeface="Arial" pitchFamily="34" charset="0"/>
                <a:ea typeface="Arial" pitchFamily="34" charset="-122"/>
                <a:cs typeface="Arial" pitchFamily="34" charset="-120"/>
              </a:rPr>
              <a:t>Glowing teal and yellow light trails forming interlocking orbits on near-black — abstract agent loops, cinematic, minimal.</a:t>
            </a:r>
            <a:endParaRPr lang="en-US" sz="700" dirty="0"/>
          </a:p>
        </p:txBody>
      </p:sp>
      <p:sp>
        <p:nvSpPr>
          <p:cNvPr id="17" name="Shape 15"/>
          <p:cNvSpPr/>
          <p:nvPr/>
        </p:nvSpPr>
        <p:spPr>
          <a:xfrm>
            <a:off x="0" y="4526280"/>
            <a:ext cx="9144000" cy="617220"/>
          </a:xfrm>
          <a:prstGeom prst="rect">
            <a:avLst/>
          </a:prstGeom>
          <a:solidFill>
            <a:srgbClr val="000000"/>
          </a:solidFill>
          <a:ln/>
        </p:spPr>
      </p:sp>
      <p:sp>
        <p:nvSpPr>
          <p:cNvPr id="18" name="Shape 16"/>
          <p:cNvSpPr/>
          <p:nvPr/>
        </p:nvSpPr>
        <p:spPr>
          <a:xfrm>
            <a:off x="0" y="4526280"/>
            <a:ext cx="9144000" cy="0"/>
          </a:xfrm>
          <a:prstGeom prst="line">
            <a:avLst/>
          </a:prstGeom>
          <a:noFill/>
          <a:ln w="6350">
            <a:solidFill>
              <a:srgbClr val="2A2A30"/>
            </a:solidFill>
            <a:prstDash val="solid"/>
          </a:ln>
        </p:spPr>
      </p:sp>
      <p:sp>
        <p:nvSpPr>
          <p:cNvPr id="19" name="Text 17"/>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114"/>
        </a:solidFill>
      </p:bgPr>
    </p:bg>
    <p:spTree>
      <p:nvGrpSpPr>
        <p:cNvPr id="1" name=""/>
        <p:cNvGrpSpPr/>
        <p:nvPr/>
      </p:nvGrpSpPr>
      <p:grpSpPr>
        <a:xfrm>
          <a:off x="0" y="0"/>
          <a:ext cx="0" cy="0"/>
          <a:chOff x="0" y="0"/>
          <a:chExt cx="0" cy="0"/>
        </a:xfrm>
      </p:grpSpPr>
      <p:sp>
        <p:nvSpPr>
          <p:cNvPr id="2" name="Text 0"/>
          <p:cNvSpPr/>
          <p:nvPr/>
        </p:nvSpPr>
        <p:spPr>
          <a:xfrm>
            <a:off x="457200" y="274320"/>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Three shifts, happening now</a:t>
            </a:r>
            <a:endParaRPr lang="en-US" sz="2600" dirty="0"/>
          </a:p>
        </p:txBody>
      </p:sp>
      <p:sp>
        <p:nvSpPr>
          <p:cNvPr id="3" name="Text 1"/>
          <p:cNvSpPr/>
          <p:nvPr/>
        </p:nvSpPr>
        <p:spPr>
          <a:xfrm>
            <a:off x="457200" y="868680"/>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Capability, economics, and policy are moving at once. First what’s changing (slides 3–6) — then how markets are repricing it (slides 7–12).</a:t>
            </a:r>
            <a:endParaRPr lang="en-US" sz="1250" dirty="0"/>
          </a:p>
        </p:txBody>
      </p:sp>
      <p:sp>
        <p:nvSpPr>
          <p:cNvPr id="4" name="Text 2"/>
          <p:cNvSpPr/>
          <p:nvPr/>
        </p:nvSpPr>
        <p:spPr>
          <a:xfrm>
            <a:off x="457200" y="1417320"/>
            <a:ext cx="2697480" cy="182880"/>
          </a:xfrm>
          <a:prstGeom prst="rect">
            <a:avLst/>
          </a:prstGeom>
          <a:noFill/>
          <a:ln/>
        </p:spPr>
        <p:txBody>
          <a:bodyPr wrap="square" lIns="0" tIns="0" rIns="0" bIns="0" rtlCol="0" anchor="ctr"/>
          <a:lstStyle/>
          <a:p>
            <a:pPr algn="ctr" indent="0" marL="0">
              <a:buNone/>
            </a:pPr>
            <a:r>
              <a:rPr lang="en-US" sz="800" b="1" spc="200" kern="0" dirty="0">
                <a:solidFill>
                  <a:srgbClr val="2BC4C4"/>
                </a:solidFill>
                <a:latin typeface="Arial" pitchFamily="34" charset="0"/>
                <a:ea typeface="Arial" pitchFamily="34" charset="-122"/>
                <a:cs typeface="Arial" pitchFamily="34" charset="-120"/>
              </a:rPr>
              <a:t>CAPABILITY</a:t>
            </a:r>
            <a:endParaRPr lang="en-US" sz="800" dirty="0"/>
          </a:p>
        </p:txBody>
      </p:sp>
      <p:sp>
        <p:nvSpPr>
          <p:cNvPr id="5" name="Text 3"/>
          <p:cNvSpPr/>
          <p:nvPr/>
        </p:nvSpPr>
        <p:spPr>
          <a:xfrm>
            <a:off x="457200" y="1618488"/>
            <a:ext cx="2697480" cy="274320"/>
          </a:xfrm>
          <a:prstGeom prst="rect">
            <a:avLst/>
          </a:prstGeom>
          <a:noFill/>
          <a:ln/>
        </p:spPr>
        <p:txBody>
          <a:bodyPr wrap="square" lIns="0" tIns="0" rIns="0" bIns="0" rtlCol="0" anchor="ctr"/>
          <a:lstStyle/>
          <a:p>
            <a:pPr algn="ctr" indent="0" marL="0">
              <a:buNone/>
            </a:pPr>
            <a:r>
              <a:rPr lang="en-US" sz="1150" b="1" dirty="0">
                <a:solidFill>
                  <a:srgbClr val="C9C9CE"/>
                </a:solidFill>
                <a:latin typeface="Arial" pitchFamily="34" charset="0"/>
                <a:ea typeface="Arial" pitchFamily="34" charset="-122"/>
                <a:cs typeface="Arial" pitchFamily="34" charset="-120"/>
              </a:rPr>
              <a:t>Linear chat  </a:t>
            </a:r>
            <a:pPr algn="ctr" indent="0" marL="0">
              <a:buNone/>
            </a:pPr>
            <a:r>
              <a:rPr lang="en-US" sz="1250" b="1" dirty="0">
                <a:solidFill>
                  <a:srgbClr val="2BC4C4"/>
                </a:solidFill>
                <a:latin typeface="Arial" pitchFamily="34" charset="0"/>
                <a:ea typeface="Arial" pitchFamily="34" charset="-122"/>
                <a:cs typeface="Arial" pitchFamily="34" charset="-120"/>
              </a:rPr>
              <a:t>→  </a:t>
            </a:r>
            <a:pPr algn="ctr" indent="0" marL="0">
              <a:buNone/>
            </a:pPr>
            <a:r>
              <a:rPr lang="en-US" sz="1150" b="1" dirty="0">
                <a:solidFill>
                  <a:srgbClr val="FFFFFF"/>
                </a:solidFill>
                <a:latin typeface="Arial" pitchFamily="34" charset="0"/>
                <a:ea typeface="Arial" pitchFamily="34" charset="-122"/>
                <a:cs typeface="Arial" pitchFamily="34" charset="-120"/>
              </a:rPr>
              <a:t>Autonomous loops</a:t>
            </a:r>
            <a:endParaRPr lang="en-US" sz="1150" dirty="0"/>
          </a:p>
        </p:txBody>
      </p:sp>
      <p:sp>
        <p:nvSpPr>
          <p:cNvPr id="6" name="Shape 4"/>
          <p:cNvSpPr/>
          <p:nvPr/>
        </p:nvSpPr>
        <p:spPr>
          <a:xfrm>
            <a:off x="457200" y="1956816"/>
            <a:ext cx="2697480" cy="1060704"/>
          </a:xfrm>
          <a:prstGeom prst="rect">
            <a:avLst/>
          </a:prstGeom>
          <a:solidFill>
            <a:srgbClr val="1C1C20"/>
          </a:solidFill>
          <a:ln/>
        </p:spPr>
      </p:sp>
      <p:sp>
        <p:nvSpPr>
          <p:cNvPr id="7" name="Shape 5"/>
          <p:cNvSpPr/>
          <p:nvPr/>
        </p:nvSpPr>
        <p:spPr>
          <a:xfrm>
            <a:off x="457200" y="1956816"/>
            <a:ext cx="2697480" cy="45720"/>
          </a:xfrm>
          <a:prstGeom prst="rect">
            <a:avLst/>
          </a:prstGeom>
          <a:solidFill>
            <a:srgbClr val="2BC4C4"/>
          </a:solidFill>
          <a:ln/>
        </p:spPr>
      </p:sp>
      <p:sp>
        <p:nvSpPr>
          <p:cNvPr id="8" name="Text 6"/>
          <p:cNvSpPr/>
          <p:nvPr/>
        </p:nvSpPr>
        <p:spPr>
          <a:xfrm>
            <a:off x="585216" y="2066544"/>
            <a:ext cx="2441448" cy="896112"/>
          </a:xfrm>
          <a:prstGeom prst="rect">
            <a:avLst/>
          </a:prstGeom>
          <a:noFill/>
          <a:ln/>
        </p:spPr>
        <p:txBody>
          <a:bodyPr wrap="square" lIns="0" tIns="0" rIns="0" bIns="0" rtlCol="0" anchor="t"/>
          <a:lstStyle/>
          <a:p>
            <a:pPr indent="0" marL="0">
              <a:buNone/>
            </a:pPr>
            <a:r>
              <a:rPr lang="en-US" sz="900" dirty="0">
                <a:solidFill>
                  <a:srgbClr val="C9C9CE"/>
                </a:solidFill>
                <a:latin typeface="Arial" pitchFamily="34" charset="0"/>
                <a:ea typeface="Arial" pitchFamily="34" charset="-122"/>
                <a:cs typeface="Arial" pitchFamily="34" charset="-120"/>
              </a:rPr>
              <a:t>Fable 5-class models swept functional SOTA. The unit of work moved from prompting outputs to designing self-correcting loops that run until the task is done.</a:t>
            </a:r>
            <a:endParaRPr lang="en-US" sz="900" dirty="0"/>
          </a:p>
        </p:txBody>
      </p:sp>
      <p:sp>
        <p:nvSpPr>
          <p:cNvPr id="9" name="Text 7"/>
          <p:cNvSpPr/>
          <p:nvPr/>
        </p:nvSpPr>
        <p:spPr>
          <a:xfrm>
            <a:off x="457200" y="3127248"/>
            <a:ext cx="2697480" cy="384048"/>
          </a:xfrm>
          <a:prstGeom prst="rect">
            <a:avLst/>
          </a:prstGeom>
          <a:noFill/>
          <a:ln/>
        </p:spPr>
        <p:txBody>
          <a:bodyPr wrap="square" lIns="0" tIns="0" rIns="0" bIns="0" rtlCol="0" anchor="ctr"/>
          <a:lstStyle/>
          <a:p>
            <a:pPr algn="ctr" indent="0" marL="0">
              <a:buNone/>
            </a:pPr>
            <a:r>
              <a:rPr lang="en-US" sz="2400" b="1" dirty="0">
                <a:solidFill>
                  <a:srgbClr val="2BC4C4"/>
                </a:solidFill>
                <a:latin typeface="Arial Black" pitchFamily="34" charset="0"/>
                <a:ea typeface="Arial Black" pitchFamily="34" charset="-122"/>
                <a:cs typeface="Arial Black" pitchFamily="34" charset="-120"/>
              </a:rPr>
              <a:t>$47B</a:t>
            </a:r>
            <a:endParaRPr lang="en-US" sz="2400" dirty="0"/>
          </a:p>
        </p:txBody>
      </p:sp>
      <p:sp>
        <p:nvSpPr>
          <p:cNvPr id="10" name="Text 8"/>
          <p:cNvSpPr/>
          <p:nvPr/>
        </p:nvSpPr>
        <p:spPr>
          <a:xfrm>
            <a:off x="640080" y="3529584"/>
            <a:ext cx="2331720" cy="384048"/>
          </a:xfrm>
          <a:prstGeom prst="rect">
            <a:avLst/>
          </a:prstGeom>
          <a:noFill/>
          <a:ln/>
        </p:spPr>
        <p:txBody>
          <a:bodyPr wrap="square" lIns="0" tIns="0" rIns="0" bIns="0" rtlCol="0" anchor="t"/>
          <a:lstStyle/>
          <a:p>
            <a:pPr algn="ctr" indent="0" marL="0">
              <a:buNone/>
            </a:pPr>
            <a:r>
              <a:rPr lang="en-US" sz="750" dirty="0">
                <a:solidFill>
                  <a:srgbClr val="9A9AA0"/>
                </a:solidFill>
                <a:latin typeface="Arial" pitchFamily="34" charset="0"/>
                <a:ea typeface="Arial" pitchFamily="34" charset="-122"/>
                <a:cs typeface="Arial" pitchFamily="34" charset="-120"/>
              </a:rPr>
              <a:t>Anthropic run rate, 2026 — was $3B in 2025. Agentic capability, monetized at scale.</a:t>
            </a:r>
            <a:endParaRPr lang="en-US" sz="750" dirty="0"/>
          </a:p>
        </p:txBody>
      </p:sp>
      <p:sp>
        <p:nvSpPr>
          <p:cNvPr id="11" name="Text 9"/>
          <p:cNvSpPr/>
          <p:nvPr/>
        </p:nvSpPr>
        <p:spPr>
          <a:xfrm>
            <a:off x="3246120" y="1417320"/>
            <a:ext cx="2697480" cy="182880"/>
          </a:xfrm>
          <a:prstGeom prst="rect">
            <a:avLst/>
          </a:prstGeom>
          <a:noFill/>
          <a:ln/>
        </p:spPr>
        <p:txBody>
          <a:bodyPr wrap="square" lIns="0" tIns="0" rIns="0" bIns="0" rtlCol="0" anchor="ctr"/>
          <a:lstStyle/>
          <a:p>
            <a:pPr algn="ctr" indent="0" marL="0">
              <a:buNone/>
            </a:pPr>
            <a:r>
              <a:rPr lang="en-US" sz="800" b="1" spc="200" kern="0" dirty="0">
                <a:solidFill>
                  <a:srgbClr val="F6693D"/>
                </a:solidFill>
                <a:latin typeface="Arial" pitchFamily="34" charset="0"/>
                <a:ea typeface="Arial" pitchFamily="34" charset="-122"/>
                <a:cs typeface="Arial" pitchFamily="34" charset="-120"/>
              </a:rPr>
              <a:t>ECONOMICS</a:t>
            </a:r>
            <a:endParaRPr lang="en-US" sz="800" dirty="0"/>
          </a:p>
        </p:txBody>
      </p:sp>
      <p:sp>
        <p:nvSpPr>
          <p:cNvPr id="12" name="Text 10"/>
          <p:cNvSpPr/>
          <p:nvPr/>
        </p:nvSpPr>
        <p:spPr>
          <a:xfrm>
            <a:off x="3246120" y="1618488"/>
            <a:ext cx="2697480" cy="274320"/>
          </a:xfrm>
          <a:prstGeom prst="rect">
            <a:avLst/>
          </a:prstGeom>
          <a:noFill/>
          <a:ln/>
        </p:spPr>
        <p:txBody>
          <a:bodyPr wrap="square" lIns="0" tIns="0" rIns="0" bIns="0" rtlCol="0" anchor="ctr"/>
          <a:lstStyle/>
          <a:p>
            <a:pPr algn="ctr" indent="0" marL="0">
              <a:buNone/>
            </a:pPr>
            <a:r>
              <a:rPr lang="en-US" sz="1150" b="1" dirty="0">
                <a:solidFill>
                  <a:srgbClr val="C9C9CE"/>
                </a:solidFill>
                <a:latin typeface="Arial" pitchFamily="34" charset="0"/>
                <a:ea typeface="Arial" pitchFamily="34" charset="-122"/>
                <a:cs typeface="Arial" pitchFamily="34" charset="-120"/>
              </a:rPr>
              <a:t>Token subsidy  </a:t>
            </a:r>
            <a:pPr algn="ctr" indent="0" marL="0">
              <a:buNone/>
            </a:pPr>
            <a:r>
              <a:rPr lang="en-US" sz="1250" b="1" dirty="0">
                <a:solidFill>
                  <a:srgbClr val="F6693D"/>
                </a:solidFill>
                <a:latin typeface="Arial" pitchFamily="34" charset="0"/>
                <a:ea typeface="Arial" pitchFamily="34" charset="-122"/>
                <a:cs typeface="Arial" pitchFamily="34" charset="-120"/>
              </a:rPr>
              <a:t>→  </a:t>
            </a:r>
            <a:pPr algn="ctr" indent="0" marL="0">
              <a:buNone/>
            </a:pPr>
            <a:r>
              <a:rPr lang="en-US" sz="1150" b="1" dirty="0">
                <a:solidFill>
                  <a:srgbClr val="FFFFFF"/>
                </a:solidFill>
                <a:latin typeface="Arial" pitchFamily="34" charset="0"/>
                <a:ea typeface="Arial" pitchFamily="34" charset="-122"/>
                <a:cs typeface="Arial" pitchFamily="34" charset="-120"/>
              </a:rPr>
              <a:t>Token scarcity</a:t>
            </a:r>
            <a:endParaRPr lang="en-US" sz="1150" dirty="0"/>
          </a:p>
        </p:txBody>
      </p:sp>
      <p:sp>
        <p:nvSpPr>
          <p:cNvPr id="13" name="Shape 11"/>
          <p:cNvSpPr/>
          <p:nvPr/>
        </p:nvSpPr>
        <p:spPr>
          <a:xfrm>
            <a:off x="3246120" y="1956816"/>
            <a:ext cx="2697480" cy="1060704"/>
          </a:xfrm>
          <a:prstGeom prst="rect">
            <a:avLst/>
          </a:prstGeom>
          <a:solidFill>
            <a:srgbClr val="1C1C20"/>
          </a:solidFill>
          <a:ln/>
        </p:spPr>
      </p:sp>
      <p:sp>
        <p:nvSpPr>
          <p:cNvPr id="14" name="Shape 12"/>
          <p:cNvSpPr/>
          <p:nvPr/>
        </p:nvSpPr>
        <p:spPr>
          <a:xfrm>
            <a:off x="3246120" y="1956816"/>
            <a:ext cx="2697480" cy="45720"/>
          </a:xfrm>
          <a:prstGeom prst="rect">
            <a:avLst/>
          </a:prstGeom>
          <a:solidFill>
            <a:srgbClr val="F6693D"/>
          </a:solidFill>
          <a:ln/>
        </p:spPr>
      </p:sp>
      <p:sp>
        <p:nvSpPr>
          <p:cNvPr id="15" name="Text 13"/>
          <p:cNvSpPr/>
          <p:nvPr/>
        </p:nvSpPr>
        <p:spPr>
          <a:xfrm>
            <a:off x="3374136" y="2066544"/>
            <a:ext cx="2441448" cy="896112"/>
          </a:xfrm>
          <a:prstGeom prst="rect">
            <a:avLst/>
          </a:prstGeom>
          <a:noFill/>
          <a:ln/>
        </p:spPr>
        <p:txBody>
          <a:bodyPr wrap="square" lIns="0" tIns="0" rIns="0" bIns="0" rtlCol="0" anchor="t"/>
          <a:lstStyle/>
          <a:p>
            <a:pPr indent="0" marL="0">
              <a:buNone/>
            </a:pPr>
            <a:r>
              <a:rPr lang="en-US" sz="900" dirty="0">
                <a:solidFill>
                  <a:srgbClr val="C9C9CE"/>
                </a:solidFill>
                <a:latin typeface="Arial" pitchFamily="34" charset="0"/>
                <a:ea typeface="Arial" pitchFamily="34" charset="-122"/>
                <a:cs typeface="Arial" pitchFamily="34" charset="-120"/>
              </a:rPr>
              <a:t>Labs stopped subsidizing tokens; enterprises started rationing them. Compute is priced like a scarce commodity at every layer of the stack.</a:t>
            </a:r>
            <a:endParaRPr lang="en-US" sz="900" dirty="0"/>
          </a:p>
        </p:txBody>
      </p:sp>
      <p:sp>
        <p:nvSpPr>
          <p:cNvPr id="16" name="Text 14"/>
          <p:cNvSpPr/>
          <p:nvPr/>
        </p:nvSpPr>
        <p:spPr>
          <a:xfrm>
            <a:off x="3246120" y="3127248"/>
            <a:ext cx="2697480" cy="384048"/>
          </a:xfrm>
          <a:prstGeom prst="rect">
            <a:avLst/>
          </a:prstGeom>
          <a:noFill/>
          <a:ln/>
        </p:spPr>
        <p:txBody>
          <a:bodyPr wrap="square" lIns="0" tIns="0" rIns="0" bIns="0" rtlCol="0" anchor="ctr"/>
          <a:lstStyle/>
          <a:p>
            <a:pPr algn="ctr" indent="0" marL="0">
              <a:buNone/>
            </a:pPr>
            <a:r>
              <a:rPr lang="en-US" sz="2400" b="1" dirty="0">
                <a:solidFill>
                  <a:srgbClr val="F6693D"/>
                </a:solidFill>
                <a:latin typeface="Arial Black" pitchFamily="34" charset="0"/>
                <a:ea typeface="Arial Black" pitchFamily="34" charset="-122"/>
                <a:cs typeface="Arial Black" pitchFamily="34" charset="-120"/>
              </a:rPr>
              <a:t>$920M/mo</a:t>
            </a:r>
            <a:endParaRPr lang="en-US" sz="2400" dirty="0"/>
          </a:p>
        </p:txBody>
      </p:sp>
      <p:sp>
        <p:nvSpPr>
          <p:cNvPr id="17" name="Text 15"/>
          <p:cNvSpPr/>
          <p:nvPr/>
        </p:nvSpPr>
        <p:spPr>
          <a:xfrm>
            <a:off x="3429000" y="3529584"/>
            <a:ext cx="2331720" cy="384048"/>
          </a:xfrm>
          <a:prstGeom prst="rect">
            <a:avLst/>
          </a:prstGeom>
          <a:noFill/>
          <a:ln/>
        </p:spPr>
        <p:txBody>
          <a:bodyPr wrap="square" lIns="0" tIns="0" rIns="0" bIns="0" rtlCol="0" anchor="t"/>
          <a:lstStyle/>
          <a:p>
            <a:pPr algn="ctr" indent="0" marL="0">
              <a:buNone/>
            </a:pPr>
            <a:r>
              <a:rPr lang="en-US" sz="750" dirty="0">
                <a:solidFill>
                  <a:srgbClr val="9A9AA0"/>
                </a:solidFill>
                <a:latin typeface="Arial" pitchFamily="34" charset="0"/>
                <a:ea typeface="Arial" pitchFamily="34" charset="-122"/>
                <a:cs typeface="Arial" pitchFamily="34" charset="-120"/>
              </a:rPr>
              <a:t>What Google pays SpaceX to rent 110k GPUs — the market-clearing price of scarcity.</a:t>
            </a:r>
            <a:endParaRPr lang="en-US" sz="750" dirty="0"/>
          </a:p>
        </p:txBody>
      </p:sp>
      <p:sp>
        <p:nvSpPr>
          <p:cNvPr id="18" name="Text 16"/>
          <p:cNvSpPr/>
          <p:nvPr/>
        </p:nvSpPr>
        <p:spPr>
          <a:xfrm>
            <a:off x="6035040" y="1417320"/>
            <a:ext cx="2697480" cy="182880"/>
          </a:xfrm>
          <a:prstGeom prst="rect">
            <a:avLst/>
          </a:prstGeom>
          <a:noFill/>
          <a:ln/>
        </p:spPr>
        <p:txBody>
          <a:bodyPr wrap="square" lIns="0" tIns="0" rIns="0" bIns="0" rtlCol="0" anchor="ctr"/>
          <a:lstStyle/>
          <a:p>
            <a:pPr algn="ctr" indent="0" marL="0">
              <a:buNone/>
            </a:pPr>
            <a:r>
              <a:rPr lang="en-US" sz="800" b="1" spc="200" kern="0" dirty="0">
                <a:solidFill>
                  <a:srgbClr val="9B7BE0"/>
                </a:solidFill>
                <a:latin typeface="Arial" pitchFamily="34" charset="0"/>
                <a:ea typeface="Arial" pitchFamily="34" charset="-122"/>
                <a:cs typeface="Arial" pitchFamily="34" charset="-120"/>
              </a:rPr>
              <a:t>POLICY</a:t>
            </a:r>
            <a:endParaRPr lang="en-US" sz="800" dirty="0"/>
          </a:p>
        </p:txBody>
      </p:sp>
      <p:sp>
        <p:nvSpPr>
          <p:cNvPr id="19" name="Text 17"/>
          <p:cNvSpPr/>
          <p:nvPr/>
        </p:nvSpPr>
        <p:spPr>
          <a:xfrm>
            <a:off x="6035040" y="1618488"/>
            <a:ext cx="2697480" cy="274320"/>
          </a:xfrm>
          <a:prstGeom prst="rect">
            <a:avLst/>
          </a:prstGeom>
          <a:noFill/>
          <a:ln/>
        </p:spPr>
        <p:txBody>
          <a:bodyPr wrap="square" lIns="0" tIns="0" rIns="0" bIns="0" rtlCol="0" anchor="ctr"/>
          <a:lstStyle/>
          <a:p>
            <a:pPr algn="ctr" indent="0" marL="0">
              <a:buNone/>
            </a:pPr>
            <a:r>
              <a:rPr lang="en-US" sz="1150" b="1" dirty="0">
                <a:solidFill>
                  <a:srgbClr val="C9C9CE"/>
                </a:solidFill>
                <a:latin typeface="Arial" pitchFamily="34" charset="0"/>
                <a:ea typeface="Arial" pitchFamily="34" charset="-122"/>
                <a:cs typeface="Arial" pitchFamily="34" charset="-120"/>
              </a:rPr>
              <a:t>Private tech  </a:t>
            </a:r>
            <a:pPr algn="ctr" indent="0" marL="0">
              <a:buNone/>
            </a:pPr>
            <a:r>
              <a:rPr lang="en-US" sz="1250" b="1" dirty="0">
                <a:solidFill>
                  <a:srgbClr val="9B7BE0"/>
                </a:solidFill>
                <a:latin typeface="Arial" pitchFamily="34" charset="0"/>
                <a:ea typeface="Arial" pitchFamily="34" charset="-122"/>
                <a:cs typeface="Arial" pitchFamily="34" charset="-120"/>
              </a:rPr>
              <a:t>→  </a:t>
            </a:r>
            <a:pPr algn="ctr" indent="0" marL="0">
              <a:buNone/>
            </a:pPr>
            <a:r>
              <a:rPr lang="en-US" sz="1150" b="1" dirty="0">
                <a:solidFill>
                  <a:srgbClr val="FFFFFF"/>
                </a:solidFill>
                <a:latin typeface="Arial" pitchFamily="34" charset="0"/>
                <a:ea typeface="Arial" pitchFamily="34" charset="-122"/>
                <a:cs typeface="Arial" pitchFamily="34" charset="-120"/>
              </a:rPr>
              <a:t>Sovereign asset</a:t>
            </a:r>
            <a:endParaRPr lang="en-US" sz="1150" dirty="0"/>
          </a:p>
        </p:txBody>
      </p:sp>
      <p:sp>
        <p:nvSpPr>
          <p:cNvPr id="20" name="Shape 18"/>
          <p:cNvSpPr/>
          <p:nvPr/>
        </p:nvSpPr>
        <p:spPr>
          <a:xfrm>
            <a:off x="6035040" y="1956816"/>
            <a:ext cx="2697480" cy="1060704"/>
          </a:xfrm>
          <a:prstGeom prst="rect">
            <a:avLst/>
          </a:prstGeom>
          <a:solidFill>
            <a:srgbClr val="1C1C20"/>
          </a:solidFill>
          <a:ln/>
        </p:spPr>
      </p:sp>
      <p:sp>
        <p:nvSpPr>
          <p:cNvPr id="21" name="Shape 19"/>
          <p:cNvSpPr/>
          <p:nvPr/>
        </p:nvSpPr>
        <p:spPr>
          <a:xfrm>
            <a:off x="6035040" y="1956816"/>
            <a:ext cx="2697480" cy="45720"/>
          </a:xfrm>
          <a:prstGeom prst="rect">
            <a:avLst/>
          </a:prstGeom>
          <a:solidFill>
            <a:srgbClr val="9B7BE0"/>
          </a:solidFill>
          <a:ln/>
        </p:spPr>
      </p:sp>
      <p:sp>
        <p:nvSpPr>
          <p:cNvPr id="22" name="Text 20"/>
          <p:cNvSpPr/>
          <p:nvPr/>
        </p:nvSpPr>
        <p:spPr>
          <a:xfrm>
            <a:off x="6163056" y="2066544"/>
            <a:ext cx="2441448" cy="896112"/>
          </a:xfrm>
          <a:prstGeom prst="rect">
            <a:avLst/>
          </a:prstGeom>
          <a:noFill/>
          <a:ln/>
        </p:spPr>
        <p:txBody>
          <a:bodyPr wrap="square" lIns="0" tIns="0" rIns="0" bIns="0" rtlCol="0" anchor="t"/>
          <a:lstStyle/>
          <a:p>
            <a:pPr indent="0" marL="0">
              <a:buNone/>
            </a:pPr>
            <a:r>
              <a:rPr lang="en-US" sz="900" dirty="0">
                <a:solidFill>
                  <a:srgbClr val="C9C9CE"/>
                </a:solidFill>
                <a:latin typeface="Arial" pitchFamily="34" charset="0"/>
                <a:ea typeface="Arial" pitchFamily="34" charset="-122"/>
                <a:cs typeface="Arial" pitchFamily="34" charset="-120"/>
              </a:rPr>
              <a:t>Equity-tax proposals and pre-release reviews mean foundation models are now treated as sovereign assets — too important to leave private.</a:t>
            </a:r>
            <a:endParaRPr lang="en-US" sz="900" dirty="0"/>
          </a:p>
        </p:txBody>
      </p:sp>
      <p:sp>
        <p:nvSpPr>
          <p:cNvPr id="23" name="Text 21"/>
          <p:cNvSpPr/>
          <p:nvPr/>
        </p:nvSpPr>
        <p:spPr>
          <a:xfrm>
            <a:off x="6035040" y="3127248"/>
            <a:ext cx="2697480" cy="384048"/>
          </a:xfrm>
          <a:prstGeom prst="rect">
            <a:avLst/>
          </a:prstGeom>
          <a:noFill/>
          <a:ln/>
        </p:spPr>
        <p:txBody>
          <a:bodyPr wrap="square" lIns="0" tIns="0" rIns="0" bIns="0" rtlCol="0" anchor="ctr"/>
          <a:lstStyle/>
          <a:p>
            <a:pPr algn="ctr" indent="0" marL="0">
              <a:buNone/>
            </a:pPr>
            <a:r>
              <a:rPr lang="en-US" sz="2400" b="1" dirty="0">
                <a:solidFill>
                  <a:srgbClr val="9B7BE0"/>
                </a:solidFill>
                <a:latin typeface="Arial Black" pitchFamily="34" charset="0"/>
                <a:ea typeface="Arial Black" pitchFamily="34" charset="-122"/>
                <a:cs typeface="Arial Black" pitchFamily="34" charset="-120"/>
              </a:rPr>
              <a:t>50%</a:t>
            </a:r>
            <a:endParaRPr lang="en-US" sz="2400" dirty="0"/>
          </a:p>
        </p:txBody>
      </p:sp>
      <p:sp>
        <p:nvSpPr>
          <p:cNvPr id="24" name="Text 22"/>
          <p:cNvSpPr/>
          <p:nvPr/>
        </p:nvSpPr>
        <p:spPr>
          <a:xfrm>
            <a:off x="6217920" y="3529584"/>
            <a:ext cx="2331720" cy="384048"/>
          </a:xfrm>
          <a:prstGeom prst="rect">
            <a:avLst/>
          </a:prstGeom>
          <a:noFill/>
          <a:ln/>
        </p:spPr>
        <p:txBody>
          <a:bodyPr wrap="square" lIns="0" tIns="0" rIns="0" bIns="0" rtlCol="0" anchor="t"/>
          <a:lstStyle/>
          <a:p>
            <a:pPr algn="ctr" indent="0" marL="0">
              <a:buNone/>
            </a:pPr>
            <a:r>
              <a:rPr lang="en-US" sz="750" dirty="0">
                <a:solidFill>
                  <a:srgbClr val="9A9AA0"/>
                </a:solidFill>
                <a:latin typeface="Arial" pitchFamily="34" charset="0"/>
                <a:ea typeface="Arial" pitchFamily="34" charset="-122"/>
                <a:cs typeface="Arial" pitchFamily="34" charset="-120"/>
              </a:rPr>
              <a:t>Proposed one-time tax on AI-lab equity to seed a public fund paying “AI Dividends.”</a:t>
            </a:r>
            <a:endParaRPr lang="en-US" sz="750" dirty="0"/>
          </a:p>
        </p:txBody>
      </p:sp>
      <p:sp>
        <p:nvSpPr>
          <p:cNvPr id="25" name="Shape 23"/>
          <p:cNvSpPr/>
          <p:nvPr/>
        </p:nvSpPr>
        <p:spPr>
          <a:xfrm>
            <a:off x="0" y="4005072"/>
            <a:ext cx="9144000" cy="457200"/>
          </a:xfrm>
          <a:prstGeom prst="rect">
            <a:avLst/>
          </a:prstGeom>
          <a:solidFill>
            <a:srgbClr val="1C1C20"/>
          </a:solidFill>
          <a:ln/>
        </p:spPr>
      </p:sp>
      <p:sp>
        <p:nvSpPr>
          <p:cNvPr id="26" name="Shape 24"/>
          <p:cNvSpPr/>
          <p:nvPr/>
        </p:nvSpPr>
        <p:spPr>
          <a:xfrm>
            <a:off x="0" y="4005072"/>
            <a:ext cx="64008" cy="457200"/>
          </a:xfrm>
          <a:prstGeom prst="rect">
            <a:avLst/>
          </a:prstGeom>
          <a:solidFill>
            <a:srgbClr val="FFD100"/>
          </a:solidFill>
          <a:ln/>
        </p:spPr>
      </p:sp>
      <p:sp>
        <p:nvSpPr>
          <p:cNvPr id="27" name="Text 25"/>
          <p:cNvSpPr/>
          <p:nvPr/>
        </p:nvSpPr>
        <p:spPr>
          <a:xfrm>
            <a:off x="457200" y="4005072"/>
            <a:ext cx="82296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The chatbot’s economics are exhausted. The stack is reorganizing around token-burning agentic loops — and markets are repricing around it.</a:t>
            </a:r>
            <a:endParaRPr lang="en-US" sz="1100" dirty="0"/>
          </a:p>
        </p:txBody>
      </p:sp>
      <p:sp>
        <p:nvSpPr>
          <p:cNvPr id="28" name="Shape 26"/>
          <p:cNvSpPr/>
          <p:nvPr/>
        </p:nvSpPr>
        <p:spPr>
          <a:xfrm>
            <a:off x="0" y="4526280"/>
            <a:ext cx="9144000" cy="617220"/>
          </a:xfrm>
          <a:prstGeom prst="rect">
            <a:avLst/>
          </a:prstGeom>
          <a:solidFill>
            <a:srgbClr val="000000"/>
          </a:solidFill>
          <a:ln/>
        </p:spPr>
      </p:sp>
      <p:sp>
        <p:nvSpPr>
          <p:cNvPr id="29" name="Shape 27"/>
          <p:cNvSpPr/>
          <p:nvPr/>
        </p:nvSpPr>
        <p:spPr>
          <a:xfrm>
            <a:off x="0" y="4526280"/>
            <a:ext cx="9144000" cy="0"/>
          </a:xfrm>
          <a:prstGeom prst="line">
            <a:avLst/>
          </a:prstGeom>
          <a:noFill/>
          <a:ln w="6350">
            <a:solidFill>
              <a:srgbClr val="2A2A30"/>
            </a:solidFill>
            <a:prstDash val="solid"/>
          </a:ln>
        </p:spPr>
      </p:sp>
      <p:sp>
        <p:nvSpPr>
          <p:cNvPr id="30" name="Text 28"/>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31" name="Text 29"/>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2BC4C4"/>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2BC4C4"/>
                </a:solidFill>
                <a:latin typeface="Arial" pitchFamily="34" charset="0"/>
                <a:ea typeface="Arial" pitchFamily="34" charset="-122"/>
                <a:cs typeface="Arial" pitchFamily="34" charset="-120"/>
              </a:rPr>
              <a:t>01  ·  WHAT’S HAPPENING  —  DIAGNOSTIC MATRIX</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400" b="1" dirty="0">
                <a:solidFill>
                  <a:srgbClr val="FFFFFF"/>
                </a:solidFill>
                <a:latin typeface="Arial Black" pitchFamily="34" charset="0"/>
                <a:ea typeface="Arial Black" pitchFamily="34" charset="-122"/>
                <a:cs typeface="Arial Black" pitchFamily="34" charset="-120"/>
              </a:rPr>
              <a:t>The AI Era Diagnostic Matrix</a:t>
            </a:r>
            <a:endParaRPr lang="en-US" sz="24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Four dimensions where the shift from assisted to agentic shows up — each reprices differently.</a:t>
            </a:r>
            <a:endParaRPr lang="en-US" sz="1250" dirty="0"/>
          </a:p>
        </p:txBody>
      </p:sp>
      <p:sp>
        <p:nvSpPr>
          <p:cNvPr id="6" name="Shape 4"/>
          <p:cNvSpPr/>
          <p:nvPr/>
        </p:nvSpPr>
        <p:spPr>
          <a:xfrm>
            <a:off x="1691640" y="1600200"/>
            <a:ext cx="3337560" cy="365760"/>
          </a:xfrm>
          <a:prstGeom prst="rect">
            <a:avLst/>
          </a:prstGeom>
          <a:solidFill>
            <a:srgbClr val="1C1C20"/>
          </a:solidFill>
          <a:ln w="9525">
            <a:solidFill>
              <a:srgbClr val="2A2A30"/>
            </a:solidFill>
            <a:prstDash val="solid"/>
          </a:ln>
        </p:spPr>
      </p:sp>
      <p:sp>
        <p:nvSpPr>
          <p:cNvPr id="7" name="Text 5"/>
          <p:cNvSpPr/>
          <p:nvPr/>
        </p:nvSpPr>
        <p:spPr>
          <a:xfrm>
            <a:off x="1691640" y="1600200"/>
            <a:ext cx="3337560" cy="365760"/>
          </a:xfrm>
          <a:prstGeom prst="rect">
            <a:avLst/>
          </a:prstGeom>
          <a:noFill/>
          <a:ln/>
        </p:spPr>
        <p:txBody>
          <a:bodyPr wrap="square" lIns="0" tIns="0" rIns="0" bIns="0" rtlCol="0" anchor="ctr"/>
          <a:lstStyle/>
          <a:p>
            <a:pPr algn="ctr" indent="0" marL="0">
              <a:buNone/>
            </a:pPr>
            <a:r>
              <a:rPr lang="en-US" sz="1200" b="1" dirty="0">
                <a:solidFill>
                  <a:srgbClr val="9A9AA0"/>
                </a:solidFill>
                <a:latin typeface="Arial" pitchFamily="34" charset="0"/>
                <a:ea typeface="Arial" pitchFamily="34" charset="-122"/>
                <a:cs typeface="Arial" pitchFamily="34" charset="-120"/>
              </a:rPr>
              <a:t>The Assisted Era</a:t>
            </a:r>
            <a:endParaRPr lang="en-US" sz="1200" dirty="0"/>
          </a:p>
        </p:txBody>
      </p:sp>
      <p:sp>
        <p:nvSpPr>
          <p:cNvPr id="8" name="Shape 6"/>
          <p:cNvSpPr/>
          <p:nvPr/>
        </p:nvSpPr>
        <p:spPr>
          <a:xfrm>
            <a:off x="5440680" y="1600200"/>
            <a:ext cx="3337560" cy="365760"/>
          </a:xfrm>
          <a:prstGeom prst="rect">
            <a:avLst/>
          </a:prstGeom>
          <a:solidFill>
            <a:srgbClr val="1C1C20"/>
          </a:solidFill>
          <a:ln w="19050">
            <a:solidFill>
              <a:srgbClr val="2BC4C4"/>
            </a:solidFill>
            <a:prstDash val="solid"/>
          </a:ln>
        </p:spPr>
      </p:sp>
      <p:sp>
        <p:nvSpPr>
          <p:cNvPr id="9" name="Text 7"/>
          <p:cNvSpPr/>
          <p:nvPr/>
        </p:nvSpPr>
        <p:spPr>
          <a:xfrm>
            <a:off x="5440680" y="1600200"/>
            <a:ext cx="3337560" cy="365760"/>
          </a:xfrm>
          <a:prstGeom prst="rect">
            <a:avLst/>
          </a:prstGeom>
          <a:noFill/>
          <a:ln/>
        </p:spPr>
        <p:txBody>
          <a:bodyPr wrap="square" lIns="0" tIns="0" rIns="0" bIns="0" rtlCol="0" anchor="ctr"/>
          <a:lstStyle/>
          <a:p>
            <a:pPr algn="ctr" indent="0" marL="0">
              <a:buNone/>
            </a:pPr>
            <a:r>
              <a:rPr lang="en-US" sz="1200" b="1" dirty="0">
                <a:solidFill>
                  <a:srgbClr val="2BC4C4"/>
                </a:solidFill>
                <a:latin typeface="Arial" pitchFamily="34" charset="0"/>
                <a:ea typeface="Arial" pitchFamily="34" charset="-122"/>
                <a:cs typeface="Arial" pitchFamily="34" charset="-120"/>
              </a:rPr>
              <a:t>The Agentic Era</a:t>
            </a:r>
            <a:endParaRPr lang="en-US" sz="1200" dirty="0"/>
          </a:p>
        </p:txBody>
      </p:sp>
      <p:sp>
        <p:nvSpPr>
          <p:cNvPr id="10" name="Text 8"/>
          <p:cNvSpPr/>
          <p:nvPr/>
        </p:nvSpPr>
        <p:spPr>
          <a:xfrm>
            <a:off x="457200" y="2039112"/>
            <a:ext cx="114300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Interface</a:t>
            </a:r>
            <a:endParaRPr lang="en-US" sz="1000" dirty="0"/>
          </a:p>
        </p:txBody>
      </p:sp>
      <p:sp>
        <p:nvSpPr>
          <p:cNvPr id="11" name="Shape 9"/>
          <p:cNvSpPr/>
          <p:nvPr/>
        </p:nvSpPr>
        <p:spPr>
          <a:xfrm>
            <a:off x="1691640" y="2039112"/>
            <a:ext cx="3337560" cy="530352"/>
          </a:xfrm>
          <a:prstGeom prst="rect">
            <a:avLst/>
          </a:prstGeom>
          <a:solidFill>
            <a:srgbClr val="1C1C20"/>
          </a:solidFill>
          <a:ln w="9525">
            <a:solidFill>
              <a:srgbClr val="2A2A30"/>
            </a:solidFill>
            <a:prstDash val="solid"/>
          </a:ln>
        </p:spPr>
      </p:sp>
      <p:sp>
        <p:nvSpPr>
          <p:cNvPr id="12" name="Text 10"/>
          <p:cNvSpPr/>
          <p:nvPr/>
        </p:nvSpPr>
        <p:spPr>
          <a:xfrm>
            <a:off x="1828800" y="2039112"/>
            <a:ext cx="3063240" cy="530352"/>
          </a:xfrm>
          <a:prstGeom prst="rect">
            <a:avLst/>
          </a:prstGeom>
          <a:noFill/>
          <a:ln/>
        </p:spPr>
        <p:txBody>
          <a:bodyPr wrap="square" lIns="0" tIns="0" rIns="0" bIns="0" rtlCol="0" anchor="ctr"/>
          <a:lstStyle/>
          <a:p>
            <a:pPr indent="0" marL="0">
              <a:buNone/>
            </a:pPr>
            <a:r>
              <a:rPr lang="en-US" sz="1000" dirty="0">
                <a:solidFill>
                  <a:srgbClr val="C9C9CE"/>
                </a:solidFill>
                <a:latin typeface="Arial" pitchFamily="34" charset="0"/>
                <a:ea typeface="Arial" pitchFamily="34" charset="-122"/>
                <a:cs typeface="Arial" pitchFamily="34" charset="-120"/>
              </a:rPr>
              <a:t>Chat Bubbles &amp; Sequential Prompts</a:t>
            </a:r>
            <a:endParaRPr lang="en-US" sz="1000" dirty="0"/>
          </a:p>
        </p:txBody>
      </p:sp>
      <p:sp>
        <p:nvSpPr>
          <p:cNvPr id="13" name="Text 11"/>
          <p:cNvSpPr/>
          <p:nvPr/>
        </p:nvSpPr>
        <p:spPr>
          <a:xfrm>
            <a:off x="5029200" y="2039112"/>
            <a:ext cx="411480" cy="530352"/>
          </a:xfrm>
          <a:prstGeom prst="rect">
            <a:avLst/>
          </a:prstGeom>
          <a:noFill/>
          <a:ln/>
        </p:spPr>
        <p:txBody>
          <a:bodyPr wrap="square" lIns="0" tIns="0" rIns="0" bIns="0" rtlCol="0" anchor="ctr"/>
          <a:lstStyle/>
          <a:p>
            <a:pPr algn="ctr" indent="0" marL="0">
              <a:buNone/>
            </a:pPr>
            <a:r>
              <a:rPr lang="en-US" sz="1200" dirty="0">
                <a:solidFill>
                  <a:srgbClr val="9A9AA0"/>
                </a:solidFill>
                <a:latin typeface="Arial" pitchFamily="34" charset="0"/>
                <a:ea typeface="Arial" pitchFamily="34" charset="-122"/>
                <a:cs typeface="Arial" pitchFamily="34" charset="-120"/>
              </a:rPr>
              <a:t>→</a:t>
            </a:r>
            <a:endParaRPr lang="en-US" sz="1200" dirty="0"/>
          </a:p>
        </p:txBody>
      </p:sp>
      <p:sp>
        <p:nvSpPr>
          <p:cNvPr id="14" name="Shape 12"/>
          <p:cNvSpPr/>
          <p:nvPr/>
        </p:nvSpPr>
        <p:spPr>
          <a:xfrm>
            <a:off x="5440680" y="2039112"/>
            <a:ext cx="3337560" cy="530352"/>
          </a:xfrm>
          <a:prstGeom prst="rect">
            <a:avLst/>
          </a:prstGeom>
          <a:solidFill>
            <a:srgbClr val="1C1C20"/>
          </a:solidFill>
          <a:ln w="19050">
            <a:solidFill>
              <a:srgbClr val="2BC4C4"/>
            </a:solidFill>
            <a:prstDash val="solid"/>
          </a:ln>
        </p:spPr>
      </p:sp>
      <p:sp>
        <p:nvSpPr>
          <p:cNvPr id="15" name="Text 13"/>
          <p:cNvSpPr/>
          <p:nvPr/>
        </p:nvSpPr>
        <p:spPr>
          <a:xfrm>
            <a:off x="5577840" y="2039112"/>
            <a:ext cx="306324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Sites, Background Loops &amp; Parallel Agents</a:t>
            </a:r>
            <a:endParaRPr lang="en-US" sz="1000" dirty="0"/>
          </a:p>
        </p:txBody>
      </p:sp>
      <p:sp>
        <p:nvSpPr>
          <p:cNvPr id="16" name="Text 14"/>
          <p:cNvSpPr/>
          <p:nvPr/>
        </p:nvSpPr>
        <p:spPr>
          <a:xfrm>
            <a:off x="457200" y="2642616"/>
            <a:ext cx="114300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Cost</a:t>
            </a:r>
            <a:endParaRPr lang="en-US" sz="1000" dirty="0"/>
          </a:p>
          <a:p>
            <a:pPr indent="0" marL="0">
              <a:buNone/>
            </a:pPr>
            <a:r>
              <a:rPr lang="en-US" sz="1000" b="1" dirty="0">
                <a:solidFill>
                  <a:srgbClr val="FFFFFF"/>
                </a:solidFill>
                <a:latin typeface="Arial" pitchFamily="34" charset="0"/>
                <a:ea typeface="Arial" pitchFamily="34" charset="-122"/>
                <a:cs typeface="Arial" pitchFamily="34" charset="-120"/>
              </a:rPr>
              <a:t>Structure</a:t>
            </a:r>
            <a:endParaRPr lang="en-US" sz="1000" dirty="0"/>
          </a:p>
        </p:txBody>
      </p:sp>
      <p:sp>
        <p:nvSpPr>
          <p:cNvPr id="17" name="Shape 15"/>
          <p:cNvSpPr/>
          <p:nvPr/>
        </p:nvSpPr>
        <p:spPr>
          <a:xfrm>
            <a:off x="1691640" y="2642616"/>
            <a:ext cx="3337560" cy="530352"/>
          </a:xfrm>
          <a:prstGeom prst="rect">
            <a:avLst/>
          </a:prstGeom>
          <a:solidFill>
            <a:srgbClr val="1C1C20"/>
          </a:solidFill>
          <a:ln w="9525">
            <a:solidFill>
              <a:srgbClr val="2A2A30"/>
            </a:solidFill>
            <a:prstDash val="solid"/>
          </a:ln>
        </p:spPr>
      </p:sp>
      <p:sp>
        <p:nvSpPr>
          <p:cNvPr id="18" name="Text 16"/>
          <p:cNvSpPr/>
          <p:nvPr/>
        </p:nvSpPr>
        <p:spPr>
          <a:xfrm>
            <a:off x="1828800" y="2642616"/>
            <a:ext cx="3063240" cy="530352"/>
          </a:xfrm>
          <a:prstGeom prst="rect">
            <a:avLst/>
          </a:prstGeom>
          <a:noFill/>
          <a:ln/>
        </p:spPr>
        <p:txBody>
          <a:bodyPr wrap="square" lIns="0" tIns="0" rIns="0" bIns="0" rtlCol="0" anchor="ctr"/>
          <a:lstStyle/>
          <a:p>
            <a:pPr indent="0" marL="0">
              <a:buNone/>
            </a:pPr>
            <a:r>
              <a:rPr lang="en-US" sz="1000" dirty="0">
                <a:solidFill>
                  <a:srgbClr val="C9C9CE"/>
                </a:solidFill>
                <a:latin typeface="Arial" pitchFamily="34" charset="0"/>
                <a:ea typeface="Arial" pitchFamily="34" charset="-122"/>
                <a:cs typeface="Arial" pitchFamily="34" charset="-120"/>
              </a:rPr>
              <a:t>Flat Seat-Based Subscriptions</a:t>
            </a:r>
            <a:endParaRPr lang="en-US" sz="1000" dirty="0"/>
          </a:p>
        </p:txBody>
      </p:sp>
      <p:sp>
        <p:nvSpPr>
          <p:cNvPr id="19" name="Text 17"/>
          <p:cNvSpPr/>
          <p:nvPr/>
        </p:nvSpPr>
        <p:spPr>
          <a:xfrm>
            <a:off x="5029200" y="2642616"/>
            <a:ext cx="411480" cy="530352"/>
          </a:xfrm>
          <a:prstGeom prst="rect">
            <a:avLst/>
          </a:prstGeom>
          <a:noFill/>
          <a:ln/>
        </p:spPr>
        <p:txBody>
          <a:bodyPr wrap="square" lIns="0" tIns="0" rIns="0" bIns="0" rtlCol="0" anchor="ctr"/>
          <a:lstStyle/>
          <a:p>
            <a:pPr algn="ctr" indent="0" marL="0">
              <a:buNone/>
            </a:pPr>
            <a:r>
              <a:rPr lang="en-US" sz="1200" dirty="0">
                <a:solidFill>
                  <a:srgbClr val="9A9AA0"/>
                </a:solidFill>
                <a:latin typeface="Arial" pitchFamily="34" charset="0"/>
                <a:ea typeface="Arial" pitchFamily="34" charset="-122"/>
                <a:cs typeface="Arial" pitchFamily="34" charset="-120"/>
              </a:rPr>
              <a:t>→</a:t>
            </a:r>
            <a:endParaRPr lang="en-US" sz="1200" dirty="0"/>
          </a:p>
        </p:txBody>
      </p:sp>
      <p:sp>
        <p:nvSpPr>
          <p:cNvPr id="20" name="Shape 18"/>
          <p:cNvSpPr/>
          <p:nvPr/>
        </p:nvSpPr>
        <p:spPr>
          <a:xfrm>
            <a:off x="5440680" y="2642616"/>
            <a:ext cx="3337560" cy="530352"/>
          </a:xfrm>
          <a:prstGeom prst="rect">
            <a:avLst/>
          </a:prstGeom>
          <a:solidFill>
            <a:srgbClr val="1C1C20"/>
          </a:solidFill>
          <a:ln w="19050">
            <a:solidFill>
              <a:srgbClr val="2BC4C4"/>
            </a:solidFill>
            <a:prstDash val="solid"/>
          </a:ln>
        </p:spPr>
      </p:sp>
      <p:sp>
        <p:nvSpPr>
          <p:cNvPr id="21" name="Text 19"/>
          <p:cNvSpPr/>
          <p:nvPr/>
        </p:nvSpPr>
        <p:spPr>
          <a:xfrm>
            <a:off x="5577840" y="2642616"/>
            <a:ext cx="306324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Metered, Usage-Based Token Budgets</a:t>
            </a:r>
            <a:endParaRPr lang="en-US" sz="1000" dirty="0"/>
          </a:p>
        </p:txBody>
      </p:sp>
      <p:sp>
        <p:nvSpPr>
          <p:cNvPr id="22" name="Text 20"/>
          <p:cNvSpPr/>
          <p:nvPr/>
        </p:nvSpPr>
        <p:spPr>
          <a:xfrm>
            <a:off x="457200" y="3246120"/>
            <a:ext cx="114300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Primary</a:t>
            </a:r>
            <a:endParaRPr lang="en-US" sz="1000" dirty="0"/>
          </a:p>
          <a:p>
            <a:pPr indent="0" marL="0">
              <a:buNone/>
            </a:pPr>
            <a:r>
              <a:rPr lang="en-US" sz="1000" b="1" dirty="0">
                <a:solidFill>
                  <a:srgbClr val="FFFFFF"/>
                </a:solidFill>
                <a:latin typeface="Arial" pitchFamily="34" charset="0"/>
                <a:ea typeface="Arial" pitchFamily="34" charset="-122"/>
                <a:cs typeface="Arial" pitchFamily="34" charset="-120"/>
              </a:rPr>
              <a:t>Output</a:t>
            </a:r>
            <a:endParaRPr lang="en-US" sz="1000" dirty="0"/>
          </a:p>
        </p:txBody>
      </p:sp>
      <p:sp>
        <p:nvSpPr>
          <p:cNvPr id="23" name="Shape 21"/>
          <p:cNvSpPr/>
          <p:nvPr/>
        </p:nvSpPr>
        <p:spPr>
          <a:xfrm>
            <a:off x="1691640" y="3246120"/>
            <a:ext cx="3337560" cy="530352"/>
          </a:xfrm>
          <a:prstGeom prst="rect">
            <a:avLst/>
          </a:prstGeom>
          <a:solidFill>
            <a:srgbClr val="1C1C20"/>
          </a:solidFill>
          <a:ln w="9525">
            <a:solidFill>
              <a:srgbClr val="2A2A30"/>
            </a:solidFill>
            <a:prstDash val="solid"/>
          </a:ln>
        </p:spPr>
      </p:sp>
      <p:sp>
        <p:nvSpPr>
          <p:cNvPr id="24" name="Text 22"/>
          <p:cNvSpPr/>
          <p:nvPr/>
        </p:nvSpPr>
        <p:spPr>
          <a:xfrm>
            <a:off x="1828800" y="3246120"/>
            <a:ext cx="3063240" cy="530352"/>
          </a:xfrm>
          <a:prstGeom prst="rect">
            <a:avLst/>
          </a:prstGeom>
          <a:noFill/>
          <a:ln/>
        </p:spPr>
        <p:txBody>
          <a:bodyPr wrap="square" lIns="0" tIns="0" rIns="0" bIns="0" rtlCol="0" anchor="ctr"/>
          <a:lstStyle/>
          <a:p>
            <a:pPr indent="0" marL="0">
              <a:buNone/>
            </a:pPr>
            <a:r>
              <a:rPr lang="en-US" sz="1000" dirty="0">
                <a:solidFill>
                  <a:srgbClr val="C9C9CE"/>
                </a:solidFill>
                <a:latin typeface="Arial" pitchFamily="34" charset="0"/>
                <a:ea typeface="Arial" pitchFamily="34" charset="-122"/>
                <a:cs typeface="Arial" pitchFamily="34" charset="-120"/>
              </a:rPr>
              <a:t>Text and Code Snippets</a:t>
            </a:r>
            <a:endParaRPr lang="en-US" sz="1000" dirty="0"/>
          </a:p>
        </p:txBody>
      </p:sp>
      <p:sp>
        <p:nvSpPr>
          <p:cNvPr id="25" name="Text 23"/>
          <p:cNvSpPr/>
          <p:nvPr/>
        </p:nvSpPr>
        <p:spPr>
          <a:xfrm>
            <a:off x="5029200" y="3246120"/>
            <a:ext cx="411480" cy="530352"/>
          </a:xfrm>
          <a:prstGeom prst="rect">
            <a:avLst/>
          </a:prstGeom>
          <a:noFill/>
          <a:ln/>
        </p:spPr>
        <p:txBody>
          <a:bodyPr wrap="square" lIns="0" tIns="0" rIns="0" bIns="0" rtlCol="0" anchor="ctr"/>
          <a:lstStyle/>
          <a:p>
            <a:pPr algn="ctr" indent="0" marL="0">
              <a:buNone/>
            </a:pPr>
            <a:r>
              <a:rPr lang="en-US" sz="1200" dirty="0">
                <a:solidFill>
                  <a:srgbClr val="9A9AA0"/>
                </a:solidFill>
                <a:latin typeface="Arial" pitchFamily="34" charset="0"/>
                <a:ea typeface="Arial" pitchFamily="34" charset="-122"/>
                <a:cs typeface="Arial" pitchFamily="34" charset="-120"/>
              </a:rPr>
              <a:t>→</a:t>
            </a:r>
            <a:endParaRPr lang="en-US" sz="1200" dirty="0"/>
          </a:p>
        </p:txBody>
      </p:sp>
      <p:sp>
        <p:nvSpPr>
          <p:cNvPr id="26" name="Shape 24"/>
          <p:cNvSpPr/>
          <p:nvPr/>
        </p:nvSpPr>
        <p:spPr>
          <a:xfrm>
            <a:off x="5440680" y="3246120"/>
            <a:ext cx="3337560" cy="530352"/>
          </a:xfrm>
          <a:prstGeom prst="rect">
            <a:avLst/>
          </a:prstGeom>
          <a:solidFill>
            <a:srgbClr val="1C1C20"/>
          </a:solidFill>
          <a:ln w="19050">
            <a:solidFill>
              <a:srgbClr val="2BC4C4"/>
            </a:solidFill>
            <a:prstDash val="solid"/>
          </a:ln>
        </p:spPr>
      </p:sp>
      <p:sp>
        <p:nvSpPr>
          <p:cNvPr id="27" name="Text 25"/>
          <p:cNvSpPr/>
          <p:nvPr/>
        </p:nvSpPr>
        <p:spPr>
          <a:xfrm>
            <a:off x="5577840" y="3246120"/>
            <a:ext cx="306324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Fully Researched Disposable Web Apps &amp; Software Architectures</a:t>
            </a:r>
            <a:endParaRPr lang="en-US" sz="1000" dirty="0"/>
          </a:p>
        </p:txBody>
      </p:sp>
      <p:sp>
        <p:nvSpPr>
          <p:cNvPr id="28" name="Text 26"/>
          <p:cNvSpPr/>
          <p:nvPr/>
        </p:nvSpPr>
        <p:spPr>
          <a:xfrm>
            <a:off x="457200" y="3849624"/>
            <a:ext cx="114300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Bottleneck</a:t>
            </a:r>
            <a:endParaRPr lang="en-US" sz="1000" dirty="0"/>
          </a:p>
        </p:txBody>
      </p:sp>
      <p:sp>
        <p:nvSpPr>
          <p:cNvPr id="29" name="Shape 27"/>
          <p:cNvSpPr/>
          <p:nvPr/>
        </p:nvSpPr>
        <p:spPr>
          <a:xfrm>
            <a:off x="1691640" y="3849624"/>
            <a:ext cx="3337560" cy="530352"/>
          </a:xfrm>
          <a:prstGeom prst="rect">
            <a:avLst/>
          </a:prstGeom>
          <a:solidFill>
            <a:srgbClr val="1C1C20"/>
          </a:solidFill>
          <a:ln w="9525">
            <a:solidFill>
              <a:srgbClr val="2A2A30"/>
            </a:solidFill>
            <a:prstDash val="solid"/>
          </a:ln>
        </p:spPr>
      </p:sp>
      <p:sp>
        <p:nvSpPr>
          <p:cNvPr id="30" name="Text 28"/>
          <p:cNvSpPr/>
          <p:nvPr/>
        </p:nvSpPr>
        <p:spPr>
          <a:xfrm>
            <a:off x="1828800" y="3849624"/>
            <a:ext cx="3063240" cy="530352"/>
          </a:xfrm>
          <a:prstGeom prst="rect">
            <a:avLst/>
          </a:prstGeom>
          <a:noFill/>
          <a:ln/>
        </p:spPr>
        <p:txBody>
          <a:bodyPr wrap="square" lIns="0" tIns="0" rIns="0" bIns="0" rtlCol="0" anchor="ctr"/>
          <a:lstStyle/>
          <a:p>
            <a:pPr indent="0" marL="0">
              <a:buNone/>
            </a:pPr>
            <a:r>
              <a:rPr lang="en-US" sz="1000" dirty="0">
                <a:solidFill>
                  <a:srgbClr val="C9C9CE"/>
                </a:solidFill>
                <a:latin typeface="Arial" pitchFamily="34" charset="0"/>
                <a:ea typeface="Arial" pitchFamily="34" charset="-122"/>
                <a:cs typeface="Arial" pitchFamily="34" charset="-120"/>
              </a:rPr>
              <a:t>Human Attention &amp; Typing Speed</a:t>
            </a:r>
            <a:endParaRPr lang="en-US" sz="1000" dirty="0"/>
          </a:p>
        </p:txBody>
      </p:sp>
      <p:sp>
        <p:nvSpPr>
          <p:cNvPr id="31" name="Text 29"/>
          <p:cNvSpPr/>
          <p:nvPr/>
        </p:nvSpPr>
        <p:spPr>
          <a:xfrm>
            <a:off x="5029200" y="3849624"/>
            <a:ext cx="411480" cy="530352"/>
          </a:xfrm>
          <a:prstGeom prst="rect">
            <a:avLst/>
          </a:prstGeom>
          <a:noFill/>
          <a:ln/>
        </p:spPr>
        <p:txBody>
          <a:bodyPr wrap="square" lIns="0" tIns="0" rIns="0" bIns="0" rtlCol="0" anchor="ctr"/>
          <a:lstStyle/>
          <a:p>
            <a:pPr algn="ctr" indent="0" marL="0">
              <a:buNone/>
            </a:pPr>
            <a:r>
              <a:rPr lang="en-US" sz="1200" dirty="0">
                <a:solidFill>
                  <a:srgbClr val="9A9AA0"/>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5440680" y="3849624"/>
            <a:ext cx="3337560" cy="530352"/>
          </a:xfrm>
          <a:prstGeom prst="rect">
            <a:avLst/>
          </a:prstGeom>
          <a:solidFill>
            <a:srgbClr val="1C1C20"/>
          </a:solidFill>
          <a:ln w="19050">
            <a:solidFill>
              <a:srgbClr val="2BC4C4"/>
            </a:solidFill>
            <a:prstDash val="solid"/>
          </a:ln>
        </p:spPr>
      </p:sp>
      <p:sp>
        <p:nvSpPr>
          <p:cNvPr id="33" name="Text 31"/>
          <p:cNvSpPr/>
          <p:nvPr/>
        </p:nvSpPr>
        <p:spPr>
          <a:xfrm>
            <a:off x="5577840" y="3849624"/>
            <a:ext cx="3063240" cy="53035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Token Limits &amp; Compute Allocation</a:t>
            </a:r>
            <a:endParaRPr lang="en-US" sz="1000" dirty="0"/>
          </a:p>
        </p:txBody>
      </p:sp>
      <p:sp>
        <p:nvSpPr>
          <p:cNvPr id="34" name="Shape 32"/>
          <p:cNvSpPr/>
          <p:nvPr/>
        </p:nvSpPr>
        <p:spPr>
          <a:xfrm>
            <a:off x="0" y="4526280"/>
            <a:ext cx="9144000" cy="617220"/>
          </a:xfrm>
          <a:prstGeom prst="rect">
            <a:avLst/>
          </a:prstGeom>
          <a:solidFill>
            <a:srgbClr val="000000"/>
          </a:solidFill>
          <a:ln/>
        </p:spPr>
      </p:sp>
      <p:sp>
        <p:nvSpPr>
          <p:cNvPr id="35" name="Shape 33"/>
          <p:cNvSpPr/>
          <p:nvPr/>
        </p:nvSpPr>
        <p:spPr>
          <a:xfrm>
            <a:off x="0" y="4526280"/>
            <a:ext cx="9144000" cy="0"/>
          </a:xfrm>
          <a:prstGeom prst="line">
            <a:avLst/>
          </a:prstGeom>
          <a:noFill/>
          <a:ln w="6350">
            <a:solidFill>
              <a:srgbClr val="2A2A30"/>
            </a:solidFill>
            <a:prstDash val="solid"/>
          </a:ln>
        </p:spPr>
      </p:sp>
      <p:sp>
        <p:nvSpPr>
          <p:cNvPr id="36" name="Text 34"/>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37" name="Text 35"/>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2BC4C4"/>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2BC4C4"/>
                </a:solidFill>
                <a:latin typeface="Arial" pitchFamily="34" charset="0"/>
                <a:ea typeface="Arial" pitchFamily="34" charset="-122"/>
                <a:cs typeface="Arial" pitchFamily="34" charset="-120"/>
              </a:rPr>
              <a:t>01  ·  WHAT’S HAPPENING  —  AGENTIC LOOPS</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400" b="1" dirty="0">
                <a:solidFill>
                  <a:srgbClr val="FFFFFF"/>
                </a:solidFill>
                <a:latin typeface="Arial Black" pitchFamily="34" charset="0"/>
                <a:ea typeface="Arial Black" pitchFamily="34" charset="-122"/>
                <a:cs typeface="Arial Black" pitchFamily="34" charset="-120"/>
              </a:rPr>
              <a:t>From prompts to loops — demand has no ceiling</a:t>
            </a:r>
            <a:endParaRPr lang="en-US" sz="24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Agents try, fail, fix, and ship on their own. A loop burns orders of magnitude more tokens than a chat — and the Jevons curve does the rest.</a:t>
            </a:r>
            <a:endParaRPr lang="en-US" sz="1250" dirty="0"/>
          </a:p>
        </p:txBody>
      </p:sp>
      <p:sp>
        <p:nvSpPr>
          <p:cNvPr id="6" name="Text 4"/>
          <p:cNvSpPr/>
          <p:nvPr/>
        </p:nvSpPr>
        <p:spPr>
          <a:xfrm>
            <a:off x="457200" y="1481328"/>
            <a:ext cx="374904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The unit of work changed</a:t>
            </a:r>
            <a:endParaRPr lang="en-US" sz="1300" dirty="0"/>
          </a:p>
        </p:txBody>
      </p:sp>
      <p:sp>
        <p:nvSpPr>
          <p:cNvPr id="7" name="Shape 5"/>
          <p:cNvSpPr/>
          <p:nvPr/>
        </p:nvSpPr>
        <p:spPr>
          <a:xfrm>
            <a:off x="457200" y="1783080"/>
            <a:ext cx="3749040" cy="0"/>
          </a:xfrm>
          <a:prstGeom prst="line">
            <a:avLst/>
          </a:prstGeom>
          <a:noFill/>
          <a:ln w="12700">
            <a:solidFill>
              <a:srgbClr val="2BC4C4"/>
            </a:solidFill>
            <a:prstDash val="solid"/>
          </a:ln>
        </p:spPr>
      </p:sp>
      <p:sp>
        <p:nvSpPr>
          <p:cNvPr id="8" name="Text 6"/>
          <p:cNvSpPr/>
          <p:nvPr/>
        </p:nvSpPr>
        <p:spPr>
          <a:xfrm>
            <a:off x="457200" y="1901952"/>
            <a:ext cx="3749040" cy="182880"/>
          </a:xfrm>
          <a:prstGeom prst="rect">
            <a:avLst/>
          </a:prstGeom>
          <a:noFill/>
          <a:ln/>
        </p:spPr>
        <p:txBody>
          <a:bodyPr wrap="square" lIns="0" tIns="0" rIns="0" bIns="0" rtlCol="0" anchor="ctr"/>
          <a:lstStyle/>
          <a:p>
            <a:pPr indent="0" marL="0">
              <a:buNone/>
            </a:pPr>
            <a:r>
              <a:rPr lang="en-US" sz="750" b="1" spc="150" kern="0" dirty="0">
                <a:solidFill>
                  <a:srgbClr val="9A9AA0"/>
                </a:solidFill>
                <a:latin typeface="Arial" pitchFamily="34" charset="0"/>
                <a:ea typeface="Arial" pitchFamily="34" charset="-122"/>
                <a:cs typeface="Arial" pitchFamily="34" charset="-120"/>
              </a:rPr>
              <a:t>2023–25 · ONE SHOT, THEN STOP</a:t>
            </a:r>
            <a:endParaRPr lang="en-US" sz="750" dirty="0"/>
          </a:p>
        </p:txBody>
      </p:sp>
      <p:sp>
        <p:nvSpPr>
          <p:cNvPr id="9" name="Shape 7"/>
          <p:cNvSpPr/>
          <p:nvPr/>
        </p:nvSpPr>
        <p:spPr>
          <a:xfrm>
            <a:off x="548640" y="2121408"/>
            <a:ext cx="1005840" cy="329184"/>
          </a:xfrm>
          <a:prstGeom prst="rect">
            <a:avLst/>
          </a:prstGeom>
          <a:solidFill>
            <a:srgbClr val="1C1C20"/>
          </a:solidFill>
          <a:ln w="12700">
            <a:solidFill>
              <a:srgbClr val="2A2A30"/>
            </a:solidFill>
            <a:prstDash val="solid"/>
          </a:ln>
        </p:spPr>
      </p:sp>
      <p:sp>
        <p:nvSpPr>
          <p:cNvPr id="10" name="Text 8"/>
          <p:cNvSpPr/>
          <p:nvPr/>
        </p:nvSpPr>
        <p:spPr>
          <a:xfrm>
            <a:off x="548640" y="2121408"/>
            <a:ext cx="1005840" cy="329184"/>
          </a:xfrm>
          <a:prstGeom prst="rect">
            <a:avLst/>
          </a:prstGeom>
          <a:noFill/>
          <a:ln/>
        </p:spPr>
        <p:txBody>
          <a:bodyPr wrap="square" lIns="0" tIns="0" rIns="0" bIns="0" rtlCol="0" anchor="ctr"/>
          <a:lstStyle/>
          <a:p>
            <a:pPr algn="ctr" indent="0" marL="0">
              <a:buNone/>
            </a:pPr>
            <a:r>
              <a:rPr lang="en-US" sz="850" b="1" dirty="0">
                <a:solidFill>
                  <a:srgbClr val="C9C9CE"/>
                </a:solidFill>
                <a:latin typeface="Arial" pitchFamily="34" charset="0"/>
                <a:ea typeface="Arial" pitchFamily="34" charset="-122"/>
                <a:cs typeface="Arial" pitchFamily="34" charset="-120"/>
              </a:rPr>
              <a:t>PROMPT</a:t>
            </a:r>
            <a:endParaRPr lang="en-US" sz="850" dirty="0"/>
          </a:p>
        </p:txBody>
      </p:sp>
      <p:sp>
        <p:nvSpPr>
          <p:cNvPr id="11" name="Shape 9"/>
          <p:cNvSpPr/>
          <p:nvPr/>
        </p:nvSpPr>
        <p:spPr>
          <a:xfrm>
            <a:off x="1618488" y="2286000"/>
            <a:ext cx="411480" cy="0"/>
          </a:xfrm>
          <a:prstGeom prst="line">
            <a:avLst/>
          </a:prstGeom>
          <a:noFill/>
          <a:ln w="25400">
            <a:solidFill>
              <a:srgbClr val="9A9AA0"/>
            </a:solidFill>
            <a:prstDash val="solid"/>
            <a:tailEnd type="triangle"/>
          </a:ln>
        </p:spPr>
      </p:sp>
      <p:sp>
        <p:nvSpPr>
          <p:cNvPr id="12" name="Shape 10"/>
          <p:cNvSpPr/>
          <p:nvPr/>
        </p:nvSpPr>
        <p:spPr>
          <a:xfrm>
            <a:off x="2084832" y="2121408"/>
            <a:ext cx="1005840" cy="329184"/>
          </a:xfrm>
          <a:prstGeom prst="rect">
            <a:avLst/>
          </a:prstGeom>
          <a:solidFill>
            <a:srgbClr val="1C1C20"/>
          </a:solidFill>
          <a:ln w="12700">
            <a:solidFill>
              <a:srgbClr val="2A2A30"/>
            </a:solidFill>
            <a:prstDash val="solid"/>
          </a:ln>
        </p:spPr>
      </p:sp>
      <p:sp>
        <p:nvSpPr>
          <p:cNvPr id="13" name="Text 11"/>
          <p:cNvSpPr/>
          <p:nvPr/>
        </p:nvSpPr>
        <p:spPr>
          <a:xfrm>
            <a:off x="2084832" y="2121408"/>
            <a:ext cx="1005840" cy="329184"/>
          </a:xfrm>
          <a:prstGeom prst="rect">
            <a:avLst/>
          </a:prstGeom>
          <a:noFill/>
          <a:ln/>
        </p:spPr>
        <p:txBody>
          <a:bodyPr wrap="square" lIns="0" tIns="0" rIns="0" bIns="0" rtlCol="0" anchor="ctr"/>
          <a:lstStyle/>
          <a:p>
            <a:pPr algn="ctr" indent="0" marL="0">
              <a:buNone/>
            </a:pPr>
            <a:r>
              <a:rPr lang="en-US" sz="850" b="1" dirty="0">
                <a:solidFill>
                  <a:srgbClr val="C9C9CE"/>
                </a:solidFill>
                <a:latin typeface="Arial" pitchFamily="34" charset="0"/>
                <a:ea typeface="Arial" pitchFamily="34" charset="-122"/>
                <a:cs typeface="Arial" pitchFamily="34" charset="-120"/>
              </a:rPr>
              <a:t>RESPONSE</a:t>
            </a:r>
            <a:endParaRPr lang="en-US" sz="850" dirty="0"/>
          </a:p>
        </p:txBody>
      </p:sp>
      <p:sp>
        <p:nvSpPr>
          <p:cNvPr id="14" name="Text 12"/>
          <p:cNvSpPr/>
          <p:nvPr/>
        </p:nvSpPr>
        <p:spPr>
          <a:xfrm>
            <a:off x="457200" y="2615184"/>
            <a:ext cx="3749040" cy="182880"/>
          </a:xfrm>
          <a:prstGeom prst="rect">
            <a:avLst/>
          </a:prstGeom>
          <a:noFill/>
          <a:ln/>
        </p:spPr>
        <p:txBody>
          <a:bodyPr wrap="square" lIns="0" tIns="0" rIns="0" bIns="0" rtlCol="0" anchor="ctr"/>
          <a:lstStyle/>
          <a:p>
            <a:pPr indent="0" marL="0">
              <a:buNone/>
            </a:pPr>
            <a:r>
              <a:rPr lang="en-US" sz="750" b="1" spc="150" kern="0" dirty="0">
                <a:solidFill>
                  <a:srgbClr val="2BC4C4"/>
                </a:solidFill>
                <a:latin typeface="Arial" pitchFamily="34" charset="0"/>
                <a:ea typeface="Arial" pitchFamily="34" charset="-122"/>
                <a:cs typeface="Arial" pitchFamily="34" charset="-120"/>
              </a:rPr>
              <a:t>2026 · RUNS UNTIL THE TASK IS DONE</a:t>
            </a:r>
            <a:endParaRPr lang="en-US" sz="750" dirty="0"/>
          </a:p>
        </p:txBody>
      </p:sp>
      <p:sp>
        <p:nvSpPr>
          <p:cNvPr id="15" name="Shape 13"/>
          <p:cNvSpPr/>
          <p:nvPr/>
        </p:nvSpPr>
        <p:spPr>
          <a:xfrm>
            <a:off x="548640" y="2852928"/>
            <a:ext cx="868680" cy="310896"/>
          </a:xfrm>
          <a:prstGeom prst="rect">
            <a:avLst/>
          </a:prstGeom>
          <a:ln w="22225">
            <a:solidFill>
              <a:srgbClr val="2BC4C4"/>
            </a:solidFill>
            <a:prstDash val="solid"/>
          </a:ln>
        </p:spPr>
      </p:sp>
      <p:sp>
        <p:nvSpPr>
          <p:cNvPr id="16" name="Text 14"/>
          <p:cNvSpPr/>
          <p:nvPr/>
        </p:nvSpPr>
        <p:spPr>
          <a:xfrm>
            <a:off x="548640" y="2852928"/>
            <a:ext cx="868680" cy="310896"/>
          </a:xfrm>
          <a:prstGeom prst="rect">
            <a:avLst/>
          </a:prstGeom>
          <a:noFill/>
          <a:ln/>
        </p:spPr>
        <p:txBody>
          <a:bodyPr wrap="square" lIns="0" tIns="0" rIns="0" bIns="0" rtlCol="0" anchor="ctr"/>
          <a:lstStyle/>
          <a:p>
            <a:pPr algn="ctr" indent="0" marL="0">
              <a:buNone/>
            </a:pPr>
            <a:r>
              <a:rPr lang="en-US" sz="850" b="1" dirty="0">
                <a:solidFill>
                  <a:srgbClr val="2BC4C4"/>
                </a:solidFill>
                <a:latin typeface="Arial" pitchFamily="34" charset="0"/>
                <a:ea typeface="Arial" pitchFamily="34" charset="-122"/>
                <a:cs typeface="Arial" pitchFamily="34" charset="-120"/>
              </a:rPr>
              <a:t>TRY</a:t>
            </a:r>
            <a:endParaRPr lang="en-US" sz="850" dirty="0"/>
          </a:p>
        </p:txBody>
      </p:sp>
      <p:sp>
        <p:nvSpPr>
          <p:cNvPr id="17" name="Shape 15"/>
          <p:cNvSpPr/>
          <p:nvPr/>
        </p:nvSpPr>
        <p:spPr>
          <a:xfrm>
            <a:off x="1828800" y="2852928"/>
            <a:ext cx="868680" cy="310896"/>
          </a:xfrm>
          <a:prstGeom prst="rect">
            <a:avLst/>
          </a:prstGeom>
          <a:ln w="22225">
            <a:solidFill>
              <a:srgbClr val="2BC4C4"/>
            </a:solidFill>
            <a:prstDash val="solid"/>
          </a:ln>
        </p:spPr>
      </p:sp>
      <p:sp>
        <p:nvSpPr>
          <p:cNvPr id="18" name="Text 16"/>
          <p:cNvSpPr/>
          <p:nvPr/>
        </p:nvSpPr>
        <p:spPr>
          <a:xfrm>
            <a:off x="1828800" y="2852928"/>
            <a:ext cx="868680" cy="310896"/>
          </a:xfrm>
          <a:prstGeom prst="rect">
            <a:avLst/>
          </a:prstGeom>
          <a:noFill/>
          <a:ln/>
        </p:spPr>
        <p:txBody>
          <a:bodyPr wrap="square" lIns="0" tIns="0" rIns="0" bIns="0" rtlCol="0" anchor="ctr"/>
          <a:lstStyle/>
          <a:p>
            <a:pPr algn="ctr" indent="0" marL="0">
              <a:buNone/>
            </a:pPr>
            <a:r>
              <a:rPr lang="en-US" sz="850" b="1" dirty="0">
                <a:solidFill>
                  <a:srgbClr val="2BC4C4"/>
                </a:solidFill>
                <a:latin typeface="Arial" pitchFamily="34" charset="0"/>
                <a:ea typeface="Arial" pitchFamily="34" charset="-122"/>
                <a:cs typeface="Arial" pitchFamily="34" charset="-120"/>
              </a:rPr>
              <a:t>FAIL</a:t>
            </a:r>
            <a:endParaRPr lang="en-US" sz="850" dirty="0"/>
          </a:p>
        </p:txBody>
      </p:sp>
      <p:sp>
        <p:nvSpPr>
          <p:cNvPr id="19" name="Shape 17"/>
          <p:cNvSpPr/>
          <p:nvPr/>
        </p:nvSpPr>
        <p:spPr>
          <a:xfrm>
            <a:off x="1828800" y="3419856"/>
            <a:ext cx="868680" cy="310896"/>
          </a:xfrm>
          <a:prstGeom prst="rect">
            <a:avLst/>
          </a:prstGeom>
          <a:ln w="22225">
            <a:solidFill>
              <a:srgbClr val="2BC4C4"/>
            </a:solidFill>
            <a:prstDash val="solid"/>
          </a:ln>
        </p:spPr>
      </p:sp>
      <p:sp>
        <p:nvSpPr>
          <p:cNvPr id="20" name="Text 18"/>
          <p:cNvSpPr/>
          <p:nvPr/>
        </p:nvSpPr>
        <p:spPr>
          <a:xfrm>
            <a:off x="1828800" y="3419856"/>
            <a:ext cx="868680" cy="310896"/>
          </a:xfrm>
          <a:prstGeom prst="rect">
            <a:avLst/>
          </a:prstGeom>
          <a:noFill/>
          <a:ln/>
        </p:spPr>
        <p:txBody>
          <a:bodyPr wrap="square" lIns="0" tIns="0" rIns="0" bIns="0" rtlCol="0" anchor="ctr"/>
          <a:lstStyle/>
          <a:p>
            <a:pPr algn="ctr" indent="0" marL="0">
              <a:buNone/>
            </a:pPr>
            <a:r>
              <a:rPr lang="en-US" sz="850" b="1" dirty="0">
                <a:solidFill>
                  <a:srgbClr val="2BC4C4"/>
                </a:solidFill>
                <a:latin typeface="Arial" pitchFamily="34" charset="0"/>
                <a:ea typeface="Arial" pitchFamily="34" charset="-122"/>
                <a:cs typeface="Arial" pitchFamily="34" charset="-120"/>
              </a:rPr>
              <a:t>FIX</a:t>
            </a:r>
            <a:endParaRPr lang="en-US" sz="850" dirty="0"/>
          </a:p>
        </p:txBody>
      </p:sp>
      <p:sp>
        <p:nvSpPr>
          <p:cNvPr id="21" name="Shape 19"/>
          <p:cNvSpPr/>
          <p:nvPr/>
        </p:nvSpPr>
        <p:spPr>
          <a:xfrm>
            <a:off x="548640" y="3419856"/>
            <a:ext cx="868680" cy="310896"/>
          </a:xfrm>
          <a:prstGeom prst="rect">
            <a:avLst/>
          </a:prstGeom>
          <a:ln w="22225">
            <a:solidFill>
              <a:srgbClr val="2BC4C4"/>
            </a:solidFill>
            <a:prstDash val="solid"/>
          </a:ln>
        </p:spPr>
      </p:sp>
      <p:sp>
        <p:nvSpPr>
          <p:cNvPr id="22" name="Text 20"/>
          <p:cNvSpPr/>
          <p:nvPr/>
        </p:nvSpPr>
        <p:spPr>
          <a:xfrm>
            <a:off x="548640" y="3419856"/>
            <a:ext cx="868680" cy="310896"/>
          </a:xfrm>
          <a:prstGeom prst="rect">
            <a:avLst/>
          </a:prstGeom>
          <a:noFill/>
          <a:ln/>
        </p:spPr>
        <p:txBody>
          <a:bodyPr wrap="square" lIns="0" tIns="0" rIns="0" bIns="0" rtlCol="0" anchor="ctr"/>
          <a:lstStyle/>
          <a:p>
            <a:pPr algn="ctr" indent="0" marL="0">
              <a:buNone/>
            </a:pPr>
            <a:r>
              <a:rPr lang="en-US" sz="850" b="1" dirty="0">
                <a:solidFill>
                  <a:srgbClr val="2BC4C4"/>
                </a:solidFill>
                <a:latin typeface="Arial" pitchFamily="34" charset="0"/>
                <a:ea typeface="Arial" pitchFamily="34" charset="-122"/>
                <a:cs typeface="Arial" pitchFamily="34" charset="-120"/>
              </a:rPr>
              <a:t>SHIP</a:t>
            </a:r>
            <a:endParaRPr lang="en-US" sz="850" dirty="0"/>
          </a:p>
        </p:txBody>
      </p:sp>
      <p:sp>
        <p:nvSpPr>
          <p:cNvPr id="23" name="Shape 21"/>
          <p:cNvSpPr/>
          <p:nvPr/>
        </p:nvSpPr>
        <p:spPr>
          <a:xfrm>
            <a:off x="1444752" y="3008376"/>
            <a:ext cx="356616" cy="0"/>
          </a:xfrm>
          <a:prstGeom prst="line">
            <a:avLst/>
          </a:prstGeom>
          <a:noFill/>
          <a:ln w="19050">
            <a:solidFill>
              <a:srgbClr val="2BC4C4"/>
            </a:solidFill>
            <a:prstDash val="solid"/>
            <a:tailEnd type="triangle"/>
          </a:ln>
        </p:spPr>
      </p:sp>
      <p:sp>
        <p:nvSpPr>
          <p:cNvPr id="24" name="Shape 22"/>
          <p:cNvSpPr/>
          <p:nvPr/>
        </p:nvSpPr>
        <p:spPr>
          <a:xfrm>
            <a:off x="2258568" y="3191256"/>
            <a:ext cx="0" cy="201168"/>
          </a:xfrm>
          <a:prstGeom prst="line">
            <a:avLst/>
          </a:prstGeom>
          <a:noFill/>
          <a:ln w="19050">
            <a:solidFill>
              <a:srgbClr val="2BC4C4"/>
            </a:solidFill>
            <a:prstDash val="solid"/>
            <a:tailEnd type="triangle"/>
          </a:ln>
        </p:spPr>
      </p:sp>
      <p:sp>
        <p:nvSpPr>
          <p:cNvPr id="25" name="Shape 23"/>
          <p:cNvSpPr/>
          <p:nvPr/>
        </p:nvSpPr>
        <p:spPr>
          <a:xfrm flipH="1">
            <a:off x="1444752" y="3575304"/>
            <a:ext cx="356616" cy="0"/>
          </a:xfrm>
          <a:prstGeom prst="line">
            <a:avLst/>
          </a:prstGeom>
          <a:noFill/>
          <a:ln w="19050">
            <a:solidFill>
              <a:srgbClr val="2BC4C4"/>
            </a:solidFill>
            <a:prstDash val="solid"/>
            <a:tailEnd type="triangle"/>
          </a:ln>
        </p:spPr>
      </p:sp>
      <p:sp>
        <p:nvSpPr>
          <p:cNvPr id="26" name="Shape 24"/>
          <p:cNvSpPr/>
          <p:nvPr/>
        </p:nvSpPr>
        <p:spPr>
          <a:xfrm flipV="1">
            <a:off x="987552" y="3191256"/>
            <a:ext cx="0" cy="201168"/>
          </a:xfrm>
          <a:prstGeom prst="line">
            <a:avLst/>
          </a:prstGeom>
          <a:noFill/>
          <a:ln w="19050">
            <a:solidFill>
              <a:srgbClr val="2BC4C4"/>
            </a:solidFill>
            <a:prstDash val="solid"/>
            <a:tailEnd type="triangle"/>
          </a:ln>
        </p:spPr>
      </p:sp>
      <p:sp>
        <p:nvSpPr>
          <p:cNvPr id="27" name="Text 25"/>
          <p:cNvSpPr/>
          <p:nvPr/>
        </p:nvSpPr>
        <p:spPr>
          <a:xfrm>
            <a:off x="2834640" y="2926080"/>
            <a:ext cx="1280160" cy="731520"/>
          </a:xfrm>
          <a:prstGeom prst="rect">
            <a:avLst/>
          </a:prstGeom>
          <a:noFill/>
          <a:ln/>
        </p:spPr>
        <p:txBody>
          <a:bodyPr wrap="square" lIns="0" tIns="0" rIns="0" bIns="0" rtlCol="0" anchor="ctr"/>
          <a:lstStyle/>
          <a:p>
            <a:pPr indent="0" marL="0">
              <a:buNone/>
            </a:pPr>
            <a:r>
              <a:rPr lang="en-US" sz="750" i="1" dirty="0">
                <a:solidFill>
                  <a:srgbClr val="9A9AA0"/>
                </a:solidFill>
                <a:latin typeface="Arial" pitchFamily="34" charset="0"/>
                <a:ea typeface="Arial" pitchFamily="34" charset="-122"/>
                <a:cs typeface="Arial" pitchFamily="34" charset="-120"/>
              </a:rPr>
              <a:t>agents self-correct: design the</a:t>
            </a:r>
            <a:endParaRPr lang="en-US" sz="750" dirty="0"/>
          </a:p>
          <a:p>
            <a:pPr indent="0" marL="0">
              <a:buNone/>
            </a:pPr>
            <a:r>
              <a:rPr lang="en-US" sz="750" i="1" dirty="0">
                <a:solidFill>
                  <a:srgbClr val="9A9AA0"/>
                </a:solidFill>
                <a:latin typeface="Arial" pitchFamily="34" charset="0"/>
                <a:ea typeface="Arial" pitchFamily="34" charset="-122"/>
                <a:cs typeface="Arial" pitchFamily="34" charset="-120"/>
              </a:rPr>
              <a:t>loop, not the prompt</a:t>
            </a:r>
            <a:endParaRPr lang="en-US" sz="750" dirty="0"/>
          </a:p>
        </p:txBody>
      </p:sp>
      <p:sp>
        <p:nvSpPr>
          <p:cNvPr id="28" name="Text 26"/>
          <p:cNvSpPr/>
          <p:nvPr/>
        </p:nvSpPr>
        <p:spPr>
          <a:xfrm>
            <a:off x="457200" y="3858768"/>
            <a:ext cx="393192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Black" pitchFamily="34" charset="0"/>
                <a:ea typeface="Arial Black" pitchFamily="34" charset="-122"/>
                <a:cs typeface="Arial Black" pitchFamily="34" charset="-120"/>
              </a:rPr>
              <a:t>“My job is to write loops.”</a:t>
            </a:r>
            <a:endParaRPr lang="en-US" sz="1300" dirty="0"/>
          </a:p>
        </p:txBody>
      </p:sp>
      <p:sp>
        <p:nvSpPr>
          <p:cNvPr id="29" name="Text 27"/>
          <p:cNvSpPr/>
          <p:nvPr/>
        </p:nvSpPr>
        <p:spPr>
          <a:xfrm>
            <a:off x="457200" y="4151376"/>
            <a:ext cx="3931920" cy="164592"/>
          </a:xfrm>
          <a:prstGeom prst="rect">
            <a:avLst/>
          </a:prstGeom>
          <a:noFill/>
          <a:ln/>
        </p:spPr>
        <p:txBody>
          <a:bodyPr wrap="square" lIns="0" tIns="0" rIns="0" bIns="0" rtlCol="0" anchor="ctr"/>
          <a:lstStyle/>
          <a:p>
            <a:pPr indent="0" marL="0">
              <a:buNone/>
            </a:pPr>
            <a:r>
              <a:rPr lang="en-US" sz="700" dirty="0">
                <a:solidFill>
                  <a:srgbClr val="9A9AA0"/>
                </a:solidFill>
                <a:latin typeface="Arial" pitchFamily="34" charset="0"/>
                <a:ea typeface="Arial" pitchFamily="34" charset="-122"/>
                <a:cs typeface="Arial" pitchFamily="34" charset="-120"/>
              </a:rPr>
              <a:t>Boris Cherny — the agentic workflow in one sentence</a:t>
            </a:r>
            <a:endParaRPr lang="en-US" sz="700" dirty="0"/>
          </a:p>
        </p:txBody>
      </p:sp>
      <p:sp>
        <p:nvSpPr>
          <p:cNvPr id="30" name="Text 28"/>
          <p:cNvSpPr/>
          <p:nvPr/>
        </p:nvSpPr>
        <p:spPr>
          <a:xfrm>
            <a:off x="4526280" y="1481328"/>
            <a:ext cx="416052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The Jevons paradox: efficiency multiplies demand</a:t>
            </a:r>
            <a:endParaRPr lang="en-US" sz="1300" dirty="0"/>
          </a:p>
        </p:txBody>
      </p:sp>
      <p:sp>
        <p:nvSpPr>
          <p:cNvPr id="31" name="Shape 29"/>
          <p:cNvSpPr/>
          <p:nvPr/>
        </p:nvSpPr>
        <p:spPr>
          <a:xfrm>
            <a:off x="4526280" y="1783080"/>
            <a:ext cx="4160520" cy="0"/>
          </a:xfrm>
          <a:prstGeom prst="line">
            <a:avLst/>
          </a:prstGeom>
          <a:noFill/>
          <a:ln w="12700">
            <a:solidFill>
              <a:srgbClr val="2BC4C4"/>
            </a:solidFill>
            <a:prstDash val="solid"/>
          </a:ln>
        </p:spPr>
      </p:sp>
      <p:graphicFrame>
        <p:nvGraphicFramePr>
          <p:cNvPr id="32" name="Chart 0" descr=""/>
          <p:cNvGraphicFramePr/>
          <p:nvPr/>
        </p:nvGraphicFramePr>
        <p:xfrm>
          <a:off x="4526280" y="1874520"/>
          <a:ext cx="4160520" cy="2103120"/>
        </p:xfrm>
        <a:graphic xmlns:a="http://schemas.openxmlformats.org/drawingml/2006/main">
          <a:graphicData uri="http://schemas.openxmlformats.org/drawingml/2006/chart">
            <c:chart xmlns:c="http://schemas.openxmlformats.org/drawingml/2006/chart" r:id="rId1"/>
          </a:graphicData>
        </a:graphic>
      </p:graphicFrame>
      <p:sp>
        <p:nvSpPr>
          <p:cNvPr id="33" name="Text 30"/>
          <p:cNvSpPr/>
          <p:nvPr/>
        </p:nvSpPr>
        <p:spPr>
          <a:xfrm>
            <a:off x="4709160" y="1993392"/>
            <a:ext cx="2377440" cy="164592"/>
          </a:xfrm>
          <a:prstGeom prst="rect">
            <a:avLst/>
          </a:prstGeom>
          <a:noFill/>
          <a:ln/>
        </p:spPr>
        <p:txBody>
          <a:bodyPr wrap="square" lIns="0" tIns="0" rIns="0" bIns="0" rtlCol="0" anchor="ctr"/>
          <a:lstStyle/>
          <a:p>
            <a:pPr indent="0" marL="0">
              <a:buNone/>
            </a:pPr>
            <a:r>
              <a:rPr lang="en-US" sz="700" b="1" spc="150" kern="0" dirty="0">
                <a:solidFill>
                  <a:srgbClr val="9A9AA0"/>
                </a:solidFill>
                <a:latin typeface="Arial" pitchFamily="34" charset="0"/>
                <a:ea typeface="Arial" pitchFamily="34" charset="-122"/>
                <a:cs typeface="Arial" pitchFamily="34" charset="-120"/>
              </a:rPr>
              <a:t>WHAT GETS BUILT AS FRICTION FALLS</a:t>
            </a:r>
            <a:endParaRPr lang="en-US" sz="700" dirty="0"/>
          </a:p>
        </p:txBody>
      </p:sp>
      <p:sp>
        <p:nvSpPr>
          <p:cNvPr id="34" name="Shape 31"/>
          <p:cNvSpPr/>
          <p:nvPr/>
        </p:nvSpPr>
        <p:spPr>
          <a:xfrm>
            <a:off x="4736592" y="2249424"/>
            <a:ext cx="73152" cy="73152"/>
          </a:xfrm>
          <a:prstGeom prst="ellipse">
            <a:avLst/>
          </a:prstGeom>
          <a:solidFill>
            <a:srgbClr val="2BC4C4"/>
          </a:solidFill>
          <a:ln/>
        </p:spPr>
      </p:sp>
      <p:sp>
        <p:nvSpPr>
          <p:cNvPr id="35" name="Text 32"/>
          <p:cNvSpPr/>
          <p:nvPr/>
        </p:nvSpPr>
        <p:spPr>
          <a:xfrm>
            <a:off x="4882896" y="2157984"/>
            <a:ext cx="2286000" cy="237744"/>
          </a:xfrm>
          <a:prstGeom prst="rect">
            <a:avLst/>
          </a:prstGeom>
          <a:noFill/>
          <a:ln/>
        </p:spPr>
        <p:txBody>
          <a:bodyPr wrap="square" lIns="0" tIns="0" rIns="0" bIns="0" rtlCol="0" anchor="ctr"/>
          <a:lstStyle/>
          <a:p>
            <a:pPr indent="0" marL="0">
              <a:buNone/>
            </a:pPr>
            <a:r>
              <a:rPr lang="en-US" sz="850" dirty="0">
                <a:solidFill>
                  <a:srgbClr val="E8E8EA"/>
                </a:solidFill>
                <a:latin typeface="Arial" pitchFamily="34" charset="0"/>
                <a:ea typeface="Arial" pitchFamily="34" charset="-122"/>
                <a:cs typeface="Arial" pitchFamily="34" charset="-120"/>
              </a:rPr>
              <a:t>Internal PDF summaries</a:t>
            </a:r>
            <a:endParaRPr lang="en-US" sz="850" dirty="0"/>
          </a:p>
        </p:txBody>
      </p:sp>
      <p:sp>
        <p:nvSpPr>
          <p:cNvPr id="36" name="Shape 33"/>
          <p:cNvSpPr/>
          <p:nvPr/>
        </p:nvSpPr>
        <p:spPr>
          <a:xfrm>
            <a:off x="4736592" y="2496312"/>
            <a:ext cx="73152" cy="73152"/>
          </a:xfrm>
          <a:prstGeom prst="ellipse">
            <a:avLst/>
          </a:prstGeom>
          <a:solidFill>
            <a:srgbClr val="2BC4C4"/>
          </a:solidFill>
          <a:ln/>
        </p:spPr>
      </p:sp>
      <p:sp>
        <p:nvSpPr>
          <p:cNvPr id="37" name="Text 34"/>
          <p:cNvSpPr/>
          <p:nvPr/>
        </p:nvSpPr>
        <p:spPr>
          <a:xfrm>
            <a:off x="4882896" y="2404872"/>
            <a:ext cx="2286000" cy="237744"/>
          </a:xfrm>
          <a:prstGeom prst="rect">
            <a:avLst/>
          </a:prstGeom>
          <a:noFill/>
          <a:ln/>
        </p:spPr>
        <p:txBody>
          <a:bodyPr wrap="square" lIns="0" tIns="0" rIns="0" bIns="0" rtlCol="0" anchor="ctr"/>
          <a:lstStyle/>
          <a:p>
            <a:pPr indent="0" marL="0">
              <a:buNone/>
            </a:pPr>
            <a:r>
              <a:rPr lang="en-US" sz="850" dirty="0">
                <a:solidFill>
                  <a:srgbClr val="E8E8EA"/>
                </a:solidFill>
                <a:latin typeface="Arial" pitchFamily="34" charset="0"/>
                <a:ea typeface="Arial" pitchFamily="34" charset="-122"/>
                <a:cs typeface="Arial" pitchFamily="34" charset="-120"/>
              </a:rPr>
              <a:t>Custom dashboards</a:t>
            </a:r>
            <a:endParaRPr lang="en-US" sz="850" dirty="0"/>
          </a:p>
        </p:txBody>
      </p:sp>
      <p:sp>
        <p:nvSpPr>
          <p:cNvPr id="38" name="Shape 35"/>
          <p:cNvSpPr/>
          <p:nvPr/>
        </p:nvSpPr>
        <p:spPr>
          <a:xfrm>
            <a:off x="4736592" y="2743200"/>
            <a:ext cx="73152" cy="73152"/>
          </a:xfrm>
          <a:prstGeom prst="ellipse">
            <a:avLst/>
          </a:prstGeom>
          <a:solidFill>
            <a:srgbClr val="2BC4C4"/>
          </a:solidFill>
          <a:ln/>
        </p:spPr>
      </p:sp>
      <p:sp>
        <p:nvSpPr>
          <p:cNvPr id="39" name="Text 36"/>
          <p:cNvSpPr/>
          <p:nvPr/>
        </p:nvSpPr>
        <p:spPr>
          <a:xfrm>
            <a:off x="4882896" y="2651760"/>
            <a:ext cx="2286000" cy="237744"/>
          </a:xfrm>
          <a:prstGeom prst="rect">
            <a:avLst/>
          </a:prstGeom>
          <a:noFill/>
          <a:ln/>
        </p:spPr>
        <p:txBody>
          <a:bodyPr wrap="square" lIns="0" tIns="0" rIns="0" bIns="0" rtlCol="0" anchor="ctr"/>
          <a:lstStyle/>
          <a:p>
            <a:pPr indent="0" marL="0">
              <a:buNone/>
            </a:pPr>
            <a:r>
              <a:rPr lang="en-US" sz="850" dirty="0">
                <a:solidFill>
                  <a:srgbClr val="E8E8EA"/>
                </a:solidFill>
                <a:latin typeface="Arial" pitchFamily="34" charset="0"/>
                <a:ea typeface="Arial" pitchFamily="34" charset="-122"/>
                <a:cs typeface="Arial" pitchFamily="34" charset="-120"/>
              </a:rPr>
              <a:t>Disposable web apps</a:t>
            </a:r>
            <a:endParaRPr lang="en-US" sz="850" dirty="0"/>
          </a:p>
        </p:txBody>
      </p:sp>
      <p:sp>
        <p:nvSpPr>
          <p:cNvPr id="40" name="Shape 37"/>
          <p:cNvSpPr/>
          <p:nvPr/>
        </p:nvSpPr>
        <p:spPr>
          <a:xfrm>
            <a:off x="4736592" y="2990088"/>
            <a:ext cx="73152" cy="73152"/>
          </a:xfrm>
          <a:prstGeom prst="ellipse">
            <a:avLst/>
          </a:prstGeom>
          <a:solidFill>
            <a:srgbClr val="2BC4C4"/>
          </a:solidFill>
          <a:ln/>
        </p:spPr>
      </p:sp>
      <p:sp>
        <p:nvSpPr>
          <p:cNvPr id="41" name="Text 38"/>
          <p:cNvSpPr/>
          <p:nvPr/>
        </p:nvSpPr>
        <p:spPr>
          <a:xfrm>
            <a:off x="4882896" y="2898648"/>
            <a:ext cx="2286000" cy="237744"/>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Giant research projects</a:t>
            </a:r>
            <a:endParaRPr lang="en-US" sz="850" dirty="0"/>
          </a:p>
        </p:txBody>
      </p:sp>
      <p:sp>
        <p:nvSpPr>
          <p:cNvPr id="42" name="Text 39"/>
          <p:cNvSpPr/>
          <p:nvPr/>
        </p:nvSpPr>
        <p:spPr>
          <a:xfrm>
            <a:off x="4526280" y="3986784"/>
            <a:ext cx="4160520" cy="182880"/>
          </a:xfrm>
          <a:prstGeom prst="rect">
            <a:avLst/>
          </a:prstGeom>
          <a:noFill/>
          <a:ln/>
        </p:spPr>
        <p:txBody>
          <a:bodyPr wrap="square" lIns="0" tIns="0" rIns="0" bIns="0" rtlCol="0" anchor="ctr"/>
          <a:lstStyle/>
          <a:p>
            <a:pPr algn="ctr" indent="0" marL="0">
              <a:buNone/>
            </a:pPr>
            <a:r>
              <a:rPr lang="en-US" sz="750" b="1" spc="200" kern="0" dirty="0">
                <a:solidFill>
                  <a:srgbClr val="9A9AA0"/>
                </a:solidFill>
                <a:latin typeface="Arial" pitchFamily="34" charset="0"/>
                <a:ea typeface="Arial" pitchFamily="34" charset="-122"/>
                <a:cs typeface="Arial" pitchFamily="34" charset="-120"/>
              </a:rPr>
              <a:t>EASE OF CREATION  →</a:t>
            </a:r>
            <a:endParaRPr lang="en-US" sz="750" dirty="0"/>
          </a:p>
        </p:txBody>
      </p:sp>
      <p:sp>
        <p:nvSpPr>
          <p:cNvPr id="43" name="Text 40"/>
          <p:cNvSpPr/>
          <p:nvPr/>
        </p:nvSpPr>
        <p:spPr>
          <a:xfrm>
            <a:off x="457200" y="4334256"/>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Internal strategic review, “The 2026 AI Frontier” (Jun 2026) — Cherny/Steinberger loops framing, Karpathy commentary, Codex “disposable software.” Jevons curve illustrative, not measured data.</a:t>
            </a:r>
            <a:endParaRPr lang="en-US" sz="700" dirty="0"/>
          </a:p>
        </p:txBody>
      </p:sp>
      <p:sp>
        <p:nvSpPr>
          <p:cNvPr id="44" name="Shape 41"/>
          <p:cNvSpPr/>
          <p:nvPr/>
        </p:nvSpPr>
        <p:spPr>
          <a:xfrm>
            <a:off x="0" y="4526280"/>
            <a:ext cx="9144000" cy="617220"/>
          </a:xfrm>
          <a:prstGeom prst="rect">
            <a:avLst/>
          </a:prstGeom>
          <a:solidFill>
            <a:srgbClr val="000000"/>
          </a:solidFill>
          <a:ln/>
        </p:spPr>
      </p:sp>
      <p:sp>
        <p:nvSpPr>
          <p:cNvPr id="45" name="Shape 42"/>
          <p:cNvSpPr/>
          <p:nvPr/>
        </p:nvSpPr>
        <p:spPr>
          <a:xfrm>
            <a:off x="0" y="4526280"/>
            <a:ext cx="9144000" cy="0"/>
          </a:xfrm>
          <a:prstGeom prst="line">
            <a:avLst/>
          </a:prstGeom>
          <a:noFill/>
          <a:ln w="6350">
            <a:solidFill>
              <a:srgbClr val="2A2A30"/>
            </a:solidFill>
            <a:prstDash val="solid"/>
          </a:ln>
        </p:spPr>
      </p:sp>
      <p:sp>
        <p:nvSpPr>
          <p:cNvPr id="46" name="Text 43"/>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47" name="Text 44"/>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F6693D"/>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F6693D"/>
                </a:solidFill>
                <a:latin typeface="Arial" pitchFamily="34" charset="0"/>
                <a:ea typeface="Arial" pitchFamily="34" charset="-122"/>
                <a:cs typeface="Arial" pitchFamily="34" charset="-120"/>
              </a:rPr>
              <a:t>01  ·  WHAT’S HAPPENING  —  TOKEN RATIONING</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Tokens got a budget line</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Major firms are abandoning unlimited access and writing token budgets — rationing is what demand looks like when the input is scarce.</a:t>
            </a:r>
            <a:endParaRPr lang="en-US" sz="1250" dirty="0"/>
          </a:p>
        </p:txBody>
      </p:sp>
      <p:sp>
        <p:nvSpPr>
          <p:cNvPr id="6" name="Shape 4"/>
          <p:cNvSpPr/>
          <p:nvPr/>
        </p:nvSpPr>
        <p:spPr>
          <a:xfrm>
            <a:off x="457200" y="1517904"/>
            <a:ext cx="5394960" cy="822960"/>
          </a:xfrm>
          <a:prstGeom prst="rect">
            <a:avLst/>
          </a:prstGeom>
          <a:solidFill>
            <a:srgbClr val="1C1C20"/>
          </a:solidFill>
          <a:ln/>
        </p:spPr>
      </p:sp>
      <p:sp>
        <p:nvSpPr>
          <p:cNvPr id="7" name="Shape 5"/>
          <p:cNvSpPr/>
          <p:nvPr/>
        </p:nvSpPr>
        <p:spPr>
          <a:xfrm>
            <a:off x="457200" y="1517904"/>
            <a:ext cx="64008" cy="822960"/>
          </a:xfrm>
          <a:prstGeom prst="rect">
            <a:avLst/>
          </a:prstGeom>
          <a:solidFill>
            <a:srgbClr val="2BC4C4"/>
          </a:solidFill>
          <a:ln/>
        </p:spPr>
      </p:sp>
      <p:sp>
        <p:nvSpPr>
          <p:cNvPr id="8" name="Text 6"/>
          <p:cNvSpPr/>
          <p:nvPr/>
        </p:nvSpPr>
        <p:spPr>
          <a:xfrm>
            <a:off x="621792" y="1591056"/>
            <a:ext cx="5120640" cy="182880"/>
          </a:xfrm>
          <a:prstGeom prst="rect">
            <a:avLst/>
          </a:prstGeom>
          <a:noFill/>
          <a:ln/>
        </p:spPr>
        <p:txBody>
          <a:bodyPr wrap="square" lIns="0" tIns="0" rIns="0" bIns="0" rtlCol="0" anchor="ctr"/>
          <a:lstStyle/>
          <a:p>
            <a:pPr indent="0" marL="0">
              <a:buNone/>
            </a:pPr>
            <a:r>
              <a:rPr lang="en-US" sz="750" b="1" spc="200" kern="0" dirty="0">
                <a:solidFill>
                  <a:srgbClr val="2BC4C4"/>
                </a:solidFill>
                <a:latin typeface="Arial" pitchFamily="34" charset="0"/>
                <a:ea typeface="Arial" pitchFamily="34" charset="-122"/>
                <a:cs typeface="Arial" pitchFamily="34" charset="-120"/>
              </a:rPr>
              <a:t>UBER</a:t>
            </a:r>
            <a:endParaRPr lang="en-US" sz="750" dirty="0"/>
          </a:p>
        </p:txBody>
      </p:sp>
      <p:sp>
        <p:nvSpPr>
          <p:cNvPr id="9" name="Text 7"/>
          <p:cNvSpPr/>
          <p:nvPr/>
        </p:nvSpPr>
        <p:spPr>
          <a:xfrm>
            <a:off x="621792" y="1792224"/>
            <a:ext cx="5065776" cy="457200"/>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Agents got a budget line.  </a:t>
            </a:r>
            <a:pPr indent="0" marL="0">
              <a:buNone/>
            </a:pPr>
            <a:r>
              <a:rPr lang="en-US" sz="900" dirty="0">
                <a:solidFill>
                  <a:srgbClr val="C9C9CE"/>
                </a:solidFill>
                <a:latin typeface="Arial" pitchFamily="34" charset="0"/>
                <a:ea typeface="Arial" pitchFamily="34" charset="-122"/>
                <a:cs typeface="Arial" pitchFamily="34" charset="-120"/>
              </a:rPr>
              <a:t>A hard $1,500/month token cap per employee replaced unlimited access — “eye-watering” agentic costs became a managed line item, not an experiment.</a:t>
            </a:r>
            <a:endParaRPr lang="en-US" sz="1050" dirty="0"/>
          </a:p>
        </p:txBody>
      </p:sp>
      <p:sp>
        <p:nvSpPr>
          <p:cNvPr id="10" name="Shape 8"/>
          <p:cNvSpPr/>
          <p:nvPr/>
        </p:nvSpPr>
        <p:spPr>
          <a:xfrm>
            <a:off x="457200" y="2414016"/>
            <a:ext cx="5394960" cy="822960"/>
          </a:xfrm>
          <a:prstGeom prst="rect">
            <a:avLst/>
          </a:prstGeom>
          <a:solidFill>
            <a:srgbClr val="1C1C20"/>
          </a:solidFill>
          <a:ln/>
        </p:spPr>
      </p:sp>
      <p:sp>
        <p:nvSpPr>
          <p:cNvPr id="11" name="Shape 9"/>
          <p:cNvSpPr/>
          <p:nvPr/>
        </p:nvSpPr>
        <p:spPr>
          <a:xfrm>
            <a:off x="457200" y="2414016"/>
            <a:ext cx="64008" cy="822960"/>
          </a:xfrm>
          <a:prstGeom prst="rect">
            <a:avLst/>
          </a:prstGeom>
          <a:solidFill>
            <a:srgbClr val="F6693D"/>
          </a:solidFill>
          <a:ln/>
        </p:spPr>
      </p:sp>
      <p:sp>
        <p:nvSpPr>
          <p:cNvPr id="12" name="Text 10"/>
          <p:cNvSpPr/>
          <p:nvPr/>
        </p:nvSpPr>
        <p:spPr>
          <a:xfrm>
            <a:off x="621792" y="2487168"/>
            <a:ext cx="5120640" cy="182880"/>
          </a:xfrm>
          <a:prstGeom prst="rect">
            <a:avLst/>
          </a:prstGeom>
          <a:noFill/>
          <a:ln/>
        </p:spPr>
        <p:txBody>
          <a:bodyPr wrap="square" lIns="0" tIns="0" rIns="0" bIns="0" rtlCol="0" anchor="ctr"/>
          <a:lstStyle/>
          <a:p>
            <a:pPr indent="0" marL="0">
              <a:buNone/>
            </a:pPr>
            <a:r>
              <a:rPr lang="en-US" sz="750" b="1" spc="200" kern="0" dirty="0">
                <a:solidFill>
                  <a:srgbClr val="F6693D"/>
                </a:solidFill>
                <a:latin typeface="Arial" pitchFamily="34" charset="0"/>
                <a:ea typeface="Arial" pitchFamily="34" charset="-122"/>
                <a:cs typeface="Arial" pitchFamily="34" charset="-120"/>
              </a:rPr>
              <a:t>WALMART</a:t>
            </a:r>
            <a:endParaRPr lang="en-US" sz="750" dirty="0"/>
          </a:p>
        </p:txBody>
      </p:sp>
      <p:sp>
        <p:nvSpPr>
          <p:cNvPr id="13" name="Text 11"/>
          <p:cNvSpPr/>
          <p:nvPr/>
        </p:nvSpPr>
        <p:spPr>
          <a:xfrm>
            <a:off x="621792" y="2688336"/>
            <a:ext cx="5065776" cy="457200"/>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Unlimited access is over.  </a:t>
            </a:r>
            <a:pPr indent="0" marL="0">
              <a:buNone/>
            </a:pPr>
            <a:r>
              <a:rPr lang="en-US" sz="900" dirty="0">
                <a:solidFill>
                  <a:srgbClr val="C9C9CE"/>
                </a:solidFill>
                <a:latin typeface="Arial" pitchFamily="34" charset="0"/>
                <a:ea typeface="Arial" pitchFamily="34" charset="-122"/>
                <a:cs typeface="Arial" pitchFamily="34" charset="-120"/>
              </a:rPr>
              <a:t>“Code Puppy,” its agentic dev tool, moved from unlimited tokens to individual budgets plus efficiency training — absorbing the cost of the agentic shift.</a:t>
            </a:r>
            <a:endParaRPr lang="en-US" sz="1050" dirty="0"/>
          </a:p>
        </p:txBody>
      </p:sp>
      <p:sp>
        <p:nvSpPr>
          <p:cNvPr id="14" name="Shape 12"/>
          <p:cNvSpPr/>
          <p:nvPr/>
        </p:nvSpPr>
        <p:spPr>
          <a:xfrm>
            <a:off x="457200" y="3310128"/>
            <a:ext cx="5394960" cy="822960"/>
          </a:xfrm>
          <a:prstGeom prst="rect">
            <a:avLst/>
          </a:prstGeom>
          <a:solidFill>
            <a:srgbClr val="1C1C20"/>
          </a:solidFill>
          <a:ln/>
        </p:spPr>
      </p:sp>
      <p:sp>
        <p:nvSpPr>
          <p:cNvPr id="15" name="Shape 13"/>
          <p:cNvSpPr/>
          <p:nvPr/>
        </p:nvSpPr>
        <p:spPr>
          <a:xfrm>
            <a:off x="457200" y="3310128"/>
            <a:ext cx="64008" cy="822960"/>
          </a:xfrm>
          <a:prstGeom prst="rect">
            <a:avLst/>
          </a:prstGeom>
          <a:solidFill>
            <a:srgbClr val="FFB800"/>
          </a:solidFill>
          <a:ln/>
        </p:spPr>
      </p:sp>
      <p:sp>
        <p:nvSpPr>
          <p:cNvPr id="16" name="Text 14"/>
          <p:cNvSpPr/>
          <p:nvPr/>
        </p:nvSpPr>
        <p:spPr>
          <a:xfrm>
            <a:off x="621792" y="3383280"/>
            <a:ext cx="5120640" cy="182880"/>
          </a:xfrm>
          <a:prstGeom prst="rect">
            <a:avLst/>
          </a:prstGeom>
          <a:noFill/>
          <a:ln/>
        </p:spPr>
        <p:txBody>
          <a:bodyPr wrap="square" lIns="0" tIns="0" rIns="0" bIns="0" rtlCol="0" anchor="ctr"/>
          <a:lstStyle/>
          <a:p>
            <a:pPr indent="0" marL="0">
              <a:buNone/>
            </a:pPr>
            <a:r>
              <a:rPr lang="en-US" sz="750" b="1" spc="200" kern="0" dirty="0">
                <a:solidFill>
                  <a:srgbClr val="FFB800"/>
                </a:solidFill>
                <a:latin typeface="Arial" pitchFamily="34" charset="0"/>
                <a:ea typeface="Arial" pitchFamily="34" charset="-122"/>
                <a:cs typeface="Arial" pitchFamily="34" charset="-120"/>
              </a:rPr>
              <a:t>THE CRUNCH BEHIND IT</a:t>
            </a:r>
            <a:endParaRPr lang="en-US" sz="750" dirty="0"/>
          </a:p>
        </p:txBody>
      </p:sp>
      <p:sp>
        <p:nvSpPr>
          <p:cNvPr id="17" name="Text 15"/>
          <p:cNvSpPr/>
          <p:nvPr/>
        </p:nvSpPr>
        <p:spPr>
          <a:xfrm>
            <a:off x="621792" y="3584448"/>
            <a:ext cx="5065776" cy="457200"/>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Scarcity is structural — and priced.  </a:t>
            </a:r>
            <a:pPr indent="0" marL="0">
              <a:buNone/>
            </a:pPr>
            <a:r>
              <a:rPr lang="en-US" sz="900" dirty="0">
                <a:solidFill>
                  <a:srgbClr val="C9C9CE"/>
                </a:solidFill>
                <a:latin typeface="Arial" pitchFamily="34" charset="0"/>
                <a:ea typeface="Arial" pitchFamily="34" charset="-122"/>
                <a:cs typeface="Arial" pitchFamily="34" charset="-120"/>
              </a:rPr>
              <a:t>SK Hynix is doubling HBM capacity and still sees no relief before ~2030; Google rents 110k Nvidia GPUs from SpaceX at $920M/month while its own silicon catches up.</a:t>
            </a:r>
            <a:endParaRPr lang="en-US" sz="1050" dirty="0"/>
          </a:p>
        </p:txBody>
      </p:sp>
      <p:sp>
        <p:nvSpPr>
          <p:cNvPr id="18" name="Shape 16"/>
          <p:cNvSpPr/>
          <p:nvPr/>
        </p:nvSpPr>
        <p:spPr>
          <a:xfrm>
            <a:off x="6080760" y="1517904"/>
            <a:ext cx="2606040" cy="1280160"/>
          </a:xfrm>
          <a:prstGeom prst="rect">
            <a:avLst/>
          </a:prstGeom>
          <a:solidFill>
            <a:srgbClr val="1E1E24"/>
          </a:solidFill>
          <a:ln w="12700">
            <a:solidFill>
              <a:srgbClr val="2A2A30"/>
            </a:solidFill>
            <a:prstDash val="dash"/>
          </a:ln>
        </p:spPr>
      </p:sp>
      <p:sp>
        <p:nvSpPr>
          <p:cNvPr id="19" name="Shape 17"/>
          <p:cNvSpPr/>
          <p:nvPr/>
        </p:nvSpPr>
        <p:spPr>
          <a:xfrm>
            <a:off x="6080760" y="1517904"/>
            <a:ext cx="274320" cy="32004"/>
          </a:xfrm>
          <a:prstGeom prst="rect">
            <a:avLst/>
          </a:prstGeom>
          <a:solidFill>
            <a:srgbClr val="FFB800"/>
          </a:solidFill>
          <a:ln/>
        </p:spPr>
      </p:sp>
      <p:sp>
        <p:nvSpPr>
          <p:cNvPr id="20" name="Shape 18"/>
          <p:cNvSpPr/>
          <p:nvPr/>
        </p:nvSpPr>
        <p:spPr>
          <a:xfrm>
            <a:off x="6080760" y="1517904"/>
            <a:ext cx="32004" cy="274320"/>
          </a:xfrm>
          <a:prstGeom prst="rect">
            <a:avLst/>
          </a:prstGeom>
          <a:solidFill>
            <a:srgbClr val="FFB800"/>
          </a:solidFill>
          <a:ln/>
        </p:spPr>
      </p:sp>
      <p:sp>
        <p:nvSpPr>
          <p:cNvPr id="21" name="Shape 19"/>
          <p:cNvSpPr/>
          <p:nvPr/>
        </p:nvSpPr>
        <p:spPr>
          <a:xfrm>
            <a:off x="8412480" y="2766060"/>
            <a:ext cx="274320" cy="32004"/>
          </a:xfrm>
          <a:prstGeom prst="rect">
            <a:avLst/>
          </a:prstGeom>
          <a:solidFill>
            <a:srgbClr val="FFB800"/>
          </a:solidFill>
          <a:ln/>
        </p:spPr>
      </p:sp>
      <p:sp>
        <p:nvSpPr>
          <p:cNvPr id="22" name="Shape 20"/>
          <p:cNvSpPr/>
          <p:nvPr/>
        </p:nvSpPr>
        <p:spPr>
          <a:xfrm>
            <a:off x="8654796" y="2523744"/>
            <a:ext cx="32004" cy="274320"/>
          </a:xfrm>
          <a:prstGeom prst="rect">
            <a:avLst/>
          </a:prstGeom>
          <a:solidFill>
            <a:srgbClr val="FFB800"/>
          </a:solidFill>
          <a:ln/>
        </p:spPr>
      </p:sp>
      <p:sp>
        <p:nvSpPr>
          <p:cNvPr id="23" name="Shape 21"/>
          <p:cNvSpPr/>
          <p:nvPr/>
        </p:nvSpPr>
        <p:spPr>
          <a:xfrm>
            <a:off x="7063740" y="1719072"/>
            <a:ext cx="640080" cy="347472"/>
          </a:xfrm>
          <a:prstGeom prst="triangle">
            <a:avLst/>
          </a:prstGeom>
          <a:ln w="19050">
            <a:solidFill>
              <a:srgbClr val="9A9AA0"/>
            </a:solidFill>
            <a:prstDash val="solid"/>
          </a:ln>
        </p:spPr>
      </p:sp>
      <p:sp>
        <p:nvSpPr>
          <p:cNvPr id="24" name="Shape 22"/>
          <p:cNvSpPr/>
          <p:nvPr/>
        </p:nvSpPr>
        <p:spPr>
          <a:xfrm>
            <a:off x="7511796" y="1591056"/>
            <a:ext cx="146304" cy="146304"/>
          </a:xfrm>
          <a:prstGeom prst="ellipse">
            <a:avLst/>
          </a:prstGeom>
          <a:ln w="19050">
            <a:solidFill>
              <a:srgbClr val="9A9AA0"/>
            </a:solidFill>
            <a:prstDash val="solid"/>
          </a:ln>
        </p:spPr>
      </p:sp>
      <p:sp>
        <p:nvSpPr>
          <p:cNvPr id="25" name="Text 23"/>
          <p:cNvSpPr/>
          <p:nvPr/>
        </p:nvSpPr>
        <p:spPr>
          <a:xfrm>
            <a:off x="6172200" y="2176272"/>
            <a:ext cx="2423160" cy="219456"/>
          </a:xfrm>
          <a:prstGeom prst="rect">
            <a:avLst/>
          </a:prstGeom>
          <a:noFill/>
          <a:ln/>
        </p:spPr>
        <p:txBody>
          <a:bodyPr wrap="square" lIns="0" tIns="0" rIns="0" bIns="0" rtlCol="0" anchor="ctr"/>
          <a:lstStyle/>
          <a:p>
            <a:pPr algn="ctr" indent="0" marL="0">
              <a:buNone/>
            </a:pPr>
            <a:r>
              <a:rPr lang="en-US" sz="800" b="1" spc="200" kern="0" dirty="0">
                <a:solidFill>
                  <a:srgbClr val="FFB800"/>
                </a:solidFill>
                <a:latin typeface="Arial" pitchFamily="34" charset="0"/>
                <a:ea typeface="Arial" pitchFamily="34" charset="-122"/>
                <a:cs typeface="Arial" pitchFamily="34" charset="-120"/>
              </a:rPr>
              <a:t>IMAGE — TOKEN METER</a:t>
            </a:r>
            <a:endParaRPr lang="en-US" sz="800" dirty="0"/>
          </a:p>
        </p:txBody>
      </p:sp>
      <p:sp>
        <p:nvSpPr>
          <p:cNvPr id="26" name="Text 24"/>
          <p:cNvSpPr/>
          <p:nvPr/>
        </p:nvSpPr>
        <p:spPr>
          <a:xfrm>
            <a:off x="6263640" y="2432304"/>
            <a:ext cx="2240280" cy="594360"/>
          </a:xfrm>
          <a:prstGeom prst="rect">
            <a:avLst/>
          </a:prstGeom>
          <a:noFill/>
          <a:ln/>
        </p:spPr>
        <p:txBody>
          <a:bodyPr wrap="square" lIns="0" tIns="0" rIns="0" bIns="0" rtlCol="0" anchor="t"/>
          <a:lstStyle/>
          <a:p>
            <a:pPr algn="ctr" indent="0" marL="0">
              <a:buNone/>
            </a:pPr>
            <a:r>
              <a:rPr lang="en-US" sz="700" i="1" dirty="0">
                <a:solidFill>
                  <a:srgbClr val="9A9AA0"/>
                </a:solidFill>
                <a:latin typeface="Arial" pitchFamily="34" charset="0"/>
                <a:ea typeface="Arial" pitchFamily="34" charset="-122"/>
                <a:cs typeface="Arial" pitchFamily="34" charset="-120"/>
              </a:rPr>
              <a:t>Industrial utility meter for the AI era — glowing gold digits, a stream of tokens flowing in, dark brushed metal.</a:t>
            </a:r>
            <a:endParaRPr lang="en-US" sz="700" dirty="0"/>
          </a:p>
        </p:txBody>
      </p:sp>
      <p:sp>
        <p:nvSpPr>
          <p:cNvPr id="27" name="Shape 25"/>
          <p:cNvSpPr/>
          <p:nvPr/>
        </p:nvSpPr>
        <p:spPr>
          <a:xfrm>
            <a:off x="6080760" y="2889504"/>
            <a:ext cx="2606040" cy="1243584"/>
          </a:xfrm>
          <a:prstGeom prst="rect">
            <a:avLst/>
          </a:prstGeom>
          <a:solidFill>
            <a:srgbClr val="1C1C20"/>
          </a:solidFill>
          <a:ln w="9525">
            <a:solidFill>
              <a:srgbClr val="2A2A30"/>
            </a:solidFill>
            <a:prstDash val="solid"/>
          </a:ln>
        </p:spPr>
      </p:sp>
      <p:sp>
        <p:nvSpPr>
          <p:cNvPr id="28" name="Text 26"/>
          <p:cNvSpPr/>
          <p:nvPr/>
        </p:nvSpPr>
        <p:spPr>
          <a:xfrm>
            <a:off x="6217920" y="2980944"/>
            <a:ext cx="2331720" cy="228600"/>
          </a:xfrm>
          <a:prstGeom prst="rect">
            <a:avLst/>
          </a:prstGeom>
          <a:noFill/>
          <a:ln/>
        </p:spPr>
        <p:txBody>
          <a:bodyPr wrap="square" lIns="0" tIns="0" rIns="0" bIns="0" rtlCol="0" anchor="ctr"/>
          <a:lstStyle/>
          <a:p>
            <a:pPr indent="0" marL="0">
              <a:buNone/>
            </a:pPr>
            <a:r>
              <a:rPr lang="en-US" sz="900" b="1" spc="200" kern="0" dirty="0">
                <a:solidFill>
                  <a:srgbClr val="FFB800"/>
                </a:solidFill>
                <a:latin typeface="Arial" pitchFamily="34" charset="0"/>
                <a:ea typeface="Arial" pitchFamily="34" charset="-122"/>
                <a:cs typeface="Arial" pitchFamily="34" charset="-120"/>
              </a:rPr>
              <a:t>READ</a:t>
            </a:r>
            <a:endParaRPr lang="en-US" sz="900" dirty="0"/>
          </a:p>
        </p:txBody>
      </p:sp>
      <p:sp>
        <p:nvSpPr>
          <p:cNvPr id="29" name="Text 27"/>
          <p:cNvSpPr/>
          <p:nvPr/>
        </p:nvSpPr>
        <p:spPr>
          <a:xfrm>
            <a:off x="6217920" y="3255264"/>
            <a:ext cx="2331720" cy="786384"/>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Token caps are demand evidence, not retreat.</a:t>
            </a:r>
            <a:endParaRPr lang="en-US" sz="1000" dirty="0"/>
          </a:p>
          <a:p>
            <a:pPr indent="0" marL="0">
              <a:buNone/>
            </a:pPr>
            <a:endParaRPr lang="en-US" sz="1000" dirty="0"/>
          </a:p>
          <a:p>
            <a:pPr indent="0" marL="0">
              <a:buNone/>
            </a:pPr>
            <a:r>
              <a:rPr lang="en-US" sz="900" dirty="0">
                <a:solidFill>
                  <a:srgbClr val="C9C9CE"/>
                </a:solidFill>
                <a:latin typeface="Arial" pitchFamily="34" charset="0"/>
                <a:ea typeface="Arial" pitchFamily="34" charset="-122"/>
                <a:cs typeface="Arial" pitchFamily="34" charset="-120"/>
              </a:rPr>
              <a:t>Firms ration what is scarce and valuable. Watch token budgets the way retail analysts watch same-store sales.</a:t>
            </a:r>
            <a:endParaRPr lang="en-US" sz="1000" dirty="0"/>
          </a:p>
        </p:txBody>
      </p:sp>
      <p:sp>
        <p:nvSpPr>
          <p:cNvPr id="30" name="Text 28"/>
          <p:cNvSpPr/>
          <p:nvPr/>
        </p:nvSpPr>
        <p:spPr>
          <a:xfrm>
            <a:off x="457200" y="4224528"/>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Internal strategic review, “The 2026 AI Frontier” (Jun 2026) — Uber and Walmart cost-management cases; SK Hynix HBM outlook; Google/SpaceX GPU rental.</a:t>
            </a:r>
            <a:endParaRPr lang="en-US" sz="700" dirty="0"/>
          </a:p>
        </p:txBody>
      </p:sp>
      <p:sp>
        <p:nvSpPr>
          <p:cNvPr id="31" name="Shape 29"/>
          <p:cNvSpPr/>
          <p:nvPr/>
        </p:nvSpPr>
        <p:spPr>
          <a:xfrm>
            <a:off x="0" y="4526280"/>
            <a:ext cx="9144000" cy="617220"/>
          </a:xfrm>
          <a:prstGeom prst="rect">
            <a:avLst/>
          </a:prstGeom>
          <a:solidFill>
            <a:srgbClr val="000000"/>
          </a:solidFill>
          <a:ln/>
        </p:spPr>
      </p:sp>
      <p:sp>
        <p:nvSpPr>
          <p:cNvPr id="32" name="Shape 30"/>
          <p:cNvSpPr/>
          <p:nvPr/>
        </p:nvSpPr>
        <p:spPr>
          <a:xfrm>
            <a:off x="0" y="4526280"/>
            <a:ext cx="9144000" cy="0"/>
          </a:xfrm>
          <a:prstGeom prst="line">
            <a:avLst/>
          </a:prstGeom>
          <a:noFill/>
          <a:ln w="6350">
            <a:solidFill>
              <a:srgbClr val="2A2A30"/>
            </a:solidFill>
            <a:prstDash val="solid"/>
          </a:ln>
        </p:spPr>
      </p:sp>
      <p:sp>
        <p:nvSpPr>
          <p:cNvPr id="33" name="Text 31"/>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34" name="Text 32"/>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9B7BE0"/>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9B7BE0"/>
                </a:solidFill>
                <a:latin typeface="Arial" pitchFamily="34" charset="0"/>
                <a:ea typeface="Arial" pitchFamily="34" charset="-122"/>
                <a:cs typeface="Arial" pitchFamily="34" charset="-120"/>
              </a:rPr>
              <a:t>01  ·  WHAT’S HAPPENING  —  POLICY</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Washington wants a stake</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Trump, Bannon, and Sanders converge on oversight and public participation in the AI upside — ownership, not regulation, is now the debate.</a:t>
            </a:r>
            <a:endParaRPr lang="en-US" sz="1250" dirty="0"/>
          </a:p>
        </p:txBody>
      </p:sp>
      <p:sp>
        <p:nvSpPr>
          <p:cNvPr id="6" name="Shape 4"/>
          <p:cNvSpPr/>
          <p:nvPr/>
        </p:nvSpPr>
        <p:spPr>
          <a:xfrm>
            <a:off x="457200" y="1463040"/>
            <a:ext cx="5486400" cy="768096"/>
          </a:xfrm>
          <a:prstGeom prst="rect">
            <a:avLst/>
          </a:prstGeom>
          <a:solidFill>
            <a:srgbClr val="1C1C20"/>
          </a:solidFill>
          <a:ln/>
        </p:spPr>
      </p:sp>
      <p:sp>
        <p:nvSpPr>
          <p:cNvPr id="7" name="Shape 5"/>
          <p:cNvSpPr/>
          <p:nvPr/>
        </p:nvSpPr>
        <p:spPr>
          <a:xfrm>
            <a:off x="457200" y="1463040"/>
            <a:ext cx="64008" cy="768096"/>
          </a:xfrm>
          <a:prstGeom prst="rect">
            <a:avLst/>
          </a:prstGeom>
          <a:solidFill>
            <a:srgbClr val="9B7BE0"/>
          </a:solidFill>
          <a:ln/>
        </p:spPr>
      </p:sp>
      <p:sp>
        <p:nvSpPr>
          <p:cNvPr id="8" name="Text 6"/>
          <p:cNvSpPr/>
          <p:nvPr/>
        </p:nvSpPr>
        <p:spPr>
          <a:xfrm>
            <a:off x="621792" y="1536192"/>
            <a:ext cx="5212080" cy="182880"/>
          </a:xfrm>
          <a:prstGeom prst="rect">
            <a:avLst/>
          </a:prstGeom>
          <a:noFill/>
          <a:ln/>
        </p:spPr>
        <p:txBody>
          <a:bodyPr wrap="square" lIns="0" tIns="0" rIns="0" bIns="0" rtlCol="0" anchor="ctr"/>
          <a:lstStyle/>
          <a:p>
            <a:pPr indent="0" marL="0">
              <a:buNone/>
            </a:pPr>
            <a:r>
              <a:rPr lang="en-US" sz="750" b="1" spc="200" kern="0" dirty="0">
                <a:solidFill>
                  <a:srgbClr val="9B7BE0"/>
                </a:solidFill>
                <a:latin typeface="Arial" pitchFamily="34" charset="0"/>
                <a:ea typeface="Arial" pitchFamily="34" charset="-122"/>
                <a:cs typeface="Arial" pitchFamily="34" charset="-120"/>
              </a:rPr>
              <a:t>THE EXECUTIVE ORDER</a:t>
            </a:r>
            <a:endParaRPr lang="en-US" sz="750" dirty="0"/>
          </a:p>
        </p:txBody>
      </p:sp>
      <p:sp>
        <p:nvSpPr>
          <p:cNvPr id="9" name="Text 7"/>
          <p:cNvSpPr/>
          <p:nvPr/>
        </p:nvSpPr>
        <p:spPr>
          <a:xfrm>
            <a:off x="621792" y="1737360"/>
            <a:ext cx="5157216" cy="402336"/>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A 30-day federal checkpoint.  </a:t>
            </a:r>
            <a:pPr indent="0" marL="0">
              <a:buNone/>
            </a:pPr>
            <a:r>
              <a:rPr lang="en-US" sz="900" dirty="0">
                <a:solidFill>
                  <a:srgbClr val="C9C9CE"/>
                </a:solidFill>
                <a:latin typeface="Arial" pitchFamily="34" charset="0"/>
                <a:ea typeface="Arial" pitchFamily="34" charset="-122"/>
                <a:cs typeface="Arial" pitchFamily="34" charset="-120"/>
              </a:rPr>
              <a:t>Voluntary but high-pressure NSA review — 30 days, down from 90 — before releasing models with a “meaningful step change” in cyber capability. Mandatory licensing expressly forbidden — for now.</a:t>
            </a:r>
            <a:endParaRPr lang="en-US" sz="1050" dirty="0"/>
          </a:p>
        </p:txBody>
      </p:sp>
      <p:sp>
        <p:nvSpPr>
          <p:cNvPr id="10" name="Shape 8"/>
          <p:cNvSpPr/>
          <p:nvPr/>
        </p:nvSpPr>
        <p:spPr>
          <a:xfrm>
            <a:off x="457200" y="2304288"/>
            <a:ext cx="5486400" cy="768096"/>
          </a:xfrm>
          <a:prstGeom prst="rect">
            <a:avLst/>
          </a:prstGeom>
          <a:solidFill>
            <a:srgbClr val="1C1C20"/>
          </a:solidFill>
          <a:ln/>
        </p:spPr>
      </p:sp>
      <p:sp>
        <p:nvSpPr>
          <p:cNvPr id="11" name="Shape 9"/>
          <p:cNvSpPr/>
          <p:nvPr/>
        </p:nvSpPr>
        <p:spPr>
          <a:xfrm>
            <a:off x="457200" y="2304288"/>
            <a:ext cx="64008" cy="768096"/>
          </a:xfrm>
          <a:prstGeom prst="rect">
            <a:avLst/>
          </a:prstGeom>
          <a:solidFill>
            <a:srgbClr val="FFB800"/>
          </a:solidFill>
          <a:ln/>
        </p:spPr>
      </p:sp>
      <p:sp>
        <p:nvSpPr>
          <p:cNvPr id="12" name="Text 10"/>
          <p:cNvSpPr/>
          <p:nvPr/>
        </p:nvSpPr>
        <p:spPr>
          <a:xfrm>
            <a:off x="621792" y="2377440"/>
            <a:ext cx="5212080" cy="182880"/>
          </a:xfrm>
          <a:prstGeom prst="rect">
            <a:avLst/>
          </a:prstGeom>
          <a:noFill/>
          <a:ln/>
        </p:spPr>
        <p:txBody>
          <a:bodyPr wrap="square" lIns="0" tIns="0" rIns="0" bIns="0" rtlCol="0" anchor="ctr"/>
          <a:lstStyle/>
          <a:p>
            <a:pPr indent="0" marL="0">
              <a:buNone/>
            </a:pPr>
            <a:r>
              <a:rPr lang="en-US" sz="750" b="1" spc="200" kern="0" dirty="0">
                <a:solidFill>
                  <a:srgbClr val="FFB800"/>
                </a:solidFill>
                <a:latin typeface="Arial" pitchFamily="34" charset="0"/>
                <a:ea typeface="Arial" pitchFamily="34" charset="-122"/>
                <a:cs typeface="Arial" pitchFamily="34" charset="-120"/>
              </a:rPr>
              <a:t>THE SOVEREIGN WEALTH FUND</a:t>
            </a:r>
            <a:endParaRPr lang="en-US" sz="750" dirty="0"/>
          </a:p>
        </p:txBody>
      </p:sp>
      <p:sp>
        <p:nvSpPr>
          <p:cNvPr id="13" name="Text 11"/>
          <p:cNvSpPr/>
          <p:nvPr/>
        </p:nvSpPr>
        <p:spPr>
          <a:xfrm>
            <a:off x="621792" y="2578608"/>
            <a:ext cx="5157216" cy="402336"/>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A 50% claim on lab equity.  </a:t>
            </a:r>
            <a:pPr indent="0" marL="0">
              <a:buNone/>
            </a:pPr>
            <a:r>
              <a:rPr lang="en-US" sz="900" dirty="0">
                <a:solidFill>
                  <a:srgbClr val="C9C9CE"/>
                </a:solidFill>
                <a:latin typeface="Arial" pitchFamily="34" charset="0"/>
                <a:ea typeface="Arial" pitchFamily="34" charset="-122"/>
                <a:cs typeface="Arial" pitchFamily="34" charset="-120"/>
              </a:rPr>
              <a:t>Sanders’ proposal, echoed by Trump as “a concept of a plan”: a one-time 50% tax on AI-lab equity (not profits) seeds a public fund paying “AI Dividends” to citizens.</a:t>
            </a:r>
            <a:endParaRPr lang="en-US" sz="1050" dirty="0"/>
          </a:p>
        </p:txBody>
      </p:sp>
      <p:sp>
        <p:nvSpPr>
          <p:cNvPr id="14" name="Shape 12"/>
          <p:cNvSpPr/>
          <p:nvPr/>
        </p:nvSpPr>
        <p:spPr>
          <a:xfrm>
            <a:off x="457200" y="3145536"/>
            <a:ext cx="5486400" cy="768096"/>
          </a:xfrm>
          <a:prstGeom prst="rect">
            <a:avLst/>
          </a:prstGeom>
          <a:solidFill>
            <a:srgbClr val="1C1C20"/>
          </a:solidFill>
          <a:ln/>
        </p:spPr>
      </p:sp>
      <p:sp>
        <p:nvSpPr>
          <p:cNvPr id="15" name="Shape 13"/>
          <p:cNvSpPr/>
          <p:nvPr/>
        </p:nvSpPr>
        <p:spPr>
          <a:xfrm>
            <a:off x="457200" y="3145536"/>
            <a:ext cx="64008" cy="768096"/>
          </a:xfrm>
          <a:prstGeom prst="rect">
            <a:avLst/>
          </a:prstGeom>
          <a:solidFill>
            <a:srgbClr val="E5484D"/>
          </a:solidFill>
          <a:ln/>
        </p:spPr>
      </p:sp>
      <p:sp>
        <p:nvSpPr>
          <p:cNvPr id="16" name="Text 14"/>
          <p:cNvSpPr/>
          <p:nvPr/>
        </p:nvSpPr>
        <p:spPr>
          <a:xfrm>
            <a:off x="621792" y="3218688"/>
            <a:ext cx="5212080" cy="182880"/>
          </a:xfrm>
          <a:prstGeom prst="rect">
            <a:avLst/>
          </a:prstGeom>
          <a:noFill/>
          <a:ln/>
        </p:spPr>
        <p:txBody>
          <a:bodyPr wrap="square" lIns="0" tIns="0" rIns="0" bIns="0" rtlCol="0" anchor="ctr"/>
          <a:lstStyle/>
          <a:p>
            <a:pPr indent="0" marL="0">
              <a:buNone/>
            </a:pPr>
            <a:r>
              <a:rPr lang="en-US" sz="750" b="1" spc="200" kern="0" dirty="0">
                <a:solidFill>
                  <a:srgbClr val="E5484D"/>
                </a:solidFill>
                <a:latin typeface="Arial" pitchFamily="34" charset="0"/>
                <a:ea typeface="Arial" pitchFamily="34" charset="-122"/>
                <a:cs typeface="Arial" pitchFamily="34" charset="-120"/>
              </a:rPr>
              <a:t>THE CRITIQUE</a:t>
            </a:r>
            <a:endParaRPr lang="en-US" sz="750" dirty="0"/>
          </a:p>
        </p:txBody>
      </p:sp>
      <p:sp>
        <p:nvSpPr>
          <p:cNvPr id="17" name="Text 15"/>
          <p:cNvSpPr/>
          <p:nvPr/>
        </p:nvSpPr>
        <p:spPr>
          <a:xfrm>
            <a:off x="621792" y="3419856"/>
            <a:ext cx="5157216" cy="402336"/>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“Corporate-government fusion.”  </a:t>
            </a:r>
            <a:pPr indent="0" marL="0">
              <a:buNone/>
            </a:pPr>
            <a:r>
              <a:rPr lang="en-US" sz="900" dirty="0">
                <a:solidFill>
                  <a:srgbClr val="C9C9CE"/>
                </a:solidFill>
                <a:latin typeface="Arial" pitchFamily="34" charset="0"/>
                <a:ea typeface="Arial" pitchFamily="34" charset="-122"/>
                <a:cs typeface="Arial" pitchFamily="34" charset="-120"/>
              </a:rPr>
              <a:t>Sacks: government equity risks a CCP-style social-credit state — and nationalization talk is a “stupidity tax” on the job-apocalypse narrative the labs themselves stoked.</a:t>
            </a:r>
            <a:endParaRPr lang="en-US" sz="1050" dirty="0"/>
          </a:p>
        </p:txBody>
      </p:sp>
      <p:sp>
        <p:nvSpPr>
          <p:cNvPr id="18" name="Shape 16"/>
          <p:cNvSpPr/>
          <p:nvPr/>
        </p:nvSpPr>
        <p:spPr>
          <a:xfrm>
            <a:off x="6080760" y="1463040"/>
            <a:ext cx="2606040" cy="2377440"/>
          </a:xfrm>
          <a:prstGeom prst="rect">
            <a:avLst/>
          </a:prstGeom>
          <a:solidFill>
            <a:srgbClr val="1E1E24"/>
          </a:solidFill>
          <a:ln w="12700">
            <a:solidFill>
              <a:srgbClr val="2A2A30"/>
            </a:solidFill>
            <a:prstDash val="dash"/>
          </a:ln>
        </p:spPr>
      </p:sp>
      <p:sp>
        <p:nvSpPr>
          <p:cNvPr id="19" name="Shape 17"/>
          <p:cNvSpPr/>
          <p:nvPr/>
        </p:nvSpPr>
        <p:spPr>
          <a:xfrm>
            <a:off x="6080760" y="1463040"/>
            <a:ext cx="274320" cy="32004"/>
          </a:xfrm>
          <a:prstGeom prst="rect">
            <a:avLst/>
          </a:prstGeom>
          <a:solidFill>
            <a:srgbClr val="9B7BE0"/>
          </a:solidFill>
          <a:ln/>
        </p:spPr>
      </p:sp>
      <p:sp>
        <p:nvSpPr>
          <p:cNvPr id="20" name="Shape 18"/>
          <p:cNvSpPr/>
          <p:nvPr/>
        </p:nvSpPr>
        <p:spPr>
          <a:xfrm>
            <a:off x="6080760" y="1463040"/>
            <a:ext cx="32004" cy="274320"/>
          </a:xfrm>
          <a:prstGeom prst="rect">
            <a:avLst/>
          </a:prstGeom>
          <a:solidFill>
            <a:srgbClr val="9B7BE0"/>
          </a:solidFill>
          <a:ln/>
        </p:spPr>
      </p:sp>
      <p:sp>
        <p:nvSpPr>
          <p:cNvPr id="21" name="Shape 19"/>
          <p:cNvSpPr/>
          <p:nvPr/>
        </p:nvSpPr>
        <p:spPr>
          <a:xfrm>
            <a:off x="8412480" y="3808476"/>
            <a:ext cx="274320" cy="32004"/>
          </a:xfrm>
          <a:prstGeom prst="rect">
            <a:avLst/>
          </a:prstGeom>
          <a:solidFill>
            <a:srgbClr val="9B7BE0"/>
          </a:solidFill>
          <a:ln/>
        </p:spPr>
      </p:sp>
      <p:sp>
        <p:nvSpPr>
          <p:cNvPr id="22" name="Shape 20"/>
          <p:cNvSpPr/>
          <p:nvPr/>
        </p:nvSpPr>
        <p:spPr>
          <a:xfrm>
            <a:off x="8654796" y="3566160"/>
            <a:ext cx="32004" cy="274320"/>
          </a:xfrm>
          <a:prstGeom prst="rect">
            <a:avLst/>
          </a:prstGeom>
          <a:solidFill>
            <a:srgbClr val="9B7BE0"/>
          </a:solidFill>
          <a:ln/>
        </p:spPr>
      </p:sp>
      <p:sp>
        <p:nvSpPr>
          <p:cNvPr id="23" name="Shape 21"/>
          <p:cNvSpPr/>
          <p:nvPr/>
        </p:nvSpPr>
        <p:spPr>
          <a:xfrm>
            <a:off x="7063740" y="2212848"/>
            <a:ext cx="640080" cy="347472"/>
          </a:xfrm>
          <a:prstGeom prst="triangle">
            <a:avLst/>
          </a:prstGeom>
          <a:ln w="19050">
            <a:solidFill>
              <a:srgbClr val="9A9AA0"/>
            </a:solidFill>
            <a:prstDash val="solid"/>
          </a:ln>
        </p:spPr>
      </p:sp>
      <p:sp>
        <p:nvSpPr>
          <p:cNvPr id="24" name="Shape 22"/>
          <p:cNvSpPr/>
          <p:nvPr/>
        </p:nvSpPr>
        <p:spPr>
          <a:xfrm>
            <a:off x="7511796" y="2084832"/>
            <a:ext cx="146304" cy="146304"/>
          </a:xfrm>
          <a:prstGeom prst="ellipse">
            <a:avLst/>
          </a:prstGeom>
          <a:ln w="19050">
            <a:solidFill>
              <a:srgbClr val="9A9AA0"/>
            </a:solidFill>
            <a:prstDash val="solid"/>
          </a:ln>
        </p:spPr>
      </p:sp>
      <p:sp>
        <p:nvSpPr>
          <p:cNvPr id="25" name="Text 23"/>
          <p:cNvSpPr/>
          <p:nvPr/>
        </p:nvSpPr>
        <p:spPr>
          <a:xfrm>
            <a:off x="6172200" y="2670048"/>
            <a:ext cx="2423160" cy="219456"/>
          </a:xfrm>
          <a:prstGeom prst="rect">
            <a:avLst/>
          </a:prstGeom>
          <a:noFill/>
          <a:ln/>
        </p:spPr>
        <p:txBody>
          <a:bodyPr wrap="square" lIns="0" tIns="0" rIns="0" bIns="0" rtlCol="0" anchor="ctr"/>
          <a:lstStyle/>
          <a:p>
            <a:pPr algn="ctr" indent="0" marL="0">
              <a:buNone/>
            </a:pPr>
            <a:r>
              <a:rPr lang="en-US" sz="800" b="1" spc="200" kern="0" dirty="0">
                <a:solidFill>
                  <a:srgbClr val="9B7BE0"/>
                </a:solidFill>
                <a:latin typeface="Arial" pitchFamily="34" charset="0"/>
                <a:ea typeface="Arial" pitchFamily="34" charset="-122"/>
                <a:cs typeface="Arial" pitchFamily="34" charset="-120"/>
              </a:rPr>
              <a:t>IMAGE — CAPITOL IN DARK GLASS</a:t>
            </a:r>
            <a:endParaRPr lang="en-US" sz="800" dirty="0"/>
          </a:p>
        </p:txBody>
      </p:sp>
      <p:sp>
        <p:nvSpPr>
          <p:cNvPr id="26" name="Text 24"/>
          <p:cNvSpPr/>
          <p:nvPr/>
        </p:nvSpPr>
        <p:spPr>
          <a:xfrm>
            <a:off x="6263640" y="2926080"/>
            <a:ext cx="2240280" cy="594360"/>
          </a:xfrm>
          <a:prstGeom prst="rect">
            <a:avLst/>
          </a:prstGeom>
          <a:noFill/>
          <a:ln/>
        </p:spPr>
        <p:txBody>
          <a:bodyPr wrap="square" lIns="0" tIns="0" rIns="0" bIns="0" rtlCol="0" anchor="t"/>
          <a:lstStyle/>
          <a:p>
            <a:pPr algn="ctr" indent="0" marL="0">
              <a:buNone/>
            </a:pPr>
            <a:r>
              <a:rPr lang="en-US" sz="700" i="1" dirty="0">
                <a:solidFill>
                  <a:srgbClr val="9A9AA0"/>
                </a:solidFill>
                <a:latin typeface="Arial" pitchFamily="34" charset="0"/>
                <a:ea typeface="Arial" pitchFamily="34" charset="-122"/>
                <a:cs typeface="Arial" pitchFamily="34" charset="-120"/>
              </a:rPr>
              <a:t>Neoclassical government dome rendered in dark glass, faint purple circuit patterns glowing inside, black background, centered.</a:t>
            </a:r>
            <a:endParaRPr lang="en-US" sz="700" dirty="0"/>
          </a:p>
        </p:txBody>
      </p:sp>
      <p:sp>
        <p:nvSpPr>
          <p:cNvPr id="27" name="Text 25"/>
          <p:cNvSpPr/>
          <p:nvPr/>
        </p:nvSpPr>
        <p:spPr>
          <a:xfrm>
            <a:off x="457200" y="3931920"/>
            <a:ext cx="8229600" cy="347472"/>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Investor read: </a:t>
            </a:r>
            <a:pPr indent="0" marL="0">
              <a:buNone/>
            </a:pPr>
            <a:r>
              <a:rPr lang="en-US" sz="1000" dirty="0">
                <a:solidFill>
                  <a:srgbClr val="C9C9CE"/>
                </a:solidFill>
                <a:latin typeface="Arial" pitchFamily="34" charset="0"/>
                <a:ea typeface="Arial" pitchFamily="34" charset="-122"/>
                <a:cs typeface="Arial" pitchFamily="34" charset="-120"/>
              </a:rPr>
              <a:t>the 2026 debate is no longer whether AI is regulated — it’s whether the means of AI production are publicly owned. That’s a dilution tail risk no equity model carries.</a:t>
            </a:r>
            <a:endParaRPr lang="en-US" sz="1000" dirty="0"/>
          </a:p>
        </p:txBody>
      </p:sp>
      <p:sp>
        <p:nvSpPr>
          <p:cNvPr id="28" name="Text 26"/>
          <p:cNvSpPr/>
          <p:nvPr/>
        </p:nvSpPr>
        <p:spPr>
          <a:xfrm>
            <a:off x="457200" y="4297680"/>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Internal strategic review, “The 2026 AI Frontier” (Jun 2026) — Executive Order provisions, sovereign wealth fund proposals, Sacks critique.</a:t>
            </a:r>
            <a:endParaRPr lang="en-US" sz="700" dirty="0"/>
          </a:p>
        </p:txBody>
      </p:sp>
      <p:sp>
        <p:nvSpPr>
          <p:cNvPr id="29" name="Shape 27"/>
          <p:cNvSpPr/>
          <p:nvPr/>
        </p:nvSpPr>
        <p:spPr>
          <a:xfrm>
            <a:off x="0" y="4526280"/>
            <a:ext cx="9144000" cy="617220"/>
          </a:xfrm>
          <a:prstGeom prst="rect">
            <a:avLst/>
          </a:prstGeom>
          <a:solidFill>
            <a:srgbClr val="000000"/>
          </a:solidFill>
          <a:ln/>
        </p:spPr>
      </p:sp>
      <p:sp>
        <p:nvSpPr>
          <p:cNvPr id="30" name="Shape 28"/>
          <p:cNvSpPr/>
          <p:nvPr/>
        </p:nvSpPr>
        <p:spPr>
          <a:xfrm>
            <a:off x="0" y="4526280"/>
            <a:ext cx="9144000" cy="0"/>
          </a:xfrm>
          <a:prstGeom prst="line">
            <a:avLst/>
          </a:prstGeom>
          <a:noFill/>
          <a:ln w="6350">
            <a:solidFill>
              <a:srgbClr val="2A2A30"/>
            </a:solidFill>
            <a:prstDash val="solid"/>
          </a:ln>
        </p:spPr>
      </p:sp>
      <p:sp>
        <p:nvSpPr>
          <p:cNvPr id="31" name="Text 29"/>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32" name="Text 30"/>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FFB800"/>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FFB800"/>
                </a:solidFill>
                <a:latin typeface="Arial" pitchFamily="34" charset="0"/>
                <a:ea typeface="Arial" pitchFamily="34" charset="-122"/>
                <a:cs typeface="Arial" pitchFamily="34" charset="-120"/>
              </a:rPr>
              <a:t>02  ·  MARKET IMPACT  —  EQUITIES</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market split the trade</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Semis +80%, software −10% — a ~90-point spread inside one theme, while ten stocks hold ~37% of the index.</a:t>
            </a:r>
            <a:endParaRPr lang="en-US" sz="1250" dirty="0"/>
          </a:p>
        </p:txBody>
      </p:sp>
      <p:sp>
        <p:nvSpPr>
          <p:cNvPr id="6" name="Text 4"/>
          <p:cNvSpPr/>
          <p:nvPr/>
        </p:nvSpPr>
        <p:spPr>
          <a:xfrm>
            <a:off x="457200" y="1481328"/>
            <a:ext cx="493776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Total return, YTD 2026 (%)</a:t>
            </a:r>
            <a:endParaRPr lang="en-US" sz="1300" dirty="0"/>
          </a:p>
        </p:txBody>
      </p:sp>
      <p:sp>
        <p:nvSpPr>
          <p:cNvPr id="7" name="Shape 5"/>
          <p:cNvSpPr/>
          <p:nvPr/>
        </p:nvSpPr>
        <p:spPr>
          <a:xfrm>
            <a:off x="457200" y="1783080"/>
            <a:ext cx="4937760" cy="0"/>
          </a:xfrm>
          <a:prstGeom prst="line">
            <a:avLst/>
          </a:prstGeom>
          <a:noFill/>
          <a:ln w="12700">
            <a:solidFill>
              <a:srgbClr val="FFB800"/>
            </a:solidFill>
            <a:prstDash val="solid"/>
          </a:ln>
        </p:spPr>
      </p:sp>
      <p:graphicFrame>
        <p:nvGraphicFramePr>
          <p:cNvPr id="8" name="Chart 0" descr=""/>
          <p:cNvGraphicFramePr/>
          <p:nvPr/>
        </p:nvGraphicFramePr>
        <p:xfrm>
          <a:off x="457200" y="1874520"/>
          <a:ext cx="4937760" cy="21488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0" y="1691640"/>
            <a:ext cx="3017520" cy="384048"/>
          </a:xfrm>
          <a:prstGeom prst="rect">
            <a:avLst/>
          </a:prstGeom>
          <a:noFill/>
          <a:ln/>
        </p:spPr>
        <p:txBody>
          <a:bodyPr wrap="square" lIns="0" tIns="0" rIns="0" bIns="0" rtlCol="0" anchor="ctr"/>
          <a:lstStyle/>
          <a:p>
            <a:pPr indent="0" marL="0">
              <a:buNone/>
            </a:pPr>
            <a:r>
              <a:rPr lang="en-US" sz="2200" b="1" dirty="0">
                <a:solidFill>
                  <a:srgbClr val="F6693D"/>
                </a:solidFill>
                <a:latin typeface="Arial Black" pitchFamily="34" charset="0"/>
                <a:ea typeface="Arial Black" pitchFamily="34" charset="-122"/>
                <a:cs typeface="Arial Black" pitchFamily="34" charset="-120"/>
              </a:rPr>
              <a:t>37%</a:t>
            </a:r>
            <a:endParaRPr lang="en-US" sz="2200" dirty="0"/>
          </a:p>
        </p:txBody>
      </p:sp>
      <p:sp>
        <p:nvSpPr>
          <p:cNvPr id="10" name="Text 7"/>
          <p:cNvSpPr/>
          <p:nvPr/>
        </p:nvSpPr>
        <p:spPr>
          <a:xfrm>
            <a:off x="5669280" y="2093976"/>
            <a:ext cx="3017520" cy="438912"/>
          </a:xfrm>
          <a:prstGeom prst="rect">
            <a:avLst/>
          </a:prstGeom>
          <a:noFill/>
          <a:ln/>
        </p:spPr>
        <p:txBody>
          <a:bodyPr wrap="square" lIns="0" tIns="0" rIns="0" bIns="0" rtlCol="0" anchor="t"/>
          <a:lstStyle/>
          <a:p>
            <a:pPr indent="0" marL="0">
              <a:buNone/>
            </a:pPr>
            <a:r>
              <a:rPr lang="en-US" sz="750" dirty="0">
                <a:solidFill>
                  <a:srgbClr val="9A9AA0"/>
                </a:solidFill>
                <a:latin typeface="Arial" pitchFamily="34" charset="0"/>
                <a:ea typeface="Arial" pitchFamily="34" charset="-122"/>
                <a:cs typeface="Arial" pitchFamily="34" charset="-120"/>
              </a:rPr>
              <a:t>Top-10 share of S&amp;P 500 market cap — the 1990–2015 norm was 18–23%; the 2025 peak 40.7%.</a:t>
            </a:r>
            <a:endParaRPr lang="en-US" sz="750" dirty="0"/>
          </a:p>
        </p:txBody>
      </p:sp>
      <p:sp>
        <p:nvSpPr>
          <p:cNvPr id="11" name="Text 8"/>
          <p:cNvSpPr/>
          <p:nvPr/>
        </p:nvSpPr>
        <p:spPr>
          <a:xfrm>
            <a:off x="5669280" y="2542032"/>
            <a:ext cx="3017520" cy="384048"/>
          </a:xfrm>
          <a:prstGeom prst="rect">
            <a:avLst/>
          </a:prstGeom>
          <a:noFill/>
          <a:ln/>
        </p:spPr>
        <p:txBody>
          <a:bodyPr wrap="square" lIns="0" tIns="0" rIns="0" bIns="0" rtlCol="0" anchor="ctr"/>
          <a:lstStyle/>
          <a:p>
            <a:pPr indent="0" marL="0">
              <a:buNone/>
            </a:pPr>
            <a:r>
              <a:rPr lang="en-US" sz="2200" b="1" dirty="0">
                <a:solidFill>
                  <a:srgbClr val="FFB800"/>
                </a:solidFill>
                <a:latin typeface="Arial Black" pitchFamily="34" charset="0"/>
                <a:ea typeface="Arial Black" pitchFamily="34" charset="-122"/>
                <a:cs typeface="Arial Black" pitchFamily="34" charset="-120"/>
              </a:rPr>
              <a:t>~$5.0T</a:t>
            </a:r>
            <a:endParaRPr lang="en-US" sz="2200" dirty="0"/>
          </a:p>
        </p:txBody>
      </p:sp>
      <p:sp>
        <p:nvSpPr>
          <p:cNvPr id="12" name="Text 9"/>
          <p:cNvSpPr/>
          <p:nvPr/>
        </p:nvSpPr>
        <p:spPr>
          <a:xfrm>
            <a:off x="5669280" y="2944368"/>
            <a:ext cx="3017520" cy="438912"/>
          </a:xfrm>
          <a:prstGeom prst="rect">
            <a:avLst/>
          </a:prstGeom>
          <a:noFill/>
          <a:ln/>
        </p:spPr>
        <p:txBody>
          <a:bodyPr wrap="square" lIns="0" tIns="0" rIns="0" bIns="0" rtlCol="0" anchor="t"/>
          <a:lstStyle/>
          <a:p>
            <a:pPr indent="0" marL="0">
              <a:buNone/>
            </a:pPr>
            <a:r>
              <a:rPr lang="en-US" sz="750" dirty="0">
                <a:solidFill>
                  <a:srgbClr val="9A9AA0"/>
                </a:solidFill>
                <a:latin typeface="Arial" pitchFamily="34" charset="0"/>
                <a:ea typeface="Arial" pitchFamily="34" charset="-122"/>
                <a:cs typeface="Arial" pitchFamily="34" charset="-120"/>
              </a:rPr>
              <a:t>Nvidia market cap, 7.0% of the index — Apple $4.6T and Microsoft $3.3T behind it; three names ≈ 18%.</a:t>
            </a:r>
            <a:endParaRPr lang="en-US" sz="750" dirty="0"/>
          </a:p>
        </p:txBody>
      </p:sp>
      <p:sp>
        <p:nvSpPr>
          <p:cNvPr id="13" name="Text 10"/>
          <p:cNvSpPr/>
          <p:nvPr/>
        </p:nvSpPr>
        <p:spPr>
          <a:xfrm>
            <a:off x="5669280" y="3392424"/>
            <a:ext cx="3017520" cy="384048"/>
          </a:xfrm>
          <a:prstGeom prst="rect">
            <a:avLst/>
          </a:prstGeom>
          <a:noFill/>
          <a:ln/>
        </p:spPr>
        <p:txBody>
          <a:bodyPr wrap="square" lIns="0" tIns="0" rIns="0" bIns="0" rtlCol="0" anchor="ctr"/>
          <a:lstStyle/>
          <a:p>
            <a:pPr indent="0" marL="0">
              <a:buNone/>
            </a:pPr>
            <a:r>
              <a:rPr lang="en-US" sz="2200" b="1" dirty="0">
                <a:solidFill>
                  <a:srgbClr val="2BC4C4"/>
                </a:solidFill>
                <a:latin typeface="Arial Black" pitchFamily="34" charset="0"/>
                <a:ea typeface="Arial Black" pitchFamily="34" charset="-122"/>
                <a:cs typeface="Arial Black" pitchFamily="34" charset="-120"/>
              </a:rPr>
              <a:t>21.1x</a:t>
            </a:r>
            <a:endParaRPr lang="en-US" sz="2200" dirty="0"/>
          </a:p>
        </p:txBody>
      </p:sp>
      <p:sp>
        <p:nvSpPr>
          <p:cNvPr id="14" name="Text 11"/>
          <p:cNvSpPr/>
          <p:nvPr/>
        </p:nvSpPr>
        <p:spPr>
          <a:xfrm>
            <a:off x="5669280" y="3794760"/>
            <a:ext cx="3017520" cy="438912"/>
          </a:xfrm>
          <a:prstGeom prst="rect">
            <a:avLst/>
          </a:prstGeom>
          <a:noFill/>
          <a:ln/>
        </p:spPr>
        <p:txBody>
          <a:bodyPr wrap="square" lIns="0" tIns="0" rIns="0" bIns="0" rtlCol="0" anchor="t"/>
          <a:lstStyle/>
          <a:p>
            <a:pPr indent="0" marL="0">
              <a:buNone/>
            </a:pPr>
            <a:r>
              <a:rPr lang="en-US" sz="750" dirty="0">
                <a:solidFill>
                  <a:srgbClr val="9A9AA0"/>
                </a:solidFill>
                <a:latin typeface="Arial" pitchFamily="34" charset="0"/>
                <a:ea typeface="Arial" pitchFamily="34" charset="-122"/>
                <a:cs typeface="Arial" pitchFamily="34" charset="-120"/>
              </a:rPr>
              <a:t>S&amp;P 500 forward P/E vs a 19.0x 10-yr average — elevated, not extreme. The spread is the signal.</a:t>
            </a:r>
            <a:endParaRPr lang="en-US" sz="750" dirty="0"/>
          </a:p>
        </p:txBody>
      </p:sp>
      <p:sp>
        <p:nvSpPr>
          <p:cNvPr id="15" name="Text 12"/>
          <p:cNvSpPr/>
          <p:nvPr/>
        </p:nvSpPr>
        <p:spPr>
          <a:xfrm>
            <a:off x="457200" y="4096512"/>
            <a:ext cx="8229600" cy="23774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Leadership migrated from the platforms to their suppliers. </a:t>
            </a:r>
            <a:pPr indent="0" marL="0">
              <a:buNone/>
            </a:pPr>
            <a:r>
              <a:rPr lang="en-US" sz="1000" dirty="0">
                <a:solidFill>
                  <a:srgbClr val="C9C9CE"/>
                </a:solidFill>
                <a:latin typeface="Arial" pitchFamily="34" charset="0"/>
                <a:ea typeface="Arial" pitchFamily="34" charset="-122"/>
                <a:cs typeface="Arial" pitchFamily="34" charset="-120"/>
              </a:rPr>
              <a:t>Value accrues where AI spend is revenue — and erodes where AI is the threat.</a:t>
            </a:r>
            <a:endParaRPr lang="en-US" sz="1000" dirty="0"/>
          </a:p>
        </p:txBody>
      </p:sp>
      <p:sp>
        <p:nvSpPr>
          <p:cNvPr id="16" name="Text 13"/>
          <p:cNvSpPr/>
          <p:nvPr/>
        </p:nvSpPr>
        <p:spPr>
          <a:xfrm>
            <a:off x="457200" y="4315968"/>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YTD total returns through early Jun 2026: stockanalysis.com (SOXX, IGV); slickcharts (S&amp;P 500); Morningstar/Yahoo (RSP, MAGS). Weights: S&amp;P DJI, slickcharts. Caps: companiesmarketcap.com. Fwd P/E: FactSet.</a:t>
            </a:r>
            <a:endParaRPr lang="en-US" sz="700" dirty="0"/>
          </a:p>
        </p:txBody>
      </p:sp>
      <p:sp>
        <p:nvSpPr>
          <p:cNvPr id="17" name="Shape 14"/>
          <p:cNvSpPr/>
          <p:nvPr/>
        </p:nvSpPr>
        <p:spPr>
          <a:xfrm>
            <a:off x="0" y="4526280"/>
            <a:ext cx="9144000" cy="617220"/>
          </a:xfrm>
          <a:prstGeom prst="rect">
            <a:avLst/>
          </a:prstGeom>
          <a:solidFill>
            <a:srgbClr val="000000"/>
          </a:solidFill>
          <a:ln/>
        </p:spPr>
      </p:sp>
      <p:sp>
        <p:nvSpPr>
          <p:cNvPr id="18" name="Shape 15"/>
          <p:cNvSpPr/>
          <p:nvPr/>
        </p:nvSpPr>
        <p:spPr>
          <a:xfrm>
            <a:off x="0" y="4526280"/>
            <a:ext cx="9144000" cy="0"/>
          </a:xfrm>
          <a:prstGeom prst="line">
            <a:avLst/>
          </a:prstGeom>
          <a:noFill/>
          <a:ln w="6350">
            <a:solidFill>
              <a:srgbClr val="2A2A30"/>
            </a:solidFill>
            <a:prstDash val="solid"/>
          </a:ln>
        </p:spPr>
      </p:sp>
      <p:sp>
        <p:nvSpPr>
          <p:cNvPr id="19" name="Text 16"/>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20" name="Text 17"/>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2BC4C4"/>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2BC4C4"/>
                </a:solidFill>
                <a:latin typeface="Arial" pitchFamily="34" charset="0"/>
                <a:ea typeface="Arial" pitchFamily="34" charset="-122"/>
                <a:cs typeface="Arial" pitchFamily="34" charset="-120"/>
              </a:rPr>
              <a:t>02  ·  MARKET IMPACT  —  LABOR</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One worker now outputs like a team</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Agents change what a job is — and in 2026 the labor data started moving. Markets price both: deflated cost lines and the policy risk that displacement fuels.</a:t>
            </a:r>
            <a:endParaRPr lang="en-US" sz="1250" dirty="0"/>
          </a:p>
        </p:txBody>
      </p:sp>
      <p:sp>
        <p:nvSpPr>
          <p:cNvPr id="6" name="Text 4"/>
          <p:cNvSpPr/>
          <p:nvPr/>
        </p:nvSpPr>
        <p:spPr>
          <a:xfrm>
            <a:off x="457200" y="1481328"/>
            <a:ext cx="374904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The shape of a job changed</a:t>
            </a:r>
            <a:endParaRPr lang="en-US" sz="1300" dirty="0"/>
          </a:p>
        </p:txBody>
      </p:sp>
      <p:sp>
        <p:nvSpPr>
          <p:cNvPr id="7" name="Shape 5"/>
          <p:cNvSpPr/>
          <p:nvPr/>
        </p:nvSpPr>
        <p:spPr>
          <a:xfrm>
            <a:off x="457200" y="1783080"/>
            <a:ext cx="3749040" cy="0"/>
          </a:xfrm>
          <a:prstGeom prst="line">
            <a:avLst/>
          </a:prstGeom>
          <a:noFill/>
          <a:ln w="12700">
            <a:solidFill>
              <a:srgbClr val="2BC4C4"/>
            </a:solidFill>
            <a:prstDash val="solid"/>
          </a:ln>
        </p:spPr>
      </p:sp>
      <p:sp>
        <p:nvSpPr>
          <p:cNvPr id="8" name="Text 6"/>
          <p:cNvSpPr/>
          <p:nvPr/>
        </p:nvSpPr>
        <p:spPr>
          <a:xfrm>
            <a:off x="457200" y="1810512"/>
            <a:ext cx="3749040" cy="384048"/>
          </a:xfrm>
          <a:prstGeom prst="rect">
            <a:avLst/>
          </a:prstGeom>
          <a:noFill/>
          <a:ln/>
        </p:spPr>
        <p:txBody>
          <a:bodyPr wrap="square" lIns="0" tIns="0" rIns="0" bIns="0" rtlCol="0" anchor="ctr"/>
          <a:lstStyle/>
          <a:p>
            <a:pPr indent="0" marL="0">
              <a:buNone/>
            </a:pPr>
            <a:r>
              <a:rPr lang="en-US" sz="2400" b="1" dirty="0">
                <a:solidFill>
                  <a:srgbClr val="2BC4C4"/>
                </a:solidFill>
                <a:latin typeface="Arial Black" pitchFamily="34" charset="0"/>
                <a:ea typeface="Arial Black" pitchFamily="34" charset="-122"/>
                <a:cs typeface="Arial Black" pitchFamily="34" charset="-120"/>
              </a:rPr>
              <a:t>20–25%</a:t>
            </a:r>
            <a:endParaRPr lang="en-US" sz="2400" dirty="0"/>
          </a:p>
        </p:txBody>
      </p:sp>
      <p:sp>
        <p:nvSpPr>
          <p:cNvPr id="9" name="Text 7"/>
          <p:cNvSpPr/>
          <p:nvPr/>
        </p:nvSpPr>
        <p:spPr>
          <a:xfrm>
            <a:off x="457200" y="2212848"/>
            <a:ext cx="3749040" cy="438912"/>
          </a:xfrm>
          <a:prstGeom prst="rect">
            <a:avLst/>
          </a:prstGeom>
          <a:noFill/>
          <a:ln/>
        </p:spPr>
        <p:txBody>
          <a:bodyPr wrap="square" lIns="0" tIns="0" rIns="0" bIns="0" rtlCol="0" anchor="t"/>
          <a:lstStyle/>
          <a:p>
            <a:pPr indent="0" marL="0">
              <a:buNone/>
            </a:pPr>
            <a:r>
              <a:rPr lang="en-US" sz="750" dirty="0">
                <a:solidFill>
                  <a:srgbClr val="9A9AA0"/>
                </a:solidFill>
                <a:latin typeface="Arial" pitchFamily="34" charset="0"/>
                <a:ea typeface="Arial" pitchFamily="34" charset="-122"/>
                <a:cs typeface="Arial" pitchFamily="34" charset="-120"/>
              </a:rPr>
              <a:t>of the work week goes to coordination and retrieval (OpenAI’s “strange abundance”) — the labor pool agents are bought to recover.</a:t>
            </a:r>
            <a:endParaRPr lang="en-US" sz="750" dirty="0"/>
          </a:p>
        </p:txBody>
      </p:sp>
      <p:sp>
        <p:nvSpPr>
          <p:cNvPr id="10" name="Text 8"/>
          <p:cNvSpPr/>
          <p:nvPr/>
        </p:nvSpPr>
        <p:spPr>
          <a:xfrm>
            <a:off x="457200" y="2697480"/>
            <a:ext cx="3749040" cy="182880"/>
          </a:xfrm>
          <a:prstGeom prst="rect">
            <a:avLst/>
          </a:prstGeom>
          <a:noFill/>
          <a:ln/>
        </p:spPr>
        <p:txBody>
          <a:bodyPr wrap="square" lIns="0" tIns="0" rIns="0" bIns="0" rtlCol="0" anchor="ctr"/>
          <a:lstStyle/>
          <a:p>
            <a:pPr indent="0" marL="0">
              <a:buNone/>
            </a:pPr>
            <a:r>
              <a:rPr lang="en-US" sz="750" b="1" spc="150" kern="0" dirty="0">
                <a:solidFill>
                  <a:srgbClr val="9A9AA0"/>
                </a:solidFill>
                <a:latin typeface="Arial" pitchFamily="34" charset="0"/>
                <a:ea typeface="Arial" pitchFamily="34" charset="-122"/>
                <a:cs typeface="Arial" pitchFamily="34" charset="-120"/>
              </a:rPr>
              <a:t>2023–25 · ONE PERSON, ONE TASK</a:t>
            </a:r>
            <a:endParaRPr lang="en-US" sz="750" dirty="0"/>
          </a:p>
        </p:txBody>
      </p:sp>
      <p:sp>
        <p:nvSpPr>
          <p:cNvPr id="11" name="Shape 9"/>
          <p:cNvSpPr/>
          <p:nvPr/>
        </p:nvSpPr>
        <p:spPr>
          <a:xfrm>
            <a:off x="713232" y="2907792"/>
            <a:ext cx="146304" cy="146304"/>
          </a:xfrm>
          <a:prstGeom prst="ellipse">
            <a:avLst/>
          </a:prstGeom>
          <a:ln w="19050">
            <a:solidFill>
              <a:srgbClr val="C9C9CE"/>
            </a:solidFill>
            <a:prstDash val="solid"/>
          </a:ln>
        </p:spPr>
      </p:sp>
      <p:sp>
        <p:nvSpPr>
          <p:cNvPr id="12" name="Shape 10"/>
          <p:cNvSpPr/>
          <p:nvPr/>
        </p:nvSpPr>
        <p:spPr>
          <a:xfrm>
            <a:off x="640080" y="3072384"/>
            <a:ext cx="292608" cy="182880"/>
          </a:xfrm>
          <a:prstGeom prst="roundRect">
            <a:avLst>
              <a:gd name="adj" fmla="val 25000"/>
            </a:avLst>
          </a:prstGeom>
          <a:ln w="19050">
            <a:solidFill>
              <a:srgbClr val="C9C9CE"/>
            </a:solidFill>
            <a:prstDash val="solid"/>
          </a:ln>
        </p:spPr>
      </p:sp>
      <p:sp>
        <p:nvSpPr>
          <p:cNvPr id="13" name="Shape 11"/>
          <p:cNvSpPr/>
          <p:nvPr/>
        </p:nvSpPr>
        <p:spPr>
          <a:xfrm>
            <a:off x="1078992" y="3072384"/>
            <a:ext cx="365760" cy="0"/>
          </a:xfrm>
          <a:prstGeom prst="line">
            <a:avLst/>
          </a:prstGeom>
          <a:noFill/>
          <a:ln w="19050">
            <a:solidFill>
              <a:srgbClr val="9A9AA0"/>
            </a:solidFill>
            <a:prstDash val="solid"/>
            <a:tailEnd type="triangle"/>
          </a:ln>
        </p:spPr>
      </p:sp>
      <p:sp>
        <p:nvSpPr>
          <p:cNvPr id="14" name="Shape 12"/>
          <p:cNvSpPr/>
          <p:nvPr/>
        </p:nvSpPr>
        <p:spPr>
          <a:xfrm>
            <a:off x="1517904" y="2926080"/>
            <a:ext cx="914400" cy="292608"/>
          </a:xfrm>
          <a:prstGeom prst="rect">
            <a:avLst/>
          </a:prstGeom>
          <a:solidFill>
            <a:srgbClr val="1C1C20"/>
          </a:solidFill>
          <a:ln w="12700">
            <a:solidFill>
              <a:srgbClr val="2A2A30"/>
            </a:solidFill>
            <a:prstDash val="solid"/>
          </a:ln>
        </p:spPr>
      </p:sp>
      <p:sp>
        <p:nvSpPr>
          <p:cNvPr id="15" name="Text 13"/>
          <p:cNvSpPr/>
          <p:nvPr/>
        </p:nvSpPr>
        <p:spPr>
          <a:xfrm>
            <a:off x="1517904" y="2926080"/>
            <a:ext cx="914400" cy="292608"/>
          </a:xfrm>
          <a:prstGeom prst="rect">
            <a:avLst/>
          </a:prstGeom>
          <a:noFill/>
          <a:ln/>
        </p:spPr>
        <p:txBody>
          <a:bodyPr wrap="square" lIns="0" tIns="0" rIns="0" bIns="0" rtlCol="0" anchor="ctr"/>
          <a:lstStyle/>
          <a:p>
            <a:pPr algn="ctr" indent="0" marL="0">
              <a:buNone/>
            </a:pPr>
            <a:r>
              <a:rPr lang="en-US" sz="700" b="1" dirty="0">
                <a:solidFill>
                  <a:srgbClr val="C9C9CE"/>
                </a:solidFill>
                <a:latin typeface="Arial" pitchFamily="34" charset="0"/>
                <a:ea typeface="Arial" pitchFamily="34" charset="-122"/>
                <a:cs typeface="Arial" pitchFamily="34" charset="-120"/>
              </a:rPr>
              <a:t>ONE TASK</a:t>
            </a:r>
            <a:endParaRPr lang="en-US" sz="700" dirty="0"/>
          </a:p>
        </p:txBody>
      </p:sp>
      <p:sp>
        <p:nvSpPr>
          <p:cNvPr id="16" name="Text 14"/>
          <p:cNvSpPr/>
          <p:nvPr/>
        </p:nvSpPr>
        <p:spPr>
          <a:xfrm>
            <a:off x="457200" y="3364992"/>
            <a:ext cx="3749040" cy="182880"/>
          </a:xfrm>
          <a:prstGeom prst="rect">
            <a:avLst/>
          </a:prstGeom>
          <a:noFill/>
          <a:ln/>
        </p:spPr>
        <p:txBody>
          <a:bodyPr wrap="square" lIns="0" tIns="0" rIns="0" bIns="0" rtlCol="0" anchor="ctr"/>
          <a:lstStyle/>
          <a:p>
            <a:pPr indent="0" marL="0">
              <a:buNone/>
            </a:pPr>
            <a:r>
              <a:rPr lang="en-US" sz="750" b="1" spc="150" kern="0" dirty="0">
                <a:solidFill>
                  <a:srgbClr val="2BC4C4"/>
                </a:solidFill>
                <a:latin typeface="Arial" pitchFamily="34" charset="0"/>
                <a:ea typeface="Arial" pitchFamily="34" charset="-122"/>
                <a:cs typeface="Arial" pitchFamily="34" charset="-120"/>
              </a:rPr>
              <a:t>2026 · ONE ORCHESTRATOR, N AGENTS</a:t>
            </a:r>
            <a:endParaRPr lang="en-US" sz="750" dirty="0"/>
          </a:p>
        </p:txBody>
      </p:sp>
      <p:sp>
        <p:nvSpPr>
          <p:cNvPr id="17" name="Shape 15"/>
          <p:cNvSpPr/>
          <p:nvPr/>
        </p:nvSpPr>
        <p:spPr>
          <a:xfrm>
            <a:off x="713232" y="3584448"/>
            <a:ext cx="146304" cy="146304"/>
          </a:xfrm>
          <a:prstGeom prst="ellipse">
            <a:avLst/>
          </a:prstGeom>
          <a:ln w="19050">
            <a:solidFill>
              <a:srgbClr val="2BC4C4"/>
            </a:solidFill>
            <a:prstDash val="solid"/>
          </a:ln>
        </p:spPr>
      </p:sp>
      <p:sp>
        <p:nvSpPr>
          <p:cNvPr id="18" name="Shape 16"/>
          <p:cNvSpPr/>
          <p:nvPr/>
        </p:nvSpPr>
        <p:spPr>
          <a:xfrm>
            <a:off x="640080" y="3749040"/>
            <a:ext cx="292608" cy="182880"/>
          </a:xfrm>
          <a:prstGeom prst="roundRect">
            <a:avLst>
              <a:gd name="adj" fmla="val 25000"/>
            </a:avLst>
          </a:prstGeom>
          <a:ln w="19050">
            <a:solidFill>
              <a:srgbClr val="2BC4C4"/>
            </a:solidFill>
            <a:prstDash val="solid"/>
          </a:ln>
        </p:spPr>
      </p:sp>
      <p:sp>
        <p:nvSpPr>
          <p:cNvPr id="19" name="Shape 17"/>
          <p:cNvSpPr/>
          <p:nvPr/>
        </p:nvSpPr>
        <p:spPr>
          <a:xfrm>
            <a:off x="1078992" y="3749040"/>
            <a:ext cx="365760" cy="0"/>
          </a:xfrm>
          <a:prstGeom prst="line">
            <a:avLst/>
          </a:prstGeom>
          <a:noFill/>
          <a:ln w="19050">
            <a:solidFill>
              <a:srgbClr val="2BC4C4"/>
            </a:solidFill>
            <a:prstDash val="solid"/>
            <a:tailEnd type="triangle"/>
          </a:ln>
        </p:spPr>
      </p:sp>
      <p:sp>
        <p:nvSpPr>
          <p:cNvPr id="20" name="Shape 18"/>
          <p:cNvSpPr/>
          <p:nvPr/>
        </p:nvSpPr>
        <p:spPr>
          <a:xfrm>
            <a:off x="1517904" y="3529584"/>
            <a:ext cx="877824" cy="292608"/>
          </a:xfrm>
          <a:prstGeom prst="ellipse">
            <a:avLst/>
          </a:prstGeom>
          <a:ln w="15875">
            <a:solidFill>
              <a:srgbClr val="2BC4C4"/>
            </a:solidFill>
            <a:prstDash val="solid"/>
          </a:ln>
        </p:spPr>
      </p:sp>
      <p:sp>
        <p:nvSpPr>
          <p:cNvPr id="21" name="Text 19"/>
          <p:cNvSpPr/>
          <p:nvPr/>
        </p:nvSpPr>
        <p:spPr>
          <a:xfrm>
            <a:off x="1517904" y="3529584"/>
            <a:ext cx="877824" cy="292608"/>
          </a:xfrm>
          <a:prstGeom prst="rect">
            <a:avLst/>
          </a:prstGeom>
          <a:noFill/>
          <a:ln/>
        </p:spPr>
        <p:txBody>
          <a:bodyPr wrap="square" lIns="0" tIns="0" rIns="0" bIns="0" rtlCol="0" anchor="ctr"/>
          <a:lstStyle/>
          <a:p>
            <a:pPr algn="ctr" indent="0" marL="0">
              <a:buNone/>
            </a:pPr>
            <a:r>
              <a:rPr lang="en-US" sz="650" b="1" dirty="0">
                <a:solidFill>
                  <a:srgbClr val="2BC4C4"/>
                </a:solidFill>
                <a:latin typeface="Arial" pitchFamily="34" charset="0"/>
                <a:ea typeface="Arial" pitchFamily="34" charset="-122"/>
                <a:cs typeface="Arial" pitchFamily="34" charset="-120"/>
              </a:rPr>
              <a:t>RESEARCH</a:t>
            </a:r>
            <a:endParaRPr lang="en-US" sz="650" dirty="0"/>
          </a:p>
        </p:txBody>
      </p:sp>
      <p:sp>
        <p:nvSpPr>
          <p:cNvPr id="22" name="Shape 20"/>
          <p:cNvSpPr/>
          <p:nvPr/>
        </p:nvSpPr>
        <p:spPr>
          <a:xfrm>
            <a:off x="2487168" y="3529584"/>
            <a:ext cx="877824" cy="292608"/>
          </a:xfrm>
          <a:prstGeom prst="ellipse">
            <a:avLst/>
          </a:prstGeom>
          <a:ln w="15875">
            <a:solidFill>
              <a:srgbClr val="2BC4C4"/>
            </a:solidFill>
            <a:prstDash val="solid"/>
          </a:ln>
        </p:spPr>
      </p:sp>
      <p:sp>
        <p:nvSpPr>
          <p:cNvPr id="23" name="Text 21"/>
          <p:cNvSpPr/>
          <p:nvPr/>
        </p:nvSpPr>
        <p:spPr>
          <a:xfrm>
            <a:off x="2487168" y="3529584"/>
            <a:ext cx="877824" cy="292608"/>
          </a:xfrm>
          <a:prstGeom prst="rect">
            <a:avLst/>
          </a:prstGeom>
          <a:noFill/>
          <a:ln/>
        </p:spPr>
        <p:txBody>
          <a:bodyPr wrap="square" lIns="0" tIns="0" rIns="0" bIns="0" rtlCol="0" anchor="ctr"/>
          <a:lstStyle/>
          <a:p>
            <a:pPr algn="ctr" indent="0" marL="0">
              <a:buNone/>
            </a:pPr>
            <a:r>
              <a:rPr lang="en-US" sz="650" b="1" dirty="0">
                <a:solidFill>
                  <a:srgbClr val="2BC4C4"/>
                </a:solidFill>
                <a:latin typeface="Arial" pitchFamily="34" charset="0"/>
                <a:ea typeface="Arial" pitchFamily="34" charset="-122"/>
                <a:cs typeface="Arial" pitchFamily="34" charset="-120"/>
              </a:rPr>
              <a:t>BUILD</a:t>
            </a:r>
            <a:endParaRPr lang="en-US" sz="650" dirty="0"/>
          </a:p>
        </p:txBody>
      </p:sp>
      <p:sp>
        <p:nvSpPr>
          <p:cNvPr id="24" name="Shape 22"/>
          <p:cNvSpPr/>
          <p:nvPr/>
        </p:nvSpPr>
        <p:spPr>
          <a:xfrm>
            <a:off x="1517904" y="3895344"/>
            <a:ext cx="877824" cy="292608"/>
          </a:xfrm>
          <a:prstGeom prst="ellipse">
            <a:avLst/>
          </a:prstGeom>
          <a:ln w="15875">
            <a:solidFill>
              <a:srgbClr val="2BC4C4"/>
            </a:solidFill>
            <a:prstDash val="solid"/>
          </a:ln>
        </p:spPr>
      </p:sp>
      <p:sp>
        <p:nvSpPr>
          <p:cNvPr id="25" name="Text 23"/>
          <p:cNvSpPr/>
          <p:nvPr/>
        </p:nvSpPr>
        <p:spPr>
          <a:xfrm>
            <a:off x="1517904" y="3895344"/>
            <a:ext cx="877824" cy="292608"/>
          </a:xfrm>
          <a:prstGeom prst="rect">
            <a:avLst/>
          </a:prstGeom>
          <a:noFill/>
          <a:ln/>
        </p:spPr>
        <p:txBody>
          <a:bodyPr wrap="square" lIns="0" tIns="0" rIns="0" bIns="0" rtlCol="0" anchor="ctr"/>
          <a:lstStyle/>
          <a:p>
            <a:pPr algn="ctr" indent="0" marL="0">
              <a:buNone/>
            </a:pPr>
            <a:r>
              <a:rPr lang="en-US" sz="650" b="1" dirty="0">
                <a:solidFill>
                  <a:srgbClr val="2BC4C4"/>
                </a:solidFill>
                <a:latin typeface="Arial" pitchFamily="34" charset="0"/>
                <a:ea typeface="Arial" pitchFamily="34" charset="-122"/>
                <a:cs typeface="Arial" pitchFamily="34" charset="-120"/>
              </a:rPr>
              <a:t>TEST</a:t>
            </a:r>
            <a:endParaRPr lang="en-US" sz="650" dirty="0"/>
          </a:p>
        </p:txBody>
      </p:sp>
      <p:sp>
        <p:nvSpPr>
          <p:cNvPr id="26" name="Shape 24"/>
          <p:cNvSpPr/>
          <p:nvPr/>
        </p:nvSpPr>
        <p:spPr>
          <a:xfrm>
            <a:off x="2487168" y="3895344"/>
            <a:ext cx="877824" cy="292608"/>
          </a:xfrm>
          <a:prstGeom prst="ellipse">
            <a:avLst/>
          </a:prstGeom>
          <a:ln w="15875">
            <a:solidFill>
              <a:srgbClr val="2BC4C4"/>
            </a:solidFill>
            <a:prstDash val="solid"/>
          </a:ln>
        </p:spPr>
      </p:sp>
      <p:sp>
        <p:nvSpPr>
          <p:cNvPr id="27" name="Text 25"/>
          <p:cNvSpPr/>
          <p:nvPr/>
        </p:nvSpPr>
        <p:spPr>
          <a:xfrm>
            <a:off x="2487168" y="3895344"/>
            <a:ext cx="877824" cy="292608"/>
          </a:xfrm>
          <a:prstGeom prst="rect">
            <a:avLst/>
          </a:prstGeom>
          <a:noFill/>
          <a:ln/>
        </p:spPr>
        <p:txBody>
          <a:bodyPr wrap="square" lIns="0" tIns="0" rIns="0" bIns="0" rtlCol="0" anchor="ctr"/>
          <a:lstStyle/>
          <a:p>
            <a:pPr algn="ctr" indent="0" marL="0">
              <a:buNone/>
            </a:pPr>
            <a:r>
              <a:rPr lang="en-US" sz="650" b="1" dirty="0">
                <a:solidFill>
                  <a:srgbClr val="2BC4C4"/>
                </a:solidFill>
                <a:latin typeface="Arial" pitchFamily="34" charset="0"/>
                <a:ea typeface="Arial" pitchFamily="34" charset="-122"/>
                <a:cs typeface="Arial" pitchFamily="34" charset="-120"/>
              </a:rPr>
              <a:t>SHIP</a:t>
            </a:r>
            <a:endParaRPr lang="en-US" sz="650" dirty="0"/>
          </a:p>
        </p:txBody>
      </p:sp>
      <p:sp>
        <p:nvSpPr>
          <p:cNvPr id="28" name="Text 26"/>
          <p:cNvSpPr/>
          <p:nvPr/>
        </p:nvSpPr>
        <p:spPr>
          <a:xfrm>
            <a:off x="4526280" y="1481328"/>
            <a:ext cx="416052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2026: the data starts to move</a:t>
            </a:r>
            <a:endParaRPr lang="en-US" sz="1300" dirty="0"/>
          </a:p>
        </p:txBody>
      </p:sp>
      <p:sp>
        <p:nvSpPr>
          <p:cNvPr id="29" name="Shape 27"/>
          <p:cNvSpPr/>
          <p:nvPr/>
        </p:nvSpPr>
        <p:spPr>
          <a:xfrm>
            <a:off x="4526280" y="1783080"/>
            <a:ext cx="4160520" cy="0"/>
          </a:xfrm>
          <a:prstGeom prst="line">
            <a:avLst/>
          </a:prstGeom>
          <a:noFill/>
          <a:ln w="12700">
            <a:solidFill>
              <a:srgbClr val="2BC4C4"/>
            </a:solidFill>
            <a:prstDash val="solid"/>
          </a:ln>
        </p:spPr>
      </p:sp>
      <p:sp>
        <p:nvSpPr>
          <p:cNvPr id="30" name="Shape 28"/>
          <p:cNvSpPr/>
          <p:nvPr/>
        </p:nvSpPr>
        <p:spPr>
          <a:xfrm>
            <a:off x="4526280" y="1874520"/>
            <a:ext cx="64008" cy="694944"/>
          </a:xfrm>
          <a:prstGeom prst="rect">
            <a:avLst/>
          </a:prstGeom>
          <a:solidFill>
            <a:srgbClr val="E5484D"/>
          </a:solidFill>
          <a:ln/>
        </p:spPr>
      </p:sp>
      <p:sp>
        <p:nvSpPr>
          <p:cNvPr id="31" name="Text 29"/>
          <p:cNvSpPr/>
          <p:nvPr/>
        </p:nvSpPr>
        <p:spPr>
          <a:xfrm>
            <a:off x="4681728" y="1874520"/>
            <a:ext cx="4005072" cy="73152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AI is now the #1 stated reason for layoffs.  </a:t>
            </a:r>
            <a:pPr indent="0" marL="0">
              <a:buNone/>
            </a:pPr>
            <a:r>
              <a:rPr lang="en-US" sz="780" dirty="0">
                <a:solidFill>
                  <a:srgbClr val="C9C9CE"/>
                </a:solidFill>
                <a:latin typeface="Arial" pitchFamily="34" charset="0"/>
                <a:ea typeface="Arial" pitchFamily="34" charset="-122"/>
                <a:cs typeface="Arial" pitchFamily="34" charset="-120"/>
              </a:rPr>
              <a:t>Challenger: AI was cited in ~40% of May’s announced US job cuts (38.6k of 97k) — the first month it beat “market conditions.” 87.7k AI-attributed cuts YTD vs 54.8k in all of 2025. (Self-reported; some firms may be scapegoating AI.)</a:t>
            </a:r>
            <a:endParaRPr lang="en-US" sz="950" dirty="0"/>
          </a:p>
        </p:txBody>
      </p:sp>
      <p:sp>
        <p:nvSpPr>
          <p:cNvPr id="32" name="Shape 30"/>
          <p:cNvSpPr/>
          <p:nvPr/>
        </p:nvSpPr>
        <p:spPr>
          <a:xfrm>
            <a:off x="4526280" y="2624328"/>
            <a:ext cx="64008" cy="694944"/>
          </a:xfrm>
          <a:prstGeom prst="rect">
            <a:avLst/>
          </a:prstGeom>
          <a:solidFill>
            <a:srgbClr val="F6693D"/>
          </a:solidFill>
          <a:ln/>
        </p:spPr>
      </p:sp>
      <p:sp>
        <p:nvSpPr>
          <p:cNvPr id="33" name="Text 31"/>
          <p:cNvSpPr/>
          <p:nvPr/>
        </p:nvSpPr>
        <p:spPr>
          <a:xfrm>
            <a:off x="4681728" y="2624328"/>
            <a:ext cx="4005072" cy="73152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The entry level takes the hit.  </a:t>
            </a:r>
            <a:pPr indent="0" marL="0">
              <a:buNone/>
            </a:pPr>
            <a:r>
              <a:rPr lang="en-US" sz="780" dirty="0">
                <a:solidFill>
                  <a:srgbClr val="C9C9CE"/>
                </a:solidFill>
                <a:latin typeface="Arial" pitchFamily="34" charset="0"/>
                <a:ea typeface="Arial" pitchFamily="34" charset="-122"/>
                <a:cs typeface="Arial" pitchFamily="34" charset="-120"/>
              </a:rPr>
              <a:t>Recent-grad unemployment 5.6% vs 4.2% overall (NY Fed, Mar 2026) — one of the worst readings in a decade outside the pandemic. Payrolls for 22–25-year-olds in AI-exposed roles are declining while senior cohorts hold.</a:t>
            </a:r>
            <a:endParaRPr lang="en-US" sz="950" dirty="0"/>
          </a:p>
        </p:txBody>
      </p:sp>
      <p:sp>
        <p:nvSpPr>
          <p:cNvPr id="34" name="Shape 32"/>
          <p:cNvSpPr/>
          <p:nvPr/>
        </p:nvSpPr>
        <p:spPr>
          <a:xfrm>
            <a:off x="4526280" y="3374136"/>
            <a:ext cx="64008" cy="694944"/>
          </a:xfrm>
          <a:prstGeom prst="rect">
            <a:avLst/>
          </a:prstGeom>
          <a:solidFill>
            <a:srgbClr val="FFB800"/>
          </a:solidFill>
          <a:ln/>
        </p:spPr>
      </p:sp>
      <p:sp>
        <p:nvSpPr>
          <p:cNvPr id="35" name="Text 33"/>
          <p:cNvSpPr/>
          <p:nvPr/>
        </p:nvSpPr>
        <p:spPr>
          <a:xfrm>
            <a:off x="4681728" y="3374136"/>
            <a:ext cx="4005072" cy="73152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The job that remains is orchestration.  </a:t>
            </a:r>
            <a:pPr indent="0" marL="0">
              <a:buNone/>
            </a:pPr>
            <a:r>
              <a:rPr lang="en-US" sz="780" dirty="0">
                <a:solidFill>
                  <a:srgbClr val="C9C9CE"/>
                </a:solidFill>
                <a:latin typeface="Arial" pitchFamily="34" charset="0"/>
                <a:ea typeface="Arial" pitchFamily="34" charset="-122"/>
                <a:cs typeface="Arial" pitchFamily="34" charset="-120"/>
              </a:rPr>
              <a:t>Power users running parallel loops compound their advantage over casual users; comp follows loop design, not task execution. And displacement fear is the political fuel behind slide 6’s equity-tax debate.</a:t>
            </a:r>
            <a:endParaRPr lang="en-US" sz="950" dirty="0"/>
          </a:p>
        </p:txBody>
      </p:sp>
      <p:sp>
        <p:nvSpPr>
          <p:cNvPr id="36" name="Text 34"/>
          <p:cNvSpPr/>
          <p:nvPr/>
        </p:nvSpPr>
        <p:spPr>
          <a:xfrm>
            <a:off x="457200" y="4334256"/>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Challenger, Gray &amp; Christmas via CNBC (Jun 5, 2026) &amp; CBS News; NY Fed via CNBC; entry-level payrolls: academic working papers; framing: internal strategic review (Jun 2026).</a:t>
            </a:r>
            <a:endParaRPr lang="en-US" sz="700" dirty="0"/>
          </a:p>
        </p:txBody>
      </p:sp>
      <p:sp>
        <p:nvSpPr>
          <p:cNvPr id="37" name="Shape 35"/>
          <p:cNvSpPr/>
          <p:nvPr/>
        </p:nvSpPr>
        <p:spPr>
          <a:xfrm>
            <a:off x="0" y="4526280"/>
            <a:ext cx="9144000" cy="617220"/>
          </a:xfrm>
          <a:prstGeom prst="rect">
            <a:avLst/>
          </a:prstGeom>
          <a:solidFill>
            <a:srgbClr val="000000"/>
          </a:solidFill>
          <a:ln/>
        </p:spPr>
      </p:sp>
      <p:sp>
        <p:nvSpPr>
          <p:cNvPr id="38" name="Shape 36"/>
          <p:cNvSpPr/>
          <p:nvPr/>
        </p:nvSpPr>
        <p:spPr>
          <a:xfrm>
            <a:off x="0" y="4526280"/>
            <a:ext cx="9144000" cy="0"/>
          </a:xfrm>
          <a:prstGeom prst="line">
            <a:avLst/>
          </a:prstGeom>
          <a:noFill/>
          <a:ln w="6350">
            <a:solidFill>
              <a:srgbClr val="2A2A30"/>
            </a:solidFill>
            <a:prstDash val="solid"/>
          </a:ln>
        </p:spPr>
      </p:sp>
      <p:sp>
        <p:nvSpPr>
          <p:cNvPr id="39" name="Text 37"/>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40" name="Text 38"/>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F6693D"/>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F6693D"/>
                </a:solidFill>
                <a:latin typeface="Arial" pitchFamily="34" charset="0"/>
                <a:ea typeface="Arial" pitchFamily="34" charset="-122"/>
                <a:cs typeface="Arial" pitchFamily="34" charset="-120"/>
              </a:rPr>
              <a:t>02  ·  MARKET IMPACT  —  FINANCING — THE GAP</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Capex outgrew cash flow</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The buildout was self-funded until it wasn’t. ~$705B of guided 2026 capex consumes the cash machine — and opens a funding gap.</a:t>
            </a:r>
            <a:endParaRPr lang="en-US" sz="1250" dirty="0"/>
          </a:p>
        </p:txBody>
      </p:sp>
      <p:sp>
        <p:nvSpPr>
          <p:cNvPr id="6" name="Text 4"/>
          <p:cNvSpPr/>
          <p:nvPr/>
        </p:nvSpPr>
        <p:spPr>
          <a:xfrm>
            <a:off x="457200" y="1481328"/>
            <a:ext cx="292608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Big-4 combined capex, $B</a:t>
            </a:r>
            <a:endParaRPr lang="en-US" sz="1300" dirty="0"/>
          </a:p>
        </p:txBody>
      </p:sp>
      <p:sp>
        <p:nvSpPr>
          <p:cNvPr id="7" name="Shape 5"/>
          <p:cNvSpPr/>
          <p:nvPr/>
        </p:nvSpPr>
        <p:spPr>
          <a:xfrm>
            <a:off x="457200" y="1783080"/>
            <a:ext cx="2926080" cy="0"/>
          </a:xfrm>
          <a:prstGeom prst="line">
            <a:avLst/>
          </a:prstGeom>
          <a:noFill/>
          <a:ln w="12700">
            <a:solidFill>
              <a:srgbClr val="F6693D"/>
            </a:solidFill>
            <a:prstDash val="solid"/>
          </a:ln>
        </p:spPr>
      </p:sp>
      <p:graphicFrame>
        <p:nvGraphicFramePr>
          <p:cNvPr id="8" name="Chart 0" descr=""/>
          <p:cNvGraphicFramePr/>
          <p:nvPr/>
        </p:nvGraphicFramePr>
        <p:xfrm>
          <a:off x="457200" y="1874520"/>
          <a:ext cx="2926080" cy="21031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457200" y="4005072"/>
            <a:ext cx="2926080" cy="274320"/>
          </a:xfrm>
          <a:prstGeom prst="rect">
            <a:avLst/>
          </a:prstGeom>
          <a:noFill/>
          <a:ln/>
        </p:spPr>
        <p:txBody>
          <a:bodyPr wrap="square" lIns="0" tIns="0" rIns="0" bIns="0" rtlCol="0" anchor="t"/>
          <a:lstStyle/>
          <a:p>
            <a:pPr algn="ctr" indent="0" marL="0">
              <a:buNone/>
            </a:pPr>
            <a:r>
              <a:rPr lang="en-US" sz="800" b="1" dirty="0">
                <a:solidFill>
                  <a:srgbClr val="F6693D"/>
                </a:solidFill>
                <a:latin typeface="Arial" pitchFamily="34" charset="0"/>
                <a:ea typeface="Arial" pitchFamily="34" charset="-122"/>
                <a:cs typeface="Arial" pitchFamily="34" charset="-120"/>
              </a:rPr>
              <a:t>+72% YoY — raised into record spend</a:t>
            </a:r>
            <a:endParaRPr lang="en-US" sz="800" dirty="0"/>
          </a:p>
        </p:txBody>
      </p:sp>
      <p:sp>
        <p:nvSpPr>
          <p:cNvPr id="10" name="Text 7"/>
          <p:cNvSpPr/>
          <p:nvPr/>
        </p:nvSpPr>
        <p:spPr>
          <a:xfrm>
            <a:off x="3749040" y="1481328"/>
            <a:ext cx="493776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The cash math, 2026E</a:t>
            </a:r>
            <a:endParaRPr lang="en-US" sz="1300" dirty="0"/>
          </a:p>
        </p:txBody>
      </p:sp>
      <p:sp>
        <p:nvSpPr>
          <p:cNvPr id="11" name="Shape 8"/>
          <p:cNvSpPr/>
          <p:nvPr/>
        </p:nvSpPr>
        <p:spPr>
          <a:xfrm>
            <a:off x="3749040" y="1783080"/>
            <a:ext cx="4937760" cy="0"/>
          </a:xfrm>
          <a:prstGeom prst="line">
            <a:avLst/>
          </a:prstGeom>
          <a:noFill/>
          <a:ln w="12700">
            <a:solidFill>
              <a:srgbClr val="F6693D"/>
            </a:solidFill>
            <a:prstDash val="solid"/>
          </a:ln>
        </p:spPr>
      </p:sp>
      <p:sp>
        <p:nvSpPr>
          <p:cNvPr id="12" name="Shape 9"/>
          <p:cNvSpPr/>
          <p:nvPr/>
        </p:nvSpPr>
        <p:spPr>
          <a:xfrm>
            <a:off x="3749040" y="1874520"/>
            <a:ext cx="2377440" cy="987552"/>
          </a:xfrm>
          <a:prstGeom prst="rect">
            <a:avLst/>
          </a:prstGeom>
          <a:solidFill>
            <a:srgbClr val="1C1C20"/>
          </a:solidFill>
          <a:ln/>
        </p:spPr>
      </p:sp>
      <p:sp>
        <p:nvSpPr>
          <p:cNvPr id="13" name="Shape 10"/>
          <p:cNvSpPr/>
          <p:nvPr/>
        </p:nvSpPr>
        <p:spPr>
          <a:xfrm>
            <a:off x="3749040" y="1874520"/>
            <a:ext cx="2377440" cy="45720"/>
          </a:xfrm>
          <a:prstGeom prst="rect">
            <a:avLst/>
          </a:prstGeom>
          <a:solidFill>
            <a:srgbClr val="F6693D"/>
          </a:solidFill>
          <a:ln/>
        </p:spPr>
      </p:sp>
      <p:sp>
        <p:nvSpPr>
          <p:cNvPr id="14" name="Text 11"/>
          <p:cNvSpPr/>
          <p:nvPr/>
        </p:nvSpPr>
        <p:spPr>
          <a:xfrm>
            <a:off x="3840480" y="1984248"/>
            <a:ext cx="2194560" cy="274320"/>
          </a:xfrm>
          <a:prstGeom prst="rect">
            <a:avLst/>
          </a:prstGeom>
          <a:noFill/>
          <a:ln/>
        </p:spPr>
        <p:txBody>
          <a:bodyPr wrap="square" lIns="0" tIns="0" rIns="0" bIns="0" rtlCol="0" anchor="ctr"/>
          <a:lstStyle/>
          <a:p>
            <a:pPr algn="ctr" indent="0" marL="0">
              <a:buNone/>
            </a:pPr>
            <a:r>
              <a:rPr lang="en-US" sz="1100" b="1" dirty="0">
                <a:solidFill>
                  <a:srgbClr val="F6693D"/>
                </a:solidFill>
                <a:latin typeface="Arial" pitchFamily="34" charset="0"/>
                <a:ea typeface="Arial" pitchFamily="34" charset="-122"/>
                <a:cs typeface="Arial" pitchFamily="34" charset="-120"/>
              </a:rPr>
              <a:t>Cash cover is gone.</a:t>
            </a:r>
            <a:endParaRPr lang="en-US" sz="1100" dirty="0"/>
          </a:p>
        </p:txBody>
      </p:sp>
      <p:sp>
        <p:nvSpPr>
          <p:cNvPr id="15" name="Text 12"/>
          <p:cNvSpPr/>
          <p:nvPr/>
        </p:nvSpPr>
        <p:spPr>
          <a:xfrm>
            <a:off x="3858768" y="2295144"/>
            <a:ext cx="2157984" cy="512064"/>
          </a:xfrm>
          <a:prstGeom prst="rect">
            <a:avLst/>
          </a:prstGeom>
          <a:noFill/>
          <a:ln/>
        </p:spPr>
        <p:txBody>
          <a:bodyPr wrap="square" lIns="0" tIns="0" rIns="0" bIns="0" rtlCol="0" anchor="t"/>
          <a:lstStyle/>
          <a:p>
            <a:pPr algn="ctr" indent="0" marL="0">
              <a:buNone/>
            </a:pPr>
            <a:r>
              <a:rPr lang="en-US" sz="750" dirty="0">
                <a:solidFill>
                  <a:srgbClr val="C9C9CE"/>
                </a:solidFill>
                <a:latin typeface="Arial" pitchFamily="34" charset="0"/>
                <a:ea typeface="Arial" pitchFamily="34" charset="-122"/>
                <a:cs typeface="Arial" pitchFamily="34" charset="-120"/>
              </a:rPr>
              <a:t>~94% of operating cash flow consumed by capex + dividends + buybacks (BofA)</a:t>
            </a:r>
            <a:endParaRPr lang="en-US" sz="750" dirty="0"/>
          </a:p>
        </p:txBody>
      </p:sp>
      <p:sp>
        <p:nvSpPr>
          <p:cNvPr id="16" name="Shape 13"/>
          <p:cNvSpPr/>
          <p:nvPr/>
        </p:nvSpPr>
        <p:spPr>
          <a:xfrm>
            <a:off x="6309360" y="1874520"/>
            <a:ext cx="2377440" cy="987552"/>
          </a:xfrm>
          <a:prstGeom prst="rect">
            <a:avLst/>
          </a:prstGeom>
          <a:solidFill>
            <a:srgbClr val="1C1C20"/>
          </a:solidFill>
          <a:ln/>
        </p:spPr>
      </p:sp>
      <p:sp>
        <p:nvSpPr>
          <p:cNvPr id="17" name="Shape 14"/>
          <p:cNvSpPr/>
          <p:nvPr/>
        </p:nvSpPr>
        <p:spPr>
          <a:xfrm>
            <a:off x="6309360" y="1874520"/>
            <a:ext cx="2377440" cy="45720"/>
          </a:xfrm>
          <a:prstGeom prst="rect">
            <a:avLst/>
          </a:prstGeom>
          <a:solidFill>
            <a:srgbClr val="FFB800"/>
          </a:solidFill>
          <a:ln/>
        </p:spPr>
      </p:sp>
      <p:sp>
        <p:nvSpPr>
          <p:cNvPr id="18" name="Text 15"/>
          <p:cNvSpPr/>
          <p:nvPr/>
        </p:nvSpPr>
        <p:spPr>
          <a:xfrm>
            <a:off x="6400800" y="1984248"/>
            <a:ext cx="2194560" cy="274320"/>
          </a:xfrm>
          <a:prstGeom prst="rect">
            <a:avLst/>
          </a:prstGeom>
          <a:noFill/>
          <a:ln/>
        </p:spPr>
        <p:txBody>
          <a:bodyPr wrap="square" lIns="0" tIns="0" rIns="0" bIns="0" rtlCol="0" anchor="ctr"/>
          <a:lstStyle/>
          <a:p>
            <a:pPr algn="ctr" indent="0" marL="0">
              <a:buNone/>
            </a:pPr>
            <a:r>
              <a:rPr lang="en-US" sz="1100" b="1" dirty="0">
                <a:solidFill>
                  <a:srgbClr val="FFB800"/>
                </a:solidFill>
                <a:latin typeface="Arial" pitchFamily="34" charset="0"/>
                <a:ea typeface="Arial" pitchFamily="34" charset="-122"/>
                <a:cs typeface="Arial" pitchFamily="34" charset="-120"/>
              </a:rPr>
              <a:t>Leanest since 2014.</a:t>
            </a:r>
            <a:endParaRPr lang="en-US" sz="1100" dirty="0"/>
          </a:p>
        </p:txBody>
      </p:sp>
      <p:sp>
        <p:nvSpPr>
          <p:cNvPr id="19" name="Text 16"/>
          <p:cNvSpPr/>
          <p:nvPr/>
        </p:nvSpPr>
        <p:spPr>
          <a:xfrm>
            <a:off x="6419088" y="2295144"/>
            <a:ext cx="2157984" cy="512064"/>
          </a:xfrm>
          <a:prstGeom prst="rect">
            <a:avLst/>
          </a:prstGeom>
          <a:noFill/>
          <a:ln/>
        </p:spPr>
        <p:txBody>
          <a:bodyPr wrap="square" lIns="0" tIns="0" rIns="0" bIns="0" rtlCol="0" anchor="t"/>
          <a:lstStyle/>
          <a:p>
            <a:pPr algn="ctr" indent="0" marL="0">
              <a:buNone/>
            </a:pPr>
            <a:r>
              <a:rPr lang="en-US" sz="750" dirty="0">
                <a:solidFill>
                  <a:srgbClr val="C9C9CE"/>
                </a:solidFill>
                <a:latin typeface="Arial" pitchFamily="34" charset="0"/>
                <a:ea typeface="Arial" pitchFamily="34" charset="-122"/>
                <a:cs typeface="Arial" pitchFamily="34" charset="-120"/>
              </a:rPr>
              <a:t>Big-4 free cash flow at a decade low — at far larger revenue (CNBC)</a:t>
            </a:r>
            <a:endParaRPr lang="en-US" sz="750" dirty="0"/>
          </a:p>
        </p:txBody>
      </p:sp>
      <p:sp>
        <p:nvSpPr>
          <p:cNvPr id="20" name="Shape 17"/>
          <p:cNvSpPr/>
          <p:nvPr/>
        </p:nvSpPr>
        <p:spPr>
          <a:xfrm>
            <a:off x="3749040" y="2971800"/>
            <a:ext cx="2377440" cy="987552"/>
          </a:xfrm>
          <a:prstGeom prst="rect">
            <a:avLst/>
          </a:prstGeom>
          <a:solidFill>
            <a:srgbClr val="1C1C20"/>
          </a:solidFill>
          <a:ln/>
        </p:spPr>
      </p:sp>
      <p:sp>
        <p:nvSpPr>
          <p:cNvPr id="21" name="Shape 18"/>
          <p:cNvSpPr/>
          <p:nvPr/>
        </p:nvSpPr>
        <p:spPr>
          <a:xfrm>
            <a:off x="3749040" y="2971800"/>
            <a:ext cx="2377440" cy="45720"/>
          </a:xfrm>
          <a:prstGeom prst="rect">
            <a:avLst/>
          </a:prstGeom>
          <a:solidFill>
            <a:srgbClr val="E5484D"/>
          </a:solidFill>
          <a:ln/>
        </p:spPr>
      </p:sp>
      <p:sp>
        <p:nvSpPr>
          <p:cNvPr id="22" name="Text 19"/>
          <p:cNvSpPr/>
          <p:nvPr/>
        </p:nvSpPr>
        <p:spPr>
          <a:xfrm>
            <a:off x="3840480" y="3081528"/>
            <a:ext cx="2194560" cy="274320"/>
          </a:xfrm>
          <a:prstGeom prst="rect">
            <a:avLst/>
          </a:prstGeom>
          <a:noFill/>
          <a:ln/>
        </p:spPr>
        <p:txBody>
          <a:bodyPr wrap="square" lIns="0" tIns="0" rIns="0" bIns="0" rtlCol="0" anchor="ctr"/>
          <a:lstStyle/>
          <a:p>
            <a:pPr algn="ctr" indent="0" marL="0">
              <a:buNone/>
            </a:pPr>
            <a:r>
              <a:rPr lang="en-US" sz="1100" b="1" dirty="0">
                <a:solidFill>
                  <a:srgbClr val="E5484D"/>
                </a:solidFill>
                <a:latin typeface="Arial" pitchFamily="34" charset="0"/>
                <a:ea typeface="Arial" pitchFamily="34" charset="-122"/>
                <a:cs typeface="Arial" pitchFamily="34" charset="-120"/>
              </a:rPr>
              <a:t>Amazon goes negative.</a:t>
            </a:r>
            <a:endParaRPr lang="en-US" sz="1100" dirty="0"/>
          </a:p>
        </p:txBody>
      </p:sp>
      <p:sp>
        <p:nvSpPr>
          <p:cNvPr id="23" name="Text 20"/>
          <p:cNvSpPr/>
          <p:nvPr/>
        </p:nvSpPr>
        <p:spPr>
          <a:xfrm>
            <a:off x="3858768" y="3392424"/>
            <a:ext cx="2157984" cy="512064"/>
          </a:xfrm>
          <a:prstGeom prst="rect">
            <a:avLst/>
          </a:prstGeom>
          <a:noFill/>
          <a:ln/>
        </p:spPr>
        <p:txBody>
          <a:bodyPr wrap="square" lIns="0" tIns="0" rIns="0" bIns="0" rtlCol="0" anchor="t"/>
          <a:lstStyle/>
          <a:p>
            <a:pPr algn="ctr" indent="0" marL="0">
              <a:buNone/>
            </a:pPr>
            <a:r>
              <a:rPr lang="en-US" sz="750" dirty="0">
                <a:solidFill>
                  <a:srgbClr val="C9C9CE"/>
                </a:solidFill>
                <a:latin typeface="Arial" pitchFamily="34" charset="0"/>
                <a:ea typeface="Arial" pitchFamily="34" charset="-122"/>
                <a:cs typeface="Arial" pitchFamily="34" charset="-120"/>
              </a:rPr>
              <a:t>2026E: $200B capex vs ~$140B operating cash flow</a:t>
            </a:r>
            <a:endParaRPr lang="en-US" sz="750" dirty="0"/>
          </a:p>
        </p:txBody>
      </p:sp>
      <p:sp>
        <p:nvSpPr>
          <p:cNvPr id="24" name="Shape 21"/>
          <p:cNvSpPr/>
          <p:nvPr/>
        </p:nvSpPr>
        <p:spPr>
          <a:xfrm>
            <a:off x="6309360" y="2971800"/>
            <a:ext cx="2377440" cy="987552"/>
          </a:xfrm>
          <a:prstGeom prst="rect">
            <a:avLst/>
          </a:prstGeom>
          <a:solidFill>
            <a:srgbClr val="1C1C20"/>
          </a:solidFill>
          <a:ln/>
        </p:spPr>
      </p:sp>
      <p:sp>
        <p:nvSpPr>
          <p:cNvPr id="25" name="Shape 22"/>
          <p:cNvSpPr/>
          <p:nvPr/>
        </p:nvSpPr>
        <p:spPr>
          <a:xfrm>
            <a:off x="6309360" y="2971800"/>
            <a:ext cx="2377440" cy="45720"/>
          </a:xfrm>
          <a:prstGeom prst="rect">
            <a:avLst/>
          </a:prstGeom>
          <a:solidFill>
            <a:srgbClr val="E8478D"/>
          </a:solidFill>
          <a:ln/>
        </p:spPr>
      </p:sp>
      <p:sp>
        <p:nvSpPr>
          <p:cNvPr id="26" name="Text 23"/>
          <p:cNvSpPr/>
          <p:nvPr/>
        </p:nvSpPr>
        <p:spPr>
          <a:xfrm>
            <a:off x="6400800" y="3081528"/>
            <a:ext cx="2194560" cy="274320"/>
          </a:xfrm>
          <a:prstGeom prst="rect">
            <a:avLst/>
          </a:prstGeom>
          <a:noFill/>
          <a:ln/>
        </p:spPr>
        <p:txBody>
          <a:bodyPr wrap="square" lIns="0" tIns="0" rIns="0" bIns="0" rtlCol="0" anchor="ctr"/>
          <a:lstStyle/>
          <a:p>
            <a:pPr algn="ctr" indent="0" marL="0">
              <a:buNone/>
            </a:pPr>
            <a:r>
              <a:rPr lang="en-US" sz="1100" b="1" dirty="0">
                <a:solidFill>
                  <a:srgbClr val="E8478D"/>
                </a:solidFill>
                <a:latin typeface="Arial" pitchFamily="34" charset="0"/>
                <a:ea typeface="Arial" pitchFamily="34" charset="-122"/>
                <a:cs typeface="Arial" pitchFamily="34" charset="-120"/>
              </a:rPr>
              <a:t>Alphabet FCF −90%.</a:t>
            </a:r>
            <a:endParaRPr lang="en-US" sz="1100" dirty="0"/>
          </a:p>
        </p:txBody>
      </p:sp>
      <p:sp>
        <p:nvSpPr>
          <p:cNvPr id="27" name="Text 24"/>
          <p:cNvSpPr/>
          <p:nvPr/>
        </p:nvSpPr>
        <p:spPr>
          <a:xfrm>
            <a:off x="6419088" y="3392424"/>
            <a:ext cx="2157984" cy="512064"/>
          </a:xfrm>
          <a:prstGeom prst="rect">
            <a:avLst/>
          </a:prstGeom>
          <a:noFill/>
          <a:ln/>
        </p:spPr>
        <p:txBody>
          <a:bodyPr wrap="square" lIns="0" tIns="0" rIns="0" bIns="0" rtlCol="0" anchor="t"/>
          <a:lstStyle/>
          <a:p>
            <a:pPr algn="ctr" indent="0" marL="0">
              <a:buNone/>
            </a:pPr>
            <a:r>
              <a:rPr lang="en-US" sz="750" dirty="0">
                <a:solidFill>
                  <a:srgbClr val="C9C9CE"/>
                </a:solidFill>
                <a:latin typeface="Arial" pitchFamily="34" charset="0"/>
                <a:ea typeface="Arial" pitchFamily="34" charset="-122"/>
                <a:cs typeface="Arial" pitchFamily="34" charset="-120"/>
              </a:rPr>
              <a:t>FCF falls to ~$8B; Microsoft down ~28% (2026E)</a:t>
            </a:r>
            <a:endParaRPr lang="en-US" sz="750" dirty="0"/>
          </a:p>
        </p:txBody>
      </p:sp>
      <p:sp>
        <p:nvSpPr>
          <p:cNvPr id="28" name="Text 25"/>
          <p:cNvSpPr/>
          <p:nvPr/>
        </p:nvSpPr>
        <p:spPr>
          <a:xfrm>
            <a:off x="3749040" y="3986784"/>
            <a:ext cx="4937760" cy="292608"/>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The “self-funding megacap” contract broke in 2026. </a:t>
            </a:r>
            <a:pPr indent="0" marL="0">
              <a:buNone/>
            </a:pPr>
            <a:r>
              <a:rPr lang="en-US" sz="1000" dirty="0">
                <a:solidFill>
                  <a:srgbClr val="C9C9CE"/>
                </a:solidFill>
                <a:latin typeface="Arial" pitchFamily="34" charset="0"/>
                <a:ea typeface="Arial" pitchFamily="34" charset="-122"/>
                <a:cs typeface="Arial" pitchFamily="34" charset="-120"/>
              </a:rPr>
              <a:t>What filled the gap is on the next slide.</a:t>
            </a:r>
            <a:endParaRPr lang="en-US" sz="1000" dirty="0"/>
          </a:p>
        </p:txBody>
      </p:sp>
      <p:sp>
        <p:nvSpPr>
          <p:cNvPr id="29" name="Text 26"/>
          <p:cNvSpPr/>
          <p:nvPr/>
        </p:nvSpPr>
        <p:spPr>
          <a:xfrm>
            <a:off x="457200" y="4315968"/>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BofA via Breckinridge; CNBC (Feb 6, 2026); techtimes/beincrypto FCF estimates; capex guidance via CNBC, Tom’s Hardware, Statista (midpoints).</a:t>
            </a:r>
            <a:endParaRPr lang="en-US" sz="700" dirty="0"/>
          </a:p>
        </p:txBody>
      </p:sp>
      <p:sp>
        <p:nvSpPr>
          <p:cNvPr id="30" name="Shape 27"/>
          <p:cNvSpPr/>
          <p:nvPr/>
        </p:nvSpPr>
        <p:spPr>
          <a:xfrm>
            <a:off x="0" y="4526280"/>
            <a:ext cx="9144000" cy="617220"/>
          </a:xfrm>
          <a:prstGeom prst="rect">
            <a:avLst/>
          </a:prstGeom>
          <a:solidFill>
            <a:srgbClr val="000000"/>
          </a:solidFill>
          <a:ln/>
        </p:spPr>
      </p:sp>
      <p:sp>
        <p:nvSpPr>
          <p:cNvPr id="31" name="Shape 28"/>
          <p:cNvSpPr/>
          <p:nvPr/>
        </p:nvSpPr>
        <p:spPr>
          <a:xfrm>
            <a:off x="0" y="4526280"/>
            <a:ext cx="9144000" cy="0"/>
          </a:xfrm>
          <a:prstGeom prst="line">
            <a:avLst/>
          </a:prstGeom>
          <a:noFill/>
          <a:ln w="6350">
            <a:solidFill>
              <a:srgbClr val="2A2A30"/>
            </a:solidFill>
            <a:prstDash val="solid"/>
          </a:ln>
        </p:spPr>
      </p:sp>
      <p:sp>
        <p:nvSpPr>
          <p:cNvPr id="32" name="Text 29"/>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33" name="Text 30"/>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F6693D"/>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F6693D"/>
                </a:solidFill>
                <a:latin typeface="Arial" pitchFamily="34" charset="0"/>
                <a:ea typeface="Arial" pitchFamily="34" charset="-122"/>
                <a:cs typeface="Arial" pitchFamily="34" charset="-120"/>
              </a:rPr>
              <a:t>02  ·  MARKET IMPACT  —  FINANCING — THE BOND WAVE</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The buildout moved into the bond market</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$105B+ of investment-grade mega-deals in six months — record prints, a live CDS signal, and ~$300B of supply expected for full-year 2026.</a:t>
            </a:r>
            <a:endParaRPr lang="en-US" sz="1250" dirty="0"/>
          </a:p>
        </p:txBody>
      </p:sp>
      <p:sp>
        <p:nvSpPr>
          <p:cNvPr id="6" name="Text 4"/>
          <p:cNvSpPr/>
          <p:nvPr/>
        </p:nvSpPr>
        <p:spPr>
          <a:xfrm>
            <a:off x="457200" y="1481328"/>
            <a:ext cx="539496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The issuance ledger</a:t>
            </a:r>
            <a:endParaRPr lang="en-US" sz="1300" dirty="0"/>
          </a:p>
        </p:txBody>
      </p:sp>
      <p:sp>
        <p:nvSpPr>
          <p:cNvPr id="7" name="Shape 5"/>
          <p:cNvSpPr/>
          <p:nvPr/>
        </p:nvSpPr>
        <p:spPr>
          <a:xfrm>
            <a:off x="457200" y="1783080"/>
            <a:ext cx="5394960" cy="0"/>
          </a:xfrm>
          <a:prstGeom prst="line">
            <a:avLst/>
          </a:prstGeom>
          <a:noFill/>
          <a:ln w="12700">
            <a:solidFill>
              <a:srgbClr val="F6693D"/>
            </a:solidFill>
            <a:prstDash val="solid"/>
          </a:ln>
        </p:spPr>
      </p:sp>
      <p:sp>
        <p:nvSpPr>
          <p:cNvPr id="8" name="Shape 6"/>
          <p:cNvSpPr/>
          <p:nvPr/>
        </p:nvSpPr>
        <p:spPr>
          <a:xfrm>
            <a:off x="640080" y="2761488"/>
            <a:ext cx="5029200" cy="0"/>
          </a:xfrm>
          <a:prstGeom prst="line">
            <a:avLst/>
          </a:prstGeom>
          <a:noFill/>
          <a:ln w="19050">
            <a:solidFill>
              <a:srgbClr val="2A2A30"/>
            </a:solidFill>
            <a:prstDash val="solid"/>
          </a:ln>
        </p:spPr>
      </p:sp>
      <p:sp>
        <p:nvSpPr>
          <p:cNvPr id="9" name="Shape 7"/>
          <p:cNvSpPr/>
          <p:nvPr/>
        </p:nvSpPr>
        <p:spPr>
          <a:xfrm>
            <a:off x="923544" y="2706624"/>
            <a:ext cx="109728" cy="109728"/>
          </a:xfrm>
          <a:prstGeom prst="ellipse">
            <a:avLst/>
          </a:prstGeom>
          <a:solidFill>
            <a:srgbClr val="F6693D"/>
          </a:solidFill>
          <a:ln/>
        </p:spPr>
      </p:sp>
      <p:sp>
        <p:nvSpPr>
          <p:cNvPr id="10" name="Text 8"/>
          <p:cNvSpPr/>
          <p:nvPr/>
        </p:nvSpPr>
        <p:spPr>
          <a:xfrm>
            <a:off x="457200" y="2286000"/>
            <a:ext cx="1042416" cy="329184"/>
          </a:xfrm>
          <a:prstGeom prst="rect">
            <a:avLst/>
          </a:prstGeom>
          <a:noFill/>
          <a:ln/>
        </p:spPr>
        <p:txBody>
          <a:bodyPr wrap="square" lIns="0" tIns="0" rIns="0" bIns="0" rtlCol="0" anchor="ctr"/>
          <a:lstStyle/>
          <a:p>
            <a:pPr algn="ctr" indent="0" marL="0">
              <a:buNone/>
            </a:pPr>
            <a:r>
              <a:rPr lang="en-US" sz="1400" b="1" dirty="0">
                <a:solidFill>
                  <a:srgbClr val="F6693D"/>
                </a:solidFill>
                <a:latin typeface="Arial Black" pitchFamily="34" charset="0"/>
                <a:ea typeface="Arial Black" pitchFamily="34" charset="-122"/>
                <a:cs typeface="Arial Black" pitchFamily="34" charset="-120"/>
              </a:rPr>
              <a:t>$18B</a:t>
            </a:r>
            <a:endParaRPr lang="en-US" sz="1400" dirty="0"/>
          </a:p>
        </p:txBody>
      </p:sp>
      <p:sp>
        <p:nvSpPr>
          <p:cNvPr id="11" name="Text 9"/>
          <p:cNvSpPr/>
          <p:nvPr/>
        </p:nvSpPr>
        <p:spPr>
          <a:xfrm>
            <a:off x="457200" y="2926080"/>
            <a:ext cx="1042416" cy="566928"/>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Oracle</a:t>
            </a:r>
            <a:endParaRPr lang="en-US" sz="800" dirty="0"/>
          </a:p>
          <a:p>
            <a:pPr algn="ctr" indent="0" marL="0">
              <a:buNone/>
            </a:pPr>
            <a:r>
              <a:rPr lang="en-US" sz="750" dirty="0">
                <a:solidFill>
                  <a:srgbClr val="9A9AA0"/>
                </a:solidFill>
                <a:latin typeface="Arial" pitchFamily="34" charset="0"/>
                <a:ea typeface="Arial" pitchFamily="34" charset="-122"/>
                <a:cs typeface="Arial" pitchFamily="34" charset="-120"/>
              </a:rPr>
              <a:t>Sep ’25</a:t>
            </a:r>
            <a:endParaRPr lang="en-US" sz="800" dirty="0"/>
          </a:p>
        </p:txBody>
      </p:sp>
      <p:sp>
        <p:nvSpPr>
          <p:cNvPr id="12" name="Shape 10"/>
          <p:cNvSpPr/>
          <p:nvPr/>
        </p:nvSpPr>
        <p:spPr>
          <a:xfrm>
            <a:off x="2002536" y="2706624"/>
            <a:ext cx="109728" cy="109728"/>
          </a:xfrm>
          <a:prstGeom prst="ellipse">
            <a:avLst/>
          </a:prstGeom>
          <a:solidFill>
            <a:srgbClr val="F6693D"/>
          </a:solidFill>
          <a:ln/>
        </p:spPr>
      </p:sp>
      <p:sp>
        <p:nvSpPr>
          <p:cNvPr id="13" name="Text 11"/>
          <p:cNvSpPr/>
          <p:nvPr/>
        </p:nvSpPr>
        <p:spPr>
          <a:xfrm>
            <a:off x="1536192" y="2286000"/>
            <a:ext cx="1042416" cy="329184"/>
          </a:xfrm>
          <a:prstGeom prst="rect">
            <a:avLst/>
          </a:prstGeom>
          <a:noFill/>
          <a:ln/>
        </p:spPr>
        <p:txBody>
          <a:bodyPr wrap="square" lIns="0" tIns="0" rIns="0" bIns="0" rtlCol="0" anchor="ctr"/>
          <a:lstStyle/>
          <a:p>
            <a:pPr algn="ctr" indent="0" marL="0">
              <a:buNone/>
            </a:pPr>
            <a:r>
              <a:rPr lang="en-US" sz="1400" b="1" dirty="0">
                <a:solidFill>
                  <a:srgbClr val="F6693D"/>
                </a:solidFill>
                <a:latin typeface="Arial Black" pitchFamily="34" charset="0"/>
                <a:ea typeface="Arial Black" pitchFamily="34" charset="-122"/>
                <a:cs typeface="Arial Black" pitchFamily="34" charset="-120"/>
              </a:rPr>
              <a:t>$30B</a:t>
            </a:r>
            <a:endParaRPr lang="en-US" sz="1400" dirty="0"/>
          </a:p>
        </p:txBody>
      </p:sp>
      <p:sp>
        <p:nvSpPr>
          <p:cNvPr id="14" name="Text 12"/>
          <p:cNvSpPr/>
          <p:nvPr/>
        </p:nvSpPr>
        <p:spPr>
          <a:xfrm>
            <a:off x="1536192" y="2926080"/>
            <a:ext cx="1042416" cy="566928"/>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Meta</a:t>
            </a:r>
            <a:endParaRPr lang="en-US" sz="800" dirty="0"/>
          </a:p>
          <a:p>
            <a:pPr algn="ctr" indent="0" marL="0">
              <a:buNone/>
            </a:pPr>
            <a:r>
              <a:rPr lang="en-US" sz="680" dirty="0">
                <a:solidFill>
                  <a:srgbClr val="9A9AA0"/>
                </a:solidFill>
                <a:latin typeface="Arial" pitchFamily="34" charset="0"/>
                <a:ea typeface="Arial" pitchFamily="34" charset="-122"/>
                <a:cs typeface="Arial" pitchFamily="34" charset="-120"/>
              </a:rPr>
              <a:t>record non-M&amp;A IG</a:t>
            </a:r>
            <a:endParaRPr lang="en-US" sz="800" dirty="0"/>
          </a:p>
          <a:p>
            <a:pPr algn="ctr" indent="0" marL="0">
              <a:buNone/>
            </a:pPr>
            <a:r>
              <a:rPr lang="en-US" sz="750" dirty="0">
                <a:solidFill>
                  <a:srgbClr val="9A9AA0"/>
                </a:solidFill>
                <a:latin typeface="Arial" pitchFamily="34" charset="0"/>
                <a:ea typeface="Arial" pitchFamily="34" charset="-122"/>
                <a:cs typeface="Arial" pitchFamily="34" charset="-120"/>
              </a:rPr>
              <a:t>Oct ’25</a:t>
            </a:r>
            <a:endParaRPr lang="en-US" sz="800" dirty="0"/>
          </a:p>
        </p:txBody>
      </p:sp>
      <p:sp>
        <p:nvSpPr>
          <p:cNvPr id="15" name="Shape 13"/>
          <p:cNvSpPr/>
          <p:nvPr/>
        </p:nvSpPr>
        <p:spPr>
          <a:xfrm>
            <a:off x="3081528" y="2706624"/>
            <a:ext cx="109728" cy="109728"/>
          </a:xfrm>
          <a:prstGeom prst="ellipse">
            <a:avLst/>
          </a:prstGeom>
          <a:solidFill>
            <a:srgbClr val="F6693D"/>
          </a:solidFill>
          <a:ln/>
        </p:spPr>
      </p:sp>
      <p:sp>
        <p:nvSpPr>
          <p:cNvPr id="16" name="Text 14"/>
          <p:cNvSpPr/>
          <p:nvPr/>
        </p:nvSpPr>
        <p:spPr>
          <a:xfrm>
            <a:off x="2615184" y="2286000"/>
            <a:ext cx="1042416" cy="329184"/>
          </a:xfrm>
          <a:prstGeom prst="rect">
            <a:avLst/>
          </a:prstGeom>
          <a:noFill/>
          <a:ln/>
        </p:spPr>
        <p:txBody>
          <a:bodyPr wrap="square" lIns="0" tIns="0" rIns="0" bIns="0" rtlCol="0" anchor="ctr"/>
          <a:lstStyle/>
          <a:p>
            <a:pPr algn="ctr" indent="0" marL="0">
              <a:buNone/>
            </a:pPr>
            <a:r>
              <a:rPr lang="en-US" sz="1400" b="1" dirty="0">
                <a:solidFill>
                  <a:srgbClr val="F6693D"/>
                </a:solidFill>
                <a:latin typeface="Arial Black" pitchFamily="34" charset="0"/>
                <a:ea typeface="Arial Black" pitchFamily="34" charset="-122"/>
                <a:cs typeface="Arial Black" pitchFamily="34" charset="-120"/>
              </a:rPr>
              <a:t>$17.5B</a:t>
            </a:r>
            <a:endParaRPr lang="en-US" sz="1400" dirty="0"/>
          </a:p>
        </p:txBody>
      </p:sp>
      <p:sp>
        <p:nvSpPr>
          <p:cNvPr id="17" name="Text 15"/>
          <p:cNvSpPr/>
          <p:nvPr/>
        </p:nvSpPr>
        <p:spPr>
          <a:xfrm>
            <a:off x="2615184" y="2926080"/>
            <a:ext cx="1042416" cy="566928"/>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Alphabet</a:t>
            </a:r>
            <a:endParaRPr lang="en-US" sz="800" dirty="0"/>
          </a:p>
          <a:p>
            <a:pPr algn="ctr" indent="0" marL="0">
              <a:buNone/>
            </a:pPr>
            <a:r>
              <a:rPr lang="en-US" sz="750" dirty="0">
                <a:solidFill>
                  <a:srgbClr val="9A9AA0"/>
                </a:solidFill>
                <a:latin typeface="Arial" pitchFamily="34" charset="0"/>
                <a:ea typeface="Arial" pitchFamily="34" charset="-122"/>
                <a:cs typeface="Arial" pitchFamily="34" charset="-120"/>
              </a:rPr>
              <a:t>Nov ’25</a:t>
            </a:r>
            <a:endParaRPr lang="en-US" sz="800" dirty="0"/>
          </a:p>
        </p:txBody>
      </p:sp>
      <p:sp>
        <p:nvSpPr>
          <p:cNvPr id="18" name="Shape 16"/>
          <p:cNvSpPr/>
          <p:nvPr/>
        </p:nvSpPr>
        <p:spPr>
          <a:xfrm>
            <a:off x="4160520" y="2706624"/>
            <a:ext cx="109728" cy="109728"/>
          </a:xfrm>
          <a:prstGeom prst="ellipse">
            <a:avLst/>
          </a:prstGeom>
          <a:solidFill>
            <a:srgbClr val="F6693D"/>
          </a:solidFill>
          <a:ln/>
        </p:spPr>
      </p:sp>
      <p:sp>
        <p:nvSpPr>
          <p:cNvPr id="19" name="Text 17"/>
          <p:cNvSpPr/>
          <p:nvPr/>
        </p:nvSpPr>
        <p:spPr>
          <a:xfrm>
            <a:off x="3694176" y="2286000"/>
            <a:ext cx="1042416" cy="329184"/>
          </a:xfrm>
          <a:prstGeom prst="rect">
            <a:avLst/>
          </a:prstGeom>
          <a:noFill/>
          <a:ln/>
        </p:spPr>
        <p:txBody>
          <a:bodyPr wrap="square" lIns="0" tIns="0" rIns="0" bIns="0" rtlCol="0" anchor="ctr"/>
          <a:lstStyle/>
          <a:p>
            <a:pPr algn="ctr" indent="0" marL="0">
              <a:buNone/>
            </a:pPr>
            <a:r>
              <a:rPr lang="en-US" sz="1400" b="1" dirty="0">
                <a:solidFill>
                  <a:srgbClr val="F6693D"/>
                </a:solidFill>
                <a:latin typeface="Arial Black" pitchFamily="34" charset="0"/>
                <a:ea typeface="Arial Black" pitchFamily="34" charset="-122"/>
                <a:cs typeface="Arial Black" pitchFamily="34" charset="-120"/>
              </a:rPr>
              <a:t>$15B</a:t>
            </a:r>
            <a:endParaRPr lang="en-US" sz="1400" dirty="0"/>
          </a:p>
        </p:txBody>
      </p:sp>
      <p:sp>
        <p:nvSpPr>
          <p:cNvPr id="20" name="Text 18"/>
          <p:cNvSpPr/>
          <p:nvPr/>
        </p:nvSpPr>
        <p:spPr>
          <a:xfrm>
            <a:off x="3694176" y="2926080"/>
            <a:ext cx="1042416" cy="566928"/>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Amazon</a:t>
            </a:r>
            <a:endParaRPr lang="en-US" sz="800" dirty="0"/>
          </a:p>
          <a:p>
            <a:pPr algn="ctr" indent="0" marL="0">
              <a:buNone/>
            </a:pPr>
            <a:r>
              <a:rPr lang="en-US" sz="750" dirty="0">
                <a:solidFill>
                  <a:srgbClr val="9A9AA0"/>
                </a:solidFill>
                <a:latin typeface="Arial" pitchFamily="34" charset="0"/>
                <a:ea typeface="Arial" pitchFamily="34" charset="-122"/>
                <a:cs typeface="Arial" pitchFamily="34" charset="-120"/>
              </a:rPr>
              <a:t>Nov ’25</a:t>
            </a:r>
            <a:endParaRPr lang="en-US" sz="800" dirty="0"/>
          </a:p>
        </p:txBody>
      </p:sp>
      <p:sp>
        <p:nvSpPr>
          <p:cNvPr id="21" name="Shape 19"/>
          <p:cNvSpPr/>
          <p:nvPr/>
        </p:nvSpPr>
        <p:spPr>
          <a:xfrm>
            <a:off x="5239512" y="2706624"/>
            <a:ext cx="109728" cy="109728"/>
          </a:xfrm>
          <a:prstGeom prst="ellipse">
            <a:avLst/>
          </a:prstGeom>
          <a:solidFill>
            <a:srgbClr val="F6693D"/>
          </a:solidFill>
          <a:ln/>
        </p:spPr>
      </p:sp>
      <p:sp>
        <p:nvSpPr>
          <p:cNvPr id="22" name="Text 20"/>
          <p:cNvSpPr/>
          <p:nvPr/>
        </p:nvSpPr>
        <p:spPr>
          <a:xfrm>
            <a:off x="4773168" y="2286000"/>
            <a:ext cx="1042416" cy="329184"/>
          </a:xfrm>
          <a:prstGeom prst="rect">
            <a:avLst/>
          </a:prstGeom>
          <a:noFill/>
          <a:ln/>
        </p:spPr>
        <p:txBody>
          <a:bodyPr wrap="square" lIns="0" tIns="0" rIns="0" bIns="0" rtlCol="0" anchor="ctr"/>
          <a:lstStyle/>
          <a:p>
            <a:pPr algn="ctr" indent="0" marL="0">
              <a:buNone/>
            </a:pPr>
            <a:r>
              <a:rPr lang="en-US" sz="1400" b="1" dirty="0">
                <a:solidFill>
                  <a:srgbClr val="F6693D"/>
                </a:solidFill>
                <a:latin typeface="Arial Black" pitchFamily="34" charset="0"/>
                <a:ea typeface="Arial Black" pitchFamily="34" charset="-122"/>
                <a:cs typeface="Arial Black" pitchFamily="34" charset="-120"/>
              </a:rPr>
              <a:t>$25B</a:t>
            </a:r>
            <a:endParaRPr lang="en-US" sz="1400" dirty="0"/>
          </a:p>
        </p:txBody>
      </p:sp>
      <p:sp>
        <p:nvSpPr>
          <p:cNvPr id="23" name="Text 21"/>
          <p:cNvSpPr/>
          <p:nvPr/>
        </p:nvSpPr>
        <p:spPr>
          <a:xfrm>
            <a:off x="4773168" y="2926080"/>
            <a:ext cx="1042416" cy="566928"/>
          </a:xfrm>
          <a:prstGeom prst="rect">
            <a:avLst/>
          </a:prstGeom>
          <a:noFill/>
          <a:ln/>
        </p:spPr>
        <p:txBody>
          <a:bodyPr wrap="square" lIns="0" tIns="0" rIns="0" bIns="0" rtlCol="0" anchor="t"/>
          <a:lstStyle/>
          <a:p>
            <a:pPr algn="ctr" indent="0" marL="0">
              <a:buNone/>
            </a:pPr>
            <a:r>
              <a:rPr lang="en-US" sz="800" b="1" dirty="0">
                <a:solidFill>
                  <a:srgbClr val="FFFFFF"/>
                </a:solidFill>
                <a:latin typeface="Arial" pitchFamily="34" charset="0"/>
                <a:ea typeface="Arial" pitchFamily="34" charset="-122"/>
                <a:cs typeface="Arial" pitchFamily="34" charset="-120"/>
              </a:rPr>
              <a:t>Oracle</a:t>
            </a:r>
            <a:endParaRPr lang="en-US" sz="800" dirty="0"/>
          </a:p>
          <a:p>
            <a:pPr algn="ctr" indent="0" marL="0">
              <a:buNone/>
            </a:pPr>
            <a:r>
              <a:rPr lang="en-US" sz="680" dirty="0">
                <a:solidFill>
                  <a:srgbClr val="9A9AA0"/>
                </a:solidFill>
                <a:latin typeface="Arial" pitchFamily="34" charset="0"/>
                <a:ea typeface="Arial" pitchFamily="34" charset="-122"/>
                <a:cs typeface="Arial" pitchFamily="34" charset="-120"/>
              </a:rPr>
              <a:t>8 tranches</a:t>
            </a:r>
            <a:endParaRPr lang="en-US" sz="800" dirty="0"/>
          </a:p>
          <a:p>
            <a:pPr algn="ctr" indent="0" marL="0">
              <a:buNone/>
            </a:pPr>
            <a:r>
              <a:rPr lang="en-US" sz="750" dirty="0">
                <a:solidFill>
                  <a:srgbClr val="9A9AA0"/>
                </a:solidFill>
                <a:latin typeface="Arial" pitchFamily="34" charset="0"/>
                <a:ea typeface="Arial" pitchFamily="34" charset="-122"/>
                <a:cs typeface="Arial" pitchFamily="34" charset="-120"/>
              </a:rPr>
              <a:t>Feb ’26</a:t>
            </a:r>
            <a:endParaRPr lang="en-US" sz="800" dirty="0"/>
          </a:p>
        </p:txBody>
      </p:sp>
      <p:sp>
        <p:nvSpPr>
          <p:cNvPr id="24" name="Shape 22"/>
          <p:cNvSpPr/>
          <p:nvPr/>
        </p:nvSpPr>
        <p:spPr>
          <a:xfrm>
            <a:off x="457200" y="3657600"/>
            <a:ext cx="5394960" cy="502920"/>
          </a:xfrm>
          <a:prstGeom prst="rect">
            <a:avLst/>
          </a:prstGeom>
          <a:solidFill>
            <a:srgbClr val="1C1C20"/>
          </a:solidFill>
          <a:ln/>
        </p:spPr>
      </p:sp>
      <p:sp>
        <p:nvSpPr>
          <p:cNvPr id="25" name="Shape 23"/>
          <p:cNvSpPr/>
          <p:nvPr/>
        </p:nvSpPr>
        <p:spPr>
          <a:xfrm>
            <a:off x="457200" y="3657600"/>
            <a:ext cx="64008" cy="502920"/>
          </a:xfrm>
          <a:prstGeom prst="rect">
            <a:avLst/>
          </a:prstGeom>
          <a:solidFill>
            <a:srgbClr val="F6693D"/>
          </a:solidFill>
          <a:ln/>
        </p:spPr>
      </p:sp>
      <p:sp>
        <p:nvSpPr>
          <p:cNvPr id="26" name="Text 24"/>
          <p:cNvSpPr/>
          <p:nvPr/>
        </p:nvSpPr>
        <p:spPr>
          <a:xfrm>
            <a:off x="621792" y="3657600"/>
            <a:ext cx="5120640" cy="502920"/>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$105B+ in six months. </a:t>
            </a:r>
            <a:pPr indent="0" marL="0">
              <a:buNone/>
            </a:pPr>
            <a:r>
              <a:rPr lang="en-US" sz="950" dirty="0">
                <a:solidFill>
                  <a:srgbClr val="C9C9CE"/>
                </a:solidFill>
                <a:latin typeface="Arial" pitchFamily="34" charset="0"/>
                <a:ea typeface="Arial" pitchFamily="34" charset="-122"/>
                <a:cs typeface="Arial" pitchFamily="34" charset="-120"/>
              </a:rPr>
              <a:t>The marginal dollar of AI capex is now priced daily by the bond market.</a:t>
            </a:r>
            <a:endParaRPr lang="en-US" sz="1100" dirty="0"/>
          </a:p>
        </p:txBody>
      </p:sp>
      <p:sp>
        <p:nvSpPr>
          <p:cNvPr id="27" name="Text 25"/>
          <p:cNvSpPr/>
          <p:nvPr/>
        </p:nvSpPr>
        <p:spPr>
          <a:xfrm>
            <a:off x="6080760" y="1600200"/>
            <a:ext cx="2606040" cy="384048"/>
          </a:xfrm>
          <a:prstGeom prst="rect">
            <a:avLst/>
          </a:prstGeom>
          <a:noFill/>
          <a:ln/>
        </p:spPr>
        <p:txBody>
          <a:bodyPr wrap="square" lIns="0" tIns="0" rIns="0" bIns="0" rtlCol="0" anchor="ctr"/>
          <a:lstStyle/>
          <a:p>
            <a:pPr indent="0" marL="0">
              <a:buNone/>
            </a:pPr>
            <a:r>
              <a:rPr lang="en-US" sz="2200" b="1" dirty="0">
                <a:solidFill>
                  <a:srgbClr val="F6693D"/>
                </a:solidFill>
                <a:latin typeface="Arial Black" pitchFamily="34" charset="0"/>
                <a:ea typeface="Arial Black" pitchFamily="34" charset="-122"/>
                <a:cs typeface="Arial Black" pitchFamily="34" charset="-120"/>
              </a:rPr>
              <a:t>~$300B</a:t>
            </a:r>
            <a:endParaRPr lang="en-US" sz="2200" dirty="0"/>
          </a:p>
        </p:txBody>
      </p:sp>
      <p:sp>
        <p:nvSpPr>
          <p:cNvPr id="28" name="Text 26"/>
          <p:cNvSpPr/>
          <p:nvPr/>
        </p:nvSpPr>
        <p:spPr>
          <a:xfrm>
            <a:off x="6080760" y="2002536"/>
            <a:ext cx="2606040" cy="438912"/>
          </a:xfrm>
          <a:prstGeom prst="rect">
            <a:avLst/>
          </a:prstGeom>
          <a:noFill/>
          <a:ln/>
        </p:spPr>
        <p:txBody>
          <a:bodyPr wrap="square" lIns="0" tIns="0" rIns="0" bIns="0" rtlCol="0" anchor="t"/>
          <a:lstStyle/>
          <a:p>
            <a:pPr indent="0" marL="0">
              <a:buNone/>
            </a:pPr>
            <a:r>
              <a:rPr lang="en-US" sz="750" dirty="0">
                <a:solidFill>
                  <a:srgbClr val="9A9AA0"/>
                </a:solidFill>
                <a:latin typeface="Arial" pitchFamily="34" charset="0"/>
                <a:ea typeface="Arial" pitchFamily="34" charset="-122"/>
                <a:cs typeface="Arial" pitchFamily="34" charset="-120"/>
              </a:rPr>
              <a:t>AI-linked investment-grade supply expected in 2026 (UBS, Barclays via Reuters).</a:t>
            </a:r>
            <a:endParaRPr lang="en-US" sz="750" dirty="0"/>
          </a:p>
        </p:txBody>
      </p:sp>
      <p:sp>
        <p:nvSpPr>
          <p:cNvPr id="29" name="Text 27"/>
          <p:cNvSpPr/>
          <p:nvPr/>
        </p:nvSpPr>
        <p:spPr>
          <a:xfrm>
            <a:off x="6080760" y="2331720"/>
            <a:ext cx="2606040" cy="384048"/>
          </a:xfrm>
          <a:prstGeom prst="rect">
            <a:avLst/>
          </a:prstGeom>
          <a:noFill/>
          <a:ln/>
        </p:spPr>
        <p:txBody>
          <a:bodyPr wrap="square" lIns="0" tIns="0" rIns="0" bIns="0" rtlCol="0" anchor="ctr"/>
          <a:lstStyle/>
          <a:p>
            <a:pPr indent="0" marL="0">
              <a:buNone/>
            </a:pPr>
            <a:r>
              <a:rPr lang="en-US" sz="2200" b="1" dirty="0">
                <a:solidFill>
                  <a:srgbClr val="FFB800"/>
                </a:solidFill>
                <a:latin typeface="Arial Black" pitchFamily="34" charset="0"/>
                <a:ea typeface="Arial Black" pitchFamily="34" charset="-122"/>
                <a:cs typeface="Arial Black" pitchFamily="34" charset="-120"/>
              </a:rPr>
              <a:t>&gt;125bp</a:t>
            </a:r>
            <a:endParaRPr lang="en-US" sz="2200" dirty="0"/>
          </a:p>
        </p:txBody>
      </p:sp>
      <p:sp>
        <p:nvSpPr>
          <p:cNvPr id="30" name="Text 28"/>
          <p:cNvSpPr/>
          <p:nvPr/>
        </p:nvSpPr>
        <p:spPr>
          <a:xfrm>
            <a:off x="6080760" y="2734056"/>
            <a:ext cx="2606040" cy="438912"/>
          </a:xfrm>
          <a:prstGeom prst="rect">
            <a:avLst/>
          </a:prstGeom>
          <a:noFill/>
          <a:ln/>
        </p:spPr>
        <p:txBody>
          <a:bodyPr wrap="square" lIns="0" tIns="0" rIns="0" bIns="0" rtlCol="0" anchor="t"/>
          <a:lstStyle/>
          <a:p>
            <a:pPr indent="0" marL="0">
              <a:buNone/>
            </a:pPr>
            <a:r>
              <a:rPr lang="en-US" sz="750" dirty="0">
                <a:solidFill>
                  <a:srgbClr val="9A9AA0"/>
                </a:solidFill>
                <a:latin typeface="Arial" pitchFamily="34" charset="0"/>
                <a:ea typeface="Arial" pitchFamily="34" charset="-122"/>
                <a:cs typeface="Arial" pitchFamily="34" charset="-120"/>
              </a:rPr>
              <a:t>Oracle 5-yr CDS despite light leverage — credit already discriminates by funding capacity (MUFG).</a:t>
            </a:r>
            <a:endParaRPr lang="en-US" sz="750" dirty="0"/>
          </a:p>
        </p:txBody>
      </p:sp>
      <p:sp>
        <p:nvSpPr>
          <p:cNvPr id="31" name="Shape 29"/>
          <p:cNvSpPr/>
          <p:nvPr/>
        </p:nvSpPr>
        <p:spPr>
          <a:xfrm>
            <a:off x="6080760" y="3200400"/>
            <a:ext cx="2606040" cy="1024128"/>
          </a:xfrm>
          <a:prstGeom prst="rect">
            <a:avLst/>
          </a:prstGeom>
          <a:solidFill>
            <a:srgbClr val="1C1C20"/>
          </a:solidFill>
          <a:ln w="9525">
            <a:solidFill>
              <a:srgbClr val="2A2A30"/>
            </a:solidFill>
            <a:prstDash val="solid"/>
          </a:ln>
        </p:spPr>
      </p:sp>
      <p:sp>
        <p:nvSpPr>
          <p:cNvPr id="32" name="Text 30"/>
          <p:cNvSpPr/>
          <p:nvPr/>
        </p:nvSpPr>
        <p:spPr>
          <a:xfrm>
            <a:off x="6217920" y="3291840"/>
            <a:ext cx="2331720" cy="228600"/>
          </a:xfrm>
          <a:prstGeom prst="rect">
            <a:avLst/>
          </a:prstGeom>
          <a:noFill/>
          <a:ln/>
        </p:spPr>
        <p:txBody>
          <a:bodyPr wrap="square" lIns="0" tIns="0" rIns="0" bIns="0" rtlCol="0" anchor="ctr"/>
          <a:lstStyle/>
          <a:p>
            <a:pPr indent="0" marL="0">
              <a:buNone/>
            </a:pPr>
            <a:r>
              <a:rPr lang="en-US" sz="900" b="1" spc="200" kern="0" dirty="0">
                <a:solidFill>
                  <a:srgbClr val="FFB800"/>
                </a:solidFill>
                <a:latin typeface="Arial" pitchFamily="34" charset="0"/>
                <a:ea typeface="Arial" pitchFamily="34" charset="-122"/>
                <a:cs typeface="Arial" pitchFamily="34" charset="-120"/>
              </a:rPr>
              <a:t>READ</a:t>
            </a:r>
            <a:endParaRPr lang="en-US" sz="900" dirty="0"/>
          </a:p>
        </p:txBody>
      </p:sp>
      <p:sp>
        <p:nvSpPr>
          <p:cNvPr id="33" name="Text 31"/>
          <p:cNvSpPr/>
          <p:nvPr/>
        </p:nvSpPr>
        <p:spPr>
          <a:xfrm>
            <a:off x="6217920" y="3566160"/>
            <a:ext cx="2331720" cy="566928"/>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Credit reprices before equity.</a:t>
            </a:r>
            <a:endParaRPr lang="en-US" sz="1000" dirty="0"/>
          </a:p>
          <a:p>
            <a:pPr indent="0" marL="0">
              <a:buNone/>
            </a:pPr>
            <a:endParaRPr lang="en-US" sz="1000" dirty="0"/>
          </a:p>
          <a:p>
            <a:pPr indent="0" marL="0">
              <a:buNone/>
            </a:pPr>
            <a:r>
              <a:rPr lang="en-US" sz="900" dirty="0">
                <a:solidFill>
                  <a:srgbClr val="C9C9CE"/>
                </a:solidFill>
                <a:latin typeface="Arial" pitchFamily="34" charset="0"/>
                <a:ea typeface="Arial" pitchFamily="34" charset="-122"/>
                <a:cs typeface="Arial" pitchFamily="34" charset="-120"/>
              </a:rPr>
              <a:t>Spreads move before earnings revisions — the early-warning gauge for AI equities.</a:t>
            </a:r>
            <a:endParaRPr lang="en-US" sz="1000" dirty="0"/>
          </a:p>
        </p:txBody>
      </p:sp>
      <p:sp>
        <p:nvSpPr>
          <p:cNvPr id="34" name="Text 32"/>
          <p:cNvSpPr/>
          <p:nvPr/>
        </p:nvSpPr>
        <p:spPr>
          <a:xfrm>
            <a:off x="457200" y="4315968"/>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Deal record: Mawer; M&amp;G Investments; Fortune (Mar 2026); CNBC. CDS: MUFG via CNBC. Supply forecasts: UBS &amp; Barclays via Reuters (Jan 2026).</a:t>
            </a:r>
            <a:endParaRPr lang="en-US" sz="700" dirty="0"/>
          </a:p>
        </p:txBody>
      </p:sp>
      <p:sp>
        <p:nvSpPr>
          <p:cNvPr id="35" name="Shape 33"/>
          <p:cNvSpPr/>
          <p:nvPr/>
        </p:nvSpPr>
        <p:spPr>
          <a:xfrm>
            <a:off x="0" y="4526280"/>
            <a:ext cx="9144000" cy="617220"/>
          </a:xfrm>
          <a:prstGeom prst="rect">
            <a:avLst/>
          </a:prstGeom>
          <a:solidFill>
            <a:srgbClr val="000000"/>
          </a:solidFill>
          <a:ln/>
        </p:spPr>
      </p:sp>
      <p:sp>
        <p:nvSpPr>
          <p:cNvPr id="36" name="Shape 34"/>
          <p:cNvSpPr/>
          <p:nvPr/>
        </p:nvSpPr>
        <p:spPr>
          <a:xfrm>
            <a:off x="0" y="4526280"/>
            <a:ext cx="9144000" cy="0"/>
          </a:xfrm>
          <a:prstGeom prst="line">
            <a:avLst/>
          </a:prstGeom>
          <a:noFill/>
          <a:ln w="6350">
            <a:solidFill>
              <a:srgbClr val="2A2A30"/>
            </a:solidFill>
            <a:prstDash val="solid"/>
          </a:ln>
        </p:spPr>
      </p:sp>
      <p:sp>
        <p:nvSpPr>
          <p:cNvPr id="37" name="Text 35"/>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38" name="Text 36"/>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9B7BE0"/>
          </a:solidFill>
          <a:ln/>
        </p:spPr>
      </p:sp>
      <p:sp>
        <p:nvSpPr>
          <p:cNvPr id="3" name="Text 1"/>
          <p:cNvSpPr/>
          <p:nvPr/>
        </p:nvSpPr>
        <p:spPr>
          <a:xfrm>
            <a:off x="841248" y="155448"/>
            <a:ext cx="5943600" cy="274320"/>
          </a:xfrm>
          <a:prstGeom prst="rect">
            <a:avLst/>
          </a:prstGeom>
          <a:noFill/>
          <a:ln/>
        </p:spPr>
        <p:txBody>
          <a:bodyPr wrap="square" lIns="0" tIns="0" rIns="0" bIns="0" rtlCol="0" anchor="ctr"/>
          <a:lstStyle/>
          <a:p>
            <a:pPr indent="0" marL="0">
              <a:buNone/>
            </a:pPr>
            <a:r>
              <a:rPr lang="en-US" sz="900" b="1" spc="300" kern="0" dirty="0">
                <a:solidFill>
                  <a:srgbClr val="9B7BE0"/>
                </a:solidFill>
                <a:latin typeface="Arial" pitchFamily="34" charset="0"/>
                <a:ea typeface="Arial" pitchFamily="34" charset="-122"/>
                <a:cs typeface="Arial" pitchFamily="34" charset="-120"/>
              </a:rPr>
              <a:t>02  ·  MARKET IMPACT  —  PORTFOLIO</a:t>
            </a:r>
            <a:endParaRPr lang="en-US" sz="900" dirty="0"/>
          </a:p>
        </p:txBody>
      </p:sp>
      <p:sp>
        <p:nvSpPr>
          <p:cNvPr id="4" name="Text 2"/>
          <p:cNvSpPr/>
          <p:nvPr/>
        </p:nvSpPr>
        <p:spPr>
          <a:xfrm>
            <a:off x="457200" y="438912"/>
            <a:ext cx="8229600" cy="566928"/>
          </a:xfrm>
          <a:prstGeom prst="rect">
            <a:avLst/>
          </a:prstGeom>
          <a:noFill/>
          <a:ln/>
        </p:spPr>
        <p:txBody>
          <a:bodyPr wrap="square" lIns="0" tIns="0" rIns="0" bIns="0" rtlCol="0" anchor="t"/>
          <a:lstStyle/>
          <a:p>
            <a:pPr indent="0" marL="0">
              <a:buNone/>
            </a:pPr>
            <a:r>
              <a:rPr lang="en-US" sz="2600" b="1" dirty="0">
                <a:solidFill>
                  <a:srgbClr val="FFFFFF"/>
                </a:solidFill>
                <a:latin typeface="Arial Black" pitchFamily="34" charset="0"/>
                <a:ea typeface="Arial Black" pitchFamily="34" charset="-122"/>
                <a:cs typeface="Arial Black" pitchFamily="34" charset="-120"/>
              </a:rPr>
              <a:t>Your index fund is an AI fund now</a:t>
            </a:r>
            <a:endParaRPr lang="en-US" sz="2600" dirty="0"/>
          </a:p>
        </p:txBody>
      </p:sp>
      <p:sp>
        <p:nvSpPr>
          <p:cNvPr id="5" name="Text 3"/>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A passive S&amp;P 500 allocation embeds an undiversified AI bet no one sized deliberately — manage it with four gauges.</a:t>
            </a:r>
            <a:endParaRPr lang="en-US" sz="1250" dirty="0"/>
          </a:p>
        </p:txBody>
      </p:sp>
      <p:sp>
        <p:nvSpPr>
          <p:cNvPr id="6" name="Text 4"/>
          <p:cNvSpPr/>
          <p:nvPr/>
        </p:nvSpPr>
        <p:spPr>
          <a:xfrm>
            <a:off x="457200" y="1481328"/>
            <a:ext cx="356616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Where $100 of S&amp;P 500 exposure sits</a:t>
            </a:r>
            <a:endParaRPr lang="en-US" sz="1300" dirty="0"/>
          </a:p>
        </p:txBody>
      </p:sp>
      <p:sp>
        <p:nvSpPr>
          <p:cNvPr id="7" name="Shape 5"/>
          <p:cNvSpPr/>
          <p:nvPr/>
        </p:nvSpPr>
        <p:spPr>
          <a:xfrm>
            <a:off x="457200" y="1783080"/>
            <a:ext cx="3566160" cy="0"/>
          </a:xfrm>
          <a:prstGeom prst="line">
            <a:avLst/>
          </a:prstGeom>
          <a:noFill/>
          <a:ln w="12700">
            <a:solidFill>
              <a:srgbClr val="9B7BE0"/>
            </a:solidFill>
            <a:prstDash val="solid"/>
          </a:ln>
        </p:spPr>
      </p:sp>
      <p:graphicFrame>
        <p:nvGraphicFramePr>
          <p:cNvPr id="8" name="Chart 0" descr=""/>
          <p:cNvGraphicFramePr/>
          <p:nvPr/>
        </p:nvGraphicFramePr>
        <p:xfrm>
          <a:off x="457200" y="1828800"/>
          <a:ext cx="3566160" cy="22860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1554480" y="2542032"/>
            <a:ext cx="137160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$37</a:t>
            </a:r>
            <a:endParaRPr lang="en-US" sz="1600" dirty="0"/>
          </a:p>
        </p:txBody>
      </p:sp>
      <p:sp>
        <p:nvSpPr>
          <p:cNvPr id="10" name="Text 7"/>
          <p:cNvSpPr/>
          <p:nvPr/>
        </p:nvSpPr>
        <p:spPr>
          <a:xfrm>
            <a:off x="1554480" y="2889504"/>
            <a:ext cx="1371600" cy="182880"/>
          </a:xfrm>
          <a:prstGeom prst="rect">
            <a:avLst/>
          </a:prstGeom>
          <a:noFill/>
          <a:ln/>
        </p:spPr>
        <p:txBody>
          <a:bodyPr wrap="square" lIns="0" tIns="0" rIns="0" bIns="0" rtlCol="0" anchor="ctr"/>
          <a:lstStyle/>
          <a:p>
            <a:pPr algn="ctr" indent="0" marL="0">
              <a:buNone/>
            </a:pPr>
            <a:r>
              <a:rPr lang="en-US" sz="700" dirty="0">
                <a:solidFill>
                  <a:srgbClr val="9A9AA0"/>
                </a:solidFill>
                <a:latin typeface="Arial" pitchFamily="34" charset="0"/>
                <a:ea typeface="Arial" pitchFamily="34" charset="-122"/>
                <a:cs typeface="Arial" pitchFamily="34" charset="-120"/>
              </a:rPr>
              <a:t>in ten names</a:t>
            </a:r>
            <a:endParaRPr lang="en-US" sz="700" dirty="0"/>
          </a:p>
        </p:txBody>
      </p:sp>
      <p:sp>
        <p:nvSpPr>
          <p:cNvPr id="11" name="Text 8"/>
          <p:cNvSpPr/>
          <p:nvPr/>
        </p:nvSpPr>
        <p:spPr>
          <a:xfrm>
            <a:off x="4297680" y="1481328"/>
            <a:ext cx="4389120" cy="256032"/>
          </a:xfrm>
          <a:prstGeom prst="rect">
            <a:avLst/>
          </a:prstGeom>
          <a:noFill/>
          <a:ln/>
        </p:spPr>
        <p:txBody>
          <a:bodyPr wrap="square" lIns="0" tIns="0" rIns="0" bIns="0" rtlCol="0" anchor="b"/>
          <a:lstStyle/>
          <a:p>
            <a:pPr indent="0" marL="0">
              <a:buNone/>
            </a:pPr>
            <a:r>
              <a:rPr lang="en-US" sz="1300" b="1" dirty="0">
                <a:solidFill>
                  <a:srgbClr val="E8E8EA"/>
                </a:solidFill>
                <a:latin typeface="Arial" pitchFamily="34" charset="0"/>
                <a:ea typeface="Arial" pitchFamily="34" charset="-122"/>
                <a:cs typeface="Arial" pitchFamily="34" charset="-120"/>
              </a:rPr>
              <a:t>Four gauges — and what to do with them</a:t>
            </a:r>
            <a:endParaRPr lang="en-US" sz="1300" dirty="0"/>
          </a:p>
        </p:txBody>
      </p:sp>
      <p:sp>
        <p:nvSpPr>
          <p:cNvPr id="12" name="Shape 9"/>
          <p:cNvSpPr/>
          <p:nvPr/>
        </p:nvSpPr>
        <p:spPr>
          <a:xfrm>
            <a:off x="4297680" y="1783080"/>
            <a:ext cx="4389120" cy="0"/>
          </a:xfrm>
          <a:prstGeom prst="line">
            <a:avLst/>
          </a:prstGeom>
          <a:noFill/>
          <a:ln w="12700">
            <a:solidFill>
              <a:srgbClr val="9B7BE0"/>
            </a:solidFill>
            <a:prstDash val="solid"/>
          </a:ln>
        </p:spPr>
      </p:sp>
      <p:sp>
        <p:nvSpPr>
          <p:cNvPr id="13" name="Shape 10"/>
          <p:cNvSpPr/>
          <p:nvPr/>
        </p:nvSpPr>
        <p:spPr>
          <a:xfrm>
            <a:off x="4297680" y="1847088"/>
            <a:ext cx="64008" cy="512064"/>
          </a:xfrm>
          <a:prstGeom prst="rect">
            <a:avLst/>
          </a:prstGeom>
          <a:solidFill>
            <a:srgbClr val="E5484D"/>
          </a:solidFill>
          <a:ln/>
        </p:spPr>
      </p:sp>
      <p:sp>
        <p:nvSpPr>
          <p:cNvPr id="14" name="Text 11"/>
          <p:cNvSpPr/>
          <p:nvPr/>
        </p:nvSpPr>
        <p:spPr>
          <a:xfrm>
            <a:off x="4453128" y="1847088"/>
            <a:ext cx="4233672" cy="548640"/>
          </a:xfrm>
          <a:prstGeom prst="rect">
            <a:avLst/>
          </a:prstGeom>
          <a:noFill/>
          <a:ln/>
        </p:spPr>
        <p:txBody>
          <a:bodyPr wrap="square" lIns="0" tIns="0" rIns="0" bIns="0" rtlCol="0" anchor="t"/>
          <a:lstStyle/>
          <a:p>
            <a:pPr indent="0" marL="0">
              <a:buNone/>
            </a:pPr>
            <a:r>
              <a:rPr lang="en-US" sz="900" b="1" dirty="0">
                <a:solidFill>
                  <a:srgbClr val="FFFFFF"/>
                </a:solidFill>
                <a:latin typeface="Arial" pitchFamily="34" charset="0"/>
                <a:ea typeface="Arial" pitchFamily="34" charset="-122"/>
                <a:cs typeface="Arial" pitchFamily="34" charset="-120"/>
              </a:rPr>
              <a:t>Demand air pocket.  </a:t>
            </a:r>
            <a:pPr indent="0" marL="0">
              <a:buNone/>
            </a:pPr>
            <a:r>
              <a:rPr lang="en-US" sz="750" i="1" dirty="0">
                <a:solidFill>
                  <a:srgbClr val="9A9AA0"/>
                </a:solidFill>
                <a:latin typeface="Arial" pitchFamily="34" charset="0"/>
                <a:ea typeface="Arial" pitchFamily="34" charset="-122"/>
                <a:cs typeface="Arial" pitchFamily="34" charset="-120"/>
              </a:rPr>
              <a:t>(capex guidance · enterprise token budgets)</a:t>
            </a:r>
            <a:endParaRPr lang="en-US" sz="900" dirty="0"/>
          </a:p>
          <a:p>
            <a:pPr indent="0" marL="0">
              <a:buNone/>
            </a:pPr>
            <a:r>
              <a:rPr lang="en-US" sz="780" dirty="0">
                <a:solidFill>
                  <a:srgbClr val="C9C9CE"/>
                </a:solidFill>
                <a:latin typeface="Arial" pitchFamily="34" charset="0"/>
                <a:ea typeface="Arial" pitchFamily="34" charset="-122"/>
                <a:cs typeface="Arial" pitchFamily="34" charset="-120"/>
              </a:rPr>
              <a:t>~94% of op cash flow is committed; token budgets are the new same-store sales. Know your AI beta — size the 37% deliberately.</a:t>
            </a:r>
            <a:endParaRPr lang="en-US" sz="900" dirty="0"/>
          </a:p>
        </p:txBody>
      </p:sp>
      <p:sp>
        <p:nvSpPr>
          <p:cNvPr id="15" name="Shape 12"/>
          <p:cNvSpPr/>
          <p:nvPr/>
        </p:nvSpPr>
        <p:spPr>
          <a:xfrm>
            <a:off x="4297680" y="2414016"/>
            <a:ext cx="64008" cy="512064"/>
          </a:xfrm>
          <a:prstGeom prst="rect">
            <a:avLst/>
          </a:prstGeom>
          <a:solidFill>
            <a:srgbClr val="F6693D"/>
          </a:solidFill>
          <a:ln/>
        </p:spPr>
      </p:sp>
      <p:sp>
        <p:nvSpPr>
          <p:cNvPr id="16" name="Text 13"/>
          <p:cNvSpPr/>
          <p:nvPr/>
        </p:nvSpPr>
        <p:spPr>
          <a:xfrm>
            <a:off x="4453128" y="2414016"/>
            <a:ext cx="4233672" cy="548640"/>
          </a:xfrm>
          <a:prstGeom prst="rect">
            <a:avLst/>
          </a:prstGeom>
          <a:noFill/>
          <a:ln/>
        </p:spPr>
        <p:txBody>
          <a:bodyPr wrap="square" lIns="0" tIns="0" rIns="0" bIns="0" rtlCol="0" anchor="t"/>
          <a:lstStyle/>
          <a:p>
            <a:pPr indent="0" marL="0">
              <a:buNone/>
            </a:pPr>
            <a:r>
              <a:rPr lang="en-US" sz="900" b="1" dirty="0">
                <a:solidFill>
                  <a:srgbClr val="FFFFFF"/>
                </a:solidFill>
                <a:latin typeface="Arial" pitchFamily="34" charset="0"/>
                <a:ea typeface="Arial" pitchFamily="34" charset="-122"/>
                <a:cs typeface="Arial" pitchFamily="34" charset="-120"/>
              </a:rPr>
              <a:t>Financing stress.  </a:t>
            </a:r>
            <a:pPr indent="0" marL="0">
              <a:buNone/>
            </a:pPr>
            <a:r>
              <a:rPr lang="en-US" sz="750" i="1" dirty="0">
                <a:solidFill>
                  <a:srgbClr val="9A9AA0"/>
                </a:solidFill>
                <a:latin typeface="Arial" pitchFamily="34" charset="0"/>
                <a:ea typeface="Arial" pitchFamily="34" charset="-122"/>
                <a:cs typeface="Arial" pitchFamily="34" charset="-120"/>
              </a:rPr>
              <a:t>(CDS · new-issue spreads)</a:t>
            </a:r>
            <a:endParaRPr lang="en-US" sz="900" dirty="0"/>
          </a:p>
          <a:p>
            <a:pPr indent="0" marL="0">
              <a:buNone/>
            </a:pPr>
            <a:r>
              <a:rPr lang="en-US" sz="780" dirty="0">
                <a:solidFill>
                  <a:srgbClr val="C9C9CE"/>
                </a:solidFill>
                <a:latin typeface="Arial" pitchFamily="34" charset="0"/>
                <a:ea typeface="Arial" pitchFamily="34" charset="-122"/>
                <a:cs typeface="Arial" pitchFamily="34" charset="-120"/>
              </a:rPr>
              <a:t>A failed mega-deal would reprice AI equities within days. Watch credit as the early warning.</a:t>
            </a:r>
            <a:endParaRPr lang="en-US" sz="900" dirty="0"/>
          </a:p>
        </p:txBody>
      </p:sp>
      <p:sp>
        <p:nvSpPr>
          <p:cNvPr id="17" name="Shape 14"/>
          <p:cNvSpPr/>
          <p:nvPr/>
        </p:nvSpPr>
        <p:spPr>
          <a:xfrm>
            <a:off x="4297680" y="2980944"/>
            <a:ext cx="64008" cy="512064"/>
          </a:xfrm>
          <a:prstGeom prst="rect">
            <a:avLst/>
          </a:prstGeom>
          <a:solidFill>
            <a:srgbClr val="FFB800"/>
          </a:solidFill>
          <a:ln/>
        </p:spPr>
      </p:sp>
      <p:sp>
        <p:nvSpPr>
          <p:cNvPr id="18" name="Text 15"/>
          <p:cNvSpPr/>
          <p:nvPr/>
        </p:nvSpPr>
        <p:spPr>
          <a:xfrm>
            <a:off x="4453128" y="2980944"/>
            <a:ext cx="4233672" cy="548640"/>
          </a:xfrm>
          <a:prstGeom prst="rect">
            <a:avLst/>
          </a:prstGeom>
          <a:noFill/>
          <a:ln/>
        </p:spPr>
        <p:txBody>
          <a:bodyPr wrap="square" lIns="0" tIns="0" rIns="0" bIns="0" rtlCol="0" anchor="t"/>
          <a:lstStyle/>
          <a:p>
            <a:pPr indent="0" marL="0">
              <a:buNone/>
            </a:pPr>
            <a:r>
              <a:rPr lang="en-US" sz="900" b="1" dirty="0">
                <a:solidFill>
                  <a:srgbClr val="FFFFFF"/>
                </a:solidFill>
                <a:latin typeface="Arial" pitchFamily="34" charset="0"/>
                <a:ea typeface="Arial" pitchFamily="34" charset="-122"/>
                <a:cs typeface="Arial" pitchFamily="34" charset="-120"/>
              </a:rPr>
              <a:t>Rate sensitivity.  </a:t>
            </a:r>
            <a:pPr indent="0" marL="0">
              <a:buNone/>
            </a:pPr>
            <a:r>
              <a:rPr lang="en-US" sz="750" i="1" dirty="0">
                <a:solidFill>
                  <a:srgbClr val="9A9AA0"/>
                </a:solidFill>
                <a:latin typeface="Arial" pitchFamily="34" charset="0"/>
                <a:ea typeface="Arial" pitchFamily="34" charset="-122"/>
                <a:cs typeface="Arial" pitchFamily="34" charset="-120"/>
              </a:rPr>
              <a:t>(10-yr UST ~4.5%)</a:t>
            </a:r>
            <a:endParaRPr lang="en-US" sz="900" dirty="0"/>
          </a:p>
          <a:p>
            <a:pPr indent="0" marL="0">
              <a:buNone/>
            </a:pPr>
            <a:r>
              <a:rPr lang="en-US" sz="780" dirty="0">
                <a:solidFill>
                  <a:srgbClr val="C9C9CE"/>
                </a:solidFill>
                <a:latin typeface="Arial" pitchFamily="34" charset="0"/>
                <a:ea typeface="Arial" pitchFamily="34" charset="-122"/>
                <a:cs typeface="Arial" pitchFamily="34" charset="-120"/>
              </a:rPr>
              <a:t>Long-duration AI cash flows and record IG supply both lean on rates staying contained.</a:t>
            </a:r>
            <a:endParaRPr lang="en-US" sz="900" dirty="0"/>
          </a:p>
        </p:txBody>
      </p:sp>
      <p:sp>
        <p:nvSpPr>
          <p:cNvPr id="19" name="Shape 16"/>
          <p:cNvSpPr/>
          <p:nvPr/>
        </p:nvSpPr>
        <p:spPr>
          <a:xfrm>
            <a:off x="4297680" y="3547872"/>
            <a:ext cx="64008" cy="512064"/>
          </a:xfrm>
          <a:prstGeom prst="rect">
            <a:avLst/>
          </a:prstGeom>
          <a:solidFill>
            <a:srgbClr val="9B7BE0"/>
          </a:solidFill>
          <a:ln/>
        </p:spPr>
      </p:sp>
      <p:sp>
        <p:nvSpPr>
          <p:cNvPr id="20" name="Text 17"/>
          <p:cNvSpPr/>
          <p:nvPr/>
        </p:nvSpPr>
        <p:spPr>
          <a:xfrm>
            <a:off x="4453128" y="3547872"/>
            <a:ext cx="4233672" cy="548640"/>
          </a:xfrm>
          <a:prstGeom prst="rect">
            <a:avLst/>
          </a:prstGeom>
          <a:noFill/>
          <a:ln/>
        </p:spPr>
        <p:txBody>
          <a:bodyPr wrap="square" lIns="0" tIns="0" rIns="0" bIns="0" rtlCol="0" anchor="t"/>
          <a:lstStyle/>
          <a:p>
            <a:pPr indent="0" marL="0">
              <a:buNone/>
            </a:pPr>
            <a:r>
              <a:rPr lang="en-US" sz="900" b="1" dirty="0">
                <a:solidFill>
                  <a:srgbClr val="FFFFFF"/>
                </a:solidFill>
                <a:latin typeface="Arial" pitchFamily="34" charset="0"/>
                <a:ea typeface="Arial" pitchFamily="34" charset="-122"/>
                <a:cs typeface="Arial" pitchFamily="34" charset="-120"/>
              </a:rPr>
              <a:t>Concentration unwind.  </a:t>
            </a:r>
            <a:pPr indent="0" marL="0">
              <a:buNone/>
            </a:pPr>
            <a:r>
              <a:rPr lang="en-US" sz="750" i="1" dirty="0">
                <a:solidFill>
                  <a:srgbClr val="9A9AA0"/>
                </a:solidFill>
                <a:latin typeface="Arial" pitchFamily="34" charset="0"/>
                <a:ea typeface="Arial" pitchFamily="34" charset="-122"/>
                <a:cs typeface="Arial" pitchFamily="34" charset="-120"/>
              </a:rPr>
              <a:t>(top-10 share · equal-weight spread)</a:t>
            </a:r>
            <a:endParaRPr lang="en-US" sz="900" dirty="0"/>
          </a:p>
          <a:p>
            <a:pPr indent="0" marL="0">
              <a:buNone/>
            </a:pPr>
            <a:r>
              <a:rPr lang="en-US" sz="780" dirty="0">
                <a:solidFill>
                  <a:srgbClr val="C9C9CE"/>
                </a:solidFill>
                <a:latin typeface="Arial" pitchFamily="34" charset="0"/>
                <a:ea typeface="Arial" pitchFamily="34" charset="-122"/>
                <a:cs typeface="Arial" pitchFamily="34" charset="-120"/>
              </a:rPr>
              <a:t>Equal-weight beat cap-weight in 2026; the disorderly version is passive outflows meeting thin breadth. Trade the chain, not the theme.</a:t>
            </a:r>
            <a:endParaRPr lang="en-US" sz="900" dirty="0"/>
          </a:p>
        </p:txBody>
      </p:sp>
      <p:sp>
        <p:nvSpPr>
          <p:cNvPr id="21" name="Text 18"/>
          <p:cNvSpPr/>
          <p:nvPr/>
        </p:nvSpPr>
        <p:spPr>
          <a:xfrm>
            <a:off x="457200" y="4114800"/>
            <a:ext cx="8229600" cy="237744"/>
          </a:xfrm>
          <a:prstGeom prst="rect">
            <a:avLst/>
          </a:prstGeom>
          <a:noFill/>
          <a:ln/>
        </p:spPr>
        <p:txBody>
          <a:bodyPr wrap="square" lIns="0" tIns="0" rIns="0" bIns="0" rtlCol="0" anchor="ctr"/>
          <a:lstStyle/>
          <a:p>
            <a:pPr indent="0" marL="0">
              <a:buNone/>
            </a:pPr>
            <a:r>
              <a:rPr lang="en-US" sz="1050" b="1" dirty="0">
                <a:solidFill>
                  <a:srgbClr val="FFFFFF"/>
                </a:solidFill>
                <a:latin typeface="Arial" pitchFamily="34" charset="0"/>
                <a:ea typeface="Arial" pitchFamily="34" charset="-122"/>
                <a:cs typeface="Arial" pitchFamily="34" charset="-120"/>
              </a:rPr>
              <a:t>Bottom line: </a:t>
            </a:r>
            <a:pPr indent="0" marL="0">
              <a:buNone/>
            </a:pPr>
            <a:r>
              <a:rPr lang="en-US" sz="1050" dirty="0">
                <a:solidFill>
                  <a:srgbClr val="C9C9CE"/>
                </a:solidFill>
                <a:latin typeface="Arial" pitchFamily="34" charset="0"/>
                <a:ea typeface="Arial" pitchFamily="34" charset="-122"/>
                <a:cs typeface="Arial" pitchFamily="34" charset="-120"/>
              </a:rPr>
              <a:t>you don’t need a view on AGI — you need to know what your portfolio already believes.</a:t>
            </a:r>
            <a:endParaRPr lang="en-US" sz="1050" dirty="0"/>
          </a:p>
        </p:txBody>
      </p:sp>
      <p:sp>
        <p:nvSpPr>
          <p:cNvPr id="22" name="Text 19"/>
          <p:cNvSpPr/>
          <p:nvPr/>
        </p:nvSpPr>
        <p:spPr>
          <a:xfrm>
            <a:off x="457200" y="4352544"/>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Index weights: S&amp;P Dow Jones Indices, slickcharts (Jun 2026); YTD returns: Morningstar (RSP), slickcharts (S&amp;P 500).</a:t>
            </a:r>
            <a:endParaRPr lang="en-US" sz="700" dirty="0"/>
          </a:p>
        </p:txBody>
      </p:sp>
      <p:sp>
        <p:nvSpPr>
          <p:cNvPr id="23" name="Shape 20"/>
          <p:cNvSpPr/>
          <p:nvPr/>
        </p:nvSpPr>
        <p:spPr>
          <a:xfrm>
            <a:off x="0" y="4526280"/>
            <a:ext cx="9144000" cy="617220"/>
          </a:xfrm>
          <a:prstGeom prst="rect">
            <a:avLst/>
          </a:prstGeom>
          <a:solidFill>
            <a:srgbClr val="000000"/>
          </a:solidFill>
          <a:ln/>
        </p:spPr>
      </p:sp>
      <p:sp>
        <p:nvSpPr>
          <p:cNvPr id="24" name="Shape 21"/>
          <p:cNvSpPr/>
          <p:nvPr/>
        </p:nvSpPr>
        <p:spPr>
          <a:xfrm>
            <a:off x="0" y="4526280"/>
            <a:ext cx="9144000" cy="0"/>
          </a:xfrm>
          <a:prstGeom prst="line">
            <a:avLst/>
          </a:prstGeom>
          <a:noFill/>
          <a:ln w="6350">
            <a:solidFill>
              <a:srgbClr val="2A2A30"/>
            </a:solidFill>
            <a:prstDash val="solid"/>
          </a:ln>
        </p:spPr>
      </p:sp>
      <p:sp>
        <p:nvSpPr>
          <p:cNvPr id="25" name="Text 22"/>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26" name="Text 23"/>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114"/>
        </a:solidFill>
      </p:bgPr>
    </p:bg>
    <p:spTree>
      <p:nvGrpSpPr>
        <p:cNvPr id="1" name=""/>
        <p:cNvGrpSpPr/>
        <p:nvPr/>
      </p:nvGrpSpPr>
      <p:grpSpPr>
        <a:xfrm>
          <a:off x="0" y="0"/>
          <a:ext cx="0" cy="0"/>
          <a:chOff x="0" y="0"/>
          <a:chExt cx="0" cy="0"/>
        </a:xfrm>
      </p:grpSpPr>
      <p:sp>
        <p:nvSpPr>
          <p:cNvPr id="2" name="Shape 0"/>
          <p:cNvSpPr/>
          <p:nvPr/>
        </p:nvSpPr>
        <p:spPr>
          <a:xfrm>
            <a:off x="457200" y="274320"/>
            <a:ext cx="274320" cy="45720"/>
          </a:xfrm>
          <a:prstGeom prst="rect">
            <a:avLst/>
          </a:prstGeom>
          <a:solidFill>
            <a:srgbClr val="E8478D"/>
          </a:solidFill>
          <a:ln/>
        </p:spPr>
      </p:sp>
      <p:sp>
        <p:nvSpPr>
          <p:cNvPr id="3" name="Text 1"/>
          <p:cNvSpPr/>
          <p:nvPr/>
        </p:nvSpPr>
        <p:spPr>
          <a:xfrm>
            <a:off x="841248" y="155448"/>
            <a:ext cx="3931920" cy="274320"/>
          </a:xfrm>
          <a:prstGeom prst="rect">
            <a:avLst/>
          </a:prstGeom>
          <a:noFill/>
          <a:ln/>
        </p:spPr>
        <p:txBody>
          <a:bodyPr wrap="square" lIns="0" tIns="0" rIns="0" bIns="0" rtlCol="0" anchor="ctr"/>
          <a:lstStyle/>
          <a:p>
            <a:pPr indent="0" marL="0">
              <a:buNone/>
            </a:pPr>
            <a:r>
              <a:rPr lang="en-US" sz="900" b="1" spc="300" kern="0" dirty="0">
                <a:solidFill>
                  <a:srgbClr val="E8478D"/>
                </a:solidFill>
                <a:latin typeface="Arial" pitchFamily="34" charset="0"/>
                <a:ea typeface="Arial" pitchFamily="34" charset="-122"/>
                <a:cs typeface="Arial" pitchFamily="34" charset="-120"/>
              </a:rPr>
              <a:t>02  ·  MARKET IMPACT  —  THE FRONTIER</a:t>
            </a:r>
            <a:endParaRPr lang="en-US" sz="900" dirty="0"/>
          </a:p>
        </p:txBody>
      </p:sp>
      <p:sp>
        <p:nvSpPr>
          <p:cNvPr id="4" name="Text 2"/>
          <p:cNvSpPr/>
          <p:nvPr/>
        </p:nvSpPr>
        <p:spPr>
          <a:xfrm>
            <a:off x="4937760" y="155448"/>
            <a:ext cx="3749040" cy="274320"/>
          </a:xfrm>
          <a:prstGeom prst="rect">
            <a:avLst/>
          </a:prstGeom>
          <a:noFill/>
          <a:ln/>
        </p:spPr>
        <p:txBody>
          <a:bodyPr wrap="square" lIns="0" tIns="0" rIns="0" bIns="0" rtlCol="0" anchor="ctr"/>
          <a:lstStyle/>
          <a:p>
            <a:pPr algn="r" indent="0" marL="0">
              <a:buNone/>
            </a:pPr>
            <a:r>
              <a:rPr lang="en-US" sz="800" b="1" spc="200" kern="0" dirty="0">
                <a:solidFill>
                  <a:srgbClr val="9A9AA0"/>
                </a:solidFill>
                <a:latin typeface="Arial" pitchFamily="34" charset="0"/>
                <a:ea typeface="Arial" pitchFamily="34" charset="-122"/>
                <a:cs typeface="Arial" pitchFamily="34" charset="-120"/>
              </a:rPr>
              <a:t>FRONTIER WATCH — SPECULATIVE</a:t>
            </a:r>
            <a:endParaRPr lang="en-US" sz="800" dirty="0"/>
          </a:p>
        </p:txBody>
      </p:sp>
      <p:sp>
        <p:nvSpPr>
          <p:cNvPr id="5" name="Text 3"/>
          <p:cNvSpPr/>
          <p:nvPr/>
        </p:nvSpPr>
        <p:spPr>
          <a:xfrm>
            <a:off x="457200" y="438912"/>
            <a:ext cx="8229600" cy="566928"/>
          </a:xfrm>
          <a:prstGeom prst="rect">
            <a:avLst/>
          </a:prstGeom>
          <a:noFill/>
          <a:ln/>
        </p:spPr>
        <p:txBody>
          <a:bodyPr wrap="square" lIns="0" tIns="0" rIns="0" bIns="0" rtlCol="0" anchor="t"/>
          <a:lstStyle/>
          <a:p>
            <a:pPr indent="0" marL="0">
              <a:buNone/>
            </a:pPr>
            <a:r>
              <a:rPr lang="en-US" sz="2300" b="1" dirty="0">
                <a:solidFill>
                  <a:srgbClr val="FFFFFF"/>
                </a:solidFill>
                <a:latin typeface="Arial Black" pitchFamily="34" charset="0"/>
                <a:ea typeface="Arial Black" pitchFamily="34" charset="-122"/>
                <a:cs typeface="Arial Black" pitchFamily="34" charset="-120"/>
              </a:rPr>
              <a:t>The loop gets hands, wheels, wings — and proteins</a:t>
            </a:r>
            <a:endParaRPr lang="en-US" sz="2300" dirty="0"/>
          </a:p>
        </p:txBody>
      </p:sp>
      <p:sp>
        <p:nvSpPr>
          <p:cNvPr id="6" name="Text 4"/>
          <p:cNvSpPr/>
          <p:nvPr/>
        </p:nvSpPr>
        <p:spPr>
          <a:xfrm>
            <a:off x="457200" y="1024128"/>
            <a:ext cx="8229600" cy="411480"/>
          </a:xfrm>
          <a:prstGeom prst="rect">
            <a:avLst/>
          </a:prstGeom>
          <a:noFill/>
          <a:ln/>
        </p:spPr>
        <p:txBody>
          <a:bodyPr wrap="square" lIns="0" tIns="0" rIns="0" bIns="0" rtlCol="0" anchor="t"/>
          <a:lstStyle/>
          <a:p>
            <a:pPr indent="0" marL="0">
              <a:buNone/>
            </a:pPr>
            <a:r>
              <a:rPr lang="en-US" sz="1250" dirty="0">
                <a:solidFill>
                  <a:srgbClr val="9A9AA0"/>
                </a:solidFill>
                <a:latin typeface="Arial" pitchFamily="34" charset="0"/>
                <a:ea typeface="Arial" pitchFamily="34" charset="-122"/>
                <a:cs typeface="Arial" pitchFamily="34" charset="-120"/>
              </a:rPr>
              <a:t>None of this is in 2026 guidance. All of it extends the Jevons demand curve (slide 4) by another decade — the option value markets quietly pay for.</a:t>
            </a:r>
            <a:endParaRPr lang="en-US" sz="1250" dirty="0"/>
          </a:p>
        </p:txBody>
      </p:sp>
      <p:pic>
        <p:nvPicPr>
          <p:cNvPr id="7" name="Image 0" descr="slides-images/web/humanoid.jpg">    </p:cNvPr>
          <p:cNvPicPr>
            <a:picLocks noChangeAspect="1"/>
          </p:cNvPicPr>
          <p:nvPr/>
        </p:nvPicPr>
        <p:blipFill>
          <a:blip r:embed="rId1"/>
          <a:srcRect l="0" r="0" t="0" b="0"/>
          <a:stretch/>
        </p:blipFill>
        <p:spPr>
          <a:xfrm>
            <a:off x="457200" y="1517904"/>
            <a:ext cx="2084832" cy="1280160"/>
          </a:xfrm>
          <a:prstGeom prst="rect">
            <a:avLst/>
          </a:prstGeom>
        </p:spPr>
      </p:pic>
      <p:sp>
        <p:nvSpPr>
          <p:cNvPr id="8" name="Shape 5"/>
          <p:cNvSpPr/>
          <p:nvPr/>
        </p:nvSpPr>
        <p:spPr>
          <a:xfrm>
            <a:off x="457200" y="2798064"/>
            <a:ext cx="2084832" cy="1188720"/>
          </a:xfrm>
          <a:prstGeom prst="rect">
            <a:avLst/>
          </a:prstGeom>
          <a:solidFill>
            <a:srgbClr val="1C1C20"/>
          </a:solidFill>
          <a:ln/>
        </p:spPr>
      </p:sp>
      <p:sp>
        <p:nvSpPr>
          <p:cNvPr id="9" name="Shape 6"/>
          <p:cNvSpPr/>
          <p:nvPr/>
        </p:nvSpPr>
        <p:spPr>
          <a:xfrm>
            <a:off x="457200" y="2798064"/>
            <a:ext cx="2084832" cy="36576"/>
          </a:xfrm>
          <a:prstGeom prst="rect">
            <a:avLst/>
          </a:prstGeom>
          <a:solidFill>
            <a:srgbClr val="E8478D"/>
          </a:solidFill>
          <a:ln/>
        </p:spPr>
      </p:sp>
      <p:sp>
        <p:nvSpPr>
          <p:cNvPr id="10" name="Text 7"/>
          <p:cNvSpPr/>
          <p:nvPr/>
        </p:nvSpPr>
        <p:spPr>
          <a:xfrm>
            <a:off x="566928" y="2907792"/>
            <a:ext cx="1865376" cy="102412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Embodiment.  </a:t>
            </a:r>
            <a:pPr indent="0" marL="0">
              <a:buNone/>
            </a:pPr>
            <a:r>
              <a:rPr lang="en-US" sz="750" dirty="0">
                <a:solidFill>
                  <a:srgbClr val="C9C9CE"/>
                </a:solidFill>
                <a:latin typeface="Arial" pitchFamily="34" charset="0"/>
                <a:ea typeface="Arial" pitchFamily="34" charset="-122"/>
                <a:cs typeface="Arial" pitchFamily="34" charset="-120"/>
              </a:rPr>
              <a:t>Agentic loops in a body — warehouse shifts, not concept art. Physical labor enters the token economy.</a:t>
            </a:r>
            <a:endParaRPr lang="en-US" sz="950" dirty="0"/>
          </a:p>
        </p:txBody>
      </p:sp>
      <p:pic>
        <p:nvPicPr>
          <p:cNvPr id="11" name="Image 1" descr="slides-images/web/robotaxi.jpg">    </p:cNvPr>
          <p:cNvPicPr>
            <a:picLocks noChangeAspect="1"/>
          </p:cNvPicPr>
          <p:nvPr/>
        </p:nvPicPr>
        <p:blipFill>
          <a:blip r:embed="rId2"/>
          <a:srcRect l="0" r="0" t="0" b="0"/>
          <a:stretch/>
        </p:blipFill>
        <p:spPr>
          <a:xfrm>
            <a:off x="2633472" y="1517904"/>
            <a:ext cx="2084832" cy="1280160"/>
          </a:xfrm>
          <a:prstGeom prst="rect">
            <a:avLst/>
          </a:prstGeom>
        </p:spPr>
      </p:pic>
      <p:sp>
        <p:nvSpPr>
          <p:cNvPr id="12" name="Shape 8"/>
          <p:cNvSpPr/>
          <p:nvPr/>
        </p:nvSpPr>
        <p:spPr>
          <a:xfrm>
            <a:off x="2633472" y="2798064"/>
            <a:ext cx="2084832" cy="1188720"/>
          </a:xfrm>
          <a:prstGeom prst="rect">
            <a:avLst/>
          </a:prstGeom>
          <a:solidFill>
            <a:srgbClr val="1C1C20"/>
          </a:solidFill>
          <a:ln/>
        </p:spPr>
      </p:sp>
      <p:sp>
        <p:nvSpPr>
          <p:cNvPr id="13" name="Shape 9"/>
          <p:cNvSpPr/>
          <p:nvPr/>
        </p:nvSpPr>
        <p:spPr>
          <a:xfrm>
            <a:off x="2633472" y="2798064"/>
            <a:ext cx="2084832" cy="36576"/>
          </a:xfrm>
          <a:prstGeom prst="rect">
            <a:avLst/>
          </a:prstGeom>
          <a:solidFill>
            <a:srgbClr val="E8478D"/>
          </a:solidFill>
          <a:ln/>
        </p:spPr>
      </p:sp>
      <p:sp>
        <p:nvSpPr>
          <p:cNvPr id="14" name="Text 10"/>
          <p:cNvSpPr/>
          <p:nvPr/>
        </p:nvSpPr>
        <p:spPr>
          <a:xfrm>
            <a:off x="2743200" y="2907792"/>
            <a:ext cx="1865376" cy="102412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Wheels.  </a:t>
            </a:r>
            <a:pPr indent="0" marL="0">
              <a:buNone/>
            </a:pPr>
            <a:r>
              <a:rPr lang="en-US" sz="750" dirty="0">
                <a:solidFill>
                  <a:srgbClr val="C9C9CE"/>
                </a:solidFill>
                <a:latin typeface="Arial" pitchFamily="34" charset="0"/>
                <a:ea typeface="Arial" pitchFamily="34" charset="-122"/>
                <a:cs typeface="Arial" pitchFamily="34" charset="-120"/>
              </a:rPr>
              <a:t>Robotaxis are inference on wheels — per-mile token economics and a city-scale demand pool for compute.</a:t>
            </a:r>
            <a:endParaRPr lang="en-US" sz="950" dirty="0"/>
          </a:p>
        </p:txBody>
      </p:sp>
      <p:pic>
        <p:nvPicPr>
          <p:cNvPr id="15" name="Image 2" descr="slides-images/web/orbital.jpg">    </p:cNvPr>
          <p:cNvPicPr>
            <a:picLocks noChangeAspect="1"/>
          </p:cNvPicPr>
          <p:nvPr/>
        </p:nvPicPr>
        <p:blipFill>
          <a:blip r:embed="rId3"/>
          <a:srcRect l="0" r="0" t="0" b="0"/>
          <a:stretch/>
        </p:blipFill>
        <p:spPr>
          <a:xfrm>
            <a:off x="4809744" y="1517904"/>
            <a:ext cx="2084832" cy="1280160"/>
          </a:xfrm>
          <a:prstGeom prst="rect">
            <a:avLst/>
          </a:prstGeom>
        </p:spPr>
      </p:pic>
      <p:sp>
        <p:nvSpPr>
          <p:cNvPr id="16" name="Shape 11"/>
          <p:cNvSpPr/>
          <p:nvPr/>
        </p:nvSpPr>
        <p:spPr>
          <a:xfrm>
            <a:off x="4809744" y="2798064"/>
            <a:ext cx="2084832" cy="1188720"/>
          </a:xfrm>
          <a:prstGeom prst="rect">
            <a:avLst/>
          </a:prstGeom>
          <a:solidFill>
            <a:srgbClr val="1C1C20"/>
          </a:solidFill>
          <a:ln/>
        </p:spPr>
      </p:sp>
      <p:sp>
        <p:nvSpPr>
          <p:cNvPr id="17" name="Shape 12"/>
          <p:cNvSpPr/>
          <p:nvPr/>
        </p:nvSpPr>
        <p:spPr>
          <a:xfrm>
            <a:off x="4809744" y="2798064"/>
            <a:ext cx="2084832" cy="36576"/>
          </a:xfrm>
          <a:prstGeom prst="rect">
            <a:avLst/>
          </a:prstGeom>
          <a:solidFill>
            <a:srgbClr val="E8478D"/>
          </a:solidFill>
          <a:ln/>
        </p:spPr>
      </p:sp>
      <p:sp>
        <p:nvSpPr>
          <p:cNvPr id="18" name="Text 13"/>
          <p:cNvSpPr/>
          <p:nvPr/>
        </p:nvSpPr>
        <p:spPr>
          <a:xfrm>
            <a:off x="4919472" y="2907792"/>
            <a:ext cx="1865376" cy="102412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Orbit.  </a:t>
            </a:r>
            <a:pPr indent="0" marL="0">
              <a:buNone/>
            </a:pPr>
            <a:r>
              <a:rPr lang="en-US" sz="750" dirty="0">
                <a:solidFill>
                  <a:srgbClr val="C9C9CE"/>
                </a:solidFill>
                <a:latin typeface="Arial" pitchFamily="34" charset="0"/>
                <a:ea typeface="Arial" pitchFamily="34" charset="-122"/>
                <a:cs typeface="Arial" pitchFamily="34" charset="-120"/>
              </a:rPr>
              <a:t>24/7 solar and radiative cooling escape the grid constraint behind token rationing. SpaceX owns the rockets and 550k-GPU clusters.</a:t>
            </a:r>
            <a:endParaRPr lang="en-US" sz="950" dirty="0"/>
          </a:p>
        </p:txBody>
      </p:sp>
      <p:pic>
        <p:nvPicPr>
          <p:cNvPr id="19" name="Image 3" descr="slides-images/web/protein.jpg">    </p:cNvPr>
          <p:cNvPicPr>
            <a:picLocks noChangeAspect="1"/>
          </p:cNvPicPr>
          <p:nvPr/>
        </p:nvPicPr>
        <p:blipFill>
          <a:blip r:embed="rId4"/>
          <a:srcRect l="0" r="0" t="0" b="0"/>
          <a:stretch/>
        </p:blipFill>
        <p:spPr>
          <a:xfrm>
            <a:off x="6986016" y="1517904"/>
            <a:ext cx="2084832" cy="1280160"/>
          </a:xfrm>
          <a:prstGeom prst="rect">
            <a:avLst/>
          </a:prstGeom>
        </p:spPr>
      </p:pic>
      <p:sp>
        <p:nvSpPr>
          <p:cNvPr id="20" name="Shape 14"/>
          <p:cNvSpPr/>
          <p:nvPr/>
        </p:nvSpPr>
        <p:spPr>
          <a:xfrm>
            <a:off x="6986016" y="2798064"/>
            <a:ext cx="2084832" cy="1188720"/>
          </a:xfrm>
          <a:prstGeom prst="rect">
            <a:avLst/>
          </a:prstGeom>
          <a:solidFill>
            <a:srgbClr val="1C1C20"/>
          </a:solidFill>
          <a:ln/>
        </p:spPr>
      </p:sp>
      <p:sp>
        <p:nvSpPr>
          <p:cNvPr id="21" name="Shape 15"/>
          <p:cNvSpPr/>
          <p:nvPr/>
        </p:nvSpPr>
        <p:spPr>
          <a:xfrm>
            <a:off x="6986016" y="2798064"/>
            <a:ext cx="2084832" cy="36576"/>
          </a:xfrm>
          <a:prstGeom prst="rect">
            <a:avLst/>
          </a:prstGeom>
          <a:solidFill>
            <a:srgbClr val="E8478D"/>
          </a:solidFill>
          <a:ln/>
        </p:spPr>
      </p:sp>
      <p:sp>
        <p:nvSpPr>
          <p:cNvPr id="22" name="Text 16"/>
          <p:cNvSpPr/>
          <p:nvPr/>
        </p:nvSpPr>
        <p:spPr>
          <a:xfrm>
            <a:off x="7095744" y="2907792"/>
            <a:ext cx="1865376" cy="1024128"/>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Proteins.  </a:t>
            </a:r>
            <a:pPr indent="0" marL="0">
              <a:buNone/>
            </a:pPr>
            <a:r>
              <a:rPr lang="en-US" sz="750" dirty="0">
                <a:solidFill>
                  <a:srgbClr val="C9C9CE"/>
                </a:solidFill>
                <a:latin typeface="Arial" pitchFamily="34" charset="0"/>
                <a:ea typeface="Arial" pitchFamily="34" charset="-122"/>
                <a:cs typeface="Arial" pitchFamily="34" charset="-120"/>
              </a:rPr>
              <a:t>Frontier models lead biology benchmarks; AI-designed proteins make discovery compute-bound. R&amp;D starts to look like capex.</a:t>
            </a:r>
            <a:endParaRPr lang="en-US" sz="950" dirty="0"/>
          </a:p>
        </p:txBody>
      </p:sp>
      <p:sp>
        <p:nvSpPr>
          <p:cNvPr id="23" name="Text 17"/>
          <p:cNvSpPr/>
          <p:nvPr/>
        </p:nvSpPr>
        <p:spPr>
          <a:xfrm>
            <a:off x="457200" y="4096512"/>
            <a:ext cx="8229600" cy="237744"/>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Watch these like markets, not memes: </a:t>
            </a:r>
            <a:pPr indent="0" marL="0">
              <a:buNone/>
            </a:pPr>
            <a:r>
              <a:rPr lang="en-US" sz="1000" dirty="0">
                <a:solidFill>
                  <a:srgbClr val="C9C9CE"/>
                </a:solidFill>
                <a:latin typeface="Arial" pitchFamily="34" charset="0"/>
                <a:ea typeface="Arial" pitchFamily="34" charset="-122"/>
                <a:cs typeface="Arial" pitchFamily="34" charset="-120"/>
              </a:rPr>
              <a:t>launch cadence, fleet miles, design wins — gauges, not guidance.</a:t>
            </a:r>
            <a:endParaRPr lang="en-US" sz="1000" dirty="0"/>
          </a:p>
        </p:txBody>
      </p:sp>
      <p:sp>
        <p:nvSpPr>
          <p:cNvPr id="24" name="Text 18"/>
          <p:cNvSpPr/>
          <p:nvPr/>
        </p:nvSpPr>
        <p:spPr>
          <a:xfrm>
            <a:off x="457200" y="4315968"/>
            <a:ext cx="8229600" cy="384048"/>
          </a:xfrm>
          <a:prstGeom prst="rect">
            <a:avLst/>
          </a:prstGeom>
          <a:noFill/>
          <a:ln/>
        </p:spPr>
        <p:txBody>
          <a:bodyPr wrap="square" lIns="0" tIns="0" rIns="0" bIns="0" rtlCol="0" anchor="t"/>
          <a:lstStyle/>
          <a:p>
            <a:pPr indent="0" marL="0">
              <a:buNone/>
            </a:pPr>
            <a:r>
              <a:rPr lang="en-US" sz="700" dirty="0">
                <a:solidFill>
                  <a:srgbClr val="8A8A90"/>
                </a:solidFill>
                <a:latin typeface="Arial" pitchFamily="34" charset="0"/>
                <a:ea typeface="Arial" pitchFamily="34" charset="-122"/>
                <a:cs typeface="Arial" pitchFamily="34" charset="-120"/>
              </a:rPr>
              <a:t>Source: Deck analysis building on Internal strategic review, “The 2026 AI Frontier” (Jun 2026). All frontier-watch items are speculative and appear in no company guidance.</a:t>
            </a:r>
            <a:endParaRPr lang="en-US" sz="700" dirty="0"/>
          </a:p>
        </p:txBody>
      </p:sp>
      <p:sp>
        <p:nvSpPr>
          <p:cNvPr id="25" name="Shape 19"/>
          <p:cNvSpPr/>
          <p:nvPr/>
        </p:nvSpPr>
        <p:spPr>
          <a:xfrm>
            <a:off x="0" y="4526280"/>
            <a:ext cx="9144000" cy="617220"/>
          </a:xfrm>
          <a:prstGeom prst="rect">
            <a:avLst/>
          </a:prstGeom>
          <a:solidFill>
            <a:srgbClr val="000000"/>
          </a:solidFill>
          <a:ln/>
        </p:spPr>
      </p:sp>
      <p:sp>
        <p:nvSpPr>
          <p:cNvPr id="26" name="Shape 20"/>
          <p:cNvSpPr/>
          <p:nvPr/>
        </p:nvSpPr>
        <p:spPr>
          <a:xfrm>
            <a:off x="0" y="4526280"/>
            <a:ext cx="9144000" cy="0"/>
          </a:xfrm>
          <a:prstGeom prst="line">
            <a:avLst/>
          </a:prstGeom>
          <a:noFill/>
          <a:ln w="6350">
            <a:solidFill>
              <a:srgbClr val="2A2A30"/>
            </a:solidFill>
            <a:prstDash val="solid"/>
          </a:ln>
        </p:spPr>
      </p:sp>
      <p:sp>
        <p:nvSpPr>
          <p:cNvPr id="27" name="Text 21"/>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28" name="Text 22"/>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4"/>
        </a:solidFill>
      </p:bgPr>
    </p:bg>
    <p:spTree>
      <p:nvGrpSpPr>
        <p:cNvPr id="1" name=""/>
        <p:cNvGrpSpPr/>
        <p:nvPr/>
      </p:nvGrpSpPr>
      <p:grpSpPr>
        <a:xfrm>
          <a:off x="0" y="0"/>
          <a:ext cx="0" cy="0"/>
          <a:chOff x="0" y="0"/>
          <a:chExt cx="0" cy="0"/>
        </a:xfrm>
      </p:grpSpPr>
      <p:sp>
        <p:nvSpPr>
          <p:cNvPr id="2" name="Text 0"/>
          <p:cNvSpPr/>
          <p:nvPr/>
        </p:nvSpPr>
        <p:spPr>
          <a:xfrm>
            <a:off x="457200" y="274320"/>
            <a:ext cx="8229600" cy="566928"/>
          </a:xfrm>
          <a:prstGeom prst="rect">
            <a:avLst/>
          </a:prstGeom>
          <a:noFill/>
          <a:ln/>
        </p:spPr>
        <p:txBody>
          <a:bodyPr wrap="square" lIns="0" tIns="0" rIns="0" bIns="0" rtlCol="0" anchor="t"/>
          <a:lstStyle/>
          <a:p>
            <a:pPr indent="0" marL="0">
              <a:buNone/>
            </a:pPr>
            <a:r>
              <a:rPr lang="en-US" sz="2200" b="1" dirty="0">
                <a:solidFill>
                  <a:srgbClr val="FFFFFF"/>
                </a:solidFill>
                <a:latin typeface="Arial Black" pitchFamily="34" charset="0"/>
                <a:ea typeface="Arial Black" pitchFamily="34" charset="-122"/>
                <a:cs typeface="Arial Black" pitchFamily="34" charset="-120"/>
              </a:rPr>
              <a:t>Sources &amp; methodology</a:t>
            </a:r>
            <a:endParaRPr lang="en-US" sz="2200" dirty="0"/>
          </a:p>
        </p:txBody>
      </p:sp>
      <p:sp>
        <p:nvSpPr>
          <p:cNvPr id="3" name="Shape 1"/>
          <p:cNvSpPr/>
          <p:nvPr/>
        </p:nvSpPr>
        <p:spPr>
          <a:xfrm>
            <a:off x="457200" y="868680"/>
            <a:ext cx="2377440" cy="347472"/>
          </a:xfrm>
          <a:prstGeom prst="rect">
            <a:avLst/>
          </a:prstGeom>
          <a:solidFill>
            <a:srgbClr val="F6693D"/>
          </a:solidFill>
          <a:ln/>
        </p:spPr>
      </p:sp>
      <p:sp>
        <p:nvSpPr>
          <p:cNvPr id="4" name="Text 2"/>
          <p:cNvSpPr/>
          <p:nvPr/>
        </p:nvSpPr>
        <p:spPr>
          <a:xfrm>
            <a:off x="457200" y="868680"/>
            <a:ext cx="2377440" cy="347472"/>
          </a:xfrm>
          <a:prstGeom prst="rect">
            <a:avLst/>
          </a:prstGeom>
          <a:noFill/>
          <a:ln/>
        </p:spPr>
        <p:txBody>
          <a:bodyPr wrap="square" lIns="0" tIns="0" rIns="0" bIns="0" rtlCol="0" anchor="ctr"/>
          <a:lstStyle/>
          <a:p>
            <a:pPr algn="ctr" indent="0" marL="0">
              <a:buNone/>
            </a:pPr>
            <a:r>
              <a:rPr lang="en-US" sz="1050" b="1" spc="100" kern="0" dirty="0">
                <a:solidFill>
                  <a:srgbClr val="000000"/>
                </a:solidFill>
                <a:latin typeface="Arial" pitchFamily="34" charset="0"/>
                <a:ea typeface="Arial" pitchFamily="34" charset="-122"/>
                <a:cs typeface="Arial" pitchFamily="34" charset="-120"/>
              </a:rPr>
              <a:t>DATA AS OF JUNE 2026</a:t>
            </a:r>
            <a:endParaRPr lang="en-US" sz="1050" dirty="0"/>
          </a:p>
        </p:txBody>
      </p:sp>
      <p:sp>
        <p:nvSpPr>
          <p:cNvPr id="5" name="Text 3"/>
          <p:cNvSpPr/>
          <p:nvPr/>
        </p:nvSpPr>
        <p:spPr>
          <a:xfrm>
            <a:off x="3017520" y="868680"/>
            <a:ext cx="5669280" cy="384048"/>
          </a:xfrm>
          <a:prstGeom prst="rect">
            <a:avLst/>
          </a:prstGeom>
          <a:noFill/>
          <a:ln/>
        </p:spPr>
        <p:txBody>
          <a:bodyPr wrap="square" lIns="0" tIns="0" rIns="0" bIns="0" rtlCol="0" anchor="ctr"/>
          <a:lstStyle/>
          <a:p>
            <a:pPr indent="0" marL="0">
              <a:buNone/>
            </a:pPr>
            <a:r>
              <a:rPr lang="en-US" sz="850" dirty="0">
                <a:solidFill>
                  <a:srgbClr val="9A9AA0"/>
                </a:solidFill>
                <a:latin typeface="Arial" pitchFamily="34" charset="0"/>
                <a:ea typeface="Arial" pitchFamily="34" charset="-122"/>
                <a:cs typeface="Arial" pitchFamily="34" charset="-120"/>
              </a:rPr>
              <a:t>All return figures are YTD total returns through the most recent available close (Jun 5–9, 2026, unless noted). Index and market-cap figures as of early June 2026.</a:t>
            </a:r>
            <a:endParaRPr lang="en-US" sz="850" dirty="0"/>
          </a:p>
        </p:txBody>
      </p:sp>
      <p:sp>
        <p:nvSpPr>
          <p:cNvPr id="6" name="Shape 4"/>
          <p:cNvSpPr/>
          <p:nvPr/>
        </p:nvSpPr>
        <p:spPr>
          <a:xfrm>
            <a:off x="457200" y="1417320"/>
            <a:ext cx="2057400" cy="219456"/>
          </a:xfrm>
          <a:prstGeom prst="rect">
            <a:avLst/>
          </a:prstGeom>
          <a:solidFill>
            <a:srgbClr val="FFB800"/>
          </a:solidFill>
          <a:ln/>
        </p:spPr>
      </p:sp>
      <p:sp>
        <p:nvSpPr>
          <p:cNvPr id="7" name="Text 5"/>
          <p:cNvSpPr/>
          <p:nvPr/>
        </p:nvSpPr>
        <p:spPr>
          <a:xfrm>
            <a:off x="457200" y="1417320"/>
            <a:ext cx="2057400" cy="219456"/>
          </a:xfrm>
          <a:prstGeom prst="rect">
            <a:avLst/>
          </a:prstGeom>
          <a:noFill/>
          <a:ln/>
        </p:spPr>
        <p:txBody>
          <a:bodyPr wrap="square" lIns="0" tIns="0" rIns="0" bIns="0" rtlCol="0" anchor="ctr"/>
          <a:lstStyle/>
          <a:p>
            <a:pPr algn="ctr" indent="0" marL="0">
              <a:buNone/>
            </a:pPr>
            <a:r>
              <a:rPr lang="en-US" sz="750" b="1" spc="100" kern="0" dirty="0">
                <a:solidFill>
                  <a:srgbClr val="000000"/>
                </a:solidFill>
                <a:latin typeface="Arial" pitchFamily="34" charset="0"/>
                <a:ea typeface="Arial" pitchFamily="34" charset="-122"/>
                <a:cs typeface="Arial" pitchFamily="34" charset="-120"/>
              </a:rPr>
              <a:t>MARKET DATA</a:t>
            </a:r>
            <a:endParaRPr lang="en-US" sz="750" dirty="0"/>
          </a:p>
        </p:txBody>
      </p:sp>
      <p:sp>
        <p:nvSpPr>
          <p:cNvPr id="8" name="Text 6"/>
          <p:cNvSpPr/>
          <p:nvPr/>
        </p:nvSpPr>
        <p:spPr>
          <a:xfrm>
            <a:off x="493776" y="1709928"/>
            <a:ext cx="1993392" cy="2194560"/>
          </a:xfrm>
          <a:prstGeom prst="rect">
            <a:avLst/>
          </a:prstGeom>
          <a:noFill/>
          <a:ln/>
        </p:spPr>
        <p:txBody>
          <a:bodyPr wrap="square" lIns="0" tIns="0" rIns="0" bIns="0" rtlCol="0" anchor="t"/>
          <a:lstStyle/>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ETF returns &amp; stats: stockanalysis.com (SOXX, IGV); Morningstar / Yahoo Finance (RSP, MAGS)</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Index returns &amp; weights: slickcharts.com; S&amp;P Dow Jones Indices; MacroMicro; finhacker.cz</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Market caps: companiesmarketcap.com; Motley Fool research (Jun 2026)</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Valuations: FactSet Earnings Insight; rates: US Treasury / FRED; CNBC (Jun 5, 2026)</a:t>
            </a:r>
            <a:endParaRPr lang="en-US" sz="720" dirty="0"/>
          </a:p>
        </p:txBody>
      </p:sp>
      <p:sp>
        <p:nvSpPr>
          <p:cNvPr id="9" name="Shape 7"/>
          <p:cNvSpPr/>
          <p:nvPr/>
        </p:nvSpPr>
        <p:spPr>
          <a:xfrm>
            <a:off x="2583180" y="1417320"/>
            <a:ext cx="2057400" cy="219456"/>
          </a:xfrm>
          <a:prstGeom prst="rect">
            <a:avLst/>
          </a:prstGeom>
          <a:solidFill>
            <a:srgbClr val="F6693D"/>
          </a:solidFill>
          <a:ln/>
        </p:spPr>
      </p:sp>
      <p:sp>
        <p:nvSpPr>
          <p:cNvPr id="10" name="Text 8"/>
          <p:cNvSpPr/>
          <p:nvPr/>
        </p:nvSpPr>
        <p:spPr>
          <a:xfrm>
            <a:off x="2583180" y="1417320"/>
            <a:ext cx="2057400" cy="219456"/>
          </a:xfrm>
          <a:prstGeom prst="rect">
            <a:avLst/>
          </a:prstGeom>
          <a:noFill/>
          <a:ln/>
        </p:spPr>
        <p:txBody>
          <a:bodyPr wrap="square" lIns="0" tIns="0" rIns="0" bIns="0" rtlCol="0" anchor="ctr"/>
          <a:lstStyle/>
          <a:p>
            <a:pPr algn="ctr" indent="0" marL="0">
              <a:buNone/>
            </a:pPr>
            <a:r>
              <a:rPr lang="en-US" sz="750" b="1" spc="100" kern="0" dirty="0">
                <a:solidFill>
                  <a:srgbClr val="000000"/>
                </a:solidFill>
                <a:latin typeface="Arial" pitchFamily="34" charset="0"/>
                <a:ea typeface="Arial" pitchFamily="34" charset="-122"/>
                <a:cs typeface="Arial" pitchFamily="34" charset="-120"/>
              </a:rPr>
              <a:t>CAPEX &amp; FINANCING</a:t>
            </a:r>
            <a:endParaRPr lang="en-US" sz="750" dirty="0"/>
          </a:p>
        </p:txBody>
      </p:sp>
      <p:sp>
        <p:nvSpPr>
          <p:cNvPr id="11" name="Text 9"/>
          <p:cNvSpPr/>
          <p:nvPr/>
        </p:nvSpPr>
        <p:spPr>
          <a:xfrm>
            <a:off x="2619756" y="1709928"/>
            <a:ext cx="1993392" cy="2194560"/>
          </a:xfrm>
          <a:prstGeom prst="rect">
            <a:avLst/>
          </a:prstGeom>
          <a:noFill/>
          <a:ln/>
        </p:spPr>
        <p:txBody>
          <a:bodyPr wrap="square" lIns="0" tIns="0" rIns="0" bIns="0" rtlCol="0" anchor="t"/>
          <a:lstStyle/>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Capex guidance: company reports via CNBC (Feb 6, 2026); Tom’s Hardware; Statista (midpoints)</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Cash-flow math: BofA via Breckinridge; CNBC; techtimes / beincrypto FCF estimates</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Bond issuance: Mawer; M&amp;G Investments; Fortune (Mar 2026); CNBC (Feb 2026)</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Supply forecasts: UBS &amp; Barclays via Reuters (Jan 2026); credit signals: MUFG CDS via CNBC</a:t>
            </a:r>
            <a:endParaRPr lang="en-US" sz="720" dirty="0"/>
          </a:p>
        </p:txBody>
      </p:sp>
      <p:sp>
        <p:nvSpPr>
          <p:cNvPr id="12" name="Shape 10"/>
          <p:cNvSpPr/>
          <p:nvPr/>
        </p:nvSpPr>
        <p:spPr>
          <a:xfrm>
            <a:off x="4709160" y="1417320"/>
            <a:ext cx="2057400" cy="219456"/>
          </a:xfrm>
          <a:prstGeom prst="rect">
            <a:avLst/>
          </a:prstGeom>
          <a:solidFill>
            <a:srgbClr val="2BC4C4"/>
          </a:solidFill>
          <a:ln/>
        </p:spPr>
      </p:sp>
      <p:sp>
        <p:nvSpPr>
          <p:cNvPr id="13" name="Text 11"/>
          <p:cNvSpPr/>
          <p:nvPr/>
        </p:nvSpPr>
        <p:spPr>
          <a:xfrm>
            <a:off x="4709160" y="1417320"/>
            <a:ext cx="2057400" cy="219456"/>
          </a:xfrm>
          <a:prstGeom prst="rect">
            <a:avLst/>
          </a:prstGeom>
          <a:noFill/>
          <a:ln/>
        </p:spPr>
        <p:txBody>
          <a:bodyPr wrap="square" lIns="0" tIns="0" rIns="0" bIns="0" rtlCol="0" anchor="ctr"/>
          <a:lstStyle/>
          <a:p>
            <a:pPr algn="ctr" indent="0" marL="0">
              <a:buNone/>
            </a:pPr>
            <a:r>
              <a:rPr lang="en-US" sz="750" b="1" spc="100" kern="0" dirty="0">
                <a:solidFill>
                  <a:srgbClr val="000000"/>
                </a:solidFill>
                <a:latin typeface="Arial" pitchFamily="34" charset="0"/>
                <a:ea typeface="Arial" pitchFamily="34" charset="-122"/>
                <a:cs typeface="Arial" pitchFamily="34" charset="-120"/>
              </a:rPr>
              <a:t>LABOR &amp; POLICY</a:t>
            </a:r>
            <a:endParaRPr lang="en-US" sz="750" dirty="0"/>
          </a:p>
        </p:txBody>
      </p:sp>
      <p:sp>
        <p:nvSpPr>
          <p:cNvPr id="14" name="Text 12"/>
          <p:cNvSpPr/>
          <p:nvPr/>
        </p:nvSpPr>
        <p:spPr>
          <a:xfrm>
            <a:off x="4745736" y="1709928"/>
            <a:ext cx="1993392" cy="2194560"/>
          </a:xfrm>
          <a:prstGeom prst="rect">
            <a:avLst/>
          </a:prstGeom>
          <a:noFill/>
          <a:ln/>
        </p:spPr>
        <p:txBody>
          <a:bodyPr wrap="square" lIns="0" tIns="0" rIns="0" bIns="0" rtlCol="0" anchor="t"/>
          <a:lstStyle/>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Layoffs: Challenger, Gray &amp; Christmas via CNBC (Jun 5, 2026) &amp; CBS News — AI cited in ~40% of May cuts; 87.7k YTD</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Graduate unemployment: NY Fed recent-grad series (5.6% vs 4.2% overall, Mar 2026) via CNBC</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Entry-level payrolls: academic working papers on AI-exposed occupations (22–25 cohort)</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Policy: Executive Order provisions, sovereign-wealth-fund proposals, Sacks critique — per the strategic review</a:t>
            </a:r>
            <a:endParaRPr lang="en-US" sz="720" dirty="0"/>
          </a:p>
        </p:txBody>
      </p:sp>
      <p:sp>
        <p:nvSpPr>
          <p:cNvPr id="15" name="Shape 13"/>
          <p:cNvSpPr/>
          <p:nvPr/>
        </p:nvSpPr>
        <p:spPr>
          <a:xfrm>
            <a:off x="6835140" y="1417320"/>
            <a:ext cx="2057400" cy="219456"/>
          </a:xfrm>
          <a:prstGeom prst="rect">
            <a:avLst/>
          </a:prstGeom>
          <a:solidFill>
            <a:srgbClr val="9B7BE0"/>
          </a:solidFill>
          <a:ln/>
        </p:spPr>
      </p:sp>
      <p:sp>
        <p:nvSpPr>
          <p:cNvPr id="16" name="Text 14"/>
          <p:cNvSpPr/>
          <p:nvPr/>
        </p:nvSpPr>
        <p:spPr>
          <a:xfrm>
            <a:off x="6835140" y="1417320"/>
            <a:ext cx="2057400" cy="219456"/>
          </a:xfrm>
          <a:prstGeom prst="rect">
            <a:avLst/>
          </a:prstGeom>
          <a:noFill/>
          <a:ln/>
        </p:spPr>
        <p:txBody>
          <a:bodyPr wrap="square" lIns="0" tIns="0" rIns="0" bIns="0" rtlCol="0" anchor="ctr"/>
          <a:lstStyle/>
          <a:p>
            <a:pPr algn="ctr" indent="0" marL="0">
              <a:buNone/>
            </a:pPr>
            <a:r>
              <a:rPr lang="en-US" sz="750" b="1" spc="100" kern="0" dirty="0">
                <a:solidFill>
                  <a:srgbClr val="000000"/>
                </a:solidFill>
                <a:latin typeface="Arial" pitchFamily="34" charset="0"/>
                <a:ea typeface="Arial" pitchFamily="34" charset="-122"/>
                <a:cs typeface="Arial" pitchFamily="34" charset="-120"/>
              </a:rPr>
              <a:t>AI FRONTIER REVIEW</a:t>
            </a:r>
            <a:endParaRPr lang="en-US" sz="750" dirty="0"/>
          </a:p>
        </p:txBody>
      </p:sp>
      <p:sp>
        <p:nvSpPr>
          <p:cNvPr id="17" name="Text 15"/>
          <p:cNvSpPr/>
          <p:nvPr/>
        </p:nvSpPr>
        <p:spPr>
          <a:xfrm>
            <a:off x="6871716" y="1709928"/>
            <a:ext cx="1993392" cy="2194560"/>
          </a:xfrm>
          <a:prstGeom prst="rect">
            <a:avLst/>
          </a:prstGeom>
          <a:noFill/>
          <a:ln/>
        </p:spPr>
        <p:txBody>
          <a:bodyPr wrap="square" lIns="0" tIns="0" rIns="0" bIns="0" rtlCol="0" anchor="t"/>
          <a:lstStyle/>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Internal strategic review: “The 2026 AI Frontier” (Jun 2026)</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Agentic loops &amp; token economics; enterprise caps (Uber, Walmart); Karpathy &amp; Cherny commentary</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Compute: SK Hynix HBM outlook; SpaceX Colossus; Google GPU rental; run rates via Leona’s Capital</a:t>
            </a:r>
            <a:endParaRPr lang="en-US" sz="720" dirty="0"/>
          </a:p>
          <a:p>
            <a:pPr marL="88900" indent="-88900">
              <a:spcAft>
                <a:spcPts val="400"/>
              </a:spcAft>
              <a:buSzPct val="100000"/>
              <a:buChar char="•"/>
            </a:pPr>
            <a:r>
              <a:rPr lang="en-US" sz="720" dirty="0">
                <a:solidFill>
                  <a:srgbClr val="C9C9CE"/>
                </a:solidFill>
                <a:latin typeface="Arial" pitchFamily="34" charset="0"/>
                <a:ea typeface="Arial" pitchFamily="34" charset="-122"/>
                <a:cs typeface="Arial" pitchFamily="34" charset="-120"/>
              </a:rPr>
              <a:t>Frontier watch: embodiment, orbital compute, robotaxis, AI biology — speculative</a:t>
            </a:r>
            <a:endParaRPr lang="en-US" sz="720" dirty="0"/>
          </a:p>
        </p:txBody>
      </p:sp>
      <p:sp>
        <p:nvSpPr>
          <p:cNvPr id="18" name="Text 16"/>
          <p:cNvSpPr/>
          <p:nvPr/>
        </p:nvSpPr>
        <p:spPr>
          <a:xfrm>
            <a:off x="457200" y="3968496"/>
            <a:ext cx="8229600" cy="512064"/>
          </a:xfrm>
          <a:prstGeom prst="rect">
            <a:avLst/>
          </a:prstGeom>
          <a:noFill/>
          <a:ln/>
        </p:spPr>
        <p:txBody>
          <a:bodyPr wrap="square" lIns="0" tIns="0" rIns="0" bIns="0" rtlCol="0" anchor="ctr"/>
          <a:lstStyle/>
          <a:p>
            <a:pPr indent="0" marL="0">
              <a:buNone/>
            </a:pPr>
            <a:r>
              <a:rPr lang="en-US" sz="750" i="1" dirty="0">
                <a:solidFill>
                  <a:srgbClr val="8A8A90"/>
                </a:solidFill>
                <a:latin typeface="Arial" pitchFamily="34" charset="0"/>
                <a:ea typeface="Arial" pitchFamily="34" charset="-122"/>
                <a:cs typeface="Arial" pitchFamily="34" charset="-120"/>
              </a:rPr>
              <a:t>Methodology: figures verified against at least one primary or institutional source; where sources disagreed, the more conservative figure was used. The Jevons chart (slide 4) is illustrative, not measured data. Layoff attributions to AI are self-reported by employers (Challenger) and may overstate causation. Frontier items (slide 12) are speculative and appear in no company guidance. Image placeholders are labeled in situ and pending final art. End of deck.</a:t>
            </a:r>
            <a:endParaRPr lang="en-US" sz="750" dirty="0"/>
          </a:p>
        </p:txBody>
      </p:sp>
      <p:sp>
        <p:nvSpPr>
          <p:cNvPr id="19" name="Shape 17"/>
          <p:cNvSpPr/>
          <p:nvPr/>
        </p:nvSpPr>
        <p:spPr>
          <a:xfrm>
            <a:off x="0" y="4526280"/>
            <a:ext cx="9144000" cy="617220"/>
          </a:xfrm>
          <a:prstGeom prst="rect">
            <a:avLst/>
          </a:prstGeom>
          <a:solidFill>
            <a:srgbClr val="000000"/>
          </a:solidFill>
          <a:ln/>
        </p:spPr>
      </p:sp>
      <p:sp>
        <p:nvSpPr>
          <p:cNvPr id="20" name="Shape 18"/>
          <p:cNvSpPr/>
          <p:nvPr/>
        </p:nvSpPr>
        <p:spPr>
          <a:xfrm>
            <a:off x="0" y="4526280"/>
            <a:ext cx="9144000" cy="0"/>
          </a:xfrm>
          <a:prstGeom prst="line">
            <a:avLst/>
          </a:prstGeom>
          <a:noFill/>
          <a:ln w="6350">
            <a:solidFill>
              <a:srgbClr val="2A2A30"/>
            </a:solidFill>
            <a:prstDash val="solid"/>
          </a:ln>
        </p:spPr>
      </p:sp>
      <p:sp>
        <p:nvSpPr>
          <p:cNvPr id="21" name="Text 19"/>
          <p:cNvSpPr/>
          <p:nvPr/>
        </p:nvSpPr>
        <p:spPr>
          <a:xfrm>
            <a:off x="1371600" y="4572000"/>
            <a:ext cx="6583680" cy="502920"/>
          </a:xfrm>
          <a:prstGeom prst="rect">
            <a:avLst/>
          </a:prstGeom>
          <a:noFill/>
          <a:ln/>
        </p:spPr>
        <p:txBody>
          <a:bodyPr wrap="square" rtlCol="0" anchor="ctr"/>
          <a:lstStyle/>
          <a:p>
            <a:pPr algn="ctr" indent="0" marL="0">
              <a:buNone/>
            </a:pPr>
            <a:r>
              <a:rPr lang="en-US" sz="650" b="1" dirty="0">
                <a:solidFill>
                  <a:srgbClr val="9A9AA0"/>
                </a:solidFill>
                <a:latin typeface="Arial" pitchFamily="34" charset="0"/>
                <a:ea typeface="Arial" pitchFamily="34" charset="-122"/>
                <a:cs typeface="Arial" pitchFamily="34" charset="-120"/>
              </a:rPr>
              <a:t>FOR INFORMATIONAL PURPOSES ONLY. NOT INVESTMENT ADVICE. PAST PERFORMANCE IS NOT INDICATIVE OF FUTURE RESULTS.</a:t>
            </a:r>
            <a:endParaRPr lang="en-US" sz="650" dirty="0"/>
          </a:p>
        </p:txBody>
      </p:sp>
      <p:sp>
        <p:nvSpPr>
          <p:cNvPr id="22" name="Text 20"/>
          <p:cNvSpPr/>
          <p:nvPr/>
        </p:nvSpPr>
        <p:spPr>
          <a:xfrm>
            <a:off x="8503920" y="4645152"/>
            <a:ext cx="457200" cy="320040"/>
          </a:xfrm>
          <a:prstGeom prst="rect">
            <a:avLst/>
          </a:prstGeom>
          <a:noFill/>
          <a:ln/>
        </p:spPr>
        <p:txBody>
          <a:bodyPr wrap="square" lIns="0" tIns="0" rIns="0" bIns="0" rtlCol="0" anchor="ctr"/>
          <a:lstStyle/>
          <a:p>
            <a:pPr algn="r" indent="0" marL="0">
              <a:buNone/>
            </a:pPr>
            <a:r>
              <a:rPr lang="en-US" sz="900" dirty="0">
                <a:solidFill>
                  <a:srgbClr val="9A9AA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in the Market — June 2026</dc:title>
  <dc:subject>PptxGenJS Presentation</dc:subject>
  <dc:creator>Strategy</dc:creator>
  <cp:lastModifiedBy>Strategy</cp:lastModifiedBy>
  <cp:revision>1</cp:revision>
  <dcterms:created xsi:type="dcterms:W3CDTF">2026-06-11T01:46:20Z</dcterms:created>
  <dcterms:modified xsi:type="dcterms:W3CDTF">2026-06-11T01:46:20Z</dcterms:modified>
</cp:coreProperties>
</file>