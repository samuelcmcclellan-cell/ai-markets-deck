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3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58521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591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95728"/>
            <a:ext cx="109728" cy="58521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95728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95728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9572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10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54096"/>
            <a:ext cx="109728" cy="5852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054096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54096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305409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– 12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67588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12464"/>
            <a:ext cx="109728" cy="5852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712464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71246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– 16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33425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370832"/>
            <a:ext cx="109728" cy="58521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37083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370832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37083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– 20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9926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029200"/>
            <a:ext cx="109728" cy="58521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02920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02920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502920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21 slides, read top to bottom.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Semiconductors, in one slide.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~$975B market that turns sand into intelligence. Four kinds of chips, each doing a different job inside every phone, car, and data center.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315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737360"/>
            <a:ext cx="7863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SEMICONDUCTOR?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tiny switch — billions of them etched onto a silicon wafer — that turns electricity into computation, memory, and signal. Every modern device runs on them.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7200" y="2560320"/>
            <a:ext cx="1947672" cy="2423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7200" y="2560320"/>
            <a:ext cx="1947672" cy="36576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56032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017520"/>
            <a:ext cx="1947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CPU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" y="3566160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$302B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" y="3858768"/>
            <a:ext cx="1947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31% of market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48640" y="4114800"/>
            <a:ext cx="1764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thinking. GPUs, CPUs, TPUs.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4590288"/>
            <a:ext cx="1581912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663440"/>
            <a:ext cx="1764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AMD · Intel · TSMC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551176" y="2560320"/>
            <a:ext cx="1947672" cy="2423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1176" y="2560320"/>
            <a:ext cx="1947672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51176" y="256032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551176" y="3017520"/>
            <a:ext cx="1947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MEM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2551176" y="3566160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$295B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2551176" y="3858768"/>
            <a:ext cx="1947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of market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2642616" y="4114800"/>
            <a:ext cx="1764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the data. DRAM, HBM, NAND.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34056" y="4590288"/>
            <a:ext cx="1581912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42616" y="4663440"/>
            <a:ext cx="1764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· Samsung · Micron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4645152" y="2560320"/>
            <a:ext cx="1947672" cy="2423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45152" y="2560320"/>
            <a:ext cx="1947672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45152" y="256032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645152" y="3017520"/>
            <a:ext cx="1947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4645152" y="3566160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$95B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4645152" y="3858768"/>
            <a:ext cx="1947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of market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736592" y="4114800"/>
            <a:ext cx="1764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Connects to the real world. Power, RF.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828032" y="4590288"/>
            <a:ext cx="1581912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36592" y="4663440"/>
            <a:ext cx="1764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· Analog Devices · Infineon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739128" y="2560320"/>
            <a:ext cx="1947672" cy="2423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739128" y="2560320"/>
            <a:ext cx="1947672" cy="36576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9128" y="2560320"/>
            <a:ext cx="1947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739128" y="3017520"/>
            <a:ext cx="1947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•••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6739128" y="3566160"/>
            <a:ext cx="1947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$283B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6739128" y="3858768"/>
            <a:ext cx="1947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29% of market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830568" y="4114800"/>
            <a:ext cx="1764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Microcontrollers, sensors, discretes.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922008" y="4590288"/>
            <a:ext cx="1581912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30568" y="4663440"/>
            <a:ext cx="1764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 · Qualcomm · NXP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457200" y="5120640"/>
            <a:ext cx="8229600" cy="54864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40080" y="51206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$975B total, +26% YoY. Logic + memory = ~$600B — tracking hyperscaler capex almost dollar-for-dollar.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WSTS Fall 2025 forecast; SIA; company 10-Ks; TrendForce. Segment totals rounded; 'Other' combines micro + discrete + sensors.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5166360"/>
            <a:ext cx="8229600" cy="54864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40080" y="51663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TechCrunch, CNBC (Feb 2, 2026 xAI/SpaceX merger); Crunchbase Q1 2026 VC data; Sacra ARR run-rates; Bloomberg; Alphabet 10-K &amp; 2026 capex guide.</a:t>
            </a:r>
            <a:endParaRPr lang="en-US" sz="700" dirty="0"/>
          </a:p>
        </p:txBody>
      </p:sp>
      <p:sp>
        <p:nvSpPr>
          <p:cNvPr id="34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91640"/>
          <a:ext cx="50292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828800"/>
                <a:gridCol w="192024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576072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dark-themed IDE with AI coworker editing code, orange accents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Labs are buying dev-tool companies (Bun, Astral) to lock the coding stack.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company announcements; TechCrunch acquisition reporting.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are up, software is down — a ~58-point spread inside one theme. Private credit and PE-owned software names are now selling off in sympathy.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2011680"/>
            <a:ext cx="3931920" cy="27432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754880" y="2011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4754880" y="2331720"/>
            <a:ext cx="91440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669280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+72%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6492240" y="233172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capacity +50% in 2026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4754880" y="2679192"/>
            <a:ext cx="91440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5669280" y="267919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+68%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6492240" y="267919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out; $8B run-rate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4754880" y="3026664"/>
            <a:ext cx="91440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669280" y="302666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5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+62%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6492240" y="302666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HBM share; HBM4 ramp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UNDER PRESSURE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754880" y="3566160"/>
            <a:ext cx="91440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Salesforce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5669280" y="356616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–22%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6492240" y="35661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Seat model under agent threat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4754880" y="3913632"/>
            <a:ext cx="91440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Adobe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669280" y="391363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–24%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6492240" y="39136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Gen-AI erodes content moat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4754880" y="4261104"/>
            <a:ext cx="91440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ServiceNow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5669280" y="4261104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–19%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6492240" y="426110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Workflows disrupted by agents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754880" y="4480560"/>
            <a:ext cx="3931920" cy="27432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754880" y="4480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CREDIT &amp; PE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754880" y="4800600"/>
            <a:ext cx="91440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5669280" y="480060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–11%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6492240" y="48006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loan books re-marked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754880" y="5148072"/>
            <a:ext cx="914400" cy="34747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 SaaS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669280" y="5148072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–15%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6492240" y="514807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TBoss, Vista portcos written down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software sell-off is now a private-credit problem. PE shops holding SaaS at 2021 marks are taking the writedowns in Q1 reports.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Yahoo Finance YTD total returns (Apr 17, 2026); Counterpoint Research; Morgan Stanley CIO Survey; Bloomberg BDC and PE secondary marks; PitchBook. Single-stock YTDs indicative.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5" name="Text 4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  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2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Harding Loevner (Cisco); GuruFocus (NVDA fwd P/E Apr 17, 2026); Jay Ritter / UF; Bloomberg; CoreWeave 2nd market; FCC dark fiber data.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Supply chain fragility.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countries control the advanced semiconductor stack. US reshoring is real but slow — most leading-edge fabs come online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Cinematic — bunny-suited techs on fab floor, orange photolith glow, tall aspect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~90%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8620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share of advanced-node chips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46520" y="17830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76%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4652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+ Samsung DRAM share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886200" y="3383280"/>
            <a:ext cx="4800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leading-edge chip crosses 70+ borders and six countries before reaching a data center. ASML builds fewer than 100 EUV machines a year.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800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ACTUAL STATUS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Arizona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 1 at 4nm; Fab 2 ~2026–27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53746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8318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58318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2nm fab, pushed to 2026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1772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61772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 broken; online ~2028–30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606540" y="5120640"/>
            <a:ext cx="1943100" cy="68580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65226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52260" y="53949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fabs; online ~2027–28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TSMC, Samsung, Micron, Intel filings; US Commerce Dept CHIPS Program Office (Nov 2025 — $36B+ committed of $52.7B); SIA.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NVIDIA 10-Q; ASML filings; EU AI Act Article 99 / Chapter V (Aug 2, 2026 enforcement); US Bureau of Industry and Security; Commerce Dept (Nov 2025).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signs at a dusk rally, tall aspect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$64B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86200" y="251460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data-center projects blocked or delayed across 24 states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886200" y="3246120"/>
            <a:ext cx="480060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3246120"/>
            <a:ext cx="4800600" cy="2743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931920" y="35387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886200" y="3867912"/>
            <a:ext cx="480060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3867912"/>
            <a:ext cx="4800600" cy="2743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931920" y="41605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 of Americans view AI positively. Mar 21, 2026 "Stop the AI Race" protests hit lab HQs.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886200" y="4489704"/>
            <a:ext cx="480060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86200" y="4489704"/>
            <a:ext cx="4800600" cy="2743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931920" y="47823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~480K data-center workforce gap. 400+ sites under build — talent is now binding, not capital.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Data Center Watch ($18B halted, $46B delayed, 142 groups); Echelon Insights; Stop the AI Race; Fortune; TIME; CNN; NBC News; Data Center Frontier.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orbital data-center satellite with solar wings above Earth's limb at dawn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182880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01752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206240"/>
            <a:ext cx="4434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FCC filings; Starcloud, Google, SpaceX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 — humanoid robot mid-stride on a factory floor, warm work-light, motion blur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Goldman Sachs; Figure AI, Tesla, Hyundai, NVIDIA;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 — Waymo robotaxi on a rainy city street at dusk, sensor pod lit, long exposure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Waymo, Tesla, Baidu, Aurora; WHO Global Road Safety; NVIDIA FY2026.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solved protein folding. AI-designed drugs are in Phase 1/2 trials. The pharma R&amp;D cycle is compressing from a decade to under two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931920" cy="30175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7490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ribbon-diagram protein structure in purple against graphite black, shallow DOF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0" y="182880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240M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72000" y="2560320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structures in AlphaFold DB — nearly every known protein, solved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3291840"/>
            <a:ext cx="4114800" cy="27432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0" y="3291840"/>
            <a:ext cx="4114800" cy="2743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PROTEIN FOLDING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17720" y="358444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50-year structure-prediction problem, solved. 3M+ researchers across 190 countries use the DB.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0" y="3950208"/>
            <a:ext cx="4114800" cy="27432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0" y="3950208"/>
            <a:ext cx="4114800" cy="2743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PHARMA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17720" y="4242816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Isomorphic Labs' $3B deals with Lilly + Novartis. AI-designed small molecules now in Phase 1/2 trials.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0" y="4608576"/>
            <a:ext cx="4114800" cy="274320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0" y="4608576"/>
            <a:ext cx="4114800" cy="274320"/>
          </a:xfrm>
          <a:prstGeom prst="rect">
            <a:avLst/>
          </a:prstGeom>
          <a:noFill/>
          <a:ln/>
        </p:spPr>
        <p:txBody>
          <a:bodyPr wrap="square" lIns="1524" tIns="1524" rIns="1524" bIns="1524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R&amp;D COMPRESSION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17720" y="490118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→ IND shrinking from ~10 years to ~18 months on the fastest platforms.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6B4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DeepMind / Isomorphic · Recursion + Exscientia · Insitro · Generate Biomedicines · Moderna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DeepMind AlphaFold DB (Feb 2026 — 240M structures, 3M researchers); Isomorphic Labs / Fierce Biotech (Jan 2024, Feb 2025 partnerships); Recursion FY25 filings (Exscientia merger Jul 2025); CNBC; Nature.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+38% YTD, software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Yahoo Finance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2026-04-23T13:43:21Z</dcterms:created>
  <dcterms:modified xsi:type="dcterms:W3CDTF">2026-04-23T13:43:21Z</dcterms:modified>
</cp:coreProperties>
</file>