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</c:v>
                </c:pt>
                <c:pt idx="1">
                  <c:v>18</c:v>
                </c:pt>
                <c:pt idx="2">
                  <c:v>38</c:v>
                </c:pt>
                <c:pt idx="3">
                  <c:v>56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ln w="38100" cap="flat">
              <a:solidFill>
                <a:srgbClr val="008B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8B8B"/>
              </a:solidFill>
              <a:ln w="9525" cap="flat">
                <a:solidFill>
                  <a:srgbClr val="008B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</c:v>
                </c:pt>
                <c:pt idx="1">
                  <c:v>2</c:v>
                </c:pt>
                <c:pt idx="2">
                  <c:v>5</c:v>
                </c:pt>
                <c:pt idx="3">
                  <c:v>10</c:v>
                </c:pt>
                <c:pt idx="4">
                  <c:v>16</c:v>
                </c:pt>
                <c:pt idx="5">
                  <c:v>24</c:v>
                </c:pt>
                <c:pt idx="6">
                  <c:v>32</c:v>
                </c:pt>
                <c:pt idx="7">
                  <c:v>40</c:v>
                </c:pt>
                <c:pt idx="8">
                  <c:v>47</c:v>
                </c:pt>
                <c:pt idx="9">
                  <c:v>53</c:v>
                </c:pt>
                <c:pt idx="10">
                  <c:v>58</c:v>
                </c:pt>
                <c:pt idx="11">
                  <c:v>62</c:v>
                </c:pt>
                <c:pt idx="12">
                  <c:v>64</c:v>
                </c:pt>
                <c:pt idx="13">
                  <c:v>66</c:v>
                </c:pt>
                <c:pt idx="14">
                  <c:v>67</c:v>
                </c:pt>
                <c:pt idx="15">
                  <c:v>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PC</c:v>
                </c:pt>
              </c:strCache>
            </c:strRef>
          </c:tx>
          <c:spPr>
            <a:solidFill>
              <a:srgbClr val="666666"/>
            </a:solidFill>
            <a:ln w="38100" cap="flat">
              <a:solidFill>
                <a:srgbClr val="6666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66666"/>
              </a:solidFill>
              <a:ln w="9525" cap="flat">
                <a:solidFill>
                  <a:srgbClr val="6666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0</c:v>
                </c:pt>
                <c:pt idx="1">
                  <c:v>1</c:v>
                </c:pt>
                <c:pt idx="2">
                  <c:v>3</c:v>
                </c:pt>
                <c:pt idx="3">
                  <c:v>6</c:v>
                </c:pt>
                <c:pt idx="4">
                  <c:v>9</c:v>
                </c:pt>
                <c:pt idx="5">
                  <c:v>13</c:v>
                </c:pt>
                <c:pt idx="6">
                  <c:v>18</c:v>
                </c:pt>
                <c:pt idx="7">
                  <c:v>23</c:v>
                </c:pt>
                <c:pt idx="8">
                  <c:v>28</c:v>
                </c:pt>
                <c:pt idx="9">
                  <c:v>32</c:v>
                </c:pt>
                <c:pt idx="10">
                  <c:v>36</c:v>
                </c:pt>
                <c:pt idx="11">
                  <c:v>40</c:v>
                </c:pt>
                <c:pt idx="12">
                  <c:v>43</c:v>
                </c:pt>
                <c:pt idx="13">
                  <c:v>46</c:v>
                </c:pt>
                <c:pt idx="14">
                  <c:v>48</c:v>
                </c:pt>
                <c:pt idx="15">
                  <c:v>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16</c:v>
                </c:pt>
                <c:pt idx="3">
                  <c:v>42</c:v>
                </c:pt>
                <c:pt idx="4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</c:v>
                </c:pt>
              </c:strCache>
            </c:strRef>
          </c:tx>
          <c:spPr>
            <a:solidFill>
              <a:srgbClr val="FFB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7</c:v>
                </c:pt>
                <c:pt idx="4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2026E $B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Logic</c:v>
                  </c:pt>
                  <c:pt idx="1">
                    <c:v>Memory</c:v>
                  </c:pt>
                  <c:pt idx="2">
                    <c:v>Analog</c:v>
                  </c:pt>
                  <c:pt idx="3">
                    <c:v>Micro</c:v>
                  </c:pt>
                  <c:pt idx="4">
                    <c:v>Discrete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302</c:v>
                </c:pt>
                <c:pt idx="1">
                  <c:v>295</c:v>
                </c:pt>
                <c:pt idx="2">
                  <c:v>95</c:v>
                </c:pt>
                <c:pt idx="3">
                  <c:v>85</c:v>
                </c:pt>
                <c:pt idx="4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HBM TAM $B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2026E</c:v>
                  </c:pt>
                  <c:pt idx="4">
                    <c:v>2027E</c:v>
                  </c:pt>
                  <c:pt idx="5">
                    <c:v>2028E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</c:v>
                </c:pt>
                <c:pt idx="1">
                  <c:v>16</c:v>
                </c:pt>
                <c:pt idx="2">
                  <c:v>35</c:v>
                </c:pt>
                <c:pt idx="3">
                  <c:v>55</c:v>
                </c:pt>
                <c:pt idx="4">
                  <c:v>80</c:v>
                </c:pt>
                <c:pt idx="5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10 Tech</c:v>
                </c:pt>
              </c:strCache>
            </c:strRef>
          </c:tx>
          <c:spPr>
            <a:solidFill>
              <a:srgbClr val="FFFFFF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FFFFF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xVal>
            <c:numRef>
              <c:f>Sheet1!$A$2:$A$10</c:f>
              <c:numCache>
                <c:formatCode>General</c:formatCode>
                <c:ptCount val="9"/>
                <c:pt idx="0">
                  <c:v>-5</c:v>
                </c:pt>
                <c:pt idx="1">
                  <c:v>0</c:v>
                </c:pt>
                <c:pt idx="2">
                  <c:v>10</c:v>
                </c:pt>
                <c:pt idx="3">
                  <c:v>20</c:v>
                </c:pt>
                <c:pt idx="4">
                  <c:v>30</c:v>
                </c:pt>
                <c:pt idx="5">
                  <c:v>40</c:v>
                </c:pt>
                <c:pt idx="6">
                  <c:v>50</c:v>
                </c:pt>
                <c:pt idx="7">
                  <c:v>60</c:v>
                </c:pt>
                <c:pt idx="8">
                  <c:v>70</c:v>
                </c:pt>
              </c:numCache>
            </c:numRef>
          </c:xVal>
          <c:yVal>
            <c:numRef>
              <c:f>Sheet1!$B$2:$B$10</c:f>
              <c:numCache>
                <c:formatCode>General</c:formatCode>
                <c:ptCount val="9"/>
                <c:pt idx="0">
                  <c:v>28</c:v>
                </c:pt>
                <c:pt idx="1">
                  <c:v>22</c:v>
                </c:pt>
                <c:pt idx="2">
                  <c:v>28</c:v>
                </c:pt>
                <c:pt idx="3">
                  <c:v>20</c:v>
                </c:pt>
                <c:pt idx="4">
                  <c:v>28</c:v>
                </c:pt>
                <c:pt idx="5">
                  <c:v>24</c:v>
                </c:pt>
                <c:pt idx="6">
                  <c:v>19</c:v>
                </c:pt>
                <c:pt idx="7">
                  <c:v>22</c:v>
                </c:pt>
                <c:pt idx="8">
                  <c:v>10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Top 10 Non-Tech</c:v>
                </c:pt>
              </c:strCache>
            </c:strRef>
          </c:tx>
          <c:spPr>
            <a:solidFill>
              <a:srgbClr val="FFB80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FB800"/>
              </a:solidFill>
              <a:ln w="9525" cap="flat">
                <a:solidFill>
                  <a:srgbClr val="FFB800"/>
                </a:solidFill>
                <a:prstDash val="solid"/>
                <a:round/>
              </a:ln>
              <a:effectLst/>
            </c:spPr>
          </c:marker>
          <c:xVal>
            <c:numRef>
              <c:f>Sheet1!$A$2:$A$10</c:f>
              <c:numCache>
                <c:formatCode>General</c:formatCode>
                <c:ptCount val="9"/>
                <c:pt idx="0">
                  <c:v>-5</c:v>
                </c:pt>
                <c:pt idx="1">
                  <c:v>0</c:v>
                </c:pt>
                <c:pt idx="2">
                  <c:v>10</c:v>
                </c:pt>
                <c:pt idx="3">
                  <c:v>20</c:v>
                </c:pt>
                <c:pt idx="4">
                  <c:v>30</c:v>
                </c:pt>
                <c:pt idx="5">
                  <c:v>40</c:v>
                </c:pt>
                <c:pt idx="6">
                  <c:v>50</c:v>
                </c:pt>
                <c:pt idx="7">
                  <c:v>60</c:v>
                </c:pt>
                <c:pt idx="8">
                  <c:v>70</c:v>
                </c:pt>
              </c:numCache>
            </c:numRef>
          </c:xVal>
          <c:yVal>
            <c:numRef>
              <c:f>Sheet1!$C$2:$C$10</c:f>
              <c:numCache>
                <c:formatCode>General</c:formatCode>
                <c:ptCount val="9"/>
                <c:pt idx="0">
                  <c:v>34</c:v>
                </c:pt>
                <c:pt idx="1">
                  <c:v>48</c:v>
                </c:pt>
                <c:pt idx="2">
                  <c:v>32</c:v>
                </c:pt>
                <c:pt idx="3">
                  <c:v>24</c:v>
                </c:pt>
                <c:pt idx="4">
                  <c:v>15</c:v>
                </c:pt>
                <c:pt idx="5">
                  <c:v>22</c:v>
                </c:pt>
                <c:pt idx="6">
                  <c:v>18</c:v>
                </c:pt>
                <c:pt idx="7">
                  <c:v>14</c:v>
                </c:pt>
                <c:pt idx="8">
                  <c:v/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66666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66666"/>
                    </a:solidFill>
                    <a:latin typeface="Arial"/>
                  </a:rPr>
                  <a:t>Revenue growth, 2026E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55"/>
          <c:min val="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66666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66666"/>
                    </a:solidFill>
                    <a:latin typeface="Arial"/>
                  </a:rPr>
                  <a:t>P/E, 2026E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Semis (SOXX)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110</c:v>
                </c:pt>
                <c:pt idx="2">
                  <c:v>118</c:v>
                </c:pt>
                <c:pt idx="3">
                  <c:v>128</c:v>
                </c:pt>
                <c:pt idx="4">
                  <c:v>138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Nasdaq</c:v>
                </c:pt>
              </c:strCache>
            </c:strRef>
          </c:tx>
          <c:spPr>
            <a:solidFill>
              <a:srgbClr val="333333"/>
            </a:solidFill>
            <a:ln w="38100" cap="flat">
              <a:solidFill>
                <a:srgbClr val="333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33333"/>
              </a:solidFill>
              <a:ln w="9525" cap="flat">
                <a:solidFill>
                  <a:srgbClr val="333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98</c:v>
                </c:pt>
                <c:pt idx="2">
                  <c:v>96</c:v>
                </c:pt>
                <c:pt idx="3">
                  <c:v>99</c:v>
                </c:pt>
                <c:pt idx="4">
                  <c:v>104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Software (IGV)</c:v>
                </c:pt>
              </c:strCache>
            </c:strRef>
          </c:tx>
          <c:spPr>
            <a:solidFill>
              <a:srgbClr val="CC0000"/>
            </a:solidFill>
            <a:ln w="38100" cap="flat">
              <a:solidFill>
                <a:srgbClr val="CC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C0000"/>
              </a:solidFill>
              <a:ln w="9525" cap="flat">
                <a:solidFill>
                  <a:srgbClr val="CC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100</c:v>
                </c:pt>
                <c:pt idx="1">
                  <c:v>88</c:v>
                </c:pt>
                <c:pt idx="2">
                  <c:v>78</c:v>
                </c:pt>
                <c:pt idx="3">
                  <c:v>76</c:v>
                </c:pt>
                <c:pt idx="4">
                  <c:v>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1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1463040"/>
            <a:ext cx="3017520" cy="30175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852160" y="146304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Hero — abstract GPU / data-center close-up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223760" y="548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2026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223760" y="914400"/>
            <a:ext cx="155448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20240"/>
            <a:ext cx="731520" cy="9144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9456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Markets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457200" y="342900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capex cycle repricing every layer of tech.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5486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Note  |  Equity Research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argument, in five parts.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Landscape, Market, Shifts, Risks, Frontier. Each answers a different question about the same ~$750B capex cycle.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1691640"/>
            <a:ext cx="9144000" cy="3749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8288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DECK AT A GLANCE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56616" y="2240280"/>
            <a:ext cx="1554480" cy="292608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56616" y="2240280"/>
            <a:ext cx="1554480" cy="54864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" y="2514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8B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56616" y="3246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6344" y="3657600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AI is, where it runs, why it matters.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56616" y="4800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3–6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075688" y="2240280"/>
            <a:ext cx="1554480" cy="292608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75688" y="2240280"/>
            <a:ext cx="1554480" cy="54864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75688" y="2514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2075688" y="3246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85416" y="3657600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Semis, labs, and how AI has repriced earnings.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075688" y="4800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7–9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794760" y="2240280"/>
            <a:ext cx="1554480" cy="292608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94760" y="2240280"/>
            <a:ext cx="1554480" cy="54864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94760" y="2514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3794760" y="3246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904488" y="3657600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era and the great divergence.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794760" y="4800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10–11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513832" y="2240280"/>
            <a:ext cx="1554480" cy="292608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13832" y="2240280"/>
            <a:ext cx="1554480" cy="54864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13832" y="2514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5513832" y="3246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23560" y="3657600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Bubble, supply chain, policy, backlash.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513832" y="4800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12–15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232904" y="2240280"/>
            <a:ext cx="1554480" cy="292608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232904" y="2240280"/>
            <a:ext cx="1554480" cy="54864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2904" y="25146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47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3000" dirty="0"/>
          </a:p>
        </p:txBody>
      </p:sp>
      <p:sp>
        <p:nvSpPr>
          <p:cNvPr id="34" name="Text 32"/>
          <p:cNvSpPr/>
          <p:nvPr/>
        </p:nvSpPr>
        <p:spPr>
          <a:xfrm>
            <a:off x="7232904" y="3246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342632" y="3657600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Orbital, physical, autonomy, biology.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232904" y="4800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16–19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20 slides, read top to bottom.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AI matters to markets.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the largest capex cycle in history, it touches every layer of the economy, and it is repricing everything — in both directions.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031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$750B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2026E hyperscaler capex — Big 5 combined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60320" y="21031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$4T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560320" y="2834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AI data-center spend through 2030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63440" y="21031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+38%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663440" y="2834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semiconductors (SOXX) YTD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66560" y="21031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–20%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766560" y="2834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(IGV) YTD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5120640"/>
            <a:ext cx="8229600" cy="54864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51206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~58-point spread between semis and software. The same AI wave is creating winners and losers simultaneously.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CreditSights / MUFG hyperscaler capex 2026 estimates; Jensen Huang (Sept 2025); Deutsche Bank; iShares SOXX &amp; IGV YTD total return as of Apr 17, 2026.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evolution from chatbots to agents.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that learns from data, reasons through problems, and — increasingly — takes action without human direction.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011680"/>
            <a:ext cx="7863840" cy="0"/>
          </a:xfrm>
          <a:prstGeom prst="line">
            <a:avLst/>
          </a:prstGeom>
          <a:noFill/>
          <a:ln w="31750">
            <a:solidFill>
              <a:srgbClr val="6666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6528" y="1892808"/>
            <a:ext cx="237744" cy="237744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629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6293" y="2212848"/>
            <a:ext cx="54864" cy="329184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43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1950s–80s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43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Symbolic AI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43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Hand-coded rules. Expert systems with narrow recall.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87168" y="1892808"/>
            <a:ext cx="237744" cy="237744"/>
          </a:xfrm>
          <a:prstGeom prst="ellipse">
            <a:avLst/>
          </a:prstGeom>
          <a:solidFill>
            <a:srgbClr val="008B8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7693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76933" y="2212848"/>
            <a:ext cx="54864" cy="329184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494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1990s–2000s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494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0494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learn patterns from data, not rules.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97808" y="1892808"/>
            <a:ext cx="237744" cy="237744"/>
          </a:xfrm>
          <a:prstGeom prst="ellipse">
            <a:avLst/>
          </a:prstGeom>
          <a:solidFill>
            <a:srgbClr val="FFB8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8757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87573" y="2212848"/>
            <a:ext cx="54864" cy="32918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1558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1558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1558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networks go deep. AlexNet, the first breakthrough.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108448" y="1892808"/>
            <a:ext cx="237744" cy="237744"/>
          </a:xfrm>
          <a:prstGeom prst="ellipse">
            <a:avLst/>
          </a:prstGeom>
          <a:solidFill>
            <a:srgbClr val="F669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9821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98213" y="2212848"/>
            <a:ext cx="54864" cy="329184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2622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2022–24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2622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chatbots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72622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hits 100M users in 2 months. Claude, Gemini follow.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19088" y="1892808"/>
            <a:ext cx="237744" cy="237744"/>
          </a:xfrm>
          <a:prstGeom prst="ellipse">
            <a:avLst/>
          </a:prstGeom>
          <a:solidFill>
            <a:srgbClr val="E8478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0885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08853" y="2212848"/>
            <a:ext cx="54864" cy="32918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686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2023–24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3686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03686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Multi-step logic, chain-of-thought. o1, DeepSeek R1.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729728" y="1892808"/>
            <a:ext cx="237744" cy="237744"/>
          </a:xfrm>
          <a:prstGeom prst="ellipse">
            <a:avLst/>
          </a:prstGeom>
          <a:solidFill>
            <a:srgbClr val="CC00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1949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19493" y="2212848"/>
            <a:ext cx="54864" cy="32918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475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2025+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475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475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uses tools and acts autonomously. Claude Code, agents.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AI stack.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rare earths in the ground to agents that act on your behalf. Eleven layers, each investable, each with its own constraint.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554480"/>
            <a:ext cx="137160" cy="292608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5544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97480" y="15544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 that acts on your behalf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583680" y="1591056"/>
            <a:ext cx="2057400" cy="219456"/>
          </a:xfrm>
          <a:prstGeom prst="roundRect">
            <a:avLst>
              <a:gd name="adj" fmla="val 12500"/>
            </a:avLst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59105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FASTEST-GROWING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137160" cy="29260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19202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97480" y="19202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built on foundation models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286000"/>
            <a:ext cx="137160" cy="29260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2860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97480" y="22860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intelligence layer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651760"/>
            <a:ext cx="137160" cy="2926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26517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97480" y="26517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Warehouses of compute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017520"/>
            <a:ext cx="137160" cy="2926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0175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697480" y="30175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hidden constraint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383280"/>
            <a:ext cx="137160" cy="29260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33832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97480" y="33832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data at terabit speed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3749040"/>
            <a:ext cx="13716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3749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697480" y="37490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chiplets (CoWoS, HBM)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583680" y="3785616"/>
            <a:ext cx="2057400" cy="219456"/>
          </a:xfrm>
          <a:prstGeom prst="roundRect">
            <a:avLst>
              <a:gd name="adj" fmla="val 12500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0" y="378561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DEEPEST BOTTLENECK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57200" y="4114800"/>
            <a:ext cx="137160" cy="29260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41148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design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697480" y="4114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TPUs, ASICs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57200" y="4480560"/>
            <a:ext cx="137160" cy="29260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4805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2697480" y="44805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Fabricating at nanometer scale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57200" y="4846320"/>
            <a:ext cx="137160" cy="29260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" y="48463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697480" y="48463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that make machines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57200" y="5212080"/>
            <a:ext cx="137160" cy="29260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5800" y="52120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materials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697480" y="52120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Silicon, neon, rare earths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Layers ordered top (closest to user) to bottom (closest to atoms).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growth rates are unprecedented.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 — a once-in-a-generation S-curve, compressed into a handful of years.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after first mass-market launch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US population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after first $1B year ($B)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475488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/>
          <p:nvPr/>
        </p:nvSpPr>
        <p:spPr>
          <a:xfrm>
            <a:off x="475488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($B)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5394960"/>
            <a:ext cx="8229600" cy="21945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40080" y="539496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Anthropic    </a:t>
            </a:r>
            <a:pPr indent="0" marL="0">
              <a:buNone/>
            </a:pPr>
            <a:r>
              <a:rPr lang="en-US" sz="8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Cloud    </a:t>
            </a:r>
            <a:pPr indent="0" marL="0">
              <a:buNone/>
            </a:pPr>
            <a:r>
              <a:rPr lang="en-US" sz="850" b="1" spc="2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· Google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" y="5650992"/>
            <a:ext cx="8229600" cy="20116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565099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technologies.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Mary Meeker (Bond Capital / KPCB Internet Trends 2019); company filings and consensus estimates. Cloud and Internet trajectories are illustrative. 2026E shown for AI.</a:t>
            </a:r>
            <a:endParaRPr lang="en-US" sz="700" dirty="0"/>
          </a:p>
        </p:txBody>
      </p:sp>
      <p:sp>
        <p:nvSpPr>
          <p:cNvPr id="20" name="Shape 1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2" name="Text 1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semiconductor market.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~$975B market. Logic and memory drive the engine; HBM is the bottleneck on its way to a $100B TAM — and the HBM oligopoly is a Korean story.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 revenue by segment, 2026E ($B)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TAM ($B) — 25× growth, 2023 → 2028E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12" name="Chart 1" descr=""/>
          <p:cNvGraphicFramePr/>
          <p:nvPr/>
        </p:nvGraphicFramePr>
        <p:xfrm>
          <a:off x="4754880" y="2011680"/>
          <a:ext cx="393192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4572000"/>
            <a:ext cx="8229600" cy="7315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57200" y="46177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KOREAN OLIGOPOLY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640080" y="4864608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+ Samsung = ~78% of HBM, ~76% of DRAM. </a:t>
            </a:r>
            <a:pPr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Hynix's 2025 operating profit hit ₩47.2T (~$33B) — an all-time record that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overtook Samsung for the first time. </a:t>
            </a:r>
            <a:pPr indent="0" marL="0">
              <a:buNone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revenue more than doubled YoY.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$975B total, +26% YoY. Logic + memory = ~$600B, tracking hyperscaler capex almost dollar-for-dollar.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WSTS Fall 2025 forecast; SIA; BofA 2026 HBM TAM; SK Hynix FY25 results (₩97.1T rev, ₩47.2T op profit, Jan 2026); Samsung Q4 2025 filings; TrendForce; Counterpoint Research.</a:t>
            </a:r>
            <a:endParaRPr lang="en-US" sz="700" dirty="0"/>
          </a:p>
        </p:txBody>
      </p:sp>
      <p:sp>
        <p:nvSpPr>
          <p:cNvPr id="19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1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labs.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private labs worth ~$1.5T combined, plus Google inside Alphabet's $2.3T public market cap. Q1 2026 doubled all of 2025's foundational-AI VC funding.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97280"/>
                <a:gridCol w="1188720"/>
                <a:gridCol w="1280160"/>
                <a:gridCol w="40233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Multiple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event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$852B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~35× ARR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$122B round · AMZN / NVDA / SoftBank · Apr 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Anthropic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$380B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~13× ARR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$30B Series G (Feb); VCs now offering $800B+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$2.3T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~20× P/E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Alphabet (public) · Gemini 3 / DeepMind · ~$85B 2026 capex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$230B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~77× ARR*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$20B Nvidia-led Series E · Q1 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logos/opena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" y="2308860"/>
            <a:ext cx="365760" cy="365760"/>
          </a:xfrm>
          <a:prstGeom prst="rect">
            <a:avLst/>
          </a:prstGeom>
        </p:spPr>
      </p:pic>
      <p:pic>
        <p:nvPicPr>
          <p:cNvPr id="9" name="Image 1" descr="logos/anthrop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94360" y="2811780"/>
            <a:ext cx="365760" cy="365760"/>
          </a:xfrm>
          <a:prstGeom prst="rect">
            <a:avLst/>
          </a:prstGeom>
        </p:spPr>
      </p:pic>
      <p:pic>
        <p:nvPicPr>
          <p:cNvPr id="10" name="Image 2" descr="logos/goog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4360" y="3314700"/>
            <a:ext cx="365760" cy="365760"/>
          </a:xfrm>
          <a:prstGeom prst="rect">
            <a:avLst/>
          </a:prstGeom>
        </p:spPr>
      </p:pic>
      <p:pic>
        <p:nvPicPr>
          <p:cNvPr id="11" name="Image 3" descr="logos/xai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94360" y="3817620"/>
            <a:ext cx="365760" cy="365760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457200" y="5303520"/>
            <a:ext cx="8229600" cy="50292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3" name="Text 6"/>
          <p:cNvSpPr/>
          <p:nvPr/>
        </p:nvSpPr>
        <p:spPr>
          <a:xfrm>
            <a:off x="640080" y="5303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to foundational AI startups was 2× all of 2025.</a:t>
            </a:r>
            <a:endParaRPr lang="en-US" sz="1350" dirty="0"/>
          </a:p>
        </p:txBody>
      </p:sp>
      <p:sp>
        <p:nvSpPr>
          <p:cNvPr id="14" name="Text 7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TechCrunch, CNBC, Tech-Insider (Apr 2026); Crunchbase Q1 2026 VC data; Sacra ARR run-rates; Bloomberg; Alphabet 10-K &amp; 2026 capex guide. *xAI ARR estimated.</a:t>
            </a:r>
            <a:endParaRPr lang="en-US" sz="700" dirty="0"/>
          </a:p>
        </p:txBody>
      </p:sp>
      <p:sp>
        <p:nvSpPr>
          <p:cNvPr id="15" name="Shape 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7" name="Text 1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Earnings &amp; valuations.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firms are growing 4× faster than the top 10 Non-Tech — at a lower multiple. The divergence in fundamentals has not been priced into valuations.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Top 10 Non-Tech — 2026E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3401568"/>
            <a:ext cx="512064" cy="80467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" y="3127248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170432" y="4023360"/>
            <a:ext cx="51206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374904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521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Growth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83664" y="2706624"/>
            <a:ext cx="512064" cy="14996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83664" y="243230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41%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50592" y="3474720"/>
            <a:ext cx="512064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50592" y="320040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86537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Margin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63824" y="3004457"/>
            <a:ext cx="512064" cy="1201783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63824" y="2730137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23x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30752" y="2795451"/>
            <a:ext cx="512064" cy="1410789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30752" y="2521131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27x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14553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0896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P/E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4400" y="5074920"/>
            <a:ext cx="164592" cy="10972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15568" y="503834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468880" y="5074920"/>
            <a:ext cx="164592" cy="10972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50383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Non-Tech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2026E P/E vs 2026E Revenue Growth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54880" y="3474720"/>
            <a:ext cx="1965960" cy="1463040"/>
          </a:xfrm>
          <a:prstGeom prst="rect">
            <a:avLst/>
          </a:prstGeom>
          <a:solidFill>
            <a:srgbClr val="FBEAEA"/>
          </a:solidFill>
          <a:ln w="12700">
            <a:solidFill>
              <a:srgbClr val="FBEA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20840" y="2011680"/>
            <a:ext cx="1965960" cy="1463040"/>
          </a:xfrm>
          <a:prstGeom prst="rect">
            <a:avLst/>
          </a:prstGeom>
          <a:solidFill>
            <a:srgbClr val="FFF6D6"/>
          </a:solidFill>
          <a:ln w="12700">
            <a:solidFill>
              <a:srgbClr val="FFF6D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470916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Expensive for low growth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766560" y="2057400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Inexpensive for high growth</a:t>
            </a:r>
            <a:endParaRPr lang="en-US" sz="850" dirty="0"/>
          </a:p>
        </p:txBody>
      </p:sp>
      <p:graphicFrame>
        <p:nvGraphicFramePr>
          <p:cNvPr id="39" name="Chart 0" descr=""/>
          <p:cNvGraphicFramePr/>
          <p:nvPr/>
        </p:nvGraphicFramePr>
        <p:xfrm>
          <a:off x="4754880" y="2011680"/>
          <a:ext cx="39319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0" name="Shape 37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growing ~4× faster than top 10 Non-Tech — at a cheaper multiple.</a:t>
            </a:r>
            <a:endParaRPr lang="en-US" sz="1150" dirty="0"/>
          </a:p>
        </p:txBody>
      </p:sp>
      <p:sp>
        <p:nvSpPr>
          <p:cNvPr id="42" name="Text 3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Bloomberg consensus estimates (2026E); company filings. Top 10 defined by 2026E revenue within each group. Individual P/E / growth points are indicative.</a:t>
            </a:r>
            <a:endParaRPr lang="en-US" sz="700" dirty="0"/>
          </a:p>
        </p:txBody>
      </p:sp>
      <p:sp>
        <p:nvSpPr>
          <p:cNvPr id="43" name="Shape 4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5" name="Text 4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agentic AI?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set goals, use tools, and complete tasks end-to-end. Each session uses 10–100× the compute of a chatbot query.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50292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828800"/>
                <a:gridCol w="192024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Chatbot (2023–24)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(2025+)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Interaction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ask, it answers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Sets goals, executes autonomously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per session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1K – 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50K – 500K+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 per user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– 100×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Code, APIs, browsers, databases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1691640"/>
            <a:ext cx="3017520" cy="29718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5760720" y="1691640"/>
            <a:ext cx="28346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Agent UI — terminal / IDE with an AI coworker session (e.g. Claude Code)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Labs are buying dev-tool companies (Bun, Astral) to lock the coding stack.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Anthropic, OpenAI, GitHub Trending; company announcements; TechCrunch acquisition reporting.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divergence.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stock correlation collapsed from ~80% to ~20%. Semis are up, software is down — a ~58-point YTD spread inside one theme.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 return, rebased to 100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4754880" y="2011680"/>
            <a:ext cx="3931920" cy="292608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54880" y="20116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SUPERCYCLE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754880" y="2377440"/>
            <a:ext cx="914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669280" y="23774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+72%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9224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capacity +50% in 2026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754880" y="2743200"/>
            <a:ext cx="914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669280" y="27432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+68%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92240" y="2743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sold out; $8B run-rate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754880" y="3108960"/>
            <a:ext cx="914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669280" y="31089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+62%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9224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HBM share; HBM4 ramp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754880" y="3566160"/>
            <a:ext cx="393192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754880" y="35661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diSAAS-ter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475488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66928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–22%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492240" y="3931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Seat model under agent threat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754880" y="4297680"/>
            <a:ext cx="914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669280" y="429768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–24%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492240" y="4297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Gen-AI erodes content moat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4754880" y="4663440"/>
            <a:ext cx="914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0" y="46634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–19%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492240" y="4663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Workflows disrupted by agents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iShares SOXX / IGV / QQQ YTD total return, Apr 17, 2026; Yahoo Finance; Counterpoint Research; Morgan Stanley CIO Survey. Single-stock YTDs indicative.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5" name="Text 3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bubble question.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tests. Same questions investors asked about Cisco and the dotcoms. Different answers today.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DOTCOM 2000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2026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103120"/>
            <a:ext cx="3108960" cy="658368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PER DOLLAR OF EARNINGS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11880" y="2103120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131×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Cisco fwd P/E, Mar 2000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126480" y="2103120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~24×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fwd P/E, Apr 17, 2026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2761488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761488"/>
            <a:ext cx="3108960" cy="658368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PROFITABILITY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11880" y="2761488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tech IPOs were profitable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126480" y="2761488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 7 avg net margin (2× S&amp;P)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7200" y="3419856"/>
            <a:ext cx="3108960" cy="658368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VS. DEMAND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11880" y="3419856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Oversupply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$500B dark fiber unused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126480" y="3419856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2nd market 90–95% of list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4078224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078224"/>
            <a:ext cx="3108960" cy="658368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BALANCE SHEETS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11880" y="4078224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telcos went bankrupt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126480" y="4078224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~48%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net debt/EBITDA (vs ~80% S&amp;P)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happen. Bubbles require stretched valuations AND supply exceeding demand. </a:t>
            </a:r>
            <a:pPr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condition holds today.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Harding Loevner (Cisco); GuruFocus (NVDA fwd P/E Apr 17, 2026); Jay Ritter / UF; Bloomberg; CoreWeave 2nd market; FCC dark fiber data.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Supply chain fragility.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countries control the advanced semiconductor stack. US reshoring is real but slow — most leading-edge fabs come online 2027+.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0116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~90%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share of advanced-node chips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60320" y="20116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76%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560320" y="27432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+ Samsung combined DRAM share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63440" y="20116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&lt;100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663440" y="27432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EUV machines ASML builds per year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66560" y="201168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~$36B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766560" y="27432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Act committed (of $52.7B)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— ACTUAL STATUS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4297680"/>
            <a:ext cx="1943100" cy="1005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3708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Arizona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663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 1 at 4nm; Fab 2 online ~2026–27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537460" y="4297680"/>
            <a:ext cx="1943100" cy="1005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83180" y="43708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Taylor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583180" y="4663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2nm fab, pushed to 2026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0" y="4297680"/>
            <a:ext cx="1943100" cy="1005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7720" y="43708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 Clay NY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17720" y="4663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 ground; online ~2028–30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606540" y="4297680"/>
            <a:ext cx="1943100" cy="1005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52260" y="43708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Ohio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52260" y="4663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fabs under build; online ~2027–28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5440680"/>
            <a:ext cx="822960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4406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leading-edge chip crosses 70+ borders and six countries before reaching a data center.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TSMC, Samsung, Micron, Intel filings; US Commerce Dept CHIPS Program Office (Nov 2025 — $36B+ committed of $52.7B); SIA.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Policy &amp; regulation.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controls, EU compliance, and reshoring subsidies now decide who can sell what, to whom, from where.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31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$5.5B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48640" y="3017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H20 writedown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21945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657600"/>
            <a:ext cx="233172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H100/H200/Blackwell banned from China.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H20 reinstated with a 15% Treasury fee.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banned; China share ~20%.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REGULATION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29184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2331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7%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3383280" y="3017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fine cap (of global revenue) — Aug 2 enforcement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474720" y="3566160"/>
            <a:ext cx="21945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29000" y="3657600"/>
            <a:ext cx="233172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Fines up to €35M or 7% of global revenue.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compliance: $8–15M per system.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36% of enterprises feel prepared.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&amp; RESHORING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2648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23317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~$36B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6217920" y="30175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Act committed (of $52.7B authorized)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09360" y="3566160"/>
            <a:ext cx="21945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63640" y="3657600"/>
            <a:ext cx="233172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controls ~90% of rare-earth processing.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Gallium / germanium controls since Jul 2023.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SMIC 5nm yield ~20% vs &gt;70% threshold.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NVIDIA 10-Q; ASML filings; EU AI Act Article 99 / Chapter V (Aug 2, 2026 enforcement); US Bureau of Industry and Security; Commerce Dept (Nov 2025).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backlash.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revolt, anti-AI sentiment, and a labor shortage are each capable of pricing the infrastructure bet lower.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" y="20116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$64B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80060" y="27432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data-center projects blocked or delayed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68980" y="20116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3333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26%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68980" y="27432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Americans view AI positively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57900" y="20116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~480K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057900" y="27432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data-center workforce gap (US)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26974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84048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4206240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$18B halted, $46B delayed. 142 activist groups across 24 states — Virginia is the epicenter with 42 groups.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91840" y="3840480"/>
            <a:ext cx="26974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384048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ANTI-AI SENTIMENT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337560" y="4206240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21, 2026 "Stop the AI Race" protests targeted Anthropic, OpenAI, xAI HQs. 56% of Americans are anxious about AI.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3840480"/>
            <a:ext cx="26974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384048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SHORTAGE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172200" y="4206240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ops roles short 467K–498K workers. 400+ data centers under construction; talent, not capital, is binding.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Data Center Watch ($18B halted, $46B delayed, 142 groups); Echelon Insights; Stop the AI Race; Fortune; TIME; CNN; NBC News; Data Center Frontier.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Beyond the grid.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interconnection queue. No permits. No water. 1,361 W/m² of unfiltered solar, 24/7. Orbital compute sidesteps Earth's bottlenecks.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49240" y="1463040"/>
            <a:ext cx="3337560" cy="34747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40680" y="14630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orbital data-center satellite (solar wings, Earth below)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GRID QUEUE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82880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Earth's interconnection backlogs, zoning battles, and cooling constraints don't exist in orbit.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SOLAR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01752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1,361 W/m² of unfiltered sunlight, 24/7 — no intermittency, no capacity-factor limits.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BORDERS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20624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Sidesteps data-localization laws, export controls, and the jurisdictional patchwork.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E84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Starcloud · SpaceX · Google Suncatcher · Aetherflux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FCC filings; Starcloud, Google, SpaceX announcements; CNBC.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Physical AI.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enter manufacturing, logistics, and healthcare at pilot scale. Every robot is a walking inference endpoint.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463040"/>
            <a:ext cx="6400800" cy="201168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463040" y="1463040"/>
            <a:ext cx="6217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 — humanoid robot on a factory / warehouse floor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WORK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Manufacturing, logistics, warehousing, agriculture, healthcare — pilots are underway.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TIRELESS COWORKERS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take hazardous and ergonomically punishing tasks. Humans keep judgment.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AT THE EDGE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robot runs foundation models in real time. At scale, rivals LLM compute.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E84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Optimus · Figure · Boston Dynamics · Unitree · Agility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Goldman Sachs; Figure AI, Tesla, Hyundai, NVIDIA; company announcements.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Autonomous mobility.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miles → better models → more deployments. Every vehicle is a rolling inference machine consuming frontier-scale compute.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63040"/>
            <a:ext cx="2560320" cy="379476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463040"/>
            <a:ext cx="2377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AV sensor-visualization or fleet photo (Waymo / Tesla FSD)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CASE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78308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82880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drivers cause ~1.35M deaths a year. Autonomous systems don't tire or lose focus.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FLYWHEEL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306324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31089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mile generates training data. Better models unlock more cities. Flywheel self-reinforces.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INFERENCE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434340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3891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AV runs thousands of AI ops / second across cameras, lidar, radar — frontier-scale compute.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539496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94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E84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· Tesla FSD · Baidu Apollo · Aurora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Waymo, Tesla, Baidu, Aurora; WHO Global Road Safety; NVIDIA FY2026.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is rewriting drug discovery.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AlphaFold solved protein folding. AI-designed drugs are in Phase 1/2 trials. The pharma R&amp;D cycle is compressing from a decade to under two years.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63040"/>
            <a:ext cx="8229600" cy="146304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46304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Protein structure render / AI drug-design visual (AlphaFold-style ribbon diagram)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0060" y="3063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47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240M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80060" y="3794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 structures in AlphaFold DB (nearly all known)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68980" y="3063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47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$3B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268980" y="3794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Isomorphic Labs' combined deals with Lilly + Novartis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57900" y="3063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47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60PB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057900" y="3794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Recursion's proprietary biological data (post-Exscientia merger)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754880"/>
            <a:ext cx="2697480" cy="27432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754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 FOLDING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5029200"/>
            <a:ext cx="2697480" cy="4114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5047488"/>
            <a:ext cx="25146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50-year structure-prediction problem, solved. 3M+ researchers across 190 countries use the DB.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91840" y="4754880"/>
            <a:ext cx="2697480" cy="27432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4754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PHARMA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1840" y="5029200"/>
            <a:ext cx="2697480" cy="4114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0" y="5047488"/>
            <a:ext cx="25146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Isomorphic, Recursion + Exscientia, Insitro. AI-designed small molecules already in Phase 1/2 trials.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26480" y="4754880"/>
            <a:ext cx="2697480" cy="27432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4754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R&amp;D COMPRESSION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26480" y="5029200"/>
            <a:ext cx="2697480" cy="4114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0" y="5047488"/>
            <a:ext cx="25146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→ IND shrinking from ~10 years to ~18 months on the fastest platforms.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7200" y="5532120"/>
            <a:ext cx="822960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55321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47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DeepMind / Isomorphic Labs · Recursion + Exscientia · Insitro · Generate Biomedicines · Moderna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DeepMind AlphaFold DB (Feb 2026 — 240M structures, 3M researchers); Isomorphic Labs / Fierce Biotech (Jan 2024, Feb 2025 partnerships); Recursion FY25 filings (Exscientia merger Jul 2025); CNBC; Nature.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takeaways.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thesis, distilled. Each with the number that makes it investable.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88720" y="15544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capex cycle in history — and it's going on credit.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~$750B hyperscaler capex in 2026, up ~$300B YoY. Amazon FCF turns negative; Meta FCF down ~90%. ~75% of that capex is AI-specific. The story has shifted from cash flow to balance sheet.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88720" y="25146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is picking winners — the basket trade is over.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278892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stock correlation collapsed from ~80% to ~20%. Semis (SOXX) +38% YTD, software (IGV) –20% YTD — a 58-point spread. Memory oligopolies with pricing power outperform cloud providers burning cash.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4747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keeps moving — and that is the opportunity.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374904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CoWoS packaging (2023–24) → HBM / silicon wafer supply (now) → EUV lithography (&lt;100 machines/yr) by 2028. Each shift reprices a different part of the stack. HBM TAM on a path from $35B (2025) to $100B (2028).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44348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isn't whether you have AI exposure — it's whether you chose it.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470916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AI-linked stocks are ~30%+ of US large-cap benchmarks. Passive exposure to a ~$750B capex cycle is not neutral — it's a thesis. Own the layer with pricing power for today's bottleneck.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5623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company filings; CreditSights / MUFG hyperscaler capex 2026 (Apr 2026); Goldman Sachs correlation data; iShares SOXX / IGV YTD (Apr 17, 2026); SemiAnalysis; BofA HBM TAM; TrendForce.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Markets — May 2026</dc:title>
  <dc:subject>PptxGenJS Presentation</dc:subject>
  <dc:creator>Strategy</dc:creator>
  <cp:lastModifiedBy>Strategy</cp:lastModifiedBy>
  <cp:revision>1</cp:revision>
  <dcterms:created xsi:type="dcterms:W3CDTF">2026-04-23T04:01:24Z</dcterms:created>
  <dcterms:modified xsi:type="dcterms:W3CDTF">2026-04-23T04:01:24Z</dcterms:modified>
</cp:coreProperties>
</file>