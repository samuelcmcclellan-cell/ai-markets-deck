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2026E capex ($B)</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200</c:v>
                </c:pt>
                <c:pt idx="1">
                  <c:v>190</c:v>
                </c:pt>
                <c:pt idx="2">
                  <c:v>180</c:v>
                </c:pt>
                <c:pt idx="3">
                  <c:v>135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Combined capex ($B)</c:v>
                </c:pt>
              </c:strCache>
            </c:strRef>
          </c:tx>
          <c:spPr>
            <a:solidFill>
              <a:srgbClr val="E5E5E5"/>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E5E5E5"/>
              </a:solidFill>
              <a:effectLst/>
            </c:spPr>
          </c:dPt>
          <c:dPt>
            <c:idx val="1"/>
            <c:invertIfNegative val="0"/>
            <c:bubble3D val="0"/>
            <c:spPr>
              <a:solidFill>
                <a:srgbClr val="F6693D"/>
              </a:solidFill>
              <a:effectLst/>
            </c:spPr>
          </c:dPt>
          <c:cat>
            <c:multiLvlStrRef>
              <c:f>Sheet1!$A$2:$A$3</c:f>
              <c:multiLvlStrCache>
                <c:ptCount val="2"/>
                <c:lvl>
                  <c:pt idx="0">
                    <c:v>2025</c:v>
                  </c:pt>
                  <c:pt idx="1">
                    <c:v>2026E</c:v>
                  </c:pt>
                </c:lvl>
              </c:multiLvlStrCache>
            </c:multiLvlStrRef>
          </c:cat>
          <c:val>
            <c:numRef>
              <c:f>Sheet1!$B$2:$B$3</c:f>
              <c:numCache>
                <c:formatCode>General</c:formatCode>
                <c:ptCount val="2"/>
                <c:pt idx="0">
                  <c:v>410</c:v>
                </c:pt>
                <c:pt idx="1">
                  <c:v>725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TWh</c:v>
                </c:pt>
              </c:strCache>
            </c:strRef>
          </c:tx>
          <c:spPr>
            <a:solidFill>
              <a:srgbClr val="E5E5E5"/>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E5E5E5"/>
              </a:solidFill>
              <a:effectLst/>
            </c:spPr>
          </c:dPt>
          <c:dPt>
            <c:idx val="1"/>
            <c:invertIfNegative val="0"/>
            <c:bubble3D val="0"/>
            <c:spPr>
              <a:solidFill>
                <a:srgbClr val="008B8B"/>
              </a:solidFill>
              <a:effectLst/>
            </c:spPr>
          </c:dPt>
          <c:cat>
            <c:multiLvlStrRef>
              <c:f>Sheet1!$A$2:$A$3</c:f>
              <c:multiLvlStrCache>
                <c:ptCount val="2"/>
                <c:lvl>
                  <c:pt idx="0">
                    <c:v>2025</c:v>
                  </c:pt>
                  <c:pt idx="1">
                    <c:v>2030E</c:v>
                  </c:pt>
                </c:lvl>
              </c:multiLvlStrCache>
            </c:multiLvlStrRef>
          </c:cat>
          <c:val>
            <c:numRef>
              <c:f>Sheet1!$B$2:$B$3</c:f>
              <c:numCache>
                <c:formatCode>General</c:formatCode>
                <c:ptCount val="2"/>
                <c:pt idx="0">
                  <c:v>485</c:v>
                </c:pt>
                <c:pt idx="1">
                  <c:v>950</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Top-10 share (%)</c:v>
                </c:pt>
              </c:strCache>
            </c:strRef>
          </c:tx>
          <c:spPr>
            <a:solidFill>
              <a:srgbClr val="E5E5E5"/>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E5E5E5"/>
              </a:solidFill>
              <a:effectLst/>
            </c:spPr>
          </c:dPt>
          <c:dPt>
            <c:idx val="1"/>
            <c:invertIfNegative val="0"/>
            <c:bubble3D val="0"/>
            <c:spPr>
              <a:solidFill>
                <a:srgbClr val="E5E5E5"/>
              </a:solidFill>
              <a:effectLst/>
            </c:spPr>
          </c:dPt>
          <c:dPt>
            <c:idx val="2"/>
            <c:invertIfNegative val="0"/>
            <c:bubble3D val="0"/>
            <c:spPr>
              <a:solidFill>
                <a:srgbClr val="FFB800"/>
              </a:solidFill>
              <a:effectLst/>
            </c:spPr>
          </c:dPt>
          <c:dPt>
            <c:idx val="3"/>
            <c:invertIfNegative val="0"/>
            <c:bubble3D val="0"/>
            <c:spPr>
              <a:solidFill>
                <a:srgbClr val="F6693D"/>
              </a:solidFill>
              <a:effectLst/>
            </c:spPr>
          </c:dPt>
          <c:cat>
            <c:multiLvlStrRef>
              <c:f>Sheet1!$A$2:$A$5</c:f>
              <c:multiLvlStrCache>
                <c:ptCount val="4"/>
                <c:lvl>
                  <c:pt idx="0">
                    <c:v>2000</c:v>
                  </c:pt>
                  <c:pt idx="1">
                    <c:v>2015</c:v>
                  </c:pt>
                  <c:pt idx="2">
                    <c:v>2025 peak</c:v>
                  </c:pt>
                  <c:pt idx="3">
                    <c:v>Jun 2026</c:v>
                  </c:pt>
                </c:lvl>
              </c:multiLvlStrCache>
            </c:multiLvlStrRef>
          </c:cat>
          <c:val>
            <c:numRef>
              <c:f>Sheet1!$B$2:$B$5</c:f>
              <c:numCache>
                <c:formatCode>General</c:formatCode>
                <c:ptCount val="4"/>
                <c:pt idx="0">
                  <c:v>23</c:v>
                </c:pt>
                <c:pt idx="1">
                  <c:v>18</c:v>
                </c:pt>
                <c:pt idx="2">
                  <c:v>40.7</c:v>
                </c:pt>
                <c:pt idx="3">
                  <c:v>37</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666666"/>
              </a:solidFill>
              <a:effectLst/>
            </c:spPr>
          </c:dPt>
          <c:dPt>
            <c:idx val="2"/>
            <c:invertIfNegative val="0"/>
            <c:bubble3D val="0"/>
            <c:spPr>
              <a:solidFill>
                <a:srgbClr val="008B8B"/>
              </a:solidFill>
              <a:effectLst/>
            </c:spPr>
          </c:dPt>
          <c:dPt>
            <c:idx val="3"/>
            <c:invertIfNegative val="0"/>
            <c:bubble3D val="0"/>
            <c:spPr>
              <a:solidFill>
                <a:srgbClr val="666666"/>
              </a:solidFill>
              <a:effectLst/>
            </c:spPr>
          </c:dPt>
          <c:dPt>
            <c:idx val="4"/>
            <c:invertIfNegative val="0"/>
            <c:bubble3D val="0"/>
            <c:spPr>
              <a:solidFill>
                <a:srgbClr val="FFB800"/>
              </a:solidFill>
              <a:effectLst/>
            </c:spPr>
          </c:dPt>
          <c:dPt>
            <c:idx val="5"/>
            <c:invertIfNegative val="0"/>
            <c:bubble3D val="0"/>
            <c:spPr>
              <a:solidFill>
                <a:srgbClr val="CC0000"/>
              </a:solidFill>
              <a:effectLst/>
            </c:spPr>
          </c:dPt>
          <c:cat>
            <c:multiLvlStrRef>
              <c:f>Sheet1!$A$2:$A$7</c:f>
              <c:multiLvlStrCache>
                <c:ptCount val="6"/>
                <c:lvl>
                  <c:pt idx="0">
                    <c:v>Semis (SOXX)</c:v>
                  </c:pt>
                  <c:pt idx="1">
                    <c:v>Nasdaq Comp.</c:v>
                  </c:pt>
                  <c:pt idx="2">
                    <c:v>Equal-weight S&amp;P (RSP)</c:v>
                  </c:pt>
                  <c:pt idx="3">
                    <c:v>S&amp;P 500</c:v>
                  </c:pt>
                  <c:pt idx="4">
                    <c:v>Mag 7 (MAGS)</c:v>
                  </c:pt>
                  <c:pt idx="5">
                    <c:v>Software (IGV)</c:v>
                  </c:pt>
                </c:lvl>
              </c:multiLvlStrCache>
            </c:multiLvlStrRef>
          </c:cat>
          <c:val>
            <c:numRef>
              <c:f>Sheet1!$B$2:$B$7</c:f>
              <c:numCache>
                <c:formatCode>General</c:formatCode>
                <c:ptCount val="6"/>
                <c:pt idx="0">
                  <c:v>79.5</c:v>
                </c:pt>
                <c:pt idx="1">
                  <c:v>16.3</c:v>
                </c:pt>
                <c:pt idx="2">
                  <c:v>14.3</c:v>
                </c:pt>
                <c:pt idx="3">
                  <c:v>11.3</c:v>
                </c:pt>
                <c:pt idx="4">
                  <c:v>5.9</c:v>
                </c:pt>
                <c:pt idx="5">
                  <c:v>-9.5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in val="-2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Forward P/E</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E5E5E5"/>
              </a:solidFill>
              <a:effectLst/>
            </c:spPr>
          </c:dPt>
          <c:dPt>
            <c:idx val="2"/>
            <c:invertIfNegative val="0"/>
            <c:bubble3D val="0"/>
            <c:spPr>
              <a:solidFill>
                <a:srgbClr val="FFB800"/>
              </a:solidFill>
              <a:effectLst/>
            </c:spPr>
          </c:dPt>
          <c:dPt>
            <c:idx val="3"/>
            <c:invertIfNegative val="0"/>
            <c:bubble3D val="0"/>
            <c:spPr>
              <a:solidFill>
                <a:srgbClr val="008B8B"/>
              </a:solidFill>
              <a:effectLst/>
            </c:spPr>
          </c:dPt>
          <c:cat>
            <c:multiLvlStrRef>
              <c:f>Sheet1!$A$2:$A$5</c:f>
              <c:multiLvlStrCache>
                <c:ptCount val="4"/>
                <c:lvl>
                  <c:pt idx="0">
                    <c:v>S&amp;P 500</c:v>
                  </c:pt>
                  <c:pt idx="1">
                    <c:v>10-yr avg</c:v>
                  </c:pt>
                  <c:pt idx="2">
                    <c:v>S&amp;P Tech</c:v>
                  </c:pt>
                  <c:pt idx="3">
                    <c:v>Nvidia</c:v>
                  </c:pt>
                </c:lvl>
              </c:multiLvlStrCache>
            </c:multiLvlStrRef>
          </c:cat>
          <c:val>
            <c:numRef>
              <c:f>Sheet1!$B$2:$B$5</c:f>
              <c:numCache>
                <c:formatCode>General</c:formatCode>
                <c:ptCount val="4"/>
                <c:pt idx="0">
                  <c:v>21.1</c:v>
                </c:pt>
                <c:pt idx="1">
                  <c:v>19</c:v>
                </c:pt>
                <c:pt idx="2">
                  <c:v>24.4</c:v>
                </c:pt>
                <c:pt idx="3">
                  <c:v>22.5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E5E5E5"/>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(Nvidia, Apple, Microsoft) — $18</c:v>
                </c:pt>
                <c:pt idx="1">
                  <c:v>Rest of top 10 — $19</c:v>
                </c:pt>
                <c:pt idx="2">
                  <c:v>Other 490 stocks —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c:v>
                </c:pt>
              </c:strCache>
            </c:strRef>
          </c:tx>
          <c:spPr>
            <a:solidFill>
              <a:srgbClr val="F6693D"/>
            </a:solidFill>
            <a:effectLst/>
          </c:spPr>
          <c:invertIfNegative val="0"/>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008B8B"/>
              </a:solidFill>
              <a:effectLst/>
            </c:spPr>
          </c:dPt>
          <c:dPt>
            <c:idx val="2"/>
            <c:invertIfNegative val="0"/>
            <c:bubble3D val="0"/>
            <c:spPr>
              <a:solidFill>
                <a:srgbClr val="FFB800"/>
              </a:solidFill>
              <a:effectLst/>
            </c:spPr>
          </c:dPt>
          <c:dPt>
            <c:idx val="3"/>
            <c:invertIfNegative val="0"/>
            <c:bubble3D val="0"/>
            <c:spPr>
              <a:solidFill>
                <a:srgbClr val="CC0000"/>
              </a:solidFill>
              <a:effectLst/>
            </c:spPr>
          </c:dPt>
          <c:cat>
            <c:multiLvlStrRef>
              <c:f>Sheet1!$A$2:$A$5</c:f>
              <c:multiLvlStrCache>
                <c:ptCount val="4"/>
                <c:lvl>
                  <c:pt idx="0">
                    <c:v>Compute supply
(semis, SOXX)</c:v>
                  </c:pt>
                  <c:pt idx="1">
                    <c:v>Broad market
(equal-weight, RSP)</c:v>
                  </c:pt>
                  <c:pt idx="2">
                    <c:v>Platforms
(Mag 7, MAGS)</c:v>
                  </c:pt>
                  <c:pt idx="3">
                    <c:v>Application software
(IGV)</c:v>
                  </c:pt>
                </c:lvl>
              </c:multiLvlStrCache>
            </c:multiLvlStrRef>
          </c:cat>
          <c:val>
            <c:numRef>
              <c:f>Sheet1!$B$2:$B$5</c:f>
              <c:numCache>
                <c:formatCode>General</c:formatCode>
                <c:ptCount val="4"/>
                <c:pt idx="0">
                  <c:v>79.5</c:v>
                </c:pt>
                <c:pt idx="1">
                  <c:v>14.3</c:v>
                </c:pt>
                <c:pt idx="2">
                  <c:v>5.9</c:v>
                </c:pt>
                <c:pt idx="3">
                  <c:v>-9.5</c:v>
                </c:pt>
              </c:numCache>
            </c:numRef>
          </c:val>
        </c:ser>
        <c:dLbls>
          <c:numFmt formatCode="#,##0" sourceLinked="0"/>
          <c:txPr>
            <a:bodyPr/>
            <a:lstStyle/>
            <a:p>
              <a:pPr>
                <a:defRPr b="0" i="0" strike="noStrike" sz="9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in val="-2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for the room: this is not an AI explainer. It is a markets deck. Every AI fact in here exists to answer one question — what does the buildout do to equity returns, index structure, and portfolio risk. Four beats: what's happening, how it shows up in equities, how it's financed, what it means for positioning.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carry the thesis. $725B: Microsoft $190B, Amazon $200B, Alphabet $175–185B, Meta $125–145B — guided, not projected. 37%: concentration has eased off the 2025 peak of 40.7% but remains far above the 18–23% range that held from 1990–2015. 89 points: the AI trade is no longer one trade — semis up ~79% YTD while software is down ~10%. Dispersion, not direction, is the story of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orientation slide. Note the compression: the physical compute story — chips, power, datacenters — is deliberately one context slide. The deep version lives in the standalone briefings. This deck spends its time where the audience lives: equities and portfolio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relevance, not gee-whiz: this is guided spending, publicly committed, which makes it an earnings-visibility machine for everything upstream — semis, memory, networking, power equipment. It is also the single biggest swing factor in those companies' own cash flow statements, which is where the financing story (Part 3) begins. The 77% acceleration came WITH guidance raises — the bear case of capex cuts has not shown up in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of physics, by design. The investor takeaway: when the binding constraint is grid access rather than capital, moats shift to whoever controls power, land, and interconnection — and the revenue visibility extends to utilities, grid equipment, and cooling. The IEA view: data-center electricity roughly doubles to ~950 TWh by 2030. Per the WEF, grid connectivity — not chips, capital, or algorithms — is increasingly the binding constraint. That's why constraint analysis is market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point: 18–23% top-10 share was the norm for 25 years; it's ~37% now, having peaked at 40.7% in 2025. Two readings, both fair: (1) concentration reflects genuine earnings concentration — these are the most profitable companies in history; (2) it leaves index returns hostage to a handful of AI-linked business models. We don't adjudicate — we quantify, and slide 11 shows what it does to a passive allocation. Nvidia ~$5T: first company ever through that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replaced the outline's assumption that AI leaders were pulling the index up while everything else lagged. The June 2026 reality is more interesting: SOXX +79% YTD (Micron, AMD, Marvell are now its biggest weights — it's a memory-and-custom-silicon story, not just Nvidia), while MAGS at +5.9% trails RSP at +14.3%. Software is negative on AI-disruption fears and enterprise budget shifts toward compute. Mention: retail piled into semis in May — a sentiment flag. The 'rest of the market' is participating: that's the breadth improvement bulls wanted, but it came with a new concentration inside semis.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fixes the old slide-11 contradiction (which claimed both 'bubble valuations' and 'reasonable multiples'). The honest picture is dispersion: Nvidia at ~22x forward is cheaper than the tech sector average because its E has exploded — the multiple is unremarkable, the earnings durability is the entire question. SOXX at 57x trailing reflects the price moving faster than even record earnings. Software's de-rate is the mirror image: the market charging an uncertainty discount on whoever might be on the wrong side of AI. Index at 21x vs 19x 10-yr average: elevated, not extreme.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equity-relevant shift: for a decade, the megacap pitch was 'compounders that self-fund growth and return cash.' At ~94% of operating cash flow consumed, that model is paused. CNBC called it the breaking of an 'unspoken contract' with shareholders. Equity holders now carry execution risk (will the spend earn returns?) AND financing risk (what if debt markets reprice?). That's a different risk profile from 2023–24, and it's why the next slide — the bond wave — is an equity slide wearing a credit costume.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requested recent-news slide. Sequence matters: Oracle Sep '25 ($18B) → Meta Oct '25 ($30B — record non-M&amp;A IG print) → Alphabet + Amazon Nov '25 → Oracle again Feb '26 ($25B, 8 tranches). Two-sided read for a neutral room: balance sheets remain lightly levered vs IG norms (0.4–0.7x vs ~3x) — this is not 2008 telecom; but Oracle's CDS tripling shows the market discriminates by funding capacity, and Fortune's framing — a '$1 trillion borrowing spree' — captures the trajectory question. For equity investors the practical use is the signal: hyperscaler spreads and CDS are now the cleanest real-time read on whether the market believes the AI capex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hidden-active-risk slide. The framing that lands with allocators: nobody in this room would deliberately put 37% of an equity sleeve in ten correlated names — but a benchmark allocation does precisely that. The donut is deliberately simple. Note the honesty in point two: equal-weight winning in 2026 is evidence of the cost of concentration, but the same logic punished equal-weight in 2024–25. The point is not 'sell megacaps' — it's 'size the bet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actionable middle of Part 4. 2026's lesson: intra-theme dispersion (89 points!) dwarfs the index's return. Three buckets, deliberately neutral: value accruing where AI spend is revenue (compute supply, power); contested where AI spend is cost (platforms — their revenue is real but the market is charging them for the capex); value eroding where AI is a competitive threat (software's de-rate). Caveat to voice: these buckets rotated once already this cycle — Mag 7 led 2023–25, semis lead 2026 — so this is a map, not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risk is paired with a watchable gauge — that's the institutional ask. Tie back: risk 1 connects to slide 4 (guided capex), risk 2 to slide 10 (the bond wave — and note it's the leverage/financing risk the outline flagged), risk 3 to the rate backdrop (10-yr ~4.54%, 2-yr 4.17%), risk 4 to slides 6 and 11. If pressed for the most likely stress path: financing stress and the demand air pocket are the same risk at different speeds — credit reprices faster than earnings revisions.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Each takeaway maps to a section: #1 to concentration (slides 6, 11), #2 to dispersion (7, 12), #3 to financing (9, 10), #4 to the 2026 breadth story (7). Closing line is the deck's thesis in one sentence — benchmark portfolios already hold a large, correlated AI position; the job is to make it intentional. Neutral to the end: this is positioning hygiene, not an AI bull or bear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consolidated back-matter slide (replaces the old two appendix slides). The one canonical date stamp lives here: data as of June 2026, returns through the Jun 5–9 closes. If asked about figure discrepancies: YTD figures have slightly different as-of dates (May 29 for index closes via slickcharts, Jun 5–8 for ETFs) — directionally consistent, flagged here rather than scattered across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Text 0"/>
          <p:cNvSpPr/>
          <p:nvPr/>
        </p:nvSpPr>
        <p:spPr>
          <a:xfrm>
            <a:off x="457200" y="960120"/>
            <a:ext cx="8229600" cy="914400"/>
          </a:xfrm>
          <a:prstGeom prst="rect">
            <a:avLst/>
          </a:prstGeom>
          <a:noFill/>
          <a:ln/>
        </p:spPr>
        <p:txBody>
          <a:bodyPr wrap="square" lIns="0" tIns="0" rIns="0" bIns="0" rtlCol="0" anchor="ctr"/>
          <a:lstStyle/>
          <a:p>
            <a:pPr indent="0" marL="0">
              <a:buNone/>
            </a:pPr>
            <a:r>
              <a:rPr lang="en-US" sz="5000" b="1" dirty="0">
                <a:solidFill>
                  <a:srgbClr val="000000"/>
                </a:solidFill>
                <a:latin typeface="Arial Black" pitchFamily="34" charset="0"/>
                <a:ea typeface="Arial Black" pitchFamily="34" charset="-122"/>
                <a:cs typeface="Arial Black" pitchFamily="34" charset="-120"/>
              </a:rPr>
              <a:t>AI in the Market.</a:t>
            </a:r>
            <a:endParaRPr lang="en-US" sz="5000" dirty="0"/>
          </a:p>
        </p:txBody>
      </p:sp>
      <p:sp>
        <p:nvSpPr>
          <p:cNvPr id="3" name="Text 1"/>
          <p:cNvSpPr/>
          <p:nvPr/>
        </p:nvSpPr>
        <p:spPr>
          <a:xfrm>
            <a:off x="457200" y="1965960"/>
            <a:ext cx="8229600" cy="1005840"/>
          </a:xfrm>
          <a:prstGeom prst="rect">
            <a:avLst/>
          </a:prstGeom>
          <a:noFill/>
          <a:ln/>
        </p:spPr>
        <p:txBody>
          <a:bodyPr wrap="square" lIns="0" tIns="0" rIns="0" bIns="0" rtlCol="0" anchor="ctr"/>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the AI buildout means for</a:t>
            </a:r>
            <a:endParaRPr lang="en-US" sz="2700" dirty="0"/>
          </a:p>
          <a:p>
            <a:pPr indent="0" marL="0">
              <a:buNone/>
            </a:pPr>
            <a:r>
              <a:rPr lang="en-US" sz="2700" b="1" dirty="0">
                <a:solidFill>
                  <a:srgbClr val="000000"/>
                </a:solidFill>
                <a:latin typeface="Arial Black" pitchFamily="34" charset="0"/>
                <a:ea typeface="Arial Black" pitchFamily="34" charset="-122"/>
                <a:cs typeface="Arial Black" pitchFamily="34" charset="-120"/>
              </a:rPr>
              <a:t>equity markets and portfolios.</a:t>
            </a:r>
            <a:endParaRPr lang="en-US" sz="2700" dirty="0"/>
          </a:p>
        </p:txBody>
      </p:sp>
      <p:sp>
        <p:nvSpPr>
          <p:cNvPr id="4" name="Text 2"/>
          <p:cNvSpPr/>
          <p:nvPr/>
        </p:nvSpPr>
        <p:spPr>
          <a:xfrm>
            <a:off x="457200" y="3154680"/>
            <a:ext cx="7863840" cy="365760"/>
          </a:xfrm>
          <a:prstGeom prst="rect">
            <a:avLst/>
          </a:prstGeom>
          <a:noFill/>
          <a:ln/>
        </p:spPr>
        <p:txBody>
          <a:bodyPr wrap="square" lIns="0" tIns="0" rIns="0" bIns="0" rtlCol="0" anchor="ctr"/>
          <a:lstStyle/>
          <a:p>
            <a:pPr indent="0" marL="0">
              <a:buNone/>
            </a:pPr>
            <a:r>
              <a:rPr lang="en-US" sz="1500" dirty="0">
                <a:solidFill>
                  <a:srgbClr val="333333"/>
                </a:solidFill>
                <a:latin typeface="Arial" pitchFamily="34" charset="0"/>
                <a:ea typeface="Arial" pitchFamily="34" charset="-122"/>
                <a:cs typeface="Arial" pitchFamily="34" charset="-120"/>
              </a:rPr>
              <a:t>The spend is real, the financing is changing, and your index has already taken a position.</a:t>
            </a:r>
            <a:endParaRPr lang="en-US" sz="1500" dirty="0"/>
          </a:p>
        </p:txBody>
      </p:sp>
      <p:sp>
        <p:nvSpPr>
          <p:cNvPr id="5" name="Text 3"/>
          <p:cNvSpPr/>
          <p:nvPr/>
        </p:nvSpPr>
        <p:spPr>
          <a:xfrm>
            <a:off x="6766560" y="274320"/>
            <a:ext cx="1920240" cy="320040"/>
          </a:xfrm>
          <a:prstGeom prst="rect">
            <a:avLst/>
          </a:prstGeom>
          <a:noFill/>
          <a:ln/>
        </p:spPr>
        <p:txBody>
          <a:bodyPr wrap="square" lIns="0" tIns="0" rIns="0" bIns="0" rtlCol="0" anchor="ctr"/>
          <a:lstStyle/>
          <a:p>
            <a:pPr algn="r" indent="0" marL="0">
              <a:buNone/>
            </a:pPr>
            <a:r>
              <a:rPr lang="en-US" sz="1600" spc="200" kern="0" dirty="0">
                <a:solidFill>
                  <a:srgbClr val="000000"/>
                </a:solidFill>
                <a:latin typeface="Arial" pitchFamily="34" charset="0"/>
                <a:ea typeface="Arial" pitchFamily="34" charset="-122"/>
                <a:cs typeface="Arial" pitchFamily="34" charset="-120"/>
              </a:rPr>
              <a:t>JUNE 2026</a:t>
            </a:r>
            <a:endParaRPr lang="en-US" sz="1600" dirty="0"/>
          </a:p>
        </p:txBody>
      </p:sp>
      <p:sp>
        <p:nvSpPr>
          <p:cNvPr id="6" name="Text 4"/>
          <p:cNvSpPr/>
          <p:nvPr/>
        </p:nvSpPr>
        <p:spPr>
          <a:xfrm>
            <a:off x="457200" y="3794760"/>
            <a:ext cx="4572000" cy="32004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Strategy  |  Institutional</a:t>
            </a:r>
            <a:endParaRPr lang="en-US" sz="1300" dirty="0"/>
          </a:p>
        </p:txBody>
      </p:sp>
      <p:sp>
        <p:nvSpPr>
          <p:cNvPr id="7" name="Shape 5"/>
          <p:cNvSpPr/>
          <p:nvPr/>
        </p:nvSpPr>
        <p:spPr>
          <a:xfrm>
            <a:off x="0" y="4526280"/>
            <a:ext cx="9144000" cy="617220"/>
          </a:xfrm>
          <a:prstGeom prst="rect">
            <a:avLst/>
          </a:prstGeom>
          <a:solidFill>
            <a:srgbClr val="333333"/>
          </a:solidFill>
          <a:ln/>
        </p:spPr>
      </p:sp>
      <p:sp>
        <p:nvSpPr>
          <p:cNvPr id="8" name="Text 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AI spend is a market event</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AI infrastructure spend is at record scale, increasingly debt-financed, and embedded in benchmark portfolios — whether investors chose it or not.</a:t>
            </a:r>
            <a:endParaRPr lang="en-US" sz="1350" dirty="0"/>
          </a:p>
        </p:txBody>
      </p:sp>
      <p:sp>
        <p:nvSpPr>
          <p:cNvPr id="4" name="Text 2"/>
          <p:cNvSpPr/>
          <p:nvPr/>
        </p:nvSpPr>
        <p:spPr>
          <a:xfrm>
            <a:off x="457200" y="1600200"/>
            <a:ext cx="2651760" cy="64008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~$725B</a:t>
            </a:r>
            <a:endParaRPr lang="en-US" sz="4000" dirty="0"/>
          </a:p>
        </p:txBody>
      </p:sp>
      <p:sp>
        <p:nvSpPr>
          <p:cNvPr id="5" name="Text 3"/>
          <p:cNvSpPr/>
          <p:nvPr/>
        </p:nvSpPr>
        <p:spPr>
          <a:xfrm>
            <a:off x="457200" y="2221992"/>
            <a:ext cx="2651760" cy="566928"/>
          </a:xfrm>
          <a:prstGeom prst="rect">
            <a:avLst/>
          </a:prstGeom>
          <a:noFill/>
          <a:ln/>
        </p:spPr>
        <p:txBody>
          <a:bodyPr wrap="square" lIns="0" tIns="0" rIns="0" bIns="0" rtlCol="0" anchor="t"/>
          <a:lstStyle/>
          <a:p>
            <a:pPr algn="ctr" indent="0" marL="0">
              <a:buNone/>
            </a:pPr>
            <a:r>
              <a:rPr lang="en-US" sz="1050" dirty="0">
                <a:solidFill>
                  <a:srgbClr val="666666"/>
                </a:solidFill>
                <a:latin typeface="Arial" pitchFamily="34" charset="0"/>
                <a:ea typeface="Arial" pitchFamily="34" charset="-122"/>
                <a:cs typeface="Arial" pitchFamily="34" charset="-120"/>
              </a:rPr>
              <a:t>Big-4 hyperscaler capex guided for 2026 — up ~77% from 2025's record $410B</a:t>
            </a:r>
            <a:endParaRPr lang="en-US" sz="1050" dirty="0"/>
          </a:p>
        </p:txBody>
      </p:sp>
      <p:sp>
        <p:nvSpPr>
          <p:cNvPr id="6" name="Text 4"/>
          <p:cNvSpPr/>
          <p:nvPr/>
        </p:nvSpPr>
        <p:spPr>
          <a:xfrm>
            <a:off x="3246120" y="1600200"/>
            <a:ext cx="2651760" cy="640080"/>
          </a:xfrm>
          <a:prstGeom prst="rect">
            <a:avLst/>
          </a:prstGeom>
          <a:noFill/>
          <a:ln/>
        </p:spPr>
        <p:txBody>
          <a:bodyPr wrap="square" lIns="0" tIns="0" rIns="0" bIns="0" rtlCol="0" anchor="ctr"/>
          <a:lstStyle/>
          <a:p>
            <a:pPr algn="ctr" indent="0" marL="0">
              <a:buNone/>
            </a:pPr>
            <a:r>
              <a:rPr lang="en-US" sz="4000" b="1" dirty="0">
                <a:solidFill>
                  <a:srgbClr val="FFB800"/>
                </a:solidFill>
                <a:latin typeface="Arial Black" pitchFamily="34" charset="0"/>
                <a:ea typeface="Arial Black" pitchFamily="34" charset="-122"/>
                <a:cs typeface="Arial Black" pitchFamily="34" charset="-120"/>
              </a:rPr>
              <a:t>~37%</a:t>
            </a:r>
            <a:endParaRPr lang="en-US" sz="4000" dirty="0"/>
          </a:p>
        </p:txBody>
      </p:sp>
      <p:sp>
        <p:nvSpPr>
          <p:cNvPr id="7" name="Text 5"/>
          <p:cNvSpPr/>
          <p:nvPr/>
        </p:nvSpPr>
        <p:spPr>
          <a:xfrm>
            <a:off x="3246120" y="2221992"/>
            <a:ext cx="2651760" cy="566928"/>
          </a:xfrm>
          <a:prstGeom prst="rect">
            <a:avLst/>
          </a:prstGeom>
          <a:noFill/>
          <a:ln/>
        </p:spPr>
        <p:txBody>
          <a:bodyPr wrap="square" lIns="0" tIns="0" rIns="0" bIns="0" rtlCol="0" anchor="t"/>
          <a:lstStyle/>
          <a:p>
            <a:pPr algn="ctr" indent="0" marL="0">
              <a:buNone/>
            </a:pPr>
            <a:r>
              <a:rPr lang="en-US" sz="1050" dirty="0">
                <a:solidFill>
                  <a:srgbClr val="666666"/>
                </a:solidFill>
                <a:latin typeface="Arial" pitchFamily="34" charset="0"/>
                <a:ea typeface="Arial" pitchFamily="34" charset="-122"/>
                <a:cs typeface="Arial" pitchFamily="34" charset="-120"/>
              </a:rPr>
              <a:t>of S&amp;P 500 market cap sits in the top 10 names, near the 2025 record of 40.7%</a:t>
            </a:r>
            <a:endParaRPr lang="en-US" sz="1050" dirty="0"/>
          </a:p>
        </p:txBody>
      </p:sp>
      <p:sp>
        <p:nvSpPr>
          <p:cNvPr id="8" name="Text 6"/>
          <p:cNvSpPr/>
          <p:nvPr/>
        </p:nvSpPr>
        <p:spPr>
          <a:xfrm>
            <a:off x="6035040" y="1600200"/>
            <a:ext cx="2651760" cy="640080"/>
          </a:xfrm>
          <a:prstGeom prst="rect">
            <a:avLst/>
          </a:prstGeom>
          <a:noFill/>
          <a:ln/>
        </p:spPr>
        <p:txBody>
          <a:bodyPr wrap="square" lIns="0" tIns="0" rIns="0" bIns="0" rtlCol="0" anchor="ctr"/>
          <a:lstStyle/>
          <a:p>
            <a:pPr algn="ctr" indent="0" marL="0">
              <a:buNone/>
            </a:pPr>
            <a:r>
              <a:rPr lang="en-US" sz="4000" b="1" dirty="0">
                <a:solidFill>
                  <a:srgbClr val="008B8B"/>
                </a:solidFill>
                <a:latin typeface="Arial Black" pitchFamily="34" charset="0"/>
                <a:ea typeface="Arial Black" pitchFamily="34" charset="-122"/>
                <a:cs typeface="Arial Black" pitchFamily="34" charset="-120"/>
              </a:rPr>
              <a:t>89pp</a:t>
            </a:r>
            <a:endParaRPr lang="en-US" sz="4000" dirty="0"/>
          </a:p>
        </p:txBody>
      </p:sp>
      <p:sp>
        <p:nvSpPr>
          <p:cNvPr id="9" name="Text 7"/>
          <p:cNvSpPr/>
          <p:nvPr/>
        </p:nvSpPr>
        <p:spPr>
          <a:xfrm>
            <a:off x="6035040" y="2221992"/>
            <a:ext cx="2651760" cy="566928"/>
          </a:xfrm>
          <a:prstGeom prst="rect">
            <a:avLst/>
          </a:prstGeom>
          <a:noFill/>
          <a:ln/>
        </p:spPr>
        <p:txBody>
          <a:bodyPr wrap="square" lIns="0" tIns="0" rIns="0" bIns="0" rtlCol="0" anchor="t"/>
          <a:lstStyle/>
          <a:p>
            <a:pPr algn="ctr" indent="0" marL="0">
              <a:buNone/>
            </a:pPr>
            <a:r>
              <a:rPr lang="en-US" sz="1050" dirty="0">
                <a:solidFill>
                  <a:srgbClr val="666666"/>
                </a:solidFill>
                <a:latin typeface="Arial" pitchFamily="34" charset="0"/>
                <a:ea typeface="Arial" pitchFamily="34" charset="-122"/>
                <a:cs typeface="Arial" pitchFamily="34" charset="-120"/>
              </a:rPr>
              <a:t>YTD return spread inside the AI trade: semis +79% vs. software −10%</a:t>
            </a:r>
            <a:endParaRPr lang="en-US" sz="1050" dirty="0"/>
          </a:p>
        </p:txBody>
      </p:sp>
      <p:sp>
        <p:nvSpPr>
          <p:cNvPr id="10" name="Shape 8"/>
          <p:cNvSpPr/>
          <p:nvPr/>
        </p:nvSpPr>
        <p:spPr>
          <a:xfrm>
            <a:off x="457200" y="3154680"/>
            <a:ext cx="8229600" cy="777240"/>
          </a:xfrm>
          <a:prstGeom prst="rect">
            <a:avLst/>
          </a:prstGeom>
          <a:solidFill>
            <a:srgbClr val="F9F9F9"/>
          </a:solidFill>
          <a:ln/>
        </p:spPr>
      </p:sp>
      <p:sp>
        <p:nvSpPr>
          <p:cNvPr id="11" name="Shape 9"/>
          <p:cNvSpPr/>
          <p:nvPr/>
        </p:nvSpPr>
        <p:spPr>
          <a:xfrm>
            <a:off x="457200" y="3154680"/>
            <a:ext cx="73152" cy="777240"/>
          </a:xfrm>
          <a:prstGeom prst="rect">
            <a:avLst/>
          </a:prstGeom>
          <a:solidFill>
            <a:srgbClr val="F6693D"/>
          </a:solidFill>
          <a:ln/>
        </p:spPr>
      </p:sp>
      <p:sp>
        <p:nvSpPr>
          <p:cNvPr id="12" name="Text 10"/>
          <p:cNvSpPr/>
          <p:nvPr/>
        </p:nvSpPr>
        <p:spPr>
          <a:xfrm>
            <a:off x="640080" y="3200400"/>
            <a:ext cx="7863840" cy="685800"/>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The “so what” in three parts:  </a:t>
            </a:r>
            <a:pPr indent="0" marL="0">
              <a:buNone/>
            </a:pPr>
            <a:r>
              <a:rPr lang="en-US" sz="1150" dirty="0">
                <a:solidFill>
                  <a:srgbClr val="333333"/>
                </a:solidFill>
                <a:latin typeface="Arial" pitchFamily="34" charset="0"/>
                <a:ea typeface="Arial" pitchFamily="34" charset="-122"/>
                <a:cs typeface="Arial" pitchFamily="34" charset="-120"/>
              </a:rPr>
              <a:t>(1) AI demand is real and enormous — the constraint is physical, not financial. (2) The spend has outgrown cash flow and moved into the bond market. (3) Index concentration has turned passive portfolios into active AI positions.</a:t>
            </a:r>
            <a:endParaRPr lang="en-US" sz="1150" dirty="0"/>
          </a:p>
        </p:txBody>
      </p:sp>
      <p:sp>
        <p:nvSpPr>
          <p:cNvPr id="13" name="Text 11"/>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Company guidance via CNBC / Tom's Hardware (Feb 2026); S&amp;P Dow Jones Indices, MacroMicro; iShares SOXX &amp; IGV via stockanalysis.com.</a:t>
            </a:r>
            <a:endParaRPr lang="en-US" sz="700" dirty="0"/>
          </a:p>
        </p:txBody>
      </p:sp>
      <p:sp>
        <p:nvSpPr>
          <p:cNvPr id="14" name="Shape 12"/>
          <p:cNvSpPr/>
          <p:nvPr/>
        </p:nvSpPr>
        <p:spPr>
          <a:xfrm>
            <a:off x="0" y="4526280"/>
            <a:ext cx="9144000" cy="617220"/>
          </a:xfrm>
          <a:prstGeom prst="rect">
            <a:avLst/>
          </a:prstGeom>
          <a:solidFill>
            <a:srgbClr val="333333"/>
          </a:solidFill>
          <a:ln/>
        </p:spPr>
      </p:sp>
      <p:sp>
        <p:nvSpPr>
          <p:cNvPr id="15" name="Text 1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6" name="Text 1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Four beats, one destination</a:t>
            </a:r>
            <a:endParaRPr lang="en-US" sz="2700" dirty="0"/>
          </a:p>
        </p:txBody>
      </p:sp>
      <p:sp>
        <p:nvSpPr>
          <p:cNvPr id="3" name="Text 1"/>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deck moves from the physical buildout to the financial system that funds it — and lands on positioning.</a:t>
            </a:r>
            <a:endParaRPr lang="en-US" sz="1350" dirty="0"/>
          </a:p>
        </p:txBody>
      </p:sp>
      <p:sp>
        <p:nvSpPr>
          <p:cNvPr id="4" name="Shape 2"/>
          <p:cNvSpPr/>
          <p:nvPr/>
        </p:nvSpPr>
        <p:spPr>
          <a:xfrm>
            <a:off x="457200" y="1600200"/>
            <a:ext cx="1920240" cy="384048"/>
          </a:xfrm>
          <a:prstGeom prst="rect">
            <a:avLst/>
          </a:prstGeom>
          <a:solidFill>
            <a:srgbClr val="008B8B"/>
          </a:solidFill>
          <a:ln/>
        </p:spPr>
      </p:sp>
      <p:sp>
        <p:nvSpPr>
          <p:cNvPr id="5" name="Text 3"/>
          <p:cNvSpPr/>
          <p:nvPr/>
        </p:nvSpPr>
        <p:spPr>
          <a:xfrm>
            <a:off x="530352" y="1600200"/>
            <a:ext cx="1810512" cy="38404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1.  WHAT'S HAPPENING</a:t>
            </a:r>
            <a:endParaRPr lang="en-US" sz="850" dirty="0"/>
          </a:p>
        </p:txBody>
      </p:sp>
      <p:sp>
        <p:nvSpPr>
          <p:cNvPr id="6" name="Shape 4"/>
          <p:cNvSpPr/>
          <p:nvPr/>
        </p:nvSpPr>
        <p:spPr>
          <a:xfrm>
            <a:off x="457200" y="1984248"/>
            <a:ext cx="1920240" cy="1417320"/>
          </a:xfrm>
          <a:prstGeom prst="rect">
            <a:avLst/>
          </a:prstGeom>
          <a:solidFill>
            <a:srgbClr val="F9F9F9"/>
          </a:solidFill>
          <a:ln/>
        </p:spPr>
      </p:sp>
      <p:sp>
        <p:nvSpPr>
          <p:cNvPr id="7" name="Text 5"/>
          <p:cNvSpPr/>
          <p:nvPr/>
        </p:nvSpPr>
        <p:spPr>
          <a:xfrm>
            <a:off x="548640" y="2075688"/>
            <a:ext cx="17373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capex supercycle and the physical constraints that shape it.</a:t>
            </a:r>
            <a:endParaRPr lang="en-US" sz="1050" dirty="0"/>
          </a:p>
        </p:txBody>
      </p:sp>
      <p:sp>
        <p:nvSpPr>
          <p:cNvPr id="8" name="Text 6"/>
          <p:cNvSpPr/>
          <p:nvPr/>
        </p:nvSpPr>
        <p:spPr>
          <a:xfrm>
            <a:off x="548640" y="3108960"/>
            <a:ext cx="1737360" cy="228600"/>
          </a:xfrm>
          <a:prstGeom prst="rect">
            <a:avLst/>
          </a:prstGeom>
          <a:noFill/>
          <a:ln/>
        </p:spPr>
        <p:txBody>
          <a:bodyPr wrap="square" lIns="0" tIns="0" rIns="0" bIns="0" rtlCol="0" anchor="ctr"/>
          <a:lstStyle/>
          <a:p>
            <a:pPr indent="0" marL="0">
              <a:buNone/>
            </a:pPr>
            <a:r>
              <a:rPr lang="en-US" sz="850" i="1" dirty="0">
                <a:solidFill>
                  <a:srgbClr val="666666"/>
                </a:solidFill>
                <a:latin typeface="Arial" pitchFamily="34" charset="0"/>
                <a:ea typeface="Arial" pitchFamily="34" charset="-122"/>
                <a:cs typeface="Arial" pitchFamily="34" charset="-120"/>
              </a:rPr>
              <a:t>Slides 4–5</a:t>
            </a:r>
            <a:endParaRPr lang="en-US" sz="850" dirty="0"/>
          </a:p>
        </p:txBody>
      </p:sp>
      <p:sp>
        <p:nvSpPr>
          <p:cNvPr id="9" name="Shape 7"/>
          <p:cNvSpPr/>
          <p:nvPr/>
        </p:nvSpPr>
        <p:spPr>
          <a:xfrm>
            <a:off x="2560320" y="1600200"/>
            <a:ext cx="1920240" cy="384048"/>
          </a:xfrm>
          <a:prstGeom prst="rect">
            <a:avLst/>
          </a:prstGeom>
          <a:solidFill>
            <a:srgbClr val="FFB800"/>
          </a:solidFill>
          <a:ln/>
        </p:spPr>
      </p:sp>
      <p:sp>
        <p:nvSpPr>
          <p:cNvPr id="10" name="Text 8"/>
          <p:cNvSpPr/>
          <p:nvPr/>
        </p:nvSpPr>
        <p:spPr>
          <a:xfrm>
            <a:off x="2633472" y="1600200"/>
            <a:ext cx="1810512" cy="384048"/>
          </a:xfrm>
          <a:prstGeom prst="rect">
            <a:avLst/>
          </a:prstGeom>
          <a:noFill/>
          <a:ln/>
        </p:spPr>
        <p:txBody>
          <a:bodyPr wrap="square" lIns="0" tIns="0" rIns="0" bIns="0" rtlCol="0" anchor="ctr"/>
          <a:lstStyle/>
          <a:p>
            <a:pPr indent="0" marL="0">
              <a:buNone/>
            </a:pPr>
            <a:r>
              <a:rPr lang="en-US" sz="850" b="1" dirty="0">
                <a:solidFill>
                  <a:srgbClr val="000000"/>
                </a:solidFill>
                <a:latin typeface="Arial" pitchFamily="34" charset="0"/>
                <a:ea typeface="Arial" pitchFamily="34" charset="-122"/>
                <a:cs typeface="Arial" pitchFamily="34" charset="-120"/>
              </a:rPr>
              <a:t>2.  HOW IT SHOWS UP IN EQUITIES</a:t>
            </a:r>
            <a:endParaRPr lang="en-US" sz="850" dirty="0"/>
          </a:p>
        </p:txBody>
      </p:sp>
      <p:sp>
        <p:nvSpPr>
          <p:cNvPr id="11" name="Shape 9"/>
          <p:cNvSpPr/>
          <p:nvPr/>
        </p:nvSpPr>
        <p:spPr>
          <a:xfrm>
            <a:off x="2560320" y="1984248"/>
            <a:ext cx="1920240" cy="1417320"/>
          </a:xfrm>
          <a:prstGeom prst="rect">
            <a:avLst/>
          </a:prstGeom>
          <a:solidFill>
            <a:srgbClr val="F9F9F9"/>
          </a:solidFill>
          <a:ln/>
        </p:spPr>
      </p:sp>
      <p:sp>
        <p:nvSpPr>
          <p:cNvPr id="12" name="Text 10"/>
          <p:cNvSpPr/>
          <p:nvPr/>
        </p:nvSpPr>
        <p:spPr>
          <a:xfrm>
            <a:off x="2651760" y="2075688"/>
            <a:ext cx="17373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Concentration, returns, and what's priced in.</a:t>
            </a:r>
            <a:endParaRPr lang="en-US" sz="1050" dirty="0"/>
          </a:p>
        </p:txBody>
      </p:sp>
      <p:sp>
        <p:nvSpPr>
          <p:cNvPr id="13" name="Text 11"/>
          <p:cNvSpPr/>
          <p:nvPr/>
        </p:nvSpPr>
        <p:spPr>
          <a:xfrm>
            <a:off x="2651760" y="3108960"/>
            <a:ext cx="1737360" cy="228600"/>
          </a:xfrm>
          <a:prstGeom prst="rect">
            <a:avLst/>
          </a:prstGeom>
          <a:noFill/>
          <a:ln/>
        </p:spPr>
        <p:txBody>
          <a:bodyPr wrap="square" lIns="0" tIns="0" rIns="0" bIns="0" rtlCol="0" anchor="ctr"/>
          <a:lstStyle/>
          <a:p>
            <a:pPr indent="0" marL="0">
              <a:buNone/>
            </a:pPr>
            <a:r>
              <a:rPr lang="en-US" sz="850" i="1" dirty="0">
                <a:solidFill>
                  <a:srgbClr val="666666"/>
                </a:solidFill>
                <a:latin typeface="Arial" pitchFamily="34" charset="0"/>
                <a:ea typeface="Arial" pitchFamily="34" charset="-122"/>
                <a:cs typeface="Arial" pitchFamily="34" charset="-120"/>
              </a:rPr>
              <a:t>Slides 6–8</a:t>
            </a:r>
            <a:endParaRPr lang="en-US" sz="850" dirty="0"/>
          </a:p>
        </p:txBody>
      </p:sp>
      <p:sp>
        <p:nvSpPr>
          <p:cNvPr id="14" name="Shape 12"/>
          <p:cNvSpPr/>
          <p:nvPr/>
        </p:nvSpPr>
        <p:spPr>
          <a:xfrm>
            <a:off x="4663440" y="1600200"/>
            <a:ext cx="1920240" cy="384048"/>
          </a:xfrm>
          <a:prstGeom prst="rect">
            <a:avLst/>
          </a:prstGeom>
          <a:solidFill>
            <a:srgbClr val="F6693D"/>
          </a:solidFill>
          <a:ln/>
        </p:spPr>
      </p:sp>
      <p:sp>
        <p:nvSpPr>
          <p:cNvPr id="15" name="Text 13"/>
          <p:cNvSpPr/>
          <p:nvPr/>
        </p:nvSpPr>
        <p:spPr>
          <a:xfrm>
            <a:off x="4736592" y="1600200"/>
            <a:ext cx="1810512" cy="384048"/>
          </a:xfrm>
          <a:prstGeom prst="rect">
            <a:avLst/>
          </a:prstGeom>
          <a:noFill/>
          <a:ln/>
        </p:spPr>
        <p:txBody>
          <a:bodyPr wrap="square" lIns="0" tIns="0" rIns="0" bIns="0" rtlCol="0" anchor="ctr"/>
          <a:lstStyle/>
          <a:p>
            <a:pPr indent="0" marL="0">
              <a:buNone/>
            </a:pPr>
            <a:r>
              <a:rPr lang="en-US" sz="850" b="1" dirty="0">
                <a:solidFill>
                  <a:srgbClr val="000000"/>
                </a:solidFill>
                <a:latin typeface="Arial" pitchFamily="34" charset="0"/>
                <a:ea typeface="Arial" pitchFamily="34" charset="-122"/>
                <a:cs typeface="Arial" pitchFamily="34" charset="-120"/>
              </a:rPr>
              <a:t>3.  HOW IT'S FINANCED</a:t>
            </a:r>
            <a:endParaRPr lang="en-US" sz="850" dirty="0"/>
          </a:p>
        </p:txBody>
      </p:sp>
      <p:sp>
        <p:nvSpPr>
          <p:cNvPr id="16" name="Shape 14"/>
          <p:cNvSpPr/>
          <p:nvPr/>
        </p:nvSpPr>
        <p:spPr>
          <a:xfrm>
            <a:off x="4663440" y="1984248"/>
            <a:ext cx="1920240" cy="1417320"/>
          </a:xfrm>
          <a:prstGeom prst="rect">
            <a:avLst/>
          </a:prstGeom>
          <a:solidFill>
            <a:srgbClr val="F9F9F9"/>
          </a:solidFill>
          <a:ln/>
        </p:spPr>
      </p:sp>
      <p:sp>
        <p:nvSpPr>
          <p:cNvPr id="17" name="Text 15"/>
          <p:cNvSpPr/>
          <p:nvPr/>
        </p:nvSpPr>
        <p:spPr>
          <a:xfrm>
            <a:off x="4754880" y="2075688"/>
            <a:ext cx="17373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Cash flow, bonds, and the new AI debt complex.</a:t>
            </a:r>
            <a:endParaRPr lang="en-US" sz="1050" dirty="0"/>
          </a:p>
        </p:txBody>
      </p:sp>
      <p:sp>
        <p:nvSpPr>
          <p:cNvPr id="18" name="Text 16"/>
          <p:cNvSpPr/>
          <p:nvPr/>
        </p:nvSpPr>
        <p:spPr>
          <a:xfrm>
            <a:off x="4754880" y="3108960"/>
            <a:ext cx="1737360" cy="228600"/>
          </a:xfrm>
          <a:prstGeom prst="rect">
            <a:avLst/>
          </a:prstGeom>
          <a:noFill/>
          <a:ln/>
        </p:spPr>
        <p:txBody>
          <a:bodyPr wrap="square" lIns="0" tIns="0" rIns="0" bIns="0" rtlCol="0" anchor="ctr"/>
          <a:lstStyle/>
          <a:p>
            <a:pPr indent="0" marL="0">
              <a:buNone/>
            </a:pPr>
            <a:r>
              <a:rPr lang="en-US" sz="850" i="1" dirty="0">
                <a:solidFill>
                  <a:srgbClr val="666666"/>
                </a:solidFill>
                <a:latin typeface="Arial" pitchFamily="34" charset="0"/>
                <a:ea typeface="Arial" pitchFamily="34" charset="-122"/>
                <a:cs typeface="Arial" pitchFamily="34" charset="-120"/>
              </a:rPr>
              <a:t>Slides 9–10</a:t>
            </a:r>
            <a:endParaRPr lang="en-US" sz="850" dirty="0"/>
          </a:p>
        </p:txBody>
      </p:sp>
      <p:sp>
        <p:nvSpPr>
          <p:cNvPr id="19" name="Shape 17"/>
          <p:cNvSpPr/>
          <p:nvPr/>
        </p:nvSpPr>
        <p:spPr>
          <a:xfrm>
            <a:off x="6766560" y="1600200"/>
            <a:ext cx="1920240" cy="384048"/>
          </a:xfrm>
          <a:prstGeom prst="rect">
            <a:avLst/>
          </a:prstGeom>
          <a:solidFill>
            <a:srgbClr val="6B46C1"/>
          </a:solidFill>
          <a:ln/>
        </p:spPr>
      </p:sp>
      <p:sp>
        <p:nvSpPr>
          <p:cNvPr id="20" name="Text 18"/>
          <p:cNvSpPr/>
          <p:nvPr/>
        </p:nvSpPr>
        <p:spPr>
          <a:xfrm>
            <a:off x="6839712" y="1600200"/>
            <a:ext cx="1810512" cy="384048"/>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4.  WHAT IT MEANS FOR PORTFOLIOS</a:t>
            </a:r>
            <a:endParaRPr lang="en-US" sz="850" dirty="0"/>
          </a:p>
        </p:txBody>
      </p:sp>
      <p:sp>
        <p:nvSpPr>
          <p:cNvPr id="21" name="Shape 19"/>
          <p:cNvSpPr/>
          <p:nvPr/>
        </p:nvSpPr>
        <p:spPr>
          <a:xfrm>
            <a:off x="6766560" y="1984248"/>
            <a:ext cx="1920240" cy="1417320"/>
          </a:xfrm>
          <a:prstGeom prst="rect">
            <a:avLst/>
          </a:prstGeom>
          <a:solidFill>
            <a:srgbClr val="F9F9F9"/>
          </a:solidFill>
          <a:ln/>
        </p:spPr>
      </p:sp>
      <p:sp>
        <p:nvSpPr>
          <p:cNvPr id="22" name="Text 20"/>
          <p:cNvSpPr/>
          <p:nvPr/>
        </p:nvSpPr>
        <p:spPr>
          <a:xfrm>
            <a:off x="6858000" y="2075688"/>
            <a:ext cx="1737360" cy="100584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Concentration risk, dispersion, and implications.</a:t>
            </a:r>
            <a:endParaRPr lang="en-US" sz="1050" dirty="0"/>
          </a:p>
        </p:txBody>
      </p:sp>
      <p:sp>
        <p:nvSpPr>
          <p:cNvPr id="23" name="Text 21"/>
          <p:cNvSpPr/>
          <p:nvPr/>
        </p:nvSpPr>
        <p:spPr>
          <a:xfrm>
            <a:off x="6858000" y="3108960"/>
            <a:ext cx="1737360" cy="228600"/>
          </a:xfrm>
          <a:prstGeom prst="rect">
            <a:avLst/>
          </a:prstGeom>
          <a:noFill/>
          <a:ln/>
        </p:spPr>
        <p:txBody>
          <a:bodyPr wrap="square" lIns="0" tIns="0" rIns="0" bIns="0" rtlCol="0" anchor="ctr"/>
          <a:lstStyle/>
          <a:p>
            <a:pPr indent="0" marL="0">
              <a:buNone/>
            </a:pPr>
            <a:r>
              <a:rPr lang="en-US" sz="850" i="1" dirty="0">
                <a:solidFill>
                  <a:srgbClr val="666666"/>
                </a:solidFill>
                <a:latin typeface="Arial" pitchFamily="34" charset="0"/>
                <a:ea typeface="Arial" pitchFamily="34" charset="-122"/>
                <a:cs typeface="Arial" pitchFamily="34" charset="-120"/>
              </a:rPr>
              <a:t>Slides 11–14</a:t>
            </a:r>
            <a:endParaRPr lang="en-US" sz="850" dirty="0"/>
          </a:p>
        </p:txBody>
      </p:sp>
      <p:sp>
        <p:nvSpPr>
          <p:cNvPr id="24" name="Text 22"/>
          <p:cNvSpPr/>
          <p:nvPr/>
        </p:nvSpPr>
        <p:spPr>
          <a:xfrm>
            <a:off x="457200" y="3657600"/>
            <a:ext cx="8229600" cy="320040"/>
          </a:xfrm>
          <a:prstGeom prst="rect">
            <a:avLst/>
          </a:prstGeom>
          <a:noFill/>
          <a:ln/>
        </p:spPr>
        <p:txBody>
          <a:bodyPr wrap="square" lIns="0" tIns="0" rIns="0" bIns="0" rtlCol="0" anchor="ctr"/>
          <a:lstStyle/>
          <a:p>
            <a:pPr indent="0" marL="0">
              <a:buNone/>
            </a:pPr>
            <a:r>
              <a:rPr lang="en-US" sz="1150" b="1" dirty="0">
                <a:solidFill>
                  <a:srgbClr val="000000"/>
                </a:solidFill>
                <a:latin typeface="Arial" pitchFamily="34" charset="0"/>
                <a:ea typeface="Arial" pitchFamily="34" charset="-122"/>
                <a:cs typeface="Arial" pitchFamily="34" charset="-120"/>
              </a:rPr>
              <a:t>Throughline: </a:t>
            </a:r>
            <a:pPr indent="0" marL="0">
              <a:buNone/>
            </a:pPr>
            <a:r>
              <a:rPr lang="en-US" sz="1150" dirty="0">
                <a:solidFill>
                  <a:srgbClr val="333333"/>
                </a:solidFill>
                <a:latin typeface="Arial" pitchFamily="34" charset="0"/>
                <a:ea typeface="Arial" pitchFamily="34" charset="-122"/>
                <a:cs typeface="Arial" pitchFamily="34" charset="-120"/>
              </a:rPr>
              <a:t>every AI development in this deck is read through one lens — equity market structure and investor positioning.</a:t>
            </a:r>
            <a:endParaRPr lang="en-US" sz="1150" dirty="0"/>
          </a:p>
        </p:txBody>
      </p:sp>
      <p:sp>
        <p:nvSpPr>
          <p:cNvPr id="25" name="Shape 23"/>
          <p:cNvSpPr/>
          <p:nvPr/>
        </p:nvSpPr>
        <p:spPr>
          <a:xfrm>
            <a:off x="0" y="4526280"/>
            <a:ext cx="9144000" cy="617220"/>
          </a:xfrm>
          <a:prstGeom prst="rect">
            <a:avLst/>
          </a:prstGeom>
          <a:solidFill>
            <a:srgbClr val="333333"/>
          </a:solidFill>
          <a:ln/>
        </p:spPr>
      </p:sp>
      <p:sp>
        <p:nvSpPr>
          <p:cNvPr id="26" name="Text 2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Arial" pitchFamily="34" charset="0"/>
                <a:ea typeface="Arial" pitchFamily="34" charset="-122"/>
                <a:cs typeface="Arial" pitchFamily="34" charset="-120"/>
              </a:rPr>
              <a:t>WHAT'S HAPPENING</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 ~$725B sprint, guided in public</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Big-4 2026 capex guidance is up ~77% year over year. Morgan Stanley puts the five-platform total (incl. Oracle) near $805B.</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2026 capex guidance, $B (midpoints)</a:t>
            </a:r>
            <a:endParaRPr lang="en-US" sz="1400" dirty="0"/>
          </a:p>
        </p:txBody>
      </p:sp>
      <p:sp>
        <p:nvSpPr>
          <p:cNvPr id="7" name="Shape 5"/>
          <p:cNvSpPr/>
          <p:nvPr/>
        </p:nvSpPr>
        <p:spPr>
          <a:xfrm>
            <a:off x="457200" y="173736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82880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Big-4 combined capex, $B</a:t>
            </a:r>
            <a:endParaRPr lang="en-US" sz="1400" dirty="0"/>
          </a:p>
        </p:txBody>
      </p:sp>
      <p:sp>
        <p:nvSpPr>
          <p:cNvPr id="10" name="Shape 7"/>
          <p:cNvSpPr/>
          <p:nvPr/>
        </p:nvSpPr>
        <p:spPr>
          <a:xfrm>
            <a:off x="4754880" y="1737360"/>
            <a:ext cx="3931920" cy="0"/>
          </a:xfrm>
          <a:prstGeom prst="line">
            <a:avLst/>
          </a:prstGeom>
          <a:noFill/>
          <a:ln w="19050">
            <a:solidFill>
              <a:srgbClr val="000000"/>
            </a:solidFill>
            <a:prstDash val="solid"/>
          </a:ln>
        </p:spPr>
      </p:sp>
      <p:graphicFrame>
        <p:nvGraphicFramePr>
          <p:cNvPr id="11" name="Chart 1" descr=""/>
          <p:cNvGraphicFramePr/>
          <p:nvPr/>
        </p:nvGraphicFramePr>
        <p:xfrm>
          <a:off x="4754880" y="1828800"/>
          <a:ext cx="2286000" cy="210312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7223760" y="2057400"/>
            <a:ext cx="1554480" cy="640080"/>
          </a:xfrm>
          <a:prstGeom prst="rect">
            <a:avLst/>
          </a:prstGeom>
          <a:noFill/>
          <a:ln/>
        </p:spPr>
        <p:txBody>
          <a:bodyPr wrap="square" lIns="0" tIns="0" rIns="0" bIns="0" rtlCol="0" anchor="ctr"/>
          <a:lstStyle/>
          <a:p>
            <a:pPr algn="ctr" indent="0" marL="0">
              <a:buNone/>
            </a:pPr>
            <a:r>
              <a:rPr lang="en-US" sz="3200" b="1" dirty="0">
                <a:solidFill>
                  <a:srgbClr val="F6693D"/>
                </a:solidFill>
                <a:latin typeface="Arial Black" pitchFamily="34" charset="0"/>
                <a:ea typeface="Arial Black" pitchFamily="34" charset="-122"/>
                <a:cs typeface="Arial Black" pitchFamily="34" charset="-120"/>
              </a:rPr>
              <a:t>+77%</a:t>
            </a:r>
            <a:endParaRPr lang="en-US" sz="3200" dirty="0"/>
          </a:p>
        </p:txBody>
      </p:sp>
      <p:sp>
        <p:nvSpPr>
          <p:cNvPr id="13" name="Text 9"/>
          <p:cNvSpPr/>
          <p:nvPr/>
        </p:nvSpPr>
        <p:spPr>
          <a:xfrm>
            <a:off x="7223760" y="2679192"/>
            <a:ext cx="1554480" cy="566928"/>
          </a:xfrm>
          <a:prstGeom prst="rect">
            <a:avLst/>
          </a:prstGeom>
          <a:noFill/>
          <a:ln/>
        </p:spPr>
        <p:txBody>
          <a:bodyPr wrap="square" lIns="0" tIns="0" rIns="0" bIns="0" rtlCol="0" anchor="t"/>
          <a:lstStyle/>
          <a:p>
            <a:pPr algn="ctr" indent="0" marL="0">
              <a:buNone/>
            </a:pPr>
            <a:r>
              <a:rPr lang="en-US" sz="1050" dirty="0">
                <a:solidFill>
                  <a:srgbClr val="666666"/>
                </a:solidFill>
                <a:latin typeface="Arial" pitchFamily="34" charset="0"/>
                <a:ea typeface="Arial" pitchFamily="34" charset="-122"/>
                <a:cs typeface="Arial" pitchFamily="34" charset="-120"/>
              </a:rPr>
              <a:t>YoY growth in</a:t>
            </a:r>
            <a:endParaRPr lang="en-US" sz="1050" dirty="0"/>
          </a:p>
          <a:p>
            <a:pPr algn="ctr" indent="0" marL="0">
              <a:buNone/>
            </a:pPr>
            <a:r>
              <a:rPr lang="en-US" sz="1050" dirty="0">
                <a:solidFill>
                  <a:srgbClr val="666666"/>
                </a:solidFill>
                <a:latin typeface="Arial" pitchFamily="34" charset="0"/>
                <a:ea typeface="Arial" pitchFamily="34" charset="-122"/>
                <a:cs typeface="Arial" pitchFamily="34" charset="-120"/>
              </a:rPr>
              <a:t>planned spend</a:t>
            </a:r>
            <a:endParaRPr lang="en-US" sz="1050" dirty="0"/>
          </a:p>
        </p:txBody>
      </p:sp>
      <p:sp>
        <p:nvSpPr>
          <p:cNvPr id="14" name="Text 10"/>
          <p:cNvSpPr/>
          <p:nvPr/>
        </p:nvSpPr>
        <p:spPr>
          <a:xfrm>
            <a:off x="7223760" y="3154680"/>
            <a:ext cx="1554480" cy="868680"/>
          </a:xfrm>
          <a:prstGeom prst="rect">
            <a:avLst/>
          </a:prstGeom>
          <a:noFill/>
          <a:ln/>
        </p:spPr>
        <p:txBody>
          <a:bodyPr wrap="square" lIns="0" tIns="0" rIns="0" bIns="0" rtlCol="0" anchor="t"/>
          <a:lstStyle/>
          <a:p>
            <a:pPr indent="0" marL="0">
              <a:buNone/>
            </a:pPr>
            <a:r>
              <a:rPr lang="en-US" sz="850" dirty="0">
                <a:solidFill>
                  <a:srgbClr val="666666"/>
                </a:solidFill>
                <a:latin typeface="Arial" pitchFamily="34" charset="0"/>
                <a:ea typeface="Arial" pitchFamily="34" charset="-122"/>
                <a:cs typeface="Arial" pitchFamily="34" charset="-120"/>
              </a:rPr>
              <a:t>Three of four raised guidance in the most recent reporting round; memory and component costs pushed numbers higher.</a:t>
            </a:r>
            <a:endParaRPr lang="en-US" sz="850" dirty="0"/>
          </a:p>
        </p:txBody>
      </p:sp>
      <p:sp>
        <p:nvSpPr>
          <p:cNvPr id="15" name="Text 11"/>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Company guidance: Microsoft $190B (CY26), Amazon $200B, Alphabet $175–185B, Meta $125–145B — via CNBC (Feb 6, 2026), Tom's Hardware, Statista; Morgan Stanley estimate via beincrypto.</a:t>
            </a:r>
            <a:endParaRPr lang="en-US" sz="700" dirty="0"/>
          </a:p>
        </p:txBody>
      </p:sp>
      <p:sp>
        <p:nvSpPr>
          <p:cNvPr id="16" name="Shape 12"/>
          <p:cNvSpPr/>
          <p:nvPr/>
        </p:nvSpPr>
        <p:spPr>
          <a:xfrm>
            <a:off x="0" y="4526280"/>
            <a:ext cx="9144000" cy="617220"/>
          </a:xfrm>
          <a:prstGeom prst="rect">
            <a:avLst/>
          </a:prstGeom>
          <a:solidFill>
            <a:srgbClr val="333333"/>
          </a:solidFill>
          <a:ln/>
        </p:spPr>
      </p:sp>
      <p:sp>
        <p:nvSpPr>
          <p:cNvPr id="17" name="Text 1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Arial" pitchFamily="34" charset="0"/>
                <a:ea typeface="Arial" pitchFamily="34" charset="-122"/>
                <a:cs typeface="Arial" pitchFamily="34" charset="-120"/>
              </a:rPr>
              <a:t>WHAT'S HAPPENING</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Power is the new bottleneck</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Compute demand now outruns the power system that hosts it. Constraints decide who captures the spend — a market question.</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Global data-center electricity, TWh (IEA)</a:t>
            </a:r>
            <a:endParaRPr lang="en-US" sz="1400" dirty="0"/>
          </a:p>
        </p:txBody>
      </p:sp>
      <p:sp>
        <p:nvSpPr>
          <p:cNvPr id="7" name="Shape 5"/>
          <p:cNvSpPr/>
          <p:nvPr/>
        </p:nvSpPr>
        <p:spPr>
          <a:xfrm>
            <a:off x="457200" y="173736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82880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4754880" y="1481328"/>
            <a:ext cx="3931920" cy="768096"/>
          </a:xfrm>
          <a:prstGeom prst="rect">
            <a:avLst/>
          </a:prstGeom>
          <a:solidFill>
            <a:srgbClr val="F9F9F9"/>
          </a:solidFill>
          <a:ln/>
        </p:spPr>
      </p:sp>
      <p:sp>
        <p:nvSpPr>
          <p:cNvPr id="10" name="Shape 7"/>
          <p:cNvSpPr/>
          <p:nvPr/>
        </p:nvSpPr>
        <p:spPr>
          <a:xfrm>
            <a:off x="4754880" y="1481328"/>
            <a:ext cx="64008" cy="768096"/>
          </a:xfrm>
          <a:prstGeom prst="rect">
            <a:avLst/>
          </a:prstGeom>
          <a:solidFill>
            <a:srgbClr val="008B8B"/>
          </a:solidFill>
          <a:ln/>
        </p:spPr>
      </p:sp>
      <p:sp>
        <p:nvSpPr>
          <p:cNvPr id="11" name="Text 8"/>
          <p:cNvSpPr/>
          <p:nvPr/>
        </p:nvSpPr>
        <p:spPr>
          <a:xfrm>
            <a:off x="4892040" y="1481328"/>
            <a:ext cx="1051560" cy="768096"/>
          </a:xfrm>
          <a:prstGeom prst="rect">
            <a:avLst/>
          </a:prstGeom>
          <a:noFill/>
          <a:ln/>
        </p:spPr>
        <p:txBody>
          <a:bodyPr wrap="square" lIns="0" tIns="0" rIns="0" bIns="0" rtlCol="0" anchor="ctr"/>
          <a:lstStyle/>
          <a:p>
            <a:pPr indent="0" marL="0">
              <a:buNone/>
            </a:pPr>
            <a:r>
              <a:rPr lang="en-US" sz="1600" b="1" dirty="0">
                <a:solidFill>
                  <a:srgbClr val="008B8B"/>
                </a:solidFill>
                <a:latin typeface="Arial Black" pitchFamily="34" charset="0"/>
                <a:ea typeface="Arial Black" pitchFamily="34" charset="-122"/>
                <a:cs typeface="Arial Black" pitchFamily="34" charset="-120"/>
              </a:rPr>
              <a:t>85 GW</a:t>
            </a:r>
            <a:endParaRPr lang="en-US" sz="1600" dirty="0"/>
          </a:p>
        </p:txBody>
      </p:sp>
      <p:sp>
        <p:nvSpPr>
          <p:cNvPr id="12" name="Text 9"/>
          <p:cNvSpPr/>
          <p:nvPr/>
        </p:nvSpPr>
        <p:spPr>
          <a:xfrm>
            <a:off x="5989320" y="1536192"/>
            <a:ext cx="2606040" cy="6583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of new US data-center capacity requested by 2030; ~100 GW of grid capacity needed to serve it reliably (S&amp;P Global)</a:t>
            </a:r>
            <a:endParaRPr lang="en-US" sz="850" dirty="0"/>
          </a:p>
        </p:txBody>
      </p:sp>
      <p:sp>
        <p:nvSpPr>
          <p:cNvPr id="13" name="Shape 10"/>
          <p:cNvSpPr/>
          <p:nvPr/>
        </p:nvSpPr>
        <p:spPr>
          <a:xfrm>
            <a:off x="4754880" y="2322576"/>
            <a:ext cx="3931920" cy="768096"/>
          </a:xfrm>
          <a:prstGeom prst="rect">
            <a:avLst/>
          </a:prstGeom>
          <a:solidFill>
            <a:srgbClr val="F9F9F9"/>
          </a:solidFill>
          <a:ln/>
        </p:spPr>
      </p:sp>
      <p:sp>
        <p:nvSpPr>
          <p:cNvPr id="14" name="Shape 11"/>
          <p:cNvSpPr/>
          <p:nvPr/>
        </p:nvSpPr>
        <p:spPr>
          <a:xfrm>
            <a:off x="4754880" y="2322576"/>
            <a:ext cx="64008" cy="768096"/>
          </a:xfrm>
          <a:prstGeom prst="rect">
            <a:avLst/>
          </a:prstGeom>
          <a:solidFill>
            <a:srgbClr val="FFB800"/>
          </a:solidFill>
          <a:ln/>
        </p:spPr>
      </p:sp>
      <p:sp>
        <p:nvSpPr>
          <p:cNvPr id="15" name="Text 12"/>
          <p:cNvSpPr/>
          <p:nvPr/>
        </p:nvSpPr>
        <p:spPr>
          <a:xfrm>
            <a:off x="4892040" y="2322576"/>
            <a:ext cx="1051560" cy="768096"/>
          </a:xfrm>
          <a:prstGeom prst="rect">
            <a:avLst/>
          </a:prstGeom>
          <a:noFill/>
          <a:ln/>
        </p:spPr>
        <p:txBody>
          <a:bodyPr wrap="square" lIns="0" tIns="0" rIns="0" bIns="0" rtlCol="0" anchor="ctr"/>
          <a:lstStyle/>
          <a:p>
            <a:pPr indent="0" marL="0">
              <a:buNone/>
            </a:pPr>
            <a:r>
              <a:rPr lang="en-US" sz="1600" b="1" dirty="0">
                <a:solidFill>
                  <a:srgbClr val="FFB800"/>
                </a:solidFill>
                <a:latin typeface="Arial Black" pitchFamily="34" charset="0"/>
                <a:ea typeface="Arial Black" pitchFamily="34" charset="-122"/>
                <a:cs typeface="Arial Black" pitchFamily="34" charset="-120"/>
              </a:rPr>
              <a:t>~2x</a:t>
            </a:r>
            <a:endParaRPr lang="en-US" sz="1600" dirty="0"/>
          </a:p>
        </p:txBody>
      </p:sp>
      <p:sp>
        <p:nvSpPr>
          <p:cNvPr id="16" name="Text 13"/>
          <p:cNvSpPr/>
          <p:nvPr/>
        </p:nvSpPr>
        <p:spPr>
          <a:xfrm>
            <a:off x="5989320" y="2377440"/>
            <a:ext cx="2606040" cy="6583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growth in data-center power use by 2030 — to ~3% of global electricity; AI-specific load triples (IEA)</a:t>
            </a:r>
            <a:endParaRPr lang="en-US" sz="850" dirty="0"/>
          </a:p>
        </p:txBody>
      </p:sp>
      <p:sp>
        <p:nvSpPr>
          <p:cNvPr id="17" name="Shape 14"/>
          <p:cNvSpPr/>
          <p:nvPr/>
        </p:nvSpPr>
        <p:spPr>
          <a:xfrm>
            <a:off x="4754880" y="3163824"/>
            <a:ext cx="3931920" cy="768096"/>
          </a:xfrm>
          <a:prstGeom prst="rect">
            <a:avLst/>
          </a:prstGeom>
          <a:solidFill>
            <a:srgbClr val="F9F9F9"/>
          </a:solidFill>
          <a:ln/>
        </p:spPr>
      </p:sp>
      <p:sp>
        <p:nvSpPr>
          <p:cNvPr id="18" name="Shape 15"/>
          <p:cNvSpPr/>
          <p:nvPr/>
        </p:nvSpPr>
        <p:spPr>
          <a:xfrm>
            <a:off x="4754880" y="3163824"/>
            <a:ext cx="64008" cy="768096"/>
          </a:xfrm>
          <a:prstGeom prst="rect">
            <a:avLst/>
          </a:prstGeom>
          <a:solidFill>
            <a:srgbClr val="F6693D"/>
          </a:solidFill>
          <a:ln/>
        </p:spPr>
      </p:sp>
      <p:sp>
        <p:nvSpPr>
          <p:cNvPr id="19" name="Text 16"/>
          <p:cNvSpPr/>
          <p:nvPr/>
        </p:nvSpPr>
        <p:spPr>
          <a:xfrm>
            <a:off x="4892040" y="3163824"/>
            <a:ext cx="1051560" cy="768096"/>
          </a:xfrm>
          <a:prstGeom prst="rect">
            <a:avLst/>
          </a:prstGeom>
          <a:noFill/>
          <a:ln/>
        </p:spPr>
        <p:txBody>
          <a:bodyPr wrap="square" lIns="0" tIns="0" rIns="0" bIns="0" rtlCol="0" anchor="ctr"/>
          <a:lstStyle/>
          <a:p>
            <a:pPr indent="0" marL="0">
              <a:buNone/>
            </a:pPr>
            <a:r>
              <a:rPr lang="en-US" sz="1600" b="1" dirty="0">
                <a:solidFill>
                  <a:srgbClr val="F6693D"/>
                </a:solidFill>
                <a:latin typeface="Arial Black" pitchFamily="34" charset="0"/>
                <a:ea typeface="Arial Black" pitchFamily="34" charset="-122"/>
                <a:cs typeface="Arial Black" pitchFamily="34" charset="-120"/>
              </a:rPr>
              <a:t>Memory</a:t>
            </a:r>
            <a:endParaRPr lang="en-US" sz="1600" dirty="0"/>
          </a:p>
        </p:txBody>
      </p:sp>
      <p:sp>
        <p:nvSpPr>
          <p:cNvPr id="20" name="Text 17"/>
          <p:cNvSpPr/>
          <p:nvPr/>
        </p:nvSpPr>
        <p:spPr>
          <a:xfrm>
            <a:off x="5989320" y="3218688"/>
            <a:ext cx="2606040" cy="658368"/>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is the silicon pinch point: the AI shift in chip supply is driving shortage warnings and price hikes in autos and consumer goods (Reuters, Jun 2026)</a:t>
            </a:r>
            <a:endParaRPr lang="en-US" sz="850" dirty="0"/>
          </a:p>
        </p:txBody>
      </p:sp>
      <p:sp>
        <p:nvSpPr>
          <p:cNvPr id="21" name="Text 18"/>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IEA Energy &amp; AI (2026); S&amp;P Global data-center power research; World Economic Forum (May 2026); Reuters (Jun 3, 2026).</a:t>
            </a:r>
            <a:endParaRPr lang="en-US" sz="700" dirty="0"/>
          </a:p>
        </p:txBody>
      </p:sp>
      <p:sp>
        <p:nvSpPr>
          <p:cNvPr id="22" name="Shape 19"/>
          <p:cNvSpPr/>
          <p:nvPr/>
        </p:nvSpPr>
        <p:spPr>
          <a:xfrm>
            <a:off x="0" y="4526280"/>
            <a:ext cx="9144000" cy="617220"/>
          </a:xfrm>
          <a:prstGeom prst="rect">
            <a:avLst/>
          </a:prstGeom>
          <a:solidFill>
            <a:srgbClr val="333333"/>
          </a:solidFill>
          <a:ln/>
        </p:spPr>
      </p:sp>
      <p:sp>
        <p:nvSpPr>
          <p:cNvPr id="23" name="Text 20"/>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000000"/>
                </a:solidFill>
                <a:latin typeface="Arial" pitchFamily="34" charset="0"/>
                <a:ea typeface="Arial" pitchFamily="34" charset="-122"/>
                <a:cs typeface="Arial" pitchFamily="34" charset="-120"/>
              </a:rPr>
              <a:t>EQUITY MARKETS</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Ten stocks are ~37% of the index</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Concentration has eased from the 2025 record but remains roughly double its 1990–2015 range. The top of the index is an AI bet.</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Top-10 share of S&amp;P 500 market cap, %</a:t>
            </a:r>
            <a:endParaRPr lang="en-US" sz="1400" dirty="0"/>
          </a:p>
        </p:txBody>
      </p:sp>
      <p:sp>
        <p:nvSpPr>
          <p:cNvPr id="7" name="Shape 5"/>
          <p:cNvSpPr/>
          <p:nvPr/>
        </p:nvSpPr>
        <p:spPr>
          <a:xfrm>
            <a:off x="457200" y="173736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82880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The three largest, June 2026</a:t>
            </a:r>
            <a:endParaRPr lang="en-US" sz="1400" dirty="0"/>
          </a:p>
        </p:txBody>
      </p:sp>
      <p:sp>
        <p:nvSpPr>
          <p:cNvPr id="10" name="Shape 7"/>
          <p:cNvSpPr/>
          <p:nvPr/>
        </p:nvSpPr>
        <p:spPr>
          <a:xfrm>
            <a:off x="4754880" y="1737360"/>
            <a:ext cx="3931920" cy="0"/>
          </a:xfrm>
          <a:prstGeom prst="line">
            <a:avLst/>
          </a:prstGeom>
          <a:noFill/>
          <a:ln w="19050">
            <a:solidFill>
              <a:srgbClr val="0000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0" y="1874520"/>
          <a:ext cx="3931920" cy="1325880"/>
        </p:xfrm>
        <a:graphic>
          <a:graphicData uri="http://schemas.openxmlformats.org/drawingml/2006/table">
            <a:tbl>
              <a:tblPr/>
              <a:tblGrid>
                <a:gridCol w="1554480"/>
                <a:gridCol w="1188720"/>
                <a:gridCol w="1188720"/>
              </a:tblGrid>
              <a:tr h="331470">
                <a:tc>
                  <a:txBody>
                    <a:bodyPr/>
                    <a:lstStyle/>
                    <a:p>
                      <a:pPr indent="0" marL="0">
                        <a:buNone/>
                      </a:pPr>
                      <a:r>
                        <a:rPr lang="en-US" sz="900" b="1" dirty="0">
                          <a:solidFill>
                            <a:srgbClr val="FFFFFF"/>
                          </a:solidFill>
                          <a:latin typeface="Arial" pitchFamily="34" charset="0"/>
                          <a:ea typeface="Arial" pitchFamily="34" charset="-122"/>
                          <a:cs typeface="Arial" pitchFamily="34" charset="-120"/>
                        </a:rPr>
                        <a:t>Company</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Mkt cap</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Index weight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31470">
                <a:tc>
                  <a:txBody>
                    <a:bodyPr/>
                    <a:lstStyle/>
                    <a:p>
                      <a:pPr indent="0" marL="0">
                        <a:buNone/>
                      </a:pPr>
                      <a:r>
                        <a:rPr lang="en-US" sz="1000" dirty="0">
                          <a:solidFill>
                            <a:srgbClr val="333333"/>
                          </a:solidFill>
                          <a:latin typeface="Arial" pitchFamily="34" charset="0"/>
                          <a:ea typeface="Arial" pitchFamily="34" charset="-122"/>
                          <a:cs typeface="Arial" pitchFamily="34" charset="-120"/>
                        </a:rPr>
                        <a:t>Nvidia</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indent="0" marL="0">
                        <a:buNone/>
                      </a:pPr>
                      <a:r>
                        <a:rPr lang="en-US" sz="1000" b="1" dirty="0">
                          <a:solidFill>
                            <a:srgbClr val="F6693D"/>
                          </a:solidFill>
                          <a:latin typeface="Arial" pitchFamily="34" charset="0"/>
                          <a:ea typeface="Arial" pitchFamily="34" charset="-122"/>
                          <a:cs typeface="Arial" pitchFamily="34" charset="-120"/>
                        </a:rPr>
                        <a:t>~$5.0T</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7.0%</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31470">
                <a:tc>
                  <a:txBody>
                    <a:bodyPr/>
                    <a:lstStyle/>
                    <a:p>
                      <a:pPr indent="0" marL="0">
                        <a:buNone/>
                      </a:pPr>
                      <a:r>
                        <a:rPr lang="en-US" sz="1000" dirty="0">
                          <a:solidFill>
                            <a:srgbClr val="333333"/>
                          </a:solidFill>
                          <a:latin typeface="Arial" pitchFamily="34" charset="0"/>
                          <a:ea typeface="Arial" pitchFamily="34" charset="-122"/>
                          <a:cs typeface="Arial" pitchFamily="34" charset="-120"/>
                        </a:rPr>
                        <a:t>Apple</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indent="0" marL="0">
                        <a:buNone/>
                      </a:pPr>
                      <a:r>
                        <a:rPr lang="en-US" sz="1000" b="1" dirty="0">
                          <a:solidFill>
                            <a:srgbClr val="F6693D"/>
                          </a:solidFill>
                          <a:latin typeface="Arial" pitchFamily="34" charset="0"/>
                          <a:ea typeface="Arial" pitchFamily="34" charset="-122"/>
                          <a:cs typeface="Arial" pitchFamily="34" charset="-120"/>
                        </a:rPr>
                        <a:t>~$4.6T</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6.3%</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r h="331470">
                <a:tc>
                  <a:txBody>
                    <a:bodyPr/>
                    <a:lstStyle/>
                    <a:p>
                      <a:pPr indent="0" marL="0">
                        <a:buNone/>
                      </a:pPr>
                      <a:r>
                        <a:rPr lang="en-US" sz="1000" dirty="0">
                          <a:solidFill>
                            <a:srgbClr val="333333"/>
                          </a:solidFill>
                          <a:latin typeface="Arial" pitchFamily="34" charset="0"/>
                          <a:ea typeface="Arial" pitchFamily="34" charset="-122"/>
                          <a:cs typeface="Arial" pitchFamily="34" charset="-120"/>
                        </a:rPr>
                        <a:t>Microsoft</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indent="0" marL="0">
                        <a:buNone/>
                      </a:pPr>
                      <a:r>
                        <a:rPr lang="en-US" sz="1000" b="1" dirty="0">
                          <a:solidFill>
                            <a:srgbClr val="F6693D"/>
                          </a:solidFill>
                          <a:latin typeface="Arial" pitchFamily="34" charset="0"/>
                          <a:ea typeface="Arial" pitchFamily="34" charset="-122"/>
                          <a:cs typeface="Arial" pitchFamily="34" charset="-120"/>
                        </a:rPr>
                        <a:t>~$3.3T</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4.6%</a:t>
                      </a:r>
                      <a:endParaRPr lang="en-US" sz="10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FFFFF"/>
                    </a:solidFill>
                  </a:tcPr>
                </a:tc>
              </a:tr>
            </a:tbl>
          </a:graphicData>
        </a:graphic>
      </p:graphicFrame>
      <p:sp>
        <p:nvSpPr>
          <p:cNvPr id="12" name="Text 8"/>
          <p:cNvSpPr/>
          <p:nvPr/>
        </p:nvSpPr>
        <p:spPr>
          <a:xfrm>
            <a:off x="4754880" y="3337560"/>
            <a:ext cx="3931920" cy="594360"/>
          </a:xfrm>
          <a:prstGeom prst="rect">
            <a:avLst/>
          </a:prstGeom>
          <a:noFill/>
          <a:ln/>
        </p:spPr>
        <p:txBody>
          <a:bodyPr wrap="square" lIns="0" tIns="0" rIns="0" bIns="0" rtlCol="0" anchor="t"/>
          <a:lstStyle/>
          <a:p>
            <a:pPr indent="0" marL="0">
              <a:buNone/>
            </a:pPr>
            <a:r>
              <a:rPr lang="en-US" sz="1050" b="1" dirty="0">
                <a:solidFill>
                  <a:srgbClr val="000000"/>
                </a:solidFill>
                <a:latin typeface="Arial" pitchFamily="34" charset="0"/>
                <a:ea typeface="Arial" pitchFamily="34" charset="-122"/>
                <a:cs typeface="Arial" pitchFamily="34" charset="-120"/>
              </a:rPr>
              <a:t>~18% of the S&amp;P 500 </a:t>
            </a:r>
            <a:pPr indent="0" marL="0">
              <a:buNone/>
            </a:pPr>
            <a:r>
              <a:rPr lang="en-US" sz="1050" dirty="0">
                <a:solidFill>
                  <a:srgbClr val="333333"/>
                </a:solidFill>
                <a:latin typeface="Arial" pitchFamily="34" charset="0"/>
                <a:ea typeface="Arial" pitchFamily="34" charset="-122"/>
                <a:cs typeface="Arial" pitchFamily="34" charset="-120"/>
              </a:rPr>
              <a:t>sits in these three names — more than most full sectors. Nvidia alone outweighs energy or utilities.</a:t>
            </a:r>
            <a:endParaRPr lang="en-US" sz="1050" dirty="0"/>
          </a:p>
        </p:txBody>
      </p:sp>
      <p:sp>
        <p:nvSpPr>
          <p:cNvPr id="13" name="Text 9"/>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S&amp;P Dow Jones Indices; MacroMicro; finhacker.cz top-10 history; companiesmarketcap.com &amp; Motley Fool market caps (Jun 2026); RBC Wealth Management on the 2026 “great narrowing.”</a:t>
            </a:r>
            <a:endParaRPr lang="en-US" sz="700" dirty="0"/>
          </a:p>
        </p:txBody>
      </p:sp>
      <p:sp>
        <p:nvSpPr>
          <p:cNvPr id="14" name="Shape 10"/>
          <p:cNvSpPr/>
          <p:nvPr/>
        </p:nvSpPr>
        <p:spPr>
          <a:xfrm>
            <a:off x="0" y="4526280"/>
            <a:ext cx="9144000" cy="617220"/>
          </a:xfrm>
          <a:prstGeom prst="rect">
            <a:avLst/>
          </a:prstGeom>
          <a:solidFill>
            <a:srgbClr val="333333"/>
          </a:solidFill>
          <a:ln/>
        </p:spPr>
      </p:sp>
      <p:sp>
        <p:nvSpPr>
          <p:cNvPr id="15" name="Text 1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6" name="Text 1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000000"/>
                </a:solidFill>
                <a:latin typeface="Arial" pitchFamily="34" charset="0"/>
                <a:ea typeface="Arial" pitchFamily="34" charset="-122"/>
                <a:cs typeface="Arial" pitchFamily="34" charset="-120"/>
              </a:rPr>
              <a:t>EQUITY MARKETS</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AI trade rotated</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Semis are having their best run since 2000 while the Magnificent 7 lag the equal-weight index. Breadth is back — selectively.</a:t>
            </a:r>
            <a:endParaRPr lang="en-US" sz="1350" dirty="0"/>
          </a:p>
        </p:txBody>
      </p:sp>
      <p:sp>
        <p:nvSpPr>
          <p:cNvPr id="6" name="Text 4"/>
          <p:cNvSpPr/>
          <p:nvPr/>
        </p:nvSpPr>
        <p:spPr>
          <a:xfrm>
            <a:off x="457200" y="1417320"/>
            <a:ext cx="822960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Total return, YTD 2026 (%)</a:t>
            </a:r>
            <a:endParaRPr lang="en-US" sz="1400" dirty="0"/>
          </a:p>
        </p:txBody>
      </p:sp>
      <p:sp>
        <p:nvSpPr>
          <p:cNvPr id="7" name="Shape 5"/>
          <p:cNvSpPr/>
          <p:nvPr/>
        </p:nvSpPr>
        <p:spPr>
          <a:xfrm>
            <a:off x="457200" y="1737360"/>
            <a:ext cx="8229600" cy="0"/>
          </a:xfrm>
          <a:prstGeom prst="line">
            <a:avLst/>
          </a:prstGeom>
          <a:noFill/>
          <a:ln w="19050">
            <a:solidFill>
              <a:srgbClr val="000000"/>
            </a:solidFill>
            <a:prstDash val="solid"/>
          </a:ln>
        </p:spPr>
      </p:sp>
      <p:graphicFrame>
        <p:nvGraphicFramePr>
          <p:cNvPr id="8" name="Chart 0" descr=""/>
          <p:cNvGraphicFramePr/>
          <p:nvPr/>
        </p:nvGraphicFramePr>
        <p:xfrm>
          <a:off x="457200" y="1828800"/>
          <a:ext cx="6035040" cy="21488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720840" y="1828800"/>
            <a:ext cx="1965960" cy="2148840"/>
          </a:xfrm>
          <a:prstGeom prst="rect">
            <a:avLst/>
          </a:prstGeom>
          <a:solidFill>
            <a:srgbClr val="333333"/>
          </a:solidFill>
          <a:ln/>
        </p:spPr>
      </p:sp>
      <p:sp>
        <p:nvSpPr>
          <p:cNvPr id="10" name="Text 7"/>
          <p:cNvSpPr/>
          <p:nvPr/>
        </p:nvSpPr>
        <p:spPr>
          <a:xfrm>
            <a:off x="6858000" y="1920240"/>
            <a:ext cx="169164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11" name="Text 8"/>
          <p:cNvSpPr/>
          <p:nvPr/>
        </p:nvSpPr>
        <p:spPr>
          <a:xfrm>
            <a:off x="6858000" y="2194560"/>
            <a:ext cx="1691640" cy="169164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a:t>
            </a:r>
            <a:endParaRPr lang="en-US" sz="1000" dirty="0"/>
          </a:p>
          <a:p>
            <a:pPr indent="0" marL="0">
              <a:buNone/>
            </a:pPr>
            <a:endParaRPr lang="en-US" sz="1000" dirty="0"/>
          </a:p>
          <a:p>
            <a:pPr indent="0" marL="0">
              <a:buNone/>
            </a:pPr>
            <a:r>
              <a:rPr lang="en-US" sz="900" dirty="0">
                <a:solidFill>
                  <a:srgbClr val="CCCCCC"/>
                </a:solidFill>
                <a:latin typeface="Arial" pitchFamily="34" charset="0"/>
                <a:ea typeface="Arial" pitchFamily="34" charset="-122"/>
                <a:cs typeface="Arial" pitchFamily="34" charset="-120"/>
              </a:rPr>
              <a:t>Chips added ~$5.7T of market value this rally; April alone saw the chip index up 35%. Meanwhile equal-weight beats cap-weight — the index broadened even as the AI bet narrowed in sector terms.</a:t>
            </a:r>
            <a:endParaRPr lang="en-US" sz="1000" dirty="0"/>
          </a:p>
        </p:txBody>
      </p:sp>
      <p:sp>
        <p:nvSpPr>
          <p:cNvPr id="12" name="Text 9"/>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YTD total returns through early Jun 2026: stockanalysis.com (SOXX, IGV); slickcharts (S&amp;P, Nasdaq, May 29 close); Morningstar/Yahoo (RSP, MAGS); WSJ ($5.7T chip rally); CNBC (April chip index +35%).</a:t>
            </a:r>
            <a:endParaRPr lang="en-US" sz="700" dirty="0"/>
          </a:p>
        </p:txBody>
      </p:sp>
      <p:sp>
        <p:nvSpPr>
          <p:cNvPr id="13" name="Shape 10"/>
          <p:cNvSpPr/>
          <p:nvPr/>
        </p:nvSpPr>
        <p:spPr>
          <a:xfrm>
            <a:off x="0" y="4526280"/>
            <a:ext cx="9144000" cy="617220"/>
          </a:xfrm>
          <a:prstGeom prst="rect">
            <a:avLst/>
          </a:prstGeom>
          <a:solidFill>
            <a:srgbClr val="333333"/>
          </a:solidFill>
          <a:ln/>
        </p:spPr>
      </p:sp>
      <p:sp>
        <p:nvSpPr>
          <p:cNvPr id="14" name="Text 1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000000"/>
                </a:solidFill>
                <a:latin typeface="Arial" pitchFamily="34" charset="0"/>
                <a:ea typeface="Arial" pitchFamily="34" charset="-122"/>
                <a:cs typeface="Arial" pitchFamily="34" charset="-120"/>
              </a:rPr>
              <a:t>EQUITY MARKETS</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Rich index, uneven expectations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market is paying up for visible AI earnings and de-rating uncertain ones. The spread is the signal, not the average.</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Forward P/E (next 12 months)</a:t>
            </a:r>
            <a:endParaRPr lang="en-US" sz="1400" dirty="0"/>
          </a:p>
        </p:txBody>
      </p:sp>
      <p:sp>
        <p:nvSpPr>
          <p:cNvPr id="7" name="Shape 5"/>
          <p:cNvSpPr/>
          <p:nvPr/>
        </p:nvSpPr>
        <p:spPr>
          <a:xfrm>
            <a:off x="457200" y="173736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828800"/>
          <a:ext cx="393192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The dispersion underneath</a:t>
            </a:r>
            <a:endParaRPr lang="en-US" sz="1400" dirty="0"/>
          </a:p>
        </p:txBody>
      </p:sp>
      <p:sp>
        <p:nvSpPr>
          <p:cNvPr id="10" name="Shape 7"/>
          <p:cNvSpPr/>
          <p:nvPr/>
        </p:nvSpPr>
        <p:spPr>
          <a:xfrm>
            <a:off x="4754880" y="1737360"/>
            <a:ext cx="3931920" cy="0"/>
          </a:xfrm>
          <a:prstGeom prst="line">
            <a:avLst/>
          </a:prstGeom>
          <a:noFill/>
          <a:ln w="19050">
            <a:solidFill>
              <a:srgbClr val="000000"/>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754880" y="1874520"/>
          <a:ext cx="3931920" cy="1554480"/>
        </p:xfrm>
        <a:graphic>
          <a:graphicData uri="http://schemas.openxmlformats.org/drawingml/2006/table">
            <a:tbl>
              <a:tblPr/>
              <a:tblGrid>
                <a:gridCol w="1371600"/>
                <a:gridCol w="2560320"/>
              </a:tblGrid>
              <a:tr h="388620">
                <a:tc>
                  <a:txBody>
                    <a:bodyPr/>
                    <a:lstStyle/>
                    <a:p>
                      <a:pPr indent="0" marL="0">
                        <a:buNone/>
                      </a:pPr>
                      <a:r>
                        <a:rPr lang="en-US" sz="900" b="1" dirty="0">
                          <a:solidFill>
                            <a:srgbClr val="FFFFFF"/>
                          </a:solidFill>
                          <a:latin typeface="Arial" pitchFamily="34" charset="0"/>
                          <a:ea typeface="Arial" pitchFamily="34" charset="-122"/>
                          <a:cs typeface="Arial" pitchFamily="34" charset="-120"/>
                        </a:rPr>
                        <a:t>Segment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What's priced</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388620">
                <a:tc>
                  <a:txBody>
                    <a:bodyPr/>
                    <a:lstStyle/>
                    <a:p>
                      <a:pPr indent="0" marL="0">
                        <a:buNone/>
                      </a:pPr>
                      <a:r>
                        <a:rPr lang="en-US" sz="950" dirty="0">
                          <a:solidFill>
                            <a:srgbClr val="333333"/>
                          </a:solidFill>
                          <a:latin typeface="Arial" pitchFamily="34" charset="0"/>
                          <a:ea typeface="Arial" pitchFamily="34" charset="-122"/>
                          <a:cs typeface="Arial" pitchFamily="34" charset="-120"/>
                        </a:rPr>
                        <a:t>Semis (SOXX)</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00" dirty="0">
                          <a:solidFill>
                            <a:srgbClr val="333333"/>
                          </a:solidFill>
                          <a:latin typeface="Arial" pitchFamily="34" charset="0"/>
                          <a:ea typeface="Arial" pitchFamily="34" charset="-122"/>
                          <a:cs typeface="Arial" pitchFamily="34" charset="-120"/>
                        </a:rPr>
                        <a:t>57x trailing — earnings racing to catch the move</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388620">
                <a:tc>
                  <a:txBody>
                    <a:bodyPr/>
                    <a:lstStyle/>
                    <a:p>
                      <a:pPr indent="0" marL="0">
                        <a:buNone/>
                      </a:pPr>
                      <a:r>
                        <a:rPr lang="en-US" sz="950" dirty="0">
                          <a:solidFill>
                            <a:srgbClr val="333333"/>
                          </a:solidFill>
                          <a:latin typeface="Arial" pitchFamily="34" charset="0"/>
                          <a:ea typeface="Arial" pitchFamily="34" charset="-122"/>
                          <a:cs typeface="Arial" pitchFamily="34" charset="-120"/>
                        </a:rPr>
                        <a:t>Nvidia</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00" dirty="0">
                          <a:solidFill>
                            <a:srgbClr val="333333"/>
                          </a:solidFill>
                          <a:latin typeface="Arial" pitchFamily="34" charset="0"/>
                          <a:ea typeface="Arial" pitchFamily="34" charset="-122"/>
                          <a:cs typeface="Arial" pitchFamily="34" charset="-120"/>
                        </a:rPr>
                        <a:t>~22x forward — megacap multiple, hyperscaler-dependent earnings</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388620">
                <a:tc>
                  <a:txBody>
                    <a:bodyPr/>
                    <a:lstStyle/>
                    <a:p>
                      <a:pPr indent="0" marL="0">
                        <a:buNone/>
                      </a:pPr>
                      <a:r>
                        <a:rPr lang="en-US" sz="950" dirty="0">
                          <a:solidFill>
                            <a:srgbClr val="333333"/>
                          </a:solidFill>
                          <a:latin typeface="Arial" pitchFamily="34" charset="0"/>
                          <a:ea typeface="Arial" pitchFamily="34" charset="-122"/>
                          <a:cs typeface="Arial" pitchFamily="34" charset="-120"/>
                        </a:rPr>
                        <a:t>Software</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00" dirty="0">
                          <a:solidFill>
                            <a:srgbClr val="333333"/>
                          </a:solidFill>
                          <a:latin typeface="Arial" pitchFamily="34" charset="0"/>
                          <a:ea typeface="Arial" pitchFamily="34" charset="-122"/>
                          <a:cs typeface="Arial" pitchFamily="34" charset="-120"/>
                        </a:rPr>
                        <a:t>De-rated to pre-AI-boom levels (Apollo) — disruption discount</a:t>
                      </a:r>
                      <a:endParaRPr lang="en-US" sz="90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2" name="Text 8"/>
          <p:cNvSpPr/>
          <p:nvPr/>
        </p:nvSpPr>
        <p:spPr>
          <a:xfrm>
            <a:off x="4754880" y="3566160"/>
            <a:ext cx="3931920" cy="457200"/>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Neutral read: </a:t>
            </a:r>
            <a:pPr indent="0" marL="0">
              <a:buNone/>
            </a:pPr>
            <a:r>
              <a:rPr lang="en-US" sz="1000" dirty="0">
                <a:solidFill>
                  <a:srgbClr val="333333"/>
                </a:solidFill>
                <a:latin typeface="Arial" pitchFamily="34" charset="0"/>
                <a:ea typeface="Arial" pitchFamily="34" charset="-122"/>
                <a:cs typeface="Arial" pitchFamily="34" charset="-120"/>
              </a:rPr>
              <a:t>nothing here screams 1999 in aggregate — but the index premium assumes the AI earnings stream keeps compounding.</a:t>
            </a:r>
            <a:endParaRPr lang="en-US" sz="1000" dirty="0"/>
          </a:p>
        </p:txBody>
      </p:sp>
      <p:sp>
        <p:nvSpPr>
          <p:cNvPr id="13" name="Text 9"/>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FactSet Earnings Insight (fwd P/E 21.1 vs 19.0 10-yr avg); MacroMicro (tech sector 24.4, May 29); GuruFocus/stockanalysis.com (NVDA fwd ~22x, SOXX trailing 57x); Apollo Daily Spark (software de-rating).</a:t>
            </a:r>
            <a:endParaRPr lang="en-US" sz="700" dirty="0"/>
          </a:p>
        </p:txBody>
      </p:sp>
      <p:sp>
        <p:nvSpPr>
          <p:cNvPr id="14" name="Shape 10"/>
          <p:cNvSpPr/>
          <p:nvPr/>
        </p:nvSpPr>
        <p:spPr>
          <a:xfrm>
            <a:off x="0" y="4526280"/>
            <a:ext cx="9144000" cy="617220"/>
          </a:xfrm>
          <a:prstGeom prst="rect">
            <a:avLst/>
          </a:prstGeom>
          <a:solidFill>
            <a:srgbClr val="333333"/>
          </a:solidFill>
          <a:ln/>
        </p:spPr>
      </p:sp>
      <p:sp>
        <p:nvSpPr>
          <p:cNvPr id="15" name="Text 1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6" name="Text 1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000000"/>
                </a:solidFill>
                <a:latin typeface="Arial" pitchFamily="34" charset="0"/>
                <a:ea typeface="Arial" pitchFamily="34" charset="-122"/>
                <a:cs typeface="Arial" pitchFamily="34" charset="-120"/>
              </a:rPr>
              <a:t>FINANCING</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Capex has outgrown cash flow</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The buildout was self-funded until it wasn't. 2026 is the year the gap opened — and external financing stepped in.</a:t>
            </a:r>
            <a:endParaRPr lang="en-US" sz="1350" dirty="0"/>
          </a:p>
        </p:txBody>
      </p:sp>
      <p:sp>
        <p:nvSpPr>
          <p:cNvPr id="6" name="Shape 4"/>
          <p:cNvSpPr/>
          <p:nvPr/>
        </p:nvSpPr>
        <p:spPr>
          <a:xfrm>
            <a:off x="457200" y="1554480"/>
            <a:ext cx="8229600" cy="1508760"/>
          </a:xfrm>
          <a:prstGeom prst="rect">
            <a:avLst/>
          </a:prstGeom>
          <a:solidFill>
            <a:srgbClr val="333333"/>
          </a:solidFill>
          <a:ln/>
        </p:spPr>
      </p:sp>
      <p:sp>
        <p:nvSpPr>
          <p:cNvPr id="7" name="Text 5"/>
          <p:cNvSpPr/>
          <p:nvPr/>
        </p:nvSpPr>
        <p:spPr>
          <a:xfrm>
            <a:off x="640080" y="1645920"/>
            <a:ext cx="365760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THE CASH MATH, 2026E</a:t>
            </a:r>
            <a:endParaRPr lang="en-US" sz="900" dirty="0"/>
          </a:p>
        </p:txBody>
      </p:sp>
      <p:sp>
        <p:nvSpPr>
          <p:cNvPr id="8" name="Shape 6"/>
          <p:cNvSpPr/>
          <p:nvPr/>
        </p:nvSpPr>
        <p:spPr>
          <a:xfrm>
            <a:off x="640080" y="1938528"/>
            <a:ext cx="1828800" cy="987552"/>
          </a:xfrm>
          <a:prstGeom prst="rect">
            <a:avLst/>
          </a:prstGeom>
          <a:solidFill>
            <a:srgbClr val="444444"/>
          </a:solidFill>
          <a:ln/>
        </p:spPr>
      </p:sp>
      <p:sp>
        <p:nvSpPr>
          <p:cNvPr id="9" name="Shape 7"/>
          <p:cNvSpPr/>
          <p:nvPr/>
        </p:nvSpPr>
        <p:spPr>
          <a:xfrm>
            <a:off x="640080" y="1938528"/>
            <a:ext cx="1828800" cy="45720"/>
          </a:xfrm>
          <a:prstGeom prst="rect">
            <a:avLst/>
          </a:prstGeom>
          <a:solidFill>
            <a:srgbClr val="F6693D"/>
          </a:solidFill>
          <a:ln/>
        </p:spPr>
      </p:sp>
      <p:sp>
        <p:nvSpPr>
          <p:cNvPr id="10" name="Text 8"/>
          <p:cNvSpPr/>
          <p:nvPr/>
        </p:nvSpPr>
        <p:spPr>
          <a:xfrm>
            <a:off x="640080" y="2011680"/>
            <a:ext cx="1828800" cy="365760"/>
          </a:xfrm>
          <a:prstGeom prst="rect">
            <a:avLst/>
          </a:prstGeom>
          <a:noFill/>
          <a:ln/>
        </p:spPr>
        <p:txBody>
          <a:bodyPr wrap="square" lIns="0" tIns="0" rIns="0" bIns="0" rtlCol="0" anchor="ctr"/>
          <a:lstStyle/>
          <a:p>
            <a:pPr algn="ctr" indent="0" marL="0">
              <a:buNone/>
            </a:pPr>
            <a:r>
              <a:rPr lang="en-US" sz="1900" b="1" dirty="0">
                <a:solidFill>
                  <a:srgbClr val="F6693D"/>
                </a:solidFill>
                <a:latin typeface="Arial Black" pitchFamily="34" charset="0"/>
                <a:ea typeface="Arial Black" pitchFamily="34" charset="-122"/>
                <a:cs typeface="Arial Black" pitchFamily="34" charset="-120"/>
              </a:rPr>
              <a:t>~94%</a:t>
            </a:r>
            <a:endParaRPr lang="en-US" sz="1900" dirty="0"/>
          </a:p>
        </p:txBody>
      </p:sp>
      <p:sp>
        <p:nvSpPr>
          <p:cNvPr id="11" name="Text 9"/>
          <p:cNvSpPr/>
          <p:nvPr/>
        </p:nvSpPr>
        <p:spPr>
          <a:xfrm>
            <a:off x="713232" y="2377440"/>
            <a:ext cx="1682496" cy="512064"/>
          </a:xfrm>
          <a:prstGeom prst="rect">
            <a:avLst/>
          </a:prstGeom>
          <a:noFill/>
          <a:ln/>
        </p:spPr>
        <p:txBody>
          <a:bodyPr wrap="square" lIns="0" tIns="0" rIns="0" bIns="0" rtlCol="0" anchor="t"/>
          <a:lstStyle/>
          <a:p>
            <a:pPr algn="ctr" indent="0" marL="0">
              <a:buNone/>
            </a:pPr>
            <a:r>
              <a:rPr lang="en-US" sz="750" dirty="0">
                <a:solidFill>
                  <a:srgbClr val="FFFFFF"/>
                </a:solidFill>
                <a:latin typeface="Arial" pitchFamily="34" charset="0"/>
                <a:ea typeface="Arial" pitchFamily="34" charset="-122"/>
                <a:cs typeface="Arial" pitchFamily="34" charset="-120"/>
              </a:rPr>
              <a:t>of hyperscaler operating cash flow consumed by capex + dividends + buybacks (BofA)</a:t>
            </a:r>
            <a:endParaRPr lang="en-US" sz="750" dirty="0"/>
          </a:p>
        </p:txBody>
      </p:sp>
      <p:sp>
        <p:nvSpPr>
          <p:cNvPr id="12" name="Shape 10"/>
          <p:cNvSpPr/>
          <p:nvPr/>
        </p:nvSpPr>
        <p:spPr>
          <a:xfrm>
            <a:off x="2633472" y="1938528"/>
            <a:ext cx="1828800" cy="987552"/>
          </a:xfrm>
          <a:prstGeom prst="rect">
            <a:avLst/>
          </a:prstGeom>
          <a:solidFill>
            <a:srgbClr val="444444"/>
          </a:solidFill>
          <a:ln/>
        </p:spPr>
      </p:sp>
      <p:sp>
        <p:nvSpPr>
          <p:cNvPr id="13" name="Shape 11"/>
          <p:cNvSpPr/>
          <p:nvPr/>
        </p:nvSpPr>
        <p:spPr>
          <a:xfrm>
            <a:off x="2633472" y="1938528"/>
            <a:ext cx="1828800" cy="45720"/>
          </a:xfrm>
          <a:prstGeom prst="rect">
            <a:avLst/>
          </a:prstGeom>
          <a:solidFill>
            <a:srgbClr val="FFB800"/>
          </a:solidFill>
          <a:ln/>
        </p:spPr>
      </p:sp>
      <p:sp>
        <p:nvSpPr>
          <p:cNvPr id="14" name="Text 12"/>
          <p:cNvSpPr/>
          <p:nvPr/>
        </p:nvSpPr>
        <p:spPr>
          <a:xfrm>
            <a:off x="2633472" y="2011680"/>
            <a:ext cx="1828800" cy="365760"/>
          </a:xfrm>
          <a:prstGeom prst="rect">
            <a:avLst/>
          </a:prstGeom>
          <a:noFill/>
          <a:ln/>
        </p:spPr>
        <p:txBody>
          <a:bodyPr wrap="square" lIns="0" tIns="0" rIns="0" bIns="0" rtlCol="0" anchor="ctr"/>
          <a:lstStyle/>
          <a:p>
            <a:pPr algn="ctr" indent="0" marL="0">
              <a:buNone/>
            </a:pPr>
            <a:r>
              <a:rPr lang="en-US" sz="1900" b="1" dirty="0">
                <a:solidFill>
                  <a:srgbClr val="FFB800"/>
                </a:solidFill>
                <a:latin typeface="Arial Black" pitchFamily="34" charset="0"/>
                <a:ea typeface="Arial Black" pitchFamily="34" charset="-122"/>
                <a:cs typeface="Arial Black" pitchFamily="34" charset="-120"/>
              </a:rPr>
              <a:t>Lowest</a:t>
            </a:r>
            <a:endParaRPr lang="en-US" sz="1900" dirty="0"/>
          </a:p>
        </p:txBody>
      </p:sp>
      <p:sp>
        <p:nvSpPr>
          <p:cNvPr id="15" name="Text 13"/>
          <p:cNvSpPr/>
          <p:nvPr/>
        </p:nvSpPr>
        <p:spPr>
          <a:xfrm>
            <a:off x="2706624" y="2377440"/>
            <a:ext cx="1682496" cy="512064"/>
          </a:xfrm>
          <a:prstGeom prst="rect">
            <a:avLst/>
          </a:prstGeom>
          <a:noFill/>
          <a:ln/>
        </p:spPr>
        <p:txBody>
          <a:bodyPr wrap="square" lIns="0" tIns="0" rIns="0" bIns="0" rtlCol="0" anchor="t"/>
          <a:lstStyle/>
          <a:p>
            <a:pPr algn="ctr" indent="0" marL="0">
              <a:buNone/>
            </a:pPr>
            <a:r>
              <a:rPr lang="en-US" sz="750" dirty="0">
                <a:solidFill>
                  <a:srgbClr val="FFFFFF"/>
                </a:solidFill>
                <a:latin typeface="Arial" pitchFamily="34" charset="0"/>
                <a:ea typeface="Arial" pitchFamily="34" charset="-122"/>
                <a:cs typeface="Arial" pitchFamily="34" charset="-120"/>
              </a:rPr>
              <a:t>Big-4 free cash flow since 2014 — at far larger revenue (CNBC)</a:t>
            </a:r>
            <a:endParaRPr lang="en-US" sz="750" dirty="0"/>
          </a:p>
        </p:txBody>
      </p:sp>
      <p:sp>
        <p:nvSpPr>
          <p:cNvPr id="16" name="Shape 14"/>
          <p:cNvSpPr/>
          <p:nvPr/>
        </p:nvSpPr>
        <p:spPr>
          <a:xfrm>
            <a:off x="4626864" y="1938528"/>
            <a:ext cx="1828800" cy="987552"/>
          </a:xfrm>
          <a:prstGeom prst="rect">
            <a:avLst/>
          </a:prstGeom>
          <a:solidFill>
            <a:srgbClr val="444444"/>
          </a:solidFill>
          <a:ln/>
        </p:spPr>
      </p:sp>
      <p:sp>
        <p:nvSpPr>
          <p:cNvPr id="17" name="Shape 15"/>
          <p:cNvSpPr/>
          <p:nvPr/>
        </p:nvSpPr>
        <p:spPr>
          <a:xfrm>
            <a:off x="4626864" y="1938528"/>
            <a:ext cx="1828800" cy="45720"/>
          </a:xfrm>
          <a:prstGeom prst="rect">
            <a:avLst/>
          </a:prstGeom>
          <a:solidFill>
            <a:srgbClr val="CC0000"/>
          </a:solidFill>
          <a:ln/>
        </p:spPr>
      </p:sp>
      <p:sp>
        <p:nvSpPr>
          <p:cNvPr id="18" name="Text 16"/>
          <p:cNvSpPr/>
          <p:nvPr/>
        </p:nvSpPr>
        <p:spPr>
          <a:xfrm>
            <a:off x="4626864" y="2011680"/>
            <a:ext cx="1828800" cy="365760"/>
          </a:xfrm>
          <a:prstGeom prst="rect">
            <a:avLst/>
          </a:prstGeom>
          <a:noFill/>
          <a:ln/>
        </p:spPr>
        <p:txBody>
          <a:bodyPr wrap="square" lIns="0" tIns="0" rIns="0" bIns="0" rtlCol="0" anchor="ctr"/>
          <a:lstStyle/>
          <a:p>
            <a:pPr algn="ctr" indent="0" marL="0">
              <a:buNone/>
            </a:pPr>
            <a:r>
              <a:rPr lang="en-US" sz="1900" b="1" dirty="0">
                <a:solidFill>
                  <a:srgbClr val="CC0000"/>
                </a:solidFill>
                <a:latin typeface="Arial Black" pitchFamily="34" charset="0"/>
                <a:ea typeface="Arial Black" pitchFamily="34" charset="-122"/>
                <a:cs typeface="Arial Black" pitchFamily="34" charset="-120"/>
              </a:rPr>
              <a:t>&lt; $0</a:t>
            </a:r>
            <a:endParaRPr lang="en-US" sz="1900" dirty="0"/>
          </a:p>
        </p:txBody>
      </p:sp>
      <p:sp>
        <p:nvSpPr>
          <p:cNvPr id="19" name="Text 17"/>
          <p:cNvSpPr/>
          <p:nvPr/>
        </p:nvSpPr>
        <p:spPr>
          <a:xfrm>
            <a:off x="4700016" y="2377440"/>
            <a:ext cx="1682496" cy="512064"/>
          </a:xfrm>
          <a:prstGeom prst="rect">
            <a:avLst/>
          </a:prstGeom>
          <a:noFill/>
          <a:ln/>
        </p:spPr>
        <p:txBody>
          <a:bodyPr wrap="square" lIns="0" tIns="0" rIns="0" bIns="0" rtlCol="0" anchor="t"/>
          <a:lstStyle/>
          <a:p>
            <a:pPr algn="ctr" indent="0" marL="0">
              <a:buNone/>
            </a:pPr>
            <a:r>
              <a:rPr lang="en-US" sz="750" dirty="0">
                <a:solidFill>
                  <a:srgbClr val="FFFFFF"/>
                </a:solidFill>
                <a:latin typeface="Arial" pitchFamily="34" charset="0"/>
                <a:ea typeface="Arial" pitchFamily="34" charset="-122"/>
                <a:cs typeface="Arial" pitchFamily="34" charset="-120"/>
              </a:rPr>
              <a:t>Amazon 2026E FCF: $200B capex vs ~$140B operating cash flow</a:t>
            </a:r>
            <a:endParaRPr lang="en-US" sz="750" dirty="0"/>
          </a:p>
        </p:txBody>
      </p:sp>
      <p:sp>
        <p:nvSpPr>
          <p:cNvPr id="20" name="Shape 18"/>
          <p:cNvSpPr/>
          <p:nvPr/>
        </p:nvSpPr>
        <p:spPr>
          <a:xfrm>
            <a:off x="6620256" y="1938528"/>
            <a:ext cx="1828800" cy="987552"/>
          </a:xfrm>
          <a:prstGeom prst="rect">
            <a:avLst/>
          </a:prstGeom>
          <a:solidFill>
            <a:srgbClr val="444444"/>
          </a:solidFill>
          <a:ln/>
        </p:spPr>
      </p:sp>
      <p:sp>
        <p:nvSpPr>
          <p:cNvPr id="21" name="Shape 19"/>
          <p:cNvSpPr/>
          <p:nvPr/>
        </p:nvSpPr>
        <p:spPr>
          <a:xfrm>
            <a:off x="6620256" y="1938528"/>
            <a:ext cx="1828800" cy="45720"/>
          </a:xfrm>
          <a:prstGeom prst="rect">
            <a:avLst/>
          </a:prstGeom>
          <a:solidFill>
            <a:srgbClr val="E8478D"/>
          </a:solidFill>
          <a:ln/>
        </p:spPr>
      </p:sp>
      <p:sp>
        <p:nvSpPr>
          <p:cNvPr id="22" name="Text 20"/>
          <p:cNvSpPr/>
          <p:nvPr/>
        </p:nvSpPr>
        <p:spPr>
          <a:xfrm>
            <a:off x="6620256" y="2011680"/>
            <a:ext cx="1828800" cy="365760"/>
          </a:xfrm>
          <a:prstGeom prst="rect">
            <a:avLst/>
          </a:prstGeom>
          <a:noFill/>
          <a:ln/>
        </p:spPr>
        <p:txBody>
          <a:bodyPr wrap="square" lIns="0" tIns="0" rIns="0" bIns="0" rtlCol="0" anchor="ctr"/>
          <a:lstStyle/>
          <a:p>
            <a:pPr algn="ctr" indent="0" marL="0">
              <a:buNone/>
            </a:pPr>
            <a:r>
              <a:rPr lang="en-US" sz="1900" b="1" dirty="0">
                <a:solidFill>
                  <a:srgbClr val="E8478D"/>
                </a:solidFill>
                <a:latin typeface="Arial Black" pitchFamily="34" charset="0"/>
                <a:ea typeface="Arial Black" pitchFamily="34" charset="-122"/>
                <a:cs typeface="Arial Black" pitchFamily="34" charset="-120"/>
              </a:rPr>
              <a:t>−90%</a:t>
            </a:r>
            <a:endParaRPr lang="en-US" sz="1900" dirty="0"/>
          </a:p>
        </p:txBody>
      </p:sp>
      <p:sp>
        <p:nvSpPr>
          <p:cNvPr id="23" name="Text 21"/>
          <p:cNvSpPr/>
          <p:nvPr/>
        </p:nvSpPr>
        <p:spPr>
          <a:xfrm>
            <a:off x="6693408" y="2377440"/>
            <a:ext cx="1682496" cy="512064"/>
          </a:xfrm>
          <a:prstGeom prst="rect">
            <a:avLst/>
          </a:prstGeom>
          <a:noFill/>
          <a:ln/>
        </p:spPr>
        <p:txBody>
          <a:bodyPr wrap="square" lIns="0" tIns="0" rIns="0" bIns="0" rtlCol="0" anchor="t"/>
          <a:lstStyle/>
          <a:p>
            <a:pPr algn="ctr" indent="0" marL="0">
              <a:buNone/>
            </a:pPr>
            <a:r>
              <a:rPr lang="en-US" sz="750" dirty="0">
                <a:solidFill>
                  <a:srgbClr val="FFFFFF"/>
                </a:solidFill>
                <a:latin typeface="Arial" pitchFamily="34" charset="0"/>
                <a:ea typeface="Arial" pitchFamily="34" charset="-122"/>
                <a:cs typeface="Arial" pitchFamily="34" charset="-120"/>
              </a:rPr>
              <a:t>Alphabet 2026E FCF decline, to ~$8B; Microsoft −~28%</a:t>
            </a:r>
            <a:endParaRPr lang="en-US" sz="750" dirty="0"/>
          </a:p>
        </p:txBody>
      </p:sp>
      <p:sp>
        <p:nvSpPr>
          <p:cNvPr id="24" name="Shape 22"/>
          <p:cNvSpPr/>
          <p:nvPr/>
        </p:nvSpPr>
        <p:spPr>
          <a:xfrm>
            <a:off x="457200" y="3246120"/>
            <a:ext cx="2697480" cy="685800"/>
          </a:xfrm>
          <a:prstGeom prst="rect">
            <a:avLst/>
          </a:prstGeom>
          <a:solidFill>
            <a:srgbClr val="E5E5E5"/>
          </a:solidFill>
          <a:ln/>
        </p:spPr>
      </p:sp>
      <p:sp>
        <p:nvSpPr>
          <p:cNvPr id="25" name="Text 23"/>
          <p:cNvSpPr/>
          <p:nvPr/>
        </p:nvSpPr>
        <p:spPr>
          <a:xfrm>
            <a:off x="566928" y="3291840"/>
            <a:ext cx="2468880" cy="594360"/>
          </a:xfrm>
          <a:prstGeom prst="rect">
            <a:avLst/>
          </a:prstGeom>
          <a:noFill/>
          <a:ln/>
        </p:spPr>
        <p:txBody>
          <a:bodyPr wrap="square" lIns="0" tIns="0" rIns="0" bIns="0" rtlCol="0" anchor="ctr"/>
          <a:lstStyle/>
          <a:p>
            <a:pPr indent="0" marL="0">
              <a:buNone/>
            </a:pPr>
            <a:r>
              <a:rPr lang="en-US" sz="1050" b="1" dirty="0">
                <a:solidFill>
                  <a:srgbClr val="000000"/>
                </a:solidFill>
                <a:latin typeface="Arial" pitchFamily="34" charset="0"/>
                <a:ea typeface="Arial" pitchFamily="34" charset="-122"/>
                <a:cs typeface="Arial" pitchFamily="34" charset="-120"/>
              </a:rPr>
              <a:t>1. Internal cash</a:t>
            </a:r>
            <a:endParaRPr lang="en-US" sz="1050" dirty="0"/>
          </a:p>
          <a:p>
            <a:pPr indent="0" marL="0">
              <a:buNone/>
            </a:pPr>
            <a:r>
              <a:rPr lang="en-US" sz="850" dirty="0">
                <a:solidFill>
                  <a:srgbClr val="000000"/>
                </a:solidFill>
                <a:latin typeface="Arial" pitchFamily="34" charset="0"/>
                <a:ea typeface="Arial" pitchFamily="34" charset="-122"/>
                <a:cs typeface="Arial" pitchFamily="34" charset="-120"/>
              </a:rPr>
              <a:t>Still the base layer — but fully spoken for</a:t>
            </a:r>
            <a:endParaRPr lang="en-US" sz="1050" dirty="0"/>
          </a:p>
        </p:txBody>
      </p:sp>
      <p:sp>
        <p:nvSpPr>
          <p:cNvPr id="26" name="Shape 24"/>
          <p:cNvSpPr/>
          <p:nvPr/>
        </p:nvSpPr>
        <p:spPr>
          <a:xfrm>
            <a:off x="3246120" y="3246120"/>
            <a:ext cx="2697480" cy="685800"/>
          </a:xfrm>
          <a:prstGeom prst="rect">
            <a:avLst/>
          </a:prstGeom>
          <a:solidFill>
            <a:srgbClr val="F6693D"/>
          </a:solidFill>
          <a:ln/>
        </p:spPr>
      </p:sp>
      <p:sp>
        <p:nvSpPr>
          <p:cNvPr id="27" name="Text 25"/>
          <p:cNvSpPr/>
          <p:nvPr/>
        </p:nvSpPr>
        <p:spPr>
          <a:xfrm>
            <a:off x="3355848" y="3291840"/>
            <a:ext cx="2468880" cy="594360"/>
          </a:xfrm>
          <a:prstGeom prst="rect">
            <a:avLst/>
          </a:prstGeom>
          <a:noFill/>
          <a:ln/>
        </p:spPr>
        <p:txBody>
          <a:bodyPr wrap="square" lIns="0" tIns="0" rIns="0" bIns="0" rtlCol="0" anchor="ctr"/>
          <a:lstStyle/>
          <a:p>
            <a:pPr indent="0" marL="0">
              <a:buNone/>
            </a:pPr>
            <a:r>
              <a:rPr lang="en-US" sz="1050" b="1" dirty="0">
                <a:solidFill>
                  <a:srgbClr val="000000"/>
                </a:solidFill>
                <a:latin typeface="Arial" pitchFamily="34" charset="0"/>
                <a:ea typeface="Arial" pitchFamily="34" charset="-122"/>
                <a:cs typeface="Arial" pitchFamily="34" charset="-120"/>
              </a:rPr>
              <a:t>2. Bond markets</a:t>
            </a:r>
            <a:endParaRPr lang="en-US" sz="1050" dirty="0"/>
          </a:p>
          <a:p>
            <a:pPr indent="0" marL="0">
              <a:buNone/>
            </a:pPr>
            <a:r>
              <a:rPr lang="en-US" sz="850" dirty="0">
                <a:solidFill>
                  <a:srgbClr val="000000"/>
                </a:solidFill>
                <a:latin typeface="Arial" pitchFamily="34" charset="0"/>
                <a:ea typeface="Arial" pitchFamily="34" charset="-122"/>
                <a:cs typeface="Arial" pitchFamily="34" charset="-120"/>
              </a:rPr>
              <a:t>IG mega-deals; ~$300B AI-linked supply expected in 2026</a:t>
            </a:r>
            <a:endParaRPr lang="en-US" sz="1050" dirty="0"/>
          </a:p>
        </p:txBody>
      </p:sp>
      <p:sp>
        <p:nvSpPr>
          <p:cNvPr id="28" name="Shape 26"/>
          <p:cNvSpPr/>
          <p:nvPr/>
        </p:nvSpPr>
        <p:spPr>
          <a:xfrm>
            <a:off x="6035040" y="3246120"/>
            <a:ext cx="2697480" cy="685800"/>
          </a:xfrm>
          <a:prstGeom prst="rect">
            <a:avLst/>
          </a:prstGeom>
          <a:solidFill>
            <a:srgbClr val="333333"/>
          </a:solidFill>
          <a:ln/>
        </p:spPr>
      </p:sp>
      <p:sp>
        <p:nvSpPr>
          <p:cNvPr id="29" name="Text 27"/>
          <p:cNvSpPr/>
          <p:nvPr/>
        </p:nvSpPr>
        <p:spPr>
          <a:xfrm>
            <a:off x="6144768" y="3291840"/>
            <a:ext cx="2468880" cy="594360"/>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3. Off balance sheet</a:t>
            </a:r>
            <a:endParaRPr lang="en-US" sz="1050" dirty="0"/>
          </a:p>
          <a:p>
            <a:pPr indent="0" marL="0">
              <a:buNone/>
            </a:pPr>
            <a:r>
              <a:rPr lang="en-US" sz="850" dirty="0">
                <a:solidFill>
                  <a:srgbClr val="FFFFFF"/>
                </a:solidFill>
                <a:latin typeface="Arial" pitchFamily="34" charset="0"/>
                <a:ea typeface="Arial" pitchFamily="34" charset="-122"/>
                <a:cs typeface="Arial" pitchFamily="34" charset="-120"/>
              </a:rPr>
              <a:t>SPVs, JVs, vendor financing &amp; leases — less visible leverage</a:t>
            </a:r>
            <a:endParaRPr lang="en-US" sz="1050" dirty="0"/>
          </a:p>
        </p:txBody>
      </p:sp>
      <p:sp>
        <p:nvSpPr>
          <p:cNvPr id="30" name="Text 28"/>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BofA via Breckinridge (94% of op. cash flow); CNBC (Feb 6, 2026); techtimes/beincrypto FCF estimates (Amazon, Alphabet, Microsoft); UBS/Barclays issuance forecasts via Reuters.</a:t>
            </a:r>
            <a:endParaRPr lang="en-US" sz="700" dirty="0"/>
          </a:p>
        </p:txBody>
      </p:sp>
      <p:sp>
        <p:nvSpPr>
          <p:cNvPr id="31" name="Shape 29"/>
          <p:cNvSpPr/>
          <p:nvPr/>
        </p:nvSpPr>
        <p:spPr>
          <a:xfrm>
            <a:off x="0" y="4526280"/>
            <a:ext cx="9144000" cy="617220"/>
          </a:xfrm>
          <a:prstGeom prst="rect">
            <a:avLst/>
          </a:prstGeom>
          <a:solidFill>
            <a:srgbClr val="333333"/>
          </a:solidFill>
          <a:ln/>
        </p:spPr>
      </p:sp>
      <p:sp>
        <p:nvSpPr>
          <p:cNvPr id="32" name="Text 30"/>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3" name="Text 31"/>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000000"/>
                </a:solidFill>
                <a:latin typeface="Arial" pitchFamily="34" charset="0"/>
                <a:ea typeface="Arial" pitchFamily="34" charset="-122"/>
                <a:cs typeface="Arial" pitchFamily="34" charset="-120"/>
              </a:rPr>
              <a:t>FINANCING</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AI came to the bond market</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Nine months of mega-deals created a new IG supply complex — and credit markets are now pricing AI risk in real time.</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The issuance ledger</a:t>
            </a:r>
            <a:endParaRPr lang="en-US" sz="1400" dirty="0"/>
          </a:p>
        </p:txBody>
      </p:sp>
      <p:sp>
        <p:nvSpPr>
          <p:cNvPr id="7" name="Shape 5"/>
          <p:cNvSpPr/>
          <p:nvPr/>
        </p:nvSpPr>
        <p:spPr>
          <a:xfrm>
            <a:off x="457200" y="1737360"/>
            <a:ext cx="3931920" cy="0"/>
          </a:xfrm>
          <a:prstGeom prst="line">
            <a:avLst/>
          </a:prstGeom>
          <a:noFill/>
          <a:ln w="19050">
            <a:solidFill>
              <a:srgbClr val="000000"/>
            </a:solidFill>
            <a:prstDash val="solid"/>
          </a:ln>
        </p:spPr>
      </p:sp>
      <p:sp>
        <p:nvSpPr>
          <p:cNvPr id="8" name="Text 6"/>
          <p:cNvSpPr/>
          <p:nvPr/>
        </p:nvSpPr>
        <p:spPr>
          <a:xfrm>
            <a:off x="457200" y="1874520"/>
            <a:ext cx="960120" cy="365760"/>
          </a:xfrm>
          <a:prstGeom prst="rect">
            <a:avLst/>
          </a:prstGeom>
          <a:noFill/>
          <a:ln/>
        </p:spPr>
        <p:txBody>
          <a:bodyPr wrap="square" lIns="0" tIns="0" rIns="0" bIns="0" rtlCol="0" anchor="ctr"/>
          <a:lstStyle/>
          <a:p>
            <a:pPr algn="r" indent="0" marL="0">
              <a:buNone/>
            </a:pPr>
            <a:r>
              <a:rPr lang="en-US" sz="1700" b="1" dirty="0">
                <a:solidFill>
                  <a:srgbClr val="F6693D"/>
                </a:solidFill>
                <a:latin typeface="Arial Black" pitchFamily="34" charset="0"/>
                <a:ea typeface="Arial Black" pitchFamily="34" charset="-122"/>
                <a:cs typeface="Arial Black" pitchFamily="34" charset="-120"/>
              </a:rPr>
              <a:t>$18B</a:t>
            </a:r>
            <a:endParaRPr lang="en-US" sz="1700" dirty="0"/>
          </a:p>
        </p:txBody>
      </p:sp>
      <p:sp>
        <p:nvSpPr>
          <p:cNvPr id="9" name="Text 7"/>
          <p:cNvSpPr/>
          <p:nvPr/>
        </p:nvSpPr>
        <p:spPr>
          <a:xfrm>
            <a:off x="1554480" y="1901952"/>
            <a:ext cx="2834640" cy="365760"/>
          </a:xfrm>
          <a:prstGeom prst="rect">
            <a:avLst/>
          </a:prstGeom>
          <a:noFill/>
          <a:ln/>
        </p:spPr>
        <p:txBody>
          <a:bodyPr wrap="square" lIns="0" tIns="0" rIns="0" bIns="0" rtlCol="0" anchor="t"/>
          <a:lstStyle/>
          <a:p>
            <a:pPr indent="0" marL="0">
              <a:buNone/>
            </a:pPr>
            <a:r>
              <a:rPr lang="en-US" sz="900" dirty="0">
                <a:solidFill>
                  <a:srgbClr val="333333"/>
                </a:solidFill>
                <a:latin typeface="Arial" pitchFamily="34" charset="0"/>
                <a:ea typeface="Arial" pitchFamily="34" charset="-122"/>
                <a:cs typeface="Arial" pitchFamily="34" charset="-120"/>
              </a:rPr>
              <a:t>Oracle — Sep 2025; its 5-yr CDS has roughly tripled since</a:t>
            </a:r>
            <a:endParaRPr lang="en-US" sz="900" dirty="0"/>
          </a:p>
        </p:txBody>
      </p:sp>
      <p:sp>
        <p:nvSpPr>
          <p:cNvPr id="10" name="Text 8"/>
          <p:cNvSpPr/>
          <p:nvPr/>
        </p:nvSpPr>
        <p:spPr>
          <a:xfrm>
            <a:off x="457200" y="2295144"/>
            <a:ext cx="960120" cy="365760"/>
          </a:xfrm>
          <a:prstGeom prst="rect">
            <a:avLst/>
          </a:prstGeom>
          <a:noFill/>
          <a:ln/>
        </p:spPr>
        <p:txBody>
          <a:bodyPr wrap="square" lIns="0" tIns="0" rIns="0" bIns="0" rtlCol="0" anchor="ctr"/>
          <a:lstStyle/>
          <a:p>
            <a:pPr algn="r" indent="0" marL="0">
              <a:buNone/>
            </a:pPr>
            <a:r>
              <a:rPr lang="en-US" sz="1700" b="1" dirty="0">
                <a:solidFill>
                  <a:srgbClr val="F6693D"/>
                </a:solidFill>
                <a:latin typeface="Arial Black" pitchFamily="34" charset="0"/>
                <a:ea typeface="Arial Black" pitchFamily="34" charset="-122"/>
                <a:cs typeface="Arial Black" pitchFamily="34" charset="-120"/>
              </a:rPr>
              <a:t>$30B</a:t>
            </a:r>
            <a:endParaRPr lang="en-US" sz="1700" dirty="0"/>
          </a:p>
        </p:txBody>
      </p:sp>
      <p:sp>
        <p:nvSpPr>
          <p:cNvPr id="11" name="Text 9"/>
          <p:cNvSpPr/>
          <p:nvPr/>
        </p:nvSpPr>
        <p:spPr>
          <a:xfrm>
            <a:off x="1554480" y="2322576"/>
            <a:ext cx="2834640" cy="365760"/>
          </a:xfrm>
          <a:prstGeom prst="rect">
            <a:avLst/>
          </a:prstGeom>
          <a:noFill/>
          <a:ln/>
        </p:spPr>
        <p:txBody>
          <a:bodyPr wrap="square" lIns="0" tIns="0" rIns="0" bIns="0" rtlCol="0" anchor="t"/>
          <a:lstStyle/>
          <a:p>
            <a:pPr indent="0" marL="0">
              <a:buNone/>
            </a:pPr>
            <a:r>
              <a:rPr lang="en-US" sz="900" dirty="0">
                <a:solidFill>
                  <a:srgbClr val="333333"/>
                </a:solidFill>
                <a:latin typeface="Arial" pitchFamily="34" charset="0"/>
                <a:ea typeface="Arial" pitchFamily="34" charset="-122"/>
                <a:cs typeface="Arial" pitchFamily="34" charset="-120"/>
              </a:rPr>
              <a:t>Meta — Oct 2025; largest non-M&amp;A IG deal on record</a:t>
            </a:r>
            <a:endParaRPr lang="en-US" sz="900" dirty="0"/>
          </a:p>
        </p:txBody>
      </p:sp>
      <p:sp>
        <p:nvSpPr>
          <p:cNvPr id="12" name="Text 10"/>
          <p:cNvSpPr/>
          <p:nvPr/>
        </p:nvSpPr>
        <p:spPr>
          <a:xfrm>
            <a:off x="457200" y="2715768"/>
            <a:ext cx="960120" cy="365760"/>
          </a:xfrm>
          <a:prstGeom prst="rect">
            <a:avLst/>
          </a:prstGeom>
          <a:noFill/>
          <a:ln/>
        </p:spPr>
        <p:txBody>
          <a:bodyPr wrap="square" lIns="0" tIns="0" rIns="0" bIns="0" rtlCol="0" anchor="ctr"/>
          <a:lstStyle/>
          <a:p>
            <a:pPr algn="r" indent="0" marL="0">
              <a:buNone/>
            </a:pPr>
            <a:r>
              <a:rPr lang="en-US" sz="1700" b="1" dirty="0">
                <a:solidFill>
                  <a:srgbClr val="F6693D"/>
                </a:solidFill>
                <a:latin typeface="Arial Black" pitchFamily="34" charset="0"/>
                <a:ea typeface="Arial Black" pitchFamily="34" charset="-122"/>
                <a:cs typeface="Arial Black" pitchFamily="34" charset="-120"/>
              </a:rPr>
              <a:t>$17.5B</a:t>
            </a:r>
            <a:endParaRPr lang="en-US" sz="1700" dirty="0"/>
          </a:p>
        </p:txBody>
      </p:sp>
      <p:sp>
        <p:nvSpPr>
          <p:cNvPr id="13" name="Text 11"/>
          <p:cNvSpPr/>
          <p:nvPr/>
        </p:nvSpPr>
        <p:spPr>
          <a:xfrm>
            <a:off x="1554480" y="2743200"/>
            <a:ext cx="2834640" cy="365760"/>
          </a:xfrm>
          <a:prstGeom prst="rect">
            <a:avLst/>
          </a:prstGeom>
          <a:noFill/>
          <a:ln/>
        </p:spPr>
        <p:txBody>
          <a:bodyPr wrap="square" lIns="0" tIns="0" rIns="0" bIns="0" rtlCol="0" anchor="t"/>
          <a:lstStyle/>
          <a:p>
            <a:pPr indent="0" marL="0">
              <a:buNone/>
            </a:pPr>
            <a:r>
              <a:rPr lang="en-US" sz="900" dirty="0">
                <a:solidFill>
                  <a:srgbClr val="333333"/>
                </a:solidFill>
                <a:latin typeface="Arial" pitchFamily="34" charset="0"/>
                <a:ea typeface="Arial" pitchFamily="34" charset="-122"/>
                <a:cs typeface="Arial" pitchFamily="34" charset="-120"/>
              </a:rPr>
              <a:t>Alphabet — Nov 2025, incl. long-dated tranches</a:t>
            </a:r>
            <a:endParaRPr lang="en-US" sz="900" dirty="0"/>
          </a:p>
        </p:txBody>
      </p:sp>
      <p:sp>
        <p:nvSpPr>
          <p:cNvPr id="14" name="Text 12"/>
          <p:cNvSpPr/>
          <p:nvPr/>
        </p:nvSpPr>
        <p:spPr>
          <a:xfrm>
            <a:off x="457200" y="3136392"/>
            <a:ext cx="960120" cy="365760"/>
          </a:xfrm>
          <a:prstGeom prst="rect">
            <a:avLst/>
          </a:prstGeom>
          <a:noFill/>
          <a:ln/>
        </p:spPr>
        <p:txBody>
          <a:bodyPr wrap="square" lIns="0" tIns="0" rIns="0" bIns="0" rtlCol="0" anchor="ctr"/>
          <a:lstStyle/>
          <a:p>
            <a:pPr algn="r" indent="0" marL="0">
              <a:buNone/>
            </a:pPr>
            <a:r>
              <a:rPr lang="en-US" sz="1700" b="1" dirty="0">
                <a:solidFill>
                  <a:srgbClr val="F6693D"/>
                </a:solidFill>
                <a:latin typeface="Arial Black" pitchFamily="34" charset="0"/>
                <a:ea typeface="Arial Black" pitchFamily="34" charset="-122"/>
                <a:cs typeface="Arial Black" pitchFamily="34" charset="-120"/>
              </a:rPr>
              <a:t>$15B</a:t>
            </a:r>
            <a:endParaRPr lang="en-US" sz="1700" dirty="0"/>
          </a:p>
        </p:txBody>
      </p:sp>
      <p:sp>
        <p:nvSpPr>
          <p:cNvPr id="15" name="Text 13"/>
          <p:cNvSpPr/>
          <p:nvPr/>
        </p:nvSpPr>
        <p:spPr>
          <a:xfrm>
            <a:off x="1554480" y="3163824"/>
            <a:ext cx="2834640" cy="365760"/>
          </a:xfrm>
          <a:prstGeom prst="rect">
            <a:avLst/>
          </a:prstGeom>
          <a:noFill/>
          <a:ln/>
        </p:spPr>
        <p:txBody>
          <a:bodyPr wrap="square" lIns="0" tIns="0" rIns="0" bIns="0" rtlCol="0" anchor="t"/>
          <a:lstStyle/>
          <a:p>
            <a:pPr indent="0" marL="0">
              <a:buNone/>
            </a:pPr>
            <a:r>
              <a:rPr lang="en-US" sz="900" dirty="0">
                <a:solidFill>
                  <a:srgbClr val="333333"/>
                </a:solidFill>
                <a:latin typeface="Arial" pitchFamily="34" charset="0"/>
                <a:ea typeface="Arial" pitchFamily="34" charset="-122"/>
                <a:cs typeface="Arial" pitchFamily="34" charset="-120"/>
              </a:rPr>
              <a:t>Amazon — Nov 2025</a:t>
            </a:r>
            <a:endParaRPr lang="en-US" sz="900" dirty="0"/>
          </a:p>
        </p:txBody>
      </p:sp>
      <p:sp>
        <p:nvSpPr>
          <p:cNvPr id="16" name="Text 14"/>
          <p:cNvSpPr/>
          <p:nvPr/>
        </p:nvSpPr>
        <p:spPr>
          <a:xfrm>
            <a:off x="457200" y="3557016"/>
            <a:ext cx="960120" cy="365760"/>
          </a:xfrm>
          <a:prstGeom prst="rect">
            <a:avLst/>
          </a:prstGeom>
          <a:noFill/>
          <a:ln/>
        </p:spPr>
        <p:txBody>
          <a:bodyPr wrap="square" lIns="0" tIns="0" rIns="0" bIns="0" rtlCol="0" anchor="ctr"/>
          <a:lstStyle/>
          <a:p>
            <a:pPr algn="r" indent="0" marL="0">
              <a:buNone/>
            </a:pPr>
            <a:r>
              <a:rPr lang="en-US" sz="1700" b="1" dirty="0">
                <a:solidFill>
                  <a:srgbClr val="F6693D"/>
                </a:solidFill>
                <a:latin typeface="Arial Black" pitchFamily="34" charset="0"/>
                <a:ea typeface="Arial Black" pitchFamily="34" charset="-122"/>
                <a:cs typeface="Arial Black" pitchFamily="34" charset="-120"/>
              </a:rPr>
              <a:t>$25B</a:t>
            </a:r>
            <a:endParaRPr lang="en-US" sz="1700" dirty="0"/>
          </a:p>
        </p:txBody>
      </p:sp>
      <p:sp>
        <p:nvSpPr>
          <p:cNvPr id="17" name="Text 15"/>
          <p:cNvSpPr/>
          <p:nvPr/>
        </p:nvSpPr>
        <p:spPr>
          <a:xfrm>
            <a:off x="1554480" y="3584448"/>
            <a:ext cx="2834640" cy="365760"/>
          </a:xfrm>
          <a:prstGeom prst="rect">
            <a:avLst/>
          </a:prstGeom>
          <a:noFill/>
          <a:ln/>
        </p:spPr>
        <p:txBody>
          <a:bodyPr wrap="square" lIns="0" tIns="0" rIns="0" bIns="0" rtlCol="0" anchor="t"/>
          <a:lstStyle/>
          <a:p>
            <a:pPr indent="0" marL="0">
              <a:buNone/>
            </a:pPr>
            <a:r>
              <a:rPr lang="en-US" sz="900" dirty="0">
                <a:solidFill>
                  <a:srgbClr val="333333"/>
                </a:solidFill>
                <a:latin typeface="Arial" pitchFamily="34" charset="0"/>
                <a:ea typeface="Arial" pitchFamily="34" charset="-122"/>
                <a:cs typeface="Arial" pitchFamily="34" charset="-120"/>
              </a:rPr>
              <a:t>Oracle again — Feb 2026, eight tranches</a:t>
            </a:r>
            <a:endParaRPr lang="en-US" sz="900" dirty="0"/>
          </a:p>
        </p:txBody>
      </p:sp>
      <p:sp>
        <p:nvSpPr>
          <p:cNvPr id="18" name="Text 1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What it signals</a:t>
            </a:r>
            <a:endParaRPr lang="en-US" sz="1400" dirty="0"/>
          </a:p>
        </p:txBody>
      </p:sp>
      <p:sp>
        <p:nvSpPr>
          <p:cNvPr id="19" name="Shape 17"/>
          <p:cNvSpPr/>
          <p:nvPr/>
        </p:nvSpPr>
        <p:spPr>
          <a:xfrm>
            <a:off x="4754880" y="1737360"/>
            <a:ext cx="3931920" cy="0"/>
          </a:xfrm>
          <a:prstGeom prst="line">
            <a:avLst/>
          </a:prstGeom>
          <a:noFill/>
          <a:ln w="19050">
            <a:solidFill>
              <a:srgbClr val="000000"/>
            </a:solidFill>
            <a:prstDash val="solid"/>
          </a:ln>
        </p:spPr>
      </p:sp>
      <p:sp>
        <p:nvSpPr>
          <p:cNvPr id="20" name="Shape 18"/>
          <p:cNvSpPr/>
          <p:nvPr/>
        </p:nvSpPr>
        <p:spPr>
          <a:xfrm>
            <a:off x="4754880" y="1874520"/>
            <a:ext cx="64008" cy="640080"/>
          </a:xfrm>
          <a:prstGeom prst="rect">
            <a:avLst/>
          </a:prstGeom>
          <a:solidFill>
            <a:srgbClr val="F6693D"/>
          </a:solidFill>
          <a:ln/>
        </p:spPr>
      </p:sp>
      <p:sp>
        <p:nvSpPr>
          <p:cNvPr id="21" name="Text 19"/>
          <p:cNvSpPr/>
          <p:nvPr/>
        </p:nvSpPr>
        <p:spPr>
          <a:xfrm>
            <a:off x="4910328" y="1874520"/>
            <a:ext cx="3776472" cy="694944"/>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Scale: ~$300B</a:t>
            </a:r>
            <a:endParaRPr lang="en-US" sz="1000" dirty="0"/>
          </a:p>
          <a:p>
            <a:pPr indent="0" marL="0">
              <a:buNone/>
            </a:pPr>
            <a:r>
              <a:rPr lang="en-US" sz="850" dirty="0">
                <a:solidFill>
                  <a:srgbClr val="333333"/>
                </a:solidFill>
                <a:latin typeface="Arial" pitchFamily="34" charset="0"/>
                <a:ea typeface="Arial" pitchFamily="34" charset="-122"/>
                <a:cs typeface="Arial" pitchFamily="34" charset="-120"/>
              </a:rPr>
              <a:t>of AI-related IG supply expected in 2026 (street estimates); hyperscaler public debt ~$230–240B (UBS). Total IG supply seen at a record ~$2.5T (Barclays).</a:t>
            </a:r>
            <a:endParaRPr lang="en-US" sz="1000" dirty="0"/>
          </a:p>
        </p:txBody>
      </p:sp>
      <p:sp>
        <p:nvSpPr>
          <p:cNvPr id="22" name="Shape 20"/>
          <p:cNvSpPr/>
          <p:nvPr/>
        </p:nvSpPr>
        <p:spPr>
          <a:xfrm>
            <a:off x="4754880" y="2587752"/>
            <a:ext cx="64008" cy="640080"/>
          </a:xfrm>
          <a:prstGeom prst="rect">
            <a:avLst/>
          </a:prstGeom>
          <a:solidFill>
            <a:srgbClr val="F6693D"/>
          </a:solidFill>
          <a:ln/>
        </p:spPr>
      </p:sp>
      <p:sp>
        <p:nvSpPr>
          <p:cNvPr id="23" name="Text 21"/>
          <p:cNvSpPr/>
          <p:nvPr/>
        </p:nvSpPr>
        <p:spPr>
          <a:xfrm>
            <a:off x="4910328" y="2587752"/>
            <a:ext cx="3776472" cy="694944"/>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Credit: watching Oracle</a:t>
            </a:r>
            <a:endParaRPr lang="en-US" sz="1000" dirty="0"/>
          </a:p>
          <a:p>
            <a:pPr indent="0" marL="0">
              <a:buNone/>
            </a:pPr>
            <a:r>
              <a:rPr lang="en-US" sz="850" dirty="0">
                <a:solidFill>
                  <a:srgbClr val="333333"/>
                </a:solidFill>
                <a:latin typeface="Arial" pitchFamily="34" charset="0"/>
                <a:ea typeface="Arial" pitchFamily="34" charset="-122"/>
                <a:cs typeface="Arial" pitchFamily="34" charset="-120"/>
              </a:rPr>
              <a:t>5-yr CDS above ~125bp — crisis-era levels — despite IG ratings (Baa2). Most issuers remain lightly levered: ~0.4–0.7x vs ~3x IG average.</a:t>
            </a:r>
            <a:endParaRPr lang="en-US" sz="1000" dirty="0"/>
          </a:p>
        </p:txBody>
      </p:sp>
      <p:sp>
        <p:nvSpPr>
          <p:cNvPr id="24" name="Shape 22"/>
          <p:cNvSpPr/>
          <p:nvPr/>
        </p:nvSpPr>
        <p:spPr>
          <a:xfrm>
            <a:off x="4754880" y="3300984"/>
            <a:ext cx="64008" cy="640080"/>
          </a:xfrm>
          <a:prstGeom prst="rect">
            <a:avLst/>
          </a:prstGeom>
          <a:solidFill>
            <a:srgbClr val="F6693D"/>
          </a:solidFill>
          <a:ln/>
        </p:spPr>
      </p:sp>
      <p:sp>
        <p:nvSpPr>
          <p:cNvPr id="25" name="Text 23"/>
          <p:cNvSpPr/>
          <p:nvPr/>
        </p:nvSpPr>
        <p:spPr>
          <a:xfrm>
            <a:off x="4910328" y="3300984"/>
            <a:ext cx="3776472" cy="694944"/>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Equity link</a:t>
            </a:r>
            <a:endParaRPr lang="en-US" sz="1000" dirty="0"/>
          </a:p>
          <a:p>
            <a:pPr indent="0" marL="0">
              <a:buNone/>
            </a:pPr>
            <a:r>
              <a:rPr lang="en-US" sz="850" dirty="0">
                <a:solidFill>
                  <a:srgbClr val="333333"/>
                </a:solidFill>
                <a:latin typeface="Arial" pitchFamily="34" charset="0"/>
                <a:ea typeface="Arial" pitchFamily="34" charset="-122"/>
                <a:cs typeface="Arial" pitchFamily="34" charset="-120"/>
              </a:rPr>
              <a:t>Debt-funded capex shifts who bears AI disappointment risk. Credit spreads are now a live early-warning gauge for AI equities.</a:t>
            </a:r>
            <a:endParaRPr lang="en-US" sz="1000" dirty="0"/>
          </a:p>
        </p:txBody>
      </p:sp>
      <p:sp>
        <p:nvSpPr>
          <p:cNvPr id="26" name="Text 24"/>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Deal record: Mawer, M&amp;G, Fortune, CNBC (Feb 2026); CDS: MUFG via CNBC, Fortune (Feb 2026); supply forecasts: UBS &amp; Barclays via Reuters (Jan 2026); leverage: Breckinridge.</a:t>
            </a:r>
            <a:endParaRPr lang="en-US" sz="700" dirty="0"/>
          </a:p>
        </p:txBody>
      </p:sp>
      <p:sp>
        <p:nvSpPr>
          <p:cNvPr id="27" name="Shape 25"/>
          <p:cNvSpPr/>
          <p:nvPr/>
        </p:nvSpPr>
        <p:spPr>
          <a:xfrm>
            <a:off x="0" y="4526280"/>
            <a:ext cx="9144000" cy="617220"/>
          </a:xfrm>
          <a:prstGeom prst="rect">
            <a:avLst/>
          </a:prstGeom>
          <a:solidFill>
            <a:srgbClr val="333333"/>
          </a:solidFill>
          <a:ln/>
        </p:spPr>
      </p:sp>
      <p:sp>
        <p:nvSpPr>
          <p:cNvPr id="28" name="Text 2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9" name="Text 2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Arial" pitchFamily="34" charset="0"/>
                <a:ea typeface="Arial" pitchFamily="34" charset="-122"/>
                <a:cs typeface="Arial" pitchFamily="34" charset="-120"/>
              </a:rPr>
              <a:t>PORTFOLIO</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Your index fund is an AI fund now</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passive S&amp;P 500 allocation carries an embedded, undiversified AI position that no one sized deliberately.</a:t>
            </a:r>
            <a:endParaRPr lang="en-US" sz="1350" dirty="0"/>
          </a:p>
        </p:txBody>
      </p:sp>
      <p:sp>
        <p:nvSpPr>
          <p:cNvPr id="6" name="Text 4"/>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Where $100 of S&amp;P 500 exposure sits</a:t>
            </a:r>
            <a:endParaRPr lang="en-US" sz="1400" dirty="0"/>
          </a:p>
        </p:txBody>
      </p:sp>
      <p:sp>
        <p:nvSpPr>
          <p:cNvPr id="7" name="Shape 5"/>
          <p:cNvSpPr/>
          <p:nvPr/>
        </p:nvSpPr>
        <p:spPr>
          <a:xfrm>
            <a:off x="457200" y="1737360"/>
            <a:ext cx="3931920" cy="0"/>
          </a:xfrm>
          <a:prstGeom prst="line">
            <a:avLst/>
          </a:prstGeom>
          <a:noFill/>
          <a:ln w="19050">
            <a:solidFill>
              <a:srgbClr val="000000"/>
            </a:solidFill>
            <a:prstDash val="solid"/>
          </a:ln>
        </p:spPr>
      </p:sp>
      <p:graphicFrame>
        <p:nvGraphicFramePr>
          <p:cNvPr id="8" name="Chart 0" descr=""/>
          <p:cNvGraphicFramePr/>
          <p:nvPr/>
        </p:nvGraphicFramePr>
        <p:xfrm>
          <a:off x="457200" y="1783080"/>
          <a:ext cx="3931920" cy="2194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75488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Why it matters</a:t>
            </a:r>
            <a:endParaRPr lang="en-US" sz="1400" dirty="0"/>
          </a:p>
        </p:txBody>
      </p:sp>
      <p:sp>
        <p:nvSpPr>
          <p:cNvPr id="10" name="Shape 7"/>
          <p:cNvSpPr/>
          <p:nvPr/>
        </p:nvSpPr>
        <p:spPr>
          <a:xfrm>
            <a:off x="4754880" y="1737360"/>
            <a:ext cx="3931920" cy="0"/>
          </a:xfrm>
          <a:prstGeom prst="line">
            <a:avLst/>
          </a:prstGeom>
          <a:noFill/>
          <a:ln w="19050">
            <a:solidFill>
              <a:srgbClr val="000000"/>
            </a:solidFill>
            <a:prstDash val="solid"/>
          </a:ln>
        </p:spPr>
      </p:sp>
      <p:sp>
        <p:nvSpPr>
          <p:cNvPr id="11" name="Shape 8"/>
          <p:cNvSpPr/>
          <p:nvPr/>
        </p:nvSpPr>
        <p:spPr>
          <a:xfrm>
            <a:off x="4754880" y="1874520"/>
            <a:ext cx="64008" cy="640080"/>
          </a:xfrm>
          <a:prstGeom prst="rect">
            <a:avLst/>
          </a:prstGeom>
          <a:solidFill>
            <a:srgbClr val="6B46C1"/>
          </a:solidFill>
          <a:ln/>
        </p:spPr>
      </p:sp>
      <p:sp>
        <p:nvSpPr>
          <p:cNvPr id="12" name="Text 9"/>
          <p:cNvSpPr/>
          <p:nvPr/>
        </p:nvSpPr>
        <p:spPr>
          <a:xfrm>
            <a:off x="4910328" y="1874520"/>
            <a:ext cx="3776472" cy="694944"/>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It's an active bet you didn't make.</a:t>
            </a:r>
            <a:endParaRPr lang="en-US" sz="1000" dirty="0"/>
          </a:p>
          <a:p>
            <a:pPr indent="0" marL="0">
              <a:buNone/>
            </a:pPr>
            <a:r>
              <a:rPr lang="en-US" sz="850" dirty="0">
                <a:solidFill>
                  <a:srgbClr val="333333"/>
                </a:solidFill>
                <a:latin typeface="Arial" pitchFamily="34" charset="0"/>
                <a:ea typeface="Arial" pitchFamily="34" charset="-122"/>
                <a:cs typeface="Arial" pitchFamily="34" charset="-120"/>
              </a:rPr>
              <a:t>At ~37% in ten names, benchmark exposure embeds a view on one theme's earnings durability.</a:t>
            </a:r>
            <a:endParaRPr lang="en-US" sz="1000" dirty="0"/>
          </a:p>
        </p:txBody>
      </p:sp>
      <p:sp>
        <p:nvSpPr>
          <p:cNvPr id="13" name="Shape 10"/>
          <p:cNvSpPr/>
          <p:nvPr/>
        </p:nvSpPr>
        <p:spPr>
          <a:xfrm>
            <a:off x="4754880" y="2587752"/>
            <a:ext cx="64008" cy="640080"/>
          </a:xfrm>
          <a:prstGeom prst="rect">
            <a:avLst/>
          </a:prstGeom>
          <a:solidFill>
            <a:srgbClr val="6B46C1"/>
          </a:solidFill>
          <a:ln/>
        </p:spPr>
      </p:sp>
      <p:sp>
        <p:nvSpPr>
          <p:cNvPr id="14" name="Text 11"/>
          <p:cNvSpPr/>
          <p:nvPr/>
        </p:nvSpPr>
        <p:spPr>
          <a:xfrm>
            <a:off x="4910328" y="2587752"/>
            <a:ext cx="3776472" cy="694944"/>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2026 made the cost visible — in both directions.</a:t>
            </a:r>
            <a:endParaRPr lang="en-US" sz="1000" dirty="0"/>
          </a:p>
          <a:p>
            <a:pPr indent="0" marL="0">
              <a:buNone/>
            </a:pPr>
            <a:r>
              <a:rPr lang="en-US" sz="850" dirty="0">
                <a:solidFill>
                  <a:srgbClr val="333333"/>
                </a:solidFill>
                <a:latin typeface="Arial" pitchFamily="34" charset="0"/>
                <a:ea typeface="Arial" pitchFamily="34" charset="-122"/>
                <a:cs typeface="Arial" pitchFamily="34" charset="-120"/>
              </a:rPr>
              <a:t>Equal-weight (+14.3%) beat cap-weight (+11.3%) YTD as megacaps lagged; in 2024–25 the same gap ran the other way.</a:t>
            </a:r>
            <a:endParaRPr lang="en-US" sz="1000" dirty="0"/>
          </a:p>
        </p:txBody>
      </p:sp>
      <p:sp>
        <p:nvSpPr>
          <p:cNvPr id="15" name="Shape 12"/>
          <p:cNvSpPr/>
          <p:nvPr/>
        </p:nvSpPr>
        <p:spPr>
          <a:xfrm>
            <a:off x="4754880" y="3300984"/>
            <a:ext cx="64008" cy="640080"/>
          </a:xfrm>
          <a:prstGeom prst="rect">
            <a:avLst/>
          </a:prstGeom>
          <a:solidFill>
            <a:srgbClr val="6B46C1"/>
          </a:solidFill>
          <a:ln/>
        </p:spPr>
      </p:sp>
      <p:sp>
        <p:nvSpPr>
          <p:cNvPr id="16" name="Text 13"/>
          <p:cNvSpPr/>
          <p:nvPr/>
        </p:nvSpPr>
        <p:spPr>
          <a:xfrm>
            <a:off x="4910328" y="3300984"/>
            <a:ext cx="3776472" cy="694944"/>
          </a:xfrm>
          <a:prstGeom prst="rect">
            <a:avLst/>
          </a:prstGeom>
          <a:noFill/>
          <a:ln/>
        </p:spPr>
        <p:txBody>
          <a:bodyPr wrap="square" lIns="0" tIns="0" rIns="0" bIns="0" rtlCol="0" anchor="t"/>
          <a:lstStyle/>
          <a:p>
            <a:pPr indent="0" marL="0">
              <a:buNone/>
            </a:pPr>
            <a:r>
              <a:rPr lang="en-US" sz="1000" b="1" dirty="0">
                <a:solidFill>
                  <a:srgbClr val="000000"/>
                </a:solidFill>
                <a:latin typeface="Arial" pitchFamily="34" charset="0"/>
                <a:ea typeface="Arial" pitchFamily="34" charset="-122"/>
                <a:cs typeface="Arial" pitchFamily="34" charset="-120"/>
              </a:rPr>
              <a:t>Correlation is the multiplier.</a:t>
            </a:r>
            <a:endParaRPr lang="en-US" sz="1000" dirty="0"/>
          </a:p>
          <a:p>
            <a:pPr indent="0" marL="0">
              <a:buNone/>
            </a:pPr>
            <a:r>
              <a:rPr lang="en-US" sz="850" dirty="0">
                <a:solidFill>
                  <a:srgbClr val="333333"/>
                </a:solidFill>
                <a:latin typeface="Arial" pitchFamily="34" charset="0"/>
                <a:ea typeface="Arial" pitchFamily="34" charset="-122"/>
                <a:cs typeface="Arial" pitchFamily="34" charset="-120"/>
              </a:rPr>
              <a:t>The top names share one earnings driver — AI infrastructure economics — so the position behaves like a single factor, not ten stocks.</a:t>
            </a:r>
            <a:endParaRPr lang="en-US" sz="1000" dirty="0"/>
          </a:p>
        </p:txBody>
      </p:sp>
      <p:sp>
        <p:nvSpPr>
          <p:cNvPr id="17" name="Text 14"/>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18" name="Shape 15"/>
          <p:cNvSpPr/>
          <p:nvPr/>
        </p:nvSpPr>
        <p:spPr>
          <a:xfrm>
            <a:off x="0" y="4526280"/>
            <a:ext cx="9144000" cy="617220"/>
          </a:xfrm>
          <a:prstGeom prst="rect">
            <a:avLst/>
          </a:prstGeom>
          <a:solidFill>
            <a:srgbClr val="333333"/>
          </a:solidFill>
          <a:ln/>
        </p:spPr>
      </p:sp>
      <p:sp>
        <p:nvSpPr>
          <p:cNvPr id="19" name="Text 1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0"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Arial" pitchFamily="34" charset="0"/>
                <a:ea typeface="Arial" pitchFamily="34" charset="-122"/>
                <a:cs typeface="Arial" pitchFamily="34" charset="-120"/>
              </a:rPr>
              <a:t>PORTFOLIO</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The AI trade is four trades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An 89-point return spread separates segments of the same theme. Positioning along the chain matters more than exposure to it.</a:t>
            </a:r>
            <a:endParaRPr lang="en-US" sz="1350" dirty="0"/>
          </a:p>
        </p:txBody>
      </p:sp>
      <p:sp>
        <p:nvSpPr>
          <p:cNvPr id="6" name="Text 4"/>
          <p:cNvSpPr/>
          <p:nvPr/>
        </p:nvSpPr>
        <p:spPr>
          <a:xfrm>
            <a:off x="457200" y="1417320"/>
            <a:ext cx="822960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Same theme, different outcomes — YTD 2026 (%)</a:t>
            </a:r>
            <a:endParaRPr lang="en-US" sz="1400" dirty="0"/>
          </a:p>
        </p:txBody>
      </p:sp>
      <p:sp>
        <p:nvSpPr>
          <p:cNvPr id="7" name="Shape 5"/>
          <p:cNvSpPr/>
          <p:nvPr/>
        </p:nvSpPr>
        <p:spPr>
          <a:xfrm>
            <a:off x="457200" y="1737360"/>
            <a:ext cx="8229600" cy="0"/>
          </a:xfrm>
          <a:prstGeom prst="line">
            <a:avLst/>
          </a:prstGeom>
          <a:noFill/>
          <a:ln w="19050">
            <a:solidFill>
              <a:srgbClr val="000000"/>
            </a:solidFill>
            <a:prstDash val="solid"/>
          </a:ln>
        </p:spPr>
      </p:sp>
      <p:graphicFrame>
        <p:nvGraphicFramePr>
          <p:cNvPr id="8" name="Chart 0" descr=""/>
          <p:cNvGraphicFramePr/>
          <p:nvPr/>
        </p:nvGraphicFramePr>
        <p:xfrm>
          <a:off x="457200" y="1828800"/>
          <a:ext cx="4937760" cy="214884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669280" y="1810512"/>
            <a:ext cx="3017520" cy="676656"/>
          </a:xfrm>
          <a:prstGeom prst="rect">
            <a:avLst/>
          </a:prstGeom>
          <a:solidFill>
            <a:srgbClr val="F9F9F9"/>
          </a:solidFill>
          <a:ln/>
        </p:spPr>
      </p:sp>
      <p:sp>
        <p:nvSpPr>
          <p:cNvPr id="10" name="Shape 7"/>
          <p:cNvSpPr/>
          <p:nvPr/>
        </p:nvSpPr>
        <p:spPr>
          <a:xfrm>
            <a:off x="5669280" y="1810512"/>
            <a:ext cx="3017520" cy="45720"/>
          </a:xfrm>
          <a:prstGeom prst="rect">
            <a:avLst/>
          </a:prstGeom>
          <a:solidFill>
            <a:srgbClr val="00A854"/>
          </a:solidFill>
          <a:ln/>
        </p:spPr>
      </p:sp>
      <p:sp>
        <p:nvSpPr>
          <p:cNvPr id="11" name="Text 8"/>
          <p:cNvSpPr/>
          <p:nvPr/>
        </p:nvSpPr>
        <p:spPr>
          <a:xfrm>
            <a:off x="5779008" y="1865376"/>
            <a:ext cx="2798064" cy="603504"/>
          </a:xfrm>
          <a:prstGeom prst="rect">
            <a:avLst/>
          </a:prstGeom>
          <a:noFill/>
          <a:ln/>
        </p:spPr>
        <p:txBody>
          <a:bodyPr wrap="square" lIns="0" tIns="0" rIns="0" bIns="0" rtlCol="0" anchor="t"/>
          <a:lstStyle/>
          <a:p>
            <a:pPr indent="0" marL="0">
              <a:buNone/>
            </a:pPr>
            <a:r>
              <a:rPr lang="en-US" sz="850" b="1" spc="100" kern="0" dirty="0">
                <a:solidFill>
                  <a:srgbClr val="00A854"/>
                </a:solidFill>
                <a:latin typeface="Arial" pitchFamily="34" charset="0"/>
                <a:ea typeface="Arial" pitchFamily="34" charset="-122"/>
                <a:cs typeface="Arial" pitchFamily="34" charset="-120"/>
              </a:rPr>
              <a:t>VALUE ACCRUING</a:t>
            </a:r>
            <a:endParaRPr lang="en-US" sz="850" dirty="0"/>
          </a:p>
          <a:p>
            <a:pPr indent="0" marL="0">
              <a:buNone/>
            </a:pPr>
            <a:r>
              <a:rPr lang="en-US" sz="850" dirty="0">
                <a:solidFill>
                  <a:srgbClr val="333333"/>
                </a:solidFill>
                <a:latin typeface="Arial" pitchFamily="34" charset="0"/>
                <a:ea typeface="Arial" pitchFamily="34" charset="-122"/>
                <a:cs typeface="Arial" pitchFamily="34" charset="-120"/>
              </a:rPr>
              <a:t>Compute supply — memory, custom silicon, networking; power &amp; grid infrastructure behind it</a:t>
            </a:r>
            <a:endParaRPr lang="en-US" sz="850" dirty="0"/>
          </a:p>
        </p:txBody>
      </p:sp>
      <p:sp>
        <p:nvSpPr>
          <p:cNvPr id="12" name="Shape 9"/>
          <p:cNvSpPr/>
          <p:nvPr/>
        </p:nvSpPr>
        <p:spPr>
          <a:xfrm>
            <a:off x="5669280" y="2560320"/>
            <a:ext cx="3017520" cy="676656"/>
          </a:xfrm>
          <a:prstGeom prst="rect">
            <a:avLst/>
          </a:prstGeom>
          <a:solidFill>
            <a:srgbClr val="F9F9F9"/>
          </a:solidFill>
          <a:ln/>
        </p:spPr>
      </p:sp>
      <p:sp>
        <p:nvSpPr>
          <p:cNvPr id="13" name="Shape 10"/>
          <p:cNvSpPr/>
          <p:nvPr/>
        </p:nvSpPr>
        <p:spPr>
          <a:xfrm>
            <a:off x="5669280" y="2560320"/>
            <a:ext cx="3017520" cy="45720"/>
          </a:xfrm>
          <a:prstGeom prst="rect">
            <a:avLst/>
          </a:prstGeom>
          <a:solidFill>
            <a:srgbClr val="FFB800"/>
          </a:solidFill>
          <a:ln/>
        </p:spPr>
      </p:sp>
      <p:sp>
        <p:nvSpPr>
          <p:cNvPr id="14" name="Text 11"/>
          <p:cNvSpPr/>
          <p:nvPr/>
        </p:nvSpPr>
        <p:spPr>
          <a:xfrm>
            <a:off x="5779008" y="2615184"/>
            <a:ext cx="2798064" cy="603504"/>
          </a:xfrm>
          <a:prstGeom prst="rect">
            <a:avLst/>
          </a:prstGeom>
          <a:noFill/>
          <a:ln/>
        </p:spPr>
        <p:txBody>
          <a:bodyPr wrap="square" lIns="0" tIns="0" rIns="0" bIns="0" rtlCol="0" anchor="t"/>
          <a:lstStyle/>
          <a:p>
            <a:pPr indent="0" marL="0">
              <a:buNone/>
            </a:pPr>
            <a:r>
              <a:rPr lang="en-US" sz="850" b="1" spc="100" kern="0" dirty="0">
                <a:solidFill>
                  <a:srgbClr val="FFB800"/>
                </a:solidFill>
                <a:latin typeface="Arial" pitchFamily="34" charset="0"/>
                <a:ea typeface="Arial" pitchFamily="34" charset="-122"/>
                <a:cs typeface="Arial" pitchFamily="34" charset="-120"/>
              </a:rPr>
              <a:t>CONTESTED MIDDLE</a:t>
            </a:r>
            <a:endParaRPr lang="en-US" sz="850" dirty="0"/>
          </a:p>
          <a:p>
            <a:pPr indent="0" marL="0">
              <a:buNone/>
            </a:pPr>
            <a:r>
              <a:rPr lang="en-US" sz="850" dirty="0">
                <a:solidFill>
                  <a:srgbClr val="333333"/>
                </a:solidFill>
                <a:latin typeface="Arial" pitchFamily="34" charset="0"/>
                <a:ea typeface="Arial" pitchFamily="34" charset="-122"/>
                <a:cs typeface="Arial" pitchFamily="34" charset="-120"/>
              </a:rPr>
              <a:t>Platforms: record revenues, but capex + debt now weigh on the equity story</a:t>
            </a:r>
            <a:endParaRPr lang="en-US" sz="850" dirty="0"/>
          </a:p>
        </p:txBody>
      </p:sp>
      <p:sp>
        <p:nvSpPr>
          <p:cNvPr id="15" name="Shape 12"/>
          <p:cNvSpPr/>
          <p:nvPr/>
        </p:nvSpPr>
        <p:spPr>
          <a:xfrm>
            <a:off x="5669280" y="3310128"/>
            <a:ext cx="3017520" cy="676656"/>
          </a:xfrm>
          <a:prstGeom prst="rect">
            <a:avLst/>
          </a:prstGeom>
          <a:solidFill>
            <a:srgbClr val="F9F9F9"/>
          </a:solidFill>
          <a:ln/>
        </p:spPr>
      </p:sp>
      <p:sp>
        <p:nvSpPr>
          <p:cNvPr id="16" name="Shape 13"/>
          <p:cNvSpPr/>
          <p:nvPr/>
        </p:nvSpPr>
        <p:spPr>
          <a:xfrm>
            <a:off x="5669280" y="3310128"/>
            <a:ext cx="3017520" cy="45720"/>
          </a:xfrm>
          <a:prstGeom prst="rect">
            <a:avLst/>
          </a:prstGeom>
          <a:solidFill>
            <a:srgbClr val="CC0000"/>
          </a:solidFill>
          <a:ln/>
        </p:spPr>
      </p:sp>
      <p:sp>
        <p:nvSpPr>
          <p:cNvPr id="17" name="Text 14"/>
          <p:cNvSpPr/>
          <p:nvPr/>
        </p:nvSpPr>
        <p:spPr>
          <a:xfrm>
            <a:off x="5779008" y="3364992"/>
            <a:ext cx="2798064" cy="603504"/>
          </a:xfrm>
          <a:prstGeom prst="rect">
            <a:avLst/>
          </a:prstGeom>
          <a:noFill/>
          <a:ln/>
        </p:spPr>
        <p:txBody>
          <a:bodyPr wrap="square" lIns="0" tIns="0" rIns="0" bIns="0" rtlCol="0" anchor="t"/>
          <a:lstStyle/>
          <a:p>
            <a:pPr indent="0" marL="0">
              <a:buNone/>
            </a:pPr>
            <a:r>
              <a:rPr lang="en-US" sz="850" b="1" spc="100" kern="0" dirty="0">
                <a:solidFill>
                  <a:srgbClr val="CC0000"/>
                </a:solidFill>
                <a:latin typeface="Arial" pitchFamily="34" charset="0"/>
                <a:ea typeface="Arial" pitchFamily="34" charset="-122"/>
                <a:cs typeface="Arial" pitchFamily="34" charset="-120"/>
              </a:rPr>
              <a:t>VALUE ERODING</a:t>
            </a:r>
            <a:endParaRPr lang="en-US" sz="850" dirty="0"/>
          </a:p>
          <a:p>
            <a:pPr indent="0" marL="0">
              <a:buNone/>
            </a:pPr>
            <a:r>
              <a:rPr lang="en-US" sz="850" dirty="0">
                <a:solidFill>
                  <a:srgbClr val="333333"/>
                </a:solidFill>
                <a:latin typeface="Arial" pitchFamily="34" charset="0"/>
                <a:ea typeface="Arial" pitchFamily="34" charset="-122"/>
                <a:cs typeface="Arial" pitchFamily="34" charset="-120"/>
              </a:rPr>
              <a:t>Application software priced for disruption; adopters without pricing power</a:t>
            </a:r>
            <a:endParaRPr lang="en-US" sz="850" dirty="0"/>
          </a:p>
        </p:txBody>
      </p:sp>
      <p:sp>
        <p:nvSpPr>
          <p:cNvPr id="18" name="Text 15"/>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YTD total returns through early Jun 2026: stockanalysis.com (SOXX, IGV), Morningstar/Yahoo (RSP, MAGS). Segment framing: deck analysis.</a:t>
            </a:r>
            <a:endParaRPr lang="en-US" sz="700" dirty="0"/>
          </a:p>
        </p:txBody>
      </p:sp>
      <p:sp>
        <p:nvSpPr>
          <p:cNvPr id="19" name="Shape 16"/>
          <p:cNvSpPr/>
          <p:nvPr/>
        </p:nvSpPr>
        <p:spPr>
          <a:xfrm>
            <a:off x="0" y="4526280"/>
            <a:ext cx="9144000" cy="617220"/>
          </a:xfrm>
          <a:prstGeom prst="rect">
            <a:avLst/>
          </a:prstGeom>
          <a:solidFill>
            <a:srgbClr val="333333"/>
          </a:solidFill>
          <a:ln/>
        </p:spPr>
      </p:sp>
      <p:sp>
        <p:nvSpPr>
          <p:cNvPr id="20" name="Text 1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Arial" pitchFamily="34" charset="0"/>
                <a:ea typeface="Arial" pitchFamily="34" charset="-122"/>
                <a:cs typeface="Arial" pitchFamily="34" charset="-120"/>
              </a:rPr>
              <a:t>PORTFOLIO</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What breaks the trade</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watchpoints, each with a visible market gauge. None requires an AI opinion — only attention to the tape.</a:t>
            </a:r>
            <a:endParaRPr lang="en-US" sz="1350" dirty="0"/>
          </a:p>
        </p:txBody>
      </p:sp>
      <p:sp>
        <p:nvSpPr>
          <p:cNvPr id="6" name="Shape 4"/>
          <p:cNvSpPr/>
          <p:nvPr/>
        </p:nvSpPr>
        <p:spPr>
          <a:xfrm>
            <a:off x="457200" y="1554480"/>
            <a:ext cx="4023360" cy="1170432"/>
          </a:xfrm>
          <a:prstGeom prst="rect">
            <a:avLst/>
          </a:prstGeom>
          <a:solidFill>
            <a:srgbClr val="F9F9F9"/>
          </a:solidFill>
          <a:ln/>
        </p:spPr>
      </p:sp>
      <p:sp>
        <p:nvSpPr>
          <p:cNvPr id="7" name="Shape 5"/>
          <p:cNvSpPr/>
          <p:nvPr/>
        </p:nvSpPr>
        <p:spPr>
          <a:xfrm>
            <a:off x="457200" y="1554480"/>
            <a:ext cx="64008" cy="1170432"/>
          </a:xfrm>
          <a:prstGeom prst="rect">
            <a:avLst/>
          </a:prstGeom>
          <a:solidFill>
            <a:srgbClr val="CC0000"/>
          </a:solidFill>
          <a:ln/>
        </p:spPr>
      </p:sp>
      <p:sp>
        <p:nvSpPr>
          <p:cNvPr id="8" name="Text 6"/>
          <p:cNvSpPr/>
          <p:nvPr/>
        </p:nvSpPr>
        <p:spPr>
          <a:xfrm>
            <a:off x="621792" y="1627632"/>
            <a:ext cx="3749040" cy="1042416"/>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Demand air pocket   </a:t>
            </a:r>
            <a:pPr indent="0" marL="0">
              <a:buNone/>
            </a:pPr>
            <a:r>
              <a:rPr lang="en-US" sz="850" i="1" dirty="0">
                <a:solidFill>
                  <a:srgbClr val="666666"/>
                </a:solidFill>
                <a:latin typeface="Arial" pitchFamily="34" charset="0"/>
                <a:ea typeface="Arial" pitchFamily="34" charset="-122"/>
                <a:cs typeface="Arial" pitchFamily="34" charset="-120"/>
              </a:rPr>
              <a:t>Gauge: hyperscaler capex guidance</a:t>
            </a:r>
            <a:endParaRPr lang="en-US" sz="1100" dirty="0"/>
          </a:p>
          <a:p>
            <a:pPr indent="0" marL="0">
              <a:buNone/>
            </a:pPr>
            <a:r>
              <a:rPr lang="en-US" sz="850" dirty="0">
                <a:solidFill>
                  <a:srgbClr val="333333"/>
                </a:solidFill>
                <a:latin typeface="Arial" pitchFamily="34" charset="0"/>
                <a:ea typeface="Arial" pitchFamily="34" charset="-122"/>
                <a:cs typeface="Arial" pitchFamily="34" charset="-120"/>
              </a:rPr>
              <a:t>With ~94% of operating cash flow committed, even a pause in guided spend cascades up the supply chain. Semis at +79% YTD have the most altitude to lose.</a:t>
            </a:r>
            <a:endParaRPr lang="en-US" sz="1100" dirty="0"/>
          </a:p>
        </p:txBody>
      </p:sp>
      <p:sp>
        <p:nvSpPr>
          <p:cNvPr id="9" name="Shape 7"/>
          <p:cNvSpPr/>
          <p:nvPr/>
        </p:nvSpPr>
        <p:spPr>
          <a:xfrm>
            <a:off x="4663440" y="1554480"/>
            <a:ext cx="4023360" cy="1170432"/>
          </a:xfrm>
          <a:prstGeom prst="rect">
            <a:avLst/>
          </a:prstGeom>
          <a:solidFill>
            <a:srgbClr val="F9F9F9"/>
          </a:solidFill>
          <a:ln/>
        </p:spPr>
      </p:sp>
      <p:sp>
        <p:nvSpPr>
          <p:cNvPr id="10" name="Shape 8"/>
          <p:cNvSpPr/>
          <p:nvPr/>
        </p:nvSpPr>
        <p:spPr>
          <a:xfrm>
            <a:off x="4663440" y="1554480"/>
            <a:ext cx="64008" cy="1170432"/>
          </a:xfrm>
          <a:prstGeom prst="rect">
            <a:avLst/>
          </a:prstGeom>
          <a:solidFill>
            <a:srgbClr val="F6693D"/>
          </a:solidFill>
          <a:ln/>
        </p:spPr>
      </p:sp>
      <p:sp>
        <p:nvSpPr>
          <p:cNvPr id="11" name="Text 9"/>
          <p:cNvSpPr/>
          <p:nvPr/>
        </p:nvSpPr>
        <p:spPr>
          <a:xfrm>
            <a:off x="4828032" y="1627632"/>
            <a:ext cx="3749040" cy="1042416"/>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Financing stress   </a:t>
            </a:r>
            <a:pPr indent="0" marL="0">
              <a:buNone/>
            </a:pPr>
            <a:r>
              <a:rPr lang="en-US" sz="850" i="1" dirty="0">
                <a:solidFill>
                  <a:srgbClr val="666666"/>
                </a:solidFill>
                <a:latin typeface="Arial" pitchFamily="34" charset="0"/>
                <a:ea typeface="Arial" pitchFamily="34" charset="-122"/>
                <a:cs typeface="Arial" pitchFamily="34" charset="-120"/>
              </a:rPr>
              <a:t>Gauge: hyperscaler CDS &amp; new-issue spreads</a:t>
            </a:r>
            <a:endParaRPr lang="en-US" sz="1100" dirty="0"/>
          </a:p>
          <a:p>
            <a:pPr indent="0" marL="0">
              <a:buNone/>
            </a:pPr>
            <a:r>
              <a:rPr lang="en-US" sz="850" dirty="0">
                <a:solidFill>
                  <a:srgbClr val="333333"/>
                </a:solidFill>
                <a:latin typeface="Arial" pitchFamily="34" charset="0"/>
                <a:ea typeface="Arial" pitchFamily="34" charset="-122"/>
                <a:cs typeface="Arial" pitchFamily="34" charset="-120"/>
              </a:rPr>
              <a:t>Oracle's CDS above ~125bp shows credit markets already discriminate. A failed mega-deal or spread blowout would reprice AI equities within days.</a:t>
            </a:r>
            <a:endParaRPr lang="en-US" sz="1100" dirty="0"/>
          </a:p>
        </p:txBody>
      </p:sp>
      <p:sp>
        <p:nvSpPr>
          <p:cNvPr id="12" name="Shape 10"/>
          <p:cNvSpPr/>
          <p:nvPr/>
        </p:nvSpPr>
        <p:spPr>
          <a:xfrm>
            <a:off x="457200" y="2816352"/>
            <a:ext cx="4023360" cy="1170432"/>
          </a:xfrm>
          <a:prstGeom prst="rect">
            <a:avLst/>
          </a:prstGeom>
          <a:solidFill>
            <a:srgbClr val="F9F9F9"/>
          </a:solidFill>
          <a:ln/>
        </p:spPr>
      </p:sp>
      <p:sp>
        <p:nvSpPr>
          <p:cNvPr id="13" name="Shape 11"/>
          <p:cNvSpPr/>
          <p:nvPr/>
        </p:nvSpPr>
        <p:spPr>
          <a:xfrm>
            <a:off x="457200" y="2816352"/>
            <a:ext cx="64008" cy="1170432"/>
          </a:xfrm>
          <a:prstGeom prst="rect">
            <a:avLst/>
          </a:prstGeom>
          <a:solidFill>
            <a:srgbClr val="FFB800"/>
          </a:solidFill>
          <a:ln/>
        </p:spPr>
      </p:sp>
      <p:sp>
        <p:nvSpPr>
          <p:cNvPr id="14" name="Text 12"/>
          <p:cNvSpPr/>
          <p:nvPr/>
        </p:nvSpPr>
        <p:spPr>
          <a:xfrm>
            <a:off x="621792" y="2889504"/>
            <a:ext cx="3749040" cy="1042416"/>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Rate sensitivity   </a:t>
            </a:r>
            <a:pPr indent="0" marL="0">
              <a:buNone/>
            </a:pPr>
            <a:r>
              <a:rPr lang="en-US" sz="850" i="1" dirty="0">
                <a:solidFill>
                  <a:srgbClr val="666666"/>
                </a:solidFill>
                <a:latin typeface="Arial" pitchFamily="34" charset="0"/>
                <a:ea typeface="Arial" pitchFamily="34" charset="-122"/>
                <a:cs typeface="Arial" pitchFamily="34" charset="-120"/>
              </a:rPr>
              <a:t>Gauge: 10-yr UST (~4.5%), front-end repricing</a:t>
            </a:r>
            <a:endParaRPr lang="en-US" sz="1100" dirty="0"/>
          </a:p>
          <a:p>
            <a:pPr indent="0" marL="0">
              <a:buNone/>
            </a:pPr>
            <a:r>
              <a:rPr lang="en-US" sz="850" dirty="0">
                <a:solidFill>
                  <a:srgbClr val="333333"/>
                </a:solidFill>
                <a:latin typeface="Arial" pitchFamily="34" charset="0"/>
                <a:ea typeface="Arial" pitchFamily="34" charset="-122"/>
                <a:cs typeface="Arial" pitchFamily="34" charset="-120"/>
              </a:rPr>
              <a:t>Hot jobs data pushed the 2-yr to its highest since early 2025 as cut hopes faded. Long-duration AI cash flows and record IG supply both lean on rates staying contained.</a:t>
            </a:r>
            <a:endParaRPr lang="en-US" sz="1100" dirty="0"/>
          </a:p>
        </p:txBody>
      </p:sp>
      <p:sp>
        <p:nvSpPr>
          <p:cNvPr id="15" name="Shape 13"/>
          <p:cNvSpPr/>
          <p:nvPr/>
        </p:nvSpPr>
        <p:spPr>
          <a:xfrm>
            <a:off x="4663440" y="2816352"/>
            <a:ext cx="4023360" cy="1170432"/>
          </a:xfrm>
          <a:prstGeom prst="rect">
            <a:avLst/>
          </a:prstGeom>
          <a:solidFill>
            <a:srgbClr val="F9F9F9"/>
          </a:solidFill>
          <a:ln/>
        </p:spPr>
      </p:sp>
      <p:sp>
        <p:nvSpPr>
          <p:cNvPr id="16" name="Shape 14"/>
          <p:cNvSpPr/>
          <p:nvPr/>
        </p:nvSpPr>
        <p:spPr>
          <a:xfrm>
            <a:off x="4663440" y="2816352"/>
            <a:ext cx="64008" cy="1170432"/>
          </a:xfrm>
          <a:prstGeom prst="rect">
            <a:avLst/>
          </a:prstGeom>
          <a:solidFill>
            <a:srgbClr val="6B46C1"/>
          </a:solidFill>
          <a:ln/>
        </p:spPr>
      </p:sp>
      <p:sp>
        <p:nvSpPr>
          <p:cNvPr id="17" name="Text 15"/>
          <p:cNvSpPr/>
          <p:nvPr/>
        </p:nvSpPr>
        <p:spPr>
          <a:xfrm>
            <a:off x="4828032" y="2889504"/>
            <a:ext cx="3749040" cy="1042416"/>
          </a:xfrm>
          <a:prstGeom prst="rect">
            <a:avLst/>
          </a:prstGeom>
          <a:noFill/>
          <a:ln/>
        </p:spPr>
        <p:txBody>
          <a:bodyPr wrap="square" lIns="0" tIns="0" rIns="0" bIns="0" rtlCol="0" anchor="t"/>
          <a:lstStyle/>
          <a:p>
            <a:pPr indent="0" marL="0">
              <a:buNone/>
            </a:pPr>
            <a:r>
              <a:rPr lang="en-US" sz="1100" b="1" dirty="0">
                <a:solidFill>
                  <a:srgbClr val="000000"/>
                </a:solidFill>
                <a:latin typeface="Arial" pitchFamily="34" charset="0"/>
                <a:ea typeface="Arial" pitchFamily="34" charset="-122"/>
                <a:cs typeface="Arial" pitchFamily="34" charset="-120"/>
              </a:rPr>
              <a:t>Concentration unwind   </a:t>
            </a:r>
            <a:pPr indent="0" marL="0">
              <a:buNone/>
            </a:pPr>
            <a:r>
              <a:rPr lang="en-US" sz="850" i="1" dirty="0">
                <a:solidFill>
                  <a:srgbClr val="666666"/>
                </a:solidFill>
                <a:latin typeface="Arial" pitchFamily="34" charset="0"/>
                <a:ea typeface="Arial" pitchFamily="34" charset="-122"/>
                <a:cs typeface="Arial" pitchFamily="34" charset="-120"/>
              </a:rPr>
              <a:t>Gauge: top-10 index share (~37%)</a:t>
            </a:r>
            <a:endParaRPr lang="en-US" sz="1100" dirty="0"/>
          </a:p>
          <a:p>
            <a:pPr indent="0" marL="0">
              <a:buNone/>
            </a:pPr>
            <a:r>
              <a:rPr lang="en-US" sz="850" dirty="0">
                <a:solidFill>
                  <a:srgbClr val="333333"/>
                </a:solidFill>
                <a:latin typeface="Arial" pitchFamily="34" charset="0"/>
                <a:ea typeface="Arial" pitchFamily="34" charset="-122"/>
                <a:cs typeface="Arial" pitchFamily="34" charset="-120"/>
              </a:rPr>
              <a:t>2026 already previewed it: Mag 7 lagging equal-weight. A disorderly version — passive outflows meeting thin breadth — is the systemic scenario.</a:t>
            </a:r>
            <a:endParaRPr lang="en-US" sz="1100" dirty="0"/>
          </a:p>
        </p:txBody>
      </p:sp>
      <p:sp>
        <p:nvSpPr>
          <p:cNvPr id="18" name="Text 16"/>
          <p:cNvSpPr/>
          <p:nvPr/>
        </p:nvSpPr>
        <p:spPr>
          <a:xfrm>
            <a:off x="457200" y="4041648"/>
            <a:ext cx="8229600" cy="41148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CDS: MUFG via CNBC; rates: Treasury/FRED, CNBC (Jun 5, 2026 jobs report); cash-flow math: BofA via Breckinridge; index share: S&amp;P DJI/MacroMicro.</a:t>
            </a:r>
            <a:endParaRPr lang="en-US" sz="700" dirty="0"/>
          </a:p>
        </p:txBody>
      </p:sp>
      <p:sp>
        <p:nvSpPr>
          <p:cNvPr id="19" name="Shape 17"/>
          <p:cNvSpPr/>
          <p:nvPr/>
        </p:nvSpPr>
        <p:spPr>
          <a:xfrm>
            <a:off x="0" y="4526280"/>
            <a:ext cx="9144000" cy="617220"/>
          </a:xfrm>
          <a:prstGeom prst="rect">
            <a:avLst/>
          </a:prstGeom>
          <a:solidFill>
            <a:srgbClr val="333333"/>
          </a:solidFill>
          <a:ln/>
        </p:spPr>
      </p:sp>
      <p:sp>
        <p:nvSpPr>
          <p:cNvPr id="20" name="Text 18"/>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Arial" pitchFamily="34" charset="0"/>
                <a:ea typeface="Arial" pitchFamily="34" charset="-122"/>
                <a:cs typeface="Arial" pitchFamily="34" charset="-120"/>
              </a:rPr>
              <a:t>PORTFOLIO</a:t>
            </a:r>
            <a:endParaRPr lang="en-US" sz="900" dirty="0"/>
          </a:p>
        </p:txBody>
      </p:sp>
      <p:sp>
        <p:nvSpPr>
          <p:cNvPr id="4" name="Text 2"/>
          <p:cNvSpPr/>
          <p:nvPr/>
        </p:nvSpPr>
        <p:spPr>
          <a:xfrm>
            <a:off x="457200" y="182880"/>
            <a:ext cx="6583680" cy="640080"/>
          </a:xfrm>
          <a:prstGeom prst="rect">
            <a:avLst/>
          </a:prstGeom>
          <a:noFill/>
          <a:ln/>
        </p:spPr>
        <p:txBody>
          <a:bodyPr wrap="square" lIns="0" tIns="0" rIns="0" bIns="0" rtlCol="0" anchor="t"/>
          <a:lstStyle/>
          <a:p>
            <a:pPr indent="0" marL="0">
              <a:buNone/>
            </a:pPr>
            <a:r>
              <a:rPr lang="en-US" sz="2700" b="1" dirty="0">
                <a:solidFill>
                  <a:srgbClr val="000000"/>
                </a:solidFill>
                <a:latin typeface="Arial Black" pitchFamily="34" charset="0"/>
                <a:ea typeface="Arial Black" pitchFamily="34" charset="-122"/>
                <a:cs typeface="Arial Black" pitchFamily="34" charset="-120"/>
              </a:rPr>
              <a:t>Implications for investors</a:t>
            </a:r>
            <a:endParaRPr lang="en-US" sz="2700" dirty="0"/>
          </a:p>
        </p:txBody>
      </p:sp>
      <p:sp>
        <p:nvSpPr>
          <p:cNvPr id="5" name="Text 3"/>
          <p:cNvSpPr/>
          <p:nvPr/>
        </p:nvSpPr>
        <p:spPr>
          <a:xfrm>
            <a:off x="457200" y="86868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takeaways that survive whichever way the AI debate resolves.</a:t>
            </a:r>
            <a:endParaRPr lang="en-US" sz="13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229600" cy="2423160"/>
        </p:xfrm>
        <a:graphic>
          <a:graphicData uri="http://schemas.openxmlformats.org/drawingml/2006/table">
            <a:tbl>
              <a:tblPr/>
              <a:tblGrid>
                <a:gridCol w="2468880"/>
                <a:gridCol w="5760720"/>
              </a:tblGrid>
              <a:tr h="484632">
                <a:tc>
                  <a:txBody>
                    <a:bodyPr/>
                    <a:lstStyle/>
                    <a:p>
                      <a:pPr indent="0" marL="0">
                        <a:buNone/>
                      </a:pPr>
                      <a:r>
                        <a:rPr lang="en-US" sz="950" b="1" dirty="0">
                          <a:solidFill>
                            <a:srgbClr val="FFFFFF"/>
                          </a:solidFill>
                          <a:latin typeface="Arial" pitchFamily="34" charset="0"/>
                          <a:ea typeface="Arial" pitchFamily="34" charset="-122"/>
                          <a:cs typeface="Arial" pitchFamily="34" charset="-120"/>
                        </a:rPr>
                        <a:t>Takeaway</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What to do with it</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484632">
                <a:tc>
                  <a:txBody>
                    <a:bodyPr/>
                    <a:lstStyle/>
                    <a:p>
                      <a:pPr indent="0" marL="0">
                        <a:buNone/>
                      </a:pPr>
                      <a:r>
                        <a:rPr lang="en-US" sz="950" b="1" dirty="0">
                          <a:solidFill>
                            <a:srgbClr val="333333"/>
                          </a:solidFill>
                          <a:latin typeface="Arial" pitchFamily="34" charset="0"/>
                          <a:ea typeface="Arial" pitchFamily="34" charset="-122"/>
                          <a:cs typeface="Arial" pitchFamily="34" charset="-120"/>
                        </a:rPr>
                        <a:t>1. Know your AI beta</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50" dirty="0">
                          <a:solidFill>
                            <a:srgbClr val="333333"/>
                          </a:solidFill>
                          <a:latin typeface="Arial" pitchFamily="34" charset="0"/>
                          <a:ea typeface="Arial" pitchFamily="34" charset="-122"/>
                          <a:cs typeface="Arial" pitchFamily="34" charset="-120"/>
                        </a:rPr>
                        <a:t>Measure the embedded AI exposure across passive sleeves — ~37% of benchmark sits in ten names with one shared earnings driver. Size it deliberately, even if the answer is “keep it.”</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484632">
                <a:tc>
                  <a:txBody>
                    <a:bodyPr/>
                    <a:lstStyle/>
                    <a:p>
                      <a:pPr indent="0" marL="0">
                        <a:buNone/>
                      </a:pPr>
                      <a:r>
                        <a:rPr lang="en-US" sz="950" b="1" dirty="0">
                          <a:solidFill>
                            <a:srgbClr val="333333"/>
                          </a:solidFill>
                          <a:latin typeface="Arial" pitchFamily="34" charset="0"/>
                          <a:ea typeface="Arial" pitchFamily="34" charset="-122"/>
                          <a:cs typeface="Arial" pitchFamily="34" charset="-120"/>
                        </a:rPr>
                        <a:t>2. Trade the chain, not the theme</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50" dirty="0">
                          <a:solidFill>
                            <a:srgbClr val="333333"/>
                          </a:solidFill>
                          <a:latin typeface="Arial" pitchFamily="34" charset="0"/>
                          <a:ea typeface="Arial" pitchFamily="34" charset="-122"/>
                          <a:cs typeface="Arial" pitchFamily="34" charset="-120"/>
                        </a:rPr>
                        <a:t>An 89-point intra-theme spread says segment selection (silicon, power, platforms, adopters) dominates the yes/no call. Diversify across the chain's stages.</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484632">
                <a:tc>
                  <a:txBody>
                    <a:bodyPr/>
                    <a:lstStyle/>
                    <a:p>
                      <a:pPr indent="0" marL="0">
                        <a:buNone/>
                      </a:pPr>
                      <a:r>
                        <a:rPr lang="en-US" sz="950" b="1" dirty="0">
                          <a:solidFill>
                            <a:srgbClr val="333333"/>
                          </a:solidFill>
                          <a:latin typeface="Arial" pitchFamily="34" charset="0"/>
                          <a:ea typeface="Arial" pitchFamily="34" charset="-122"/>
                          <a:cs typeface="Arial" pitchFamily="34" charset="-120"/>
                        </a:rPr>
                        <a:t>3. Watch credit as the early warning</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50" dirty="0">
                          <a:solidFill>
                            <a:srgbClr val="333333"/>
                          </a:solidFill>
                          <a:latin typeface="Arial" pitchFamily="34" charset="0"/>
                          <a:ea typeface="Arial" pitchFamily="34" charset="-122"/>
                          <a:cs typeface="Arial" pitchFamily="34" charset="-120"/>
                        </a:rPr>
                        <a:t>AI is now a bond-market story. Hyperscaler CDS and new-issue spreads will likely reprice before equity earnings revisions arrive. Put them on the dashboard.</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484632">
                <a:tc>
                  <a:txBody>
                    <a:bodyPr/>
                    <a:lstStyle/>
                    <a:p>
                      <a:pPr indent="0" marL="0">
                        <a:buNone/>
                      </a:pPr>
                      <a:r>
                        <a:rPr lang="en-US" sz="950" b="1" dirty="0">
                          <a:solidFill>
                            <a:srgbClr val="333333"/>
                          </a:solidFill>
                          <a:latin typeface="Arial" pitchFamily="34" charset="0"/>
                          <a:ea typeface="Arial" pitchFamily="34" charset="-122"/>
                          <a:cs typeface="Arial" pitchFamily="34" charset="-120"/>
                        </a:rPr>
                        <a:t>4. Respect the breadth shift</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indent="0" marL="0">
                        <a:buNone/>
                      </a:pPr>
                      <a:r>
                        <a:rPr lang="en-US" sz="950" dirty="0">
                          <a:solidFill>
                            <a:srgbClr val="333333"/>
                          </a:solidFill>
                          <a:latin typeface="Arial" pitchFamily="34" charset="0"/>
                          <a:ea typeface="Arial" pitchFamily="34" charset="-122"/>
                          <a:cs typeface="Arial" pitchFamily="34" charset="-120"/>
                        </a:rPr>
                        <a:t>Equal-weight beating cap-weight while semis triple-digit-pace: 2026 rewards being right on structure, not just direction. Complements to cap-weight exposure have re-earned their place.</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7" name="Text 4"/>
          <p:cNvSpPr/>
          <p:nvPr/>
        </p:nvSpPr>
        <p:spPr>
          <a:xfrm>
            <a:off x="457200" y="4041648"/>
            <a:ext cx="822960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Bottom line: </a:t>
            </a:r>
            <a:pPr indent="0" marL="0">
              <a:buNone/>
            </a:pPr>
            <a:r>
              <a:rPr lang="en-US" sz="1200" dirty="0">
                <a:solidFill>
                  <a:srgbClr val="333333"/>
                </a:solidFill>
                <a:latin typeface="Arial" pitchFamily="34" charset="0"/>
                <a:ea typeface="Arial" pitchFamily="34" charset="-122"/>
                <a:cs typeface="Arial" pitchFamily="34" charset="-120"/>
              </a:rPr>
              <a:t>you don't need a view on AGI to manage this — you need to know what your portfolio already believes.</a:t>
            </a:r>
            <a:endParaRPr lang="en-US" sz="1200" dirty="0"/>
          </a:p>
        </p:txBody>
      </p:sp>
      <p:sp>
        <p:nvSpPr>
          <p:cNvPr id="8" name="Shape 5"/>
          <p:cNvSpPr/>
          <p:nvPr/>
        </p:nvSpPr>
        <p:spPr>
          <a:xfrm>
            <a:off x="0" y="4526280"/>
            <a:ext cx="9144000" cy="617220"/>
          </a:xfrm>
          <a:prstGeom prst="rect">
            <a:avLst/>
          </a:prstGeom>
          <a:solidFill>
            <a:srgbClr val="333333"/>
          </a:solidFill>
          <a:ln/>
        </p:spPr>
      </p:sp>
      <p:sp>
        <p:nvSpPr>
          <p:cNvPr id="9" name="Text 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0" name="Text 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182880"/>
            <a:ext cx="6583680" cy="64008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Sources &amp; methodology</a:t>
            </a:r>
            <a:endParaRPr lang="en-US" sz="2400" dirty="0"/>
          </a:p>
        </p:txBody>
      </p:sp>
      <p:sp>
        <p:nvSpPr>
          <p:cNvPr id="3" name="Shape 1"/>
          <p:cNvSpPr/>
          <p:nvPr/>
        </p:nvSpPr>
        <p:spPr>
          <a:xfrm>
            <a:off x="457200" y="868680"/>
            <a:ext cx="2377440" cy="365760"/>
          </a:xfrm>
          <a:prstGeom prst="rect">
            <a:avLst/>
          </a:prstGeom>
          <a:solidFill>
            <a:srgbClr val="F6693D"/>
          </a:solidFill>
          <a:ln/>
        </p:spPr>
      </p:sp>
      <p:sp>
        <p:nvSpPr>
          <p:cNvPr id="4" name="Text 2"/>
          <p:cNvSpPr/>
          <p:nvPr/>
        </p:nvSpPr>
        <p:spPr>
          <a:xfrm>
            <a:off x="457200" y="868680"/>
            <a:ext cx="2377440" cy="365760"/>
          </a:xfrm>
          <a:prstGeom prst="rect">
            <a:avLst/>
          </a:prstGeom>
          <a:noFill/>
          <a:ln/>
        </p:spPr>
        <p:txBody>
          <a:bodyPr wrap="square" lIns="0" tIns="0" rIns="0" bIns="0" rtlCol="0" anchor="ctr"/>
          <a:lstStyle/>
          <a:p>
            <a:pPr algn="ctr" indent="0" marL="0">
              <a:buNone/>
            </a:pPr>
            <a:r>
              <a:rPr lang="en-US" sz="1100" b="1" spc="100" kern="0" dirty="0">
                <a:solidFill>
                  <a:srgbClr val="000000"/>
                </a:solidFill>
                <a:latin typeface="Arial" pitchFamily="34" charset="0"/>
                <a:ea typeface="Arial" pitchFamily="34" charset="-122"/>
                <a:cs typeface="Arial" pitchFamily="34" charset="-120"/>
              </a:rPr>
              <a:t>DATA AS OF JUNE 2026</a:t>
            </a:r>
            <a:endParaRPr lang="en-US" sz="1100" dirty="0"/>
          </a:p>
        </p:txBody>
      </p:sp>
      <p:sp>
        <p:nvSpPr>
          <p:cNvPr id="5" name="Text 3"/>
          <p:cNvSpPr/>
          <p:nvPr/>
        </p:nvSpPr>
        <p:spPr>
          <a:xfrm>
            <a:off x="3017520" y="868680"/>
            <a:ext cx="5669280" cy="411480"/>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Returns are total returns YTD through the most recent available close (Jun 5–9, 2026, unless noted). Index and market-cap figures as of early June 2026.</a:t>
            </a:r>
            <a:endParaRPr lang="en-US" sz="900" dirty="0"/>
          </a:p>
        </p:txBody>
      </p:sp>
      <p:sp>
        <p:nvSpPr>
          <p:cNvPr id="6" name="Shape 4"/>
          <p:cNvSpPr/>
          <p:nvPr/>
        </p:nvSpPr>
        <p:spPr>
          <a:xfrm>
            <a:off x="457200" y="1463040"/>
            <a:ext cx="2697480" cy="219456"/>
          </a:xfrm>
          <a:prstGeom prst="rect">
            <a:avLst/>
          </a:prstGeom>
          <a:solidFill>
            <a:srgbClr val="FFB800"/>
          </a:solidFill>
          <a:ln/>
        </p:spPr>
      </p:sp>
      <p:sp>
        <p:nvSpPr>
          <p:cNvPr id="7" name="Text 5"/>
          <p:cNvSpPr/>
          <p:nvPr/>
        </p:nvSpPr>
        <p:spPr>
          <a:xfrm>
            <a:off x="457200" y="1463040"/>
            <a:ext cx="2697480" cy="219456"/>
          </a:xfrm>
          <a:prstGeom prst="rect">
            <a:avLst/>
          </a:prstGeom>
          <a:noFill/>
          <a:ln/>
        </p:spPr>
        <p:txBody>
          <a:bodyPr wrap="square" lIns="0" tIns="0" rIns="0" bIns="0" rtlCol="0" anchor="ctr"/>
          <a:lstStyle/>
          <a:p>
            <a:pPr algn="ctr" indent="0" marL="0">
              <a:buNone/>
            </a:pPr>
            <a:r>
              <a:rPr lang="en-US" sz="850" b="1" spc="100" kern="0" dirty="0">
                <a:solidFill>
                  <a:srgbClr val="000000"/>
                </a:solidFill>
                <a:latin typeface="Arial" pitchFamily="34" charset="0"/>
                <a:ea typeface="Arial" pitchFamily="34" charset="-122"/>
                <a:cs typeface="Arial" pitchFamily="34" charset="-120"/>
              </a:rPr>
              <a:t>MARKET DATA</a:t>
            </a:r>
            <a:endParaRPr lang="en-US" sz="850" dirty="0"/>
          </a:p>
        </p:txBody>
      </p:sp>
      <p:sp>
        <p:nvSpPr>
          <p:cNvPr id="8" name="Text 6"/>
          <p:cNvSpPr/>
          <p:nvPr/>
        </p:nvSpPr>
        <p:spPr>
          <a:xfrm>
            <a:off x="502920" y="1755648"/>
            <a:ext cx="2606040" cy="2194560"/>
          </a:xfrm>
          <a:prstGeom prst="rect">
            <a:avLst/>
          </a:prstGeom>
          <a:noFill/>
          <a:ln/>
        </p:spPr>
        <p:txBody>
          <a:bodyPr wrap="square" lIns="0" tIns="0" rIns="0" bIns="0" rtlCol="0" anchor="t"/>
          <a:lstStyle/>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ETF returns &amp; stats: stockanalysis.com (SOXX, IGV); Morningstar / Yahoo Finance (RSP, MAGS)</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Index returns: slickcharts.com (S&amp;P 500, Nasdaq)</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Index weights &amp; concentration: S&amp;P Dow Jones Indices; MacroMicro; finhacker.cz; slickcharts</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Market caps: companiesmarketcap.com; Motley Fool research (Jun 2026)</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Valuations: FactSet Earnings Insight; GuruFocus; Apollo Daily Spark</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Rates: US Treasury / FRED; CNBC (Jun 5, 2026)</a:t>
            </a:r>
            <a:endParaRPr lang="en-US" sz="780" dirty="0"/>
          </a:p>
        </p:txBody>
      </p:sp>
      <p:sp>
        <p:nvSpPr>
          <p:cNvPr id="9" name="Shape 7"/>
          <p:cNvSpPr/>
          <p:nvPr/>
        </p:nvSpPr>
        <p:spPr>
          <a:xfrm>
            <a:off x="3246120" y="1463040"/>
            <a:ext cx="2697480" cy="219456"/>
          </a:xfrm>
          <a:prstGeom prst="rect">
            <a:avLst/>
          </a:prstGeom>
          <a:solidFill>
            <a:srgbClr val="F6693D"/>
          </a:solidFill>
          <a:ln/>
        </p:spPr>
      </p:sp>
      <p:sp>
        <p:nvSpPr>
          <p:cNvPr id="10" name="Text 8"/>
          <p:cNvSpPr/>
          <p:nvPr/>
        </p:nvSpPr>
        <p:spPr>
          <a:xfrm>
            <a:off x="3246120" y="1463040"/>
            <a:ext cx="2697480" cy="219456"/>
          </a:xfrm>
          <a:prstGeom prst="rect">
            <a:avLst/>
          </a:prstGeom>
          <a:noFill/>
          <a:ln/>
        </p:spPr>
        <p:txBody>
          <a:bodyPr wrap="square" lIns="0" tIns="0" rIns="0" bIns="0" rtlCol="0" anchor="ctr"/>
          <a:lstStyle/>
          <a:p>
            <a:pPr algn="ctr" indent="0" marL="0">
              <a:buNone/>
            </a:pPr>
            <a:r>
              <a:rPr lang="en-US" sz="850" b="1" spc="100" kern="0" dirty="0">
                <a:solidFill>
                  <a:srgbClr val="000000"/>
                </a:solidFill>
                <a:latin typeface="Arial" pitchFamily="34" charset="0"/>
                <a:ea typeface="Arial" pitchFamily="34" charset="-122"/>
                <a:cs typeface="Arial" pitchFamily="34" charset="-120"/>
              </a:rPr>
              <a:t>CAPEX &amp; FINANCING</a:t>
            </a:r>
            <a:endParaRPr lang="en-US" sz="850" dirty="0"/>
          </a:p>
        </p:txBody>
      </p:sp>
      <p:sp>
        <p:nvSpPr>
          <p:cNvPr id="11" name="Text 9"/>
          <p:cNvSpPr/>
          <p:nvPr/>
        </p:nvSpPr>
        <p:spPr>
          <a:xfrm>
            <a:off x="3291840" y="1755648"/>
            <a:ext cx="2606040" cy="2194560"/>
          </a:xfrm>
          <a:prstGeom prst="rect">
            <a:avLst/>
          </a:prstGeom>
          <a:noFill/>
          <a:ln/>
        </p:spPr>
        <p:txBody>
          <a:bodyPr wrap="square" lIns="0" tIns="0" rIns="0" bIns="0" rtlCol="0" anchor="t"/>
          <a:lstStyle/>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Capex guidance: company reports via CNBC (Feb 6, 2026); Tom's Hardware; Statista; Morgan Stanley est.</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Cash-flow math: BofA via Breckinridge; CNBC; techtimes / beincrypto FCF estimates</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Bond issuance: Mawer; M&amp;G Investments; Fortune (Mar 2026); CNBC (Feb 2026)</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Supply forecasts: UBS &amp; Barclays via Reuters (Jan 2026)</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Credit signals: MUFG CDS data via CNBC; Fortune</a:t>
            </a:r>
            <a:endParaRPr lang="en-US" sz="780" dirty="0"/>
          </a:p>
        </p:txBody>
      </p:sp>
      <p:sp>
        <p:nvSpPr>
          <p:cNvPr id="12" name="Shape 10"/>
          <p:cNvSpPr/>
          <p:nvPr/>
        </p:nvSpPr>
        <p:spPr>
          <a:xfrm>
            <a:off x="6035040" y="1463040"/>
            <a:ext cx="2697480" cy="219456"/>
          </a:xfrm>
          <a:prstGeom prst="rect">
            <a:avLst/>
          </a:prstGeom>
          <a:solidFill>
            <a:srgbClr val="008B8B"/>
          </a:solidFill>
          <a:ln/>
        </p:spPr>
      </p:sp>
      <p:sp>
        <p:nvSpPr>
          <p:cNvPr id="13" name="Text 11"/>
          <p:cNvSpPr/>
          <p:nvPr/>
        </p:nvSpPr>
        <p:spPr>
          <a:xfrm>
            <a:off x="6035040" y="1463040"/>
            <a:ext cx="2697480" cy="219456"/>
          </a:xfrm>
          <a:prstGeom prst="rect">
            <a:avLst/>
          </a:prstGeom>
          <a:noFill/>
          <a:ln/>
        </p:spPr>
        <p:txBody>
          <a:bodyPr wrap="square" lIns="0" tIns="0" rIns="0" bIns="0" rtlCol="0" anchor="ctr"/>
          <a:lstStyle/>
          <a:p>
            <a:pPr algn="ctr" indent="0" marL="0">
              <a:buNone/>
            </a:pPr>
            <a:r>
              <a:rPr lang="en-US" sz="850" b="1" spc="100" kern="0" dirty="0">
                <a:solidFill>
                  <a:srgbClr val="000000"/>
                </a:solidFill>
                <a:latin typeface="Arial" pitchFamily="34" charset="0"/>
                <a:ea typeface="Arial" pitchFamily="34" charset="-122"/>
                <a:cs typeface="Arial" pitchFamily="34" charset="-120"/>
              </a:rPr>
              <a:t>PHYSICAL CONTEXT</a:t>
            </a:r>
            <a:endParaRPr lang="en-US" sz="850" dirty="0"/>
          </a:p>
        </p:txBody>
      </p:sp>
      <p:sp>
        <p:nvSpPr>
          <p:cNvPr id="14" name="Text 12"/>
          <p:cNvSpPr/>
          <p:nvPr/>
        </p:nvSpPr>
        <p:spPr>
          <a:xfrm>
            <a:off x="6080760" y="1755648"/>
            <a:ext cx="2606040" cy="2194560"/>
          </a:xfrm>
          <a:prstGeom prst="rect">
            <a:avLst/>
          </a:prstGeom>
          <a:noFill/>
          <a:ln/>
        </p:spPr>
        <p:txBody>
          <a:bodyPr wrap="square" lIns="0" tIns="0" rIns="0" bIns="0" rtlCol="0" anchor="t"/>
          <a:lstStyle/>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Power demand: IEA, Energy &amp; AI (485→950 TWh, 2025–2030)</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Grid constraint: S&amp;P Global (85 GW US pipeline); World Economic Forum (May 2026)</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Silicon: Reuters (memory shortage, Jun 3, 2026); WSJ ($5.7T chip rally)</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ETF tickers referenced: SOXX, IGV, RSP, MAGS (plus S&amp;P 500 / Nasdaq Composite indices)</a:t>
            </a:r>
            <a:endParaRPr lang="en-US" sz="780" dirty="0"/>
          </a:p>
          <a:p>
            <a:pPr marL="101600" indent="-101600">
              <a:spcAft>
                <a:spcPts val="400"/>
              </a:spcAft>
              <a:buSzPct val="100000"/>
              <a:buChar char="•"/>
            </a:pPr>
            <a:r>
              <a:rPr lang="en-US" sz="780" dirty="0">
                <a:solidFill>
                  <a:srgbClr val="333333"/>
                </a:solidFill>
                <a:latin typeface="Arial" pitchFamily="34" charset="0"/>
                <a:ea typeface="Arial" pitchFamily="34" charset="-122"/>
                <a:cs typeface="Arial" pitchFamily="34" charset="-120"/>
              </a:rPr>
              <a:t>iShares funds are preferred as primary ETF sources per house data policy</a:t>
            </a:r>
            <a:endParaRPr lang="en-US" sz="780" dirty="0"/>
          </a:p>
        </p:txBody>
      </p:sp>
      <p:sp>
        <p:nvSpPr>
          <p:cNvPr id="15" name="Text 13"/>
          <p:cNvSpPr/>
          <p:nvPr/>
        </p:nvSpPr>
        <p:spPr>
          <a:xfrm>
            <a:off x="457200" y="3794760"/>
            <a:ext cx="8229600" cy="365760"/>
          </a:xfrm>
          <a:prstGeom prst="rect">
            <a:avLst/>
          </a:prstGeom>
          <a:noFill/>
          <a:ln/>
        </p:spPr>
        <p:txBody>
          <a:bodyPr wrap="square" lIns="0" tIns="0" rIns="0" bIns="0" rtlCol="0" anchor="ctr"/>
          <a:lstStyle/>
          <a:p>
            <a:pPr indent="0" marL="0">
              <a:buNone/>
            </a:pPr>
            <a:r>
              <a:rPr lang="en-US" sz="800" i="1" dirty="0">
                <a:solidFill>
                  <a:srgbClr val="999999"/>
                </a:solidFill>
                <a:latin typeface="Arial" pitchFamily="34" charset="0"/>
                <a:ea typeface="Arial" pitchFamily="34" charset="-122"/>
                <a:cs typeface="Arial" pitchFamily="34" charset="-120"/>
              </a:rPr>
              <a:t>Methodology: every figure verified against at least one primary or institutional source; where sources disagreed, the more conservative figure was used. No figures are extrapolated or modeled. End of deck.</a:t>
            </a:r>
            <a:endParaRPr lang="en-US" sz="800" dirty="0"/>
          </a:p>
        </p:txBody>
      </p:sp>
      <p:sp>
        <p:nvSpPr>
          <p:cNvPr id="16" name="Shape 14"/>
          <p:cNvSpPr/>
          <p:nvPr/>
        </p:nvSpPr>
        <p:spPr>
          <a:xfrm>
            <a:off x="0" y="4526280"/>
            <a:ext cx="9144000" cy="617220"/>
          </a:xfrm>
          <a:prstGeom prst="rect">
            <a:avLst/>
          </a:prstGeom>
          <a:solidFill>
            <a:srgbClr val="333333"/>
          </a:solidFill>
          <a:ln/>
        </p:spPr>
      </p:sp>
      <p:sp>
        <p:nvSpPr>
          <p:cNvPr id="17" name="Text 15"/>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 — June 2026</dc:title>
  <dc:subject>PptxGenJS Presentation</dc:subject>
  <dc:creator>Strategy</dc:creator>
  <cp:lastModifiedBy>Strategy</cp:lastModifiedBy>
  <cp:revision>1</cp:revision>
  <dcterms:created xsi:type="dcterms:W3CDTF">2026-06-10T04:20:07Z</dcterms:created>
  <dcterms:modified xsi:type="dcterms:W3CDTF">2026-06-10T04:20:07Z</dcterms:modified>
</cp:coreProperties>
</file>