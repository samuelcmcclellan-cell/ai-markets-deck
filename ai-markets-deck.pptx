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2026E $B</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Logic / AI accel.</c:v>
                  </c:pt>
                  <c:pt idx="1">
                    <c:v>Memory</c:v>
                  </c:pt>
                  <c:pt idx="2">
                    <c:v>Analog</c:v>
                  </c:pt>
                  <c:pt idx="3">
                    <c:v>Micro / MCU</c:v>
                  </c:pt>
                  <c:pt idx="4">
                    <c:v>Discrete &amp; Power</c:v>
                  </c:pt>
                </c:lvl>
              </c:multiLvlStrCache>
            </c:multiLvlStrRef>
          </c:cat>
          <c:val>
            <c:numRef>
              <c:f>Sheet1!$B$2:$B$6</c:f>
              <c:numCache>
                <c:formatCode>General</c:formatCode>
                <c:ptCount val="5"/>
                <c:pt idx="0">
                  <c:v>302</c:v>
                </c:pt>
                <c:pt idx="1">
                  <c:v>295</c:v>
                </c:pt>
                <c:pt idx="2">
                  <c:v>95</c:v>
                </c:pt>
                <c:pt idx="3">
                  <c:v>85</c:v>
                </c:pt>
                <c:pt idx="4">
                  <c:v>45</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HBM TAM $B</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2023</c:v>
                  </c:pt>
                  <c:pt idx="1">
                    <c:v>2024</c:v>
                  </c:pt>
                  <c:pt idx="2">
                    <c:v>2025</c:v>
                  </c:pt>
                  <c:pt idx="3">
                    <c:v>2026E</c:v>
                  </c:pt>
                  <c:pt idx="4">
                    <c:v>2027E</c:v>
                  </c:pt>
                  <c:pt idx="5">
                    <c:v>2028E</c:v>
                  </c:pt>
                </c:lvl>
              </c:multiLvlStrCache>
            </c:multiLvlStrRef>
          </c:cat>
          <c:val>
            <c:numRef>
              <c:f>Sheet1!$B$2:$B$7</c:f>
              <c:numCache>
                <c:formatCode>General</c:formatCode>
                <c:ptCount val="6"/>
                <c:pt idx="0">
                  <c:v>4</c:v>
                </c:pt>
                <c:pt idx="1">
                  <c:v>16</c:v>
                </c:pt>
                <c:pt idx="2">
                  <c:v>35</c:v>
                </c:pt>
                <c:pt idx="3">
                  <c:v>55</c:v>
                </c:pt>
                <c:pt idx="4">
                  <c:v>80</c:v>
                </c:pt>
                <c:pt idx="5">
                  <c:v>100</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c:v>
                </c:pt>
              </c:strCache>
            </c:strRef>
          </c:tx>
          <c:spPr>
            <a:solidFill>
              <a:srgbClr val="FFB800"/>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Sheet1!$A$2:$A$4</c:f>
              <c:multiLvlStrCache>
                <c:ptCount val="3"/>
                <c:lvl>
                  <c:pt idx="0">
                    <c:v>SK Hynix</c:v>
                  </c:pt>
                  <c:pt idx="1">
                    <c:v>Micron</c:v>
                  </c:pt>
                  <c:pt idx="2">
                    <c:v>Samsung</c:v>
                  </c:pt>
                </c:lvl>
              </c:multiLvlStrCache>
            </c:multiLvlStrRef>
          </c:cat>
          <c:val>
            <c:numRef>
              <c:f>Sheet1!$B$2:$B$4</c:f>
              <c:numCache>
                <c:formatCode>General</c:formatCode>
                <c:ptCount val="3"/>
                <c:pt idx="0">
                  <c:v>60</c:v>
                </c:pt>
                <c:pt idx="1">
                  <c:v>22</c:v>
                </c:pt>
                <c:pt idx="2">
                  <c:v>18</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 (SOXX)</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Sheet1!$B$2:$B$6</c:f>
              <c:numCache>
                <c:formatCode>General</c:formatCode>
                <c:ptCount val="5"/>
                <c:pt idx="0">
                  <c:v>100</c:v>
                </c:pt>
                <c:pt idx="1">
                  <c:v>110</c:v>
                </c:pt>
                <c:pt idx="2">
                  <c:v>118</c:v>
                </c:pt>
                <c:pt idx="3">
                  <c:v>128</c:v>
                </c:pt>
                <c:pt idx="4">
                  <c:v>138</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Sheet1!$C$2:$C$6</c:f>
              <c:numCache>
                <c:formatCode>General</c:formatCode>
                <c:ptCount val="5"/>
                <c:pt idx="0">
                  <c:v>100</c:v>
                </c:pt>
                <c:pt idx="1">
                  <c:v>98</c:v>
                </c:pt>
                <c:pt idx="2">
                  <c:v>96</c:v>
                </c:pt>
                <c:pt idx="3">
                  <c:v>99</c:v>
                </c:pt>
                <c:pt idx="4">
                  <c:v>104</c:v>
                </c:pt>
              </c:numCache>
            </c:numRef>
          </c:val>
          <c:smooth val="0"/>
        </c:ser>
        <c:ser>
          <c:idx val="2"/>
          <c:order val="2"/>
          <c:tx>
            <c:strRef>
              <c:f>Sheet1!$D$1</c:f>
              <c:strCache>
                <c:ptCount val="1"/>
                <c:pt idx="0">
                  <c:v>Software (IGV)</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Sheet1!$D$2:$D$6</c:f>
              <c:numCache>
                <c:formatCode>General</c:formatCode>
                <c:ptCount val="5"/>
                <c:pt idx="0">
                  <c:v>100</c:v>
                </c:pt>
                <c:pt idx="1">
                  <c:v>88</c:v>
                </c:pt>
                <c:pt idx="2">
                  <c:v>78</c:v>
                </c:pt>
                <c:pt idx="3">
                  <c:v>76</c:v>
                </c:pt>
                <c:pt idx="4">
                  <c:v>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Shape 0"/>
          <p:cNvSpPr/>
          <p:nvPr/>
        </p:nvSpPr>
        <p:spPr>
          <a:xfrm>
            <a:off x="5989320" y="822960"/>
            <a:ext cx="2743200" cy="2788920"/>
          </a:xfrm>
          <a:prstGeom prst="rect">
            <a:avLst/>
          </a:prstGeom>
          <a:solidFill>
            <a:srgbClr val="EEEEEE"/>
          </a:solidFill>
          <a:ln w="9525">
            <a:solidFill>
              <a:srgbClr val="BBBBBB"/>
            </a:solidFill>
            <a:prstDash val="dash"/>
          </a:ln>
        </p:spPr>
      </p:sp>
      <p:sp>
        <p:nvSpPr>
          <p:cNvPr id="3" name="Text 1"/>
          <p:cNvSpPr/>
          <p:nvPr/>
        </p:nvSpPr>
        <p:spPr>
          <a:xfrm>
            <a:off x="6080760" y="822960"/>
            <a:ext cx="2560320" cy="27889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Hero — abstract GPU / data-center close-up</a:t>
            </a:r>
            <a:endParaRPr lang="en-US" sz="1000" dirty="0"/>
          </a:p>
        </p:txBody>
      </p:sp>
      <p:sp>
        <p:nvSpPr>
          <p:cNvPr id="4" name="Text 2"/>
          <p:cNvSpPr/>
          <p:nvPr/>
        </p:nvSpPr>
        <p:spPr>
          <a:xfrm>
            <a:off x="7223760" y="320040"/>
            <a:ext cx="1554480" cy="32004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May 2026</a:t>
            </a:r>
            <a:endParaRPr lang="en-US" sz="1400" dirty="0"/>
          </a:p>
        </p:txBody>
      </p:sp>
      <p:sp>
        <p:nvSpPr>
          <p:cNvPr id="5" name="Shape 3"/>
          <p:cNvSpPr/>
          <p:nvPr/>
        </p:nvSpPr>
        <p:spPr>
          <a:xfrm>
            <a:off x="7223760" y="685800"/>
            <a:ext cx="1554480" cy="0"/>
          </a:xfrm>
          <a:prstGeom prst="line">
            <a:avLst/>
          </a:prstGeom>
          <a:noFill/>
          <a:ln w="12700">
            <a:solidFill>
              <a:srgbClr val="000000"/>
            </a:solidFill>
            <a:prstDash val="solid"/>
          </a:ln>
        </p:spPr>
      </p:sp>
      <p:sp>
        <p:nvSpPr>
          <p:cNvPr id="6" name="Shape 4"/>
          <p:cNvSpPr/>
          <p:nvPr/>
        </p:nvSpPr>
        <p:spPr>
          <a:xfrm>
            <a:off x="457200" y="1417320"/>
            <a:ext cx="731520" cy="91440"/>
          </a:xfrm>
          <a:prstGeom prst="rect">
            <a:avLst/>
          </a:prstGeom>
          <a:solidFill>
            <a:srgbClr val="F6693D"/>
          </a:solidFill>
          <a:ln w="12700">
            <a:solidFill>
              <a:srgbClr val="F6693D"/>
            </a:solidFill>
            <a:prstDash val="solid"/>
          </a:ln>
        </p:spPr>
      </p:sp>
      <p:sp>
        <p:nvSpPr>
          <p:cNvPr id="7" name="Text 5"/>
          <p:cNvSpPr/>
          <p:nvPr/>
        </p:nvSpPr>
        <p:spPr>
          <a:xfrm>
            <a:off x="457200" y="1645920"/>
            <a:ext cx="5669280" cy="1280160"/>
          </a:xfrm>
          <a:prstGeom prst="rect">
            <a:avLst/>
          </a:prstGeom>
          <a:noFill/>
          <a:ln/>
        </p:spPr>
        <p:txBody>
          <a:bodyPr wrap="square" lIns="0" tIns="0" rIns="0" bIns="0" rtlCol="0" anchor="t"/>
          <a:lstStyle/>
          <a:p>
            <a:pPr indent="0" marL="0">
              <a:buNone/>
            </a:pPr>
            <a:r>
              <a:rPr lang="en-US" sz="6600" b="1" dirty="0">
                <a:solidFill>
                  <a:srgbClr val="000000"/>
                </a:solidFill>
                <a:latin typeface="Arial Black" pitchFamily="34" charset="0"/>
                <a:ea typeface="Arial Black" pitchFamily="34" charset="-122"/>
                <a:cs typeface="Arial Black" pitchFamily="34" charset="-120"/>
              </a:rPr>
              <a:t>AI Markets</a:t>
            </a:r>
            <a:endParaRPr lang="en-US" sz="6600" dirty="0"/>
          </a:p>
        </p:txBody>
      </p:sp>
      <p:sp>
        <p:nvSpPr>
          <p:cNvPr id="8" name="Text 6"/>
          <p:cNvSpPr/>
          <p:nvPr/>
        </p:nvSpPr>
        <p:spPr>
          <a:xfrm>
            <a:off x="457200" y="2971800"/>
            <a:ext cx="5486400" cy="457200"/>
          </a:xfrm>
          <a:prstGeom prst="rect">
            <a:avLst/>
          </a:prstGeom>
          <a:noFill/>
          <a:ln/>
        </p:spPr>
        <p:txBody>
          <a:bodyPr wrap="square" lIns="0" tIns="0" rIns="0" bIns="0" rtlCol="0" anchor="t"/>
          <a:lstStyle/>
          <a:p>
            <a:pPr indent="0" marL="0">
              <a:buNone/>
            </a:pPr>
            <a:r>
              <a:rPr lang="en-US" sz="1700" b="1" dirty="0">
                <a:solidFill>
                  <a:srgbClr val="000000"/>
                </a:solidFill>
                <a:latin typeface="Arial Black" pitchFamily="34" charset="0"/>
                <a:ea typeface="Arial Black" pitchFamily="34" charset="-122"/>
                <a:cs typeface="Arial Black" pitchFamily="34" charset="-120"/>
              </a:rPr>
              <a:t>The capex cycle repricing every layer of tech.</a:t>
            </a:r>
            <a:endParaRPr lang="en-US" sz="1700" dirty="0"/>
          </a:p>
        </p:txBody>
      </p:sp>
      <p:sp>
        <p:nvSpPr>
          <p:cNvPr id="9" name="Text 7"/>
          <p:cNvSpPr/>
          <p:nvPr/>
        </p:nvSpPr>
        <p:spPr>
          <a:xfrm>
            <a:off x="457200" y="4023360"/>
            <a:ext cx="5486400" cy="320040"/>
          </a:xfrm>
          <a:prstGeom prst="rect">
            <a:avLst/>
          </a:prstGeom>
          <a:noFill/>
          <a:ln/>
        </p:spPr>
        <p:txBody>
          <a:bodyPr wrap="square" lIns="0" tIns="0" rIns="0" bIns="0" rtlCol="0" anchor="t"/>
          <a:lstStyle/>
          <a:p>
            <a:pPr indent="0" marL="0">
              <a:buNone/>
            </a:pPr>
            <a:r>
              <a:rPr lang="en-US" sz="1100" b="1" dirty="0">
                <a:solidFill>
                  <a:srgbClr val="000000"/>
                </a:solidFill>
                <a:latin typeface="Arial" pitchFamily="34" charset="0"/>
                <a:ea typeface="Arial" pitchFamily="34" charset="-122"/>
                <a:cs typeface="Arial" pitchFamily="34" charset="-120"/>
              </a:rPr>
              <a:t>Strategy Note  |  Equity Research</a:t>
            </a:r>
            <a:endParaRPr lang="en-US" sz="1100" dirty="0"/>
          </a:p>
        </p:txBody>
      </p:sp>
      <p:sp>
        <p:nvSpPr>
          <p:cNvPr id="10" name="Shape 8"/>
          <p:cNvSpPr/>
          <p:nvPr/>
        </p:nvSpPr>
        <p:spPr>
          <a:xfrm>
            <a:off x="0" y="4526280"/>
            <a:ext cx="9144000" cy="617220"/>
          </a:xfrm>
          <a:prstGeom prst="rect">
            <a:avLst/>
          </a:prstGeom>
          <a:solidFill>
            <a:srgbClr val="333333"/>
          </a:solidFill>
          <a:ln w="12700">
            <a:solidFill>
              <a:srgbClr val="333333"/>
            </a:solidFill>
            <a:prstDash val="solid"/>
          </a:ln>
        </p:spPr>
      </p:sp>
      <p:sp>
        <p:nvSpPr>
          <p:cNvPr id="11" name="Text 9"/>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argument, in five parts.</a:t>
            </a:r>
            <a:endParaRPr lang="en-US" sz="2700" dirty="0"/>
          </a:p>
        </p:txBody>
      </p:sp>
      <p:sp>
        <p:nvSpPr>
          <p:cNvPr id="3" name="Text 1"/>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Landscape, Market, Shifts, Risks, Frontier. Each answers a different question about the same ~$750B capex cycle.</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0" y="1874520"/>
            <a:ext cx="9144000" cy="2148840"/>
          </a:xfrm>
          <a:prstGeom prst="rect">
            <a:avLst/>
          </a:prstGeom>
          <a:solidFill>
            <a:srgbClr val="333333"/>
          </a:solidFill>
          <a:ln w="12700">
            <a:solidFill>
              <a:srgbClr val="333333"/>
            </a:solidFill>
            <a:prstDash val="solid"/>
          </a:ln>
        </p:spPr>
      </p:sp>
      <p:sp>
        <p:nvSpPr>
          <p:cNvPr id="6" name="Text 4"/>
          <p:cNvSpPr/>
          <p:nvPr/>
        </p:nvSpPr>
        <p:spPr>
          <a:xfrm>
            <a:off x="457200" y="1993392"/>
            <a:ext cx="8229600" cy="256032"/>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THE DECK AT A GLANCE</a:t>
            </a:r>
            <a:endParaRPr lang="en-US" sz="900" dirty="0"/>
          </a:p>
        </p:txBody>
      </p:sp>
      <p:sp>
        <p:nvSpPr>
          <p:cNvPr id="7" name="Shape 5"/>
          <p:cNvSpPr/>
          <p:nvPr/>
        </p:nvSpPr>
        <p:spPr>
          <a:xfrm>
            <a:off x="356616" y="2359152"/>
            <a:ext cx="1554480" cy="1508760"/>
          </a:xfrm>
          <a:prstGeom prst="rect">
            <a:avLst/>
          </a:prstGeom>
          <a:solidFill>
            <a:srgbClr val="444444"/>
          </a:solidFill>
          <a:ln w="12700">
            <a:solidFill>
              <a:srgbClr val="444444"/>
            </a:solidFill>
            <a:prstDash val="solid"/>
          </a:ln>
        </p:spPr>
      </p:sp>
      <p:sp>
        <p:nvSpPr>
          <p:cNvPr id="8" name="Shape 6"/>
          <p:cNvSpPr/>
          <p:nvPr/>
        </p:nvSpPr>
        <p:spPr>
          <a:xfrm>
            <a:off x="356616" y="2359152"/>
            <a:ext cx="1554480" cy="54864"/>
          </a:xfrm>
          <a:prstGeom prst="rect">
            <a:avLst/>
          </a:prstGeom>
          <a:solidFill>
            <a:srgbClr val="008B8B"/>
          </a:solidFill>
          <a:ln w="12700">
            <a:solidFill>
              <a:srgbClr val="008B8B"/>
            </a:solidFill>
            <a:prstDash val="solid"/>
          </a:ln>
        </p:spPr>
      </p:sp>
      <p:sp>
        <p:nvSpPr>
          <p:cNvPr id="9" name="Text 7"/>
          <p:cNvSpPr/>
          <p:nvPr/>
        </p:nvSpPr>
        <p:spPr>
          <a:xfrm>
            <a:off x="356616" y="2523744"/>
            <a:ext cx="1554480" cy="457200"/>
          </a:xfrm>
          <a:prstGeom prst="rect">
            <a:avLst/>
          </a:prstGeom>
          <a:noFill/>
          <a:ln/>
        </p:spPr>
        <p:txBody>
          <a:bodyPr wrap="square" lIns="0" tIns="0" rIns="0" bIns="0" rtlCol="0" anchor="ctr"/>
          <a:lstStyle/>
          <a:p>
            <a:pPr algn="ctr" indent="0" marL="0">
              <a:buNone/>
            </a:pPr>
            <a:r>
              <a:rPr lang="en-US" sz="2400" b="1" dirty="0">
                <a:solidFill>
                  <a:srgbClr val="008B8B"/>
                </a:solidFill>
                <a:latin typeface="Arial Black" pitchFamily="34" charset="0"/>
                <a:ea typeface="Arial Black" pitchFamily="34" charset="-122"/>
                <a:cs typeface="Arial Black" pitchFamily="34" charset="-120"/>
              </a:rPr>
              <a:t>01</a:t>
            </a:r>
            <a:endParaRPr lang="en-US" sz="2400" dirty="0"/>
          </a:p>
        </p:txBody>
      </p:sp>
      <p:sp>
        <p:nvSpPr>
          <p:cNvPr id="10" name="Text 8"/>
          <p:cNvSpPr/>
          <p:nvPr/>
        </p:nvSpPr>
        <p:spPr>
          <a:xfrm>
            <a:off x="356616" y="2980944"/>
            <a:ext cx="1554480"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LANDSCAPE</a:t>
            </a:r>
            <a:endParaRPr lang="en-US" sz="1050" dirty="0"/>
          </a:p>
        </p:txBody>
      </p:sp>
      <p:sp>
        <p:nvSpPr>
          <p:cNvPr id="11" name="Text 9"/>
          <p:cNvSpPr/>
          <p:nvPr/>
        </p:nvSpPr>
        <p:spPr>
          <a:xfrm>
            <a:off x="448056" y="3291840"/>
            <a:ext cx="1371600" cy="411480"/>
          </a:xfrm>
          <a:prstGeom prst="rect">
            <a:avLst/>
          </a:prstGeom>
          <a:noFill/>
          <a:ln/>
        </p:spPr>
        <p:txBody>
          <a:bodyPr wrap="square" lIns="0" tIns="0" rIns="0" bIns="0" rtlCol="0" anchor="ctr"/>
          <a:lstStyle/>
          <a:p>
            <a:pPr algn="ctr" indent="0" marL="0">
              <a:buNone/>
            </a:pPr>
            <a:r>
              <a:rPr lang="en-US" sz="850" dirty="0">
                <a:solidFill>
                  <a:srgbClr val="CCCCCC"/>
                </a:solidFill>
                <a:latin typeface="Arial" pitchFamily="34" charset="0"/>
                <a:ea typeface="Arial" pitchFamily="34" charset="-122"/>
                <a:cs typeface="Arial" pitchFamily="34" charset="-120"/>
              </a:rPr>
              <a:t>What AI is, where it runs, who fabs it.</a:t>
            </a:r>
            <a:endParaRPr lang="en-US" sz="850" dirty="0"/>
          </a:p>
        </p:txBody>
      </p:sp>
      <p:sp>
        <p:nvSpPr>
          <p:cNvPr id="12" name="Text 10"/>
          <p:cNvSpPr/>
          <p:nvPr/>
        </p:nvSpPr>
        <p:spPr>
          <a:xfrm>
            <a:off x="356616" y="3639312"/>
            <a:ext cx="1554480" cy="201168"/>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3–7</a:t>
            </a:r>
            <a:endParaRPr lang="en-US" sz="750" dirty="0"/>
          </a:p>
        </p:txBody>
      </p:sp>
      <p:sp>
        <p:nvSpPr>
          <p:cNvPr id="13" name="Shape 11"/>
          <p:cNvSpPr/>
          <p:nvPr/>
        </p:nvSpPr>
        <p:spPr>
          <a:xfrm>
            <a:off x="2075688" y="2359152"/>
            <a:ext cx="1554480" cy="1508760"/>
          </a:xfrm>
          <a:prstGeom prst="rect">
            <a:avLst/>
          </a:prstGeom>
          <a:solidFill>
            <a:srgbClr val="444444"/>
          </a:solidFill>
          <a:ln w="12700">
            <a:solidFill>
              <a:srgbClr val="444444"/>
            </a:solidFill>
            <a:prstDash val="solid"/>
          </a:ln>
        </p:spPr>
      </p:sp>
      <p:sp>
        <p:nvSpPr>
          <p:cNvPr id="14" name="Shape 12"/>
          <p:cNvSpPr/>
          <p:nvPr/>
        </p:nvSpPr>
        <p:spPr>
          <a:xfrm>
            <a:off x="2075688" y="2359152"/>
            <a:ext cx="1554480" cy="54864"/>
          </a:xfrm>
          <a:prstGeom prst="rect">
            <a:avLst/>
          </a:prstGeom>
          <a:solidFill>
            <a:srgbClr val="FFB800"/>
          </a:solidFill>
          <a:ln w="12700">
            <a:solidFill>
              <a:srgbClr val="FFB800"/>
            </a:solidFill>
            <a:prstDash val="solid"/>
          </a:ln>
        </p:spPr>
      </p:sp>
      <p:sp>
        <p:nvSpPr>
          <p:cNvPr id="15" name="Text 13"/>
          <p:cNvSpPr/>
          <p:nvPr/>
        </p:nvSpPr>
        <p:spPr>
          <a:xfrm>
            <a:off x="2075688" y="2523744"/>
            <a:ext cx="1554480" cy="457200"/>
          </a:xfrm>
          <a:prstGeom prst="rect">
            <a:avLst/>
          </a:prstGeom>
          <a:noFill/>
          <a:ln/>
        </p:spPr>
        <p:txBody>
          <a:bodyPr wrap="square" lIns="0" tIns="0" rIns="0" bIns="0" rtlCol="0" anchor="ctr"/>
          <a:lstStyle/>
          <a:p>
            <a:pPr algn="ctr" indent="0" marL="0">
              <a:buNone/>
            </a:pPr>
            <a:r>
              <a:rPr lang="en-US" sz="2400" b="1" dirty="0">
                <a:solidFill>
                  <a:srgbClr val="FFB800"/>
                </a:solidFill>
                <a:latin typeface="Arial Black" pitchFamily="34" charset="0"/>
                <a:ea typeface="Arial Black" pitchFamily="34" charset="-122"/>
                <a:cs typeface="Arial Black" pitchFamily="34" charset="-120"/>
              </a:rPr>
              <a:t>02</a:t>
            </a:r>
            <a:endParaRPr lang="en-US" sz="2400" dirty="0"/>
          </a:p>
        </p:txBody>
      </p:sp>
      <p:sp>
        <p:nvSpPr>
          <p:cNvPr id="16" name="Text 14"/>
          <p:cNvSpPr/>
          <p:nvPr/>
        </p:nvSpPr>
        <p:spPr>
          <a:xfrm>
            <a:off x="2075688" y="2980944"/>
            <a:ext cx="1554480"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MARKET</a:t>
            </a:r>
            <a:endParaRPr lang="en-US" sz="1050" dirty="0"/>
          </a:p>
        </p:txBody>
      </p:sp>
      <p:sp>
        <p:nvSpPr>
          <p:cNvPr id="17" name="Text 15"/>
          <p:cNvSpPr/>
          <p:nvPr/>
        </p:nvSpPr>
        <p:spPr>
          <a:xfrm>
            <a:off x="2167128" y="3291840"/>
            <a:ext cx="1371600" cy="411480"/>
          </a:xfrm>
          <a:prstGeom prst="rect">
            <a:avLst/>
          </a:prstGeom>
          <a:noFill/>
          <a:ln/>
        </p:spPr>
        <p:txBody>
          <a:bodyPr wrap="square" lIns="0" tIns="0" rIns="0" bIns="0" rtlCol="0" anchor="ctr"/>
          <a:lstStyle/>
          <a:p>
            <a:pPr algn="ctr" indent="0" marL="0">
              <a:buNone/>
            </a:pPr>
            <a:r>
              <a:rPr lang="en-US" sz="850" dirty="0">
                <a:solidFill>
                  <a:srgbClr val="CCCCCC"/>
                </a:solidFill>
                <a:latin typeface="Arial" pitchFamily="34" charset="0"/>
                <a:ea typeface="Arial" pitchFamily="34" charset="-122"/>
                <a:cs typeface="Arial" pitchFamily="34" charset="-120"/>
              </a:rPr>
              <a:t>Who buys the chips and who builds the models.</a:t>
            </a:r>
            <a:endParaRPr lang="en-US" sz="850" dirty="0"/>
          </a:p>
        </p:txBody>
      </p:sp>
      <p:sp>
        <p:nvSpPr>
          <p:cNvPr id="18" name="Text 16"/>
          <p:cNvSpPr/>
          <p:nvPr/>
        </p:nvSpPr>
        <p:spPr>
          <a:xfrm>
            <a:off x="2075688" y="3639312"/>
            <a:ext cx="1554480" cy="201168"/>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8–11</a:t>
            </a:r>
            <a:endParaRPr lang="en-US" sz="750" dirty="0"/>
          </a:p>
        </p:txBody>
      </p:sp>
      <p:sp>
        <p:nvSpPr>
          <p:cNvPr id="19" name="Shape 17"/>
          <p:cNvSpPr/>
          <p:nvPr/>
        </p:nvSpPr>
        <p:spPr>
          <a:xfrm>
            <a:off x="3794760" y="2359152"/>
            <a:ext cx="1554480" cy="1508760"/>
          </a:xfrm>
          <a:prstGeom prst="rect">
            <a:avLst/>
          </a:prstGeom>
          <a:solidFill>
            <a:srgbClr val="444444"/>
          </a:solidFill>
          <a:ln w="12700">
            <a:solidFill>
              <a:srgbClr val="444444"/>
            </a:solidFill>
            <a:prstDash val="solid"/>
          </a:ln>
        </p:spPr>
      </p:sp>
      <p:sp>
        <p:nvSpPr>
          <p:cNvPr id="20" name="Shape 18"/>
          <p:cNvSpPr/>
          <p:nvPr/>
        </p:nvSpPr>
        <p:spPr>
          <a:xfrm>
            <a:off x="3794760" y="2359152"/>
            <a:ext cx="1554480" cy="54864"/>
          </a:xfrm>
          <a:prstGeom prst="rect">
            <a:avLst/>
          </a:prstGeom>
          <a:solidFill>
            <a:srgbClr val="F6693D"/>
          </a:solidFill>
          <a:ln w="12700">
            <a:solidFill>
              <a:srgbClr val="F6693D"/>
            </a:solidFill>
            <a:prstDash val="solid"/>
          </a:ln>
        </p:spPr>
      </p:sp>
      <p:sp>
        <p:nvSpPr>
          <p:cNvPr id="21" name="Text 19"/>
          <p:cNvSpPr/>
          <p:nvPr/>
        </p:nvSpPr>
        <p:spPr>
          <a:xfrm>
            <a:off x="3794760" y="2523744"/>
            <a:ext cx="1554480" cy="457200"/>
          </a:xfrm>
          <a:prstGeom prst="rect">
            <a:avLst/>
          </a:prstGeom>
          <a:noFill/>
          <a:ln/>
        </p:spPr>
        <p:txBody>
          <a:bodyPr wrap="square" lIns="0" tIns="0" rIns="0" bIns="0" rtlCol="0" anchor="ctr"/>
          <a:lstStyle/>
          <a:p>
            <a:pPr algn="ctr" indent="0" marL="0">
              <a:buNone/>
            </a:pPr>
            <a:r>
              <a:rPr lang="en-US" sz="2400" b="1" dirty="0">
                <a:solidFill>
                  <a:srgbClr val="F6693D"/>
                </a:solidFill>
                <a:latin typeface="Arial Black" pitchFamily="34" charset="0"/>
                <a:ea typeface="Arial Black" pitchFamily="34" charset="-122"/>
                <a:cs typeface="Arial Black" pitchFamily="34" charset="-120"/>
              </a:rPr>
              <a:t>03</a:t>
            </a:r>
            <a:endParaRPr lang="en-US" sz="2400" dirty="0"/>
          </a:p>
        </p:txBody>
      </p:sp>
      <p:sp>
        <p:nvSpPr>
          <p:cNvPr id="22" name="Text 20"/>
          <p:cNvSpPr/>
          <p:nvPr/>
        </p:nvSpPr>
        <p:spPr>
          <a:xfrm>
            <a:off x="3794760" y="2980944"/>
            <a:ext cx="1554480"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SHIFTS</a:t>
            </a:r>
            <a:endParaRPr lang="en-US" sz="1050" dirty="0"/>
          </a:p>
        </p:txBody>
      </p:sp>
      <p:sp>
        <p:nvSpPr>
          <p:cNvPr id="23" name="Text 21"/>
          <p:cNvSpPr/>
          <p:nvPr/>
        </p:nvSpPr>
        <p:spPr>
          <a:xfrm>
            <a:off x="3886200" y="3291840"/>
            <a:ext cx="1371600" cy="411480"/>
          </a:xfrm>
          <a:prstGeom prst="rect">
            <a:avLst/>
          </a:prstGeom>
          <a:noFill/>
          <a:ln/>
        </p:spPr>
        <p:txBody>
          <a:bodyPr wrap="square" lIns="0" tIns="0" rIns="0" bIns="0" rtlCol="0" anchor="ctr"/>
          <a:lstStyle/>
          <a:p>
            <a:pPr algn="ctr" indent="0" marL="0">
              <a:buNone/>
            </a:pPr>
            <a:r>
              <a:rPr lang="en-US" sz="850" dirty="0">
                <a:solidFill>
                  <a:srgbClr val="CCCCCC"/>
                </a:solidFill>
                <a:latin typeface="Arial" pitchFamily="34" charset="0"/>
                <a:ea typeface="Arial" pitchFamily="34" charset="-122"/>
                <a:cs typeface="Arial" pitchFamily="34" charset="-120"/>
              </a:rPr>
              <a:t>The agent era and the great divergence in tech.</a:t>
            </a:r>
            <a:endParaRPr lang="en-US" sz="850" dirty="0"/>
          </a:p>
        </p:txBody>
      </p:sp>
      <p:sp>
        <p:nvSpPr>
          <p:cNvPr id="24" name="Text 22"/>
          <p:cNvSpPr/>
          <p:nvPr/>
        </p:nvSpPr>
        <p:spPr>
          <a:xfrm>
            <a:off x="3794760" y="3639312"/>
            <a:ext cx="1554480" cy="201168"/>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12–13</a:t>
            </a:r>
            <a:endParaRPr lang="en-US" sz="750" dirty="0"/>
          </a:p>
        </p:txBody>
      </p:sp>
      <p:sp>
        <p:nvSpPr>
          <p:cNvPr id="25" name="Shape 23"/>
          <p:cNvSpPr/>
          <p:nvPr/>
        </p:nvSpPr>
        <p:spPr>
          <a:xfrm>
            <a:off x="5513832" y="2359152"/>
            <a:ext cx="1554480" cy="1508760"/>
          </a:xfrm>
          <a:prstGeom prst="rect">
            <a:avLst/>
          </a:prstGeom>
          <a:solidFill>
            <a:srgbClr val="444444"/>
          </a:solidFill>
          <a:ln w="12700">
            <a:solidFill>
              <a:srgbClr val="444444"/>
            </a:solidFill>
            <a:prstDash val="solid"/>
          </a:ln>
        </p:spPr>
      </p:sp>
      <p:sp>
        <p:nvSpPr>
          <p:cNvPr id="26" name="Shape 24"/>
          <p:cNvSpPr/>
          <p:nvPr/>
        </p:nvSpPr>
        <p:spPr>
          <a:xfrm>
            <a:off x="5513832" y="2359152"/>
            <a:ext cx="1554480" cy="54864"/>
          </a:xfrm>
          <a:prstGeom prst="rect">
            <a:avLst/>
          </a:prstGeom>
          <a:solidFill>
            <a:srgbClr val="CC0000"/>
          </a:solidFill>
          <a:ln w="12700">
            <a:solidFill>
              <a:srgbClr val="CC0000"/>
            </a:solidFill>
            <a:prstDash val="solid"/>
          </a:ln>
        </p:spPr>
      </p:sp>
      <p:sp>
        <p:nvSpPr>
          <p:cNvPr id="27" name="Text 25"/>
          <p:cNvSpPr/>
          <p:nvPr/>
        </p:nvSpPr>
        <p:spPr>
          <a:xfrm>
            <a:off x="5513832" y="2523744"/>
            <a:ext cx="1554480" cy="457200"/>
          </a:xfrm>
          <a:prstGeom prst="rect">
            <a:avLst/>
          </a:prstGeom>
          <a:noFill/>
          <a:ln/>
        </p:spPr>
        <p:txBody>
          <a:bodyPr wrap="square" lIns="0" tIns="0" rIns="0" bIns="0" rtlCol="0" anchor="ctr"/>
          <a:lstStyle/>
          <a:p>
            <a:pPr algn="ctr" indent="0" marL="0">
              <a:buNone/>
            </a:pPr>
            <a:r>
              <a:rPr lang="en-US" sz="2400" b="1" dirty="0">
                <a:solidFill>
                  <a:srgbClr val="CC0000"/>
                </a:solidFill>
                <a:latin typeface="Arial Black" pitchFamily="34" charset="0"/>
                <a:ea typeface="Arial Black" pitchFamily="34" charset="-122"/>
                <a:cs typeface="Arial Black" pitchFamily="34" charset="-120"/>
              </a:rPr>
              <a:t>04</a:t>
            </a:r>
            <a:endParaRPr lang="en-US" sz="2400" dirty="0"/>
          </a:p>
        </p:txBody>
      </p:sp>
      <p:sp>
        <p:nvSpPr>
          <p:cNvPr id="28" name="Text 26"/>
          <p:cNvSpPr/>
          <p:nvPr/>
        </p:nvSpPr>
        <p:spPr>
          <a:xfrm>
            <a:off x="5513832" y="2980944"/>
            <a:ext cx="1554480"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RISKS</a:t>
            </a:r>
            <a:endParaRPr lang="en-US" sz="1050" dirty="0"/>
          </a:p>
        </p:txBody>
      </p:sp>
      <p:sp>
        <p:nvSpPr>
          <p:cNvPr id="29" name="Text 27"/>
          <p:cNvSpPr/>
          <p:nvPr/>
        </p:nvSpPr>
        <p:spPr>
          <a:xfrm>
            <a:off x="5605272" y="3291840"/>
            <a:ext cx="1371600" cy="411480"/>
          </a:xfrm>
          <a:prstGeom prst="rect">
            <a:avLst/>
          </a:prstGeom>
          <a:noFill/>
          <a:ln/>
        </p:spPr>
        <p:txBody>
          <a:bodyPr wrap="square" lIns="0" tIns="0" rIns="0" bIns="0" rtlCol="0" anchor="ctr"/>
          <a:lstStyle/>
          <a:p>
            <a:pPr algn="ctr" indent="0" marL="0">
              <a:buNone/>
            </a:pPr>
            <a:r>
              <a:rPr lang="en-US" sz="850" dirty="0">
                <a:solidFill>
                  <a:srgbClr val="CCCCCC"/>
                </a:solidFill>
                <a:latin typeface="Arial" pitchFamily="34" charset="0"/>
                <a:ea typeface="Arial" pitchFamily="34" charset="-122"/>
                <a:cs typeface="Arial" pitchFamily="34" charset="-120"/>
              </a:rPr>
              <a:t>Bubble, supply chain, policy, backlash.</a:t>
            </a:r>
            <a:endParaRPr lang="en-US" sz="850" dirty="0"/>
          </a:p>
        </p:txBody>
      </p:sp>
      <p:sp>
        <p:nvSpPr>
          <p:cNvPr id="30" name="Text 28"/>
          <p:cNvSpPr/>
          <p:nvPr/>
        </p:nvSpPr>
        <p:spPr>
          <a:xfrm>
            <a:off x="5513832" y="3639312"/>
            <a:ext cx="1554480" cy="201168"/>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14–17</a:t>
            </a:r>
            <a:endParaRPr lang="en-US" sz="750" dirty="0"/>
          </a:p>
        </p:txBody>
      </p:sp>
      <p:sp>
        <p:nvSpPr>
          <p:cNvPr id="31" name="Shape 29"/>
          <p:cNvSpPr/>
          <p:nvPr/>
        </p:nvSpPr>
        <p:spPr>
          <a:xfrm>
            <a:off x="7232904" y="2359152"/>
            <a:ext cx="1554480" cy="1508760"/>
          </a:xfrm>
          <a:prstGeom prst="rect">
            <a:avLst/>
          </a:prstGeom>
          <a:solidFill>
            <a:srgbClr val="444444"/>
          </a:solidFill>
          <a:ln w="12700">
            <a:solidFill>
              <a:srgbClr val="444444"/>
            </a:solidFill>
            <a:prstDash val="solid"/>
          </a:ln>
        </p:spPr>
      </p:sp>
      <p:sp>
        <p:nvSpPr>
          <p:cNvPr id="32" name="Shape 30"/>
          <p:cNvSpPr/>
          <p:nvPr/>
        </p:nvSpPr>
        <p:spPr>
          <a:xfrm>
            <a:off x="7232904" y="2359152"/>
            <a:ext cx="1554480" cy="54864"/>
          </a:xfrm>
          <a:prstGeom prst="rect">
            <a:avLst/>
          </a:prstGeom>
          <a:solidFill>
            <a:srgbClr val="E8478D"/>
          </a:solidFill>
          <a:ln w="12700">
            <a:solidFill>
              <a:srgbClr val="E8478D"/>
            </a:solidFill>
            <a:prstDash val="solid"/>
          </a:ln>
        </p:spPr>
      </p:sp>
      <p:sp>
        <p:nvSpPr>
          <p:cNvPr id="33" name="Text 31"/>
          <p:cNvSpPr/>
          <p:nvPr/>
        </p:nvSpPr>
        <p:spPr>
          <a:xfrm>
            <a:off x="7232904" y="2523744"/>
            <a:ext cx="1554480" cy="457200"/>
          </a:xfrm>
          <a:prstGeom prst="rect">
            <a:avLst/>
          </a:prstGeom>
          <a:noFill/>
          <a:ln/>
        </p:spPr>
        <p:txBody>
          <a:bodyPr wrap="square" lIns="0" tIns="0" rIns="0" bIns="0" rtlCol="0" anchor="ctr"/>
          <a:lstStyle/>
          <a:p>
            <a:pPr algn="ctr" indent="0" marL="0">
              <a:buNone/>
            </a:pPr>
            <a:r>
              <a:rPr lang="en-US" sz="2400" b="1" dirty="0">
                <a:solidFill>
                  <a:srgbClr val="E8478D"/>
                </a:solidFill>
                <a:latin typeface="Arial Black" pitchFamily="34" charset="0"/>
                <a:ea typeface="Arial Black" pitchFamily="34" charset="-122"/>
                <a:cs typeface="Arial Black" pitchFamily="34" charset="-120"/>
              </a:rPr>
              <a:t>05</a:t>
            </a:r>
            <a:endParaRPr lang="en-US" sz="2400" dirty="0"/>
          </a:p>
        </p:txBody>
      </p:sp>
      <p:sp>
        <p:nvSpPr>
          <p:cNvPr id="34" name="Text 32"/>
          <p:cNvSpPr/>
          <p:nvPr/>
        </p:nvSpPr>
        <p:spPr>
          <a:xfrm>
            <a:off x="7232904" y="2980944"/>
            <a:ext cx="1554480"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FRONTIER</a:t>
            </a:r>
            <a:endParaRPr lang="en-US" sz="1050" dirty="0"/>
          </a:p>
        </p:txBody>
      </p:sp>
      <p:sp>
        <p:nvSpPr>
          <p:cNvPr id="35" name="Text 33"/>
          <p:cNvSpPr/>
          <p:nvPr/>
        </p:nvSpPr>
        <p:spPr>
          <a:xfrm>
            <a:off x="7324344" y="3291840"/>
            <a:ext cx="1371600" cy="411480"/>
          </a:xfrm>
          <a:prstGeom prst="rect">
            <a:avLst/>
          </a:prstGeom>
          <a:noFill/>
          <a:ln/>
        </p:spPr>
        <p:txBody>
          <a:bodyPr wrap="square" lIns="0" tIns="0" rIns="0" bIns="0" rtlCol="0" anchor="ctr"/>
          <a:lstStyle/>
          <a:p>
            <a:pPr algn="ctr" indent="0" marL="0">
              <a:buNone/>
            </a:pPr>
            <a:r>
              <a:rPr lang="en-US" sz="850" dirty="0">
                <a:solidFill>
                  <a:srgbClr val="CCCCCC"/>
                </a:solidFill>
                <a:latin typeface="Arial" pitchFamily="34" charset="0"/>
                <a:ea typeface="Arial" pitchFamily="34" charset="-122"/>
                <a:cs typeface="Arial" pitchFamily="34" charset="-120"/>
              </a:rPr>
              <a:t>Orbital, physical, autonomous vehicles.</a:t>
            </a:r>
            <a:endParaRPr lang="en-US" sz="850" dirty="0"/>
          </a:p>
        </p:txBody>
      </p:sp>
      <p:sp>
        <p:nvSpPr>
          <p:cNvPr id="36" name="Text 34"/>
          <p:cNvSpPr/>
          <p:nvPr/>
        </p:nvSpPr>
        <p:spPr>
          <a:xfrm>
            <a:off x="7232904" y="3639312"/>
            <a:ext cx="1554480" cy="201168"/>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18–20</a:t>
            </a:r>
            <a:endParaRPr lang="en-US" sz="750" dirty="0"/>
          </a:p>
        </p:txBody>
      </p:sp>
      <p:sp>
        <p:nvSpPr>
          <p:cNvPr id="37" name="Text 35"/>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22 slides, read top to bottom.</a:t>
            </a:r>
            <a:endParaRPr lang="en-US" sz="700" dirty="0"/>
          </a:p>
        </p:txBody>
      </p:sp>
      <p:sp>
        <p:nvSpPr>
          <p:cNvPr id="38" name="Shape 36"/>
          <p:cNvSpPr/>
          <p:nvPr/>
        </p:nvSpPr>
        <p:spPr>
          <a:xfrm>
            <a:off x="0" y="4526280"/>
            <a:ext cx="9144000" cy="617220"/>
          </a:xfrm>
          <a:prstGeom prst="rect">
            <a:avLst/>
          </a:prstGeom>
          <a:solidFill>
            <a:srgbClr val="333333"/>
          </a:solidFill>
          <a:ln w="12700">
            <a:solidFill>
              <a:srgbClr val="333333"/>
            </a:solidFill>
            <a:prstDash val="solid"/>
          </a:ln>
        </p:spPr>
      </p:sp>
      <p:sp>
        <p:nvSpPr>
          <p:cNvPr id="39" name="Text 37"/>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Why AI matters to markets.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AI is the largest capex cycle in history, it touches every layer of the economy, and it is repricing everything — in both directions.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874520"/>
            <a:ext cx="19202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$750B</a:t>
            </a:r>
            <a:endParaRPr lang="en-US" sz="4000" dirty="0"/>
          </a:p>
        </p:txBody>
      </p:sp>
      <p:sp>
        <p:nvSpPr>
          <p:cNvPr id="8" name="Text 6"/>
          <p:cNvSpPr/>
          <p:nvPr/>
        </p:nvSpPr>
        <p:spPr>
          <a:xfrm>
            <a:off x="457200" y="260604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2026E hyperscaler capex (Amazon, Alphabet, Microsoft, Meta, Oracle)</a:t>
            </a:r>
            <a:endParaRPr lang="en-US" sz="1100" dirty="0"/>
          </a:p>
        </p:txBody>
      </p:sp>
      <p:sp>
        <p:nvSpPr>
          <p:cNvPr id="9" name="Text 7"/>
          <p:cNvSpPr/>
          <p:nvPr/>
        </p:nvSpPr>
        <p:spPr>
          <a:xfrm>
            <a:off x="2560320" y="1874520"/>
            <a:ext cx="19202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$4T</a:t>
            </a:r>
            <a:endParaRPr lang="en-US" sz="4000" dirty="0"/>
          </a:p>
        </p:txBody>
      </p:sp>
      <p:sp>
        <p:nvSpPr>
          <p:cNvPr id="10" name="Text 8"/>
          <p:cNvSpPr/>
          <p:nvPr/>
        </p:nvSpPr>
        <p:spPr>
          <a:xfrm>
            <a:off x="2560320" y="260604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cumulative AI data-center investment through 2030 (Huang; DB est.)</a:t>
            </a:r>
            <a:endParaRPr lang="en-US" sz="1100" dirty="0"/>
          </a:p>
        </p:txBody>
      </p:sp>
      <p:sp>
        <p:nvSpPr>
          <p:cNvPr id="11" name="Text 9"/>
          <p:cNvSpPr/>
          <p:nvPr/>
        </p:nvSpPr>
        <p:spPr>
          <a:xfrm>
            <a:off x="4663440" y="1874520"/>
            <a:ext cx="1920240" cy="685800"/>
          </a:xfrm>
          <a:prstGeom prst="rect">
            <a:avLst/>
          </a:prstGeom>
          <a:noFill/>
          <a:ln/>
        </p:spPr>
        <p:txBody>
          <a:bodyPr wrap="square" lIns="0" tIns="0" rIns="0" bIns="0" rtlCol="0" anchor="ctr"/>
          <a:lstStyle/>
          <a:p>
            <a:pPr algn="ctr" indent="0" marL="0">
              <a:buNone/>
            </a:pPr>
            <a:r>
              <a:rPr lang="en-US" sz="4000" b="1" dirty="0">
                <a:solidFill>
                  <a:srgbClr val="00A854"/>
                </a:solidFill>
                <a:latin typeface="Arial Black" pitchFamily="34" charset="0"/>
                <a:ea typeface="Arial Black" pitchFamily="34" charset="-122"/>
                <a:cs typeface="Arial Black" pitchFamily="34" charset="-120"/>
              </a:rPr>
              <a:t>+38%</a:t>
            </a:r>
            <a:endParaRPr lang="en-US" sz="4000" dirty="0"/>
          </a:p>
        </p:txBody>
      </p:sp>
      <p:sp>
        <p:nvSpPr>
          <p:cNvPr id="12" name="Text 10"/>
          <p:cNvSpPr/>
          <p:nvPr/>
        </p:nvSpPr>
        <p:spPr>
          <a:xfrm>
            <a:off x="4663440" y="260604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semiconductors (SOXX) YTD</a:t>
            </a:r>
            <a:endParaRPr lang="en-US" sz="1100" dirty="0"/>
          </a:p>
        </p:txBody>
      </p:sp>
      <p:sp>
        <p:nvSpPr>
          <p:cNvPr id="13" name="Text 11"/>
          <p:cNvSpPr/>
          <p:nvPr/>
        </p:nvSpPr>
        <p:spPr>
          <a:xfrm>
            <a:off x="6766560" y="1874520"/>
            <a:ext cx="19202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–20%</a:t>
            </a:r>
            <a:endParaRPr lang="en-US" sz="4000" dirty="0"/>
          </a:p>
        </p:txBody>
      </p:sp>
      <p:sp>
        <p:nvSpPr>
          <p:cNvPr id="14" name="Text 12"/>
          <p:cNvSpPr/>
          <p:nvPr/>
        </p:nvSpPr>
        <p:spPr>
          <a:xfrm>
            <a:off x="6766560" y="260604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software (IGV) YTD</a:t>
            </a:r>
            <a:endParaRPr lang="en-US" sz="1100" dirty="0"/>
          </a:p>
        </p:txBody>
      </p:sp>
      <p:sp>
        <p:nvSpPr>
          <p:cNvPr id="15" name="Shape 13"/>
          <p:cNvSpPr/>
          <p:nvPr/>
        </p:nvSpPr>
        <p:spPr>
          <a:xfrm>
            <a:off x="457200" y="3520440"/>
            <a:ext cx="8229600" cy="457200"/>
          </a:xfrm>
          <a:prstGeom prst="rect">
            <a:avLst/>
          </a:prstGeom>
          <a:solidFill>
            <a:srgbClr val="FFD100"/>
          </a:solidFill>
          <a:ln w="12700">
            <a:solidFill>
              <a:srgbClr val="FFD100"/>
            </a:solidFill>
            <a:prstDash val="solid"/>
          </a:ln>
        </p:spPr>
      </p:sp>
      <p:sp>
        <p:nvSpPr>
          <p:cNvPr id="16" name="Text 14"/>
          <p:cNvSpPr/>
          <p:nvPr/>
        </p:nvSpPr>
        <p:spPr>
          <a:xfrm>
            <a:off x="640080" y="3520440"/>
            <a:ext cx="7863840" cy="45720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A ~58-point spread between semis and software. The same AI wave is creating winners and losers simultaneously.</a:t>
            </a:r>
            <a:endParaRPr lang="en-US" sz="1250" dirty="0"/>
          </a:p>
        </p:txBody>
      </p:sp>
      <p:sp>
        <p:nvSpPr>
          <p:cNvPr id="17" name="Text 15"/>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Jensen Huang (Sept 2025); Deutsche Bank; iShares SOXX &amp; IGV YTD total return as of Apr 17, 2026.</a:t>
            </a:r>
            <a:endParaRPr lang="en-US" sz="700" dirty="0"/>
          </a:p>
        </p:txBody>
      </p:sp>
      <p:sp>
        <p:nvSpPr>
          <p:cNvPr id="18" name="Shape 16"/>
          <p:cNvSpPr/>
          <p:nvPr/>
        </p:nvSpPr>
        <p:spPr>
          <a:xfrm>
            <a:off x="0" y="4526280"/>
            <a:ext cx="9144000" cy="617220"/>
          </a:xfrm>
          <a:prstGeom prst="rect">
            <a:avLst/>
          </a:prstGeom>
          <a:solidFill>
            <a:srgbClr val="333333"/>
          </a:solidFill>
          <a:ln w="12700">
            <a:solidFill>
              <a:srgbClr val="333333"/>
            </a:solidFill>
            <a:prstDash val="solid"/>
          </a:ln>
        </p:spPr>
      </p:sp>
      <p:sp>
        <p:nvSpPr>
          <p:cNvPr id="19" name="Text 17"/>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0" name="Text 1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What is AI.</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640080" y="2286000"/>
            <a:ext cx="7863840" cy="0"/>
          </a:xfrm>
          <a:prstGeom prst="line">
            <a:avLst/>
          </a:prstGeom>
          <a:noFill/>
          <a:ln w="38100">
            <a:solidFill>
              <a:srgbClr val="333333"/>
            </a:solidFill>
            <a:prstDash val="solid"/>
          </a:ln>
        </p:spPr>
      </p:sp>
      <p:sp>
        <p:nvSpPr>
          <p:cNvPr id="8" name="Shape 6"/>
          <p:cNvSpPr/>
          <p:nvPr/>
        </p:nvSpPr>
        <p:spPr>
          <a:xfrm>
            <a:off x="1213104" y="2203704"/>
            <a:ext cx="164592" cy="164592"/>
          </a:xfrm>
          <a:prstGeom prst="ellipse">
            <a:avLst/>
          </a:prstGeom>
          <a:solidFill>
            <a:srgbClr val="666666"/>
          </a:solidFill>
          <a:ln w="12700">
            <a:solidFill>
              <a:srgbClr val="666666"/>
            </a:solidFill>
            <a:prstDash val="solid"/>
          </a:ln>
        </p:spPr>
      </p:sp>
      <p:sp>
        <p:nvSpPr>
          <p:cNvPr id="9" name="Shape 7"/>
          <p:cNvSpPr/>
          <p:nvPr/>
        </p:nvSpPr>
        <p:spPr>
          <a:xfrm>
            <a:off x="666293" y="2487168"/>
            <a:ext cx="1258214" cy="1417320"/>
          </a:xfrm>
          <a:prstGeom prst="rect">
            <a:avLst/>
          </a:prstGeom>
          <a:solidFill>
            <a:srgbClr val="F9F9F9"/>
          </a:solidFill>
          <a:ln w="6350">
            <a:solidFill>
              <a:srgbClr val="E5E5E5"/>
            </a:solidFill>
            <a:prstDash val="solid"/>
          </a:ln>
        </p:spPr>
      </p:sp>
      <p:sp>
        <p:nvSpPr>
          <p:cNvPr id="10" name="Shape 8"/>
          <p:cNvSpPr/>
          <p:nvPr/>
        </p:nvSpPr>
        <p:spPr>
          <a:xfrm>
            <a:off x="666293" y="2487168"/>
            <a:ext cx="54864" cy="1417320"/>
          </a:xfrm>
          <a:prstGeom prst="rect">
            <a:avLst/>
          </a:prstGeom>
          <a:solidFill>
            <a:srgbClr val="666666"/>
          </a:solidFill>
          <a:ln w="12700">
            <a:solidFill>
              <a:srgbClr val="666666"/>
            </a:solidFill>
            <a:prstDash val="solid"/>
          </a:ln>
        </p:spPr>
      </p:sp>
      <p:sp>
        <p:nvSpPr>
          <p:cNvPr id="11" name="Text 9"/>
          <p:cNvSpPr/>
          <p:nvPr/>
        </p:nvSpPr>
        <p:spPr>
          <a:xfrm>
            <a:off x="79430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1950s–80s</a:t>
            </a:r>
            <a:endParaRPr lang="en-US" sz="850" dirty="0"/>
          </a:p>
        </p:txBody>
      </p:sp>
      <p:sp>
        <p:nvSpPr>
          <p:cNvPr id="12" name="Text 10"/>
          <p:cNvSpPr/>
          <p:nvPr/>
        </p:nvSpPr>
        <p:spPr>
          <a:xfrm>
            <a:off x="79430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Symbolic AI</a:t>
            </a:r>
            <a:endParaRPr lang="en-US" sz="1150" dirty="0"/>
          </a:p>
        </p:txBody>
      </p:sp>
      <p:sp>
        <p:nvSpPr>
          <p:cNvPr id="13" name="Text 11"/>
          <p:cNvSpPr/>
          <p:nvPr/>
        </p:nvSpPr>
        <p:spPr>
          <a:xfrm>
            <a:off x="79430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Hand-coded rules and expert systems.</a:t>
            </a:r>
            <a:endParaRPr lang="en-US" sz="850" dirty="0"/>
          </a:p>
        </p:txBody>
      </p:sp>
      <p:sp>
        <p:nvSpPr>
          <p:cNvPr id="14" name="Shape 12"/>
          <p:cNvSpPr/>
          <p:nvPr/>
        </p:nvSpPr>
        <p:spPr>
          <a:xfrm>
            <a:off x="2523744" y="2203704"/>
            <a:ext cx="164592" cy="164592"/>
          </a:xfrm>
          <a:prstGeom prst="ellipse">
            <a:avLst/>
          </a:prstGeom>
          <a:solidFill>
            <a:srgbClr val="008B8B"/>
          </a:solidFill>
          <a:ln w="12700">
            <a:solidFill>
              <a:srgbClr val="008B8B"/>
            </a:solidFill>
            <a:prstDash val="solid"/>
          </a:ln>
        </p:spPr>
      </p:sp>
      <p:sp>
        <p:nvSpPr>
          <p:cNvPr id="15" name="Shape 13"/>
          <p:cNvSpPr/>
          <p:nvPr/>
        </p:nvSpPr>
        <p:spPr>
          <a:xfrm>
            <a:off x="1976933" y="2487168"/>
            <a:ext cx="1258214" cy="1417320"/>
          </a:xfrm>
          <a:prstGeom prst="rect">
            <a:avLst/>
          </a:prstGeom>
          <a:solidFill>
            <a:srgbClr val="F9F9F9"/>
          </a:solidFill>
          <a:ln w="6350">
            <a:solidFill>
              <a:srgbClr val="E5E5E5"/>
            </a:solidFill>
            <a:prstDash val="solid"/>
          </a:ln>
        </p:spPr>
      </p:sp>
      <p:sp>
        <p:nvSpPr>
          <p:cNvPr id="16" name="Shape 14"/>
          <p:cNvSpPr/>
          <p:nvPr/>
        </p:nvSpPr>
        <p:spPr>
          <a:xfrm>
            <a:off x="1976933" y="2487168"/>
            <a:ext cx="54864" cy="1417320"/>
          </a:xfrm>
          <a:prstGeom prst="rect">
            <a:avLst/>
          </a:prstGeom>
          <a:solidFill>
            <a:srgbClr val="008B8B"/>
          </a:solidFill>
          <a:ln w="12700">
            <a:solidFill>
              <a:srgbClr val="008B8B"/>
            </a:solidFill>
            <a:prstDash val="solid"/>
          </a:ln>
        </p:spPr>
      </p:sp>
      <p:sp>
        <p:nvSpPr>
          <p:cNvPr id="17" name="Text 15"/>
          <p:cNvSpPr/>
          <p:nvPr/>
        </p:nvSpPr>
        <p:spPr>
          <a:xfrm>
            <a:off x="210494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1990s–2000s</a:t>
            </a:r>
            <a:endParaRPr lang="en-US" sz="850" dirty="0"/>
          </a:p>
        </p:txBody>
      </p:sp>
      <p:sp>
        <p:nvSpPr>
          <p:cNvPr id="18" name="Text 16"/>
          <p:cNvSpPr/>
          <p:nvPr/>
        </p:nvSpPr>
        <p:spPr>
          <a:xfrm>
            <a:off x="210494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Machine Learning</a:t>
            </a:r>
            <a:endParaRPr lang="en-US" sz="1150" dirty="0"/>
          </a:p>
        </p:txBody>
      </p:sp>
      <p:sp>
        <p:nvSpPr>
          <p:cNvPr id="19" name="Text 17"/>
          <p:cNvSpPr/>
          <p:nvPr/>
        </p:nvSpPr>
        <p:spPr>
          <a:xfrm>
            <a:off x="210494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Systems learn patterns from data.</a:t>
            </a:r>
            <a:endParaRPr lang="en-US" sz="850" dirty="0"/>
          </a:p>
        </p:txBody>
      </p:sp>
      <p:sp>
        <p:nvSpPr>
          <p:cNvPr id="20" name="Shape 18"/>
          <p:cNvSpPr/>
          <p:nvPr/>
        </p:nvSpPr>
        <p:spPr>
          <a:xfrm>
            <a:off x="3834384" y="2203704"/>
            <a:ext cx="164592" cy="164592"/>
          </a:xfrm>
          <a:prstGeom prst="ellipse">
            <a:avLst/>
          </a:prstGeom>
          <a:solidFill>
            <a:srgbClr val="FFB800"/>
          </a:solidFill>
          <a:ln w="12700">
            <a:solidFill>
              <a:srgbClr val="FFB800"/>
            </a:solidFill>
            <a:prstDash val="solid"/>
          </a:ln>
        </p:spPr>
      </p:sp>
      <p:sp>
        <p:nvSpPr>
          <p:cNvPr id="21" name="Shape 19"/>
          <p:cNvSpPr/>
          <p:nvPr/>
        </p:nvSpPr>
        <p:spPr>
          <a:xfrm>
            <a:off x="3287573" y="2487168"/>
            <a:ext cx="1258214" cy="1417320"/>
          </a:xfrm>
          <a:prstGeom prst="rect">
            <a:avLst/>
          </a:prstGeom>
          <a:solidFill>
            <a:srgbClr val="F9F9F9"/>
          </a:solidFill>
          <a:ln w="6350">
            <a:solidFill>
              <a:srgbClr val="E5E5E5"/>
            </a:solidFill>
            <a:prstDash val="solid"/>
          </a:ln>
        </p:spPr>
      </p:sp>
      <p:sp>
        <p:nvSpPr>
          <p:cNvPr id="22" name="Shape 20"/>
          <p:cNvSpPr/>
          <p:nvPr/>
        </p:nvSpPr>
        <p:spPr>
          <a:xfrm>
            <a:off x="3287573" y="2487168"/>
            <a:ext cx="54864" cy="1417320"/>
          </a:xfrm>
          <a:prstGeom prst="rect">
            <a:avLst/>
          </a:prstGeom>
          <a:solidFill>
            <a:srgbClr val="FFB800"/>
          </a:solidFill>
          <a:ln w="12700">
            <a:solidFill>
              <a:srgbClr val="FFB800"/>
            </a:solidFill>
            <a:prstDash val="solid"/>
          </a:ln>
        </p:spPr>
      </p:sp>
      <p:sp>
        <p:nvSpPr>
          <p:cNvPr id="23" name="Text 21"/>
          <p:cNvSpPr/>
          <p:nvPr/>
        </p:nvSpPr>
        <p:spPr>
          <a:xfrm>
            <a:off x="341558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2012</a:t>
            </a:r>
            <a:endParaRPr lang="en-US" sz="850" dirty="0"/>
          </a:p>
        </p:txBody>
      </p:sp>
      <p:sp>
        <p:nvSpPr>
          <p:cNvPr id="24" name="Text 22"/>
          <p:cNvSpPr/>
          <p:nvPr/>
        </p:nvSpPr>
        <p:spPr>
          <a:xfrm>
            <a:off x="341558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Deep Learning</a:t>
            </a:r>
            <a:endParaRPr lang="en-US" sz="1150" dirty="0"/>
          </a:p>
        </p:txBody>
      </p:sp>
      <p:sp>
        <p:nvSpPr>
          <p:cNvPr id="25" name="Text 23"/>
          <p:cNvSpPr/>
          <p:nvPr/>
        </p:nvSpPr>
        <p:spPr>
          <a:xfrm>
            <a:off x="341558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Neural networks go deep. AlexNet moment.</a:t>
            </a:r>
            <a:endParaRPr lang="en-US" sz="850" dirty="0"/>
          </a:p>
        </p:txBody>
      </p:sp>
      <p:sp>
        <p:nvSpPr>
          <p:cNvPr id="26" name="Shape 24"/>
          <p:cNvSpPr/>
          <p:nvPr/>
        </p:nvSpPr>
        <p:spPr>
          <a:xfrm>
            <a:off x="5145024" y="2203704"/>
            <a:ext cx="164592" cy="164592"/>
          </a:xfrm>
          <a:prstGeom prst="ellipse">
            <a:avLst/>
          </a:prstGeom>
          <a:solidFill>
            <a:srgbClr val="F6693D"/>
          </a:solidFill>
          <a:ln w="12700">
            <a:solidFill>
              <a:srgbClr val="F6693D"/>
            </a:solidFill>
            <a:prstDash val="solid"/>
          </a:ln>
        </p:spPr>
      </p:sp>
      <p:sp>
        <p:nvSpPr>
          <p:cNvPr id="27" name="Shape 25"/>
          <p:cNvSpPr/>
          <p:nvPr/>
        </p:nvSpPr>
        <p:spPr>
          <a:xfrm>
            <a:off x="4598213" y="2487168"/>
            <a:ext cx="1258214" cy="1417320"/>
          </a:xfrm>
          <a:prstGeom prst="rect">
            <a:avLst/>
          </a:prstGeom>
          <a:solidFill>
            <a:srgbClr val="F9F9F9"/>
          </a:solidFill>
          <a:ln w="6350">
            <a:solidFill>
              <a:srgbClr val="E5E5E5"/>
            </a:solidFill>
            <a:prstDash val="solid"/>
          </a:ln>
        </p:spPr>
      </p:sp>
      <p:sp>
        <p:nvSpPr>
          <p:cNvPr id="28" name="Shape 26"/>
          <p:cNvSpPr/>
          <p:nvPr/>
        </p:nvSpPr>
        <p:spPr>
          <a:xfrm>
            <a:off x="4598213" y="2487168"/>
            <a:ext cx="54864" cy="1417320"/>
          </a:xfrm>
          <a:prstGeom prst="rect">
            <a:avLst/>
          </a:prstGeom>
          <a:solidFill>
            <a:srgbClr val="F6693D"/>
          </a:solidFill>
          <a:ln w="12700">
            <a:solidFill>
              <a:srgbClr val="F6693D"/>
            </a:solidFill>
            <a:prstDash val="solid"/>
          </a:ln>
        </p:spPr>
      </p:sp>
      <p:sp>
        <p:nvSpPr>
          <p:cNvPr id="29" name="Text 27"/>
          <p:cNvSpPr/>
          <p:nvPr/>
        </p:nvSpPr>
        <p:spPr>
          <a:xfrm>
            <a:off x="472622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2022–24</a:t>
            </a:r>
            <a:endParaRPr lang="en-US" sz="850" dirty="0"/>
          </a:p>
        </p:txBody>
      </p:sp>
      <p:sp>
        <p:nvSpPr>
          <p:cNvPr id="30" name="Text 28"/>
          <p:cNvSpPr/>
          <p:nvPr/>
        </p:nvSpPr>
        <p:spPr>
          <a:xfrm>
            <a:off x="472622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LLM chatbots</a:t>
            </a:r>
            <a:endParaRPr lang="en-US" sz="1150" dirty="0"/>
          </a:p>
        </p:txBody>
      </p:sp>
      <p:sp>
        <p:nvSpPr>
          <p:cNvPr id="31" name="Text 29"/>
          <p:cNvSpPr/>
          <p:nvPr/>
        </p:nvSpPr>
        <p:spPr>
          <a:xfrm>
            <a:off x="472622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ChatGPT hits 100M users in 2 months. Claude, Gemini, Copilot.</a:t>
            </a:r>
            <a:endParaRPr lang="en-US" sz="850" dirty="0"/>
          </a:p>
        </p:txBody>
      </p:sp>
      <p:sp>
        <p:nvSpPr>
          <p:cNvPr id="32" name="Shape 30"/>
          <p:cNvSpPr/>
          <p:nvPr/>
        </p:nvSpPr>
        <p:spPr>
          <a:xfrm>
            <a:off x="6455664" y="2203704"/>
            <a:ext cx="164592" cy="164592"/>
          </a:xfrm>
          <a:prstGeom prst="ellipse">
            <a:avLst/>
          </a:prstGeom>
          <a:solidFill>
            <a:srgbClr val="E8478D"/>
          </a:solidFill>
          <a:ln w="12700">
            <a:solidFill>
              <a:srgbClr val="E8478D"/>
            </a:solidFill>
            <a:prstDash val="solid"/>
          </a:ln>
        </p:spPr>
      </p:sp>
      <p:sp>
        <p:nvSpPr>
          <p:cNvPr id="33" name="Shape 31"/>
          <p:cNvSpPr/>
          <p:nvPr/>
        </p:nvSpPr>
        <p:spPr>
          <a:xfrm>
            <a:off x="5908853" y="2487168"/>
            <a:ext cx="1258214" cy="1417320"/>
          </a:xfrm>
          <a:prstGeom prst="rect">
            <a:avLst/>
          </a:prstGeom>
          <a:solidFill>
            <a:srgbClr val="F9F9F9"/>
          </a:solidFill>
          <a:ln w="6350">
            <a:solidFill>
              <a:srgbClr val="E5E5E5"/>
            </a:solidFill>
            <a:prstDash val="solid"/>
          </a:ln>
        </p:spPr>
      </p:sp>
      <p:sp>
        <p:nvSpPr>
          <p:cNvPr id="34" name="Shape 32"/>
          <p:cNvSpPr/>
          <p:nvPr/>
        </p:nvSpPr>
        <p:spPr>
          <a:xfrm>
            <a:off x="5908853" y="2487168"/>
            <a:ext cx="54864" cy="1417320"/>
          </a:xfrm>
          <a:prstGeom prst="rect">
            <a:avLst/>
          </a:prstGeom>
          <a:solidFill>
            <a:srgbClr val="E8478D"/>
          </a:solidFill>
          <a:ln w="12700">
            <a:solidFill>
              <a:srgbClr val="E8478D"/>
            </a:solidFill>
            <a:prstDash val="solid"/>
          </a:ln>
        </p:spPr>
      </p:sp>
      <p:sp>
        <p:nvSpPr>
          <p:cNvPr id="35" name="Text 33"/>
          <p:cNvSpPr/>
          <p:nvPr/>
        </p:nvSpPr>
        <p:spPr>
          <a:xfrm>
            <a:off x="603686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2023–24</a:t>
            </a:r>
            <a:endParaRPr lang="en-US" sz="850" dirty="0"/>
          </a:p>
        </p:txBody>
      </p:sp>
      <p:sp>
        <p:nvSpPr>
          <p:cNvPr id="36" name="Text 34"/>
          <p:cNvSpPr/>
          <p:nvPr/>
        </p:nvSpPr>
        <p:spPr>
          <a:xfrm>
            <a:off x="603686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Reasoning</a:t>
            </a:r>
            <a:endParaRPr lang="en-US" sz="1150" dirty="0"/>
          </a:p>
        </p:txBody>
      </p:sp>
      <p:sp>
        <p:nvSpPr>
          <p:cNvPr id="37" name="Text 35"/>
          <p:cNvSpPr/>
          <p:nvPr/>
        </p:nvSpPr>
        <p:spPr>
          <a:xfrm>
            <a:off x="603686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Multi-step logic and chain-of-thought. o1, DeepSeek R1.</a:t>
            </a:r>
            <a:endParaRPr lang="en-US" sz="850" dirty="0"/>
          </a:p>
        </p:txBody>
      </p:sp>
      <p:sp>
        <p:nvSpPr>
          <p:cNvPr id="38" name="Shape 36"/>
          <p:cNvSpPr/>
          <p:nvPr/>
        </p:nvSpPr>
        <p:spPr>
          <a:xfrm>
            <a:off x="7766304" y="2203704"/>
            <a:ext cx="164592" cy="164592"/>
          </a:xfrm>
          <a:prstGeom prst="ellipse">
            <a:avLst/>
          </a:prstGeom>
          <a:solidFill>
            <a:srgbClr val="CC0000"/>
          </a:solidFill>
          <a:ln w="12700">
            <a:solidFill>
              <a:srgbClr val="CC0000"/>
            </a:solidFill>
            <a:prstDash val="solid"/>
          </a:ln>
        </p:spPr>
      </p:sp>
      <p:sp>
        <p:nvSpPr>
          <p:cNvPr id="39" name="Shape 37"/>
          <p:cNvSpPr/>
          <p:nvPr/>
        </p:nvSpPr>
        <p:spPr>
          <a:xfrm>
            <a:off x="7219493" y="2487168"/>
            <a:ext cx="1258214" cy="1417320"/>
          </a:xfrm>
          <a:prstGeom prst="rect">
            <a:avLst/>
          </a:prstGeom>
          <a:solidFill>
            <a:srgbClr val="F9F9F9"/>
          </a:solidFill>
          <a:ln w="6350">
            <a:solidFill>
              <a:srgbClr val="E5E5E5"/>
            </a:solidFill>
            <a:prstDash val="solid"/>
          </a:ln>
        </p:spPr>
      </p:sp>
      <p:sp>
        <p:nvSpPr>
          <p:cNvPr id="40" name="Shape 38"/>
          <p:cNvSpPr/>
          <p:nvPr/>
        </p:nvSpPr>
        <p:spPr>
          <a:xfrm>
            <a:off x="7219493" y="2487168"/>
            <a:ext cx="54864" cy="1417320"/>
          </a:xfrm>
          <a:prstGeom prst="rect">
            <a:avLst/>
          </a:prstGeom>
          <a:solidFill>
            <a:srgbClr val="CC0000"/>
          </a:solidFill>
          <a:ln w="12700">
            <a:solidFill>
              <a:srgbClr val="CC0000"/>
            </a:solidFill>
            <a:prstDash val="solid"/>
          </a:ln>
        </p:spPr>
      </p:sp>
      <p:sp>
        <p:nvSpPr>
          <p:cNvPr id="41" name="Text 39"/>
          <p:cNvSpPr/>
          <p:nvPr/>
        </p:nvSpPr>
        <p:spPr>
          <a:xfrm>
            <a:off x="734750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2025+</a:t>
            </a:r>
            <a:endParaRPr lang="en-US" sz="850" dirty="0"/>
          </a:p>
        </p:txBody>
      </p:sp>
      <p:sp>
        <p:nvSpPr>
          <p:cNvPr id="42" name="Text 40"/>
          <p:cNvSpPr/>
          <p:nvPr/>
        </p:nvSpPr>
        <p:spPr>
          <a:xfrm>
            <a:off x="734750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Agentic AI</a:t>
            </a:r>
            <a:endParaRPr lang="en-US" sz="1150" dirty="0"/>
          </a:p>
        </p:txBody>
      </p:sp>
      <p:sp>
        <p:nvSpPr>
          <p:cNvPr id="43" name="Text 41"/>
          <p:cNvSpPr/>
          <p:nvPr/>
        </p:nvSpPr>
        <p:spPr>
          <a:xfrm>
            <a:off x="734750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AI that acts autonomously with tools. Claude Code, agents.</a:t>
            </a:r>
            <a:endParaRPr lang="en-US" sz="850" dirty="0"/>
          </a:p>
        </p:txBody>
      </p:sp>
      <p:sp>
        <p:nvSpPr>
          <p:cNvPr id="44" name="Text 42"/>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5" name="Shape 43"/>
          <p:cNvSpPr/>
          <p:nvPr/>
        </p:nvSpPr>
        <p:spPr>
          <a:xfrm>
            <a:off x="0" y="4526280"/>
            <a:ext cx="9144000" cy="617220"/>
          </a:xfrm>
          <a:prstGeom prst="rect">
            <a:avLst/>
          </a:prstGeom>
          <a:solidFill>
            <a:srgbClr val="333333"/>
          </a:solidFill>
          <a:ln w="12700">
            <a:solidFill>
              <a:srgbClr val="333333"/>
            </a:solidFill>
            <a:prstDash val="solid"/>
          </a:ln>
        </p:spPr>
      </p:sp>
      <p:sp>
        <p:nvSpPr>
          <p:cNvPr id="46" name="Text 44"/>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AI stack.</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From rare earths in the ground to agents that act on your behalf. Eleven layers, each investable, each with its own constraint.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17320"/>
            <a:ext cx="137160" cy="205740"/>
          </a:xfrm>
          <a:prstGeom prst="rect">
            <a:avLst/>
          </a:prstGeom>
          <a:solidFill>
            <a:srgbClr val="E8478D"/>
          </a:solidFill>
          <a:ln w="12700">
            <a:solidFill>
              <a:srgbClr val="E8478D"/>
            </a:solidFill>
            <a:prstDash val="solid"/>
          </a:ln>
        </p:spPr>
      </p:sp>
      <p:sp>
        <p:nvSpPr>
          <p:cNvPr id="8" name="Text 6"/>
          <p:cNvSpPr/>
          <p:nvPr/>
        </p:nvSpPr>
        <p:spPr>
          <a:xfrm>
            <a:off x="685800" y="1417320"/>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Agents</a:t>
            </a:r>
            <a:endParaRPr lang="en-US" sz="1100" dirty="0"/>
          </a:p>
        </p:txBody>
      </p:sp>
      <p:sp>
        <p:nvSpPr>
          <p:cNvPr id="9" name="Text 7"/>
          <p:cNvSpPr/>
          <p:nvPr/>
        </p:nvSpPr>
        <p:spPr>
          <a:xfrm>
            <a:off x="2697480" y="1417320"/>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Autonomous AI that acts on your behalf</a:t>
            </a:r>
            <a:endParaRPr lang="en-US" sz="950" dirty="0"/>
          </a:p>
        </p:txBody>
      </p:sp>
      <p:sp>
        <p:nvSpPr>
          <p:cNvPr id="10" name="Shape 8"/>
          <p:cNvSpPr/>
          <p:nvPr/>
        </p:nvSpPr>
        <p:spPr>
          <a:xfrm>
            <a:off x="6583680" y="1435608"/>
            <a:ext cx="2057400" cy="169164"/>
          </a:xfrm>
          <a:prstGeom prst="roundRect">
            <a:avLst>
              <a:gd name="adj" fmla="val 16216"/>
            </a:avLst>
          </a:prstGeom>
          <a:solidFill>
            <a:srgbClr val="E8478D"/>
          </a:solidFill>
          <a:ln w="12700">
            <a:solidFill>
              <a:srgbClr val="E8478D"/>
            </a:solidFill>
            <a:prstDash val="solid"/>
          </a:ln>
        </p:spPr>
      </p:sp>
      <p:sp>
        <p:nvSpPr>
          <p:cNvPr id="11" name="Text 9"/>
          <p:cNvSpPr/>
          <p:nvPr/>
        </p:nvSpPr>
        <p:spPr>
          <a:xfrm>
            <a:off x="6583680" y="1435608"/>
            <a:ext cx="2057400" cy="169164"/>
          </a:xfrm>
          <a:prstGeom prst="rect">
            <a:avLst/>
          </a:prstGeom>
          <a:noFill/>
          <a:ln/>
        </p:spPr>
        <p:txBody>
          <a:bodyPr wrap="square" lIns="0" tIns="0" rIns="0" bIns="0" rtlCol="0" anchor="ctr"/>
          <a:lstStyle/>
          <a:p>
            <a:pPr algn="ctr" indent="0" marL="0">
              <a:buNone/>
            </a:pPr>
            <a:r>
              <a:rPr lang="en-US" sz="800" b="1" spc="200" kern="0" dirty="0">
                <a:solidFill>
                  <a:srgbClr val="FFFFFF"/>
                </a:solidFill>
                <a:latin typeface="Arial" pitchFamily="34" charset="0"/>
                <a:ea typeface="Arial" pitchFamily="34" charset="-122"/>
                <a:cs typeface="Arial" pitchFamily="34" charset="-120"/>
              </a:rPr>
              <a:t>FASTEST-GROWING</a:t>
            </a:r>
            <a:endParaRPr lang="en-US" sz="800" dirty="0"/>
          </a:p>
        </p:txBody>
      </p:sp>
      <p:sp>
        <p:nvSpPr>
          <p:cNvPr id="12" name="Shape 10"/>
          <p:cNvSpPr/>
          <p:nvPr/>
        </p:nvSpPr>
        <p:spPr>
          <a:xfrm>
            <a:off x="457200" y="1659636"/>
            <a:ext cx="137160" cy="205740"/>
          </a:xfrm>
          <a:prstGeom prst="rect">
            <a:avLst/>
          </a:prstGeom>
          <a:solidFill>
            <a:srgbClr val="F6693D"/>
          </a:solidFill>
          <a:ln w="12700">
            <a:solidFill>
              <a:srgbClr val="F6693D"/>
            </a:solidFill>
            <a:prstDash val="solid"/>
          </a:ln>
        </p:spPr>
      </p:sp>
      <p:sp>
        <p:nvSpPr>
          <p:cNvPr id="13" name="Text 11"/>
          <p:cNvSpPr/>
          <p:nvPr/>
        </p:nvSpPr>
        <p:spPr>
          <a:xfrm>
            <a:off x="685800" y="1659636"/>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Apps</a:t>
            </a:r>
            <a:endParaRPr lang="en-US" sz="1100" dirty="0"/>
          </a:p>
        </p:txBody>
      </p:sp>
      <p:sp>
        <p:nvSpPr>
          <p:cNvPr id="14" name="Text 12"/>
          <p:cNvSpPr/>
          <p:nvPr/>
        </p:nvSpPr>
        <p:spPr>
          <a:xfrm>
            <a:off x="2697480" y="1659636"/>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Products built on foundation models</a:t>
            </a:r>
            <a:endParaRPr lang="en-US" sz="950" dirty="0"/>
          </a:p>
        </p:txBody>
      </p:sp>
      <p:sp>
        <p:nvSpPr>
          <p:cNvPr id="15" name="Shape 13"/>
          <p:cNvSpPr/>
          <p:nvPr/>
        </p:nvSpPr>
        <p:spPr>
          <a:xfrm>
            <a:off x="457200" y="1901952"/>
            <a:ext cx="137160" cy="205740"/>
          </a:xfrm>
          <a:prstGeom prst="rect">
            <a:avLst/>
          </a:prstGeom>
          <a:solidFill>
            <a:srgbClr val="F6693D"/>
          </a:solidFill>
          <a:ln w="12700">
            <a:solidFill>
              <a:srgbClr val="F6693D"/>
            </a:solidFill>
            <a:prstDash val="solid"/>
          </a:ln>
        </p:spPr>
      </p:sp>
      <p:sp>
        <p:nvSpPr>
          <p:cNvPr id="16" name="Text 14"/>
          <p:cNvSpPr/>
          <p:nvPr/>
        </p:nvSpPr>
        <p:spPr>
          <a:xfrm>
            <a:off x="685800" y="1901952"/>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Models</a:t>
            </a:r>
            <a:endParaRPr lang="en-US" sz="1100" dirty="0"/>
          </a:p>
        </p:txBody>
      </p:sp>
      <p:sp>
        <p:nvSpPr>
          <p:cNvPr id="17" name="Text 15"/>
          <p:cNvSpPr/>
          <p:nvPr/>
        </p:nvSpPr>
        <p:spPr>
          <a:xfrm>
            <a:off x="2697480" y="1901952"/>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The intelligence layer</a:t>
            </a:r>
            <a:endParaRPr lang="en-US" sz="950" dirty="0"/>
          </a:p>
        </p:txBody>
      </p:sp>
      <p:sp>
        <p:nvSpPr>
          <p:cNvPr id="18" name="Shape 16"/>
          <p:cNvSpPr/>
          <p:nvPr/>
        </p:nvSpPr>
        <p:spPr>
          <a:xfrm>
            <a:off x="457200" y="2144268"/>
            <a:ext cx="137160" cy="205740"/>
          </a:xfrm>
          <a:prstGeom prst="rect">
            <a:avLst/>
          </a:prstGeom>
          <a:solidFill>
            <a:srgbClr val="FFB800"/>
          </a:solidFill>
          <a:ln w="12700">
            <a:solidFill>
              <a:srgbClr val="FFB800"/>
            </a:solidFill>
            <a:prstDash val="solid"/>
          </a:ln>
        </p:spPr>
      </p:sp>
      <p:sp>
        <p:nvSpPr>
          <p:cNvPr id="19" name="Text 17"/>
          <p:cNvSpPr/>
          <p:nvPr/>
        </p:nvSpPr>
        <p:spPr>
          <a:xfrm>
            <a:off x="685800" y="2144268"/>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Data centers</a:t>
            </a:r>
            <a:endParaRPr lang="en-US" sz="1100" dirty="0"/>
          </a:p>
        </p:txBody>
      </p:sp>
      <p:sp>
        <p:nvSpPr>
          <p:cNvPr id="20" name="Text 18"/>
          <p:cNvSpPr/>
          <p:nvPr/>
        </p:nvSpPr>
        <p:spPr>
          <a:xfrm>
            <a:off x="2697480" y="2144268"/>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Warehouses of compute</a:t>
            </a:r>
            <a:endParaRPr lang="en-US" sz="950" dirty="0"/>
          </a:p>
        </p:txBody>
      </p:sp>
      <p:sp>
        <p:nvSpPr>
          <p:cNvPr id="21" name="Shape 19"/>
          <p:cNvSpPr/>
          <p:nvPr/>
        </p:nvSpPr>
        <p:spPr>
          <a:xfrm>
            <a:off x="457200" y="2386584"/>
            <a:ext cx="137160" cy="205740"/>
          </a:xfrm>
          <a:prstGeom prst="rect">
            <a:avLst/>
          </a:prstGeom>
          <a:solidFill>
            <a:srgbClr val="FFB800"/>
          </a:solidFill>
          <a:ln w="12700">
            <a:solidFill>
              <a:srgbClr val="FFB800"/>
            </a:solidFill>
            <a:prstDash val="solid"/>
          </a:ln>
        </p:spPr>
      </p:sp>
      <p:sp>
        <p:nvSpPr>
          <p:cNvPr id="22" name="Text 20"/>
          <p:cNvSpPr/>
          <p:nvPr/>
        </p:nvSpPr>
        <p:spPr>
          <a:xfrm>
            <a:off x="685800" y="2386584"/>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Power</a:t>
            </a:r>
            <a:endParaRPr lang="en-US" sz="1100" dirty="0"/>
          </a:p>
        </p:txBody>
      </p:sp>
      <p:sp>
        <p:nvSpPr>
          <p:cNvPr id="23" name="Text 21"/>
          <p:cNvSpPr/>
          <p:nvPr/>
        </p:nvSpPr>
        <p:spPr>
          <a:xfrm>
            <a:off x="2697480" y="2386584"/>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The hidden constraint</a:t>
            </a:r>
            <a:endParaRPr lang="en-US" sz="950" dirty="0"/>
          </a:p>
        </p:txBody>
      </p:sp>
      <p:sp>
        <p:nvSpPr>
          <p:cNvPr id="24" name="Shape 22"/>
          <p:cNvSpPr/>
          <p:nvPr/>
        </p:nvSpPr>
        <p:spPr>
          <a:xfrm>
            <a:off x="457200" y="2628900"/>
            <a:ext cx="137160" cy="205740"/>
          </a:xfrm>
          <a:prstGeom prst="rect">
            <a:avLst/>
          </a:prstGeom>
          <a:solidFill>
            <a:srgbClr val="008B8B"/>
          </a:solidFill>
          <a:ln w="12700">
            <a:solidFill>
              <a:srgbClr val="008B8B"/>
            </a:solidFill>
            <a:prstDash val="solid"/>
          </a:ln>
        </p:spPr>
      </p:sp>
      <p:sp>
        <p:nvSpPr>
          <p:cNvPr id="25" name="Text 23"/>
          <p:cNvSpPr/>
          <p:nvPr/>
        </p:nvSpPr>
        <p:spPr>
          <a:xfrm>
            <a:off x="685800" y="2628900"/>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Networking</a:t>
            </a:r>
            <a:endParaRPr lang="en-US" sz="1100" dirty="0"/>
          </a:p>
        </p:txBody>
      </p:sp>
      <p:sp>
        <p:nvSpPr>
          <p:cNvPr id="26" name="Text 24"/>
          <p:cNvSpPr/>
          <p:nvPr/>
        </p:nvSpPr>
        <p:spPr>
          <a:xfrm>
            <a:off x="2697480" y="2628900"/>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Moving data at terabit speed</a:t>
            </a:r>
            <a:endParaRPr lang="en-US" sz="950" dirty="0"/>
          </a:p>
        </p:txBody>
      </p:sp>
      <p:sp>
        <p:nvSpPr>
          <p:cNvPr id="27" name="Shape 25"/>
          <p:cNvSpPr/>
          <p:nvPr/>
        </p:nvSpPr>
        <p:spPr>
          <a:xfrm>
            <a:off x="457200" y="2871216"/>
            <a:ext cx="137160" cy="205740"/>
          </a:xfrm>
          <a:prstGeom prst="rect">
            <a:avLst/>
          </a:prstGeom>
          <a:solidFill>
            <a:srgbClr val="CC0000"/>
          </a:solidFill>
          <a:ln w="12700">
            <a:solidFill>
              <a:srgbClr val="CC0000"/>
            </a:solidFill>
            <a:prstDash val="solid"/>
          </a:ln>
        </p:spPr>
      </p:sp>
      <p:sp>
        <p:nvSpPr>
          <p:cNvPr id="28" name="Text 26"/>
          <p:cNvSpPr/>
          <p:nvPr/>
        </p:nvSpPr>
        <p:spPr>
          <a:xfrm>
            <a:off x="685800" y="2871216"/>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Packaging</a:t>
            </a:r>
            <a:endParaRPr lang="en-US" sz="1100" dirty="0"/>
          </a:p>
        </p:txBody>
      </p:sp>
      <p:sp>
        <p:nvSpPr>
          <p:cNvPr id="29" name="Text 27"/>
          <p:cNvSpPr/>
          <p:nvPr/>
        </p:nvSpPr>
        <p:spPr>
          <a:xfrm>
            <a:off x="2697480" y="2871216"/>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Stacking chiplets (CoWoS, HBM)</a:t>
            </a:r>
            <a:endParaRPr lang="en-US" sz="950" dirty="0"/>
          </a:p>
        </p:txBody>
      </p:sp>
      <p:sp>
        <p:nvSpPr>
          <p:cNvPr id="30" name="Shape 28"/>
          <p:cNvSpPr/>
          <p:nvPr/>
        </p:nvSpPr>
        <p:spPr>
          <a:xfrm>
            <a:off x="6583680" y="2889504"/>
            <a:ext cx="2057400" cy="169164"/>
          </a:xfrm>
          <a:prstGeom prst="roundRect">
            <a:avLst>
              <a:gd name="adj" fmla="val 16216"/>
            </a:avLst>
          </a:prstGeom>
          <a:solidFill>
            <a:srgbClr val="CC0000"/>
          </a:solidFill>
          <a:ln w="12700">
            <a:solidFill>
              <a:srgbClr val="CC0000"/>
            </a:solidFill>
            <a:prstDash val="solid"/>
          </a:ln>
        </p:spPr>
      </p:sp>
      <p:sp>
        <p:nvSpPr>
          <p:cNvPr id="31" name="Text 29"/>
          <p:cNvSpPr/>
          <p:nvPr/>
        </p:nvSpPr>
        <p:spPr>
          <a:xfrm>
            <a:off x="6583680" y="2889504"/>
            <a:ext cx="2057400" cy="169164"/>
          </a:xfrm>
          <a:prstGeom prst="rect">
            <a:avLst/>
          </a:prstGeom>
          <a:noFill/>
          <a:ln/>
        </p:spPr>
        <p:txBody>
          <a:bodyPr wrap="square" lIns="0" tIns="0" rIns="0" bIns="0" rtlCol="0" anchor="ctr"/>
          <a:lstStyle/>
          <a:p>
            <a:pPr algn="ctr" indent="0" marL="0">
              <a:buNone/>
            </a:pPr>
            <a:r>
              <a:rPr lang="en-US" sz="800" b="1" spc="200" kern="0" dirty="0">
                <a:solidFill>
                  <a:srgbClr val="FFFFFF"/>
                </a:solidFill>
                <a:latin typeface="Arial" pitchFamily="34" charset="0"/>
                <a:ea typeface="Arial" pitchFamily="34" charset="-122"/>
                <a:cs typeface="Arial" pitchFamily="34" charset="-120"/>
              </a:rPr>
              <a:t>DEEPEST BOTTLENECK</a:t>
            </a:r>
            <a:endParaRPr lang="en-US" sz="800" dirty="0"/>
          </a:p>
        </p:txBody>
      </p:sp>
      <p:sp>
        <p:nvSpPr>
          <p:cNvPr id="32" name="Shape 30"/>
          <p:cNvSpPr/>
          <p:nvPr/>
        </p:nvSpPr>
        <p:spPr>
          <a:xfrm>
            <a:off x="457200" y="3113532"/>
            <a:ext cx="137160" cy="205740"/>
          </a:xfrm>
          <a:prstGeom prst="rect">
            <a:avLst/>
          </a:prstGeom>
          <a:solidFill>
            <a:srgbClr val="008B8B"/>
          </a:solidFill>
          <a:ln w="12700">
            <a:solidFill>
              <a:srgbClr val="008B8B"/>
            </a:solidFill>
            <a:prstDash val="solid"/>
          </a:ln>
        </p:spPr>
      </p:sp>
      <p:sp>
        <p:nvSpPr>
          <p:cNvPr id="33" name="Text 31"/>
          <p:cNvSpPr/>
          <p:nvPr/>
        </p:nvSpPr>
        <p:spPr>
          <a:xfrm>
            <a:off x="685800" y="3113532"/>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Chip design</a:t>
            </a:r>
            <a:endParaRPr lang="en-US" sz="1100" dirty="0"/>
          </a:p>
        </p:txBody>
      </p:sp>
      <p:sp>
        <p:nvSpPr>
          <p:cNvPr id="34" name="Text 32"/>
          <p:cNvSpPr/>
          <p:nvPr/>
        </p:nvSpPr>
        <p:spPr>
          <a:xfrm>
            <a:off x="2697480" y="3113532"/>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GPUs, TPUs, ASICs</a:t>
            </a:r>
            <a:endParaRPr lang="en-US" sz="950" dirty="0"/>
          </a:p>
        </p:txBody>
      </p:sp>
      <p:sp>
        <p:nvSpPr>
          <p:cNvPr id="35" name="Shape 33"/>
          <p:cNvSpPr/>
          <p:nvPr/>
        </p:nvSpPr>
        <p:spPr>
          <a:xfrm>
            <a:off x="457200" y="3355848"/>
            <a:ext cx="137160" cy="205740"/>
          </a:xfrm>
          <a:prstGeom prst="rect">
            <a:avLst/>
          </a:prstGeom>
          <a:solidFill>
            <a:srgbClr val="008B8B"/>
          </a:solidFill>
          <a:ln w="12700">
            <a:solidFill>
              <a:srgbClr val="008B8B"/>
            </a:solidFill>
            <a:prstDash val="solid"/>
          </a:ln>
        </p:spPr>
      </p:sp>
      <p:sp>
        <p:nvSpPr>
          <p:cNvPr id="36" name="Text 34"/>
          <p:cNvSpPr/>
          <p:nvPr/>
        </p:nvSpPr>
        <p:spPr>
          <a:xfrm>
            <a:off x="685800" y="3355848"/>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Foundry</a:t>
            </a:r>
            <a:endParaRPr lang="en-US" sz="1100" dirty="0"/>
          </a:p>
        </p:txBody>
      </p:sp>
      <p:sp>
        <p:nvSpPr>
          <p:cNvPr id="37" name="Text 35"/>
          <p:cNvSpPr/>
          <p:nvPr/>
        </p:nvSpPr>
        <p:spPr>
          <a:xfrm>
            <a:off x="2697480" y="3355848"/>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Fabricating at nanometer scale</a:t>
            </a:r>
            <a:endParaRPr lang="en-US" sz="950" dirty="0"/>
          </a:p>
        </p:txBody>
      </p:sp>
      <p:sp>
        <p:nvSpPr>
          <p:cNvPr id="38" name="Shape 36"/>
          <p:cNvSpPr/>
          <p:nvPr/>
        </p:nvSpPr>
        <p:spPr>
          <a:xfrm>
            <a:off x="457200" y="3598164"/>
            <a:ext cx="137160" cy="205740"/>
          </a:xfrm>
          <a:prstGeom prst="rect">
            <a:avLst/>
          </a:prstGeom>
          <a:solidFill>
            <a:srgbClr val="666666"/>
          </a:solidFill>
          <a:ln w="12700">
            <a:solidFill>
              <a:srgbClr val="666666"/>
            </a:solidFill>
            <a:prstDash val="solid"/>
          </a:ln>
        </p:spPr>
      </p:sp>
      <p:sp>
        <p:nvSpPr>
          <p:cNvPr id="39" name="Text 37"/>
          <p:cNvSpPr/>
          <p:nvPr/>
        </p:nvSpPr>
        <p:spPr>
          <a:xfrm>
            <a:off x="685800" y="3598164"/>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Equipment</a:t>
            </a:r>
            <a:endParaRPr lang="en-US" sz="1100" dirty="0"/>
          </a:p>
        </p:txBody>
      </p:sp>
      <p:sp>
        <p:nvSpPr>
          <p:cNvPr id="40" name="Text 38"/>
          <p:cNvSpPr/>
          <p:nvPr/>
        </p:nvSpPr>
        <p:spPr>
          <a:xfrm>
            <a:off x="2697480" y="3598164"/>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Machines that make machines</a:t>
            </a:r>
            <a:endParaRPr lang="en-US" sz="950" dirty="0"/>
          </a:p>
        </p:txBody>
      </p:sp>
      <p:sp>
        <p:nvSpPr>
          <p:cNvPr id="41" name="Shape 39"/>
          <p:cNvSpPr/>
          <p:nvPr/>
        </p:nvSpPr>
        <p:spPr>
          <a:xfrm>
            <a:off x="457200" y="3840480"/>
            <a:ext cx="137160" cy="205740"/>
          </a:xfrm>
          <a:prstGeom prst="rect">
            <a:avLst/>
          </a:prstGeom>
          <a:solidFill>
            <a:srgbClr val="666666"/>
          </a:solidFill>
          <a:ln w="12700">
            <a:solidFill>
              <a:srgbClr val="666666"/>
            </a:solidFill>
            <a:prstDash val="solid"/>
          </a:ln>
        </p:spPr>
      </p:sp>
      <p:sp>
        <p:nvSpPr>
          <p:cNvPr id="42" name="Text 40"/>
          <p:cNvSpPr/>
          <p:nvPr/>
        </p:nvSpPr>
        <p:spPr>
          <a:xfrm>
            <a:off x="685800" y="3840480"/>
            <a:ext cx="2011680" cy="20574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Raw materials</a:t>
            </a:r>
            <a:endParaRPr lang="en-US" sz="1100" dirty="0"/>
          </a:p>
        </p:txBody>
      </p:sp>
      <p:sp>
        <p:nvSpPr>
          <p:cNvPr id="43" name="Text 41"/>
          <p:cNvSpPr/>
          <p:nvPr/>
        </p:nvSpPr>
        <p:spPr>
          <a:xfrm>
            <a:off x="2697480" y="3840480"/>
            <a:ext cx="3840480" cy="205740"/>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Silicon, neon, rare earths</a:t>
            </a:r>
            <a:endParaRPr lang="en-US" sz="950" dirty="0"/>
          </a:p>
        </p:txBody>
      </p:sp>
      <p:sp>
        <p:nvSpPr>
          <p:cNvPr id="44" name="Text 42"/>
          <p:cNvSpPr/>
          <p:nvPr/>
        </p:nvSpPr>
        <p:spPr>
          <a:xfrm>
            <a:off x="457200" y="416052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Layers ordered top (closest to user) to bottom (closest to atoms).</a:t>
            </a:r>
            <a:endParaRPr lang="en-US" sz="700" dirty="0"/>
          </a:p>
        </p:txBody>
      </p:sp>
      <p:sp>
        <p:nvSpPr>
          <p:cNvPr id="45" name="Shape 43"/>
          <p:cNvSpPr/>
          <p:nvPr/>
        </p:nvSpPr>
        <p:spPr>
          <a:xfrm>
            <a:off x="0" y="4526280"/>
            <a:ext cx="9144000" cy="617220"/>
          </a:xfrm>
          <a:prstGeom prst="rect">
            <a:avLst/>
          </a:prstGeom>
          <a:solidFill>
            <a:srgbClr val="333333"/>
          </a:solidFill>
          <a:ln w="12700">
            <a:solidFill>
              <a:srgbClr val="333333"/>
            </a:solidFill>
            <a:prstDash val="solid"/>
          </a:ln>
        </p:spPr>
      </p:sp>
      <p:sp>
        <p:nvSpPr>
          <p:cNvPr id="46" name="Text 44"/>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No one makes an AI chip alone.</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single leading-edge chip crosses 70+ borders and six countries before it reaches a data center. There is no domestic alternative.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63040"/>
            <a:ext cx="8229600" cy="777240"/>
          </a:xfrm>
          <a:prstGeom prst="rect">
            <a:avLst/>
          </a:prstGeom>
          <a:solidFill>
            <a:srgbClr val="EEEEEE"/>
          </a:solidFill>
          <a:ln w="9525">
            <a:solidFill>
              <a:srgbClr val="BBBBBB"/>
            </a:solidFill>
            <a:prstDash val="dash"/>
          </a:ln>
        </p:spPr>
      </p:sp>
      <p:sp>
        <p:nvSpPr>
          <p:cNvPr id="8" name="Text 6"/>
          <p:cNvSpPr/>
          <p:nvPr/>
        </p:nvSpPr>
        <p:spPr>
          <a:xfrm>
            <a:off x="548640" y="1463040"/>
            <a:ext cx="8046720" cy="77724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World map — chip supply-chain flows between US / Taiwan / Korea / NL / Japan / China</a:t>
            </a:r>
            <a:endParaRPr lang="en-US" sz="1000" dirty="0"/>
          </a:p>
        </p:txBody>
      </p:sp>
      <p:sp>
        <p:nvSpPr>
          <p:cNvPr id="9" name="Shape 7"/>
          <p:cNvSpPr/>
          <p:nvPr/>
        </p:nvSpPr>
        <p:spPr>
          <a:xfrm>
            <a:off x="457200" y="2377440"/>
            <a:ext cx="2606040" cy="731520"/>
          </a:xfrm>
          <a:prstGeom prst="rect">
            <a:avLst/>
          </a:prstGeom>
          <a:solidFill>
            <a:srgbClr val="F9F9F9"/>
          </a:solidFill>
          <a:ln w="6350">
            <a:solidFill>
              <a:srgbClr val="E5E5E5"/>
            </a:solidFill>
            <a:prstDash val="solid"/>
          </a:ln>
        </p:spPr>
      </p:sp>
      <p:sp>
        <p:nvSpPr>
          <p:cNvPr id="10" name="Shape 8"/>
          <p:cNvSpPr/>
          <p:nvPr/>
        </p:nvSpPr>
        <p:spPr>
          <a:xfrm>
            <a:off x="457200" y="2377440"/>
            <a:ext cx="2606040" cy="54864"/>
          </a:xfrm>
          <a:prstGeom prst="rect">
            <a:avLst/>
          </a:prstGeom>
          <a:solidFill>
            <a:srgbClr val="008B8B"/>
          </a:solidFill>
          <a:ln w="12700">
            <a:solidFill>
              <a:srgbClr val="008B8B"/>
            </a:solidFill>
            <a:prstDash val="solid"/>
          </a:ln>
        </p:spPr>
      </p:sp>
      <p:sp>
        <p:nvSpPr>
          <p:cNvPr id="11" name="Text 9"/>
          <p:cNvSpPr/>
          <p:nvPr/>
        </p:nvSpPr>
        <p:spPr>
          <a:xfrm>
            <a:off x="594360" y="2450592"/>
            <a:ext cx="2331720" cy="219456"/>
          </a:xfrm>
          <a:prstGeom prst="rect">
            <a:avLst/>
          </a:prstGeom>
          <a:noFill/>
          <a:ln/>
        </p:spPr>
        <p:txBody>
          <a:bodyPr wrap="square" lIns="0" tIns="0" rIns="0" bIns="0" rtlCol="0" anchor="ctr"/>
          <a:lstStyle/>
          <a:p>
            <a:pPr indent="0" marL="0">
              <a:buNone/>
            </a:pPr>
            <a:r>
              <a:rPr lang="en-US" sz="1300" b="1" dirty="0">
                <a:solidFill>
                  <a:srgbClr val="000000"/>
                </a:solidFill>
                <a:latin typeface="Arial Black" pitchFamily="34" charset="0"/>
                <a:ea typeface="Arial Black" pitchFamily="34" charset="-122"/>
                <a:cs typeface="Arial Black" pitchFamily="34" charset="-120"/>
              </a:rPr>
              <a:t>USA</a:t>
            </a:r>
            <a:endParaRPr lang="en-US" sz="1300" dirty="0"/>
          </a:p>
        </p:txBody>
      </p:sp>
      <p:sp>
        <p:nvSpPr>
          <p:cNvPr id="12" name="Text 10"/>
          <p:cNvSpPr/>
          <p:nvPr/>
        </p:nvSpPr>
        <p:spPr>
          <a:xfrm>
            <a:off x="594360" y="2679192"/>
            <a:ext cx="2331720" cy="201168"/>
          </a:xfrm>
          <a:prstGeom prst="rect">
            <a:avLst/>
          </a:prstGeom>
          <a:noFill/>
          <a:ln/>
        </p:spPr>
        <p:txBody>
          <a:bodyPr wrap="square" lIns="0" tIns="0" rIns="0" bIns="0" rtlCol="0" anchor="ctr"/>
          <a:lstStyle/>
          <a:p>
            <a:pPr indent="0" marL="0">
              <a:buNone/>
            </a:pPr>
            <a:r>
              <a:rPr lang="en-US" sz="950" b="1" dirty="0">
                <a:solidFill>
                  <a:srgbClr val="008B8B"/>
                </a:solidFill>
                <a:latin typeface="Arial" pitchFamily="34" charset="0"/>
                <a:ea typeface="Arial" pitchFamily="34" charset="-122"/>
                <a:cs typeface="Arial" pitchFamily="34" charset="-120"/>
              </a:rPr>
              <a:t>Design &amp; software</a:t>
            </a:r>
            <a:endParaRPr lang="en-US" sz="950" dirty="0"/>
          </a:p>
        </p:txBody>
      </p:sp>
      <p:sp>
        <p:nvSpPr>
          <p:cNvPr id="13" name="Text 11"/>
          <p:cNvSpPr/>
          <p:nvPr/>
        </p:nvSpPr>
        <p:spPr>
          <a:xfrm>
            <a:off x="594360" y="2871216"/>
            <a:ext cx="233172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NVDA, AMD, AVGO</a:t>
            </a:r>
            <a:endParaRPr lang="en-US" sz="850" dirty="0"/>
          </a:p>
        </p:txBody>
      </p:sp>
      <p:sp>
        <p:nvSpPr>
          <p:cNvPr id="14" name="Shape 12"/>
          <p:cNvSpPr/>
          <p:nvPr/>
        </p:nvSpPr>
        <p:spPr>
          <a:xfrm>
            <a:off x="3154680" y="2377440"/>
            <a:ext cx="2606040" cy="731520"/>
          </a:xfrm>
          <a:prstGeom prst="rect">
            <a:avLst/>
          </a:prstGeom>
          <a:solidFill>
            <a:srgbClr val="F9F9F9"/>
          </a:solidFill>
          <a:ln w="6350">
            <a:solidFill>
              <a:srgbClr val="E5E5E5"/>
            </a:solidFill>
            <a:prstDash val="solid"/>
          </a:ln>
        </p:spPr>
      </p:sp>
      <p:sp>
        <p:nvSpPr>
          <p:cNvPr id="15" name="Shape 13"/>
          <p:cNvSpPr/>
          <p:nvPr/>
        </p:nvSpPr>
        <p:spPr>
          <a:xfrm>
            <a:off x="3154680" y="2377440"/>
            <a:ext cx="2606040" cy="54864"/>
          </a:xfrm>
          <a:prstGeom prst="rect">
            <a:avLst/>
          </a:prstGeom>
          <a:solidFill>
            <a:srgbClr val="CC0000"/>
          </a:solidFill>
          <a:ln w="12700">
            <a:solidFill>
              <a:srgbClr val="CC0000"/>
            </a:solidFill>
            <a:prstDash val="solid"/>
          </a:ln>
        </p:spPr>
      </p:sp>
      <p:sp>
        <p:nvSpPr>
          <p:cNvPr id="16" name="Text 14"/>
          <p:cNvSpPr/>
          <p:nvPr/>
        </p:nvSpPr>
        <p:spPr>
          <a:xfrm>
            <a:off x="3291840" y="2450592"/>
            <a:ext cx="2331720" cy="219456"/>
          </a:xfrm>
          <a:prstGeom prst="rect">
            <a:avLst/>
          </a:prstGeom>
          <a:noFill/>
          <a:ln/>
        </p:spPr>
        <p:txBody>
          <a:bodyPr wrap="square" lIns="0" tIns="0" rIns="0" bIns="0" rtlCol="0" anchor="ctr"/>
          <a:lstStyle/>
          <a:p>
            <a:pPr indent="0" marL="0">
              <a:buNone/>
            </a:pPr>
            <a:r>
              <a:rPr lang="en-US" sz="1300" b="1" dirty="0">
                <a:solidFill>
                  <a:srgbClr val="000000"/>
                </a:solidFill>
                <a:latin typeface="Arial Black" pitchFamily="34" charset="0"/>
                <a:ea typeface="Arial Black" pitchFamily="34" charset="-122"/>
                <a:cs typeface="Arial Black" pitchFamily="34" charset="-120"/>
              </a:rPr>
              <a:t>Taiwan</a:t>
            </a:r>
            <a:endParaRPr lang="en-US" sz="1300" dirty="0"/>
          </a:p>
        </p:txBody>
      </p:sp>
      <p:sp>
        <p:nvSpPr>
          <p:cNvPr id="17" name="Text 15"/>
          <p:cNvSpPr/>
          <p:nvPr/>
        </p:nvSpPr>
        <p:spPr>
          <a:xfrm>
            <a:off x="3291840" y="2679192"/>
            <a:ext cx="2331720" cy="201168"/>
          </a:xfrm>
          <a:prstGeom prst="rect">
            <a:avLst/>
          </a:prstGeom>
          <a:noFill/>
          <a:ln/>
        </p:spPr>
        <p:txBody>
          <a:bodyPr wrap="square" lIns="0" tIns="0" rIns="0" bIns="0" rtlCol="0" anchor="ctr"/>
          <a:lstStyle/>
          <a:p>
            <a:pPr indent="0" marL="0">
              <a:buNone/>
            </a:pPr>
            <a:r>
              <a:rPr lang="en-US" sz="950" b="1" dirty="0">
                <a:solidFill>
                  <a:srgbClr val="CC0000"/>
                </a:solidFill>
                <a:latin typeface="Arial" pitchFamily="34" charset="0"/>
                <a:ea typeface="Arial" pitchFamily="34" charset="-122"/>
                <a:cs typeface="Arial" pitchFamily="34" charset="-120"/>
              </a:rPr>
              <a:t>Leading-edge fabs</a:t>
            </a:r>
            <a:endParaRPr lang="en-US" sz="950" dirty="0"/>
          </a:p>
        </p:txBody>
      </p:sp>
      <p:sp>
        <p:nvSpPr>
          <p:cNvPr id="18" name="Text 16"/>
          <p:cNvSpPr/>
          <p:nvPr/>
        </p:nvSpPr>
        <p:spPr>
          <a:xfrm>
            <a:off x="3291840" y="2871216"/>
            <a:ext cx="233172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TSMC (~90% advanced)</a:t>
            </a:r>
            <a:endParaRPr lang="en-US" sz="850" dirty="0"/>
          </a:p>
        </p:txBody>
      </p:sp>
      <p:sp>
        <p:nvSpPr>
          <p:cNvPr id="19" name="Shape 17"/>
          <p:cNvSpPr/>
          <p:nvPr/>
        </p:nvSpPr>
        <p:spPr>
          <a:xfrm>
            <a:off x="5852160" y="2377440"/>
            <a:ext cx="2606040" cy="731520"/>
          </a:xfrm>
          <a:prstGeom prst="rect">
            <a:avLst/>
          </a:prstGeom>
          <a:solidFill>
            <a:srgbClr val="F9F9F9"/>
          </a:solidFill>
          <a:ln w="6350">
            <a:solidFill>
              <a:srgbClr val="E5E5E5"/>
            </a:solidFill>
            <a:prstDash val="solid"/>
          </a:ln>
        </p:spPr>
      </p:sp>
      <p:sp>
        <p:nvSpPr>
          <p:cNvPr id="20" name="Shape 18"/>
          <p:cNvSpPr/>
          <p:nvPr/>
        </p:nvSpPr>
        <p:spPr>
          <a:xfrm>
            <a:off x="5852160" y="2377440"/>
            <a:ext cx="2606040" cy="54864"/>
          </a:xfrm>
          <a:prstGeom prst="rect">
            <a:avLst/>
          </a:prstGeom>
          <a:solidFill>
            <a:srgbClr val="FFB800"/>
          </a:solidFill>
          <a:ln w="12700">
            <a:solidFill>
              <a:srgbClr val="FFB800"/>
            </a:solidFill>
            <a:prstDash val="solid"/>
          </a:ln>
        </p:spPr>
      </p:sp>
      <p:sp>
        <p:nvSpPr>
          <p:cNvPr id="21" name="Text 19"/>
          <p:cNvSpPr/>
          <p:nvPr/>
        </p:nvSpPr>
        <p:spPr>
          <a:xfrm>
            <a:off x="5989320" y="2450592"/>
            <a:ext cx="2331720" cy="219456"/>
          </a:xfrm>
          <a:prstGeom prst="rect">
            <a:avLst/>
          </a:prstGeom>
          <a:noFill/>
          <a:ln/>
        </p:spPr>
        <p:txBody>
          <a:bodyPr wrap="square" lIns="0" tIns="0" rIns="0" bIns="0" rtlCol="0" anchor="ctr"/>
          <a:lstStyle/>
          <a:p>
            <a:pPr indent="0" marL="0">
              <a:buNone/>
            </a:pPr>
            <a:r>
              <a:rPr lang="en-US" sz="1300" b="1" dirty="0">
                <a:solidFill>
                  <a:srgbClr val="000000"/>
                </a:solidFill>
                <a:latin typeface="Arial Black" pitchFamily="34" charset="0"/>
                <a:ea typeface="Arial Black" pitchFamily="34" charset="-122"/>
                <a:cs typeface="Arial Black" pitchFamily="34" charset="-120"/>
              </a:rPr>
              <a:t>S. Korea</a:t>
            </a:r>
            <a:endParaRPr lang="en-US" sz="1300" dirty="0"/>
          </a:p>
        </p:txBody>
      </p:sp>
      <p:sp>
        <p:nvSpPr>
          <p:cNvPr id="22" name="Text 20"/>
          <p:cNvSpPr/>
          <p:nvPr/>
        </p:nvSpPr>
        <p:spPr>
          <a:xfrm>
            <a:off x="5989320" y="2679192"/>
            <a:ext cx="2331720" cy="201168"/>
          </a:xfrm>
          <a:prstGeom prst="rect">
            <a:avLst/>
          </a:prstGeom>
          <a:noFill/>
          <a:ln/>
        </p:spPr>
        <p:txBody>
          <a:bodyPr wrap="square" lIns="0" tIns="0" rIns="0" bIns="0" rtlCol="0" anchor="ctr"/>
          <a:lstStyle/>
          <a:p>
            <a:pPr indent="0" marL="0">
              <a:buNone/>
            </a:pPr>
            <a:r>
              <a:rPr lang="en-US" sz="950" b="1" dirty="0">
                <a:solidFill>
                  <a:srgbClr val="FFB800"/>
                </a:solidFill>
                <a:latin typeface="Arial" pitchFamily="34" charset="0"/>
                <a:ea typeface="Arial" pitchFamily="34" charset="-122"/>
                <a:cs typeface="Arial" pitchFamily="34" charset="-120"/>
              </a:rPr>
              <a:t>DRAM &amp; HBM</a:t>
            </a:r>
            <a:endParaRPr lang="en-US" sz="950" dirty="0"/>
          </a:p>
        </p:txBody>
      </p:sp>
      <p:sp>
        <p:nvSpPr>
          <p:cNvPr id="23" name="Text 21"/>
          <p:cNvSpPr/>
          <p:nvPr/>
        </p:nvSpPr>
        <p:spPr>
          <a:xfrm>
            <a:off x="5989320" y="2871216"/>
            <a:ext cx="233172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SK Hynix, Samsung</a:t>
            </a:r>
            <a:endParaRPr lang="en-US" sz="850" dirty="0"/>
          </a:p>
        </p:txBody>
      </p:sp>
      <p:sp>
        <p:nvSpPr>
          <p:cNvPr id="24" name="Shape 22"/>
          <p:cNvSpPr/>
          <p:nvPr/>
        </p:nvSpPr>
        <p:spPr>
          <a:xfrm>
            <a:off x="457200" y="3218688"/>
            <a:ext cx="2606040" cy="731520"/>
          </a:xfrm>
          <a:prstGeom prst="rect">
            <a:avLst/>
          </a:prstGeom>
          <a:solidFill>
            <a:srgbClr val="F9F9F9"/>
          </a:solidFill>
          <a:ln w="6350">
            <a:solidFill>
              <a:srgbClr val="E5E5E5"/>
            </a:solidFill>
            <a:prstDash val="solid"/>
          </a:ln>
        </p:spPr>
      </p:sp>
      <p:sp>
        <p:nvSpPr>
          <p:cNvPr id="25" name="Shape 23"/>
          <p:cNvSpPr/>
          <p:nvPr/>
        </p:nvSpPr>
        <p:spPr>
          <a:xfrm>
            <a:off x="457200" y="3218688"/>
            <a:ext cx="2606040" cy="54864"/>
          </a:xfrm>
          <a:prstGeom prst="rect">
            <a:avLst/>
          </a:prstGeom>
          <a:solidFill>
            <a:srgbClr val="E8478D"/>
          </a:solidFill>
          <a:ln w="12700">
            <a:solidFill>
              <a:srgbClr val="E8478D"/>
            </a:solidFill>
            <a:prstDash val="solid"/>
          </a:ln>
        </p:spPr>
      </p:sp>
      <p:sp>
        <p:nvSpPr>
          <p:cNvPr id="26" name="Text 24"/>
          <p:cNvSpPr/>
          <p:nvPr/>
        </p:nvSpPr>
        <p:spPr>
          <a:xfrm>
            <a:off x="594360" y="3291840"/>
            <a:ext cx="2331720" cy="219456"/>
          </a:xfrm>
          <a:prstGeom prst="rect">
            <a:avLst/>
          </a:prstGeom>
          <a:noFill/>
          <a:ln/>
        </p:spPr>
        <p:txBody>
          <a:bodyPr wrap="square" lIns="0" tIns="0" rIns="0" bIns="0" rtlCol="0" anchor="ctr"/>
          <a:lstStyle/>
          <a:p>
            <a:pPr indent="0" marL="0">
              <a:buNone/>
            </a:pPr>
            <a:r>
              <a:rPr lang="en-US" sz="1300" b="1" dirty="0">
                <a:solidFill>
                  <a:srgbClr val="000000"/>
                </a:solidFill>
                <a:latin typeface="Arial Black" pitchFamily="34" charset="0"/>
                <a:ea typeface="Arial Black" pitchFamily="34" charset="-122"/>
                <a:cs typeface="Arial Black" pitchFamily="34" charset="-120"/>
              </a:rPr>
              <a:t>Netherlands</a:t>
            </a:r>
            <a:endParaRPr lang="en-US" sz="1300" dirty="0"/>
          </a:p>
        </p:txBody>
      </p:sp>
      <p:sp>
        <p:nvSpPr>
          <p:cNvPr id="27" name="Text 25"/>
          <p:cNvSpPr/>
          <p:nvPr/>
        </p:nvSpPr>
        <p:spPr>
          <a:xfrm>
            <a:off x="594360" y="3520440"/>
            <a:ext cx="2331720" cy="201168"/>
          </a:xfrm>
          <a:prstGeom prst="rect">
            <a:avLst/>
          </a:prstGeom>
          <a:noFill/>
          <a:ln/>
        </p:spPr>
        <p:txBody>
          <a:bodyPr wrap="square" lIns="0" tIns="0" rIns="0" bIns="0" rtlCol="0" anchor="ctr"/>
          <a:lstStyle/>
          <a:p>
            <a:pPr indent="0" marL="0">
              <a:buNone/>
            </a:pPr>
            <a:r>
              <a:rPr lang="en-US" sz="950" b="1" dirty="0">
                <a:solidFill>
                  <a:srgbClr val="E8478D"/>
                </a:solidFill>
                <a:latin typeface="Arial" pitchFamily="34" charset="0"/>
                <a:ea typeface="Arial" pitchFamily="34" charset="-122"/>
                <a:cs typeface="Arial" pitchFamily="34" charset="-120"/>
              </a:rPr>
              <a:t>EUV lithography</a:t>
            </a:r>
            <a:endParaRPr lang="en-US" sz="950" dirty="0"/>
          </a:p>
        </p:txBody>
      </p:sp>
      <p:sp>
        <p:nvSpPr>
          <p:cNvPr id="28" name="Text 26"/>
          <p:cNvSpPr/>
          <p:nvPr/>
        </p:nvSpPr>
        <p:spPr>
          <a:xfrm>
            <a:off x="594360" y="3712464"/>
            <a:ext cx="233172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ASML (&lt;100/yr)</a:t>
            </a:r>
            <a:endParaRPr lang="en-US" sz="850" dirty="0"/>
          </a:p>
        </p:txBody>
      </p:sp>
      <p:sp>
        <p:nvSpPr>
          <p:cNvPr id="29" name="Shape 27"/>
          <p:cNvSpPr/>
          <p:nvPr/>
        </p:nvSpPr>
        <p:spPr>
          <a:xfrm>
            <a:off x="3154680" y="3218688"/>
            <a:ext cx="2606040" cy="731520"/>
          </a:xfrm>
          <a:prstGeom prst="rect">
            <a:avLst/>
          </a:prstGeom>
          <a:solidFill>
            <a:srgbClr val="F9F9F9"/>
          </a:solidFill>
          <a:ln w="6350">
            <a:solidFill>
              <a:srgbClr val="E5E5E5"/>
            </a:solidFill>
            <a:prstDash val="solid"/>
          </a:ln>
        </p:spPr>
      </p:sp>
      <p:sp>
        <p:nvSpPr>
          <p:cNvPr id="30" name="Shape 28"/>
          <p:cNvSpPr/>
          <p:nvPr/>
        </p:nvSpPr>
        <p:spPr>
          <a:xfrm>
            <a:off x="3154680" y="3218688"/>
            <a:ext cx="2606040" cy="54864"/>
          </a:xfrm>
          <a:prstGeom prst="rect">
            <a:avLst/>
          </a:prstGeom>
          <a:solidFill>
            <a:srgbClr val="F6693D"/>
          </a:solidFill>
          <a:ln w="12700">
            <a:solidFill>
              <a:srgbClr val="F6693D"/>
            </a:solidFill>
            <a:prstDash val="solid"/>
          </a:ln>
        </p:spPr>
      </p:sp>
      <p:sp>
        <p:nvSpPr>
          <p:cNvPr id="31" name="Text 29"/>
          <p:cNvSpPr/>
          <p:nvPr/>
        </p:nvSpPr>
        <p:spPr>
          <a:xfrm>
            <a:off x="3291840" y="3291840"/>
            <a:ext cx="2331720" cy="219456"/>
          </a:xfrm>
          <a:prstGeom prst="rect">
            <a:avLst/>
          </a:prstGeom>
          <a:noFill/>
          <a:ln/>
        </p:spPr>
        <p:txBody>
          <a:bodyPr wrap="square" lIns="0" tIns="0" rIns="0" bIns="0" rtlCol="0" anchor="ctr"/>
          <a:lstStyle/>
          <a:p>
            <a:pPr indent="0" marL="0">
              <a:buNone/>
            </a:pPr>
            <a:r>
              <a:rPr lang="en-US" sz="1300" b="1" dirty="0">
                <a:solidFill>
                  <a:srgbClr val="000000"/>
                </a:solidFill>
                <a:latin typeface="Arial Black" pitchFamily="34" charset="0"/>
                <a:ea typeface="Arial Black" pitchFamily="34" charset="-122"/>
                <a:cs typeface="Arial Black" pitchFamily="34" charset="-120"/>
              </a:rPr>
              <a:t>Japan</a:t>
            </a:r>
            <a:endParaRPr lang="en-US" sz="1300" dirty="0"/>
          </a:p>
        </p:txBody>
      </p:sp>
      <p:sp>
        <p:nvSpPr>
          <p:cNvPr id="32" name="Text 30"/>
          <p:cNvSpPr/>
          <p:nvPr/>
        </p:nvSpPr>
        <p:spPr>
          <a:xfrm>
            <a:off x="3291840" y="3520440"/>
            <a:ext cx="2331720" cy="201168"/>
          </a:xfrm>
          <a:prstGeom prst="rect">
            <a:avLst/>
          </a:prstGeom>
          <a:noFill/>
          <a:ln/>
        </p:spPr>
        <p:txBody>
          <a:bodyPr wrap="square" lIns="0" tIns="0" rIns="0" bIns="0" rtlCol="0" anchor="ctr"/>
          <a:lstStyle/>
          <a:p>
            <a:pPr indent="0" marL="0">
              <a:buNone/>
            </a:pPr>
            <a:r>
              <a:rPr lang="en-US" sz="950" b="1" dirty="0">
                <a:solidFill>
                  <a:srgbClr val="F6693D"/>
                </a:solidFill>
                <a:latin typeface="Arial" pitchFamily="34" charset="0"/>
                <a:ea typeface="Arial" pitchFamily="34" charset="-122"/>
                <a:cs typeface="Arial" pitchFamily="34" charset="-120"/>
              </a:rPr>
              <a:t>Materials &amp; equipment</a:t>
            </a:r>
            <a:endParaRPr lang="en-US" sz="950" dirty="0"/>
          </a:p>
        </p:txBody>
      </p:sp>
      <p:sp>
        <p:nvSpPr>
          <p:cNvPr id="33" name="Text 31"/>
          <p:cNvSpPr/>
          <p:nvPr/>
        </p:nvSpPr>
        <p:spPr>
          <a:xfrm>
            <a:off x="3291840" y="3712464"/>
            <a:ext cx="233172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Tokyo Electron, Shin-Etsu</a:t>
            </a:r>
            <a:endParaRPr lang="en-US" sz="850" dirty="0"/>
          </a:p>
        </p:txBody>
      </p:sp>
      <p:sp>
        <p:nvSpPr>
          <p:cNvPr id="34" name="Shape 32"/>
          <p:cNvSpPr/>
          <p:nvPr/>
        </p:nvSpPr>
        <p:spPr>
          <a:xfrm>
            <a:off x="5852160" y="3218688"/>
            <a:ext cx="2606040" cy="731520"/>
          </a:xfrm>
          <a:prstGeom prst="rect">
            <a:avLst/>
          </a:prstGeom>
          <a:solidFill>
            <a:srgbClr val="F9F9F9"/>
          </a:solidFill>
          <a:ln w="6350">
            <a:solidFill>
              <a:srgbClr val="E5E5E5"/>
            </a:solidFill>
            <a:prstDash val="solid"/>
          </a:ln>
        </p:spPr>
      </p:sp>
      <p:sp>
        <p:nvSpPr>
          <p:cNvPr id="35" name="Shape 33"/>
          <p:cNvSpPr/>
          <p:nvPr/>
        </p:nvSpPr>
        <p:spPr>
          <a:xfrm>
            <a:off x="5852160" y="3218688"/>
            <a:ext cx="2606040" cy="54864"/>
          </a:xfrm>
          <a:prstGeom prst="rect">
            <a:avLst/>
          </a:prstGeom>
          <a:solidFill>
            <a:srgbClr val="333333"/>
          </a:solidFill>
          <a:ln w="12700">
            <a:solidFill>
              <a:srgbClr val="333333"/>
            </a:solidFill>
            <a:prstDash val="solid"/>
          </a:ln>
        </p:spPr>
      </p:sp>
      <p:sp>
        <p:nvSpPr>
          <p:cNvPr id="36" name="Text 34"/>
          <p:cNvSpPr/>
          <p:nvPr/>
        </p:nvSpPr>
        <p:spPr>
          <a:xfrm>
            <a:off x="5989320" y="3291840"/>
            <a:ext cx="2331720" cy="219456"/>
          </a:xfrm>
          <a:prstGeom prst="rect">
            <a:avLst/>
          </a:prstGeom>
          <a:noFill/>
          <a:ln/>
        </p:spPr>
        <p:txBody>
          <a:bodyPr wrap="square" lIns="0" tIns="0" rIns="0" bIns="0" rtlCol="0" anchor="ctr"/>
          <a:lstStyle/>
          <a:p>
            <a:pPr indent="0" marL="0">
              <a:buNone/>
            </a:pPr>
            <a:r>
              <a:rPr lang="en-US" sz="1300" b="1" dirty="0">
                <a:solidFill>
                  <a:srgbClr val="000000"/>
                </a:solidFill>
                <a:latin typeface="Arial Black" pitchFamily="34" charset="0"/>
                <a:ea typeface="Arial Black" pitchFamily="34" charset="-122"/>
                <a:cs typeface="Arial Black" pitchFamily="34" charset="-120"/>
              </a:rPr>
              <a:t>China</a:t>
            </a:r>
            <a:endParaRPr lang="en-US" sz="1300" dirty="0"/>
          </a:p>
        </p:txBody>
      </p:sp>
      <p:sp>
        <p:nvSpPr>
          <p:cNvPr id="37" name="Text 35"/>
          <p:cNvSpPr/>
          <p:nvPr/>
        </p:nvSpPr>
        <p:spPr>
          <a:xfrm>
            <a:off x="5989320" y="3520440"/>
            <a:ext cx="2331720" cy="201168"/>
          </a:xfrm>
          <a:prstGeom prst="rect">
            <a:avLst/>
          </a:prstGeom>
          <a:noFill/>
          <a:ln/>
        </p:spPr>
        <p:txBody>
          <a:bodyPr wrap="square" lIns="0" tIns="0" rIns="0" bIns="0" rtlCol="0" anchor="ctr"/>
          <a:lstStyle/>
          <a:p>
            <a:pPr indent="0" marL="0">
              <a:buNone/>
            </a:pPr>
            <a:r>
              <a:rPr lang="en-US" sz="950" b="1" dirty="0">
                <a:solidFill>
                  <a:srgbClr val="333333"/>
                </a:solidFill>
                <a:latin typeface="Arial" pitchFamily="34" charset="0"/>
                <a:ea typeface="Arial" pitchFamily="34" charset="-122"/>
                <a:cs typeface="Arial" pitchFamily="34" charset="-120"/>
              </a:rPr>
              <a:t>Mature-node fabs, rare earths</a:t>
            </a:r>
            <a:endParaRPr lang="en-US" sz="950" dirty="0"/>
          </a:p>
        </p:txBody>
      </p:sp>
      <p:sp>
        <p:nvSpPr>
          <p:cNvPr id="38" name="Text 36"/>
          <p:cNvSpPr/>
          <p:nvPr/>
        </p:nvSpPr>
        <p:spPr>
          <a:xfrm>
            <a:off x="5989320" y="3712464"/>
            <a:ext cx="233172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SMIC, Huawei</a:t>
            </a:r>
            <a:endParaRPr lang="en-US" sz="850" dirty="0"/>
          </a:p>
        </p:txBody>
      </p:sp>
      <p:sp>
        <p:nvSpPr>
          <p:cNvPr id="39" name="Text 37"/>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TSMC, ASML, SK Hynix, Samsung, Tokyo Electron filings; SIA.</a:t>
            </a:r>
            <a:endParaRPr lang="en-US" sz="700" dirty="0"/>
          </a:p>
        </p:txBody>
      </p:sp>
      <p:sp>
        <p:nvSpPr>
          <p:cNvPr id="40" name="Shape 38"/>
          <p:cNvSpPr/>
          <p:nvPr/>
        </p:nvSpPr>
        <p:spPr>
          <a:xfrm>
            <a:off x="0" y="4526280"/>
            <a:ext cx="9144000" cy="617220"/>
          </a:xfrm>
          <a:prstGeom prst="rect">
            <a:avLst/>
          </a:prstGeom>
          <a:solidFill>
            <a:srgbClr val="333333"/>
          </a:solidFill>
          <a:ln w="12700">
            <a:solidFill>
              <a:srgbClr val="333333"/>
            </a:solidFill>
            <a:prstDash val="solid"/>
          </a:ln>
        </p:spPr>
      </p:sp>
      <p:sp>
        <p:nvSpPr>
          <p:cNvPr id="41" name="Text 39"/>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2" name="Text 4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Power is part of the stack now.</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Global data-center electricity demand is on track to more than double by 2030 (IEA). Where the electrons come from is now a market call.</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17320"/>
            <a:ext cx="8229600" cy="594360"/>
          </a:xfrm>
          <a:prstGeom prst="rect">
            <a:avLst/>
          </a:prstGeom>
          <a:solidFill>
            <a:srgbClr val="EEEEEE"/>
          </a:solidFill>
          <a:ln w="9525">
            <a:solidFill>
              <a:srgbClr val="BBBBBB"/>
            </a:solidFill>
            <a:prstDash val="dash"/>
          </a:ln>
        </p:spPr>
      </p:sp>
      <p:sp>
        <p:nvSpPr>
          <p:cNvPr id="8" name="Text 6"/>
          <p:cNvSpPr/>
          <p:nvPr/>
        </p:nvSpPr>
        <p:spPr>
          <a:xfrm>
            <a:off x="548640" y="1417320"/>
            <a:ext cx="8046720" cy="59436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Data-center with turbines / solar array / transmission lines</a:t>
            </a:r>
            <a:endParaRPr lang="en-US" sz="1000" dirty="0"/>
          </a:p>
        </p:txBody>
      </p:sp>
      <p:sp>
        <p:nvSpPr>
          <p:cNvPr id="9" name="Shape 7"/>
          <p:cNvSpPr/>
          <p:nvPr/>
        </p:nvSpPr>
        <p:spPr>
          <a:xfrm>
            <a:off x="457200" y="2194560"/>
            <a:ext cx="2560320" cy="320040"/>
          </a:xfrm>
          <a:prstGeom prst="rect">
            <a:avLst/>
          </a:prstGeom>
          <a:solidFill>
            <a:srgbClr val="CC0000"/>
          </a:solidFill>
          <a:ln w="12700">
            <a:solidFill>
              <a:srgbClr val="CC0000"/>
            </a:solidFill>
            <a:prstDash val="solid"/>
          </a:ln>
        </p:spPr>
      </p:sp>
      <p:sp>
        <p:nvSpPr>
          <p:cNvPr id="10" name="Text 8"/>
          <p:cNvSpPr/>
          <p:nvPr/>
        </p:nvSpPr>
        <p:spPr>
          <a:xfrm>
            <a:off x="457200" y="2194560"/>
            <a:ext cx="2560320" cy="32004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NATURAL GAS</a:t>
            </a:r>
            <a:endParaRPr lang="en-US" sz="1150" dirty="0"/>
          </a:p>
        </p:txBody>
      </p:sp>
      <p:sp>
        <p:nvSpPr>
          <p:cNvPr id="11" name="Shape 9"/>
          <p:cNvSpPr/>
          <p:nvPr/>
        </p:nvSpPr>
        <p:spPr>
          <a:xfrm>
            <a:off x="457200" y="2514600"/>
            <a:ext cx="2560320" cy="1051560"/>
          </a:xfrm>
          <a:prstGeom prst="rect">
            <a:avLst/>
          </a:prstGeom>
          <a:solidFill>
            <a:srgbClr val="F9F9F9"/>
          </a:solidFill>
          <a:ln w="6350">
            <a:solidFill>
              <a:srgbClr val="E5E5E5"/>
            </a:solidFill>
            <a:prstDash val="solid"/>
          </a:ln>
        </p:spPr>
      </p:sp>
      <p:sp>
        <p:nvSpPr>
          <p:cNvPr id="12" name="Text 10"/>
          <p:cNvSpPr/>
          <p:nvPr/>
        </p:nvSpPr>
        <p:spPr>
          <a:xfrm>
            <a:off x="594360" y="2560320"/>
            <a:ext cx="2331720" cy="201168"/>
          </a:xfrm>
          <a:prstGeom prst="rect">
            <a:avLst/>
          </a:prstGeom>
          <a:noFill/>
          <a:ln/>
        </p:spPr>
        <p:txBody>
          <a:bodyPr wrap="square" lIns="0" tIns="0" rIns="0" bIns="0" rtlCol="0" anchor="ctr"/>
          <a:lstStyle/>
          <a:p>
            <a:pPr indent="0" marL="0">
              <a:buNone/>
            </a:pPr>
            <a:r>
              <a:rPr lang="en-US" sz="900" b="1" spc="200" kern="0" dirty="0">
                <a:solidFill>
                  <a:srgbClr val="CC0000"/>
                </a:solidFill>
                <a:latin typeface="Arial" pitchFamily="34" charset="0"/>
                <a:ea typeface="Arial" pitchFamily="34" charset="-122"/>
                <a:cs typeface="Arial" pitchFamily="34" charset="-120"/>
              </a:rPr>
              <a:t>Fast &amp; firm</a:t>
            </a:r>
            <a:endParaRPr lang="en-US" sz="900" dirty="0"/>
          </a:p>
        </p:txBody>
      </p:sp>
      <p:sp>
        <p:nvSpPr>
          <p:cNvPr id="13" name="Text 11"/>
          <p:cNvSpPr/>
          <p:nvPr/>
        </p:nvSpPr>
        <p:spPr>
          <a:xfrm>
            <a:off x="594360" y="2761488"/>
            <a:ext cx="2331720" cy="77724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Turbines can power a data center in under a year — the near-term backbone of the buildout.</a:t>
            </a:r>
            <a:endParaRPr lang="en-US" sz="950" dirty="0"/>
          </a:p>
        </p:txBody>
      </p:sp>
      <p:sp>
        <p:nvSpPr>
          <p:cNvPr id="14" name="Shape 12"/>
          <p:cNvSpPr/>
          <p:nvPr/>
        </p:nvSpPr>
        <p:spPr>
          <a:xfrm>
            <a:off x="3291840" y="2194560"/>
            <a:ext cx="2560320" cy="320040"/>
          </a:xfrm>
          <a:prstGeom prst="rect">
            <a:avLst/>
          </a:prstGeom>
          <a:solidFill>
            <a:srgbClr val="FFB800"/>
          </a:solidFill>
          <a:ln w="12700">
            <a:solidFill>
              <a:srgbClr val="FFB800"/>
            </a:solidFill>
            <a:prstDash val="solid"/>
          </a:ln>
        </p:spPr>
      </p:sp>
      <p:sp>
        <p:nvSpPr>
          <p:cNvPr id="15" name="Text 13"/>
          <p:cNvSpPr/>
          <p:nvPr/>
        </p:nvSpPr>
        <p:spPr>
          <a:xfrm>
            <a:off x="3291840" y="2194560"/>
            <a:ext cx="2560320" cy="32004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SOLAR &amp; PPAs</a:t>
            </a:r>
            <a:endParaRPr lang="en-US" sz="1150" dirty="0"/>
          </a:p>
        </p:txBody>
      </p:sp>
      <p:sp>
        <p:nvSpPr>
          <p:cNvPr id="16" name="Shape 14"/>
          <p:cNvSpPr/>
          <p:nvPr/>
        </p:nvSpPr>
        <p:spPr>
          <a:xfrm>
            <a:off x="3291840" y="2514600"/>
            <a:ext cx="2560320" cy="1051560"/>
          </a:xfrm>
          <a:prstGeom prst="rect">
            <a:avLst/>
          </a:prstGeom>
          <a:solidFill>
            <a:srgbClr val="F9F9F9"/>
          </a:solidFill>
          <a:ln w="6350">
            <a:solidFill>
              <a:srgbClr val="E5E5E5"/>
            </a:solidFill>
            <a:prstDash val="solid"/>
          </a:ln>
        </p:spPr>
      </p:sp>
      <p:sp>
        <p:nvSpPr>
          <p:cNvPr id="17" name="Text 15"/>
          <p:cNvSpPr/>
          <p:nvPr/>
        </p:nvSpPr>
        <p:spPr>
          <a:xfrm>
            <a:off x="3429000" y="2560320"/>
            <a:ext cx="2331720" cy="201168"/>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Scalable</a:t>
            </a:r>
            <a:endParaRPr lang="en-US" sz="900" dirty="0"/>
          </a:p>
        </p:txBody>
      </p:sp>
      <p:sp>
        <p:nvSpPr>
          <p:cNvPr id="18" name="Text 16"/>
          <p:cNvSpPr/>
          <p:nvPr/>
        </p:nvSpPr>
        <p:spPr>
          <a:xfrm>
            <a:off x="3429000" y="2761488"/>
            <a:ext cx="2331720" cy="77724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Hyperscalers are the largest corporate buyers of renewable energy. Long-term PPAs lock in clean power.</a:t>
            </a:r>
            <a:endParaRPr lang="en-US" sz="950" dirty="0"/>
          </a:p>
        </p:txBody>
      </p:sp>
      <p:sp>
        <p:nvSpPr>
          <p:cNvPr id="19" name="Shape 17"/>
          <p:cNvSpPr/>
          <p:nvPr/>
        </p:nvSpPr>
        <p:spPr>
          <a:xfrm>
            <a:off x="6126480" y="2194560"/>
            <a:ext cx="2560320" cy="320040"/>
          </a:xfrm>
          <a:prstGeom prst="rect">
            <a:avLst/>
          </a:prstGeom>
          <a:solidFill>
            <a:srgbClr val="333333"/>
          </a:solidFill>
          <a:ln w="12700">
            <a:solidFill>
              <a:srgbClr val="333333"/>
            </a:solidFill>
            <a:prstDash val="solid"/>
          </a:ln>
        </p:spPr>
      </p:sp>
      <p:sp>
        <p:nvSpPr>
          <p:cNvPr id="20" name="Text 18"/>
          <p:cNvSpPr/>
          <p:nvPr/>
        </p:nvSpPr>
        <p:spPr>
          <a:xfrm>
            <a:off x="6126480" y="2194560"/>
            <a:ext cx="2560320" cy="32004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GRID &amp; INTERCONNECT</a:t>
            </a:r>
            <a:endParaRPr lang="en-US" sz="1150" dirty="0"/>
          </a:p>
        </p:txBody>
      </p:sp>
      <p:sp>
        <p:nvSpPr>
          <p:cNvPr id="21" name="Shape 19"/>
          <p:cNvSpPr/>
          <p:nvPr/>
        </p:nvSpPr>
        <p:spPr>
          <a:xfrm>
            <a:off x="6126480" y="2514600"/>
            <a:ext cx="2560320" cy="1051560"/>
          </a:xfrm>
          <a:prstGeom prst="rect">
            <a:avLst/>
          </a:prstGeom>
          <a:solidFill>
            <a:srgbClr val="F9F9F9"/>
          </a:solidFill>
          <a:ln w="6350">
            <a:solidFill>
              <a:srgbClr val="E5E5E5"/>
            </a:solidFill>
            <a:prstDash val="solid"/>
          </a:ln>
        </p:spPr>
      </p:sp>
      <p:sp>
        <p:nvSpPr>
          <p:cNvPr id="22" name="Text 20"/>
          <p:cNvSpPr/>
          <p:nvPr/>
        </p:nvSpPr>
        <p:spPr>
          <a:xfrm>
            <a:off x="6263640" y="2560320"/>
            <a:ext cx="2331720" cy="201168"/>
          </a:xfrm>
          <a:prstGeom prst="rect">
            <a:avLst/>
          </a:prstGeom>
          <a:noFill/>
          <a:ln/>
        </p:spPr>
        <p:txBody>
          <a:bodyPr wrap="square" lIns="0" tIns="0" rIns="0" bIns="0" rtlCol="0" anchor="ctr"/>
          <a:lstStyle/>
          <a:p>
            <a:pPr indent="0" marL="0">
              <a:buNone/>
            </a:pPr>
            <a:r>
              <a:rPr lang="en-US" sz="900" b="1" spc="200" kern="0" dirty="0">
                <a:solidFill>
                  <a:srgbClr val="333333"/>
                </a:solidFill>
                <a:latin typeface="Arial" pitchFamily="34" charset="0"/>
                <a:ea typeface="Arial" pitchFamily="34" charset="-122"/>
                <a:cs typeface="Arial" pitchFamily="34" charset="-120"/>
              </a:rPr>
              <a:t>Bottleneck</a:t>
            </a:r>
            <a:endParaRPr lang="en-US" sz="900" dirty="0"/>
          </a:p>
        </p:txBody>
      </p:sp>
      <p:sp>
        <p:nvSpPr>
          <p:cNvPr id="23" name="Text 21"/>
          <p:cNvSpPr/>
          <p:nvPr/>
        </p:nvSpPr>
        <p:spPr>
          <a:xfrm>
            <a:off x="6263640" y="2761488"/>
            <a:ext cx="2331720" cy="77724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Interconnection queues take years. Grid build is the binding constraint on deployment speed.</a:t>
            </a:r>
            <a:endParaRPr lang="en-US" sz="950" dirty="0"/>
          </a:p>
        </p:txBody>
      </p:sp>
      <p:sp>
        <p:nvSpPr>
          <p:cNvPr id="24" name="Shape 22"/>
          <p:cNvSpPr/>
          <p:nvPr/>
        </p:nvSpPr>
        <p:spPr>
          <a:xfrm>
            <a:off x="457200" y="3657600"/>
            <a:ext cx="8229600" cy="320040"/>
          </a:xfrm>
          <a:prstGeom prst="rect">
            <a:avLst/>
          </a:prstGeom>
          <a:solidFill>
            <a:srgbClr val="333333"/>
          </a:solidFill>
          <a:ln w="12700">
            <a:solidFill>
              <a:srgbClr val="333333"/>
            </a:solidFill>
            <a:prstDash val="solid"/>
          </a:ln>
        </p:spPr>
      </p:sp>
      <p:sp>
        <p:nvSpPr>
          <p:cNvPr id="25" name="Text 23"/>
          <p:cNvSpPr/>
          <p:nvPr/>
        </p:nvSpPr>
        <p:spPr>
          <a:xfrm>
            <a:off x="640080" y="3657600"/>
            <a:ext cx="7863840" cy="3200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EMERGING: Small modular reactors (SMR pipeline) and geothermal sit behind gas and solar — the only sources credibly scaling past 2030 without straining grid reliability.</a:t>
            </a:r>
            <a:endParaRPr lang="en-US" sz="1000" dirty="0"/>
          </a:p>
        </p:txBody>
      </p:sp>
      <p:sp>
        <p:nvSpPr>
          <p:cNvPr id="26" name="Text 24"/>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IEA World Energy Outlook 2025; EIA; utility interconnection-queue data.</a:t>
            </a:r>
            <a:endParaRPr lang="en-US" sz="700" dirty="0"/>
          </a:p>
        </p:txBody>
      </p:sp>
      <p:sp>
        <p:nvSpPr>
          <p:cNvPr id="27" name="Shape 25"/>
          <p:cNvSpPr/>
          <p:nvPr/>
        </p:nvSpPr>
        <p:spPr>
          <a:xfrm>
            <a:off x="0" y="4526280"/>
            <a:ext cx="9144000" cy="617220"/>
          </a:xfrm>
          <a:prstGeom prst="rect">
            <a:avLst/>
          </a:prstGeom>
          <a:solidFill>
            <a:srgbClr val="333333"/>
          </a:solidFill>
          <a:ln w="12700">
            <a:solidFill>
              <a:srgbClr val="333333"/>
            </a:solidFill>
            <a:prstDash val="solid"/>
          </a:ln>
        </p:spPr>
      </p:sp>
      <p:sp>
        <p:nvSpPr>
          <p:cNvPr id="28" name="Text 2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9" name="Text 2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buyer base is broadening.</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Big 5 hyperscalers drive ~$750B. But neoclouds, sovereigns, labs, and enterprises are now material — not just the original four.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283464" y="1691640"/>
            <a:ext cx="1627632" cy="1783080"/>
          </a:xfrm>
          <a:prstGeom prst="rect">
            <a:avLst/>
          </a:prstGeom>
          <a:solidFill>
            <a:srgbClr val="F9F9F9"/>
          </a:solidFill>
          <a:ln w="6350">
            <a:solidFill>
              <a:srgbClr val="E5E5E5"/>
            </a:solidFill>
            <a:prstDash val="solid"/>
          </a:ln>
        </p:spPr>
      </p:sp>
      <p:sp>
        <p:nvSpPr>
          <p:cNvPr id="8" name="Shape 6"/>
          <p:cNvSpPr/>
          <p:nvPr/>
        </p:nvSpPr>
        <p:spPr>
          <a:xfrm>
            <a:off x="283464" y="1691640"/>
            <a:ext cx="1627632" cy="54864"/>
          </a:xfrm>
          <a:prstGeom prst="rect">
            <a:avLst/>
          </a:prstGeom>
          <a:solidFill>
            <a:srgbClr val="F6693D"/>
          </a:solidFill>
          <a:ln w="12700">
            <a:solidFill>
              <a:srgbClr val="F6693D"/>
            </a:solidFill>
            <a:prstDash val="solid"/>
          </a:ln>
        </p:spPr>
      </p:sp>
      <p:sp>
        <p:nvSpPr>
          <p:cNvPr id="9" name="Text 7"/>
          <p:cNvSpPr/>
          <p:nvPr/>
        </p:nvSpPr>
        <p:spPr>
          <a:xfrm>
            <a:off x="356616" y="1801368"/>
            <a:ext cx="1481328" cy="256032"/>
          </a:xfrm>
          <a:prstGeom prst="rect">
            <a:avLst/>
          </a:prstGeom>
          <a:noFill/>
          <a:ln/>
        </p:spPr>
        <p:txBody>
          <a:bodyPr wrap="square" lIns="0" tIns="0" rIns="0" bIns="0" rtlCol="0" anchor="ctr"/>
          <a:lstStyle/>
          <a:p>
            <a:pPr indent="0" marL="0">
              <a:buNone/>
            </a:pPr>
            <a:r>
              <a:rPr lang="en-US" sz="1000" b="1" spc="200" kern="0" dirty="0">
                <a:solidFill>
                  <a:srgbClr val="F6693D"/>
                </a:solidFill>
                <a:latin typeface="Arial" pitchFamily="34" charset="0"/>
                <a:ea typeface="Arial" pitchFamily="34" charset="-122"/>
                <a:cs typeface="Arial" pitchFamily="34" charset="-120"/>
              </a:rPr>
              <a:t>HYPERSCALERS</a:t>
            </a:r>
            <a:endParaRPr lang="en-US" sz="1000" dirty="0"/>
          </a:p>
        </p:txBody>
      </p:sp>
      <p:sp>
        <p:nvSpPr>
          <p:cNvPr id="10" name="Text 8"/>
          <p:cNvSpPr/>
          <p:nvPr/>
        </p:nvSpPr>
        <p:spPr>
          <a:xfrm>
            <a:off x="35661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~$750B</a:t>
            </a:r>
            <a:endParaRPr lang="en-US" sz="2200" dirty="0"/>
          </a:p>
        </p:txBody>
      </p:sp>
      <p:sp>
        <p:nvSpPr>
          <p:cNvPr id="11" name="Text 9"/>
          <p:cNvSpPr/>
          <p:nvPr/>
        </p:nvSpPr>
        <p:spPr>
          <a:xfrm>
            <a:off x="35661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2026E combined capex</a:t>
            </a:r>
            <a:endParaRPr lang="en-US" sz="850" dirty="0"/>
          </a:p>
        </p:txBody>
      </p:sp>
      <p:sp>
        <p:nvSpPr>
          <p:cNvPr id="12" name="Shape 10"/>
          <p:cNvSpPr/>
          <p:nvPr/>
        </p:nvSpPr>
        <p:spPr>
          <a:xfrm>
            <a:off x="356616" y="2852928"/>
            <a:ext cx="1481328" cy="0"/>
          </a:xfrm>
          <a:prstGeom prst="line">
            <a:avLst/>
          </a:prstGeom>
          <a:noFill/>
          <a:ln w="6350">
            <a:solidFill>
              <a:srgbClr val="E5E5E5"/>
            </a:solidFill>
            <a:prstDash val="solid"/>
          </a:ln>
        </p:spPr>
      </p:sp>
      <p:sp>
        <p:nvSpPr>
          <p:cNvPr id="13" name="Text 11"/>
          <p:cNvSpPr/>
          <p:nvPr/>
        </p:nvSpPr>
        <p:spPr>
          <a:xfrm>
            <a:off x="35661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AMZN ~$200B · GOOGL ~$200B · MSFT ~$150B · META ~$120B · ORCL ~$80B</a:t>
            </a:r>
            <a:endParaRPr lang="en-US" sz="800" dirty="0"/>
          </a:p>
        </p:txBody>
      </p:sp>
      <p:sp>
        <p:nvSpPr>
          <p:cNvPr id="14" name="Shape 12"/>
          <p:cNvSpPr/>
          <p:nvPr/>
        </p:nvSpPr>
        <p:spPr>
          <a:xfrm>
            <a:off x="2020824" y="1691640"/>
            <a:ext cx="1627632" cy="1783080"/>
          </a:xfrm>
          <a:prstGeom prst="rect">
            <a:avLst/>
          </a:prstGeom>
          <a:solidFill>
            <a:srgbClr val="F9F9F9"/>
          </a:solidFill>
          <a:ln w="6350">
            <a:solidFill>
              <a:srgbClr val="E5E5E5"/>
            </a:solidFill>
            <a:prstDash val="solid"/>
          </a:ln>
        </p:spPr>
      </p:sp>
      <p:sp>
        <p:nvSpPr>
          <p:cNvPr id="15" name="Shape 13"/>
          <p:cNvSpPr/>
          <p:nvPr/>
        </p:nvSpPr>
        <p:spPr>
          <a:xfrm>
            <a:off x="2020824" y="1691640"/>
            <a:ext cx="1627632" cy="54864"/>
          </a:xfrm>
          <a:prstGeom prst="rect">
            <a:avLst/>
          </a:prstGeom>
          <a:solidFill>
            <a:srgbClr val="E8478D"/>
          </a:solidFill>
          <a:ln w="12700">
            <a:solidFill>
              <a:srgbClr val="E8478D"/>
            </a:solidFill>
            <a:prstDash val="solid"/>
          </a:ln>
        </p:spPr>
      </p:sp>
      <p:sp>
        <p:nvSpPr>
          <p:cNvPr id="16" name="Text 14"/>
          <p:cNvSpPr/>
          <p:nvPr/>
        </p:nvSpPr>
        <p:spPr>
          <a:xfrm>
            <a:off x="2093976" y="1801368"/>
            <a:ext cx="1481328" cy="256032"/>
          </a:xfrm>
          <a:prstGeom prst="rect">
            <a:avLst/>
          </a:prstGeom>
          <a:noFill/>
          <a:ln/>
        </p:spPr>
        <p:txBody>
          <a:bodyPr wrap="square" lIns="0" tIns="0" rIns="0" bIns="0" rtlCol="0" anchor="ctr"/>
          <a:lstStyle/>
          <a:p>
            <a:pPr indent="0" marL="0">
              <a:buNone/>
            </a:pPr>
            <a:r>
              <a:rPr lang="en-US" sz="1000" b="1" spc="200" kern="0" dirty="0">
                <a:solidFill>
                  <a:srgbClr val="E8478D"/>
                </a:solidFill>
                <a:latin typeface="Arial" pitchFamily="34" charset="0"/>
                <a:ea typeface="Arial" pitchFamily="34" charset="-122"/>
                <a:cs typeface="Arial" pitchFamily="34" charset="-120"/>
              </a:rPr>
              <a:t>AI LABS</a:t>
            </a:r>
            <a:endParaRPr lang="en-US" sz="1000" dirty="0"/>
          </a:p>
        </p:txBody>
      </p:sp>
      <p:sp>
        <p:nvSpPr>
          <p:cNvPr id="17" name="Text 15"/>
          <p:cNvSpPr/>
          <p:nvPr/>
        </p:nvSpPr>
        <p:spPr>
          <a:xfrm>
            <a:off x="209397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4 names</a:t>
            </a:r>
            <a:endParaRPr lang="en-US" sz="2200" dirty="0"/>
          </a:p>
        </p:txBody>
      </p:sp>
      <p:sp>
        <p:nvSpPr>
          <p:cNvPr id="18" name="Text 16"/>
          <p:cNvSpPr/>
          <p:nvPr/>
        </p:nvSpPr>
        <p:spPr>
          <a:xfrm>
            <a:off x="209397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driving demand</a:t>
            </a:r>
            <a:endParaRPr lang="en-US" sz="850" dirty="0"/>
          </a:p>
        </p:txBody>
      </p:sp>
      <p:sp>
        <p:nvSpPr>
          <p:cNvPr id="19" name="Shape 17"/>
          <p:cNvSpPr/>
          <p:nvPr/>
        </p:nvSpPr>
        <p:spPr>
          <a:xfrm>
            <a:off x="2093976" y="2852928"/>
            <a:ext cx="1481328" cy="0"/>
          </a:xfrm>
          <a:prstGeom prst="line">
            <a:avLst/>
          </a:prstGeom>
          <a:noFill/>
          <a:ln w="6350">
            <a:solidFill>
              <a:srgbClr val="E5E5E5"/>
            </a:solidFill>
            <a:prstDash val="solid"/>
          </a:ln>
        </p:spPr>
      </p:sp>
      <p:sp>
        <p:nvSpPr>
          <p:cNvPr id="20" name="Text 18"/>
          <p:cNvSpPr/>
          <p:nvPr/>
        </p:nvSpPr>
        <p:spPr>
          <a:xfrm>
            <a:off x="209397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OpenAI · Anthropic · xAI · Mistral</a:t>
            </a:r>
            <a:endParaRPr lang="en-US" sz="800" dirty="0"/>
          </a:p>
        </p:txBody>
      </p:sp>
      <p:sp>
        <p:nvSpPr>
          <p:cNvPr id="21" name="Shape 19"/>
          <p:cNvSpPr/>
          <p:nvPr/>
        </p:nvSpPr>
        <p:spPr>
          <a:xfrm>
            <a:off x="3758184" y="1691640"/>
            <a:ext cx="1627632" cy="1783080"/>
          </a:xfrm>
          <a:prstGeom prst="rect">
            <a:avLst/>
          </a:prstGeom>
          <a:solidFill>
            <a:srgbClr val="F9F9F9"/>
          </a:solidFill>
          <a:ln w="6350">
            <a:solidFill>
              <a:srgbClr val="E5E5E5"/>
            </a:solidFill>
            <a:prstDash val="solid"/>
          </a:ln>
        </p:spPr>
      </p:sp>
      <p:sp>
        <p:nvSpPr>
          <p:cNvPr id="22" name="Shape 20"/>
          <p:cNvSpPr/>
          <p:nvPr/>
        </p:nvSpPr>
        <p:spPr>
          <a:xfrm>
            <a:off x="3758184" y="1691640"/>
            <a:ext cx="1627632" cy="54864"/>
          </a:xfrm>
          <a:prstGeom prst="rect">
            <a:avLst/>
          </a:prstGeom>
          <a:solidFill>
            <a:srgbClr val="008B8B"/>
          </a:solidFill>
          <a:ln w="12700">
            <a:solidFill>
              <a:srgbClr val="008B8B"/>
            </a:solidFill>
            <a:prstDash val="solid"/>
          </a:ln>
        </p:spPr>
      </p:sp>
      <p:sp>
        <p:nvSpPr>
          <p:cNvPr id="23" name="Text 21"/>
          <p:cNvSpPr/>
          <p:nvPr/>
        </p:nvSpPr>
        <p:spPr>
          <a:xfrm>
            <a:off x="3831336" y="1801368"/>
            <a:ext cx="1481328" cy="256032"/>
          </a:xfrm>
          <a:prstGeom prst="rect">
            <a:avLst/>
          </a:prstGeom>
          <a:noFill/>
          <a:ln/>
        </p:spPr>
        <p:txBody>
          <a:bodyPr wrap="square" lIns="0" tIns="0" rIns="0" bIns="0" rtlCol="0" anchor="ctr"/>
          <a:lstStyle/>
          <a:p>
            <a:pPr indent="0" marL="0">
              <a:buNone/>
            </a:pPr>
            <a:r>
              <a:rPr lang="en-US" sz="1000" b="1" spc="200" kern="0" dirty="0">
                <a:solidFill>
                  <a:srgbClr val="008B8B"/>
                </a:solidFill>
                <a:latin typeface="Arial" pitchFamily="34" charset="0"/>
                <a:ea typeface="Arial" pitchFamily="34" charset="-122"/>
                <a:cs typeface="Arial" pitchFamily="34" charset="-120"/>
              </a:rPr>
              <a:t>NEOCLOUDS</a:t>
            </a:r>
            <a:endParaRPr lang="en-US" sz="1000" dirty="0"/>
          </a:p>
        </p:txBody>
      </p:sp>
      <p:sp>
        <p:nvSpPr>
          <p:cNvPr id="24" name="Text 22"/>
          <p:cNvSpPr/>
          <p:nvPr/>
        </p:nvSpPr>
        <p:spPr>
          <a:xfrm>
            <a:off x="383133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~4×</a:t>
            </a:r>
            <a:endParaRPr lang="en-US" sz="2200" dirty="0"/>
          </a:p>
        </p:txBody>
      </p:sp>
      <p:sp>
        <p:nvSpPr>
          <p:cNvPr id="25" name="Text 23"/>
          <p:cNvSpPr/>
          <p:nvPr/>
        </p:nvSpPr>
        <p:spPr>
          <a:xfrm>
            <a:off x="383133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cheaper than hypers</a:t>
            </a:r>
            <a:endParaRPr lang="en-US" sz="850" dirty="0"/>
          </a:p>
        </p:txBody>
      </p:sp>
      <p:sp>
        <p:nvSpPr>
          <p:cNvPr id="26" name="Shape 24"/>
          <p:cNvSpPr/>
          <p:nvPr/>
        </p:nvSpPr>
        <p:spPr>
          <a:xfrm>
            <a:off x="3831336" y="2852928"/>
            <a:ext cx="1481328" cy="0"/>
          </a:xfrm>
          <a:prstGeom prst="line">
            <a:avLst/>
          </a:prstGeom>
          <a:noFill/>
          <a:ln w="6350">
            <a:solidFill>
              <a:srgbClr val="E5E5E5"/>
            </a:solidFill>
            <a:prstDash val="solid"/>
          </a:ln>
        </p:spPr>
      </p:sp>
      <p:sp>
        <p:nvSpPr>
          <p:cNvPr id="27" name="Text 25"/>
          <p:cNvSpPr/>
          <p:nvPr/>
        </p:nvSpPr>
        <p:spPr>
          <a:xfrm>
            <a:off x="383133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CoreWeave · Lambda · Crusoe · Vultr</a:t>
            </a:r>
            <a:endParaRPr lang="en-US" sz="800" dirty="0"/>
          </a:p>
        </p:txBody>
      </p:sp>
      <p:sp>
        <p:nvSpPr>
          <p:cNvPr id="28" name="Shape 26"/>
          <p:cNvSpPr/>
          <p:nvPr/>
        </p:nvSpPr>
        <p:spPr>
          <a:xfrm>
            <a:off x="5495544" y="1691640"/>
            <a:ext cx="1627632" cy="1783080"/>
          </a:xfrm>
          <a:prstGeom prst="rect">
            <a:avLst/>
          </a:prstGeom>
          <a:solidFill>
            <a:srgbClr val="F9F9F9"/>
          </a:solidFill>
          <a:ln w="6350">
            <a:solidFill>
              <a:srgbClr val="E5E5E5"/>
            </a:solidFill>
            <a:prstDash val="solid"/>
          </a:ln>
        </p:spPr>
      </p:sp>
      <p:sp>
        <p:nvSpPr>
          <p:cNvPr id="29" name="Shape 27"/>
          <p:cNvSpPr/>
          <p:nvPr/>
        </p:nvSpPr>
        <p:spPr>
          <a:xfrm>
            <a:off x="5495544" y="1691640"/>
            <a:ext cx="1627632" cy="54864"/>
          </a:xfrm>
          <a:prstGeom prst="rect">
            <a:avLst/>
          </a:prstGeom>
          <a:solidFill>
            <a:srgbClr val="FFB800"/>
          </a:solidFill>
          <a:ln w="12700">
            <a:solidFill>
              <a:srgbClr val="FFB800"/>
            </a:solidFill>
            <a:prstDash val="solid"/>
          </a:ln>
        </p:spPr>
      </p:sp>
      <p:sp>
        <p:nvSpPr>
          <p:cNvPr id="30" name="Text 28"/>
          <p:cNvSpPr/>
          <p:nvPr/>
        </p:nvSpPr>
        <p:spPr>
          <a:xfrm>
            <a:off x="5568696" y="1801368"/>
            <a:ext cx="1481328" cy="256032"/>
          </a:xfrm>
          <a:prstGeom prst="rect">
            <a:avLst/>
          </a:prstGeom>
          <a:noFill/>
          <a:ln/>
        </p:spPr>
        <p:txBody>
          <a:bodyPr wrap="square" lIns="0" tIns="0" rIns="0" bIns="0" rtlCol="0" anchor="ctr"/>
          <a:lstStyle/>
          <a:p>
            <a:pPr indent="0" marL="0">
              <a:buNone/>
            </a:pPr>
            <a:r>
              <a:rPr lang="en-US" sz="1000" b="1" spc="200" kern="0" dirty="0">
                <a:solidFill>
                  <a:srgbClr val="FFB800"/>
                </a:solidFill>
                <a:latin typeface="Arial" pitchFamily="34" charset="0"/>
                <a:ea typeface="Arial" pitchFamily="34" charset="-122"/>
                <a:cs typeface="Arial" pitchFamily="34" charset="-120"/>
              </a:rPr>
              <a:t>SOVEREIGNS</a:t>
            </a:r>
            <a:endParaRPr lang="en-US" sz="1000" dirty="0"/>
          </a:p>
        </p:txBody>
      </p:sp>
      <p:sp>
        <p:nvSpPr>
          <p:cNvPr id="31" name="Text 29"/>
          <p:cNvSpPr/>
          <p:nvPr/>
        </p:nvSpPr>
        <p:spPr>
          <a:xfrm>
            <a:off x="556869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$100B+</a:t>
            </a:r>
            <a:endParaRPr lang="en-US" sz="2200" dirty="0"/>
          </a:p>
        </p:txBody>
      </p:sp>
      <p:sp>
        <p:nvSpPr>
          <p:cNvPr id="32" name="Text 30"/>
          <p:cNvSpPr/>
          <p:nvPr/>
        </p:nvSpPr>
        <p:spPr>
          <a:xfrm>
            <a:off x="556869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announced sovereign AI</a:t>
            </a:r>
            <a:endParaRPr lang="en-US" sz="850" dirty="0"/>
          </a:p>
        </p:txBody>
      </p:sp>
      <p:sp>
        <p:nvSpPr>
          <p:cNvPr id="33" name="Shape 31"/>
          <p:cNvSpPr/>
          <p:nvPr/>
        </p:nvSpPr>
        <p:spPr>
          <a:xfrm>
            <a:off x="5568696" y="2852928"/>
            <a:ext cx="1481328" cy="0"/>
          </a:xfrm>
          <a:prstGeom prst="line">
            <a:avLst/>
          </a:prstGeom>
          <a:noFill/>
          <a:ln w="6350">
            <a:solidFill>
              <a:srgbClr val="E5E5E5"/>
            </a:solidFill>
            <a:prstDash val="solid"/>
          </a:ln>
        </p:spPr>
      </p:sp>
      <p:sp>
        <p:nvSpPr>
          <p:cNvPr id="34" name="Text 32"/>
          <p:cNvSpPr/>
          <p:nvPr/>
        </p:nvSpPr>
        <p:spPr>
          <a:xfrm>
            <a:off x="556869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Saudi Arabia · UAE · France · Japan</a:t>
            </a:r>
            <a:endParaRPr lang="en-US" sz="800" dirty="0"/>
          </a:p>
        </p:txBody>
      </p:sp>
      <p:sp>
        <p:nvSpPr>
          <p:cNvPr id="35" name="Shape 33"/>
          <p:cNvSpPr/>
          <p:nvPr/>
        </p:nvSpPr>
        <p:spPr>
          <a:xfrm>
            <a:off x="7232904" y="1691640"/>
            <a:ext cx="1627632" cy="1783080"/>
          </a:xfrm>
          <a:prstGeom prst="rect">
            <a:avLst/>
          </a:prstGeom>
          <a:solidFill>
            <a:srgbClr val="F9F9F9"/>
          </a:solidFill>
          <a:ln w="6350">
            <a:solidFill>
              <a:srgbClr val="E5E5E5"/>
            </a:solidFill>
            <a:prstDash val="solid"/>
          </a:ln>
        </p:spPr>
      </p:sp>
      <p:sp>
        <p:nvSpPr>
          <p:cNvPr id="36" name="Shape 34"/>
          <p:cNvSpPr/>
          <p:nvPr/>
        </p:nvSpPr>
        <p:spPr>
          <a:xfrm>
            <a:off x="7232904" y="1691640"/>
            <a:ext cx="1627632" cy="54864"/>
          </a:xfrm>
          <a:prstGeom prst="rect">
            <a:avLst/>
          </a:prstGeom>
          <a:solidFill>
            <a:srgbClr val="00A854"/>
          </a:solidFill>
          <a:ln w="12700">
            <a:solidFill>
              <a:srgbClr val="00A854"/>
            </a:solidFill>
            <a:prstDash val="solid"/>
          </a:ln>
        </p:spPr>
      </p:sp>
      <p:sp>
        <p:nvSpPr>
          <p:cNvPr id="37" name="Text 35"/>
          <p:cNvSpPr/>
          <p:nvPr/>
        </p:nvSpPr>
        <p:spPr>
          <a:xfrm>
            <a:off x="7306056" y="1801368"/>
            <a:ext cx="1481328" cy="256032"/>
          </a:xfrm>
          <a:prstGeom prst="rect">
            <a:avLst/>
          </a:prstGeom>
          <a:noFill/>
          <a:ln/>
        </p:spPr>
        <p:txBody>
          <a:bodyPr wrap="square" lIns="0" tIns="0" rIns="0" bIns="0" rtlCol="0" anchor="ctr"/>
          <a:lstStyle/>
          <a:p>
            <a:pPr indent="0" marL="0">
              <a:buNone/>
            </a:pPr>
            <a:r>
              <a:rPr lang="en-US" sz="1000" b="1" spc="200" kern="0" dirty="0">
                <a:solidFill>
                  <a:srgbClr val="00A854"/>
                </a:solidFill>
                <a:latin typeface="Arial" pitchFamily="34" charset="0"/>
                <a:ea typeface="Arial" pitchFamily="34" charset="-122"/>
                <a:cs typeface="Arial" pitchFamily="34" charset="-120"/>
              </a:rPr>
              <a:t>ENTERPRISES</a:t>
            </a:r>
            <a:endParaRPr lang="en-US" sz="1000" dirty="0"/>
          </a:p>
        </p:txBody>
      </p:sp>
      <p:sp>
        <p:nvSpPr>
          <p:cNvPr id="38" name="Text 36"/>
          <p:cNvSpPr/>
          <p:nvPr/>
        </p:nvSpPr>
        <p:spPr>
          <a:xfrm>
            <a:off x="730605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Big 4</a:t>
            </a:r>
            <a:endParaRPr lang="en-US" sz="2200" dirty="0"/>
          </a:p>
        </p:txBody>
      </p:sp>
      <p:sp>
        <p:nvSpPr>
          <p:cNvPr id="39" name="Text 37"/>
          <p:cNvSpPr/>
          <p:nvPr/>
        </p:nvSpPr>
        <p:spPr>
          <a:xfrm>
            <a:off x="730605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with in-house fleets</a:t>
            </a:r>
            <a:endParaRPr lang="en-US" sz="850" dirty="0"/>
          </a:p>
        </p:txBody>
      </p:sp>
      <p:sp>
        <p:nvSpPr>
          <p:cNvPr id="40" name="Shape 38"/>
          <p:cNvSpPr/>
          <p:nvPr/>
        </p:nvSpPr>
        <p:spPr>
          <a:xfrm>
            <a:off x="7306056" y="2852928"/>
            <a:ext cx="1481328" cy="0"/>
          </a:xfrm>
          <a:prstGeom prst="line">
            <a:avLst/>
          </a:prstGeom>
          <a:noFill/>
          <a:ln w="6350">
            <a:solidFill>
              <a:srgbClr val="E5E5E5"/>
            </a:solidFill>
            <a:prstDash val="solid"/>
          </a:ln>
        </p:spPr>
      </p:sp>
      <p:sp>
        <p:nvSpPr>
          <p:cNvPr id="41" name="Text 39"/>
          <p:cNvSpPr/>
          <p:nvPr/>
        </p:nvSpPr>
        <p:spPr>
          <a:xfrm>
            <a:off x="730605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JPMorgan · Tesla · Apple · ByteDance</a:t>
            </a:r>
            <a:endParaRPr lang="en-US" sz="800" dirty="0"/>
          </a:p>
        </p:txBody>
      </p:sp>
      <p:sp>
        <p:nvSpPr>
          <p:cNvPr id="42" name="Text 40"/>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(Apr 2026 consensus); sovereign AI announcements; CoreWeave, Lambda, Crusoe, Vultr filings.</a:t>
            </a:r>
            <a:endParaRPr lang="en-US" sz="700" dirty="0"/>
          </a:p>
        </p:txBody>
      </p:sp>
      <p:sp>
        <p:nvSpPr>
          <p:cNvPr id="43" name="Shape 41"/>
          <p:cNvSpPr/>
          <p:nvPr/>
        </p:nvSpPr>
        <p:spPr>
          <a:xfrm>
            <a:off x="0" y="4526280"/>
            <a:ext cx="9144000" cy="617220"/>
          </a:xfrm>
          <a:prstGeom prst="rect">
            <a:avLst/>
          </a:prstGeom>
          <a:solidFill>
            <a:srgbClr val="333333"/>
          </a:solidFill>
          <a:ln w="12700">
            <a:solidFill>
              <a:srgbClr val="333333"/>
            </a:solidFill>
            <a:prstDash val="solid"/>
          </a:ln>
        </p:spPr>
      </p:sp>
      <p:sp>
        <p:nvSpPr>
          <p:cNvPr id="44" name="Text 42"/>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5" name="Text 4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Anatomy of a ~$975B market.</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AI has flipped the engine. Logic and memory — ~60% of the industry — now drive the whole thing. Analog and micros are along for the ride.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Semiconductor revenue by segment, 2026E ($B)</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Value captured by node</a:t>
            </a:r>
            <a:endParaRPr lang="en-US" sz="1400" dirty="0"/>
          </a:p>
        </p:txBody>
      </p:sp>
      <p:sp>
        <p:nvSpPr>
          <p:cNvPr id="11" name="Shape 8"/>
          <p:cNvSpPr/>
          <p:nvPr/>
        </p:nvSpPr>
        <p:spPr>
          <a:xfrm>
            <a:off x="4754880" y="1691640"/>
            <a:ext cx="3931920" cy="0"/>
          </a:xfrm>
          <a:prstGeom prst="line">
            <a:avLst/>
          </a:prstGeom>
          <a:noFill/>
          <a:ln w="19050">
            <a:solidFill>
              <a:srgbClr val="000000"/>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754880" y="1783080"/>
          <a:ext cx="3931920" cy="914400"/>
        </p:xfrm>
        <a:graphic>
          <a:graphicData uri="http://schemas.openxmlformats.org/drawingml/2006/table">
            <a:tbl>
              <a:tblPr/>
              <a:tblGrid>
                <a:gridCol w="1097280"/>
                <a:gridCol w="1005840"/>
                <a:gridCol w="1828800"/>
              </a:tblGrid>
              <a:tr h="329184">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Datapoint</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Context</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NVIDIA</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$216B</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FY26 rev, +65% YoY (actual)</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NVIDIA</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$78B</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Q1 FY27 rev guide (Feb)</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TSMC</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~90%</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of advanced-node supply</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SK Hynix</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62%</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HBM share; HBM4 to 70% for Rubin</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ASML</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&lt;100/yr</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EUV machines built per year</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bl>
          </a:graphicData>
        </a:graphic>
      </p:graphicFrame>
      <p:sp>
        <p:nvSpPr>
          <p:cNvPr id="13" name="Shape 9"/>
          <p:cNvSpPr/>
          <p:nvPr/>
        </p:nvSpPr>
        <p:spPr>
          <a:xfrm>
            <a:off x="457200" y="3520440"/>
            <a:ext cx="8229600" cy="457200"/>
          </a:xfrm>
          <a:prstGeom prst="rect">
            <a:avLst/>
          </a:prstGeom>
          <a:solidFill>
            <a:srgbClr val="FFD100"/>
          </a:solidFill>
          <a:ln w="12700">
            <a:solidFill>
              <a:srgbClr val="FFD100"/>
            </a:solidFill>
            <a:prstDash val="solid"/>
          </a:ln>
        </p:spPr>
      </p:sp>
      <p:sp>
        <p:nvSpPr>
          <p:cNvPr id="14" name="Text 10"/>
          <p:cNvSpPr/>
          <p:nvPr/>
        </p:nvSpPr>
        <p:spPr>
          <a:xfrm>
            <a:off x="640080" y="3520440"/>
            <a:ext cx="7863840" cy="45720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$975B total revenue, +26% YoY. Logic + memory = ~$600B — tracking hyperscaler capex almost dollar-for-dollar. Not a coincidence.</a:t>
            </a:r>
            <a:endParaRPr lang="en-US" sz="1250" dirty="0"/>
          </a:p>
        </p:txBody>
      </p:sp>
      <p:sp>
        <p:nvSpPr>
          <p:cNvPr id="15" name="Text 11"/>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WSTS Fall 2025 forecast; SIA; NVIDIA FY2026 10-K (Jan 2026); TSMC, SK Hynix filings; TrendForce; ASML annual capacity guidance.</a:t>
            </a:r>
            <a:endParaRPr lang="en-US" sz="700" dirty="0"/>
          </a:p>
        </p:txBody>
      </p:sp>
      <p:sp>
        <p:nvSpPr>
          <p:cNvPr id="16" name="Shape 12"/>
          <p:cNvSpPr/>
          <p:nvPr/>
        </p:nvSpPr>
        <p:spPr>
          <a:xfrm>
            <a:off x="0" y="4526280"/>
            <a:ext cx="9144000" cy="617220"/>
          </a:xfrm>
          <a:prstGeom prst="rect">
            <a:avLst/>
          </a:prstGeom>
          <a:solidFill>
            <a:srgbClr val="333333"/>
          </a:solidFill>
          <a:ln w="12700">
            <a:solidFill>
              <a:srgbClr val="333333"/>
            </a:solidFill>
            <a:prstDash val="solid"/>
          </a:ln>
        </p:spPr>
      </p:sp>
      <p:sp>
        <p:nvSpPr>
          <p:cNvPr id="17" name="Text 1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Memory is the bottleneck.</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GPUs wait on memory. Context windows are exploding. HBM is a three-supplier oligopoly on its way to a $100B TAM.</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HBM TAM ($B) — 25× growth, 2023 → 2028E</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HBM supplier share, Q1 2026</a:t>
            </a:r>
            <a:endParaRPr lang="en-US" sz="1400" dirty="0"/>
          </a:p>
        </p:txBody>
      </p:sp>
      <p:sp>
        <p:nvSpPr>
          <p:cNvPr id="11" name="Shape 8"/>
          <p:cNvSpPr/>
          <p:nvPr/>
        </p:nvSpPr>
        <p:spPr>
          <a:xfrm>
            <a:off x="4754880" y="1691640"/>
            <a:ext cx="3931920" cy="0"/>
          </a:xfrm>
          <a:prstGeom prst="line">
            <a:avLst/>
          </a:prstGeom>
          <a:noFill/>
          <a:ln w="19050">
            <a:solidFill>
              <a:srgbClr val="000000"/>
            </a:solidFill>
            <a:prstDash val="solid"/>
          </a:ln>
        </p:spPr>
      </p:sp>
      <p:graphicFrame>
        <p:nvGraphicFramePr>
          <p:cNvPr id="12" name="Chart 1" descr=""/>
          <p:cNvGraphicFramePr/>
          <p:nvPr/>
        </p:nvGraphicFramePr>
        <p:xfrm>
          <a:off x="4754880" y="1783080"/>
          <a:ext cx="3931920" cy="2103120"/>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a:off x="457200" y="3520440"/>
            <a:ext cx="8229600" cy="457200"/>
          </a:xfrm>
          <a:prstGeom prst="rect">
            <a:avLst/>
          </a:prstGeom>
          <a:solidFill>
            <a:srgbClr val="333333"/>
          </a:solidFill>
          <a:ln w="12700">
            <a:solidFill>
              <a:srgbClr val="333333"/>
            </a:solidFill>
            <a:prstDash val="solid"/>
          </a:ln>
        </p:spPr>
      </p:sp>
      <p:sp>
        <p:nvSpPr>
          <p:cNvPr id="14" name="Text 10"/>
          <p:cNvSpPr/>
          <p:nvPr/>
        </p:nvSpPr>
        <p:spPr>
          <a:xfrm>
            <a:off x="640080" y="3520440"/>
            <a:ext cx="7863840" cy="45720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HBM4 = 56× the bandwidth of DDR5 (2.8 TB/s vs 50 GB/s). All three suppliers sold out for 2026. SK Hynix targets ~70% HBM4 share for NVIDIA Rubin; Samsung aims to push above 30% as HBM4 ramps.</a:t>
            </a:r>
            <a:endParaRPr lang="en-US" sz="1050" dirty="0"/>
          </a:p>
        </p:txBody>
      </p:sp>
      <p:sp>
        <p:nvSpPr>
          <p:cNvPr id="15" name="Text 11"/>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Bank of America 2026 HBM TAM forecast; TrendForce; Counterpoint Research; SK Hynix, Micron, Samsung Q4 2025 filings; UBS (HBM4 share est.).</a:t>
            </a:r>
            <a:endParaRPr lang="en-US" sz="700" dirty="0"/>
          </a:p>
        </p:txBody>
      </p:sp>
      <p:sp>
        <p:nvSpPr>
          <p:cNvPr id="16" name="Shape 12"/>
          <p:cNvSpPr/>
          <p:nvPr/>
        </p:nvSpPr>
        <p:spPr>
          <a:xfrm>
            <a:off x="0" y="4526280"/>
            <a:ext cx="9144000" cy="617220"/>
          </a:xfrm>
          <a:prstGeom prst="rect">
            <a:avLst/>
          </a:prstGeom>
          <a:solidFill>
            <a:srgbClr val="333333"/>
          </a:solidFill>
          <a:ln w="12700">
            <a:solidFill>
              <a:srgbClr val="333333"/>
            </a:solidFill>
            <a:prstDash val="solid"/>
          </a:ln>
        </p:spPr>
      </p:sp>
      <p:sp>
        <p:nvSpPr>
          <p:cNvPr id="17" name="Text 1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labs are a market.</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frontier labs now worth ~$1.5T in aggregate private value. Q1 2026 doubled all of 2025's foundational-AI VC funding — and VCs are still chasing.</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8229600" cy="914400"/>
        </p:xfrm>
        <a:graphic>
          <a:graphicData uri="http://schemas.openxmlformats.org/drawingml/2006/table">
            <a:tbl>
              <a:tblPr/>
              <a:tblGrid>
                <a:gridCol w="1371600"/>
                <a:gridCol w="1463040"/>
                <a:gridCol w="1554480"/>
                <a:gridCol w="3840480"/>
              </a:tblGrid>
              <a:tr h="36576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Lab</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Valuation</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Multiple</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Latest event</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65760">
                <a:tc>
                  <a:txBody>
                    <a:bodyPr/>
                    <a:lstStyle/>
                    <a:p>
                      <a:pPr algn="l" indent="0" marL="0">
                        <a:buNone/>
                      </a:pPr>
                      <a:r>
                        <a:rPr lang="en-US" sz="1050" b="1" dirty="0">
                          <a:solidFill>
                            <a:srgbClr val="000000"/>
                          </a:solidFill>
                          <a:latin typeface="Arial" pitchFamily="34" charset="0"/>
                          <a:ea typeface="Arial" pitchFamily="34" charset="-122"/>
                          <a:cs typeface="Arial" pitchFamily="34" charset="-120"/>
                        </a:rPr>
                        <a:t>OpenAI</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6693D"/>
                          </a:solidFill>
                          <a:latin typeface="Arial" pitchFamily="34" charset="0"/>
                          <a:ea typeface="Arial" pitchFamily="34" charset="-122"/>
                          <a:cs typeface="Arial" pitchFamily="34" charset="-120"/>
                        </a:rPr>
                        <a:t>$852B</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333"/>
                          </a:solidFill>
                          <a:latin typeface="Arial" pitchFamily="34" charset="0"/>
                          <a:ea typeface="Arial" pitchFamily="34" charset="-122"/>
                          <a:cs typeface="Arial" pitchFamily="34" charset="-120"/>
                        </a:rPr>
                        <a:t>~35× ARR</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$122B round led by Amazon / Nvidia / SoftBank · Apr 2026</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000000"/>
                          </a:solidFill>
                          <a:latin typeface="Arial" pitchFamily="34" charset="0"/>
                          <a:ea typeface="Arial" pitchFamily="34" charset="-122"/>
                          <a:cs typeface="Arial" pitchFamily="34" charset="-120"/>
                        </a:rPr>
                        <a:t>Anthropic</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50" b="1" dirty="0">
                          <a:solidFill>
                            <a:srgbClr val="F6693D"/>
                          </a:solidFill>
                          <a:latin typeface="Arial" pitchFamily="34" charset="0"/>
                          <a:ea typeface="Arial" pitchFamily="34" charset="-122"/>
                          <a:cs typeface="Arial" pitchFamily="34" charset="-120"/>
                        </a:rPr>
                        <a:t>$380B</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50" dirty="0">
                          <a:solidFill>
                            <a:srgbClr val="333333"/>
                          </a:solidFill>
                          <a:latin typeface="Arial" pitchFamily="34" charset="0"/>
                          <a:ea typeface="Arial" pitchFamily="34" charset="-122"/>
                          <a:cs typeface="Arial" pitchFamily="34" charset="-120"/>
                        </a:rPr>
                        <a:t>~13× ARR</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$30B Series G (Feb); $30B ARR end-Mar; VCs now offering $800B+</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65760">
                <a:tc>
                  <a:txBody>
                    <a:bodyPr/>
                    <a:lstStyle/>
                    <a:p>
                      <a:pPr algn="l" indent="0" marL="0">
                        <a:buNone/>
                      </a:pPr>
                      <a:r>
                        <a:rPr lang="en-US" sz="1050" b="1" dirty="0">
                          <a:solidFill>
                            <a:srgbClr val="000000"/>
                          </a:solidFill>
                          <a:latin typeface="Arial" pitchFamily="34" charset="0"/>
                          <a:ea typeface="Arial" pitchFamily="34" charset="-122"/>
                          <a:cs typeface="Arial" pitchFamily="34" charset="-120"/>
                        </a:rPr>
                        <a:t>xAI</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6693D"/>
                          </a:solidFill>
                          <a:latin typeface="Arial" pitchFamily="34" charset="0"/>
                          <a:ea typeface="Arial" pitchFamily="34" charset="-122"/>
                          <a:cs typeface="Arial" pitchFamily="34" charset="-120"/>
                        </a:rPr>
                        <a:t>$230B</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333"/>
                          </a:solidFill>
                          <a:latin typeface="Arial" pitchFamily="34" charset="0"/>
                          <a:ea typeface="Arial" pitchFamily="34" charset="-122"/>
                          <a:cs typeface="Arial" pitchFamily="34" charset="-120"/>
                        </a:rPr>
                        <a:t>~77× ARR*</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$20B Nvidia-led Series E · Q1 2026 · merged w/ SpaceX</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000000"/>
                          </a:solidFill>
                          <a:latin typeface="Arial" pitchFamily="34" charset="0"/>
                          <a:ea typeface="Arial" pitchFamily="34" charset="-122"/>
                          <a:cs typeface="Arial" pitchFamily="34" charset="-120"/>
                        </a:rPr>
                        <a:t>Mistral</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50" b="1" dirty="0">
                          <a:solidFill>
                            <a:srgbClr val="F6693D"/>
                          </a:solidFill>
                          <a:latin typeface="Arial" pitchFamily="34" charset="0"/>
                          <a:ea typeface="Arial" pitchFamily="34" charset="-122"/>
                          <a:cs typeface="Arial" pitchFamily="34" charset="-120"/>
                        </a:rPr>
                        <a:t>$14B</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50" dirty="0">
                          <a:solidFill>
                            <a:srgbClr val="333333"/>
                          </a:solidFill>
                          <a:latin typeface="Arial" pitchFamily="34" charset="0"/>
                          <a:ea typeface="Arial" pitchFamily="34" charset="-122"/>
                          <a:cs typeface="Arial" pitchFamily="34" charset="-120"/>
                        </a:rPr>
                        <a:t>~14× ARR</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€1.7B Series C · Jun 2024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bl>
          </a:graphicData>
        </a:graphic>
      </p:graphicFrame>
      <p:sp>
        <p:nvSpPr>
          <p:cNvPr id="8" name="Shape 5"/>
          <p:cNvSpPr/>
          <p:nvPr/>
        </p:nvSpPr>
        <p:spPr>
          <a:xfrm>
            <a:off x="457200" y="3520440"/>
            <a:ext cx="8229600" cy="457200"/>
          </a:xfrm>
          <a:prstGeom prst="rect">
            <a:avLst/>
          </a:prstGeom>
          <a:solidFill>
            <a:srgbClr val="FFD100"/>
          </a:solidFill>
          <a:ln w="12700">
            <a:solidFill>
              <a:srgbClr val="FFD100"/>
            </a:solidFill>
            <a:prstDash val="solid"/>
          </a:ln>
        </p:spPr>
      </p:sp>
      <p:sp>
        <p:nvSpPr>
          <p:cNvPr id="9" name="Text 6"/>
          <p:cNvSpPr/>
          <p:nvPr/>
        </p:nvSpPr>
        <p:spPr>
          <a:xfrm>
            <a:off x="640080" y="3520440"/>
            <a:ext cx="7863840" cy="457200"/>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Q1 2026 funding to foundational AI startups was 2× all of 2025. OpenAI's round alone ($122B) is larger than every AI raise in 2024 combined. The labs are repricing every cloud P&amp;L.</a:t>
            </a:r>
            <a:endParaRPr lang="en-US" sz="1150" dirty="0"/>
          </a:p>
        </p:txBody>
      </p:sp>
      <p:sp>
        <p:nvSpPr>
          <p:cNvPr id="10" name="Text 7"/>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TechCrunch, CNBC, Tech-Insider (Apr 2026); Crunchbase Q1 2026 VC data; Sacra ARR run-rates; Bloomberg. *xAI ARR estimated.</a:t>
            </a:r>
            <a:endParaRPr lang="en-US" sz="700" dirty="0"/>
          </a:p>
        </p:txBody>
      </p:sp>
      <p:sp>
        <p:nvSpPr>
          <p:cNvPr id="11" name="Shape 8"/>
          <p:cNvSpPr/>
          <p:nvPr/>
        </p:nvSpPr>
        <p:spPr>
          <a:xfrm>
            <a:off x="0" y="4526280"/>
            <a:ext cx="9144000" cy="617220"/>
          </a:xfrm>
          <a:prstGeom prst="rect">
            <a:avLst/>
          </a:prstGeom>
          <a:solidFill>
            <a:srgbClr val="333333"/>
          </a:solidFill>
          <a:ln w="12700">
            <a:solidFill>
              <a:srgbClr val="333333"/>
            </a:solidFill>
            <a:prstDash val="solid"/>
          </a:ln>
        </p:spPr>
      </p:sp>
      <p:sp>
        <p:nvSpPr>
          <p:cNvPr id="12" name="Text 9"/>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3" name="Text 1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From chatbots to coworkers.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Each session uses 10–100× the compute of a chatbot query.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86000"/>
                <a:gridCol w="2926080"/>
                <a:gridCol w="3017520"/>
              </a:tblGrid>
              <a:tr h="384048">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Dimension</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Chatbot (2023–24)</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Agent (2025+)</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84048">
                <a:tc>
                  <a:txBody>
                    <a:bodyPr/>
                    <a:lstStyle/>
                    <a:p>
                      <a:pPr algn="l" indent="0" marL="0">
                        <a:buNone/>
                      </a:pPr>
                      <a:r>
                        <a:rPr lang="en-US" sz="1100" b="1" dirty="0">
                          <a:solidFill>
                            <a:srgbClr val="000000"/>
                          </a:solidFill>
                          <a:latin typeface="Arial" pitchFamily="34" charset="0"/>
                          <a:ea typeface="Arial" pitchFamily="34" charset="-122"/>
                          <a:cs typeface="Arial" pitchFamily="34" charset="-120"/>
                        </a:rPr>
                        <a:t>Interaction</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100" dirty="0">
                          <a:solidFill>
                            <a:srgbClr val="333333"/>
                          </a:solidFill>
                          <a:latin typeface="Arial" pitchFamily="34" charset="0"/>
                          <a:ea typeface="Arial" pitchFamily="34" charset="-122"/>
                          <a:cs typeface="Arial" pitchFamily="34" charset="-120"/>
                        </a:rPr>
                        <a:t>You ask, it answers</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100" b="1" dirty="0">
                          <a:solidFill>
                            <a:srgbClr val="F6693D"/>
                          </a:solidFill>
                          <a:latin typeface="Arial" pitchFamily="34" charset="0"/>
                          <a:ea typeface="Arial" pitchFamily="34" charset="-122"/>
                          <a:cs typeface="Arial" pitchFamily="34" charset="-120"/>
                        </a:rPr>
                        <a:t>Sets goals, executes autonomously</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84048">
                <a:tc>
                  <a:txBody>
                    <a:bodyPr/>
                    <a:lstStyle/>
                    <a:p>
                      <a:pPr algn="l" indent="0" marL="0">
                        <a:buNone/>
                      </a:pPr>
                      <a:r>
                        <a:rPr lang="en-US" sz="1100" b="1" dirty="0">
                          <a:solidFill>
                            <a:srgbClr val="000000"/>
                          </a:solidFill>
                          <a:latin typeface="Arial" pitchFamily="34" charset="0"/>
                          <a:ea typeface="Arial" pitchFamily="34" charset="-122"/>
                          <a:cs typeface="Arial" pitchFamily="34" charset="-120"/>
                        </a:rPr>
                        <a:t>Tokens per session</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100" dirty="0">
                          <a:solidFill>
                            <a:srgbClr val="333333"/>
                          </a:solidFill>
                          <a:latin typeface="Arial" pitchFamily="34" charset="0"/>
                          <a:ea typeface="Arial" pitchFamily="34" charset="-122"/>
                          <a:cs typeface="Arial" pitchFamily="34" charset="-120"/>
                        </a:rPr>
                        <a:t>1K – 5K</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100" b="1" dirty="0">
                          <a:solidFill>
                            <a:srgbClr val="F6693D"/>
                          </a:solidFill>
                          <a:latin typeface="Arial" pitchFamily="34" charset="0"/>
                          <a:ea typeface="Arial" pitchFamily="34" charset="-122"/>
                          <a:cs typeface="Arial" pitchFamily="34" charset="-120"/>
                        </a:rPr>
                        <a:t>50K – 500K+</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384048">
                <a:tc>
                  <a:txBody>
                    <a:bodyPr/>
                    <a:lstStyle/>
                    <a:p>
                      <a:pPr algn="l" indent="0" marL="0">
                        <a:buNone/>
                      </a:pPr>
                      <a:r>
                        <a:rPr lang="en-US" sz="1100" b="1" dirty="0">
                          <a:solidFill>
                            <a:srgbClr val="000000"/>
                          </a:solidFill>
                          <a:latin typeface="Arial" pitchFamily="34" charset="0"/>
                          <a:ea typeface="Arial" pitchFamily="34" charset="-122"/>
                          <a:cs typeface="Arial" pitchFamily="34" charset="-120"/>
                        </a:rPr>
                        <a:t>Compute per user</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100" dirty="0">
                          <a:solidFill>
                            <a:srgbClr val="333333"/>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100" b="1" dirty="0">
                          <a:solidFill>
                            <a:srgbClr val="F6693D"/>
                          </a:solidFill>
                          <a:latin typeface="Arial" pitchFamily="34" charset="0"/>
                          <a:ea typeface="Arial" pitchFamily="34" charset="-122"/>
                          <a:cs typeface="Arial" pitchFamily="34" charset="-120"/>
                        </a:rPr>
                        <a:t>10 – 100×</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84048">
                <a:tc>
                  <a:txBody>
                    <a:bodyPr/>
                    <a:lstStyle/>
                    <a:p>
                      <a:pPr algn="l" indent="0" marL="0">
                        <a:buNone/>
                      </a:pPr>
                      <a:r>
                        <a:rPr lang="en-US" sz="1100" b="1" dirty="0">
                          <a:solidFill>
                            <a:srgbClr val="000000"/>
                          </a:solidFill>
                          <a:latin typeface="Arial" pitchFamily="34" charset="0"/>
                          <a:ea typeface="Arial" pitchFamily="34" charset="-122"/>
                          <a:cs typeface="Arial" pitchFamily="34" charset="-120"/>
                        </a:rPr>
                        <a:t>Tools</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100" dirty="0">
                          <a:solidFill>
                            <a:srgbClr val="333333"/>
                          </a:solidFill>
                          <a:latin typeface="Arial" pitchFamily="34" charset="0"/>
                          <a:ea typeface="Arial" pitchFamily="34" charset="-122"/>
                          <a:cs typeface="Arial" pitchFamily="34" charset="-120"/>
                        </a:rPr>
                        <a:t>None</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100" b="1" dirty="0">
                          <a:solidFill>
                            <a:srgbClr val="F6693D"/>
                          </a:solidFill>
                          <a:latin typeface="Arial" pitchFamily="34" charset="0"/>
                          <a:ea typeface="Arial" pitchFamily="34" charset="-122"/>
                          <a:cs typeface="Arial" pitchFamily="34" charset="-120"/>
                        </a:rPr>
                        <a:t>Code, APIs, browsers, databases</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8" name="Shape 5"/>
          <p:cNvSpPr/>
          <p:nvPr/>
        </p:nvSpPr>
        <p:spPr>
          <a:xfrm>
            <a:off x="457200" y="3657600"/>
            <a:ext cx="8229600" cy="411480"/>
          </a:xfrm>
          <a:prstGeom prst="rect">
            <a:avLst/>
          </a:prstGeom>
          <a:solidFill>
            <a:srgbClr val="F6693D"/>
          </a:solidFill>
          <a:ln w="12700">
            <a:solidFill>
              <a:srgbClr val="F6693D"/>
            </a:solidFill>
            <a:prstDash val="solid"/>
          </a:ln>
        </p:spPr>
      </p:sp>
      <p:sp>
        <p:nvSpPr>
          <p:cNvPr id="9" name="Text 6"/>
          <p:cNvSpPr/>
          <p:nvPr/>
        </p:nvSpPr>
        <p:spPr>
          <a:xfrm>
            <a:off x="640080" y="3657600"/>
            <a:ext cx="7863840" cy="41148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The agent era turns every user into an infrastructure customer. Labs are buying developer-tool companies (Anthropic → Bun, OpenAI → Astral) to lock in the coding stack.</a:t>
            </a:r>
            <a:endParaRPr lang="en-US" sz="1050" dirty="0"/>
          </a:p>
        </p:txBody>
      </p:sp>
      <p:sp>
        <p:nvSpPr>
          <p:cNvPr id="10" name="Text 7"/>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Anthropic, OpenAI, GitHub Trending; company announcements.</a:t>
            </a:r>
            <a:endParaRPr lang="en-US" sz="700" dirty="0"/>
          </a:p>
        </p:txBody>
      </p:sp>
      <p:sp>
        <p:nvSpPr>
          <p:cNvPr id="11" name="Shape 8"/>
          <p:cNvSpPr/>
          <p:nvPr/>
        </p:nvSpPr>
        <p:spPr>
          <a:xfrm>
            <a:off x="0" y="4526280"/>
            <a:ext cx="9144000" cy="617220"/>
          </a:xfrm>
          <a:prstGeom prst="rect">
            <a:avLst/>
          </a:prstGeom>
          <a:solidFill>
            <a:srgbClr val="333333"/>
          </a:solidFill>
          <a:ln w="12700">
            <a:solidFill>
              <a:srgbClr val="333333"/>
            </a:solidFill>
            <a:prstDash val="solid"/>
          </a:ln>
        </p:spPr>
      </p:sp>
      <p:sp>
        <p:nvSpPr>
          <p:cNvPr id="12" name="Text 9"/>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3" name="Text 1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basket trade is over.</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AI stock correlation collapsed from ~80% to ~20%. Semis are up, software is down — a ~58-point YTD spread inside one theme.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754880" y="1783080"/>
            <a:ext cx="3931920" cy="274320"/>
          </a:xfrm>
          <a:prstGeom prst="rect">
            <a:avLst/>
          </a:prstGeom>
          <a:solidFill>
            <a:srgbClr val="00A854"/>
          </a:solidFill>
          <a:ln w="12700">
            <a:solidFill>
              <a:srgbClr val="00A854"/>
            </a:solidFill>
            <a:prstDash val="solid"/>
          </a:ln>
        </p:spPr>
      </p:sp>
      <p:sp>
        <p:nvSpPr>
          <p:cNvPr id="11" name="Text 8"/>
          <p:cNvSpPr/>
          <p:nvPr/>
        </p:nvSpPr>
        <p:spPr>
          <a:xfrm>
            <a:off x="4754880" y="1783080"/>
            <a:ext cx="393192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MEMORY SUPERCYCLE — DRAM PRICES +40% Q2</a:t>
            </a:r>
            <a:endParaRPr lang="en-US" sz="1000" dirty="0"/>
          </a:p>
        </p:txBody>
      </p:sp>
      <p:sp>
        <p:nvSpPr>
          <p:cNvPr id="12" name="Text 9"/>
          <p:cNvSpPr/>
          <p:nvPr/>
        </p:nvSpPr>
        <p:spPr>
          <a:xfrm>
            <a:off x="4754880" y="2103120"/>
            <a:ext cx="1005840" cy="274320"/>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Samsung</a:t>
            </a:r>
            <a:endParaRPr lang="en-US" sz="1000" dirty="0"/>
          </a:p>
        </p:txBody>
      </p:sp>
      <p:sp>
        <p:nvSpPr>
          <p:cNvPr id="13" name="Text 10"/>
          <p:cNvSpPr/>
          <p:nvPr/>
        </p:nvSpPr>
        <p:spPr>
          <a:xfrm>
            <a:off x="5760720" y="2103120"/>
            <a:ext cx="822960" cy="274320"/>
          </a:xfrm>
          <a:prstGeom prst="rect">
            <a:avLst/>
          </a:prstGeom>
          <a:noFill/>
          <a:ln/>
        </p:spPr>
        <p:txBody>
          <a:bodyPr wrap="square" lIns="0" tIns="0" rIns="0" bIns="0" rtlCol="0" anchor="ctr"/>
          <a:lstStyle/>
          <a:p>
            <a:pPr indent="0" marL="0">
              <a:buNone/>
            </a:pPr>
            <a:r>
              <a:rPr lang="en-US" sz="1200" b="1" dirty="0">
                <a:solidFill>
                  <a:srgbClr val="00A854"/>
                </a:solidFill>
                <a:latin typeface="Arial Black" pitchFamily="34" charset="0"/>
                <a:ea typeface="Arial Black" pitchFamily="34" charset="-122"/>
                <a:cs typeface="Arial Black" pitchFamily="34" charset="-120"/>
              </a:rPr>
              <a:t>+72%</a:t>
            </a:r>
            <a:endParaRPr lang="en-US" sz="1200" dirty="0"/>
          </a:p>
        </p:txBody>
      </p:sp>
      <p:sp>
        <p:nvSpPr>
          <p:cNvPr id="14" name="Text 11"/>
          <p:cNvSpPr/>
          <p:nvPr/>
        </p:nvSpPr>
        <p:spPr>
          <a:xfrm>
            <a:off x="6583680" y="2103120"/>
            <a:ext cx="2103120" cy="27432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HBM capacity +50% in 2026</a:t>
            </a:r>
            <a:endParaRPr lang="en-US" sz="850" dirty="0"/>
          </a:p>
        </p:txBody>
      </p:sp>
      <p:sp>
        <p:nvSpPr>
          <p:cNvPr id="15" name="Text 12"/>
          <p:cNvSpPr/>
          <p:nvPr/>
        </p:nvSpPr>
        <p:spPr>
          <a:xfrm>
            <a:off x="4754880" y="2404872"/>
            <a:ext cx="1005840" cy="274320"/>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Micron</a:t>
            </a:r>
            <a:endParaRPr lang="en-US" sz="1000" dirty="0"/>
          </a:p>
        </p:txBody>
      </p:sp>
      <p:sp>
        <p:nvSpPr>
          <p:cNvPr id="16" name="Text 13"/>
          <p:cNvSpPr/>
          <p:nvPr/>
        </p:nvSpPr>
        <p:spPr>
          <a:xfrm>
            <a:off x="5760720" y="2404872"/>
            <a:ext cx="822960" cy="274320"/>
          </a:xfrm>
          <a:prstGeom prst="rect">
            <a:avLst/>
          </a:prstGeom>
          <a:noFill/>
          <a:ln/>
        </p:spPr>
        <p:txBody>
          <a:bodyPr wrap="square" lIns="0" tIns="0" rIns="0" bIns="0" rtlCol="0" anchor="ctr"/>
          <a:lstStyle/>
          <a:p>
            <a:pPr indent="0" marL="0">
              <a:buNone/>
            </a:pPr>
            <a:r>
              <a:rPr lang="en-US" sz="1200" b="1" dirty="0">
                <a:solidFill>
                  <a:srgbClr val="00A854"/>
                </a:solidFill>
                <a:latin typeface="Arial Black" pitchFamily="34" charset="0"/>
                <a:ea typeface="Arial Black" pitchFamily="34" charset="-122"/>
                <a:cs typeface="Arial Black" pitchFamily="34" charset="-120"/>
              </a:rPr>
              <a:t>+68%</a:t>
            </a:r>
            <a:endParaRPr lang="en-US" sz="1200" dirty="0"/>
          </a:p>
        </p:txBody>
      </p:sp>
      <p:sp>
        <p:nvSpPr>
          <p:cNvPr id="17" name="Text 14"/>
          <p:cNvSpPr/>
          <p:nvPr/>
        </p:nvSpPr>
        <p:spPr>
          <a:xfrm>
            <a:off x="6583680" y="2404872"/>
            <a:ext cx="2103120" cy="27432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HBM sold out; $8B run-rate</a:t>
            </a:r>
            <a:endParaRPr lang="en-US" sz="850" dirty="0"/>
          </a:p>
        </p:txBody>
      </p:sp>
      <p:sp>
        <p:nvSpPr>
          <p:cNvPr id="18" name="Text 15"/>
          <p:cNvSpPr/>
          <p:nvPr/>
        </p:nvSpPr>
        <p:spPr>
          <a:xfrm>
            <a:off x="4754880" y="2706624"/>
            <a:ext cx="1005840" cy="274320"/>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SK Hynix</a:t>
            </a:r>
            <a:endParaRPr lang="en-US" sz="1000" dirty="0"/>
          </a:p>
        </p:txBody>
      </p:sp>
      <p:sp>
        <p:nvSpPr>
          <p:cNvPr id="19" name="Text 16"/>
          <p:cNvSpPr/>
          <p:nvPr/>
        </p:nvSpPr>
        <p:spPr>
          <a:xfrm>
            <a:off x="5760720" y="2706624"/>
            <a:ext cx="822960" cy="274320"/>
          </a:xfrm>
          <a:prstGeom prst="rect">
            <a:avLst/>
          </a:prstGeom>
          <a:noFill/>
          <a:ln/>
        </p:spPr>
        <p:txBody>
          <a:bodyPr wrap="square" lIns="0" tIns="0" rIns="0" bIns="0" rtlCol="0" anchor="ctr"/>
          <a:lstStyle/>
          <a:p>
            <a:pPr indent="0" marL="0">
              <a:buNone/>
            </a:pPr>
            <a:r>
              <a:rPr lang="en-US" sz="1200" b="1" dirty="0">
                <a:solidFill>
                  <a:srgbClr val="00A854"/>
                </a:solidFill>
                <a:latin typeface="Arial Black" pitchFamily="34" charset="0"/>
                <a:ea typeface="Arial Black" pitchFamily="34" charset="-122"/>
                <a:cs typeface="Arial Black" pitchFamily="34" charset="-120"/>
              </a:rPr>
              <a:t>+62%</a:t>
            </a:r>
            <a:endParaRPr lang="en-US" sz="1200" dirty="0"/>
          </a:p>
        </p:txBody>
      </p:sp>
      <p:sp>
        <p:nvSpPr>
          <p:cNvPr id="20" name="Text 17"/>
          <p:cNvSpPr/>
          <p:nvPr/>
        </p:nvSpPr>
        <p:spPr>
          <a:xfrm>
            <a:off x="6583680" y="2706624"/>
            <a:ext cx="2103120" cy="27432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60% HBM share; HBM4 ramp</a:t>
            </a:r>
            <a:endParaRPr lang="en-US" sz="850" dirty="0"/>
          </a:p>
        </p:txBody>
      </p:sp>
      <p:sp>
        <p:nvSpPr>
          <p:cNvPr id="21" name="Shape 18"/>
          <p:cNvSpPr/>
          <p:nvPr/>
        </p:nvSpPr>
        <p:spPr>
          <a:xfrm>
            <a:off x="4754880" y="3063240"/>
            <a:ext cx="3931920" cy="274320"/>
          </a:xfrm>
          <a:prstGeom prst="rect">
            <a:avLst/>
          </a:prstGeom>
          <a:solidFill>
            <a:srgbClr val="CC0000"/>
          </a:solidFill>
          <a:ln w="12700">
            <a:solidFill>
              <a:srgbClr val="CC0000"/>
            </a:solidFill>
            <a:prstDash val="solid"/>
          </a:ln>
        </p:spPr>
      </p:sp>
      <p:sp>
        <p:nvSpPr>
          <p:cNvPr id="22" name="Text 19"/>
          <p:cNvSpPr/>
          <p:nvPr/>
        </p:nvSpPr>
        <p:spPr>
          <a:xfrm>
            <a:off x="4754880" y="3063240"/>
            <a:ext cx="393192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THE diSAASter — SEAT-MODEL SaaS IS RE-RATING DOWN</a:t>
            </a:r>
            <a:endParaRPr lang="en-US" sz="1000" dirty="0"/>
          </a:p>
        </p:txBody>
      </p:sp>
      <p:sp>
        <p:nvSpPr>
          <p:cNvPr id="23" name="Text 20"/>
          <p:cNvSpPr/>
          <p:nvPr/>
        </p:nvSpPr>
        <p:spPr>
          <a:xfrm>
            <a:off x="4754880" y="3383280"/>
            <a:ext cx="1097280" cy="201168"/>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Salesforce</a:t>
            </a:r>
            <a:endParaRPr lang="en-US" sz="1000" dirty="0"/>
          </a:p>
        </p:txBody>
      </p:sp>
      <p:sp>
        <p:nvSpPr>
          <p:cNvPr id="24" name="Text 21"/>
          <p:cNvSpPr/>
          <p:nvPr/>
        </p:nvSpPr>
        <p:spPr>
          <a:xfrm>
            <a:off x="5852160" y="3383280"/>
            <a:ext cx="822960" cy="201168"/>
          </a:xfrm>
          <a:prstGeom prst="rect">
            <a:avLst/>
          </a:prstGeom>
          <a:noFill/>
          <a:ln/>
        </p:spPr>
        <p:txBody>
          <a:bodyPr wrap="square" lIns="0" tIns="0" rIns="0" bIns="0" rtlCol="0" anchor="ctr"/>
          <a:lstStyle/>
          <a:p>
            <a:pPr indent="0" marL="0">
              <a:buNone/>
            </a:pPr>
            <a:r>
              <a:rPr lang="en-US" sz="1100" b="1" dirty="0">
                <a:solidFill>
                  <a:srgbClr val="CC0000"/>
                </a:solidFill>
                <a:latin typeface="Arial Black" pitchFamily="34" charset="0"/>
                <a:ea typeface="Arial Black" pitchFamily="34" charset="-122"/>
                <a:cs typeface="Arial Black" pitchFamily="34" charset="-120"/>
              </a:rPr>
              <a:t>–22%</a:t>
            </a:r>
            <a:endParaRPr lang="en-US" sz="1100" dirty="0"/>
          </a:p>
        </p:txBody>
      </p:sp>
      <p:sp>
        <p:nvSpPr>
          <p:cNvPr id="25" name="Text 22"/>
          <p:cNvSpPr/>
          <p:nvPr/>
        </p:nvSpPr>
        <p:spPr>
          <a:xfrm>
            <a:off x="6675120" y="3383280"/>
            <a:ext cx="201168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Seat model under agent threat</a:t>
            </a:r>
            <a:endParaRPr lang="en-US" sz="850" dirty="0"/>
          </a:p>
        </p:txBody>
      </p:sp>
      <p:sp>
        <p:nvSpPr>
          <p:cNvPr id="26" name="Text 23"/>
          <p:cNvSpPr/>
          <p:nvPr/>
        </p:nvSpPr>
        <p:spPr>
          <a:xfrm>
            <a:off x="4754880" y="3611880"/>
            <a:ext cx="1097280" cy="201168"/>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Adobe</a:t>
            </a:r>
            <a:endParaRPr lang="en-US" sz="1000" dirty="0"/>
          </a:p>
        </p:txBody>
      </p:sp>
      <p:sp>
        <p:nvSpPr>
          <p:cNvPr id="27" name="Text 24"/>
          <p:cNvSpPr/>
          <p:nvPr/>
        </p:nvSpPr>
        <p:spPr>
          <a:xfrm>
            <a:off x="5852160" y="3611880"/>
            <a:ext cx="822960" cy="201168"/>
          </a:xfrm>
          <a:prstGeom prst="rect">
            <a:avLst/>
          </a:prstGeom>
          <a:noFill/>
          <a:ln/>
        </p:spPr>
        <p:txBody>
          <a:bodyPr wrap="square" lIns="0" tIns="0" rIns="0" bIns="0" rtlCol="0" anchor="ctr"/>
          <a:lstStyle/>
          <a:p>
            <a:pPr indent="0" marL="0">
              <a:buNone/>
            </a:pPr>
            <a:r>
              <a:rPr lang="en-US" sz="1100" b="1" dirty="0">
                <a:solidFill>
                  <a:srgbClr val="CC0000"/>
                </a:solidFill>
                <a:latin typeface="Arial Black" pitchFamily="34" charset="0"/>
                <a:ea typeface="Arial Black" pitchFamily="34" charset="-122"/>
                <a:cs typeface="Arial Black" pitchFamily="34" charset="-120"/>
              </a:rPr>
              <a:t>–24%</a:t>
            </a:r>
            <a:endParaRPr lang="en-US" sz="1100" dirty="0"/>
          </a:p>
        </p:txBody>
      </p:sp>
      <p:sp>
        <p:nvSpPr>
          <p:cNvPr id="28" name="Text 25"/>
          <p:cNvSpPr/>
          <p:nvPr/>
        </p:nvSpPr>
        <p:spPr>
          <a:xfrm>
            <a:off x="6675120" y="3611880"/>
            <a:ext cx="201168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Gen-AI content erodes moat</a:t>
            </a:r>
            <a:endParaRPr lang="en-US" sz="850" dirty="0"/>
          </a:p>
        </p:txBody>
      </p:sp>
      <p:sp>
        <p:nvSpPr>
          <p:cNvPr id="29" name="Text 26"/>
          <p:cNvSpPr/>
          <p:nvPr/>
        </p:nvSpPr>
        <p:spPr>
          <a:xfrm>
            <a:off x="4754880" y="3840480"/>
            <a:ext cx="1097280" cy="201168"/>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ServiceNow</a:t>
            </a:r>
            <a:endParaRPr lang="en-US" sz="1000" dirty="0"/>
          </a:p>
        </p:txBody>
      </p:sp>
      <p:sp>
        <p:nvSpPr>
          <p:cNvPr id="30" name="Text 27"/>
          <p:cNvSpPr/>
          <p:nvPr/>
        </p:nvSpPr>
        <p:spPr>
          <a:xfrm>
            <a:off x="5852160" y="3840480"/>
            <a:ext cx="822960" cy="201168"/>
          </a:xfrm>
          <a:prstGeom prst="rect">
            <a:avLst/>
          </a:prstGeom>
          <a:noFill/>
          <a:ln/>
        </p:spPr>
        <p:txBody>
          <a:bodyPr wrap="square" lIns="0" tIns="0" rIns="0" bIns="0" rtlCol="0" anchor="ctr"/>
          <a:lstStyle/>
          <a:p>
            <a:pPr indent="0" marL="0">
              <a:buNone/>
            </a:pPr>
            <a:r>
              <a:rPr lang="en-US" sz="1100" b="1" dirty="0">
                <a:solidFill>
                  <a:srgbClr val="CC0000"/>
                </a:solidFill>
                <a:latin typeface="Arial Black" pitchFamily="34" charset="0"/>
                <a:ea typeface="Arial Black" pitchFamily="34" charset="-122"/>
                <a:cs typeface="Arial Black" pitchFamily="34" charset="-120"/>
              </a:rPr>
              <a:t>–19%</a:t>
            </a:r>
            <a:endParaRPr lang="en-US" sz="1100" dirty="0"/>
          </a:p>
        </p:txBody>
      </p:sp>
      <p:sp>
        <p:nvSpPr>
          <p:cNvPr id="31" name="Text 28"/>
          <p:cNvSpPr/>
          <p:nvPr/>
        </p:nvSpPr>
        <p:spPr>
          <a:xfrm>
            <a:off x="6675120" y="3840480"/>
            <a:ext cx="201168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Workflows disrupted by agents</a:t>
            </a:r>
            <a:endParaRPr lang="en-US" sz="850" dirty="0"/>
          </a:p>
        </p:txBody>
      </p:sp>
      <p:sp>
        <p:nvSpPr>
          <p:cNvPr id="32" name="Text 29"/>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iShares SOXX / IGV and QQQ YTD total return as of Apr 17, 2026; Yahoo Finance; Counterpoint Research; Morgan Stanley CIO Survey. Single-stock YTD figures TODO: verify.</a:t>
            </a:r>
            <a:endParaRPr lang="en-US" sz="700" dirty="0"/>
          </a:p>
        </p:txBody>
      </p:sp>
      <p:sp>
        <p:nvSpPr>
          <p:cNvPr id="33" name="Shape 30"/>
          <p:cNvSpPr/>
          <p:nvPr/>
        </p:nvSpPr>
        <p:spPr>
          <a:xfrm>
            <a:off x="0" y="4526280"/>
            <a:ext cx="9144000" cy="617220"/>
          </a:xfrm>
          <a:prstGeom prst="rect">
            <a:avLst/>
          </a:prstGeom>
          <a:solidFill>
            <a:srgbClr val="333333"/>
          </a:solidFill>
          <a:ln w="12700">
            <a:solidFill>
              <a:srgbClr val="333333"/>
            </a:solidFill>
            <a:prstDash val="solid"/>
          </a:ln>
        </p:spPr>
      </p:sp>
      <p:sp>
        <p:nvSpPr>
          <p:cNvPr id="34" name="Text 31"/>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5" name="Text 3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This is not 2000.</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Same questions investors asked about Cisco and the dotcoms. Different answers today.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108960" cy="274320"/>
          </a:xfrm>
          <a:prstGeom prst="rect">
            <a:avLst/>
          </a:prstGeom>
          <a:solidFill>
            <a:srgbClr val="333333"/>
          </a:solidFill>
          <a:ln w="12700">
            <a:solidFill>
              <a:srgbClr val="333333"/>
            </a:solidFill>
            <a:prstDash val="solid"/>
          </a:ln>
        </p:spPr>
      </p:sp>
      <p:sp>
        <p:nvSpPr>
          <p:cNvPr id="8" name="Text 6"/>
          <p:cNvSpPr/>
          <p:nvPr/>
        </p:nvSpPr>
        <p:spPr>
          <a:xfrm>
            <a:off x="457200" y="1691640"/>
            <a:ext cx="310896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TEST</a:t>
            </a:r>
            <a:endParaRPr lang="en-US" sz="1000" dirty="0"/>
          </a:p>
        </p:txBody>
      </p:sp>
      <p:sp>
        <p:nvSpPr>
          <p:cNvPr id="9" name="Shape 7"/>
          <p:cNvSpPr/>
          <p:nvPr/>
        </p:nvSpPr>
        <p:spPr>
          <a:xfrm>
            <a:off x="3611880" y="1691640"/>
            <a:ext cx="2468880" cy="274320"/>
          </a:xfrm>
          <a:prstGeom prst="rect">
            <a:avLst/>
          </a:prstGeom>
          <a:solidFill>
            <a:srgbClr val="CC0000"/>
          </a:solidFill>
          <a:ln w="12700">
            <a:solidFill>
              <a:srgbClr val="CC0000"/>
            </a:solidFill>
            <a:prstDash val="solid"/>
          </a:ln>
        </p:spPr>
      </p:sp>
      <p:sp>
        <p:nvSpPr>
          <p:cNvPr id="10" name="Text 8"/>
          <p:cNvSpPr/>
          <p:nvPr/>
        </p:nvSpPr>
        <p:spPr>
          <a:xfrm>
            <a:off x="3611880" y="1691640"/>
            <a:ext cx="246888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DOTCOM 2000</a:t>
            </a:r>
            <a:endParaRPr lang="en-US" sz="1000" dirty="0"/>
          </a:p>
        </p:txBody>
      </p:sp>
      <p:sp>
        <p:nvSpPr>
          <p:cNvPr id="11" name="Shape 9"/>
          <p:cNvSpPr/>
          <p:nvPr/>
        </p:nvSpPr>
        <p:spPr>
          <a:xfrm>
            <a:off x="6126480" y="1691640"/>
            <a:ext cx="2560320" cy="274320"/>
          </a:xfrm>
          <a:prstGeom prst="rect">
            <a:avLst/>
          </a:prstGeom>
          <a:solidFill>
            <a:srgbClr val="00A854"/>
          </a:solidFill>
          <a:ln w="12700">
            <a:solidFill>
              <a:srgbClr val="00A854"/>
            </a:solidFill>
            <a:prstDash val="solid"/>
          </a:ln>
        </p:spPr>
      </p:sp>
      <p:sp>
        <p:nvSpPr>
          <p:cNvPr id="12" name="Text 10"/>
          <p:cNvSpPr/>
          <p:nvPr/>
        </p:nvSpPr>
        <p:spPr>
          <a:xfrm>
            <a:off x="6126480" y="1691640"/>
            <a:ext cx="256032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AI 2026</a:t>
            </a:r>
            <a:endParaRPr lang="en-US" sz="1000" dirty="0"/>
          </a:p>
        </p:txBody>
      </p:sp>
      <p:sp>
        <p:nvSpPr>
          <p:cNvPr id="13" name="Text 11"/>
          <p:cNvSpPr/>
          <p:nvPr/>
        </p:nvSpPr>
        <p:spPr>
          <a:xfrm>
            <a:off x="457200" y="2011680"/>
            <a:ext cx="3108960" cy="402336"/>
          </a:xfrm>
          <a:prstGeom prst="rect">
            <a:avLst/>
          </a:prstGeom>
          <a:noFill/>
          <a:ln/>
        </p:spPr>
        <p:txBody>
          <a:bodyPr wrap="square" lIns="635" tIns="635" rIns="635" bIns="635" rtlCol="0" anchor="ctr"/>
          <a:lstStyle/>
          <a:p>
            <a:pPr indent="0" marL="0">
              <a:buNone/>
            </a:pPr>
            <a:r>
              <a:rPr lang="en-US" sz="950" b="1" dirty="0">
                <a:solidFill>
                  <a:srgbClr val="000000"/>
                </a:solidFill>
                <a:latin typeface="Arial" pitchFamily="34" charset="0"/>
                <a:ea typeface="Arial" pitchFamily="34" charset="-122"/>
                <a:cs typeface="Arial" pitchFamily="34" charset="-120"/>
              </a:rPr>
              <a:t>PRICE PER DOLLAR OF EARNINGS</a:t>
            </a:r>
            <a:endParaRPr lang="en-US" sz="950" dirty="0"/>
          </a:p>
        </p:txBody>
      </p:sp>
      <p:sp>
        <p:nvSpPr>
          <p:cNvPr id="14" name="Text 12"/>
          <p:cNvSpPr/>
          <p:nvPr/>
        </p:nvSpPr>
        <p:spPr>
          <a:xfrm>
            <a:off x="3611880" y="2011680"/>
            <a:ext cx="2468880" cy="402336"/>
          </a:xfrm>
          <a:prstGeom prst="rect">
            <a:avLst/>
          </a:prstGeom>
          <a:noFill/>
          <a:ln/>
        </p:spPr>
        <p:txBody>
          <a:bodyPr wrap="square" lIns="635" tIns="635" rIns="635" bIns="635" rtlCol="0" anchor="ctr"/>
          <a:lstStyle/>
          <a:p>
            <a:pPr indent="0" marL="0">
              <a:buNone/>
            </a:pPr>
            <a:r>
              <a:rPr lang="en-US" sz="1400" b="1" dirty="0">
                <a:solidFill>
                  <a:srgbClr val="CC0000"/>
                </a:solidFill>
                <a:latin typeface="Arial" pitchFamily="34" charset="0"/>
                <a:ea typeface="Arial" pitchFamily="34" charset="-122"/>
                <a:cs typeface="Arial" pitchFamily="34" charset="-120"/>
              </a:rPr>
              <a:t>131×  </a:t>
            </a:r>
            <a:pPr indent="0" marL="0">
              <a:buNone/>
            </a:pPr>
            <a:r>
              <a:rPr lang="en-US" sz="850" dirty="0">
                <a:solidFill>
                  <a:srgbClr val="666666"/>
                </a:solidFill>
                <a:latin typeface="Arial" pitchFamily="34" charset="0"/>
                <a:ea typeface="Arial" pitchFamily="34" charset="-122"/>
                <a:cs typeface="Arial" pitchFamily="34" charset="-120"/>
              </a:rPr>
              <a:t>Cisco fwd P/E, Mar 2000</a:t>
            </a:r>
            <a:endParaRPr lang="en-US" sz="1400" dirty="0"/>
          </a:p>
        </p:txBody>
      </p:sp>
      <p:sp>
        <p:nvSpPr>
          <p:cNvPr id="15" name="Text 13"/>
          <p:cNvSpPr/>
          <p:nvPr/>
        </p:nvSpPr>
        <p:spPr>
          <a:xfrm>
            <a:off x="6126480" y="2011680"/>
            <a:ext cx="2560320" cy="402336"/>
          </a:xfrm>
          <a:prstGeom prst="rect">
            <a:avLst/>
          </a:prstGeom>
          <a:noFill/>
          <a:ln/>
        </p:spPr>
        <p:txBody>
          <a:bodyPr wrap="square" lIns="635" tIns="635" rIns="635" bIns="635" rtlCol="0" anchor="ctr"/>
          <a:lstStyle/>
          <a:p>
            <a:pPr indent="0" marL="0">
              <a:buNone/>
            </a:pPr>
            <a:r>
              <a:rPr lang="en-US" sz="1400" b="1" dirty="0">
                <a:solidFill>
                  <a:srgbClr val="00A854"/>
                </a:solidFill>
                <a:latin typeface="Arial" pitchFamily="34" charset="0"/>
                <a:ea typeface="Arial" pitchFamily="34" charset="-122"/>
                <a:cs typeface="Arial" pitchFamily="34" charset="-120"/>
              </a:rPr>
              <a:t>~24×  </a:t>
            </a:r>
            <a:pPr indent="0" marL="0">
              <a:buNone/>
            </a:pPr>
            <a:r>
              <a:rPr lang="en-US" sz="850" dirty="0">
                <a:solidFill>
                  <a:srgbClr val="666666"/>
                </a:solidFill>
                <a:latin typeface="Arial" pitchFamily="34" charset="0"/>
                <a:ea typeface="Arial" pitchFamily="34" charset="-122"/>
                <a:cs typeface="Arial" pitchFamily="34" charset="-120"/>
              </a:rPr>
              <a:t>NVIDIA fwd P/E, Apr 17, 2026</a:t>
            </a:r>
            <a:endParaRPr lang="en-US" sz="1400" dirty="0"/>
          </a:p>
        </p:txBody>
      </p:sp>
      <p:sp>
        <p:nvSpPr>
          <p:cNvPr id="16" name="Text 14"/>
          <p:cNvSpPr/>
          <p:nvPr/>
        </p:nvSpPr>
        <p:spPr>
          <a:xfrm>
            <a:off x="457200" y="2450592"/>
            <a:ext cx="3108960" cy="402336"/>
          </a:xfrm>
          <a:prstGeom prst="rect">
            <a:avLst/>
          </a:prstGeom>
          <a:noFill/>
          <a:ln/>
        </p:spPr>
        <p:txBody>
          <a:bodyPr wrap="square" lIns="635" tIns="635" rIns="635" bIns="635" rtlCol="0" anchor="ctr"/>
          <a:lstStyle/>
          <a:p>
            <a:pPr indent="0" marL="0">
              <a:buNone/>
            </a:pPr>
            <a:r>
              <a:rPr lang="en-US" sz="950" b="1" dirty="0">
                <a:solidFill>
                  <a:srgbClr val="000000"/>
                </a:solidFill>
                <a:latin typeface="Arial" pitchFamily="34" charset="0"/>
                <a:ea typeface="Arial" pitchFamily="34" charset="-122"/>
                <a:cs typeface="Arial" pitchFamily="34" charset="-120"/>
              </a:rPr>
              <a:t>LEADER PROFITABILITY</a:t>
            </a:r>
            <a:endParaRPr lang="en-US" sz="950" dirty="0"/>
          </a:p>
        </p:txBody>
      </p:sp>
      <p:sp>
        <p:nvSpPr>
          <p:cNvPr id="17" name="Text 15"/>
          <p:cNvSpPr/>
          <p:nvPr/>
        </p:nvSpPr>
        <p:spPr>
          <a:xfrm>
            <a:off x="3611880" y="2450592"/>
            <a:ext cx="2468880" cy="402336"/>
          </a:xfrm>
          <a:prstGeom prst="rect">
            <a:avLst/>
          </a:prstGeom>
          <a:noFill/>
          <a:ln/>
        </p:spPr>
        <p:txBody>
          <a:bodyPr wrap="square" lIns="635" tIns="635" rIns="635" bIns="635" rtlCol="0" anchor="ctr"/>
          <a:lstStyle/>
          <a:p>
            <a:pPr indent="0" marL="0">
              <a:buNone/>
            </a:pPr>
            <a:r>
              <a:rPr lang="en-US" sz="1400" b="1" dirty="0">
                <a:solidFill>
                  <a:srgbClr val="CC0000"/>
                </a:solidFill>
                <a:latin typeface="Arial" pitchFamily="34" charset="0"/>
                <a:ea typeface="Arial" pitchFamily="34" charset="-122"/>
                <a:cs typeface="Arial" pitchFamily="34" charset="-120"/>
              </a:rPr>
              <a:t>14%  </a:t>
            </a:r>
            <a:pPr indent="0" marL="0">
              <a:buNone/>
            </a:pPr>
            <a:r>
              <a:rPr lang="en-US" sz="850" dirty="0">
                <a:solidFill>
                  <a:srgbClr val="666666"/>
                </a:solidFill>
                <a:latin typeface="Arial" pitchFamily="34" charset="0"/>
                <a:ea typeface="Arial" pitchFamily="34" charset="-122"/>
                <a:cs typeface="Arial" pitchFamily="34" charset="-120"/>
              </a:rPr>
              <a:t>of tech IPOs were profitable</a:t>
            </a:r>
            <a:endParaRPr lang="en-US" sz="1400" dirty="0"/>
          </a:p>
        </p:txBody>
      </p:sp>
      <p:sp>
        <p:nvSpPr>
          <p:cNvPr id="18" name="Text 16"/>
          <p:cNvSpPr/>
          <p:nvPr/>
        </p:nvSpPr>
        <p:spPr>
          <a:xfrm>
            <a:off x="6126480" y="2450592"/>
            <a:ext cx="2560320" cy="402336"/>
          </a:xfrm>
          <a:prstGeom prst="rect">
            <a:avLst/>
          </a:prstGeom>
          <a:noFill/>
          <a:ln/>
        </p:spPr>
        <p:txBody>
          <a:bodyPr wrap="square" lIns="635" tIns="635" rIns="635" bIns="635" rtlCol="0" anchor="ctr"/>
          <a:lstStyle/>
          <a:p>
            <a:pPr indent="0" marL="0">
              <a:buNone/>
            </a:pPr>
            <a:r>
              <a:rPr lang="en-US" sz="1400" b="1" dirty="0">
                <a:solidFill>
                  <a:srgbClr val="00A854"/>
                </a:solidFill>
                <a:latin typeface="Arial" pitchFamily="34" charset="0"/>
                <a:ea typeface="Arial" pitchFamily="34" charset="-122"/>
                <a:cs typeface="Arial" pitchFamily="34" charset="-120"/>
              </a:rPr>
              <a:t>26%  </a:t>
            </a:r>
            <a:pPr indent="0" marL="0">
              <a:buNone/>
            </a:pPr>
            <a:r>
              <a:rPr lang="en-US" sz="850" dirty="0">
                <a:solidFill>
                  <a:srgbClr val="666666"/>
                </a:solidFill>
                <a:latin typeface="Arial" pitchFamily="34" charset="0"/>
                <a:ea typeface="Arial" pitchFamily="34" charset="-122"/>
                <a:cs typeface="Arial" pitchFamily="34" charset="-120"/>
              </a:rPr>
              <a:t>Mag 7 avg net margin (2× S&amp;P)</a:t>
            </a:r>
            <a:endParaRPr lang="en-US" sz="1400" dirty="0"/>
          </a:p>
        </p:txBody>
      </p:sp>
      <p:sp>
        <p:nvSpPr>
          <p:cNvPr id="19" name="Text 17"/>
          <p:cNvSpPr/>
          <p:nvPr/>
        </p:nvSpPr>
        <p:spPr>
          <a:xfrm>
            <a:off x="457200" y="2889504"/>
            <a:ext cx="3108960" cy="402336"/>
          </a:xfrm>
          <a:prstGeom prst="rect">
            <a:avLst/>
          </a:prstGeom>
          <a:noFill/>
          <a:ln/>
        </p:spPr>
        <p:txBody>
          <a:bodyPr wrap="square" lIns="635" tIns="635" rIns="635" bIns="635" rtlCol="0" anchor="ctr"/>
          <a:lstStyle/>
          <a:p>
            <a:pPr indent="0" marL="0">
              <a:buNone/>
            </a:pPr>
            <a:r>
              <a:rPr lang="en-US" sz="950" b="1" dirty="0">
                <a:solidFill>
                  <a:srgbClr val="000000"/>
                </a:solidFill>
                <a:latin typeface="Arial" pitchFamily="34" charset="0"/>
                <a:ea typeface="Arial" pitchFamily="34" charset="-122"/>
                <a:cs typeface="Arial" pitchFamily="34" charset="-120"/>
              </a:rPr>
              <a:t>SUPPLY VS. DEMAND</a:t>
            </a:r>
            <a:endParaRPr lang="en-US" sz="950" dirty="0"/>
          </a:p>
        </p:txBody>
      </p:sp>
      <p:sp>
        <p:nvSpPr>
          <p:cNvPr id="20" name="Text 18"/>
          <p:cNvSpPr/>
          <p:nvPr/>
        </p:nvSpPr>
        <p:spPr>
          <a:xfrm>
            <a:off x="3611880" y="2889504"/>
            <a:ext cx="2468880" cy="402336"/>
          </a:xfrm>
          <a:prstGeom prst="rect">
            <a:avLst/>
          </a:prstGeom>
          <a:noFill/>
          <a:ln/>
        </p:spPr>
        <p:txBody>
          <a:bodyPr wrap="square" lIns="635" tIns="635" rIns="635" bIns="635" rtlCol="0" anchor="ctr"/>
          <a:lstStyle/>
          <a:p>
            <a:pPr indent="0" marL="0">
              <a:buNone/>
            </a:pPr>
            <a:r>
              <a:rPr lang="en-US" sz="1400" b="1" dirty="0">
                <a:solidFill>
                  <a:srgbClr val="CC0000"/>
                </a:solidFill>
                <a:latin typeface="Arial" pitchFamily="34" charset="0"/>
                <a:ea typeface="Arial" pitchFamily="34" charset="-122"/>
                <a:cs typeface="Arial" pitchFamily="34" charset="-120"/>
              </a:rPr>
              <a:t>Oversupply  </a:t>
            </a:r>
            <a:pPr indent="0" marL="0">
              <a:buNone/>
            </a:pPr>
            <a:r>
              <a:rPr lang="en-US" sz="850" dirty="0">
                <a:solidFill>
                  <a:srgbClr val="666666"/>
                </a:solidFill>
                <a:latin typeface="Arial" pitchFamily="34" charset="0"/>
                <a:ea typeface="Arial" pitchFamily="34" charset="-122"/>
                <a:cs typeface="Arial" pitchFamily="34" charset="-120"/>
              </a:rPr>
              <a:t>$500B dark fiber unused</a:t>
            </a:r>
            <a:endParaRPr lang="en-US" sz="1400" dirty="0"/>
          </a:p>
        </p:txBody>
      </p:sp>
      <p:sp>
        <p:nvSpPr>
          <p:cNvPr id="21" name="Text 19"/>
          <p:cNvSpPr/>
          <p:nvPr/>
        </p:nvSpPr>
        <p:spPr>
          <a:xfrm>
            <a:off x="6126480" y="2889504"/>
            <a:ext cx="2560320" cy="402336"/>
          </a:xfrm>
          <a:prstGeom prst="rect">
            <a:avLst/>
          </a:prstGeom>
          <a:noFill/>
          <a:ln/>
        </p:spPr>
        <p:txBody>
          <a:bodyPr wrap="square" lIns="635" tIns="635" rIns="635" bIns="635" rtlCol="0" anchor="ctr"/>
          <a:lstStyle/>
          <a:p>
            <a:pPr indent="0" marL="0">
              <a:buNone/>
            </a:pPr>
            <a:r>
              <a:rPr lang="en-US" sz="1400" b="1" dirty="0">
                <a:solidFill>
                  <a:srgbClr val="00A854"/>
                </a:solidFill>
                <a:latin typeface="Arial" pitchFamily="34" charset="0"/>
                <a:ea typeface="Arial" pitchFamily="34" charset="-122"/>
                <a:cs typeface="Arial" pitchFamily="34" charset="-120"/>
              </a:rPr>
              <a:t>Sold out  </a:t>
            </a:r>
            <a:pPr indent="0" marL="0">
              <a:buNone/>
            </a:pPr>
            <a:r>
              <a:rPr lang="en-US" sz="850" dirty="0">
                <a:solidFill>
                  <a:srgbClr val="666666"/>
                </a:solidFill>
                <a:latin typeface="Arial" pitchFamily="34" charset="0"/>
                <a:ea typeface="Arial" pitchFamily="34" charset="-122"/>
                <a:cs typeface="Arial" pitchFamily="34" charset="-120"/>
              </a:rPr>
              <a:t>GPU 2nd market 90–95% of list</a:t>
            </a:r>
            <a:endParaRPr lang="en-US" sz="1400" dirty="0"/>
          </a:p>
        </p:txBody>
      </p:sp>
      <p:sp>
        <p:nvSpPr>
          <p:cNvPr id="22" name="Text 20"/>
          <p:cNvSpPr/>
          <p:nvPr/>
        </p:nvSpPr>
        <p:spPr>
          <a:xfrm>
            <a:off x="457200" y="3328416"/>
            <a:ext cx="3108960" cy="402336"/>
          </a:xfrm>
          <a:prstGeom prst="rect">
            <a:avLst/>
          </a:prstGeom>
          <a:noFill/>
          <a:ln/>
        </p:spPr>
        <p:txBody>
          <a:bodyPr wrap="square" lIns="635" tIns="635" rIns="635" bIns="635" rtlCol="0" anchor="ctr"/>
          <a:lstStyle/>
          <a:p>
            <a:pPr indent="0" marL="0">
              <a:buNone/>
            </a:pPr>
            <a:r>
              <a:rPr lang="en-US" sz="950" b="1" dirty="0">
                <a:solidFill>
                  <a:srgbClr val="000000"/>
                </a:solidFill>
                <a:latin typeface="Arial" pitchFamily="34" charset="0"/>
                <a:ea typeface="Arial" pitchFamily="34" charset="-122"/>
                <a:cs typeface="Arial" pitchFamily="34" charset="-120"/>
              </a:rPr>
              <a:t>BUYER BALANCE SHEETS</a:t>
            </a:r>
            <a:endParaRPr lang="en-US" sz="950" dirty="0"/>
          </a:p>
        </p:txBody>
      </p:sp>
      <p:sp>
        <p:nvSpPr>
          <p:cNvPr id="23" name="Text 21"/>
          <p:cNvSpPr/>
          <p:nvPr/>
        </p:nvSpPr>
        <p:spPr>
          <a:xfrm>
            <a:off x="3611880" y="3328416"/>
            <a:ext cx="2468880" cy="402336"/>
          </a:xfrm>
          <a:prstGeom prst="rect">
            <a:avLst/>
          </a:prstGeom>
          <a:noFill/>
          <a:ln/>
        </p:spPr>
        <p:txBody>
          <a:bodyPr wrap="square" lIns="635" tIns="635" rIns="635" bIns="635" rtlCol="0" anchor="ctr"/>
          <a:lstStyle/>
          <a:p>
            <a:pPr indent="0" marL="0">
              <a:buNone/>
            </a:pPr>
            <a:r>
              <a:rPr lang="en-US" sz="1400" b="1" dirty="0">
                <a:solidFill>
                  <a:srgbClr val="CC0000"/>
                </a:solidFill>
                <a:latin typeface="Arial" pitchFamily="34" charset="0"/>
                <a:ea typeface="Arial" pitchFamily="34" charset="-122"/>
                <a:cs typeface="Arial" pitchFamily="34" charset="-120"/>
              </a:rPr>
              <a:t>20+  </a:t>
            </a:r>
            <a:pPr indent="0" marL="0">
              <a:buNone/>
            </a:pPr>
            <a:r>
              <a:rPr lang="en-US" sz="850" dirty="0">
                <a:solidFill>
                  <a:srgbClr val="666666"/>
                </a:solidFill>
                <a:latin typeface="Arial" pitchFamily="34" charset="0"/>
                <a:ea typeface="Arial" pitchFamily="34" charset="-122"/>
                <a:cs typeface="Arial" pitchFamily="34" charset="-120"/>
              </a:rPr>
              <a:t>major telcos went bankrupt</a:t>
            </a:r>
            <a:endParaRPr lang="en-US" sz="1400" dirty="0"/>
          </a:p>
        </p:txBody>
      </p:sp>
      <p:sp>
        <p:nvSpPr>
          <p:cNvPr id="24" name="Text 22"/>
          <p:cNvSpPr/>
          <p:nvPr/>
        </p:nvSpPr>
        <p:spPr>
          <a:xfrm>
            <a:off x="6126480" y="3328416"/>
            <a:ext cx="2560320" cy="402336"/>
          </a:xfrm>
          <a:prstGeom prst="rect">
            <a:avLst/>
          </a:prstGeom>
          <a:noFill/>
          <a:ln/>
        </p:spPr>
        <p:txBody>
          <a:bodyPr wrap="square" lIns="635" tIns="635" rIns="635" bIns="635" rtlCol="0" anchor="ctr"/>
          <a:lstStyle/>
          <a:p>
            <a:pPr indent="0" marL="0">
              <a:buNone/>
            </a:pPr>
            <a:r>
              <a:rPr lang="en-US" sz="1400" b="1" dirty="0">
                <a:solidFill>
                  <a:srgbClr val="00A854"/>
                </a:solidFill>
                <a:latin typeface="Arial" pitchFamily="34" charset="0"/>
                <a:ea typeface="Arial" pitchFamily="34" charset="-122"/>
                <a:cs typeface="Arial" pitchFamily="34" charset="-120"/>
              </a:rPr>
              <a:t>~48%  </a:t>
            </a:r>
            <a:pPr indent="0" marL="0">
              <a:buNone/>
            </a:pPr>
            <a:r>
              <a:rPr lang="en-US" sz="850" dirty="0">
                <a:solidFill>
                  <a:srgbClr val="666666"/>
                </a:solidFill>
                <a:latin typeface="Arial" pitchFamily="34" charset="0"/>
                <a:ea typeface="Arial" pitchFamily="34" charset="-122"/>
                <a:cs typeface="Arial" pitchFamily="34" charset="-120"/>
              </a:rPr>
              <a:t>hyperscaler net debt/EBITDA (vs ~80% S&amp;P)</a:t>
            </a:r>
            <a:endParaRPr lang="en-US" sz="1400" dirty="0"/>
          </a:p>
        </p:txBody>
      </p:sp>
      <p:sp>
        <p:nvSpPr>
          <p:cNvPr id="25" name="Shape 23"/>
          <p:cNvSpPr/>
          <p:nvPr/>
        </p:nvSpPr>
        <p:spPr>
          <a:xfrm>
            <a:off x="457200" y="3794760"/>
            <a:ext cx="8229600" cy="274320"/>
          </a:xfrm>
          <a:prstGeom prst="rect">
            <a:avLst/>
          </a:prstGeom>
          <a:solidFill>
            <a:srgbClr val="FFD100"/>
          </a:solidFill>
          <a:ln w="12700">
            <a:solidFill>
              <a:srgbClr val="FFD100"/>
            </a:solidFill>
            <a:prstDash val="solid"/>
          </a:ln>
        </p:spPr>
      </p:sp>
      <p:sp>
        <p:nvSpPr>
          <p:cNvPr id="26" name="Text 24"/>
          <p:cNvSpPr/>
          <p:nvPr/>
        </p:nvSpPr>
        <p:spPr>
          <a:xfrm>
            <a:off x="640080" y="3794760"/>
            <a:ext cx="7863840" cy="27432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Corrections happen. Bubbles require valuations detached from fundamentals AND supply exceeding demand. Neither condition holds today.</a:t>
            </a:r>
            <a:endParaRPr lang="en-US" sz="1100" dirty="0"/>
          </a:p>
        </p:txBody>
      </p:sp>
      <p:sp>
        <p:nvSpPr>
          <p:cNvPr id="27" name="Text 25"/>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Harding Loevner (Cisco); GuruFocus (NVDA fwd P/E Apr 17, 2026); Jay Ritter / UF; Bloomberg; CoreWeave 2nd market; FCC dark fiber data.</a:t>
            </a:r>
            <a:endParaRPr lang="en-US" sz="700" dirty="0"/>
          </a:p>
        </p:txBody>
      </p:sp>
      <p:sp>
        <p:nvSpPr>
          <p:cNvPr id="28" name="Shape 26"/>
          <p:cNvSpPr/>
          <p:nvPr/>
        </p:nvSpPr>
        <p:spPr>
          <a:xfrm>
            <a:off x="0" y="4526280"/>
            <a:ext cx="9144000" cy="617220"/>
          </a:xfrm>
          <a:prstGeom prst="rect">
            <a:avLst/>
          </a:prstGeom>
          <a:solidFill>
            <a:srgbClr val="333333"/>
          </a:solidFill>
          <a:ln w="12700">
            <a:solidFill>
              <a:srgbClr val="333333"/>
            </a:solidFill>
            <a:prstDash val="solid"/>
          </a:ln>
        </p:spPr>
      </p:sp>
      <p:sp>
        <p:nvSpPr>
          <p:cNvPr id="29" name="Text 27"/>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0" name="Text 2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chip supply chain is fragile.</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countries control the advanced semiconductor stack. US reshoring is real but slow — most leading-edge fabs come online 2027+.</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783080"/>
            <a:ext cx="19202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~90%</a:t>
            </a:r>
            <a:endParaRPr lang="en-US" sz="4000" dirty="0"/>
          </a:p>
        </p:txBody>
      </p:sp>
      <p:sp>
        <p:nvSpPr>
          <p:cNvPr id="8" name="Text 6"/>
          <p:cNvSpPr/>
          <p:nvPr/>
        </p:nvSpPr>
        <p:spPr>
          <a:xfrm>
            <a:off x="457200" y="251460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TSMC share of advanced-node chips</a:t>
            </a:r>
            <a:endParaRPr lang="en-US" sz="1100" dirty="0"/>
          </a:p>
        </p:txBody>
      </p:sp>
      <p:sp>
        <p:nvSpPr>
          <p:cNvPr id="9" name="Text 7"/>
          <p:cNvSpPr/>
          <p:nvPr/>
        </p:nvSpPr>
        <p:spPr>
          <a:xfrm>
            <a:off x="2560320" y="1783080"/>
            <a:ext cx="19202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76%</a:t>
            </a:r>
            <a:endParaRPr lang="en-US" sz="4000" dirty="0"/>
          </a:p>
        </p:txBody>
      </p:sp>
      <p:sp>
        <p:nvSpPr>
          <p:cNvPr id="10" name="Text 8"/>
          <p:cNvSpPr/>
          <p:nvPr/>
        </p:nvSpPr>
        <p:spPr>
          <a:xfrm>
            <a:off x="2560320" y="251460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SK Hynix + Samsung combined DRAM share</a:t>
            </a:r>
            <a:endParaRPr lang="en-US" sz="1100" dirty="0"/>
          </a:p>
        </p:txBody>
      </p:sp>
      <p:sp>
        <p:nvSpPr>
          <p:cNvPr id="11" name="Text 9"/>
          <p:cNvSpPr/>
          <p:nvPr/>
        </p:nvSpPr>
        <p:spPr>
          <a:xfrm>
            <a:off x="4663440" y="1783080"/>
            <a:ext cx="1920240" cy="685800"/>
          </a:xfrm>
          <a:prstGeom prst="rect">
            <a:avLst/>
          </a:prstGeom>
          <a:noFill/>
          <a:ln/>
        </p:spPr>
        <p:txBody>
          <a:bodyPr wrap="square" lIns="0" tIns="0" rIns="0" bIns="0" rtlCol="0" anchor="ctr"/>
          <a:lstStyle/>
          <a:p>
            <a:pPr algn="ctr" indent="0" marL="0">
              <a:buNone/>
            </a:pPr>
            <a:r>
              <a:rPr lang="en-US" sz="4000" b="1" dirty="0">
                <a:solidFill>
                  <a:srgbClr val="FFB800"/>
                </a:solidFill>
                <a:latin typeface="Arial Black" pitchFamily="34" charset="0"/>
                <a:ea typeface="Arial Black" pitchFamily="34" charset="-122"/>
                <a:cs typeface="Arial Black" pitchFamily="34" charset="-120"/>
              </a:rPr>
              <a:t>&lt;100</a:t>
            </a:r>
            <a:endParaRPr lang="en-US" sz="4000" dirty="0"/>
          </a:p>
        </p:txBody>
      </p:sp>
      <p:sp>
        <p:nvSpPr>
          <p:cNvPr id="12" name="Text 10"/>
          <p:cNvSpPr/>
          <p:nvPr/>
        </p:nvSpPr>
        <p:spPr>
          <a:xfrm>
            <a:off x="4663440" y="251460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EUV machines ASML builds per year</a:t>
            </a:r>
            <a:endParaRPr lang="en-US" sz="1100" dirty="0"/>
          </a:p>
        </p:txBody>
      </p:sp>
      <p:sp>
        <p:nvSpPr>
          <p:cNvPr id="13" name="Text 11"/>
          <p:cNvSpPr/>
          <p:nvPr/>
        </p:nvSpPr>
        <p:spPr>
          <a:xfrm>
            <a:off x="6766560" y="1783080"/>
            <a:ext cx="1920240" cy="685800"/>
          </a:xfrm>
          <a:prstGeom prst="rect">
            <a:avLst/>
          </a:prstGeom>
          <a:noFill/>
          <a:ln/>
        </p:spPr>
        <p:txBody>
          <a:bodyPr wrap="square" lIns="0" tIns="0" rIns="0" bIns="0" rtlCol="0" anchor="ctr"/>
          <a:lstStyle/>
          <a:p>
            <a:pPr algn="ctr" indent="0" marL="0">
              <a:buNone/>
            </a:pPr>
            <a:r>
              <a:rPr lang="en-US" sz="4000" b="1" dirty="0">
                <a:solidFill>
                  <a:srgbClr val="FFB800"/>
                </a:solidFill>
                <a:latin typeface="Arial Black" pitchFamily="34" charset="0"/>
                <a:ea typeface="Arial Black" pitchFamily="34" charset="-122"/>
                <a:cs typeface="Arial Black" pitchFamily="34" charset="-120"/>
              </a:rPr>
              <a:t>~$36B</a:t>
            </a:r>
            <a:endParaRPr lang="en-US" sz="4000" dirty="0"/>
          </a:p>
        </p:txBody>
      </p:sp>
      <p:sp>
        <p:nvSpPr>
          <p:cNvPr id="14" name="Text 12"/>
          <p:cNvSpPr/>
          <p:nvPr/>
        </p:nvSpPr>
        <p:spPr>
          <a:xfrm>
            <a:off x="6766560" y="251460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CHIPS Act committed (of $52.7B authorized)</a:t>
            </a:r>
            <a:endParaRPr lang="en-US" sz="1100" dirty="0"/>
          </a:p>
        </p:txBody>
      </p:sp>
      <p:sp>
        <p:nvSpPr>
          <p:cNvPr id="15" name="Shape 13"/>
          <p:cNvSpPr/>
          <p:nvPr/>
        </p:nvSpPr>
        <p:spPr>
          <a:xfrm>
            <a:off x="457200" y="3063240"/>
            <a:ext cx="8229600" cy="274320"/>
          </a:xfrm>
          <a:prstGeom prst="rect">
            <a:avLst/>
          </a:prstGeom>
          <a:solidFill>
            <a:srgbClr val="333333"/>
          </a:solidFill>
          <a:ln w="12700">
            <a:solidFill>
              <a:srgbClr val="333333"/>
            </a:solidFill>
            <a:prstDash val="solid"/>
          </a:ln>
        </p:spPr>
      </p:sp>
      <p:sp>
        <p:nvSpPr>
          <p:cNvPr id="16" name="Text 14"/>
          <p:cNvSpPr/>
          <p:nvPr/>
        </p:nvSpPr>
        <p:spPr>
          <a:xfrm>
            <a:off x="457200" y="3063240"/>
            <a:ext cx="8229600" cy="274320"/>
          </a:xfrm>
          <a:prstGeom prst="rect">
            <a:avLst/>
          </a:prstGeom>
          <a:noFill/>
          <a:ln/>
        </p:spPr>
        <p:txBody>
          <a:bodyPr wrap="square" lIns="0" tIns="0" rIns="0" bIns="0" rtlCol="0" anchor="ctr"/>
          <a:lstStyle/>
          <a:p>
            <a:pPr algn="ctr" indent="0" marL="0">
              <a:buNone/>
            </a:pPr>
            <a:r>
              <a:rPr lang="en-US" sz="950" b="1" spc="300" kern="0" dirty="0">
                <a:solidFill>
                  <a:srgbClr val="FFB800"/>
                </a:solidFill>
                <a:latin typeface="Arial" pitchFamily="34" charset="0"/>
                <a:ea typeface="Arial" pitchFamily="34" charset="-122"/>
                <a:cs typeface="Arial" pitchFamily="34" charset="-120"/>
              </a:rPr>
              <a:t>US RESHORING — ACTUAL STATUS</a:t>
            </a:r>
            <a:endParaRPr lang="en-US" sz="950" dirty="0"/>
          </a:p>
        </p:txBody>
      </p:sp>
      <p:sp>
        <p:nvSpPr>
          <p:cNvPr id="17" name="Shape 15"/>
          <p:cNvSpPr/>
          <p:nvPr/>
        </p:nvSpPr>
        <p:spPr>
          <a:xfrm>
            <a:off x="502920" y="3383280"/>
            <a:ext cx="1943100" cy="502920"/>
          </a:xfrm>
          <a:prstGeom prst="rect">
            <a:avLst/>
          </a:prstGeom>
          <a:solidFill>
            <a:srgbClr val="F9F9F9"/>
          </a:solidFill>
          <a:ln w="6350">
            <a:solidFill>
              <a:srgbClr val="E5E5E5"/>
            </a:solidFill>
            <a:prstDash val="solid"/>
          </a:ln>
        </p:spPr>
      </p:sp>
      <p:sp>
        <p:nvSpPr>
          <p:cNvPr id="18" name="Text 16"/>
          <p:cNvSpPr/>
          <p:nvPr/>
        </p:nvSpPr>
        <p:spPr>
          <a:xfrm>
            <a:off x="548640" y="3401568"/>
            <a:ext cx="182880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TSMC Arizona</a:t>
            </a:r>
            <a:endParaRPr lang="en-US" sz="1000" dirty="0"/>
          </a:p>
        </p:txBody>
      </p:sp>
      <p:sp>
        <p:nvSpPr>
          <p:cNvPr id="19" name="Text 17"/>
          <p:cNvSpPr/>
          <p:nvPr/>
        </p:nvSpPr>
        <p:spPr>
          <a:xfrm>
            <a:off x="548640" y="3611880"/>
            <a:ext cx="1828800" cy="2743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Fab 1 producing 4nm; Fab 2 online ~2026–27; Fab 3 late decade</a:t>
            </a:r>
            <a:endParaRPr lang="en-US" sz="800" dirty="0"/>
          </a:p>
        </p:txBody>
      </p:sp>
      <p:sp>
        <p:nvSpPr>
          <p:cNvPr id="20" name="Shape 18"/>
          <p:cNvSpPr/>
          <p:nvPr/>
        </p:nvSpPr>
        <p:spPr>
          <a:xfrm>
            <a:off x="2537460" y="3383280"/>
            <a:ext cx="1943100" cy="502920"/>
          </a:xfrm>
          <a:prstGeom prst="rect">
            <a:avLst/>
          </a:prstGeom>
          <a:solidFill>
            <a:srgbClr val="F9F9F9"/>
          </a:solidFill>
          <a:ln w="6350">
            <a:solidFill>
              <a:srgbClr val="E5E5E5"/>
            </a:solidFill>
            <a:prstDash val="solid"/>
          </a:ln>
        </p:spPr>
      </p:sp>
      <p:sp>
        <p:nvSpPr>
          <p:cNvPr id="21" name="Text 19"/>
          <p:cNvSpPr/>
          <p:nvPr/>
        </p:nvSpPr>
        <p:spPr>
          <a:xfrm>
            <a:off x="2583180" y="3401568"/>
            <a:ext cx="182880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Samsung Taylor</a:t>
            </a:r>
            <a:endParaRPr lang="en-US" sz="1000" dirty="0"/>
          </a:p>
        </p:txBody>
      </p:sp>
      <p:sp>
        <p:nvSpPr>
          <p:cNvPr id="22" name="Text 20"/>
          <p:cNvSpPr/>
          <p:nvPr/>
        </p:nvSpPr>
        <p:spPr>
          <a:xfrm>
            <a:off x="2583180" y="3611880"/>
            <a:ext cx="1828800" cy="2743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$17B fab, 2nm; production pushed to 2026</a:t>
            </a:r>
            <a:endParaRPr lang="en-US" sz="800" dirty="0"/>
          </a:p>
        </p:txBody>
      </p:sp>
      <p:sp>
        <p:nvSpPr>
          <p:cNvPr id="23" name="Shape 21"/>
          <p:cNvSpPr/>
          <p:nvPr/>
        </p:nvSpPr>
        <p:spPr>
          <a:xfrm>
            <a:off x="4572000" y="3383280"/>
            <a:ext cx="1943100" cy="502920"/>
          </a:xfrm>
          <a:prstGeom prst="rect">
            <a:avLst/>
          </a:prstGeom>
          <a:solidFill>
            <a:srgbClr val="F9F9F9"/>
          </a:solidFill>
          <a:ln w="6350">
            <a:solidFill>
              <a:srgbClr val="E5E5E5"/>
            </a:solidFill>
            <a:prstDash val="solid"/>
          </a:ln>
        </p:spPr>
      </p:sp>
      <p:sp>
        <p:nvSpPr>
          <p:cNvPr id="24" name="Text 22"/>
          <p:cNvSpPr/>
          <p:nvPr/>
        </p:nvSpPr>
        <p:spPr>
          <a:xfrm>
            <a:off x="4617720" y="3401568"/>
            <a:ext cx="182880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Micron Clay NY</a:t>
            </a:r>
            <a:endParaRPr lang="en-US" sz="1000" dirty="0"/>
          </a:p>
        </p:txBody>
      </p:sp>
      <p:sp>
        <p:nvSpPr>
          <p:cNvPr id="25" name="Text 23"/>
          <p:cNvSpPr/>
          <p:nvPr/>
        </p:nvSpPr>
        <p:spPr>
          <a:xfrm>
            <a:off x="4617720" y="3611880"/>
            <a:ext cx="1828800" cy="2743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Broke ground; first fab online ~2028–2030</a:t>
            </a:r>
            <a:endParaRPr lang="en-US" sz="800" dirty="0"/>
          </a:p>
        </p:txBody>
      </p:sp>
      <p:sp>
        <p:nvSpPr>
          <p:cNvPr id="26" name="Shape 24"/>
          <p:cNvSpPr/>
          <p:nvPr/>
        </p:nvSpPr>
        <p:spPr>
          <a:xfrm>
            <a:off x="6606540" y="3383280"/>
            <a:ext cx="1943100" cy="502920"/>
          </a:xfrm>
          <a:prstGeom prst="rect">
            <a:avLst/>
          </a:prstGeom>
          <a:solidFill>
            <a:srgbClr val="F9F9F9"/>
          </a:solidFill>
          <a:ln w="6350">
            <a:solidFill>
              <a:srgbClr val="E5E5E5"/>
            </a:solidFill>
            <a:prstDash val="solid"/>
          </a:ln>
        </p:spPr>
      </p:sp>
      <p:sp>
        <p:nvSpPr>
          <p:cNvPr id="27" name="Text 25"/>
          <p:cNvSpPr/>
          <p:nvPr/>
        </p:nvSpPr>
        <p:spPr>
          <a:xfrm>
            <a:off x="6652260" y="3401568"/>
            <a:ext cx="182880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Intel Ohio</a:t>
            </a:r>
            <a:endParaRPr lang="en-US" sz="1000" dirty="0"/>
          </a:p>
        </p:txBody>
      </p:sp>
      <p:sp>
        <p:nvSpPr>
          <p:cNvPr id="28" name="Text 26"/>
          <p:cNvSpPr/>
          <p:nvPr/>
        </p:nvSpPr>
        <p:spPr>
          <a:xfrm>
            <a:off x="6652260" y="3611880"/>
            <a:ext cx="1828800" cy="2743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Two fabs under construction; operations ~2027–28</a:t>
            </a:r>
            <a:endParaRPr lang="en-US" sz="800" dirty="0"/>
          </a:p>
        </p:txBody>
      </p:sp>
      <p:sp>
        <p:nvSpPr>
          <p:cNvPr id="29" name="Text 27"/>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TSMC, Samsung, Micron, Intel filings; US Commerce Dept CHIPS Program Office (Nov 2025 — $36B+ committed of $52.7B); SIA.</a:t>
            </a:r>
            <a:endParaRPr lang="en-US" sz="700" dirty="0"/>
          </a:p>
        </p:txBody>
      </p:sp>
      <p:sp>
        <p:nvSpPr>
          <p:cNvPr id="30" name="Shape 28"/>
          <p:cNvSpPr/>
          <p:nvPr/>
        </p:nvSpPr>
        <p:spPr>
          <a:xfrm>
            <a:off x="0" y="4526280"/>
            <a:ext cx="9144000" cy="617220"/>
          </a:xfrm>
          <a:prstGeom prst="rect">
            <a:avLst/>
          </a:prstGeom>
          <a:solidFill>
            <a:srgbClr val="333333"/>
          </a:solidFill>
          <a:ln w="12700">
            <a:solidFill>
              <a:srgbClr val="333333"/>
            </a:solidFill>
            <a:prstDash val="solid"/>
          </a:ln>
        </p:spPr>
      </p:sp>
      <p:sp>
        <p:nvSpPr>
          <p:cNvPr id="31" name="Text 29"/>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2"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Policy has cleaved the stack.</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2560320" cy="365760"/>
          </a:xfrm>
          <a:prstGeom prst="rect">
            <a:avLst/>
          </a:prstGeom>
          <a:solidFill>
            <a:srgbClr val="CC0000"/>
          </a:solidFill>
          <a:ln w="12700">
            <a:solidFill>
              <a:srgbClr val="CC0000"/>
            </a:solidFill>
            <a:prstDash val="solid"/>
          </a:ln>
        </p:spPr>
      </p:sp>
      <p:sp>
        <p:nvSpPr>
          <p:cNvPr id="8" name="Text 6"/>
          <p:cNvSpPr/>
          <p:nvPr/>
        </p:nvSpPr>
        <p:spPr>
          <a:xfrm>
            <a:off x="457200" y="1691640"/>
            <a:ext cx="256032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EXPORT CONTROLS</a:t>
            </a:r>
            <a:endParaRPr lang="en-US" sz="1100" dirty="0"/>
          </a:p>
        </p:txBody>
      </p:sp>
      <p:sp>
        <p:nvSpPr>
          <p:cNvPr id="9" name="Shape 7"/>
          <p:cNvSpPr/>
          <p:nvPr/>
        </p:nvSpPr>
        <p:spPr>
          <a:xfrm>
            <a:off x="457200" y="2057400"/>
            <a:ext cx="2560320" cy="1874520"/>
          </a:xfrm>
          <a:prstGeom prst="rect">
            <a:avLst/>
          </a:prstGeom>
          <a:solidFill>
            <a:srgbClr val="F9F9F9"/>
          </a:solidFill>
          <a:ln w="6350">
            <a:solidFill>
              <a:srgbClr val="E5E5E5"/>
            </a:solidFill>
            <a:prstDash val="solid"/>
          </a:ln>
        </p:spPr>
      </p:sp>
      <p:sp>
        <p:nvSpPr>
          <p:cNvPr id="10" name="Text 8"/>
          <p:cNvSpPr/>
          <p:nvPr/>
        </p:nvSpPr>
        <p:spPr>
          <a:xfrm>
            <a:off x="457200" y="2121408"/>
            <a:ext cx="2560320" cy="411480"/>
          </a:xfrm>
          <a:prstGeom prst="rect">
            <a:avLst/>
          </a:prstGeom>
          <a:noFill/>
          <a:ln/>
        </p:spPr>
        <p:txBody>
          <a:bodyPr wrap="square" lIns="0" tIns="0" rIns="0" bIns="0" rtlCol="0" anchor="ctr"/>
          <a:lstStyle/>
          <a:p>
            <a:pPr algn="ctr" indent="0" marL="0">
              <a:buNone/>
            </a:pPr>
            <a:r>
              <a:rPr lang="en-US" sz="2200" b="1" dirty="0">
                <a:solidFill>
                  <a:srgbClr val="CC0000"/>
                </a:solidFill>
                <a:latin typeface="Arial Black" pitchFamily="34" charset="0"/>
                <a:ea typeface="Arial Black" pitchFamily="34" charset="-122"/>
                <a:cs typeface="Arial Black" pitchFamily="34" charset="-120"/>
              </a:rPr>
              <a:t>$5.5B</a:t>
            </a:r>
            <a:endParaRPr lang="en-US" sz="2200" dirty="0"/>
          </a:p>
        </p:txBody>
      </p:sp>
      <p:sp>
        <p:nvSpPr>
          <p:cNvPr id="11" name="Text 9"/>
          <p:cNvSpPr/>
          <p:nvPr/>
        </p:nvSpPr>
        <p:spPr>
          <a:xfrm>
            <a:off x="548640" y="2542032"/>
            <a:ext cx="2377440" cy="274320"/>
          </a:xfrm>
          <a:prstGeom prst="rect">
            <a:avLst/>
          </a:prstGeom>
          <a:noFill/>
          <a:ln/>
        </p:spPr>
        <p:txBody>
          <a:bodyPr wrap="square" lIns="0" tIns="0" rIns="0" bIns="0" rtlCol="0" anchor="ctr"/>
          <a:lstStyle/>
          <a:p>
            <a:pPr algn="ctr" indent="0" marL="0">
              <a:buNone/>
            </a:pPr>
            <a:r>
              <a:rPr lang="en-US" sz="900" dirty="0">
                <a:solidFill>
                  <a:srgbClr val="666666"/>
                </a:solidFill>
                <a:latin typeface="Arial" pitchFamily="34" charset="0"/>
                <a:ea typeface="Arial" pitchFamily="34" charset="-122"/>
                <a:cs typeface="Arial" pitchFamily="34" charset="-120"/>
              </a:rPr>
              <a:t>NVIDIA H20 writedown</a:t>
            </a:r>
            <a:endParaRPr lang="en-US" sz="900" dirty="0"/>
          </a:p>
        </p:txBody>
      </p:sp>
      <p:sp>
        <p:nvSpPr>
          <p:cNvPr id="12" name="Shape 10"/>
          <p:cNvSpPr/>
          <p:nvPr/>
        </p:nvSpPr>
        <p:spPr>
          <a:xfrm>
            <a:off x="640080" y="2852928"/>
            <a:ext cx="2194560" cy="0"/>
          </a:xfrm>
          <a:prstGeom prst="line">
            <a:avLst/>
          </a:prstGeom>
          <a:noFill/>
          <a:ln w="6350">
            <a:solidFill>
              <a:srgbClr val="E5E5E5"/>
            </a:solidFill>
            <a:prstDash val="solid"/>
          </a:ln>
        </p:spPr>
      </p:sp>
      <p:sp>
        <p:nvSpPr>
          <p:cNvPr id="13" name="Text 11"/>
          <p:cNvSpPr/>
          <p:nvPr/>
        </p:nvSpPr>
        <p:spPr>
          <a:xfrm>
            <a:off x="594360" y="2907792"/>
            <a:ext cx="2331720" cy="960120"/>
          </a:xfrm>
          <a:prstGeom prst="rect">
            <a:avLst/>
          </a:prstGeom>
          <a:noFill/>
          <a:ln/>
        </p:spPr>
        <p:txBody>
          <a:bodyPr wrap="square" rtlCol="0" anchor="t"/>
          <a:lstStyle/>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H100/H200/Blackwell banned from China.</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H20 reinstated with a 15% Treasury fee.</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ASML DUV banned Sept '24; China share ~20% (from 49%).</a:t>
            </a:r>
            <a:endParaRPr lang="en-US" sz="900" dirty="0"/>
          </a:p>
        </p:txBody>
      </p:sp>
      <p:sp>
        <p:nvSpPr>
          <p:cNvPr id="14" name="Shape 12"/>
          <p:cNvSpPr/>
          <p:nvPr/>
        </p:nvSpPr>
        <p:spPr>
          <a:xfrm>
            <a:off x="3291840" y="1691640"/>
            <a:ext cx="2560320" cy="365760"/>
          </a:xfrm>
          <a:prstGeom prst="rect">
            <a:avLst/>
          </a:prstGeom>
          <a:solidFill>
            <a:srgbClr val="F6693D"/>
          </a:solidFill>
          <a:ln w="12700">
            <a:solidFill>
              <a:srgbClr val="F6693D"/>
            </a:solidFill>
            <a:prstDash val="solid"/>
          </a:ln>
        </p:spPr>
      </p:sp>
      <p:sp>
        <p:nvSpPr>
          <p:cNvPr id="15" name="Text 13"/>
          <p:cNvSpPr/>
          <p:nvPr/>
        </p:nvSpPr>
        <p:spPr>
          <a:xfrm>
            <a:off x="3291840" y="1691640"/>
            <a:ext cx="256032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AI REGULATION</a:t>
            </a:r>
            <a:endParaRPr lang="en-US" sz="1100" dirty="0"/>
          </a:p>
        </p:txBody>
      </p:sp>
      <p:sp>
        <p:nvSpPr>
          <p:cNvPr id="16" name="Shape 14"/>
          <p:cNvSpPr/>
          <p:nvPr/>
        </p:nvSpPr>
        <p:spPr>
          <a:xfrm>
            <a:off x="3291840" y="2057400"/>
            <a:ext cx="2560320" cy="1874520"/>
          </a:xfrm>
          <a:prstGeom prst="rect">
            <a:avLst/>
          </a:prstGeom>
          <a:solidFill>
            <a:srgbClr val="F9F9F9"/>
          </a:solidFill>
          <a:ln w="6350">
            <a:solidFill>
              <a:srgbClr val="E5E5E5"/>
            </a:solidFill>
            <a:prstDash val="solid"/>
          </a:ln>
        </p:spPr>
      </p:sp>
      <p:sp>
        <p:nvSpPr>
          <p:cNvPr id="17" name="Text 15"/>
          <p:cNvSpPr/>
          <p:nvPr/>
        </p:nvSpPr>
        <p:spPr>
          <a:xfrm>
            <a:off x="3291840" y="2121408"/>
            <a:ext cx="2560320" cy="411480"/>
          </a:xfrm>
          <a:prstGeom prst="rect">
            <a:avLst/>
          </a:prstGeom>
          <a:noFill/>
          <a:ln/>
        </p:spPr>
        <p:txBody>
          <a:bodyPr wrap="square" lIns="0" tIns="0" rIns="0" bIns="0" rtlCol="0" anchor="ctr"/>
          <a:lstStyle/>
          <a:p>
            <a:pPr algn="ctr" indent="0" marL="0">
              <a:buNone/>
            </a:pPr>
            <a:r>
              <a:rPr lang="en-US" sz="2200" b="1" dirty="0">
                <a:solidFill>
                  <a:srgbClr val="F6693D"/>
                </a:solidFill>
                <a:latin typeface="Arial Black" pitchFamily="34" charset="0"/>
                <a:ea typeface="Arial Black" pitchFamily="34" charset="-122"/>
                <a:cs typeface="Arial Black" pitchFamily="34" charset="-120"/>
              </a:rPr>
              <a:t>Aug 2026</a:t>
            </a:r>
            <a:endParaRPr lang="en-US" sz="2200" dirty="0"/>
          </a:p>
        </p:txBody>
      </p:sp>
      <p:sp>
        <p:nvSpPr>
          <p:cNvPr id="18" name="Text 16"/>
          <p:cNvSpPr/>
          <p:nvPr/>
        </p:nvSpPr>
        <p:spPr>
          <a:xfrm>
            <a:off x="3383280" y="2542032"/>
            <a:ext cx="2377440" cy="274320"/>
          </a:xfrm>
          <a:prstGeom prst="rect">
            <a:avLst/>
          </a:prstGeom>
          <a:noFill/>
          <a:ln/>
        </p:spPr>
        <p:txBody>
          <a:bodyPr wrap="square" lIns="0" tIns="0" rIns="0" bIns="0" rtlCol="0" anchor="ctr"/>
          <a:lstStyle/>
          <a:p>
            <a:pPr algn="ctr" indent="0" marL="0">
              <a:buNone/>
            </a:pPr>
            <a:r>
              <a:rPr lang="en-US" sz="900" dirty="0">
                <a:solidFill>
                  <a:srgbClr val="666666"/>
                </a:solidFill>
                <a:latin typeface="Arial" pitchFamily="34" charset="0"/>
                <a:ea typeface="Arial" pitchFamily="34" charset="-122"/>
                <a:cs typeface="Arial" pitchFamily="34" charset="-120"/>
              </a:rPr>
              <a:t>EU AI Act high-risk enforcement (Aug 2)</a:t>
            </a:r>
            <a:endParaRPr lang="en-US" sz="900" dirty="0"/>
          </a:p>
        </p:txBody>
      </p:sp>
      <p:sp>
        <p:nvSpPr>
          <p:cNvPr id="19" name="Shape 17"/>
          <p:cNvSpPr/>
          <p:nvPr/>
        </p:nvSpPr>
        <p:spPr>
          <a:xfrm>
            <a:off x="3474720" y="2852928"/>
            <a:ext cx="2194560" cy="0"/>
          </a:xfrm>
          <a:prstGeom prst="line">
            <a:avLst/>
          </a:prstGeom>
          <a:noFill/>
          <a:ln w="6350">
            <a:solidFill>
              <a:srgbClr val="E5E5E5"/>
            </a:solidFill>
            <a:prstDash val="solid"/>
          </a:ln>
        </p:spPr>
      </p:sp>
      <p:sp>
        <p:nvSpPr>
          <p:cNvPr id="20" name="Text 18"/>
          <p:cNvSpPr/>
          <p:nvPr/>
        </p:nvSpPr>
        <p:spPr>
          <a:xfrm>
            <a:off x="3429000" y="2907792"/>
            <a:ext cx="2331720" cy="960120"/>
          </a:xfrm>
          <a:prstGeom prst="rect">
            <a:avLst/>
          </a:prstGeom>
          <a:noFill/>
          <a:ln/>
        </p:spPr>
        <p:txBody>
          <a:bodyPr wrap="square" rtlCol="0" anchor="t"/>
          <a:lstStyle/>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EU fines up to €35M or 7% of global revenue.</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Initial compliance: $8–15M per system.</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Only 36% of enterprises feel prepared. No US federal AI law.</a:t>
            </a:r>
            <a:endParaRPr lang="en-US" sz="900" dirty="0"/>
          </a:p>
        </p:txBody>
      </p:sp>
      <p:sp>
        <p:nvSpPr>
          <p:cNvPr id="21" name="Shape 19"/>
          <p:cNvSpPr/>
          <p:nvPr/>
        </p:nvSpPr>
        <p:spPr>
          <a:xfrm>
            <a:off x="6126480" y="1691640"/>
            <a:ext cx="2560320" cy="365760"/>
          </a:xfrm>
          <a:prstGeom prst="rect">
            <a:avLst/>
          </a:prstGeom>
          <a:solidFill>
            <a:srgbClr val="FFB800"/>
          </a:solidFill>
          <a:ln w="12700">
            <a:solidFill>
              <a:srgbClr val="FFB800"/>
            </a:solidFill>
            <a:prstDash val="solid"/>
          </a:ln>
        </p:spPr>
      </p:sp>
      <p:sp>
        <p:nvSpPr>
          <p:cNvPr id="22" name="Text 20"/>
          <p:cNvSpPr/>
          <p:nvPr/>
        </p:nvSpPr>
        <p:spPr>
          <a:xfrm>
            <a:off x="6126480" y="1691640"/>
            <a:ext cx="256032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TRADE &amp; RESHORING</a:t>
            </a:r>
            <a:endParaRPr lang="en-US" sz="1100" dirty="0"/>
          </a:p>
        </p:txBody>
      </p:sp>
      <p:sp>
        <p:nvSpPr>
          <p:cNvPr id="23" name="Shape 21"/>
          <p:cNvSpPr/>
          <p:nvPr/>
        </p:nvSpPr>
        <p:spPr>
          <a:xfrm>
            <a:off x="6126480" y="2057400"/>
            <a:ext cx="2560320" cy="1874520"/>
          </a:xfrm>
          <a:prstGeom prst="rect">
            <a:avLst/>
          </a:prstGeom>
          <a:solidFill>
            <a:srgbClr val="F9F9F9"/>
          </a:solidFill>
          <a:ln w="6350">
            <a:solidFill>
              <a:srgbClr val="E5E5E5"/>
            </a:solidFill>
            <a:prstDash val="solid"/>
          </a:ln>
        </p:spPr>
      </p:sp>
      <p:sp>
        <p:nvSpPr>
          <p:cNvPr id="24" name="Text 22"/>
          <p:cNvSpPr/>
          <p:nvPr/>
        </p:nvSpPr>
        <p:spPr>
          <a:xfrm>
            <a:off x="6126480" y="2121408"/>
            <a:ext cx="2560320" cy="411480"/>
          </a:xfrm>
          <a:prstGeom prst="rect">
            <a:avLst/>
          </a:prstGeom>
          <a:noFill/>
          <a:ln/>
        </p:spPr>
        <p:txBody>
          <a:bodyPr wrap="square" lIns="0" tIns="0" rIns="0" bIns="0" rtlCol="0" anchor="ctr"/>
          <a:lstStyle/>
          <a:p>
            <a:pPr algn="ctr" indent="0" marL="0">
              <a:buNone/>
            </a:pPr>
            <a:r>
              <a:rPr lang="en-US" sz="2200" b="1" dirty="0">
                <a:solidFill>
                  <a:srgbClr val="FFB800"/>
                </a:solidFill>
                <a:latin typeface="Arial Black" pitchFamily="34" charset="0"/>
                <a:ea typeface="Arial Black" pitchFamily="34" charset="-122"/>
                <a:cs typeface="Arial Black" pitchFamily="34" charset="-120"/>
              </a:rPr>
              <a:t>~$36B</a:t>
            </a:r>
            <a:endParaRPr lang="en-US" sz="2200" dirty="0"/>
          </a:p>
        </p:txBody>
      </p:sp>
      <p:sp>
        <p:nvSpPr>
          <p:cNvPr id="25" name="Text 23"/>
          <p:cNvSpPr/>
          <p:nvPr/>
        </p:nvSpPr>
        <p:spPr>
          <a:xfrm>
            <a:off x="6217920" y="2542032"/>
            <a:ext cx="2377440" cy="274320"/>
          </a:xfrm>
          <a:prstGeom prst="rect">
            <a:avLst/>
          </a:prstGeom>
          <a:noFill/>
          <a:ln/>
        </p:spPr>
        <p:txBody>
          <a:bodyPr wrap="square" lIns="0" tIns="0" rIns="0" bIns="0" rtlCol="0" anchor="ctr"/>
          <a:lstStyle/>
          <a:p>
            <a:pPr algn="ctr" indent="0" marL="0">
              <a:buNone/>
            </a:pPr>
            <a:r>
              <a:rPr lang="en-US" sz="900" dirty="0">
                <a:solidFill>
                  <a:srgbClr val="666666"/>
                </a:solidFill>
                <a:latin typeface="Arial" pitchFamily="34" charset="0"/>
                <a:ea typeface="Arial" pitchFamily="34" charset="-122"/>
                <a:cs typeface="Arial" pitchFamily="34" charset="-120"/>
              </a:rPr>
              <a:t>CHIPS Act committed (of $52.7B authorized)</a:t>
            </a:r>
            <a:endParaRPr lang="en-US" sz="900" dirty="0"/>
          </a:p>
        </p:txBody>
      </p:sp>
      <p:sp>
        <p:nvSpPr>
          <p:cNvPr id="26" name="Shape 24"/>
          <p:cNvSpPr/>
          <p:nvPr/>
        </p:nvSpPr>
        <p:spPr>
          <a:xfrm>
            <a:off x="6309360" y="2852928"/>
            <a:ext cx="2194560" cy="0"/>
          </a:xfrm>
          <a:prstGeom prst="line">
            <a:avLst/>
          </a:prstGeom>
          <a:noFill/>
          <a:ln w="6350">
            <a:solidFill>
              <a:srgbClr val="E5E5E5"/>
            </a:solidFill>
            <a:prstDash val="solid"/>
          </a:ln>
        </p:spPr>
      </p:sp>
      <p:sp>
        <p:nvSpPr>
          <p:cNvPr id="27" name="Text 25"/>
          <p:cNvSpPr/>
          <p:nvPr/>
        </p:nvSpPr>
        <p:spPr>
          <a:xfrm>
            <a:off x="6263640" y="2907792"/>
            <a:ext cx="2331720" cy="960120"/>
          </a:xfrm>
          <a:prstGeom prst="rect">
            <a:avLst/>
          </a:prstGeom>
          <a:noFill/>
          <a:ln/>
        </p:spPr>
        <p:txBody>
          <a:bodyPr wrap="square" rtlCol="0" anchor="t"/>
          <a:lstStyle/>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China controls ~90% of rare-earth processing.</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Gallium / germanium controls since Jul 2023.</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SMIC 5nm yield ~20% vs &gt;70% threshold.</a:t>
            </a:r>
            <a:endParaRPr lang="en-US" sz="900" dirty="0"/>
          </a:p>
        </p:txBody>
      </p:sp>
      <p:sp>
        <p:nvSpPr>
          <p:cNvPr id="28" name="Text 26"/>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NVIDIA 10-Q; ASML filings; EU AI Act Article 99 / Chapter V (Aug 2, 2026 enforcement); US Bureau of Industry and Security; Commerce Dept (Nov 2025).</a:t>
            </a:r>
            <a:endParaRPr lang="en-US" sz="700" dirty="0"/>
          </a:p>
        </p:txBody>
      </p:sp>
      <p:sp>
        <p:nvSpPr>
          <p:cNvPr id="29" name="Shape 27"/>
          <p:cNvSpPr/>
          <p:nvPr/>
        </p:nvSpPr>
        <p:spPr>
          <a:xfrm>
            <a:off x="0" y="4526280"/>
            <a:ext cx="9144000" cy="617220"/>
          </a:xfrm>
          <a:prstGeom prst="rect">
            <a:avLst/>
          </a:prstGeom>
          <a:solidFill>
            <a:srgbClr val="333333"/>
          </a:solidFill>
          <a:ln w="12700">
            <a:solidFill>
              <a:srgbClr val="333333"/>
            </a:solidFill>
            <a:prstDash val="solid"/>
          </a:ln>
        </p:spPr>
      </p:sp>
      <p:sp>
        <p:nvSpPr>
          <p:cNvPr id="30" name="Text 2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1" name="Text 2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public is turning.</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NIMBY revolt, anti-AI sentiment, and a labor shortage are each capable of pricing the infrastructure bet lower.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80060" y="178308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$64B</a:t>
            </a:r>
            <a:endParaRPr lang="en-US" sz="4000" dirty="0"/>
          </a:p>
        </p:txBody>
      </p:sp>
      <p:sp>
        <p:nvSpPr>
          <p:cNvPr id="8" name="Text 6"/>
          <p:cNvSpPr/>
          <p:nvPr/>
        </p:nvSpPr>
        <p:spPr>
          <a:xfrm>
            <a:off x="480060" y="251460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in data-center projects blocked or delayed</a:t>
            </a:r>
            <a:endParaRPr lang="en-US" sz="1100" dirty="0"/>
          </a:p>
        </p:txBody>
      </p:sp>
      <p:sp>
        <p:nvSpPr>
          <p:cNvPr id="9" name="Text 7"/>
          <p:cNvSpPr/>
          <p:nvPr/>
        </p:nvSpPr>
        <p:spPr>
          <a:xfrm>
            <a:off x="3268980" y="178308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26%</a:t>
            </a:r>
            <a:endParaRPr lang="en-US" sz="4000" dirty="0"/>
          </a:p>
        </p:txBody>
      </p:sp>
      <p:sp>
        <p:nvSpPr>
          <p:cNvPr id="10" name="Text 8"/>
          <p:cNvSpPr/>
          <p:nvPr/>
        </p:nvSpPr>
        <p:spPr>
          <a:xfrm>
            <a:off x="3268980" y="251460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Americans view AI positively</a:t>
            </a:r>
            <a:endParaRPr lang="en-US" sz="1100" dirty="0"/>
          </a:p>
        </p:txBody>
      </p:sp>
      <p:sp>
        <p:nvSpPr>
          <p:cNvPr id="11" name="Text 9"/>
          <p:cNvSpPr/>
          <p:nvPr/>
        </p:nvSpPr>
        <p:spPr>
          <a:xfrm>
            <a:off x="6057900" y="178308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~480K</a:t>
            </a:r>
            <a:endParaRPr lang="en-US" sz="4000" dirty="0"/>
          </a:p>
        </p:txBody>
      </p:sp>
      <p:sp>
        <p:nvSpPr>
          <p:cNvPr id="12" name="Text 10"/>
          <p:cNvSpPr/>
          <p:nvPr/>
        </p:nvSpPr>
        <p:spPr>
          <a:xfrm>
            <a:off x="6057900" y="251460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data-center workforce gap (US)</a:t>
            </a:r>
            <a:endParaRPr lang="en-US" sz="1100" dirty="0"/>
          </a:p>
        </p:txBody>
      </p:sp>
      <p:sp>
        <p:nvSpPr>
          <p:cNvPr id="13" name="Shape 11"/>
          <p:cNvSpPr/>
          <p:nvPr/>
        </p:nvSpPr>
        <p:spPr>
          <a:xfrm>
            <a:off x="457200" y="3108960"/>
            <a:ext cx="2697480" cy="228600"/>
          </a:xfrm>
          <a:prstGeom prst="rect">
            <a:avLst/>
          </a:prstGeom>
          <a:solidFill>
            <a:srgbClr val="CC0000"/>
          </a:solidFill>
          <a:ln w="12700">
            <a:solidFill>
              <a:srgbClr val="CC0000"/>
            </a:solidFill>
            <a:prstDash val="solid"/>
          </a:ln>
        </p:spPr>
      </p:sp>
      <p:sp>
        <p:nvSpPr>
          <p:cNvPr id="14" name="Text 12"/>
          <p:cNvSpPr/>
          <p:nvPr/>
        </p:nvSpPr>
        <p:spPr>
          <a:xfrm>
            <a:off x="457200" y="3108960"/>
            <a:ext cx="2697480" cy="22860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NIMBY REVOLT</a:t>
            </a:r>
            <a:endParaRPr lang="en-US" sz="900" dirty="0"/>
          </a:p>
        </p:txBody>
      </p:sp>
      <p:sp>
        <p:nvSpPr>
          <p:cNvPr id="15" name="Text 13"/>
          <p:cNvSpPr/>
          <p:nvPr/>
        </p:nvSpPr>
        <p:spPr>
          <a:xfrm>
            <a:off x="502920" y="3383280"/>
            <a:ext cx="2606040" cy="640080"/>
          </a:xfrm>
          <a:prstGeom prst="rect">
            <a:avLst/>
          </a:prstGeom>
          <a:noFill/>
          <a:ln/>
        </p:spPr>
        <p:txBody>
          <a:bodyPr wrap="square" lIns="0" tIns="0" rIns="0" bIns="0" rtlCol="0" anchor="t"/>
          <a:lstStyle/>
          <a:p>
            <a:pPr indent="0" marL="0">
              <a:buNone/>
            </a:pPr>
            <a:r>
              <a:rPr lang="en-US" sz="850" dirty="0">
                <a:solidFill>
                  <a:srgbClr val="333333"/>
                </a:solidFill>
                <a:latin typeface="Arial" pitchFamily="34" charset="0"/>
                <a:ea typeface="Arial" pitchFamily="34" charset="-122"/>
                <a:cs typeface="Arial" pitchFamily="34" charset="-120"/>
              </a:rPr>
              <a:t>$18B halted, $46B delayed. 142 activist groups across 24 states — Virginia is the epicenter, with 42 groups alone.</a:t>
            </a:r>
            <a:endParaRPr lang="en-US" sz="850" dirty="0"/>
          </a:p>
        </p:txBody>
      </p:sp>
      <p:sp>
        <p:nvSpPr>
          <p:cNvPr id="16" name="Shape 14"/>
          <p:cNvSpPr/>
          <p:nvPr/>
        </p:nvSpPr>
        <p:spPr>
          <a:xfrm>
            <a:off x="3291840" y="3108960"/>
            <a:ext cx="2697480" cy="228600"/>
          </a:xfrm>
          <a:prstGeom prst="rect">
            <a:avLst/>
          </a:prstGeom>
          <a:solidFill>
            <a:srgbClr val="CC0000"/>
          </a:solidFill>
          <a:ln w="12700">
            <a:solidFill>
              <a:srgbClr val="CC0000"/>
            </a:solidFill>
            <a:prstDash val="solid"/>
          </a:ln>
        </p:spPr>
      </p:sp>
      <p:sp>
        <p:nvSpPr>
          <p:cNvPr id="17" name="Text 15"/>
          <p:cNvSpPr/>
          <p:nvPr/>
        </p:nvSpPr>
        <p:spPr>
          <a:xfrm>
            <a:off x="3291840" y="3108960"/>
            <a:ext cx="2697480" cy="22860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ANTI-AI SENTIMENT</a:t>
            </a:r>
            <a:endParaRPr lang="en-US" sz="900" dirty="0"/>
          </a:p>
        </p:txBody>
      </p:sp>
      <p:sp>
        <p:nvSpPr>
          <p:cNvPr id="18" name="Text 16"/>
          <p:cNvSpPr/>
          <p:nvPr/>
        </p:nvSpPr>
        <p:spPr>
          <a:xfrm>
            <a:off x="3337560" y="3383280"/>
            <a:ext cx="2606040" cy="640080"/>
          </a:xfrm>
          <a:prstGeom prst="rect">
            <a:avLst/>
          </a:prstGeom>
          <a:noFill/>
          <a:ln/>
        </p:spPr>
        <p:txBody>
          <a:bodyPr wrap="square" lIns="0" tIns="0" rIns="0" bIns="0" rtlCol="0" anchor="t"/>
          <a:lstStyle/>
          <a:p>
            <a:pPr indent="0" marL="0">
              <a:buNone/>
            </a:pPr>
            <a:r>
              <a:rPr lang="en-US" sz="850" dirty="0">
                <a:solidFill>
                  <a:srgbClr val="333333"/>
                </a:solidFill>
                <a:latin typeface="Arial" pitchFamily="34" charset="0"/>
                <a:ea typeface="Arial" pitchFamily="34" charset="-122"/>
                <a:cs typeface="Arial" pitchFamily="34" charset="-120"/>
              </a:rPr>
              <a:t>Mar 21, 2026: "Stop the AI Race" protests targeted Anthropic, OpenAI, and xAI HQs. Anthropic dropped its safety-pause commitment in Feb. 56% of Americans are anxious about AI.</a:t>
            </a:r>
            <a:endParaRPr lang="en-US" sz="850" dirty="0"/>
          </a:p>
        </p:txBody>
      </p:sp>
      <p:sp>
        <p:nvSpPr>
          <p:cNvPr id="19" name="Shape 17"/>
          <p:cNvSpPr/>
          <p:nvPr/>
        </p:nvSpPr>
        <p:spPr>
          <a:xfrm>
            <a:off x="6126480" y="3108960"/>
            <a:ext cx="2697480" cy="228600"/>
          </a:xfrm>
          <a:prstGeom prst="rect">
            <a:avLst/>
          </a:prstGeom>
          <a:solidFill>
            <a:srgbClr val="CC0000"/>
          </a:solidFill>
          <a:ln w="12700">
            <a:solidFill>
              <a:srgbClr val="CC0000"/>
            </a:solidFill>
            <a:prstDash val="solid"/>
          </a:ln>
        </p:spPr>
      </p:sp>
      <p:sp>
        <p:nvSpPr>
          <p:cNvPr id="20" name="Text 18"/>
          <p:cNvSpPr/>
          <p:nvPr/>
        </p:nvSpPr>
        <p:spPr>
          <a:xfrm>
            <a:off x="6126480" y="3108960"/>
            <a:ext cx="2697480" cy="22860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LABOR SHORTAGE</a:t>
            </a:r>
            <a:endParaRPr lang="en-US" sz="900" dirty="0"/>
          </a:p>
        </p:txBody>
      </p:sp>
      <p:sp>
        <p:nvSpPr>
          <p:cNvPr id="21" name="Text 19"/>
          <p:cNvSpPr/>
          <p:nvPr/>
        </p:nvSpPr>
        <p:spPr>
          <a:xfrm>
            <a:off x="6172200" y="3383280"/>
            <a:ext cx="2606040" cy="640080"/>
          </a:xfrm>
          <a:prstGeom prst="rect">
            <a:avLst/>
          </a:prstGeom>
          <a:noFill/>
          <a:ln/>
        </p:spPr>
        <p:txBody>
          <a:bodyPr wrap="square" lIns="0" tIns="0" rIns="0" bIns="0" rtlCol="0" anchor="t"/>
          <a:lstStyle/>
          <a:p>
            <a:pPr indent="0" marL="0">
              <a:buNone/>
            </a:pPr>
            <a:r>
              <a:rPr lang="en-US" sz="850" dirty="0">
                <a:solidFill>
                  <a:srgbClr val="333333"/>
                </a:solidFill>
                <a:latin typeface="Arial" pitchFamily="34" charset="0"/>
                <a:ea typeface="Arial" pitchFamily="34" charset="-122"/>
                <a:cs typeface="Arial" pitchFamily="34" charset="-120"/>
              </a:rPr>
              <a:t>Core ops roles — electricians, facilities, generator techs — short 467K–498K workers. 400+ data centers under construction; talent, not capital, is the binding constraint.</a:t>
            </a:r>
            <a:endParaRPr lang="en-US" sz="850" dirty="0"/>
          </a:p>
        </p:txBody>
      </p:sp>
      <p:sp>
        <p:nvSpPr>
          <p:cNvPr id="22" name="Text 20"/>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Data Center Watch ($18B halted, $46B delayed, 142 groups); Echelon Insights; Stop the AI Race; Fortune; TIME; CNN; NBC News; Data Center Frontier.</a:t>
            </a:r>
            <a:endParaRPr lang="en-US" sz="700" dirty="0"/>
          </a:p>
        </p:txBody>
      </p:sp>
      <p:sp>
        <p:nvSpPr>
          <p:cNvPr id="23" name="Shape 21"/>
          <p:cNvSpPr/>
          <p:nvPr/>
        </p:nvSpPr>
        <p:spPr>
          <a:xfrm>
            <a:off x="0" y="4526280"/>
            <a:ext cx="9144000" cy="617220"/>
          </a:xfrm>
          <a:prstGeom prst="rect">
            <a:avLst/>
          </a:prstGeom>
          <a:solidFill>
            <a:srgbClr val="333333"/>
          </a:solidFill>
          <a:ln w="12700">
            <a:solidFill>
              <a:srgbClr val="333333"/>
            </a:solidFill>
            <a:prstDash val="solid"/>
          </a:ln>
        </p:spPr>
      </p:sp>
      <p:sp>
        <p:nvSpPr>
          <p:cNvPr id="24" name="Text 22"/>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E8478D"/>
          </a:solidFill>
          <a:ln w="12700">
            <a:solidFill>
              <a:srgbClr val="E8478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Computing beyond Earth.</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grid queue. No permits. No water. 1,361 W/m² of unfiltered solar, 24/7. Orbital compute sidesteps Earth's bottlenecks.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17320"/>
            <a:ext cx="8229600" cy="457200"/>
          </a:xfrm>
          <a:prstGeom prst="rect">
            <a:avLst/>
          </a:prstGeom>
          <a:solidFill>
            <a:srgbClr val="EEEEEE"/>
          </a:solidFill>
          <a:ln w="9525">
            <a:solidFill>
              <a:srgbClr val="BBBBBB"/>
            </a:solidFill>
            <a:prstDash val="dash"/>
          </a:ln>
        </p:spPr>
      </p:sp>
      <p:sp>
        <p:nvSpPr>
          <p:cNvPr id="8" name="Text 6"/>
          <p:cNvSpPr/>
          <p:nvPr/>
        </p:nvSpPr>
        <p:spPr>
          <a:xfrm>
            <a:off x="548640" y="1417320"/>
            <a:ext cx="8046720" cy="4572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orbital data-center satellite (solar wings, Earth below)</a:t>
            </a:r>
            <a:endParaRPr lang="en-US" sz="1000" dirty="0"/>
          </a:p>
        </p:txBody>
      </p:sp>
      <p:sp>
        <p:nvSpPr>
          <p:cNvPr id="9" name="Shape 7"/>
          <p:cNvSpPr/>
          <p:nvPr/>
        </p:nvSpPr>
        <p:spPr>
          <a:xfrm>
            <a:off x="457200" y="2057400"/>
            <a:ext cx="2697480" cy="320040"/>
          </a:xfrm>
          <a:prstGeom prst="rect">
            <a:avLst/>
          </a:prstGeom>
          <a:solidFill>
            <a:srgbClr val="E8478D"/>
          </a:solidFill>
          <a:ln w="12700">
            <a:solidFill>
              <a:srgbClr val="E8478D"/>
            </a:solidFill>
            <a:prstDash val="solid"/>
          </a:ln>
        </p:spPr>
      </p:sp>
      <p:sp>
        <p:nvSpPr>
          <p:cNvPr id="10" name="Text 8"/>
          <p:cNvSpPr/>
          <p:nvPr/>
        </p:nvSpPr>
        <p:spPr>
          <a:xfrm>
            <a:off x="457200" y="20574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11" name="Shape 9"/>
          <p:cNvSpPr/>
          <p:nvPr/>
        </p:nvSpPr>
        <p:spPr>
          <a:xfrm>
            <a:off x="457200" y="2377440"/>
            <a:ext cx="2697480" cy="1005840"/>
          </a:xfrm>
          <a:prstGeom prst="rect">
            <a:avLst/>
          </a:prstGeom>
          <a:solidFill>
            <a:srgbClr val="F9F9F9"/>
          </a:solidFill>
          <a:ln w="6350">
            <a:solidFill>
              <a:srgbClr val="E5E5E5"/>
            </a:solidFill>
            <a:prstDash val="solid"/>
          </a:ln>
        </p:spPr>
      </p:sp>
      <p:sp>
        <p:nvSpPr>
          <p:cNvPr id="12" name="Text 10"/>
          <p:cNvSpPr/>
          <p:nvPr/>
        </p:nvSpPr>
        <p:spPr>
          <a:xfrm>
            <a:off x="594360" y="2468880"/>
            <a:ext cx="2423160" cy="82296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950" dirty="0"/>
          </a:p>
        </p:txBody>
      </p:sp>
      <p:sp>
        <p:nvSpPr>
          <p:cNvPr id="13" name="Shape 11"/>
          <p:cNvSpPr/>
          <p:nvPr/>
        </p:nvSpPr>
        <p:spPr>
          <a:xfrm>
            <a:off x="3291840" y="2057400"/>
            <a:ext cx="2697480" cy="320040"/>
          </a:xfrm>
          <a:prstGeom prst="rect">
            <a:avLst/>
          </a:prstGeom>
          <a:solidFill>
            <a:srgbClr val="E8478D"/>
          </a:solidFill>
          <a:ln w="12700">
            <a:solidFill>
              <a:srgbClr val="E8478D"/>
            </a:solidFill>
            <a:prstDash val="solid"/>
          </a:ln>
        </p:spPr>
      </p:sp>
      <p:sp>
        <p:nvSpPr>
          <p:cNvPr id="14" name="Text 12"/>
          <p:cNvSpPr/>
          <p:nvPr/>
        </p:nvSpPr>
        <p:spPr>
          <a:xfrm>
            <a:off x="3291840" y="20574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5" name="Shape 13"/>
          <p:cNvSpPr/>
          <p:nvPr/>
        </p:nvSpPr>
        <p:spPr>
          <a:xfrm>
            <a:off x="3291840" y="2377440"/>
            <a:ext cx="2697480" cy="1005840"/>
          </a:xfrm>
          <a:prstGeom prst="rect">
            <a:avLst/>
          </a:prstGeom>
          <a:solidFill>
            <a:srgbClr val="F9F9F9"/>
          </a:solidFill>
          <a:ln w="6350">
            <a:solidFill>
              <a:srgbClr val="E5E5E5"/>
            </a:solidFill>
            <a:prstDash val="solid"/>
          </a:ln>
        </p:spPr>
      </p:sp>
      <p:sp>
        <p:nvSpPr>
          <p:cNvPr id="16" name="Text 14"/>
          <p:cNvSpPr/>
          <p:nvPr/>
        </p:nvSpPr>
        <p:spPr>
          <a:xfrm>
            <a:off x="3429000" y="2468880"/>
            <a:ext cx="2423160" cy="82296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1,361 W/m² of unfiltered sunlight, 24/7, with no intermittency and no capacity-factor limits.</a:t>
            </a:r>
            <a:endParaRPr lang="en-US" sz="950" dirty="0"/>
          </a:p>
        </p:txBody>
      </p:sp>
      <p:sp>
        <p:nvSpPr>
          <p:cNvPr id="17" name="Shape 15"/>
          <p:cNvSpPr/>
          <p:nvPr/>
        </p:nvSpPr>
        <p:spPr>
          <a:xfrm>
            <a:off x="6126480" y="2057400"/>
            <a:ext cx="2697480" cy="320040"/>
          </a:xfrm>
          <a:prstGeom prst="rect">
            <a:avLst/>
          </a:prstGeom>
          <a:solidFill>
            <a:srgbClr val="E8478D"/>
          </a:solidFill>
          <a:ln w="12700">
            <a:solidFill>
              <a:srgbClr val="E8478D"/>
            </a:solidFill>
            <a:prstDash val="solid"/>
          </a:ln>
        </p:spPr>
      </p:sp>
      <p:sp>
        <p:nvSpPr>
          <p:cNvPr id="18" name="Text 16"/>
          <p:cNvSpPr/>
          <p:nvPr/>
        </p:nvSpPr>
        <p:spPr>
          <a:xfrm>
            <a:off x="6126480" y="20574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9" name="Shape 17"/>
          <p:cNvSpPr/>
          <p:nvPr/>
        </p:nvSpPr>
        <p:spPr>
          <a:xfrm>
            <a:off x="6126480" y="2377440"/>
            <a:ext cx="2697480" cy="1005840"/>
          </a:xfrm>
          <a:prstGeom prst="rect">
            <a:avLst/>
          </a:prstGeom>
          <a:solidFill>
            <a:srgbClr val="F9F9F9"/>
          </a:solidFill>
          <a:ln w="6350">
            <a:solidFill>
              <a:srgbClr val="E5E5E5"/>
            </a:solidFill>
            <a:prstDash val="solid"/>
          </a:ln>
        </p:spPr>
      </p:sp>
      <p:sp>
        <p:nvSpPr>
          <p:cNvPr id="20" name="Text 18"/>
          <p:cNvSpPr/>
          <p:nvPr/>
        </p:nvSpPr>
        <p:spPr>
          <a:xfrm>
            <a:off x="6263640" y="2468880"/>
            <a:ext cx="2423160" cy="82296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Sidesteps data-localization laws, export controls, and the jurisdictional patchwork that slows terrestrial deployment.</a:t>
            </a:r>
            <a:endParaRPr lang="en-US" sz="950" dirty="0"/>
          </a:p>
        </p:txBody>
      </p:sp>
      <p:sp>
        <p:nvSpPr>
          <p:cNvPr id="21" name="Shape 19"/>
          <p:cNvSpPr/>
          <p:nvPr/>
        </p:nvSpPr>
        <p:spPr>
          <a:xfrm>
            <a:off x="457200" y="3520440"/>
            <a:ext cx="8229600" cy="411480"/>
          </a:xfrm>
          <a:prstGeom prst="rect">
            <a:avLst/>
          </a:prstGeom>
          <a:solidFill>
            <a:srgbClr val="333333"/>
          </a:solidFill>
          <a:ln w="12700">
            <a:solidFill>
              <a:srgbClr val="333333"/>
            </a:solidFill>
            <a:prstDash val="solid"/>
          </a:ln>
        </p:spPr>
      </p:sp>
      <p:sp>
        <p:nvSpPr>
          <p:cNvPr id="22" name="Text 20"/>
          <p:cNvSpPr/>
          <p:nvPr/>
        </p:nvSpPr>
        <p:spPr>
          <a:xfrm>
            <a:off x="640080" y="3520440"/>
            <a:ext cx="7863840" cy="411480"/>
          </a:xfrm>
          <a:prstGeom prst="rect">
            <a:avLst/>
          </a:prstGeom>
          <a:noFill/>
          <a:ln/>
        </p:spPr>
        <p:txBody>
          <a:bodyPr wrap="square" lIns="0" tIns="0" rIns="0" bIns="0" rtlCol="0" anchor="ctr"/>
          <a:lstStyle/>
          <a:p>
            <a:pPr indent="0" marL="0">
              <a:buNone/>
            </a:pPr>
            <a:r>
              <a:rPr lang="en-US" sz="1000" b="1" spc="300" kern="0" dirty="0">
                <a:solidFill>
                  <a:srgbClr val="E8478D"/>
                </a:solidFill>
                <a:latin typeface="Arial" pitchFamily="34" charset="0"/>
                <a:ea typeface="Arial" pitchFamily="34" charset="-122"/>
                <a:cs typeface="Arial" pitchFamily="34" charset="-120"/>
              </a:rPr>
              <a:t>PLAYERS   </a:t>
            </a:r>
            <a:pPr indent="0" marL="0">
              <a:buNone/>
            </a:pPr>
            <a:r>
              <a:rPr lang="en-US" sz="1200" b="1" dirty="0">
                <a:solidFill>
                  <a:srgbClr val="FFFFFF"/>
                </a:solidFill>
                <a:latin typeface="Arial" pitchFamily="34" charset="0"/>
                <a:ea typeface="Arial" pitchFamily="34" charset="-122"/>
                <a:cs typeface="Arial" pitchFamily="34" charset="-120"/>
              </a:rPr>
              <a:t>Starcloud · SpaceX · Google Suncatcher · Aetherflux</a:t>
            </a:r>
            <a:endParaRPr lang="en-US" sz="1000" dirty="0"/>
          </a:p>
        </p:txBody>
      </p:sp>
      <p:sp>
        <p:nvSpPr>
          <p:cNvPr id="23" name="Text 21"/>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FCC filings; Starcloud, Google, SpaceX announcements; CNBC.</a:t>
            </a:r>
            <a:endParaRPr lang="en-US" sz="700" dirty="0"/>
          </a:p>
        </p:txBody>
      </p:sp>
      <p:sp>
        <p:nvSpPr>
          <p:cNvPr id="24" name="Shape 22"/>
          <p:cNvSpPr/>
          <p:nvPr/>
        </p:nvSpPr>
        <p:spPr>
          <a:xfrm>
            <a:off x="0" y="4526280"/>
            <a:ext cx="9144000" cy="617220"/>
          </a:xfrm>
          <a:prstGeom prst="rect">
            <a:avLst/>
          </a:prstGeom>
          <a:solidFill>
            <a:srgbClr val="333333"/>
          </a:solidFill>
          <a:ln w="12700">
            <a:solidFill>
              <a:srgbClr val="333333"/>
            </a:solidFill>
            <a:prstDash val="solid"/>
          </a:ln>
        </p:spPr>
      </p:sp>
      <p:sp>
        <p:nvSpPr>
          <p:cNvPr id="25" name="Text 2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E8478D"/>
          </a:solidFill>
          <a:ln w="12700">
            <a:solidFill>
              <a:srgbClr val="E8478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AI gets a body.</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 walking inference endpoint.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17320"/>
            <a:ext cx="8229600" cy="457200"/>
          </a:xfrm>
          <a:prstGeom prst="rect">
            <a:avLst/>
          </a:prstGeom>
          <a:solidFill>
            <a:srgbClr val="EEEEEE"/>
          </a:solidFill>
          <a:ln w="9525">
            <a:solidFill>
              <a:srgbClr val="BBBBBB"/>
            </a:solidFill>
            <a:prstDash val="dash"/>
          </a:ln>
        </p:spPr>
      </p:sp>
      <p:sp>
        <p:nvSpPr>
          <p:cNvPr id="8" name="Text 6"/>
          <p:cNvSpPr/>
          <p:nvPr/>
        </p:nvSpPr>
        <p:spPr>
          <a:xfrm>
            <a:off x="548640" y="1417320"/>
            <a:ext cx="8046720" cy="4572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 — humanoid robot on a factory / warehouse floor</a:t>
            </a:r>
            <a:endParaRPr lang="en-US" sz="1000" dirty="0"/>
          </a:p>
        </p:txBody>
      </p:sp>
      <p:sp>
        <p:nvSpPr>
          <p:cNvPr id="9" name="Shape 7"/>
          <p:cNvSpPr/>
          <p:nvPr/>
        </p:nvSpPr>
        <p:spPr>
          <a:xfrm>
            <a:off x="457200" y="2057400"/>
            <a:ext cx="2697480" cy="320040"/>
          </a:xfrm>
          <a:prstGeom prst="rect">
            <a:avLst/>
          </a:prstGeom>
          <a:solidFill>
            <a:srgbClr val="E8478D"/>
          </a:solidFill>
          <a:ln w="12700">
            <a:solidFill>
              <a:srgbClr val="E8478D"/>
            </a:solidFill>
            <a:prstDash val="solid"/>
          </a:ln>
        </p:spPr>
      </p:sp>
      <p:sp>
        <p:nvSpPr>
          <p:cNvPr id="10" name="Text 8"/>
          <p:cNvSpPr/>
          <p:nvPr/>
        </p:nvSpPr>
        <p:spPr>
          <a:xfrm>
            <a:off x="457200" y="20574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11" name="Shape 9"/>
          <p:cNvSpPr/>
          <p:nvPr/>
        </p:nvSpPr>
        <p:spPr>
          <a:xfrm>
            <a:off x="457200" y="2377440"/>
            <a:ext cx="2697480" cy="1005840"/>
          </a:xfrm>
          <a:prstGeom prst="rect">
            <a:avLst/>
          </a:prstGeom>
          <a:solidFill>
            <a:srgbClr val="F9F9F9"/>
          </a:solidFill>
          <a:ln w="6350">
            <a:solidFill>
              <a:srgbClr val="E5E5E5"/>
            </a:solidFill>
            <a:prstDash val="solid"/>
          </a:ln>
        </p:spPr>
      </p:sp>
      <p:sp>
        <p:nvSpPr>
          <p:cNvPr id="12" name="Text 10"/>
          <p:cNvSpPr/>
          <p:nvPr/>
        </p:nvSpPr>
        <p:spPr>
          <a:xfrm>
            <a:off x="594360" y="2468880"/>
            <a:ext cx="2423160" cy="82296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Manufacturing, logistics, warehousing, agriculture, healthcare — anywhere repetitive or dangerous labor exists, pilots are underway.</a:t>
            </a:r>
            <a:endParaRPr lang="en-US" sz="950" dirty="0"/>
          </a:p>
        </p:txBody>
      </p:sp>
      <p:sp>
        <p:nvSpPr>
          <p:cNvPr id="13" name="Shape 11"/>
          <p:cNvSpPr/>
          <p:nvPr/>
        </p:nvSpPr>
        <p:spPr>
          <a:xfrm>
            <a:off x="3291840" y="2057400"/>
            <a:ext cx="2697480" cy="320040"/>
          </a:xfrm>
          <a:prstGeom prst="rect">
            <a:avLst/>
          </a:prstGeom>
          <a:solidFill>
            <a:srgbClr val="E8478D"/>
          </a:solidFill>
          <a:ln w="12700">
            <a:solidFill>
              <a:srgbClr val="E8478D"/>
            </a:solidFill>
            <a:prstDash val="solid"/>
          </a:ln>
        </p:spPr>
      </p:sp>
      <p:sp>
        <p:nvSpPr>
          <p:cNvPr id="14" name="Text 12"/>
          <p:cNvSpPr/>
          <p:nvPr/>
        </p:nvSpPr>
        <p:spPr>
          <a:xfrm>
            <a:off x="3291840" y="20574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5" name="Shape 13"/>
          <p:cNvSpPr/>
          <p:nvPr/>
        </p:nvSpPr>
        <p:spPr>
          <a:xfrm>
            <a:off x="3291840" y="2377440"/>
            <a:ext cx="2697480" cy="1005840"/>
          </a:xfrm>
          <a:prstGeom prst="rect">
            <a:avLst/>
          </a:prstGeom>
          <a:solidFill>
            <a:srgbClr val="F9F9F9"/>
          </a:solidFill>
          <a:ln w="6350">
            <a:solidFill>
              <a:srgbClr val="E5E5E5"/>
            </a:solidFill>
            <a:prstDash val="solid"/>
          </a:ln>
        </p:spPr>
      </p:sp>
      <p:sp>
        <p:nvSpPr>
          <p:cNvPr id="16" name="Text 14"/>
          <p:cNvSpPr/>
          <p:nvPr/>
        </p:nvSpPr>
        <p:spPr>
          <a:xfrm>
            <a:off x="3429000" y="2468880"/>
            <a:ext cx="2423160" cy="82296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Humanoids handle hazardous and ergonomically punishing tasks. Humans keep judgment, creativity, and coordination.</a:t>
            </a:r>
            <a:endParaRPr lang="en-US" sz="950" dirty="0"/>
          </a:p>
        </p:txBody>
      </p:sp>
      <p:sp>
        <p:nvSpPr>
          <p:cNvPr id="17" name="Shape 15"/>
          <p:cNvSpPr/>
          <p:nvPr/>
        </p:nvSpPr>
        <p:spPr>
          <a:xfrm>
            <a:off x="6126480" y="2057400"/>
            <a:ext cx="2697480" cy="320040"/>
          </a:xfrm>
          <a:prstGeom prst="rect">
            <a:avLst/>
          </a:prstGeom>
          <a:solidFill>
            <a:srgbClr val="E8478D"/>
          </a:solidFill>
          <a:ln w="12700">
            <a:solidFill>
              <a:srgbClr val="E8478D"/>
            </a:solidFill>
            <a:prstDash val="solid"/>
          </a:ln>
        </p:spPr>
      </p:sp>
      <p:sp>
        <p:nvSpPr>
          <p:cNvPr id="18" name="Text 16"/>
          <p:cNvSpPr/>
          <p:nvPr/>
        </p:nvSpPr>
        <p:spPr>
          <a:xfrm>
            <a:off x="6126480" y="20574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9" name="Shape 17"/>
          <p:cNvSpPr/>
          <p:nvPr/>
        </p:nvSpPr>
        <p:spPr>
          <a:xfrm>
            <a:off x="6126480" y="2377440"/>
            <a:ext cx="2697480" cy="1005840"/>
          </a:xfrm>
          <a:prstGeom prst="rect">
            <a:avLst/>
          </a:prstGeom>
          <a:solidFill>
            <a:srgbClr val="F9F9F9"/>
          </a:solidFill>
          <a:ln w="6350">
            <a:solidFill>
              <a:srgbClr val="E5E5E5"/>
            </a:solidFill>
            <a:prstDash val="solid"/>
          </a:ln>
        </p:spPr>
      </p:sp>
      <p:sp>
        <p:nvSpPr>
          <p:cNvPr id="20" name="Text 18"/>
          <p:cNvSpPr/>
          <p:nvPr/>
        </p:nvSpPr>
        <p:spPr>
          <a:xfrm>
            <a:off x="6263640" y="2468880"/>
            <a:ext cx="2423160" cy="82296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Every humanoid runs foundation models for perception, planning, and manipulation in real time. At scale, rivals LLM compute.</a:t>
            </a:r>
            <a:endParaRPr lang="en-US" sz="950" dirty="0"/>
          </a:p>
        </p:txBody>
      </p:sp>
      <p:sp>
        <p:nvSpPr>
          <p:cNvPr id="21" name="Shape 19"/>
          <p:cNvSpPr/>
          <p:nvPr/>
        </p:nvSpPr>
        <p:spPr>
          <a:xfrm>
            <a:off x="457200" y="3520440"/>
            <a:ext cx="8229600" cy="411480"/>
          </a:xfrm>
          <a:prstGeom prst="rect">
            <a:avLst/>
          </a:prstGeom>
          <a:solidFill>
            <a:srgbClr val="333333"/>
          </a:solidFill>
          <a:ln w="12700">
            <a:solidFill>
              <a:srgbClr val="333333"/>
            </a:solidFill>
            <a:prstDash val="solid"/>
          </a:ln>
        </p:spPr>
      </p:sp>
      <p:sp>
        <p:nvSpPr>
          <p:cNvPr id="22" name="Text 20"/>
          <p:cNvSpPr/>
          <p:nvPr/>
        </p:nvSpPr>
        <p:spPr>
          <a:xfrm>
            <a:off x="640080" y="3520440"/>
            <a:ext cx="7863840" cy="411480"/>
          </a:xfrm>
          <a:prstGeom prst="rect">
            <a:avLst/>
          </a:prstGeom>
          <a:noFill/>
          <a:ln/>
        </p:spPr>
        <p:txBody>
          <a:bodyPr wrap="square" lIns="0" tIns="0" rIns="0" bIns="0" rtlCol="0" anchor="ctr"/>
          <a:lstStyle/>
          <a:p>
            <a:pPr indent="0" marL="0">
              <a:buNone/>
            </a:pPr>
            <a:r>
              <a:rPr lang="en-US" sz="1000" b="1" spc="300" kern="0" dirty="0">
                <a:solidFill>
                  <a:srgbClr val="E8478D"/>
                </a:solidFill>
                <a:latin typeface="Arial" pitchFamily="34" charset="0"/>
                <a:ea typeface="Arial" pitchFamily="34" charset="-122"/>
                <a:cs typeface="Arial" pitchFamily="34" charset="-120"/>
              </a:rPr>
              <a:t>PLAYERS   </a:t>
            </a:r>
            <a:pPr indent="0" marL="0">
              <a:buNone/>
            </a:pPr>
            <a:r>
              <a:rPr lang="en-US" sz="1200" b="1" dirty="0">
                <a:solidFill>
                  <a:srgbClr val="FFFFFF"/>
                </a:solidFill>
                <a:latin typeface="Arial" pitchFamily="34" charset="0"/>
                <a:ea typeface="Arial" pitchFamily="34" charset="-122"/>
                <a:cs typeface="Arial" pitchFamily="34" charset="-120"/>
              </a:rPr>
              <a:t>Tesla Optimus · Figure · Boston Dynamics · Unitree · Agility</a:t>
            </a:r>
            <a:endParaRPr lang="en-US" sz="1000" dirty="0"/>
          </a:p>
        </p:txBody>
      </p:sp>
      <p:sp>
        <p:nvSpPr>
          <p:cNvPr id="23" name="Text 21"/>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Goldman Sachs; Figure AI, Tesla, Hyundai, NVIDIA; company announcements.</a:t>
            </a:r>
            <a:endParaRPr lang="en-US" sz="700" dirty="0"/>
          </a:p>
        </p:txBody>
      </p:sp>
      <p:sp>
        <p:nvSpPr>
          <p:cNvPr id="24" name="Shape 22"/>
          <p:cNvSpPr/>
          <p:nvPr/>
        </p:nvSpPr>
        <p:spPr>
          <a:xfrm>
            <a:off x="0" y="4526280"/>
            <a:ext cx="9144000" cy="617220"/>
          </a:xfrm>
          <a:prstGeom prst="rect">
            <a:avLst/>
          </a:prstGeom>
          <a:solidFill>
            <a:srgbClr val="333333"/>
          </a:solidFill>
          <a:ln w="12700">
            <a:solidFill>
              <a:srgbClr val="333333"/>
            </a:solidFill>
            <a:prstDash val="solid"/>
          </a:ln>
        </p:spPr>
      </p:sp>
      <p:sp>
        <p:nvSpPr>
          <p:cNvPr id="25" name="Text 2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E8478D"/>
          </a:solidFill>
          <a:ln w="12700">
            <a:solidFill>
              <a:srgbClr val="E8478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Autonomy is a flywheel.</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17320"/>
            <a:ext cx="8229600" cy="457200"/>
          </a:xfrm>
          <a:prstGeom prst="rect">
            <a:avLst/>
          </a:prstGeom>
          <a:solidFill>
            <a:srgbClr val="EEEEEE"/>
          </a:solidFill>
          <a:ln w="9525">
            <a:solidFill>
              <a:srgbClr val="BBBBBB"/>
            </a:solidFill>
            <a:prstDash val="dash"/>
          </a:ln>
        </p:spPr>
      </p:sp>
      <p:sp>
        <p:nvSpPr>
          <p:cNvPr id="8" name="Text 6"/>
          <p:cNvSpPr/>
          <p:nvPr/>
        </p:nvSpPr>
        <p:spPr>
          <a:xfrm>
            <a:off x="548640" y="1417320"/>
            <a:ext cx="8046720" cy="4572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AV sensor-visualization or fleet photo (Waymo / Tesla FSD)</a:t>
            </a:r>
            <a:endParaRPr lang="en-US" sz="1000" dirty="0"/>
          </a:p>
        </p:txBody>
      </p:sp>
      <p:sp>
        <p:nvSpPr>
          <p:cNvPr id="9" name="Shape 7"/>
          <p:cNvSpPr/>
          <p:nvPr/>
        </p:nvSpPr>
        <p:spPr>
          <a:xfrm>
            <a:off x="457200" y="2057400"/>
            <a:ext cx="2697480" cy="320040"/>
          </a:xfrm>
          <a:prstGeom prst="rect">
            <a:avLst/>
          </a:prstGeom>
          <a:solidFill>
            <a:srgbClr val="E8478D"/>
          </a:solidFill>
          <a:ln w="12700">
            <a:solidFill>
              <a:srgbClr val="E8478D"/>
            </a:solidFill>
            <a:prstDash val="solid"/>
          </a:ln>
        </p:spPr>
      </p:sp>
      <p:sp>
        <p:nvSpPr>
          <p:cNvPr id="10" name="Text 8"/>
          <p:cNvSpPr/>
          <p:nvPr/>
        </p:nvSpPr>
        <p:spPr>
          <a:xfrm>
            <a:off x="457200" y="20574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11" name="Shape 9"/>
          <p:cNvSpPr/>
          <p:nvPr/>
        </p:nvSpPr>
        <p:spPr>
          <a:xfrm>
            <a:off x="457200" y="2377440"/>
            <a:ext cx="2697480" cy="1005840"/>
          </a:xfrm>
          <a:prstGeom prst="rect">
            <a:avLst/>
          </a:prstGeom>
          <a:solidFill>
            <a:srgbClr val="F9F9F9"/>
          </a:solidFill>
          <a:ln w="6350">
            <a:solidFill>
              <a:srgbClr val="E5E5E5"/>
            </a:solidFill>
            <a:prstDash val="solid"/>
          </a:ln>
        </p:spPr>
      </p:sp>
      <p:sp>
        <p:nvSpPr>
          <p:cNvPr id="12" name="Text 10"/>
          <p:cNvSpPr/>
          <p:nvPr/>
        </p:nvSpPr>
        <p:spPr>
          <a:xfrm>
            <a:off x="594360" y="2468880"/>
            <a:ext cx="2423160" cy="82296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Human drivers cause ~1.35M deaths per year globally. Autonomous systems don't tire or lose focus — and regulators are beginning to recognize the math.</a:t>
            </a:r>
            <a:endParaRPr lang="en-US" sz="950" dirty="0"/>
          </a:p>
        </p:txBody>
      </p:sp>
      <p:sp>
        <p:nvSpPr>
          <p:cNvPr id="13" name="Shape 11"/>
          <p:cNvSpPr/>
          <p:nvPr/>
        </p:nvSpPr>
        <p:spPr>
          <a:xfrm>
            <a:off x="3291840" y="2057400"/>
            <a:ext cx="2697480" cy="320040"/>
          </a:xfrm>
          <a:prstGeom prst="rect">
            <a:avLst/>
          </a:prstGeom>
          <a:solidFill>
            <a:srgbClr val="E8478D"/>
          </a:solidFill>
          <a:ln w="12700">
            <a:solidFill>
              <a:srgbClr val="E8478D"/>
            </a:solidFill>
            <a:prstDash val="solid"/>
          </a:ln>
        </p:spPr>
      </p:sp>
      <p:sp>
        <p:nvSpPr>
          <p:cNvPr id="14" name="Text 12"/>
          <p:cNvSpPr/>
          <p:nvPr/>
        </p:nvSpPr>
        <p:spPr>
          <a:xfrm>
            <a:off x="3291840" y="20574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5" name="Shape 13"/>
          <p:cNvSpPr/>
          <p:nvPr/>
        </p:nvSpPr>
        <p:spPr>
          <a:xfrm>
            <a:off x="3291840" y="2377440"/>
            <a:ext cx="2697480" cy="1005840"/>
          </a:xfrm>
          <a:prstGeom prst="rect">
            <a:avLst/>
          </a:prstGeom>
          <a:solidFill>
            <a:srgbClr val="F9F9F9"/>
          </a:solidFill>
          <a:ln w="6350">
            <a:solidFill>
              <a:srgbClr val="E5E5E5"/>
            </a:solidFill>
            <a:prstDash val="solid"/>
          </a:ln>
        </p:spPr>
      </p:sp>
      <p:sp>
        <p:nvSpPr>
          <p:cNvPr id="16" name="Text 14"/>
          <p:cNvSpPr/>
          <p:nvPr/>
        </p:nvSpPr>
        <p:spPr>
          <a:xfrm>
            <a:off x="3429000" y="2468880"/>
            <a:ext cx="2423160" cy="82296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Every mile generates training data. Better models unlock more cities. More cities generate more miles. The flywheel self-reinforces.</a:t>
            </a:r>
            <a:endParaRPr lang="en-US" sz="950" dirty="0"/>
          </a:p>
        </p:txBody>
      </p:sp>
      <p:sp>
        <p:nvSpPr>
          <p:cNvPr id="17" name="Shape 15"/>
          <p:cNvSpPr/>
          <p:nvPr/>
        </p:nvSpPr>
        <p:spPr>
          <a:xfrm>
            <a:off x="6126480" y="2057400"/>
            <a:ext cx="2697480" cy="320040"/>
          </a:xfrm>
          <a:prstGeom prst="rect">
            <a:avLst/>
          </a:prstGeom>
          <a:solidFill>
            <a:srgbClr val="E8478D"/>
          </a:solidFill>
          <a:ln w="12700">
            <a:solidFill>
              <a:srgbClr val="E8478D"/>
            </a:solidFill>
            <a:prstDash val="solid"/>
          </a:ln>
        </p:spPr>
      </p:sp>
      <p:sp>
        <p:nvSpPr>
          <p:cNvPr id="18" name="Text 16"/>
          <p:cNvSpPr/>
          <p:nvPr/>
        </p:nvSpPr>
        <p:spPr>
          <a:xfrm>
            <a:off x="6126480" y="20574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9" name="Shape 17"/>
          <p:cNvSpPr/>
          <p:nvPr/>
        </p:nvSpPr>
        <p:spPr>
          <a:xfrm>
            <a:off x="6126480" y="2377440"/>
            <a:ext cx="2697480" cy="1005840"/>
          </a:xfrm>
          <a:prstGeom prst="rect">
            <a:avLst/>
          </a:prstGeom>
          <a:solidFill>
            <a:srgbClr val="F9F9F9"/>
          </a:solidFill>
          <a:ln w="6350">
            <a:solidFill>
              <a:srgbClr val="E5E5E5"/>
            </a:solidFill>
            <a:prstDash val="solid"/>
          </a:ln>
        </p:spPr>
      </p:sp>
      <p:sp>
        <p:nvSpPr>
          <p:cNvPr id="20" name="Text 18"/>
          <p:cNvSpPr/>
          <p:nvPr/>
        </p:nvSpPr>
        <p:spPr>
          <a:xfrm>
            <a:off x="6263640" y="2468880"/>
            <a:ext cx="2423160" cy="82296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Each AV runs thousands of AI ops per second across cameras, lidar, and radar — 24/7, at the edge, consuming frontier-scale compute.</a:t>
            </a:r>
            <a:endParaRPr lang="en-US" sz="950" dirty="0"/>
          </a:p>
        </p:txBody>
      </p:sp>
      <p:sp>
        <p:nvSpPr>
          <p:cNvPr id="21" name="Shape 19"/>
          <p:cNvSpPr/>
          <p:nvPr/>
        </p:nvSpPr>
        <p:spPr>
          <a:xfrm>
            <a:off x="457200" y="3520440"/>
            <a:ext cx="8229600" cy="411480"/>
          </a:xfrm>
          <a:prstGeom prst="rect">
            <a:avLst/>
          </a:prstGeom>
          <a:solidFill>
            <a:srgbClr val="333333"/>
          </a:solidFill>
          <a:ln w="12700">
            <a:solidFill>
              <a:srgbClr val="333333"/>
            </a:solidFill>
            <a:prstDash val="solid"/>
          </a:ln>
        </p:spPr>
      </p:sp>
      <p:sp>
        <p:nvSpPr>
          <p:cNvPr id="22" name="Text 20"/>
          <p:cNvSpPr/>
          <p:nvPr/>
        </p:nvSpPr>
        <p:spPr>
          <a:xfrm>
            <a:off x="640080" y="3520440"/>
            <a:ext cx="7863840" cy="411480"/>
          </a:xfrm>
          <a:prstGeom prst="rect">
            <a:avLst/>
          </a:prstGeom>
          <a:noFill/>
          <a:ln/>
        </p:spPr>
        <p:txBody>
          <a:bodyPr wrap="square" lIns="0" tIns="0" rIns="0" bIns="0" rtlCol="0" anchor="ctr"/>
          <a:lstStyle/>
          <a:p>
            <a:pPr indent="0" marL="0">
              <a:buNone/>
            </a:pPr>
            <a:r>
              <a:rPr lang="en-US" sz="1000" b="1" spc="300" kern="0" dirty="0">
                <a:solidFill>
                  <a:srgbClr val="E8478D"/>
                </a:solidFill>
                <a:latin typeface="Arial" pitchFamily="34" charset="0"/>
                <a:ea typeface="Arial" pitchFamily="34" charset="-122"/>
                <a:cs typeface="Arial" pitchFamily="34" charset="-120"/>
              </a:rPr>
              <a:t>PLAYERS   </a:t>
            </a:r>
            <a:pPr indent="0" marL="0">
              <a:buNone/>
            </a:pPr>
            <a:r>
              <a:rPr lang="en-US" sz="1200" b="1" dirty="0">
                <a:solidFill>
                  <a:srgbClr val="FFFFFF"/>
                </a:solidFill>
                <a:latin typeface="Arial" pitchFamily="34" charset="0"/>
                <a:ea typeface="Arial" pitchFamily="34" charset="-122"/>
                <a:cs typeface="Arial" pitchFamily="34" charset="-120"/>
              </a:rPr>
              <a:t>Waymo · Tesla FSD · Baidu Apollo · Aurora</a:t>
            </a:r>
            <a:endParaRPr lang="en-US" sz="1000" dirty="0"/>
          </a:p>
        </p:txBody>
      </p:sp>
      <p:sp>
        <p:nvSpPr>
          <p:cNvPr id="23" name="Text 21"/>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Waymo, Tesla, Baidu, Aurora; WHO Global Road Safety; NVIDIA FY2026.</a:t>
            </a:r>
            <a:endParaRPr lang="en-US" sz="700" dirty="0"/>
          </a:p>
        </p:txBody>
      </p:sp>
      <p:sp>
        <p:nvSpPr>
          <p:cNvPr id="24" name="Shape 22"/>
          <p:cNvSpPr/>
          <p:nvPr/>
        </p:nvSpPr>
        <p:spPr>
          <a:xfrm>
            <a:off x="0" y="4526280"/>
            <a:ext cx="9144000" cy="617220"/>
          </a:xfrm>
          <a:prstGeom prst="rect">
            <a:avLst/>
          </a:prstGeom>
          <a:solidFill>
            <a:srgbClr val="333333"/>
          </a:solidFill>
          <a:ln w="12700">
            <a:solidFill>
              <a:srgbClr val="333333"/>
            </a:solidFill>
            <a:prstDash val="solid"/>
          </a:ln>
        </p:spPr>
      </p:sp>
      <p:sp>
        <p:nvSpPr>
          <p:cNvPr id="25" name="Text 2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Four takeaways.</a:t>
            </a:r>
            <a:endParaRPr lang="en-US" sz="2700" dirty="0"/>
          </a:p>
        </p:txBody>
      </p:sp>
      <p:sp>
        <p:nvSpPr>
          <p:cNvPr id="3" name="Text 1"/>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thesis, distilled. Each with the number that makes it investable.</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548640" cy="548640"/>
          </a:xfrm>
          <a:prstGeom prst="rect">
            <a:avLst/>
          </a:prstGeom>
          <a:solidFill>
            <a:srgbClr val="008B8B"/>
          </a:solidFill>
          <a:ln w="12700">
            <a:solidFill>
              <a:srgbClr val="008B8B"/>
            </a:solidFill>
            <a:prstDash val="solid"/>
          </a:ln>
        </p:spPr>
      </p:sp>
      <p:sp>
        <p:nvSpPr>
          <p:cNvPr id="6" name="Text 4"/>
          <p:cNvSpPr/>
          <p:nvPr/>
        </p:nvSpPr>
        <p:spPr>
          <a:xfrm>
            <a:off x="457200"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01</a:t>
            </a:r>
            <a:endParaRPr lang="en-US" sz="1800" dirty="0"/>
          </a:p>
        </p:txBody>
      </p:sp>
      <p:sp>
        <p:nvSpPr>
          <p:cNvPr id="7" name="Text 5"/>
          <p:cNvSpPr/>
          <p:nvPr/>
        </p:nvSpPr>
        <p:spPr>
          <a:xfrm>
            <a:off x="1097280" y="1417320"/>
            <a:ext cx="7589520" cy="228600"/>
          </a:xfrm>
          <a:prstGeom prst="rect">
            <a:avLst/>
          </a:prstGeom>
          <a:noFill/>
          <a:ln/>
        </p:spPr>
        <p:txBody>
          <a:bodyPr wrap="square" lIns="0" tIns="0" rIns="0" bIns="0" rtlCol="0" anchor="t"/>
          <a:lstStyle/>
          <a:p>
            <a:pPr indent="0" marL="0">
              <a:buNone/>
            </a:pPr>
            <a:r>
              <a:rPr lang="en-US" sz="1200" b="1" dirty="0">
                <a:solidFill>
                  <a:srgbClr val="000000"/>
                </a:solidFill>
                <a:latin typeface="Arial" pitchFamily="34" charset="0"/>
                <a:ea typeface="Arial" pitchFamily="34" charset="-122"/>
                <a:cs typeface="Arial" pitchFamily="34" charset="-120"/>
              </a:rPr>
              <a:t>The largest capex cycle in history — and it's going on credit.</a:t>
            </a:r>
            <a:endParaRPr lang="en-US" sz="1200" dirty="0"/>
          </a:p>
        </p:txBody>
      </p:sp>
      <p:sp>
        <p:nvSpPr>
          <p:cNvPr id="8" name="Text 6"/>
          <p:cNvSpPr/>
          <p:nvPr/>
        </p:nvSpPr>
        <p:spPr>
          <a:xfrm>
            <a:off x="1097280" y="1645920"/>
            <a:ext cx="7589520" cy="347472"/>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~$750B hyperscaler capex in 2026, up ~$300B YoY. Amazon FCF turns negative; Meta FCF down ~90%. ~75% of that capex is AI-specific. The story has shifted from cash flow to balance sheet.</a:t>
            </a:r>
            <a:endParaRPr lang="en-US" sz="950" dirty="0"/>
          </a:p>
        </p:txBody>
      </p:sp>
      <p:sp>
        <p:nvSpPr>
          <p:cNvPr id="9" name="Shape 7"/>
          <p:cNvSpPr/>
          <p:nvPr/>
        </p:nvSpPr>
        <p:spPr>
          <a:xfrm>
            <a:off x="457200" y="2057400"/>
            <a:ext cx="548640" cy="548640"/>
          </a:xfrm>
          <a:prstGeom prst="rect">
            <a:avLst/>
          </a:prstGeom>
          <a:solidFill>
            <a:srgbClr val="FFB800"/>
          </a:solidFill>
          <a:ln w="12700">
            <a:solidFill>
              <a:srgbClr val="FFB800"/>
            </a:solidFill>
            <a:prstDash val="solid"/>
          </a:ln>
        </p:spPr>
      </p:sp>
      <p:sp>
        <p:nvSpPr>
          <p:cNvPr id="10" name="Text 8"/>
          <p:cNvSpPr/>
          <p:nvPr/>
        </p:nvSpPr>
        <p:spPr>
          <a:xfrm>
            <a:off x="457200" y="20574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02</a:t>
            </a:r>
            <a:endParaRPr lang="en-US" sz="1800" dirty="0"/>
          </a:p>
        </p:txBody>
      </p:sp>
      <p:sp>
        <p:nvSpPr>
          <p:cNvPr id="11" name="Text 9"/>
          <p:cNvSpPr/>
          <p:nvPr/>
        </p:nvSpPr>
        <p:spPr>
          <a:xfrm>
            <a:off x="1097280" y="2057400"/>
            <a:ext cx="7589520" cy="228600"/>
          </a:xfrm>
          <a:prstGeom prst="rect">
            <a:avLst/>
          </a:prstGeom>
          <a:noFill/>
          <a:ln/>
        </p:spPr>
        <p:txBody>
          <a:bodyPr wrap="square" lIns="0" tIns="0" rIns="0" bIns="0" rtlCol="0" anchor="t"/>
          <a:lstStyle/>
          <a:p>
            <a:pPr indent="0" marL="0">
              <a:buNone/>
            </a:pPr>
            <a:r>
              <a:rPr lang="en-US" sz="1200" b="1" dirty="0">
                <a:solidFill>
                  <a:srgbClr val="000000"/>
                </a:solidFill>
                <a:latin typeface="Arial" pitchFamily="34" charset="0"/>
                <a:ea typeface="Arial" pitchFamily="34" charset="-122"/>
                <a:cs typeface="Arial" pitchFamily="34" charset="-120"/>
              </a:rPr>
              <a:t>The market is picking winners — the basket trade is over.</a:t>
            </a:r>
            <a:endParaRPr lang="en-US" sz="1200" dirty="0"/>
          </a:p>
        </p:txBody>
      </p:sp>
      <p:sp>
        <p:nvSpPr>
          <p:cNvPr id="12" name="Text 10"/>
          <p:cNvSpPr/>
          <p:nvPr/>
        </p:nvSpPr>
        <p:spPr>
          <a:xfrm>
            <a:off x="1097280" y="2286000"/>
            <a:ext cx="7589520" cy="347472"/>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stock correlation collapsed from ~80% to ~20%. Semis (SOXX) +38% YTD, software (IGV) –20% YTD — a 58-point spread. Memory oligopolies with pricing power outperform cloud providers burning cash.</a:t>
            </a:r>
            <a:endParaRPr lang="en-US" sz="950" dirty="0"/>
          </a:p>
        </p:txBody>
      </p:sp>
      <p:sp>
        <p:nvSpPr>
          <p:cNvPr id="13" name="Shape 11"/>
          <p:cNvSpPr/>
          <p:nvPr/>
        </p:nvSpPr>
        <p:spPr>
          <a:xfrm>
            <a:off x="457200" y="2697480"/>
            <a:ext cx="548640" cy="548640"/>
          </a:xfrm>
          <a:prstGeom prst="rect">
            <a:avLst/>
          </a:prstGeom>
          <a:solidFill>
            <a:srgbClr val="CC0000"/>
          </a:solidFill>
          <a:ln w="12700">
            <a:solidFill>
              <a:srgbClr val="CC0000"/>
            </a:solidFill>
            <a:prstDash val="solid"/>
          </a:ln>
        </p:spPr>
      </p:sp>
      <p:sp>
        <p:nvSpPr>
          <p:cNvPr id="14" name="Text 12"/>
          <p:cNvSpPr/>
          <p:nvPr/>
        </p:nvSpPr>
        <p:spPr>
          <a:xfrm>
            <a:off x="457200" y="26974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03</a:t>
            </a:r>
            <a:endParaRPr lang="en-US" sz="1800" dirty="0"/>
          </a:p>
        </p:txBody>
      </p:sp>
      <p:sp>
        <p:nvSpPr>
          <p:cNvPr id="15" name="Text 13"/>
          <p:cNvSpPr/>
          <p:nvPr/>
        </p:nvSpPr>
        <p:spPr>
          <a:xfrm>
            <a:off x="1097280" y="2697480"/>
            <a:ext cx="7589520" cy="228600"/>
          </a:xfrm>
          <a:prstGeom prst="rect">
            <a:avLst/>
          </a:prstGeom>
          <a:noFill/>
          <a:ln/>
        </p:spPr>
        <p:txBody>
          <a:bodyPr wrap="square" lIns="0" tIns="0" rIns="0" bIns="0" rtlCol="0" anchor="t"/>
          <a:lstStyle/>
          <a:p>
            <a:pPr indent="0" marL="0">
              <a:buNone/>
            </a:pPr>
            <a:r>
              <a:rPr lang="en-US" sz="1200" b="1" dirty="0">
                <a:solidFill>
                  <a:srgbClr val="000000"/>
                </a:solidFill>
                <a:latin typeface="Arial" pitchFamily="34" charset="0"/>
                <a:ea typeface="Arial" pitchFamily="34" charset="-122"/>
                <a:cs typeface="Arial" pitchFamily="34" charset="-120"/>
              </a:rPr>
              <a:t>The bottleneck keeps moving — and that is the opportunity.</a:t>
            </a:r>
            <a:endParaRPr lang="en-US" sz="1200" dirty="0"/>
          </a:p>
        </p:txBody>
      </p:sp>
      <p:sp>
        <p:nvSpPr>
          <p:cNvPr id="16" name="Text 14"/>
          <p:cNvSpPr/>
          <p:nvPr/>
        </p:nvSpPr>
        <p:spPr>
          <a:xfrm>
            <a:off x="1097280" y="2926080"/>
            <a:ext cx="7589520" cy="347472"/>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CoWoS packaging (2023–24) → HBM / silicon wafer supply (now) → EUV lithography (&lt;100 machines/yr) by 2028. Each shift reprices a different part of the stack. HBM TAM on a path from $35B (2025) to $100B (2028).</a:t>
            </a:r>
            <a:endParaRPr lang="en-US" sz="950" dirty="0"/>
          </a:p>
        </p:txBody>
      </p:sp>
      <p:sp>
        <p:nvSpPr>
          <p:cNvPr id="17" name="Shape 15"/>
          <p:cNvSpPr/>
          <p:nvPr/>
        </p:nvSpPr>
        <p:spPr>
          <a:xfrm>
            <a:off x="457200" y="3337560"/>
            <a:ext cx="548640" cy="548640"/>
          </a:xfrm>
          <a:prstGeom prst="rect">
            <a:avLst/>
          </a:prstGeom>
          <a:solidFill>
            <a:srgbClr val="E8478D"/>
          </a:solidFill>
          <a:ln w="12700">
            <a:solidFill>
              <a:srgbClr val="E8478D"/>
            </a:solidFill>
            <a:prstDash val="solid"/>
          </a:ln>
        </p:spPr>
      </p:sp>
      <p:sp>
        <p:nvSpPr>
          <p:cNvPr id="18" name="Text 16"/>
          <p:cNvSpPr/>
          <p:nvPr/>
        </p:nvSpPr>
        <p:spPr>
          <a:xfrm>
            <a:off x="457200" y="3337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04</a:t>
            </a:r>
            <a:endParaRPr lang="en-US" sz="1800" dirty="0"/>
          </a:p>
        </p:txBody>
      </p:sp>
      <p:sp>
        <p:nvSpPr>
          <p:cNvPr id="19" name="Text 17"/>
          <p:cNvSpPr/>
          <p:nvPr/>
        </p:nvSpPr>
        <p:spPr>
          <a:xfrm>
            <a:off x="1097280" y="3337560"/>
            <a:ext cx="7589520" cy="228600"/>
          </a:xfrm>
          <a:prstGeom prst="rect">
            <a:avLst/>
          </a:prstGeom>
          <a:noFill/>
          <a:ln/>
        </p:spPr>
        <p:txBody>
          <a:bodyPr wrap="square" lIns="0" tIns="0" rIns="0" bIns="0" rtlCol="0" anchor="t"/>
          <a:lstStyle/>
          <a:p>
            <a:pPr indent="0" marL="0">
              <a:buNone/>
            </a:pPr>
            <a:r>
              <a:rPr lang="en-US" sz="1200" b="1" dirty="0">
                <a:solidFill>
                  <a:srgbClr val="000000"/>
                </a:solidFill>
                <a:latin typeface="Arial" pitchFamily="34" charset="0"/>
                <a:ea typeface="Arial" pitchFamily="34" charset="-122"/>
                <a:cs typeface="Arial" pitchFamily="34" charset="-120"/>
              </a:rPr>
              <a:t>The question isn't whether you have AI exposure — it's whether you chose it.</a:t>
            </a:r>
            <a:endParaRPr lang="en-US" sz="1200" dirty="0"/>
          </a:p>
        </p:txBody>
      </p:sp>
      <p:sp>
        <p:nvSpPr>
          <p:cNvPr id="20" name="Text 18"/>
          <p:cNvSpPr/>
          <p:nvPr/>
        </p:nvSpPr>
        <p:spPr>
          <a:xfrm>
            <a:off x="1097280" y="3566160"/>
            <a:ext cx="7589520" cy="347472"/>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AI-linked stocks are ~30%+ of US large-cap benchmarks. Passive exposure to a ~$750B capex cycle is not neutral — it's a thesis. Own the layer with pricing power for today's bottleneck.</a:t>
            </a:r>
            <a:endParaRPr lang="en-US" sz="950" dirty="0"/>
          </a:p>
        </p:txBody>
      </p:sp>
      <p:sp>
        <p:nvSpPr>
          <p:cNvPr id="21" name="Text 19"/>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CreditSights / MUFG hyperscaler capex 2026 (Apr 2026); Goldman Sachs correlation data; iShares SOXX / IGV YTD (Apr 17, 2026); SemiAnalysis; BofA HBM TAM; TrendForce.</a:t>
            </a:r>
            <a:endParaRPr lang="en-US" sz="700" dirty="0"/>
          </a:p>
        </p:txBody>
      </p:sp>
      <p:sp>
        <p:nvSpPr>
          <p:cNvPr id="22" name="Shape 20"/>
          <p:cNvSpPr/>
          <p:nvPr/>
        </p:nvSpPr>
        <p:spPr>
          <a:xfrm>
            <a:off x="0" y="4526280"/>
            <a:ext cx="9144000" cy="617220"/>
          </a:xfrm>
          <a:prstGeom prst="rect">
            <a:avLst/>
          </a:prstGeom>
          <a:solidFill>
            <a:srgbClr val="333333"/>
          </a:solidFill>
          <a:ln w="12700">
            <a:solidFill>
              <a:srgbClr val="333333"/>
            </a:solidFill>
            <a:prstDash val="solid"/>
          </a:ln>
        </p:spPr>
      </p:sp>
      <p:sp>
        <p:nvSpPr>
          <p:cNvPr id="23" name="Text 21"/>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365760"/>
            <a:ext cx="8229600" cy="502920"/>
          </a:xfrm>
          <a:prstGeom prst="rect">
            <a:avLst/>
          </a:prstGeom>
          <a:noFill/>
          <a:ln/>
        </p:spPr>
        <p:txBody>
          <a:bodyPr wrap="square" lIns="0" tIns="0" rIns="0" bIns="0" rtlCol="0" anchor="ctr"/>
          <a:lstStyle/>
          <a:p>
            <a:pPr indent="0" marL="0">
              <a:buNone/>
            </a:pPr>
            <a:r>
              <a:rPr lang="en-US" sz="2800" b="1" dirty="0">
                <a:solidFill>
                  <a:srgbClr val="000000"/>
                </a:solidFill>
                <a:latin typeface="Arial Black" pitchFamily="34" charset="0"/>
                <a:ea typeface="Arial Black" pitchFamily="34" charset="-122"/>
                <a:cs typeface="Arial Black" pitchFamily="34" charset="-120"/>
              </a:rPr>
              <a:t>Important information</a:t>
            </a:r>
            <a:endParaRPr lang="en-US" sz="2800" dirty="0"/>
          </a:p>
        </p:txBody>
      </p:sp>
      <p:sp>
        <p:nvSpPr>
          <p:cNvPr id="3" name="Text 1"/>
          <p:cNvSpPr/>
          <p:nvPr/>
        </p:nvSpPr>
        <p:spPr>
          <a:xfrm>
            <a:off x="457200" y="1005840"/>
            <a:ext cx="8229600" cy="3383280"/>
          </a:xfrm>
          <a:prstGeom prst="rect">
            <a:avLst/>
          </a:prstGeom>
          <a:noFill/>
          <a:ln/>
        </p:spPr>
        <p:txBody>
          <a:bodyPr wrap="square" rtlCol="0" anchor="t"/>
          <a:lstStyle/>
          <a:p>
            <a:pPr indent="0" marL="0">
              <a:spcAft>
                <a:spcPts val="200"/>
              </a:spcAft>
              <a:buNone/>
            </a:pPr>
            <a:r>
              <a:rPr lang="en-US" sz="1000" dirty="0">
                <a:solidFill>
                  <a:srgbClr val="666666"/>
                </a:solidFill>
                <a:latin typeface="Arial" pitchFamily="34" charset="0"/>
                <a:ea typeface="Arial" pitchFamily="34" charset="-122"/>
                <a:cs typeface="Arial" pitchFamily="34" charset="-120"/>
              </a:rPr>
              <a:t>This presentation is for informational and illustrative purposes only. It does not constitute investment advice, a recommendation, an offer, or a solicitation to buy or sell any security or financial instrument in any jurisdiction.</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Figures in this deck are drawn from publicly disclosed sources including company filings, sell-side research, Bloomberg, and the sources cited on each slide. They are provided for narrative purposes; verify against primary sources before acting on them.</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Forward-looking statements involve inherent uncertainty and actual results may differ materially. Past performance is not indicative of future results. Any reference to specific securities or sectors is for illustration only and should not be construed as a recommendation.</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Investors should consult their own financial, tax, and legal advisors before making any investment decision. No representation or warranty is made as to the accuracy or completeness of the information contained herein.</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2026 — Prepared for internal strategy discussion.</a:t>
            </a:r>
            <a:endParaRPr lang="en-US" sz="1000" dirty="0"/>
          </a:p>
        </p:txBody>
      </p:sp>
      <p:sp>
        <p:nvSpPr>
          <p:cNvPr id="4" name="Shape 2"/>
          <p:cNvSpPr/>
          <p:nvPr/>
        </p:nvSpPr>
        <p:spPr>
          <a:xfrm>
            <a:off x="0" y="4526280"/>
            <a:ext cx="9144000" cy="617220"/>
          </a:xfrm>
          <a:prstGeom prst="rect">
            <a:avLst/>
          </a:prstGeom>
          <a:solidFill>
            <a:srgbClr val="333333"/>
          </a:solidFill>
          <a:ln w="12700">
            <a:solidFill>
              <a:srgbClr val="333333"/>
            </a:solidFill>
            <a:prstDash val="solid"/>
          </a:ln>
        </p:spPr>
      </p:sp>
      <p:sp>
        <p:nvSpPr>
          <p:cNvPr id="5" name="Text 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 name="Text 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May 2026</dc:title>
  <dc:subject>PptxGenJS Presentation</dc:subject>
  <dc:creator>Strategy</dc:creator>
  <cp:lastModifiedBy>Strategy</cp:lastModifiedBy>
  <cp:revision>1</cp:revision>
  <dcterms:created xsi:type="dcterms:W3CDTF">2026-04-21T00:34:33Z</dcterms:created>
  <dcterms:modified xsi:type="dcterms:W3CDTF">2026-04-21T00:34:33Z</dcterms:modified>
</cp:coreProperties>
</file>