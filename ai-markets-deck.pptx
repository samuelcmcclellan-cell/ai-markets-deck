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charts/chart1.xml" ContentType="application/vnd.openxmlformats-officedocument.drawingml.chart+xml"/>
  <Override PartName="/ppt/charts/chart2.xml" ContentType="application/vnd.openxmlformats-officedocument.drawingml.chart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charts/chart3.xml" ContentType="application/vnd.openxmlformats-officedocument.drawingml.chart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</p:sldIdLst>
  <p:notesMasterIdLst>
    <p:notesMasterId r:id="rId26"/>
  </p:notesMasterIdLst>
  <p:sldSz cx="9144000" cy="6858000"/>
  <p:notesSz cx="68580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notesMaster" Target="notesMasters/notesMaster1.xml"/><Relationship Id="rId27" Type="http://schemas.openxmlformats.org/officeDocument/2006/relationships/presProps" Target="presProps.xml"/><Relationship Id="rId28" Type="http://schemas.openxmlformats.org/officeDocument/2006/relationships/viewProps" Target="viewProps.xml"/><Relationship Id="rId29" Type="http://schemas.openxmlformats.org/officeDocument/2006/relationships/theme" Target="theme/theme1.xml"/><Relationship Id="rId30" Type="http://schemas.openxmlformats.org/officeDocument/2006/relationships/tableStyles" Target="tableStyles.xml"/></Relationships>
</file>

<file path=ppt/charts/_rels/chart1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.xlsx"/></Relationships>
</file>

<file path=ppt/charts/_rels/chart2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2.xlsx"/></Relationships>
</file>

<file path=ppt/charts/_rels/chart3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3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lineChart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AI</c:v>
                </c:pt>
              </c:strCache>
            </c:strRef>
          </c:tx>
          <c:spPr>
            <a:solidFill>
              <a:srgbClr val="F6693D"/>
            </a:solidFill>
            <a:ln w="38100" cap="flat">
              <a:solidFill>
                <a:srgbClr val="F6693D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6"/>
            <c:spPr>
              <a:solidFill>
                <a:srgbClr val="F6693D"/>
              </a:solidFill>
              <a:ln w="9525" cap="flat">
                <a:solidFill>
                  <a:srgbClr val="F6693D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Sheet1!$A$2:$A$17</c:f>
              <c:multiLvlStrCache>
                <c:ptCount val="16"/>
                <c:lvl>
                  <c:pt idx="0">
                    <c:v>Y0</c:v>
                  </c:pt>
                  <c:pt idx="1">
                    <c:v>Y1</c:v>
                  </c:pt>
                  <c:pt idx="2">
                    <c:v>Y2</c:v>
                  </c:pt>
                  <c:pt idx="3">
                    <c:v>Y3</c:v>
                  </c:pt>
                  <c:pt idx="4">
                    <c:v>Y4</c:v>
                  </c:pt>
                  <c:pt idx="5">
                    <c:v>Y5</c:v>
                  </c:pt>
                  <c:pt idx="6">
                    <c:v>Y6</c:v>
                  </c:pt>
                  <c:pt idx="7">
                    <c:v>Y7</c:v>
                  </c:pt>
                  <c:pt idx="8">
                    <c:v>Y8</c:v>
                  </c:pt>
                  <c:pt idx="9">
                    <c:v>Y9</c:v>
                  </c:pt>
                  <c:pt idx="10">
                    <c:v>Y10</c:v>
                  </c:pt>
                  <c:pt idx="11">
                    <c:v>Y11</c:v>
                  </c:pt>
                  <c:pt idx="12">
                    <c:v>Y12</c:v>
                  </c:pt>
                  <c:pt idx="13">
                    <c:v>Y13</c:v>
                  </c:pt>
                  <c:pt idx="14">
                    <c:v>Y14</c:v>
                  </c:pt>
                  <c:pt idx="15">
                    <c:v>Y15</c:v>
                  </c:pt>
                </c:lvl>
              </c:multiLvlStrCache>
            </c:multiLvlStrRef>
          </c:cat>
          <c:val>
            <c:numRef>
              <c:f>Sheet1!$B$2:$B$17</c:f>
              <c:numCache>
                <c:formatCode>General</c:formatCode>
                <c:ptCount val="16"/>
                <c:pt idx="0">
                  <c:v>0</c:v>
                </c:pt>
                <c:pt idx="1">
                  <c:v>18</c:v>
                </c:pt>
                <c:pt idx="2">
                  <c:v>38</c:v>
                </c:pt>
                <c:pt idx="3">
                  <c:v>56</c:v>
                </c:pt>
                <c:pt idx="4">
                  <c:v/>
                </c:pt>
                <c:pt idx="5">
                  <c:v/>
                </c:pt>
                <c:pt idx="6">
                  <c:v/>
                </c:pt>
                <c:pt idx="7">
                  <c:v/>
                </c:pt>
                <c:pt idx="8">
                  <c:v/>
                </c:pt>
                <c:pt idx="9">
                  <c:v/>
                </c:pt>
                <c:pt idx="10">
                  <c:v/>
                </c:pt>
                <c:pt idx="11">
                  <c:v/>
                </c:pt>
                <c:pt idx="12">
                  <c:v/>
                </c:pt>
                <c:pt idx="13">
                  <c:v/>
                </c:pt>
                <c:pt idx="14">
                  <c:v/>
                </c:pt>
                <c:pt idx="15">
                  <c:v/>
                </c:pt>
              </c:numCache>
            </c:numRef>
          </c:val>
          <c:smooth val="0"/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Internet</c:v>
                </c:pt>
              </c:strCache>
            </c:strRef>
          </c:tx>
          <c:spPr>
            <a:solidFill>
              <a:srgbClr val="008B8B"/>
            </a:solidFill>
            <a:ln w="38100" cap="flat">
              <a:solidFill>
                <a:srgbClr val="008B8B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6"/>
            <c:spPr>
              <a:solidFill>
                <a:srgbClr val="008B8B"/>
              </a:solidFill>
              <a:ln w="9525" cap="flat">
                <a:solidFill>
                  <a:srgbClr val="008B8B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Sheet1!$A$2:$A$17</c:f>
              <c:multiLvlStrCache>
                <c:ptCount val="16"/>
                <c:lvl>
                  <c:pt idx="0">
                    <c:v>Y0</c:v>
                  </c:pt>
                  <c:pt idx="1">
                    <c:v>Y1</c:v>
                  </c:pt>
                  <c:pt idx="2">
                    <c:v>Y2</c:v>
                  </c:pt>
                  <c:pt idx="3">
                    <c:v>Y3</c:v>
                  </c:pt>
                  <c:pt idx="4">
                    <c:v>Y4</c:v>
                  </c:pt>
                  <c:pt idx="5">
                    <c:v>Y5</c:v>
                  </c:pt>
                  <c:pt idx="6">
                    <c:v>Y6</c:v>
                  </c:pt>
                  <c:pt idx="7">
                    <c:v>Y7</c:v>
                  </c:pt>
                  <c:pt idx="8">
                    <c:v>Y8</c:v>
                  </c:pt>
                  <c:pt idx="9">
                    <c:v>Y9</c:v>
                  </c:pt>
                  <c:pt idx="10">
                    <c:v>Y10</c:v>
                  </c:pt>
                  <c:pt idx="11">
                    <c:v>Y11</c:v>
                  </c:pt>
                  <c:pt idx="12">
                    <c:v>Y12</c:v>
                  </c:pt>
                  <c:pt idx="13">
                    <c:v>Y13</c:v>
                  </c:pt>
                  <c:pt idx="14">
                    <c:v>Y14</c:v>
                  </c:pt>
                  <c:pt idx="15">
                    <c:v>Y15</c:v>
                  </c:pt>
                </c:lvl>
              </c:multiLvlStrCache>
            </c:multiLvlStrRef>
          </c:cat>
          <c:val>
            <c:numRef>
              <c:f>Sheet1!$C$2:$C$17</c:f>
              <c:numCache>
                <c:formatCode>General</c:formatCode>
                <c:ptCount val="16"/>
                <c:pt idx="0">
                  <c:v>0</c:v>
                </c:pt>
                <c:pt idx="1">
                  <c:v>2</c:v>
                </c:pt>
                <c:pt idx="2">
                  <c:v>5</c:v>
                </c:pt>
                <c:pt idx="3">
                  <c:v>10</c:v>
                </c:pt>
                <c:pt idx="4">
                  <c:v>16</c:v>
                </c:pt>
                <c:pt idx="5">
                  <c:v>24</c:v>
                </c:pt>
                <c:pt idx="6">
                  <c:v>32</c:v>
                </c:pt>
                <c:pt idx="7">
                  <c:v>40</c:v>
                </c:pt>
                <c:pt idx="8">
                  <c:v>47</c:v>
                </c:pt>
                <c:pt idx="9">
                  <c:v>53</c:v>
                </c:pt>
                <c:pt idx="10">
                  <c:v>58</c:v>
                </c:pt>
                <c:pt idx="11">
                  <c:v>62</c:v>
                </c:pt>
                <c:pt idx="12">
                  <c:v>64</c:v>
                </c:pt>
                <c:pt idx="13">
                  <c:v>66</c:v>
                </c:pt>
                <c:pt idx="14">
                  <c:v>67</c:v>
                </c:pt>
                <c:pt idx="15">
                  <c:v>68</c:v>
                </c:pt>
              </c:numCache>
            </c:numRef>
          </c:val>
          <c:smooth val="0"/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PC</c:v>
                </c:pt>
              </c:strCache>
            </c:strRef>
          </c:tx>
          <c:spPr>
            <a:solidFill>
              <a:srgbClr val="666666"/>
            </a:solidFill>
            <a:ln w="38100" cap="flat">
              <a:solidFill>
                <a:srgbClr val="666666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6"/>
            <c:spPr>
              <a:solidFill>
                <a:srgbClr val="666666"/>
              </a:solidFill>
              <a:ln w="9525" cap="flat">
                <a:solidFill>
                  <a:srgbClr val="666666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Sheet1!$A$2:$A$17</c:f>
              <c:multiLvlStrCache>
                <c:ptCount val="16"/>
                <c:lvl>
                  <c:pt idx="0">
                    <c:v>Y0</c:v>
                  </c:pt>
                  <c:pt idx="1">
                    <c:v>Y1</c:v>
                  </c:pt>
                  <c:pt idx="2">
                    <c:v>Y2</c:v>
                  </c:pt>
                  <c:pt idx="3">
                    <c:v>Y3</c:v>
                  </c:pt>
                  <c:pt idx="4">
                    <c:v>Y4</c:v>
                  </c:pt>
                  <c:pt idx="5">
                    <c:v>Y5</c:v>
                  </c:pt>
                  <c:pt idx="6">
                    <c:v>Y6</c:v>
                  </c:pt>
                  <c:pt idx="7">
                    <c:v>Y7</c:v>
                  </c:pt>
                  <c:pt idx="8">
                    <c:v>Y8</c:v>
                  </c:pt>
                  <c:pt idx="9">
                    <c:v>Y9</c:v>
                  </c:pt>
                  <c:pt idx="10">
                    <c:v>Y10</c:v>
                  </c:pt>
                  <c:pt idx="11">
                    <c:v>Y11</c:v>
                  </c:pt>
                  <c:pt idx="12">
                    <c:v>Y12</c:v>
                  </c:pt>
                  <c:pt idx="13">
                    <c:v>Y13</c:v>
                  </c:pt>
                  <c:pt idx="14">
                    <c:v>Y14</c:v>
                  </c:pt>
                  <c:pt idx="15">
                    <c:v>Y15</c:v>
                  </c:pt>
                </c:lvl>
              </c:multiLvlStrCache>
            </c:multiLvlStrRef>
          </c:cat>
          <c:val>
            <c:numRef>
              <c:f>Sheet1!$D$2:$D$17</c:f>
              <c:numCache>
                <c:formatCode>General</c:formatCode>
                <c:ptCount val="16"/>
                <c:pt idx="0">
                  <c:v>0</c:v>
                </c:pt>
                <c:pt idx="1">
                  <c:v>1</c:v>
                </c:pt>
                <c:pt idx="2">
                  <c:v>3</c:v>
                </c:pt>
                <c:pt idx="3">
                  <c:v>6</c:v>
                </c:pt>
                <c:pt idx="4">
                  <c:v>9</c:v>
                </c:pt>
                <c:pt idx="5">
                  <c:v>13</c:v>
                </c:pt>
                <c:pt idx="6">
                  <c:v>18</c:v>
                </c:pt>
                <c:pt idx="7">
                  <c:v>23</c:v>
                </c:pt>
                <c:pt idx="8">
                  <c:v>28</c:v>
                </c:pt>
                <c:pt idx="9">
                  <c:v>32</c:v>
                </c:pt>
                <c:pt idx="10">
                  <c:v>36</c:v>
                </c:pt>
                <c:pt idx="11">
                  <c:v>40</c:v>
                </c:pt>
                <c:pt idx="12">
                  <c:v>43</c:v>
                </c:pt>
                <c:pt idx="13">
                  <c:v>46</c:v>
                </c:pt>
                <c:pt idx="14">
                  <c:v>48</c:v>
                </c:pt>
                <c:pt idx="15">
                  <c:v>49</c:v>
                </c:pt>
              </c:numCache>
            </c:numRef>
          </c:val>
          <c:smooth val="0"/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marker val="1"/>
        <c:axId val="2094734554"/>
        <c:axId val="2094734552"/>
        <c:axId val="2094734556"/>
      </c:line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900" b="0" i="0" u="none" strike="noStrike">
                <a:solidFill>
                  <a:srgbClr val="999999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100"/>
          <c:min val="0"/>
        </c:scaling>
        <c:delete val="0"/>
        <c:axPos val="l"/>
        <c:majorGridlines>
          <c:spPr>
            <a:ln w="6350" cap="flat">
              <a:solidFill>
                <a:srgbClr val="E5E5E5"/>
              </a:solidFill>
              <a:prstDash val="solid"/>
              <a:round/>
            </a:ln>
          </c:spPr>
        </c:majorGridlines>
        <c:numFmt formatCode="0&quot;%&quot;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900" b="0" i="0" u="none" strike="noStrike">
                <a:solidFill>
                  <a:srgbClr val="999999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900">
              <a:solidFill>
                <a:srgbClr val="666666"/>
              </a:solidFill>
            </a:defRPr>
          </a:pPr>
          <a:endParaRPr lang="en-US"/>
        </a:p>
      </c:txPr>
    </c:legend>
    <c:plotVisOnly val="1"/>
    <c:dispBlanksAs val="span"/>
  </c:chart>
  <c:spPr>
    <a:solidFill>
      <a:srgbClr val="FFFFFF"/>
    </a:solidFill>
    <a:ln>
      <a:noFill/>
    </a:ln>
    <a:effectLst/>
  </c:sp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AI</c:v>
                </c:pt>
              </c:strCache>
            </c:strRef>
          </c:tx>
          <c:spPr>
            <a:solidFill>
              <a:srgbClr val="F6693D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700" u="none">
                    <a:solidFill>
                      <a:srgbClr val="333333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Sheet1!$A$2:$A$6</c:f>
              <c:multiLvlStrCache>
                <c:ptCount val="5"/>
                <c:lvl>
                  <c:pt idx="0">
                    <c:v>Y0</c:v>
                  </c:pt>
                  <c:pt idx="1">
                    <c:v>Y1</c:v>
                  </c:pt>
                  <c:pt idx="2">
                    <c:v>Y2</c:v>
                  </c:pt>
                  <c:pt idx="3">
                    <c:v>Y3</c:v>
                  </c:pt>
                  <c:pt idx="4">
                    <c:v>Y4 (2026E)</c:v>
                  </c:pt>
                </c:lvl>
              </c:multiLvlStrCache>
            </c:multiLvlStrRef>
          </c:cat>
          <c:val>
            <c:numRef>
              <c:f>Sheet1!$B$2:$B$6</c:f>
              <c:numCache>
                <c:formatCode>General</c:formatCode>
                <c:ptCount val="5"/>
                <c:pt idx="0">
                  <c:v>1</c:v>
                </c:pt>
                <c:pt idx="1">
                  <c:v>5</c:v>
                </c:pt>
                <c:pt idx="2">
                  <c:v>16</c:v>
                </c:pt>
                <c:pt idx="3">
                  <c:v>42</c:v>
                </c:pt>
                <c:pt idx="4">
                  <c:v>82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Cloud</c:v>
                </c:pt>
              </c:strCache>
            </c:strRef>
          </c:tx>
          <c:spPr>
            <a:solidFill>
              <a:srgbClr val="FFB800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700" u="none">
                    <a:solidFill>
                      <a:srgbClr val="333333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Sheet1!$A$2:$A$6</c:f>
              <c:multiLvlStrCache>
                <c:ptCount val="5"/>
                <c:lvl>
                  <c:pt idx="0">
                    <c:v>Y0</c:v>
                  </c:pt>
                  <c:pt idx="1">
                    <c:v>Y1</c:v>
                  </c:pt>
                  <c:pt idx="2">
                    <c:v>Y2</c:v>
                  </c:pt>
                  <c:pt idx="3">
                    <c:v>Y3</c:v>
                  </c:pt>
                  <c:pt idx="4">
                    <c:v>Y4 (2026E)</c:v>
                  </c:pt>
                </c:lvl>
              </c:multiLvlStrCache>
            </c:multiLvlStrRef>
          </c:cat>
          <c:val>
            <c:numRef>
              <c:f>Sheet1!$C$2:$C$6</c:f>
              <c:numCache>
                <c:formatCode>General</c:formatCode>
                <c:ptCount val="5"/>
                <c:pt idx="0">
                  <c:v>1</c:v>
                </c:pt>
                <c:pt idx="1">
                  <c:v>2</c:v>
                </c:pt>
                <c:pt idx="2">
                  <c:v>4</c:v>
                </c:pt>
                <c:pt idx="3">
                  <c:v>7</c:v>
                </c:pt>
                <c:pt idx="4">
                  <c:v>12</c:v>
                </c:pt>
              </c:numCache>
            </c:numRef>
          </c:val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Internet</c:v>
                </c:pt>
              </c:strCache>
            </c:strRef>
          </c:tx>
          <c:spPr>
            <a:solidFill>
              <a:srgbClr val="008B8B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700" u="none">
                    <a:solidFill>
                      <a:srgbClr val="333333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Sheet1!$A$2:$A$6</c:f>
              <c:multiLvlStrCache>
                <c:ptCount val="5"/>
                <c:lvl>
                  <c:pt idx="0">
                    <c:v>Y0</c:v>
                  </c:pt>
                  <c:pt idx="1">
                    <c:v>Y1</c:v>
                  </c:pt>
                  <c:pt idx="2">
                    <c:v>Y2</c:v>
                  </c:pt>
                  <c:pt idx="3">
                    <c:v>Y3</c:v>
                  </c:pt>
                  <c:pt idx="4">
                    <c:v>Y4 (2026E)</c:v>
                  </c:pt>
                </c:lvl>
              </c:multiLvlStrCache>
            </c:multiLvlStrRef>
          </c:cat>
          <c:val>
            <c:numRef>
              <c:f>Sheet1!$D$2:$D$6</c:f>
              <c:numCache>
                <c:formatCode>General</c:formatCode>
                <c:ptCount val="5"/>
                <c:pt idx="0">
                  <c:v>1</c:v>
                </c:pt>
                <c:pt idx="1">
                  <c:v>2</c:v>
                </c:pt>
                <c:pt idx="2">
                  <c:v>3</c:v>
                </c:pt>
                <c:pt idx="3">
                  <c:v>5</c:v>
                </c:pt>
                <c:pt idx="4">
                  <c:v>8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700" u="none">
                  <a:solidFill>
                    <a:srgbClr val="333333"/>
                  </a:solidFill>
                  <a:latin typeface="Arial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900" b="0" i="0" u="none" strike="noStrike">
                <a:solidFill>
                  <a:srgbClr val="666666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100"/>
          <c:min val="0"/>
        </c:scaling>
        <c:delete val="0"/>
        <c:axPos val="l"/>
        <c:majorGridlines>
          <c:spPr>
            <a:ln w="6350" cap="flat">
              <a:solidFill>
                <a:srgbClr val="E5E5E5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900" b="0" i="0" u="none" strike="noStrike">
                <a:solidFill>
                  <a:srgbClr val="999999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800">
              <a:solidFill>
                <a:srgbClr val="666666"/>
              </a:solidFill>
            </a:defRPr>
          </a:pPr>
          <a:endParaRPr lang="en-US"/>
        </a:p>
      </c:txPr>
    </c:legend>
    <c:plotVisOnly val="1"/>
    <c:dispBlanksAs val="span"/>
  </c:chart>
  <c:spPr>
    <a:solidFill>
      <a:srgbClr val="FFFFFF"/>
    </a:solidFill>
    <a:ln>
      <a:noFill/>
    </a:ln>
    <a:effectLst/>
  </c:spPr>
  <c:externalData r:id="rId1">
    <c:autoUpdate val="0"/>
  </c:externalData>
</c:chartSpace>
</file>

<file path=ppt/charts/chart3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lineChart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Semis</c:v>
                </c:pt>
              </c:strCache>
            </c:strRef>
          </c:tx>
          <c:spPr>
            <a:solidFill>
              <a:srgbClr val="F6693D"/>
            </a:solidFill>
            <a:ln w="38100" cap="flat">
              <a:solidFill>
                <a:srgbClr val="F6693D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6"/>
            <c:spPr>
              <a:solidFill>
                <a:srgbClr val="F6693D"/>
              </a:solidFill>
              <a:ln w="9525" cap="flat">
                <a:solidFill>
                  <a:srgbClr val="F6693D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Sheet1!$A$2:$A$6</c:f>
              <c:multiLvlStrCache>
                <c:ptCount val="5"/>
                <c:lvl>
                  <c:pt idx="0">
                    <c:v>Jan 1</c:v>
                  </c:pt>
                  <c:pt idx="1">
                    <c:v>Jan 31</c:v>
                  </c:pt>
                  <c:pt idx="2">
                    <c:v>Feb 28</c:v>
                  </c:pt>
                  <c:pt idx="3">
                    <c:v>Mar 31</c:v>
                  </c:pt>
                  <c:pt idx="4">
                    <c:v>Apr 17</c:v>
                  </c:pt>
                </c:lvl>
              </c:multiLvlStrCache>
            </c:multiLvlStrRef>
          </c:cat>
          <c:val>
            <c:numRef>
              <c:f>Sheet1!$B$2:$B$6</c:f>
              <c:numCache>
                <c:formatCode>General</c:formatCode>
                <c:ptCount val="5"/>
                <c:pt idx="0">
                  <c:v>100</c:v>
                </c:pt>
                <c:pt idx="1">
                  <c:v>110</c:v>
                </c:pt>
                <c:pt idx="2">
                  <c:v>118</c:v>
                </c:pt>
                <c:pt idx="3">
                  <c:v>128</c:v>
                </c:pt>
                <c:pt idx="4">
                  <c:v>138</c:v>
                </c:pt>
              </c:numCache>
            </c:numRef>
          </c:val>
          <c:smooth val="0"/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Nasdaq</c:v>
                </c:pt>
              </c:strCache>
            </c:strRef>
          </c:tx>
          <c:spPr>
            <a:solidFill>
              <a:srgbClr val="333333"/>
            </a:solidFill>
            <a:ln w="38100" cap="flat">
              <a:solidFill>
                <a:srgbClr val="333333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6"/>
            <c:spPr>
              <a:solidFill>
                <a:srgbClr val="333333"/>
              </a:solidFill>
              <a:ln w="9525" cap="flat">
                <a:solidFill>
                  <a:srgbClr val="333333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Sheet1!$A$2:$A$6</c:f>
              <c:multiLvlStrCache>
                <c:ptCount val="5"/>
                <c:lvl>
                  <c:pt idx="0">
                    <c:v>Jan 1</c:v>
                  </c:pt>
                  <c:pt idx="1">
                    <c:v>Jan 31</c:v>
                  </c:pt>
                  <c:pt idx="2">
                    <c:v>Feb 28</c:v>
                  </c:pt>
                  <c:pt idx="3">
                    <c:v>Mar 31</c:v>
                  </c:pt>
                  <c:pt idx="4">
                    <c:v>Apr 17</c:v>
                  </c:pt>
                </c:lvl>
              </c:multiLvlStrCache>
            </c:multiLvlStrRef>
          </c:cat>
          <c:val>
            <c:numRef>
              <c:f>Sheet1!$C$2:$C$6</c:f>
              <c:numCache>
                <c:formatCode>General</c:formatCode>
                <c:ptCount val="5"/>
                <c:pt idx="0">
                  <c:v>100</c:v>
                </c:pt>
                <c:pt idx="1">
                  <c:v>98</c:v>
                </c:pt>
                <c:pt idx="2">
                  <c:v>96</c:v>
                </c:pt>
                <c:pt idx="3">
                  <c:v>99</c:v>
                </c:pt>
                <c:pt idx="4">
                  <c:v>104</c:v>
                </c:pt>
              </c:numCache>
            </c:numRef>
          </c:val>
          <c:smooth val="0"/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Software</c:v>
                </c:pt>
              </c:strCache>
            </c:strRef>
          </c:tx>
          <c:spPr>
            <a:solidFill>
              <a:srgbClr val="CC0000"/>
            </a:solidFill>
            <a:ln w="38100" cap="flat">
              <a:solidFill>
                <a:srgbClr val="CC0000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6"/>
            <c:spPr>
              <a:solidFill>
                <a:srgbClr val="CC0000"/>
              </a:solidFill>
              <a:ln w="9525" cap="flat">
                <a:solidFill>
                  <a:srgbClr val="CC0000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Sheet1!$A$2:$A$6</c:f>
              <c:multiLvlStrCache>
                <c:ptCount val="5"/>
                <c:lvl>
                  <c:pt idx="0">
                    <c:v>Jan 1</c:v>
                  </c:pt>
                  <c:pt idx="1">
                    <c:v>Jan 31</c:v>
                  </c:pt>
                  <c:pt idx="2">
                    <c:v>Feb 28</c:v>
                  </c:pt>
                  <c:pt idx="3">
                    <c:v>Mar 31</c:v>
                  </c:pt>
                  <c:pt idx="4">
                    <c:v>Apr 17</c:v>
                  </c:pt>
                </c:lvl>
              </c:multiLvlStrCache>
            </c:multiLvlStrRef>
          </c:cat>
          <c:val>
            <c:numRef>
              <c:f>Sheet1!$D$2:$D$6</c:f>
              <c:numCache>
                <c:formatCode>General</c:formatCode>
                <c:ptCount val="5"/>
                <c:pt idx="0">
                  <c:v>100</c:v>
                </c:pt>
                <c:pt idx="1">
                  <c:v>88</c:v>
                </c:pt>
                <c:pt idx="2">
                  <c:v>78</c:v>
                </c:pt>
                <c:pt idx="3">
                  <c:v>76</c:v>
                </c:pt>
                <c:pt idx="4">
                  <c:v>80</c:v>
                </c:pt>
              </c:numCache>
            </c:numRef>
          </c:val>
          <c:smooth val="0"/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marker val="1"/>
        <c:axId val="2094734554"/>
        <c:axId val="2094734552"/>
        <c:axId val="2094734556"/>
      </c:line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900" b="0" i="0" u="none" strike="noStrike">
                <a:solidFill>
                  <a:srgbClr val="999999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6350" cap="flat">
              <a:solidFill>
                <a:srgbClr val="E5E5E5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900" b="0" i="0" u="none" strike="noStrike">
                <a:solidFill>
                  <a:srgbClr val="999999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900">
              <a:solidFill>
                <a:srgbClr val="666666"/>
              </a:solidFill>
            </a:defRPr>
          </a:pPr>
          <a:endParaRPr lang="en-US"/>
        </a:p>
      </c:txPr>
    </c:legend>
    <c:plotVisOnly val="1"/>
    <c:dispBlanksAs val="span"/>
  </c:chart>
  <c:spPr>
    <a:solidFill>
      <a:srgbClr val="FFFFFF"/>
    </a:solidFill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1.xml"/><Relationship Id="rId2" Type="http://schemas.openxmlformats.org/officeDocument/2006/relationships/chart" Target="/ppt/charts/chart2.xml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image" Target="../media/image-10-2.png"/><Relationship Id="rId3" Type="http://schemas.openxmlformats.org/officeDocument/2006/relationships/image" Target="../media/image-10-3.png"/><Relationship Id="rId4" Type="http://schemas.openxmlformats.org/officeDocument/2006/relationships/image" Target="../media/image-10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3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4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FD10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2788920"/>
            <a:ext cx="1005840" cy="128016"/>
          </a:xfrm>
          <a:prstGeom prst="rect">
            <a:avLst/>
          </a:prstGeom>
          <a:solidFill>
            <a:srgbClr val="F6693D"/>
          </a:solidFill>
          <a:ln w="12700">
            <a:solidFill>
              <a:srgbClr val="F6693D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457200" y="3063240"/>
            <a:ext cx="822960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800" b="1" dirty="0">
                <a:solidFill>
                  <a:srgbClr val="000000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AI Markets</a:t>
            </a:r>
            <a:endParaRPr lang="en-US" sz="8800" dirty="0"/>
          </a:p>
        </p:txBody>
      </p:sp>
      <p:sp>
        <p:nvSpPr>
          <p:cNvPr id="4" name="Text 2"/>
          <p:cNvSpPr/>
          <p:nvPr/>
        </p:nvSpPr>
        <p:spPr>
          <a:xfrm>
            <a:off x="457200" y="4434840"/>
            <a:ext cx="8229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May 2026</a:t>
            </a:r>
            <a:endParaRPr lang="en-US" sz="2200" dirty="0"/>
          </a:p>
        </p:txBody>
      </p:sp>
      <p:sp>
        <p:nvSpPr>
          <p:cNvPr id="5" name="Shape 3"/>
          <p:cNvSpPr/>
          <p:nvPr/>
        </p:nvSpPr>
        <p:spPr>
          <a:xfrm>
            <a:off x="0" y="6286500"/>
            <a:ext cx="9144000" cy="571500"/>
          </a:xfrm>
          <a:prstGeom prst="rect">
            <a:avLst/>
          </a:prstGeom>
          <a:solidFill>
            <a:srgbClr val="000000"/>
          </a:solidFill>
          <a:ln w="12700">
            <a:solidFill>
              <a:srgbClr val="000000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1371600" y="6332220"/>
            <a:ext cx="6400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FOR INFORMATIONAL PURPOSES ONLY. NOT INVESTMENT ADVICE. PAST PERFORMANCE IS NOT INDICATIVE OF FUTURE RESULTS.</a:t>
            </a:r>
            <a:endParaRPr lang="en-US" sz="65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182880"/>
            <a:ext cx="65836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400" b="1" dirty="0">
                <a:solidFill>
                  <a:srgbClr val="000000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Contents.</a:t>
            </a:r>
            <a:endParaRPr lang="en-US" sz="2400" dirty="0"/>
          </a:p>
        </p:txBody>
      </p:sp>
      <p:sp>
        <p:nvSpPr>
          <p:cNvPr id="3" name="Shape 1"/>
          <p:cNvSpPr/>
          <p:nvPr/>
        </p:nvSpPr>
        <p:spPr>
          <a:xfrm>
            <a:off x="457200" y="1325880"/>
            <a:ext cx="8229600" cy="0"/>
          </a:xfrm>
          <a:prstGeom prst="line">
            <a:avLst/>
          </a:prstGeom>
          <a:noFill/>
          <a:ln w="9525">
            <a:solidFill>
              <a:srgbClr val="E5E5E5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457200" y="1737360"/>
            <a:ext cx="109728" cy="585216"/>
          </a:xfrm>
          <a:prstGeom prst="rect">
            <a:avLst/>
          </a:prstGeom>
          <a:solidFill>
            <a:srgbClr val="008B8B"/>
          </a:solidFill>
          <a:ln w="12700">
            <a:solidFill>
              <a:srgbClr val="008B8B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731520" y="1737360"/>
            <a:ext cx="822960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008B8B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01</a:t>
            </a:r>
            <a:endParaRPr lang="en-US" sz="2200" dirty="0"/>
          </a:p>
        </p:txBody>
      </p:sp>
      <p:sp>
        <p:nvSpPr>
          <p:cNvPr id="6" name="Text 4"/>
          <p:cNvSpPr/>
          <p:nvPr/>
        </p:nvSpPr>
        <p:spPr>
          <a:xfrm>
            <a:off x="1645920" y="1737360"/>
            <a:ext cx="5943600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spc="300" kern="0" dirty="0">
                <a:solidFill>
                  <a:srgbClr val="000000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LANDSCAPE</a:t>
            </a:r>
            <a:endParaRPr lang="en-US" sz="2200" dirty="0"/>
          </a:p>
        </p:txBody>
      </p:sp>
      <p:sp>
        <p:nvSpPr>
          <p:cNvPr id="7" name="Text 5"/>
          <p:cNvSpPr/>
          <p:nvPr/>
        </p:nvSpPr>
        <p:spPr>
          <a:xfrm>
            <a:off x="7315200" y="1737360"/>
            <a:ext cx="1371600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 – 6</a:t>
            </a:r>
            <a:endParaRPr lang="en-US" sz="1400" dirty="0"/>
          </a:p>
        </p:txBody>
      </p:sp>
      <p:sp>
        <p:nvSpPr>
          <p:cNvPr id="8" name="Shape 6"/>
          <p:cNvSpPr/>
          <p:nvPr/>
        </p:nvSpPr>
        <p:spPr>
          <a:xfrm>
            <a:off x="731520" y="2359152"/>
            <a:ext cx="7955280" cy="0"/>
          </a:xfrm>
          <a:prstGeom prst="line">
            <a:avLst/>
          </a:prstGeom>
          <a:noFill/>
          <a:ln w="6350">
            <a:solidFill>
              <a:srgbClr val="E5E5E5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457200" y="2395728"/>
            <a:ext cx="109728" cy="585216"/>
          </a:xfrm>
          <a:prstGeom prst="rect">
            <a:avLst/>
          </a:prstGeom>
          <a:solidFill>
            <a:srgbClr val="FFB800"/>
          </a:solidFill>
          <a:ln w="12700">
            <a:solidFill>
              <a:srgbClr val="FFB800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731520" y="2395728"/>
            <a:ext cx="822960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B800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02</a:t>
            </a:r>
            <a:endParaRPr lang="en-US" sz="2200" dirty="0"/>
          </a:p>
        </p:txBody>
      </p:sp>
      <p:sp>
        <p:nvSpPr>
          <p:cNvPr id="11" name="Text 9"/>
          <p:cNvSpPr/>
          <p:nvPr/>
        </p:nvSpPr>
        <p:spPr>
          <a:xfrm>
            <a:off x="1645920" y="2395728"/>
            <a:ext cx="5943600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spc="300" kern="0" dirty="0">
                <a:solidFill>
                  <a:srgbClr val="000000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MARKET</a:t>
            </a:r>
            <a:endParaRPr lang="en-US" sz="2200" dirty="0"/>
          </a:p>
        </p:txBody>
      </p:sp>
      <p:sp>
        <p:nvSpPr>
          <p:cNvPr id="12" name="Text 10"/>
          <p:cNvSpPr/>
          <p:nvPr/>
        </p:nvSpPr>
        <p:spPr>
          <a:xfrm>
            <a:off x="7315200" y="2395728"/>
            <a:ext cx="1371600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 – 11</a:t>
            </a:r>
            <a:endParaRPr lang="en-US" sz="1400" dirty="0"/>
          </a:p>
        </p:txBody>
      </p:sp>
      <p:sp>
        <p:nvSpPr>
          <p:cNvPr id="13" name="Shape 11"/>
          <p:cNvSpPr/>
          <p:nvPr/>
        </p:nvSpPr>
        <p:spPr>
          <a:xfrm>
            <a:off x="731520" y="3017520"/>
            <a:ext cx="7955280" cy="0"/>
          </a:xfrm>
          <a:prstGeom prst="line">
            <a:avLst/>
          </a:prstGeom>
          <a:noFill/>
          <a:ln w="6350">
            <a:solidFill>
              <a:srgbClr val="E5E5E5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457200" y="3054096"/>
            <a:ext cx="109728" cy="585216"/>
          </a:xfrm>
          <a:prstGeom prst="rect">
            <a:avLst/>
          </a:prstGeom>
          <a:solidFill>
            <a:srgbClr val="F6693D"/>
          </a:solidFill>
          <a:ln w="12700">
            <a:solidFill>
              <a:srgbClr val="F6693D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731520" y="3054096"/>
            <a:ext cx="822960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6693D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03</a:t>
            </a:r>
            <a:endParaRPr lang="en-US" sz="2200" dirty="0"/>
          </a:p>
        </p:txBody>
      </p:sp>
      <p:sp>
        <p:nvSpPr>
          <p:cNvPr id="16" name="Text 14"/>
          <p:cNvSpPr/>
          <p:nvPr/>
        </p:nvSpPr>
        <p:spPr>
          <a:xfrm>
            <a:off x="1645920" y="3054096"/>
            <a:ext cx="5943600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spc="300" kern="0" dirty="0">
                <a:solidFill>
                  <a:srgbClr val="000000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SHIFTS</a:t>
            </a:r>
            <a:endParaRPr lang="en-US" sz="2200" dirty="0"/>
          </a:p>
        </p:txBody>
      </p:sp>
      <p:sp>
        <p:nvSpPr>
          <p:cNvPr id="17" name="Text 15"/>
          <p:cNvSpPr/>
          <p:nvPr/>
        </p:nvSpPr>
        <p:spPr>
          <a:xfrm>
            <a:off x="7315200" y="3054096"/>
            <a:ext cx="1371600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12 – 13</a:t>
            </a:r>
            <a:endParaRPr lang="en-US" sz="1400" dirty="0"/>
          </a:p>
        </p:txBody>
      </p:sp>
      <p:sp>
        <p:nvSpPr>
          <p:cNvPr id="18" name="Shape 16"/>
          <p:cNvSpPr/>
          <p:nvPr/>
        </p:nvSpPr>
        <p:spPr>
          <a:xfrm>
            <a:off x="731520" y="3675888"/>
            <a:ext cx="7955280" cy="0"/>
          </a:xfrm>
          <a:prstGeom prst="line">
            <a:avLst/>
          </a:prstGeom>
          <a:noFill/>
          <a:ln w="6350">
            <a:solidFill>
              <a:srgbClr val="E5E5E5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457200" y="3712464"/>
            <a:ext cx="109728" cy="585216"/>
          </a:xfrm>
          <a:prstGeom prst="rect">
            <a:avLst/>
          </a:prstGeom>
          <a:solidFill>
            <a:srgbClr val="CC0000"/>
          </a:solidFill>
          <a:ln w="12700">
            <a:solidFill>
              <a:srgbClr val="CC0000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731520" y="3712464"/>
            <a:ext cx="822960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CC0000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04</a:t>
            </a:r>
            <a:endParaRPr lang="en-US" sz="2200" dirty="0"/>
          </a:p>
        </p:txBody>
      </p:sp>
      <p:sp>
        <p:nvSpPr>
          <p:cNvPr id="21" name="Text 19"/>
          <p:cNvSpPr/>
          <p:nvPr/>
        </p:nvSpPr>
        <p:spPr>
          <a:xfrm>
            <a:off x="1645920" y="3712464"/>
            <a:ext cx="5943600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spc="300" kern="0" dirty="0">
                <a:solidFill>
                  <a:srgbClr val="000000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RISKS</a:t>
            </a:r>
            <a:endParaRPr lang="en-US" sz="2200" dirty="0"/>
          </a:p>
        </p:txBody>
      </p:sp>
      <p:sp>
        <p:nvSpPr>
          <p:cNvPr id="22" name="Text 20"/>
          <p:cNvSpPr/>
          <p:nvPr/>
        </p:nvSpPr>
        <p:spPr>
          <a:xfrm>
            <a:off x="7315200" y="3712464"/>
            <a:ext cx="1371600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14 – 17</a:t>
            </a:r>
            <a:endParaRPr lang="en-US" sz="1400" dirty="0"/>
          </a:p>
        </p:txBody>
      </p:sp>
      <p:sp>
        <p:nvSpPr>
          <p:cNvPr id="23" name="Shape 21"/>
          <p:cNvSpPr/>
          <p:nvPr/>
        </p:nvSpPr>
        <p:spPr>
          <a:xfrm>
            <a:off x="731520" y="4334256"/>
            <a:ext cx="7955280" cy="0"/>
          </a:xfrm>
          <a:prstGeom prst="line">
            <a:avLst/>
          </a:prstGeom>
          <a:noFill/>
          <a:ln w="6350">
            <a:solidFill>
              <a:srgbClr val="E5E5E5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457200" y="4370832"/>
            <a:ext cx="109728" cy="585216"/>
          </a:xfrm>
          <a:prstGeom prst="rect">
            <a:avLst/>
          </a:prstGeom>
          <a:solidFill>
            <a:srgbClr val="6B46C1"/>
          </a:solidFill>
          <a:ln w="12700">
            <a:solidFill>
              <a:srgbClr val="6B46C1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731520" y="4370832"/>
            <a:ext cx="822960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6B46C1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05</a:t>
            </a:r>
            <a:endParaRPr lang="en-US" sz="2200" dirty="0"/>
          </a:p>
        </p:txBody>
      </p:sp>
      <p:sp>
        <p:nvSpPr>
          <p:cNvPr id="26" name="Text 24"/>
          <p:cNvSpPr/>
          <p:nvPr/>
        </p:nvSpPr>
        <p:spPr>
          <a:xfrm>
            <a:off x="1645920" y="4370832"/>
            <a:ext cx="5943600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spc="300" kern="0" dirty="0">
                <a:solidFill>
                  <a:srgbClr val="000000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FRONTIER</a:t>
            </a:r>
            <a:endParaRPr lang="en-US" sz="2200" dirty="0"/>
          </a:p>
        </p:txBody>
      </p:sp>
      <p:sp>
        <p:nvSpPr>
          <p:cNvPr id="27" name="Text 25"/>
          <p:cNvSpPr/>
          <p:nvPr/>
        </p:nvSpPr>
        <p:spPr>
          <a:xfrm>
            <a:off x="7315200" y="4370832"/>
            <a:ext cx="1371600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18 – 21</a:t>
            </a:r>
            <a:endParaRPr lang="en-US" sz="1400" dirty="0"/>
          </a:p>
        </p:txBody>
      </p:sp>
      <p:sp>
        <p:nvSpPr>
          <p:cNvPr id="28" name="Shape 26"/>
          <p:cNvSpPr/>
          <p:nvPr/>
        </p:nvSpPr>
        <p:spPr>
          <a:xfrm>
            <a:off x="731520" y="4992624"/>
            <a:ext cx="7955280" cy="0"/>
          </a:xfrm>
          <a:prstGeom prst="line">
            <a:avLst/>
          </a:prstGeom>
          <a:noFill/>
          <a:ln w="6350">
            <a:solidFill>
              <a:srgbClr val="E5E5E5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457200" y="5029200"/>
            <a:ext cx="109728" cy="585216"/>
          </a:xfrm>
          <a:prstGeom prst="rect">
            <a:avLst/>
          </a:prstGeom>
          <a:solidFill>
            <a:srgbClr val="000000"/>
          </a:solidFill>
          <a:ln w="12700">
            <a:solidFill>
              <a:srgbClr val="000000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731520" y="5029200"/>
            <a:ext cx="822960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000000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06</a:t>
            </a:r>
            <a:endParaRPr lang="en-US" sz="2200" dirty="0"/>
          </a:p>
        </p:txBody>
      </p:sp>
      <p:sp>
        <p:nvSpPr>
          <p:cNvPr id="31" name="Text 29"/>
          <p:cNvSpPr/>
          <p:nvPr/>
        </p:nvSpPr>
        <p:spPr>
          <a:xfrm>
            <a:off x="1645920" y="5029200"/>
            <a:ext cx="5943600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spc="300" kern="0" dirty="0">
                <a:solidFill>
                  <a:srgbClr val="000000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TAKEAWAYS</a:t>
            </a:r>
            <a:endParaRPr lang="en-US" sz="2200" dirty="0"/>
          </a:p>
        </p:txBody>
      </p:sp>
      <p:sp>
        <p:nvSpPr>
          <p:cNvPr id="32" name="Text 30"/>
          <p:cNvSpPr/>
          <p:nvPr/>
        </p:nvSpPr>
        <p:spPr>
          <a:xfrm>
            <a:off x="7315200" y="5029200"/>
            <a:ext cx="1371600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22</a:t>
            </a:r>
            <a:endParaRPr lang="en-US" sz="1400" dirty="0"/>
          </a:p>
        </p:txBody>
      </p:sp>
      <p:sp>
        <p:nvSpPr>
          <p:cNvPr id="33" name="Text 31"/>
          <p:cNvSpPr/>
          <p:nvPr/>
        </p:nvSpPr>
        <p:spPr>
          <a:xfrm>
            <a:off x="457200" y="5875020"/>
            <a:ext cx="8229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dirty="0">
                <a:solidFill>
                  <a:srgbClr val="99999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Source: Strategy Research. 22 slides, read top to bottom.</a:t>
            </a:r>
            <a:endParaRPr lang="en-US" sz="700" dirty="0"/>
          </a:p>
        </p:txBody>
      </p:sp>
      <p:sp>
        <p:nvSpPr>
          <p:cNvPr id="34" name="Shape 32"/>
          <p:cNvSpPr/>
          <p:nvPr/>
        </p:nvSpPr>
        <p:spPr>
          <a:xfrm>
            <a:off x="0" y="6286500"/>
            <a:ext cx="9144000" cy="571500"/>
          </a:xfrm>
          <a:prstGeom prst="rect">
            <a:avLst/>
          </a:prstGeom>
          <a:solidFill>
            <a:srgbClr val="000000"/>
          </a:solidFill>
          <a:ln w="12700">
            <a:solidFill>
              <a:srgbClr val="000000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1371600" y="6332220"/>
            <a:ext cx="6400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FOR INFORMATIONAL PURPOSES ONLY. NOT INVESTMENT ADVICE. PAST PERFORMANCE IS NOT INDICATIVE OF FUTURE RESULTS.</a:t>
            </a:r>
            <a:endParaRPr lang="en-US" sz="650" dirty="0"/>
          </a:p>
        </p:txBody>
      </p:sp>
      <p:sp>
        <p:nvSpPr>
          <p:cNvPr id="36" name="Text 34"/>
          <p:cNvSpPr/>
          <p:nvPr/>
        </p:nvSpPr>
        <p:spPr>
          <a:xfrm>
            <a:off x="8321040" y="6405372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9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7132320" y="164592"/>
            <a:ext cx="1737360" cy="292608"/>
          </a:xfrm>
          <a:prstGeom prst="roundRect">
            <a:avLst>
              <a:gd name="adj" fmla="val 15625"/>
            </a:avLst>
          </a:prstGeom>
          <a:solidFill>
            <a:srgbClr val="008B8B"/>
          </a:solidFill>
          <a:ln w="12700">
            <a:solidFill>
              <a:srgbClr val="008B8B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7132320" y="164592"/>
            <a:ext cx="17373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spc="100" kern="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LANDSCAPE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457200" y="182880"/>
            <a:ext cx="65836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400" b="1" dirty="0">
                <a:solidFill>
                  <a:srgbClr val="000000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Why AI matters to markets.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457200" y="1325880"/>
            <a:ext cx="8229600" cy="0"/>
          </a:xfrm>
          <a:prstGeom prst="line">
            <a:avLst/>
          </a:prstGeom>
          <a:noFill/>
          <a:ln w="9525">
            <a:solidFill>
              <a:srgbClr val="E5E5E5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457200" y="1783080"/>
            <a:ext cx="1097280" cy="1143000"/>
          </a:xfrm>
          <a:prstGeom prst="rect">
            <a:avLst/>
          </a:prstGeom>
          <a:solidFill>
            <a:srgbClr val="F6693D"/>
          </a:solidFill>
          <a:ln w="12700">
            <a:solidFill>
              <a:srgbClr val="F6693D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457200" y="1783080"/>
            <a:ext cx="1097280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200" b="1" dirty="0">
                <a:solidFill>
                  <a:srgbClr val="FFFF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01</a:t>
            </a:r>
            <a:endParaRPr lang="en-US" sz="4200" dirty="0"/>
          </a:p>
        </p:txBody>
      </p:sp>
      <p:sp>
        <p:nvSpPr>
          <p:cNvPr id="8" name="Text 6"/>
          <p:cNvSpPr/>
          <p:nvPr/>
        </p:nvSpPr>
        <p:spPr>
          <a:xfrm>
            <a:off x="1783080" y="1828800"/>
            <a:ext cx="69037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rgbClr val="000000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The largest capex cycle in history.</a:t>
            </a:r>
            <a:endParaRPr lang="en-US" sz="1800" dirty="0"/>
          </a:p>
        </p:txBody>
      </p:sp>
      <p:sp>
        <p:nvSpPr>
          <p:cNvPr id="9" name="Text 7"/>
          <p:cNvSpPr/>
          <p:nvPr/>
        </p:nvSpPr>
        <p:spPr>
          <a:xfrm>
            <a:off x="1783080" y="2286000"/>
            <a:ext cx="69037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Big 5 hyperscalers are pouring roughly $750B into AI infrastructure in 2026 alone — more than the entire US energy buildout at its peak.</a:t>
            </a:r>
            <a:endParaRPr lang="en-US" sz="1250" dirty="0"/>
          </a:p>
        </p:txBody>
      </p:sp>
      <p:sp>
        <p:nvSpPr>
          <p:cNvPr id="10" name="Shape 8"/>
          <p:cNvSpPr/>
          <p:nvPr/>
        </p:nvSpPr>
        <p:spPr>
          <a:xfrm>
            <a:off x="457200" y="3108960"/>
            <a:ext cx="1097280" cy="1143000"/>
          </a:xfrm>
          <a:prstGeom prst="rect">
            <a:avLst/>
          </a:prstGeom>
          <a:solidFill>
            <a:srgbClr val="008B8B"/>
          </a:solidFill>
          <a:ln w="12700">
            <a:solidFill>
              <a:srgbClr val="008B8B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457200" y="3108960"/>
            <a:ext cx="1097280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200" b="1" dirty="0">
                <a:solidFill>
                  <a:srgbClr val="FFFF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02</a:t>
            </a:r>
            <a:endParaRPr lang="en-US" sz="4200" dirty="0"/>
          </a:p>
        </p:txBody>
      </p:sp>
      <p:sp>
        <p:nvSpPr>
          <p:cNvPr id="12" name="Text 10"/>
          <p:cNvSpPr/>
          <p:nvPr/>
        </p:nvSpPr>
        <p:spPr>
          <a:xfrm>
            <a:off x="1783080" y="3154680"/>
            <a:ext cx="69037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rgbClr val="000000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It touches every layer of the economy.</a:t>
            </a:r>
            <a:endParaRPr lang="en-US" sz="1800" dirty="0"/>
          </a:p>
        </p:txBody>
      </p:sp>
      <p:sp>
        <p:nvSpPr>
          <p:cNvPr id="13" name="Text 11"/>
          <p:cNvSpPr/>
          <p:nvPr/>
        </p:nvSpPr>
        <p:spPr>
          <a:xfrm>
            <a:off x="1783080" y="3611880"/>
            <a:ext cx="69037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From raw silicon and power generation through data centers, models, and the apps on your phone — AI is now the connective tissue of modern business.</a:t>
            </a:r>
            <a:endParaRPr lang="en-US" sz="1250" dirty="0"/>
          </a:p>
        </p:txBody>
      </p:sp>
      <p:sp>
        <p:nvSpPr>
          <p:cNvPr id="14" name="Shape 12"/>
          <p:cNvSpPr/>
          <p:nvPr/>
        </p:nvSpPr>
        <p:spPr>
          <a:xfrm>
            <a:off x="457200" y="4434840"/>
            <a:ext cx="1097280" cy="1143000"/>
          </a:xfrm>
          <a:prstGeom prst="rect">
            <a:avLst/>
          </a:prstGeom>
          <a:solidFill>
            <a:srgbClr val="FFB800"/>
          </a:solidFill>
          <a:ln w="12700">
            <a:solidFill>
              <a:srgbClr val="FFB80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457200" y="4434840"/>
            <a:ext cx="1097280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200" b="1" dirty="0">
                <a:solidFill>
                  <a:srgbClr val="FFFF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03</a:t>
            </a:r>
            <a:endParaRPr lang="en-US" sz="4200" dirty="0"/>
          </a:p>
        </p:txBody>
      </p:sp>
      <p:sp>
        <p:nvSpPr>
          <p:cNvPr id="16" name="Text 14"/>
          <p:cNvSpPr/>
          <p:nvPr/>
        </p:nvSpPr>
        <p:spPr>
          <a:xfrm>
            <a:off x="1783080" y="4480560"/>
            <a:ext cx="69037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rgbClr val="000000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It is repricing everything — in both directions.</a:t>
            </a:r>
            <a:endParaRPr lang="en-US" sz="1800" dirty="0"/>
          </a:p>
        </p:txBody>
      </p:sp>
      <p:sp>
        <p:nvSpPr>
          <p:cNvPr id="17" name="Text 15"/>
          <p:cNvSpPr/>
          <p:nvPr/>
        </p:nvSpPr>
        <p:spPr>
          <a:xfrm>
            <a:off x="1783080" y="4937760"/>
            <a:ext cx="69037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same wave that lifts semis, memory, and power is cracking software seat models, content moats, and legacy services. Winners and losers, inside one theme.</a:t>
            </a:r>
            <a:endParaRPr lang="en-US" sz="1250" dirty="0"/>
          </a:p>
        </p:txBody>
      </p:sp>
      <p:sp>
        <p:nvSpPr>
          <p:cNvPr id="18" name="Text 16"/>
          <p:cNvSpPr/>
          <p:nvPr/>
        </p:nvSpPr>
        <p:spPr>
          <a:xfrm>
            <a:off x="457200" y="5875020"/>
            <a:ext cx="8229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dirty="0">
                <a:solidFill>
                  <a:srgbClr val="99999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Sources: CreditSights / MUFG hyperscaler capex 2026 estimates; Jensen Huang (Sept 2025); Strategy Research.</a:t>
            </a:r>
            <a:endParaRPr lang="en-US" sz="700" dirty="0"/>
          </a:p>
        </p:txBody>
      </p:sp>
      <p:sp>
        <p:nvSpPr>
          <p:cNvPr id="19" name="Shape 17"/>
          <p:cNvSpPr/>
          <p:nvPr/>
        </p:nvSpPr>
        <p:spPr>
          <a:xfrm>
            <a:off x="0" y="6286500"/>
            <a:ext cx="9144000" cy="571500"/>
          </a:xfrm>
          <a:prstGeom prst="rect">
            <a:avLst/>
          </a:prstGeom>
          <a:solidFill>
            <a:srgbClr val="000000"/>
          </a:solidFill>
          <a:ln w="12700">
            <a:solidFill>
              <a:srgbClr val="000000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1371600" y="6332220"/>
            <a:ext cx="6400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FOR INFORMATIONAL PURPOSES ONLY. NOT INVESTMENT ADVICE. PAST PERFORMANCE IS NOT INDICATIVE OF FUTURE RESULTS.</a:t>
            </a:r>
            <a:endParaRPr lang="en-US" sz="650" dirty="0"/>
          </a:p>
        </p:txBody>
      </p:sp>
      <p:sp>
        <p:nvSpPr>
          <p:cNvPr id="21" name="Text 19"/>
          <p:cNvSpPr/>
          <p:nvPr/>
        </p:nvSpPr>
        <p:spPr>
          <a:xfrm>
            <a:off x="8321040" y="6405372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9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7132320" y="164592"/>
            <a:ext cx="1737360" cy="292608"/>
          </a:xfrm>
          <a:prstGeom prst="roundRect">
            <a:avLst>
              <a:gd name="adj" fmla="val 15625"/>
            </a:avLst>
          </a:prstGeom>
          <a:solidFill>
            <a:srgbClr val="008B8B"/>
          </a:solidFill>
          <a:ln w="12700">
            <a:solidFill>
              <a:srgbClr val="008B8B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7132320" y="164592"/>
            <a:ext cx="17373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spc="100" kern="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LANDSCAPE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457200" y="182880"/>
            <a:ext cx="65836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400" b="1" dirty="0">
                <a:solidFill>
                  <a:srgbClr val="000000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AI evolution from chatbots to agents.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457200" y="914400"/>
            <a:ext cx="8229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Software that learns from data, reasons through problems, and — increasingly — takes action without human direction.</a:t>
            </a:r>
            <a:endParaRPr lang="en-US" sz="1350" dirty="0"/>
          </a:p>
        </p:txBody>
      </p:sp>
      <p:sp>
        <p:nvSpPr>
          <p:cNvPr id="6" name="Shape 4"/>
          <p:cNvSpPr/>
          <p:nvPr/>
        </p:nvSpPr>
        <p:spPr>
          <a:xfrm>
            <a:off x="457200" y="1325880"/>
            <a:ext cx="8229600" cy="0"/>
          </a:xfrm>
          <a:prstGeom prst="line">
            <a:avLst/>
          </a:prstGeom>
          <a:noFill/>
          <a:ln w="9525">
            <a:solidFill>
              <a:srgbClr val="E5E5E5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640080" y="2011680"/>
            <a:ext cx="7863840" cy="0"/>
          </a:xfrm>
          <a:prstGeom prst="line">
            <a:avLst/>
          </a:prstGeom>
          <a:noFill/>
          <a:ln w="31750">
            <a:solidFill>
              <a:srgbClr val="666666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1176528" y="1892808"/>
            <a:ext cx="237744" cy="237744"/>
          </a:xfrm>
          <a:prstGeom prst="ellipse">
            <a:avLst/>
          </a:prstGeom>
          <a:solidFill>
            <a:srgbClr val="666666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666293" y="2212848"/>
            <a:ext cx="1258214" cy="3291840"/>
          </a:xfrm>
          <a:prstGeom prst="rect">
            <a:avLst/>
          </a:prstGeom>
          <a:solidFill>
            <a:srgbClr val="F9F9F9"/>
          </a:solidFill>
          <a:ln w="6350">
            <a:solidFill>
              <a:srgbClr val="E5E5E5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666293" y="2212848"/>
            <a:ext cx="54864" cy="3291840"/>
          </a:xfrm>
          <a:prstGeom prst="rect">
            <a:avLst/>
          </a:prstGeom>
          <a:solidFill>
            <a:srgbClr val="666666"/>
          </a:solidFill>
          <a:ln w="12700">
            <a:solidFill>
              <a:srgbClr val="66666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794309" y="2331720"/>
            <a:ext cx="107533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1950s–80s</a:t>
            </a:r>
            <a:endParaRPr lang="en-US" sz="900" dirty="0"/>
          </a:p>
        </p:txBody>
      </p:sp>
      <p:sp>
        <p:nvSpPr>
          <p:cNvPr id="12" name="Text 10"/>
          <p:cNvSpPr/>
          <p:nvPr/>
        </p:nvSpPr>
        <p:spPr>
          <a:xfrm>
            <a:off x="794309" y="2633472"/>
            <a:ext cx="1075334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Symbolic AI</a:t>
            </a:r>
            <a:endParaRPr lang="en-US" sz="1200" dirty="0"/>
          </a:p>
        </p:txBody>
      </p:sp>
      <p:sp>
        <p:nvSpPr>
          <p:cNvPr id="13" name="Text 11"/>
          <p:cNvSpPr/>
          <p:nvPr/>
        </p:nvSpPr>
        <p:spPr>
          <a:xfrm>
            <a:off x="794309" y="3108960"/>
            <a:ext cx="1075334" cy="2331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Hand-coded rules. Expert systems with narrow recall.</a:t>
            </a:r>
            <a:endParaRPr lang="en-US" sz="950" dirty="0"/>
          </a:p>
        </p:txBody>
      </p:sp>
      <p:sp>
        <p:nvSpPr>
          <p:cNvPr id="14" name="Shape 12"/>
          <p:cNvSpPr/>
          <p:nvPr/>
        </p:nvSpPr>
        <p:spPr>
          <a:xfrm>
            <a:off x="2487168" y="1892808"/>
            <a:ext cx="237744" cy="237744"/>
          </a:xfrm>
          <a:prstGeom prst="ellipse">
            <a:avLst/>
          </a:prstGeom>
          <a:solidFill>
            <a:srgbClr val="008B8B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1976933" y="2212848"/>
            <a:ext cx="1258214" cy="3291840"/>
          </a:xfrm>
          <a:prstGeom prst="rect">
            <a:avLst/>
          </a:prstGeom>
          <a:solidFill>
            <a:srgbClr val="F9F9F9"/>
          </a:solidFill>
          <a:ln w="6350">
            <a:solidFill>
              <a:srgbClr val="E5E5E5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1976933" y="2212848"/>
            <a:ext cx="54864" cy="3291840"/>
          </a:xfrm>
          <a:prstGeom prst="rect">
            <a:avLst/>
          </a:prstGeom>
          <a:solidFill>
            <a:srgbClr val="008B8B"/>
          </a:solidFill>
          <a:ln w="12700">
            <a:solidFill>
              <a:srgbClr val="008B8B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2104949" y="2331720"/>
            <a:ext cx="107533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1990s–2000s</a:t>
            </a:r>
            <a:endParaRPr lang="en-US" sz="900" dirty="0"/>
          </a:p>
        </p:txBody>
      </p:sp>
      <p:sp>
        <p:nvSpPr>
          <p:cNvPr id="18" name="Text 16"/>
          <p:cNvSpPr/>
          <p:nvPr/>
        </p:nvSpPr>
        <p:spPr>
          <a:xfrm>
            <a:off x="2104949" y="2633472"/>
            <a:ext cx="1075334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Machine Learning</a:t>
            </a:r>
            <a:endParaRPr lang="en-US" sz="1200" dirty="0"/>
          </a:p>
        </p:txBody>
      </p:sp>
      <p:sp>
        <p:nvSpPr>
          <p:cNvPr id="19" name="Text 17"/>
          <p:cNvSpPr/>
          <p:nvPr/>
        </p:nvSpPr>
        <p:spPr>
          <a:xfrm>
            <a:off x="2104949" y="3108960"/>
            <a:ext cx="1075334" cy="2331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Systems learn patterns from data, not rules.</a:t>
            </a:r>
            <a:endParaRPr lang="en-US" sz="950" dirty="0"/>
          </a:p>
        </p:txBody>
      </p:sp>
      <p:sp>
        <p:nvSpPr>
          <p:cNvPr id="20" name="Shape 18"/>
          <p:cNvSpPr/>
          <p:nvPr/>
        </p:nvSpPr>
        <p:spPr>
          <a:xfrm>
            <a:off x="3797808" y="1892808"/>
            <a:ext cx="237744" cy="237744"/>
          </a:xfrm>
          <a:prstGeom prst="ellipse">
            <a:avLst/>
          </a:prstGeom>
          <a:solidFill>
            <a:srgbClr val="FFB800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3287573" y="2212848"/>
            <a:ext cx="1258214" cy="3291840"/>
          </a:xfrm>
          <a:prstGeom prst="rect">
            <a:avLst/>
          </a:prstGeom>
          <a:solidFill>
            <a:srgbClr val="F9F9F9"/>
          </a:solidFill>
          <a:ln w="6350">
            <a:solidFill>
              <a:srgbClr val="E5E5E5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3287573" y="2212848"/>
            <a:ext cx="54864" cy="3291840"/>
          </a:xfrm>
          <a:prstGeom prst="rect">
            <a:avLst/>
          </a:prstGeom>
          <a:solidFill>
            <a:srgbClr val="FFB800"/>
          </a:solidFill>
          <a:ln w="12700">
            <a:solidFill>
              <a:srgbClr val="FFB80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415589" y="2331720"/>
            <a:ext cx="107533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2012</a:t>
            </a:r>
            <a:endParaRPr lang="en-US" sz="900" dirty="0"/>
          </a:p>
        </p:txBody>
      </p:sp>
      <p:sp>
        <p:nvSpPr>
          <p:cNvPr id="24" name="Text 22"/>
          <p:cNvSpPr/>
          <p:nvPr/>
        </p:nvSpPr>
        <p:spPr>
          <a:xfrm>
            <a:off x="3415589" y="2633472"/>
            <a:ext cx="1075334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Deep Learning</a:t>
            </a:r>
            <a:endParaRPr lang="en-US" sz="1200" dirty="0"/>
          </a:p>
        </p:txBody>
      </p:sp>
      <p:sp>
        <p:nvSpPr>
          <p:cNvPr id="25" name="Text 23"/>
          <p:cNvSpPr/>
          <p:nvPr/>
        </p:nvSpPr>
        <p:spPr>
          <a:xfrm>
            <a:off x="3415589" y="3108960"/>
            <a:ext cx="1075334" cy="2331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Neural networks go deep. AlexNet, the first breakthrough.</a:t>
            </a:r>
            <a:endParaRPr lang="en-US" sz="950" dirty="0"/>
          </a:p>
        </p:txBody>
      </p:sp>
      <p:sp>
        <p:nvSpPr>
          <p:cNvPr id="26" name="Shape 24"/>
          <p:cNvSpPr/>
          <p:nvPr/>
        </p:nvSpPr>
        <p:spPr>
          <a:xfrm>
            <a:off x="5108448" y="1892808"/>
            <a:ext cx="237744" cy="237744"/>
          </a:xfrm>
          <a:prstGeom prst="ellipse">
            <a:avLst/>
          </a:prstGeom>
          <a:solidFill>
            <a:srgbClr val="F6693D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4598213" y="2212848"/>
            <a:ext cx="1258214" cy="3291840"/>
          </a:xfrm>
          <a:prstGeom prst="rect">
            <a:avLst/>
          </a:prstGeom>
          <a:solidFill>
            <a:srgbClr val="FFF8F3"/>
          </a:solidFill>
          <a:ln w="6350">
            <a:solidFill>
              <a:srgbClr val="E5E5E5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4598213" y="2212848"/>
            <a:ext cx="54864" cy="3291840"/>
          </a:xfrm>
          <a:prstGeom prst="rect">
            <a:avLst/>
          </a:prstGeom>
          <a:solidFill>
            <a:srgbClr val="F6693D"/>
          </a:solidFill>
          <a:ln w="12700">
            <a:solidFill>
              <a:srgbClr val="F6693D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4726229" y="2331720"/>
            <a:ext cx="107533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2022–24</a:t>
            </a:r>
            <a:endParaRPr lang="en-US" sz="900" dirty="0"/>
          </a:p>
        </p:txBody>
      </p:sp>
      <p:sp>
        <p:nvSpPr>
          <p:cNvPr id="30" name="Text 28"/>
          <p:cNvSpPr/>
          <p:nvPr/>
        </p:nvSpPr>
        <p:spPr>
          <a:xfrm>
            <a:off x="4726229" y="2633472"/>
            <a:ext cx="1075334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LLM chatbots</a:t>
            </a:r>
            <a:endParaRPr lang="en-US" sz="1300" dirty="0"/>
          </a:p>
        </p:txBody>
      </p:sp>
      <p:sp>
        <p:nvSpPr>
          <p:cNvPr id="31" name="Text 29"/>
          <p:cNvSpPr/>
          <p:nvPr/>
        </p:nvSpPr>
        <p:spPr>
          <a:xfrm>
            <a:off x="4726229" y="3108960"/>
            <a:ext cx="1075334" cy="2331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ChatGPT hits 100M users in 2 months. Claude, Gemini follow.</a:t>
            </a:r>
            <a:endParaRPr lang="en-US" sz="950" dirty="0"/>
          </a:p>
        </p:txBody>
      </p:sp>
      <p:sp>
        <p:nvSpPr>
          <p:cNvPr id="32" name="Shape 30"/>
          <p:cNvSpPr/>
          <p:nvPr/>
        </p:nvSpPr>
        <p:spPr>
          <a:xfrm>
            <a:off x="6419088" y="1892808"/>
            <a:ext cx="237744" cy="237744"/>
          </a:xfrm>
          <a:prstGeom prst="ellipse">
            <a:avLst/>
          </a:prstGeom>
          <a:solidFill>
            <a:srgbClr val="E8478D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>
            <a:off x="5908853" y="2212848"/>
            <a:ext cx="1258214" cy="3291840"/>
          </a:xfrm>
          <a:prstGeom prst="rect">
            <a:avLst/>
          </a:prstGeom>
          <a:solidFill>
            <a:srgbClr val="F9F9F9"/>
          </a:solidFill>
          <a:ln w="6350">
            <a:solidFill>
              <a:srgbClr val="E5E5E5"/>
            </a:solidFill>
            <a:prstDash val="solid"/>
          </a:ln>
        </p:spPr>
      </p:sp>
      <p:sp>
        <p:nvSpPr>
          <p:cNvPr id="34" name="Shape 32"/>
          <p:cNvSpPr/>
          <p:nvPr/>
        </p:nvSpPr>
        <p:spPr>
          <a:xfrm>
            <a:off x="5908853" y="2212848"/>
            <a:ext cx="54864" cy="3291840"/>
          </a:xfrm>
          <a:prstGeom prst="rect">
            <a:avLst/>
          </a:prstGeom>
          <a:solidFill>
            <a:srgbClr val="E8478D"/>
          </a:solidFill>
          <a:ln w="12700">
            <a:solidFill>
              <a:srgbClr val="E8478D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6036869" y="2331720"/>
            <a:ext cx="107533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2023–24</a:t>
            </a:r>
            <a:endParaRPr lang="en-US" sz="900" dirty="0"/>
          </a:p>
        </p:txBody>
      </p:sp>
      <p:sp>
        <p:nvSpPr>
          <p:cNvPr id="36" name="Text 34"/>
          <p:cNvSpPr/>
          <p:nvPr/>
        </p:nvSpPr>
        <p:spPr>
          <a:xfrm>
            <a:off x="6036869" y="2633472"/>
            <a:ext cx="1075334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Reasoning</a:t>
            </a:r>
            <a:endParaRPr lang="en-US" sz="1200" dirty="0"/>
          </a:p>
        </p:txBody>
      </p:sp>
      <p:sp>
        <p:nvSpPr>
          <p:cNvPr id="37" name="Text 35"/>
          <p:cNvSpPr/>
          <p:nvPr/>
        </p:nvSpPr>
        <p:spPr>
          <a:xfrm>
            <a:off x="6036869" y="3108960"/>
            <a:ext cx="1075334" cy="2331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Multi-step logic, chain-of-thought. o1, DeepSeek R1.</a:t>
            </a:r>
            <a:endParaRPr lang="en-US" sz="950" dirty="0"/>
          </a:p>
        </p:txBody>
      </p:sp>
      <p:sp>
        <p:nvSpPr>
          <p:cNvPr id="38" name="Shape 36"/>
          <p:cNvSpPr/>
          <p:nvPr/>
        </p:nvSpPr>
        <p:spPr>
          <a:xfrm>
            <a:off x="7729728" y="1892808"/>
            <a:ext cx="237744" cy="237744"/>
          </a:xfrm>
          <a:prstGeom prst="ellipse">
            <a:avLst/>
          </a:prstGeom>
          <a:solidFill>
            <a:srgbClr val="CC0000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39" name="Shape 37"/>
          <p:cNvSpPr/>
          <p:nvPr/>
        </p:nvSpPr>
        <p:spPr>
          <a:xfrm>
            <a:off x="7219493" y="2212848"/>
            <a:ext cx="1258214" cy="3291840"/>
          </a:xfrm>
          <a:prstGeom prst="rect">
            <a:avLst/>
          </a:prstGeom>
          <a:solidFill>
            <a:srgbClr val="FFF8F3"/>
          </a:solidFill>
          <a:ln w="6350">
            <a:solidFill>
              <a:srgbClr val="E5E5E5"/>
            </a:solidFill>
            <a:prstDash val="solid"/>
          </a:ln>
        </p:spPr>
      </p:sp>
      <p:sp>
        <p:nvSpPr>
          <p:cNvPr id="40" name="Shape 38"/>
          <p:cNvSpPr/>
          <p:nvPr/>
        </p:nvSpPr>
        <p:spPr>
          <a:xfrm>
            <a:off x="7219493" y="2212848"/>
            <a:ext cx="54864" cy="3291840"/>
          </a:xfrm>
          <a:prstGeom prst="rect">
            <a:avLst/>
          </a:prstGeom>
          <a:solidFill>
            <a:srgbClr val="CC0000"/>
          </a:solidFill>
          <a:ln w="12700">
            <a:solidFill>
              <a:srgbClr val="CC0000"/>
            </a:solidFill>
            <a:prstDash val="solid"/>
          </a:ln>
        </p:spPr>
      </p:sp>
      <p:sp>
        <p:nvSpPr>
          <p:cNvPr id="41" name="Text 39"/>
          <p:cNvSpPr/>
          <p:nvPr/>
        </p:nvSpPr>
        <p:spPr>
          <a:xfrm>
            <a:off x="7347509" y="2331720"/>
            <a:ext cx="107533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2025+</a:t>
            </a:r>
            <a:endParaRPr lang="en-US" sz="900" dirty="0"/>
          </a:p>
        </p:txBody>
      </p:sp>
      <p:sp>
        <p:nvSpPr>
          <p:cNvPr id="42" name="Text 40"/>
          <p:cNvSpPr/>
          <p:nvPr/>
        </p:nvSpPr>
        <p:spPr>
          <a:xfrm>
            <a:off x="7347509" y="2633472"/>
            <a:ext cx="1075334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Agentic AI</a:t>
            </a:r>
            <a:endParaRPr lang="en-US" sz="1300" dirty="0"/>
          </a:p>
        </p:txBody>
      </p:sp>
      <p:sp>
        <p:nvSpPr>
          <p:cNvPr id="43" name="Text 41"/>
          <p:cNvSpPr/>
          <p:nvPr/>
        </p:nvSpPr>
        <p:spPr>
          <a:xfrm>
            <a:off x="7347509" y="3108960"/>
            <a:ext cx="1075334" cy="2331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AI that uses tools and acts autonomously. Claude Code, agents.</a:t>
            </a:r>
            <a:endParaRPr lang="en-US" sz="950" dirty="0"/>
          </a:p>
        </p:txBody>
      </p:sp>
      <p:sp>
        <p:nvSpPr>
          <p:cNvPr id="44" name="Text 42"/>
          <p:cNvSpPr/>
          <p:nvPr/>
        </p:nvSpPr>
        <p:spPr>
          <a:xfrm>
            <a:off x="457200" y="5875020"/>
            <a:ext cx="8229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dirty="0">
                <a:solidFill>
                  <a:srgbClr val="99999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Source: Strategy Research.</a:t>
            </a:r>
            <a:endParaRPr lang="en-US" sz="700" dirty="0"/>
          </a:p>
        </p:txBody>
      </p:sp>
      <p:sp>
        <p:nvSpPr>
          <p:cNvPr id="45" name="Shape 43"/>
          <p:cNvSpPr/>
          <p:nvPr/>
        </p:nvSpPr>
        <p:spPr>
          <a:xfrm>
            <a:off x="0" y="6286500"/>
            <a:ext cx="9144000" cy="571500"/>
          </a:xfrm>
          <a:prstGeom prst="rect">
            <a:avLst/>
          </a:prstGeom>
          <a:solidFill>
            <a:srgbClr val="000000"/>
          </a:solidFill>
          <a:ln w="12700">
            <a:solidFill>
              <a:srgbClr val="000000"/>
            </a:solidFill>
            <a:prstDash val="solid"/>
          </a:ln>
        </p:spPr>
      </p:sp>
      <p:sp>
        <p:nvSpPr>
          <p:cNvPr id="46" name="Text 44"/>
          <p:cNvSpPr/>
          <p:nvPr/>
        </p:nvSpPr>
        <p:spPr>
          <a:xfrm>
            <a:off x="1371600" y="6332220"/>
            <a:ext cx="6400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FOR INFORMATIONAL PURPOSES ONLY. NOT INVESTMENT ADVICE. PAST PERFORMANCE IS NOT INDICATIVE OF FUTURE RESULTS.</a:t>
            </a:r>
            <a:endParaRPr lang="en-US" sz="650" dirty="0"/>
          </a:p>
        </p:txBody>
      </p:sp>
      <p:sp>
        <p:nvSpPr>
          <p:cNvPr id="47" name="Text 45"/>
          <p:cNvSpPr/>
          <p:nvPr/>
        </p:nvSpPr>
        <p:spPr>
          <a:xfrm>
            <a:off x="8321040" y="6405372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</a:t>
            </a:r>
            <a:endParaRPr lang="en-US" sz="9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7132320" y="164592"/>
            <a:ext cx="1737360" cy="292608"/>
          </a:xfrm>
          <a:prstGeom prst="roundRect">
            <a:avLst>
              <a:gd name="adj" fmla="val 15625"/>
            </a:avLst>
          </a:prstGeom>
          <a:solidFill>
            <a:srgbClr val="008B8B"/>
          </a:solidFill>
          <a:ln w="12700">
            <a:solidFill>
              <a:srgbClr val="008B8B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7132320" y="164592"/>
            <a:ext cx="17373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spc="100" kern="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LANDSCAPE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457200" y="182880"/>
            <a:ext cx="65836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400" b="1" dirty="0">
                <a:solidFill>
                  <a:srgbClr val="000000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The AI stack.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457200" y="1325880"/>
            <a:ext cx="8229600" cy="0"/>
          </a:xfrm>
          <a:prstGeom prst="line">
            <a:avLst/>
          </a:prstGeom>
          <a:noFill/>
          <a:ln w="9525">
            <a:solidFill>
              <a:srgbClr val="E5E5E5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457200" y="1600200"/>
            <a:ext cx="256032" cy="1097280"/>
          </a:xfrm>
          <a:prstGeom prst="rect">
            <a:avLst/>
          </a:prstGeom>
          <a:solidFill>
            <a:srgbClr val="F6693D"/>
          </a:solidFill>
          <a:ln w="12700">
            <a:solidFill>
              <a:srgbClr val="F6693D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77240" y="1600200"/>
            <a:ext cx="128016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300" kern="0" dirty="0">
                <a:solidFill>
                  <a:srgbClr val="F6693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USER</a:t>
            </a:r>
            <a:endParaRPr lang="en-US" sz="1000" dirty="0"/>
          </a:p>
        </p:txBody>
      </p:sp>
      <p:sp>
        <p:nvSpPr>
          <p:cNvPr id="8" name="Shape 6"/>
          <p:cNvSpPr/>
          <p:nvPr/>
        </p:nvSpPr>
        <p:spPr>
          <a:xfrm>
            <a:off x="457200" y="2743200"/>
            <a:ext cx="256032" cy="1097280"/>
          </a:xfrm>
          <a:prstGeom prst="rect">
            <a:avLst/>
          </a:prstGeom>
          <a:solidFill>
            <a:srgbClr val="FFB800"/>
          </a:solidFill>
          <a:ln w="12700">
            <a:solidFill>
              <a:srgbClr val="FFB80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777240" y="2743200"/>
            <a:ext cx="128016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300" kern="0" dirty="0">
                <a:solidFill>
                  <a:srgbClr val="FFB8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COMPUTE</a:t>
            </a:r>
            <a:endParaRPr lang="en-US" sz="1000" dirty="0"/>
          </a:p>
        </p:txBody>
      </p:sp>
      <p:sp>
        <p:nvSpPr>
          <p:cNvPr id="10" name="Shape 8"/>
          <p:cNvSpPr/>
          <p:nvPr/>
        </p:nvSpPr>
        <p:spPr>
          <a:xfrm>
            <a:off x="457200" y="3886200"/>
            <a:ext cx="256032" cy="1097280"/>
          </a:xfrm>
          <a:prstGeom prst="rect">
            <a:avLst/>
          </a:prstGeom>
          <a:solidFill>
            <a:srgbClr val="008B8B"/>
          </a:solidFill>
          <a:ln w="12700">
            <a:solidFill>
              <a:srgbClr val="008B8B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777240" y="3886200"/>
            <a:ext cx="128016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300" kern="0" dirty="0">
                <a:solidFill>
                  <a:srgbClr val="008B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SILICON</a:t>
            </a:r>
            <a:endParaRPr lang="en-US" sz="1000" dirty="0"/>
          </a:p>
        </p:txBody>
      </p:sp>
      <p:sp>
        <p:nvSpPr>
          <p:cNvPr id="12" name="Shape 10"/>
          <p:cNvSpPr/>
          <p:nvPr/>
        </p:nvSpPr>
        <p:spPr>
          <a:xfrm>
            <a:off x="457200" y="5029200"/>
            <a:ext cx="256032" cy="731520"/>
          </a:xfrm>
          <a:prstGeom prst="rect">
            <a:avLst/>
          </a:prstGeom>
          <a:solidFill>
            <a:srgbClr val="666666"/>
          </a:solidFill>
          <a:ln w="12700">
            <a:solidFill>
              <a:srgbClr val="666666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777240" y="5029200"/>
            <a:ext cx="12801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300" kern="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MATERIALS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>
            <a:off x="2103120" y="1645920"/>
            <a:ext cx="6583680" cy="320040"/>
          </a:xfrm>
          <a:prstGeom prst="rect">
            <a:avLst/>
          </a:prstGeom>
          <a:solidFill>
            <a:srgbClr val="F9F9F9"/>
          </a:solidFill>
          <a:ln w="3810">
            <a:solidFill>
              <a:srgbClr val="E5E5E5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2240280" y="1737360"/>
            <a:ext cx="137160" cy="137160"/>
          </a:xfrm>
          <a:prstGeom prst="ellipse">
            <a:avLst/>
          </a:prstGeom>
          <a:solidFill>
            <a:srgbClr val="F6693D"/>
          </a:solidFill>
          <a:ln w="12700">
            <a:solidFill>
              <a:srgbClr val="F6693D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2468880" y="1645920"/>
            <a:ext cx="21031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Agents</a:t>
            </a:r>
            <a:endParaRPr lang="en-US" sz="1200" dirty="0"/>
          </a:p>
        </p:txBody>
      </p:sp>
      <p:sp>
        <p:nvSpPr>
          <p:cNvPr id="17" name="Text 15"/>
          <p:cNvSpPr/>
          <p:nvPr/>
        </p:nvSpPr>
        <p:spPr>
          <a:xfrm>
            <a:off x="4572000" y="1645920"/>
            <a:ext cx="40233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Autonomous AI that acts on your behalf</a:t>
            </a:r>
            <a:endParaRPr lang="en-US" sz="1050" dirty="0"/>
          </a:p>
        </p:txBody>
      </p:sp>
      <p:sp>
        <p:nvSpPr>
          <p:cNvPr id="18" name="Shape 16"/>
          <p:cNvSpPr/>
          <p:nvPr/>
        </p:nvSpPr>
        <p:spPr>
          <a:xfrm>
            <a:off x="2103120" y="2011680"/>
            <a:ext cx="6583680" cy="320040"/>
          </a:xfrm>
          <a:prstGeom prst="rect">
            <a:avLst/>
          </a:prstGeom>
          <a:solidFill>
            <a:srgbClr val="F9F9F9"/>
          </a:solidFill>
          <a:ln w="3810">
            <a:solidFill>
              <a:srgbClr val="E5E5E5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2240280" y="2103120"/>
            <a:ext cx="137160" cy="137160"/>
          </a:xfrm>
          <a:prstGeom prst="ellipse">
            <a:avLst/>
          </a:prstGeom>
          <a:solidFill>
            <a:srgbClr val="F6693D"/>
          </a:solidFill>
          <a:ln w="12700">
            <a:solidFill>
              <a:srgbClr val="F6693D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2468880" y="2011680"/>
            <a:ext cx="21031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Apps</a:t>
            </a:r>
            <a:endParaRPr lang="en-US" sz="1200" dirty="0"/>
          </a:p>
        </p:txBody>
      </p:sp>
      <p:sp>
        <p:nvSpPr>
          <p:cNvPr id="21" name="Text 19"/>
          <p:cNvSpPr/>
          <p:nvPr/>
        </p:nvSpPr>
        <p:spPr>
          <a:xfrm>
            <a:off x="4572000" y="2011680"/>
            <a:ext cx="40233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Products built on foundation models</a:t>
            </a:r>
            <a:endParaRPr lang="en-US" sz="1050" dirty="0"/>
          </a:p>
        </p:txBody>
      </p:sp>
      <p:sp>
        <p:nvSpPr>
          <p:cNvPr id="22" name="Shape 20"/>
          <p:cNvSpPr/>
          <p:nvPr/>
        </p:nvSpPr>
        <p:spPr>
          <a:xfrm>
            <a:off x="2103120" y="2377440"/>
            <a:ext cx="6583680" cy="320040"/>
          </a:xfrm>
          <a:prstGeom prst="rect">
            <a:avLst/>
          </a:prstGeom>
          <a:solidFill>
            <a:srgbClr val="F9F9F9"/>
          </a:solidFill>
          <a:ln w="3810">
            <a:solidFill>
              <a:srgbClr val="E5E5E5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2240280" y="2468880"/>
            <a:ext cx="137160" cy="137160"/>
          </a:xfrm>
          <a:prstGeom prst="ellipse">
            <a:avLst/>
          </a:prstGeom>
          <a:solidFill>
            <a:srgbClr val="F6693D"/>
          </a:solidFill>
          <a:ln w="12700">
            <a:solidFill>
              <a:srgbClr val="F6693D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2468880" y="2377440"/>
            <a:ext cx="21031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Models</a:t>
            </a:r>
            <a:endParaRPr lang="en-US" sz="1200" dirty="0"/>
          </a:p>
        </p:txBody>
      </p:sp>
      <p:sp>
        <p:nvSpPr>
          <p:cNvPr id="25" name="Text 23"/>
          <p:cNvSpPr/>
          <p:nvPr/>
        </p:nvSpPr>
        <p:spPr>
          <a:xfrm>
            <a:off x="4572000" y="2377440"/>
            <a:ext cx="40233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intelligence layer</a:t>
            </a:r>
            <a:endParaRPr lang="en-US" sz="1050" dirty="0"/>
          </a:p>
        </p:txBody>
      </p:sp>
      <p:sp>
        <p:nvSpPr>
          <p:cNvPr id="26" name="Shape 24"/>
          <p:cNvSpPr/>
          <p:nvPr/>
        </p:nvSpPr>
        <p:spPr>
          <a:xfrm>
            <a:off x="2103120" y="2788920"/>
            <a:ext cx="6583680" cy="320040"/>
          </a:xfrm>
          <a:prstGeom prst="rect">
            <a:avLst/>
          </a:prstGeom>
          <a:solidFill>
            <a:srgbClr val="F9F9F9"/>
          </a:solidFill>
          <a:ln w="3810">
            <a:solidFill>
              <a:srgbClr val="E5E5E5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2240280" y="2880360"/>
            <a:ext cx="137160" cy="137160"/>
          </a:xfrm>
          <a:prstGeom prst="ellipse">
            <a:avLst/>
          </a:prstGeom>
          <a:solidFill>
            <a:srgbClr val="FFB800"/>
          </a:solidFill>
          <a:ln w="12700">
            <a:solidFill>
              <a:srgbClr val="FFB800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2468880" y="2788920"/>
            <a:ext cx="21031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Data centers</a:t>
            </a:r>
            <a:endParaRPr lang="en-US" sz="1200" dirty="0"/>
          </a:p>
        </p:txBody>
      </p:sp>
      <p:sp>
        <p:nvSpPr>
          <p:cNvPr id="29" name="Text 27"/>
          <p:cNvSpPr/>
          <p:nvPr/>
        </p:nvSpPr>
        <p:spPr>
          <a:xfrm>
            <a:off x="4572000" y="2788920"/>
            <a:ext cx="40233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Warehouses of compute</a:t>
            </a:r>
            <a:endParaRPr lang="en-US" sz="1050" dirty="0"/>
          </a:p>
        </p:txBody>
      </p:sp>
      <p:sp>
        <p:nvSpPr>
          <p:cNvPr id="30" name="Shape 28"/>
          <p:cNvSpPr/>
          <p:nvPr/>
        </p:nvSpPr>
        <p:spPr>
          <a:xfrm>
            <a:off x="2103120" y="3154680"/>
            <a:ext cx="6583680" cy="320040"/>
          </a:xfrm>
          <a:prstGeom prst="rect">
            <a:avLst/>
          </a:prstGeom>
          <a:solidFill>
            <a:srgbClr val="F9F9F9"/>
          </a:solidFill>
          <a:ln w="3810">
            <a:solidFill>
              <a:srgbClr val="E5E5E5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2240280" y="3246120"/>
            <a:ext cx="137160" cy="137160"/>
          </a:xfrm>
          <a:prstGeom prst="ellipse">
            <a:avLst/>
          </a:prstGeom>
          <a:solidFill>
            <a:srgbClr val="FFB800"/>
          </a:solidFill>
          <a:ln w="12700">
            <a:solidFill>
              <a:srgbClr val="FFB800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2468880" y="3154680"/>
            <a:ext cx="21031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Power</a:t>
            </a:r>
            <a:endParaRPr lang="en-US" sz="1200" dirty="0"/>
          </a:p>
        </p:txBody>
      </p:sp>
      <p:sp>
        <p:nvSpPr>
          <p:cNvPr id="33" name="Text 31"/>
          <p:cNvSpPr/>
          <p:nvPr/>
        </p:nvSpPr>
        <p:spPr>
          <a:xfrm>
            <a:off x="4572000" y="3154680"/>
            <a:ext cx="40233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hidden constraint</a:t>
            </a:r>
            <a:endParaRPr lang="en-US" sz="1050" dirty="0"/>
          </a:p>
        </p:txBody>
      </p:sp>
      <p:sp>
        <p:nvSpPr>
          <p:cNvPr id="34" name="Shape 32"/>
          <p:cNvSpPr/>
          <p:nvPr/>
        </p:nvSpPr>
        <p:spPr>
          <a:xfrm>
            <a:off x="2103120" y="3520440"/>
            <a:ext cx="6583680" cy="320040"/>
          </a:xfrm>
          <a:prstGeom prst="rect">
            <a:avLst/>
          </a:prstGeom>
          <a:solidFill>
            <a:srgbClr val="F9F9F9"/>
          </a:solidFill>
          <a:ln w="3810">
            <a:solidFill>
              <a:srgbClr val="E5E5E5"/>
            </a:solidFill>
            <a:prstDash val="solid"/>
          </a:ln>
        </p:spPr>
      </p:sp>
      <p:sp>
        <p:nvSpPr>
          <p:cNvPr id="35" name="Shape 33"/>
          <p:cNvSpPr/>
          <p:nvPr/>
        </p:nvSpPr>
        <p:spPr>
          <a:xfrm>
            <a:off x="2240280" y="3611880"/>
            <a:ext cx="137160" cy="137160"/>
          </a:xfrm>
          <a:prstGeom prst="ellipse">
            <a:avLst/>
          </a:prstGeom>
          <a:solidFill>
            <a:srgbClr val="FFB800"/>
          </a:solidFill>
          <a:ln w="12700">
            <a:solidFill>
              <a:srgbClr val="FFB800"/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2468880" y="3520440"/>
            <a:ext cx="21031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Networking</a:t>
            </a:r>
            <a:endParaRPr lang="en-US" sz="1200" dirty="0"/>
          </a:p>
        </p:txBody>
      </p:sp>
      <p:sp>
        <p:nvSpPr>
          <p:cNvPr id="37" name="Text 35"/>
          <p:cNvSpPr/>
          <p:nvPr/>
        </p:nvSpPr>
        <p:spPr>
          <a:xfrm>
            <a:off x="4572000" y="3520440"/>
            <a:ext cx="40233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Moving data at terabit speed</a:t>
            </a:r>
            <a:endParaRPr lang="en-US" sz="1050" dirty="0"/>
          </a:p>
        </p:txBody>
      </p:sp>
      <p:sp>
        <p:nvSpPr>
          <p:cNvPr id="38" name="Shape 36"/>
          <p:cNvSpPr/>
          <p:nvPr/>
        </p:nvSpPr>
        <p:spPr>
          <a:xfrm>
            <a:off x="2103120" y="3931920"/>
            <a:ext cx="6583680" cy="320040"/>
          </a:xfrm>
          <a:prstGeom prst="rect">
            <a:avLst/>
          </a:prstGeom>
          <a:solidFill>
            <a:srgbClr val="F9F9F9"/>
          </a:solidFill>
          <a:ln w="3810">
            <a:solidFill>
              <a:srgbClr val="E5E5E5"/>
            </a:solidFill>
            <a:prstDash val="solid"/>
          </a:ln>
        </p:spPr>
      </p:sp>
      <p:sp>
        <p:nvSpPr>
          <p:cNvPr id="39" name="Shape 37"/>
          <p:cNvSpPr/>
          <p:nvPr/>
        </p:nvSpPr>
        <p:spPr>
          <a:xfrm>
            <a:off x="2240280" y="4023360"/>
            <a:ext cx="137160" cy="137160"/>
          </a:xfrm>
          <a:prstGeom prst="ellipse">
            <a:avLst/>
          </a:prstGeom>
          <a:solidFill>
            <a:srgbClr val="008B8B"/>
          </a:solidFill>
          <a:ln w="12700">
            <a:solidFill>
              <a:srgbClr val="008B8B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2468880" y="3931920"/>
            <a:ext cx="21031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Packaging</a:t>
            </a:r>
            <a:endParaRPr lang="en-US" sz="1200" dirty="0"/>
          </a:p>
        </p:txBody>
      </p:sp>
      <p:sp>
        <p:nvSpPr>
          <p:cNvPr id="41" name="Text 39"/>
          <p:cNvSpPr/>
          <p:nvPr/>
        </p:nvSpPr>
        <p:spPr>
          <a:xfrm>
            <a:off x="4572000" y="3931920"/>
            <a:ext cx="40233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Stacking chiplets (CoWoS, HBM)</a:t>
            </a:r>
            <a:endParaRPr lang="en-US" sz="1050" dirty="0"/>
          </a:p>
        </p:txBody>
      </p:sp>
      <p:sp>
        <p:nvSpPr>
          <p:cNvPr id="42" name="Shape 40"/>
          <p:cNvSpPr/>
          <p:nvPr/>
        </p:nvSpPr>
        <p:spPr>
          <a:xfrm>
            <a:off x="2103120" y="4297680"/>
            <a:ext cx="6583680" cy="320040"/>
          </a:xfrm>
          <a:prstGeom prst="rect">
            <a:avLst/>
          </a:prstGeom>
          <a:solidFill>
            <a:srgbClr val="F9F9F9"/>
          </a:solidFill>
          <a:ln w="3810">
            <a:solidFill>
              <a:srgbClr val="E5E5E5"/>
            </a:solidFill>
            <a:prstDash val="solid"/>
          </a:ln>
        </p:spPr>
      </p:sp>
      <p:sp>
        <p:nvSpPr>
          <p:cNvPr id="43" name="Shape 41"/>
          <p:cNvSpPr/>
          <p:nvPr/>
        </p:nvSpPr>
        <p:spPr>
          <a:xfrm>
            <a:off x="2240280" y="4389120"/>
            <a:ext cx="137160" cy="137160"/>
          </a:xfrm>
          <a:prstGeom prst="ellipse">
            <a:avLst/>
          </a:prstGeom>
          <a:solidFill>
            <a:srgbClr val="008B8B"/>
          </a:solidFill>
          <a:ln w="12700">
            <a:solidFill>
              <a:srgbClr val="008B8B"/>
            </a:solidFill>
            <a:prstDash val="solid"/>
          </a:ln>
        </p:spPr>
      </p:sp>
      <p:sp>
        <p:nvSpPr>
          <p:cNvPr id="44" name="Text 42"/>
          <p:cNvSpPr/>
          <p:nvPr/>
        </p:nvSpPr>
        <p:spPr>
          <a:xfrm>
            <a:off x="2468880" y="4297680"/>
            <a:ext cx="21031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Chip design</a:t>
            </a:r>
            <a:endParaRPr lang="en-US" sz="1200" dirty="0"/>
          </a:p>
        </p:txBody>
      </p:sp>
      <p:sp>
        <p:nvSpPr>
          <p:cNvPr id="45" name="Text 43"/>
          <p:cNvSpPr/>
          <p:nvPr/>
        </p:nvSpPr>
        <p:spPr>
          <a:xfrm>
            <a:off x="4572000" y="4297680"/>
            <a:ext cx="40233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GPUs, TPUs, ASICs</a:t>
            </a:r>
            <a:endParaRPr lang="en-US" sz="1050" dirty="0"/>
          </a:p>
        </p:txBody>
      </p:sp>
      <p:sp>
        <p:nvSpPr>
          <p:cNvPr id="46" name="Shape 44"/>
          <p:cNvSpPr/>
          <p:nvPr/>
        </p:nvSpPr>
        <p:spPr>
          <a:xfrm>
            <a:off x="2103120" y="4663440"/>
            <a:ext cx="6583680" cy="320040"/>
          </a:xfrm>
          <a:prstGeom prst="rect">
            <a:avLst/>
          </a:prstGeom>
          <a:solidFill>
            <a:srgbClr val="F9F9F9"/>
          </a:solidFill>
          <a:ln w="3810">
            <a:solidFill>
              <a:srgbClr val="E5E5E5"/>
            </a:solidFill>
            <a:prstDash val="solid"/>
          </a:ln>
        </p:spPr>
      </p:sp>
      <p:sp>
        <p:nvSpPr>
          <p:cNvPr id="47" name="Shape 45"/>
          <p:cNvSpPr/>
          <p:nvPr/>
        </p:nvSpPr>
        <p:spPr>
          <a:xfrm>
            <a:off x="2240280" y="4754880"/>
            <a:ext cx="137160" cy="137160"/>
          </a:xfrm>
          <a:prstGeom prst="ellipse">
            <a:avLst/>
          </a:prstGeom>
          <a:solidFill>
            <a:srgbClr val="008B8B"/>
          </a:solidFill>
          <a:ln w="12700">
            <a:solidFill>
              <a:srgbClr val="008B8B"/>
            </a:solidFill>
            <a:prstDash val="solid"/>
          </a:ln>
        </p:spPr>
      </p:sp>
      <p:sp>
        <p:nvSpPr>
          <p:cNvPr id="48" name="Text 46"/>
          <p:cNvSpPr/>
          <p:nvPr/>
        </p:nvSpPr>
        <p:spPr>
          <a:xfrm>
            <a:off x="2468880" y="4663440"/>
            <a:ext cx="21031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Foundry</a:t>
            </a:r>
            <a:endParaRPr lang="en-US" sz="1200" dirty="0"/>
          </a:p>
        </p:txBody>
      </p:sp>
      <p:sp>
        <p:nvSpPr>
          <p:cNvPr id="49" name="Text 47"/>
          <p:cNvSpPr/>
          <p:nvPr/>
        </p:nvSpPr>
        <p:spPr>
          <a:xfrm>
            <a:off x="4572000" y="4663440"/>
            <a:ext cx="40233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Fabricating at nanometer scale</a:t>
            </a:r>
            <a:endParaRPr lang="en-US" sz="1050" dirty="0"/>
          </a:p>
        </p:txBody>
      </p:sp>
      <p:sp>
        <p:nvSpPr>
          <p:cNvPr id="50" name="Shape 48"/>
          <p:cNvSpPr/>
          <p:nvPr/>
        </p:nvSpPr>
        <p:spPr>
          <a:xfrm>
            <a:off x="2103120" y="5074920"/>
            <a:ext cx="6583680" cy="320040"/>
          </a:xfrm>
          <a:prstGeom prst="rect">
            <a:avLst/>
          </a:prstGeom>
          <a:solidFill>
            <a:srgbClr val="F9F9F9"/>
          </a:solidFill>
          <a:ln w="3810">
            <a:solidFill>
              <a:srgbClr val="E5E5E5"/>
            </a:solidFill>
            <a:prstDash val="solid"/>
          </a:ln>
        </p:spPr>
      </p:sp>
      <p:sp>
        <p:nvSpPr>
          <p:cNvPr id="51" name="Shape 49"/>
          <p:cNvSpPr/>
          <p:nvPr/>
        </p:nvSpPr>
        <p:spPr>
          <a:xfrm>
            <a:off x="2240280" y="5166360"/>
            <a:ext cx="137160" cy="137160"/>
          </a:xfrm>
          <a:prstGeom prst="ellipse">
            <a:avLst/>
          </a:prstGeom>
          <a:solidFill>
            <a:srgbClr val="666666"/>
          </a:solidFill>
          <a:ln w="12700">
            <a:solidFill>
              <a:srgbClr val="666666"/>
            </a:solidFill>
            <a:prstDash val="solid"/>
          </a:ln>
        </p:spPr>
      </p:sp>
      <p:sp>
        <p:nvSpPr>
          <p:cNvPr id="52" name="Text 50"/>
          <p:cNvSpPr/>
          <p:nvPr/>
        </p:nvSpPr>
        <p:spPr>
          <a:xfrm>
            <a:off x="2468880" y="5074920"/>
            <a:ext cx="21031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Equipment</a:t>
            </a:r>
            <a:endParaRPr lang="en-US" sz="1200" dirty="0"/>
          </a:p>
        </p:txBody>
      </p:sp>
      <p:sp>
        <p:nvSpPr>
          <p:cNvPr id="53" name="Text 51"/>
          <p:cNvSpPr/>
          <p:nvPr/>
        </p:nvSpPr>
        <p:spPr>
          <a:xfrm>
            <a:off x="4572000" y="5074920"/>
            <a:ext cx="40233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Machines that make machines</a:t>
            </a:r>
            <a:endParaRPr lang="en-US" sz="1050" dirty="0"/>
          </a:p>
        </p:txBody>
      </p:sp>
      <p:sp>
        <p:nvSpPr>
          <p:cNvPr id="54" name="Shape 52"/>
          <p:cNvSpPr/>
          <p:nvPr/>
        </p:nvSpPr>
        <p:spPr>
          <a:xfrm>
            <a:off x="2103120" y="5440680"/>
            <a:ext cx="6583680" cy="320040"/>
          </a:xfrm>
          <a:prstGeom prst="rect">
            <a:avLst/>
          </a:prstGeom>
          <a:solidFill>
            <a:srgbClr val="F9F9F9"/>
          </a:solidFill>
          <a:ln w="3810">
            <a:solidFill>
              <a:srgbClr val="E5E5E5"/>
            </a:solidFill>
            <a:prstDash val="solid"/>
          </a:ln>
        </p:spPr>
      </p:sp>
      <p:sp>
        <p:nvSpPr>
          <p:cNvPr id="55" name="Shape 53"/>
          <p:cNvSpPr/>
          <p:nvPr/>
        </p:nvSpPr>
        <p:spPr>
          <a:xfrm>
            <a:off x="2240280" y="5532120"/>
            <a:ext cx="137160" cy="137160"/>
          </a:xfrm>
          <a:prstGeom prst="ellipse">
            <a:avLst/>
          </a:prstGeom>
          <a:solidFill>
            <a:srgbClr val="666666"/>
          </a:solidFill>
          <a:ln w="12700">
            <a:solidFill>
              <a:srgbClr val="666666"/>
            </a:solidFill>
            <a:prstDash val="solid"/>
          </a:ln>
        </p:spPr>
      </p:sp>
      <p:sp>
        <p:nvSpPr>
          <p:cNvPr id="56" name="Text 54"/>
          <p:cNvSpPr/>
          <p:nvPr/>
        </p:nvSpPr>
        <p:spPr>
          <a:xfrm>
            <a:off x="2468880" y="5440680"/>
            <a:ext cx="21031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Raw materials</a:t>
            </a:r>
            <a:endParaRPr lang="en-US" sz="1200" dirty="0"/>
          </a:p>
        </p:txBody>
      </p:sp>
      <p:sp>
        <p:nvSpPr>
          <p:cNvPr id="57" name="Text 55"/>
          <p:cNvSpPr/>
          <p:nvPr/>
        </p:nvSpPr>
        <p:spPr>
          <a:xfrm>
            <a:off x="4572000" y="5440680"/>
            <a:ext cx="40233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Silicon, neon, rare earths</a:t>
            </a:r>
            <a:endParaRPr lang="en-US" sz="1050" dirty="0"/>
          </a:p>
        </p:txBody>
      </p:sp>
      <p:sp>
        <p:nvSpPr>
          <p:cNvPr id="58" name="Text 56"/>
          <p:cNvSpPr/>
          <p:nvPr/>
        </p:nvSpPr>
        <p:spPr>
          <a:xfrm>
            <a:off x="457200" y="5875020"/>
            <a:ext cx="8229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dirty="0">
                <a:solidFill>
                  <a:srgbClr val="99999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Source: Strategy Research. Ordered top (closest to user) to bottom (closest to atoms).</a:t>
            </a:r>
            <a:endParaRPr lang="en-US" sz="700" dirty="0"/>
          </a:p>
        </p:txBody>
      </p:sp>
      <p:sp>
        <p:nvSpPr>
          <p:cNvPr id="59" name="Shape 57"/>
          <p:cNvSpPr/>
          <p:nvPr/>
        </p:nvSpPr>
        <p:spPr>
          <a:xfrm>
            <a:off x="0" y="6286500"/>
            <a:ext cx="9144000" cy="571500"/>
          </a:xfrm>
          <a:prstGeom prst="rect">
            <a:avLst/>
          </a:prstGeom>
          <a:solidFill>
            <a:srgbClr val="000000"/>
          </a:solidFill>
          <a:ln w="12700">
            <a:solidFill>
              <a:srgbClr val="000000"/>
            </a:solidFill>
            <a:prstDash val="solid"/>
          </a:ln>
        </p:spPr>
      </p:sp>
      <p:sp>
        <p:nvSpPr>
          <p:cNvPr id="60" name="Text 58"/>
          <p:cNvSpPr/>
          <p:nvPr/>
        </p:nvSpPr>
        <p:spPr>
          <a:xfrm>
            <a:off x="1371600" y="6332220"/>
            <a:ext cx="6400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FOR INFORMATIONAL PURPOSES ONLY. NOT INVESTMENT ADVICE. PAST PERFORMANCE IS NOT INDICATIVE OF FUTURE RESULTS.</a:t>
            </a:r>
            <a:endParaRPr lang="en-US" sz="650" dirty="0"/>
          </a:p>
        </p:txBody>
      </p:sp>
      <p:sp>
        <p:nvSpPr>
          <p:cNvPr id="61" name="Text 59"/>
          <p:cNvSpPr/>
          <p:nvPr/>
        </p:nvSpPr>
        <p:spPr>
          <a:xfrm>
            <a:off x="8321040" y="6405372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</a:t>
            </a:r>
            <a:endParaRPr lang="en-US" sz="9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7132320" y="164592"/>
            <a:ext cx="1737360" cy="292608"/>
          </a:xfrm>
          <a:prstGeom prst="roundRect">
            <a:avLst>
              <a:gd name="adj" fmla="val 15625"/>
            </a:avLst>
          </a:prstGeom>
          <a:solidFill>
            <a:srgbClr val="008B8B"/>
          </a:solidFill>
          <a:ln w="12700">
            <a:solidFill>
              <a:srgbClr val="008B8B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7132320" y="164592"/>
            <a:ext cx="17373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spc="100" kern="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LANDSCAPE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457200" y="182880"/>
            <a:ext cx="65836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400" b="1" dirty="0">
                <a:solidFill>
                  <a:srgbClr val="000000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AI growth rates are unprecedented.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457200" y="914400"/>
            <a:ext cx="8229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User adoption and revenue growth for AI far eclipse prior technologies — a once-in-a-generation S-curve, compressed into a handful of years.</a:t>
            </a:r>
            <a:endParaRPr lang="en-US" sz="1350" dirty="0"/>
          </a:p>
        </p:txBody>
      </p:sp>
      <p:sp>
        <p:nvSpPr>
          <p:cNvPr id="6" name="Shape 4"/>
          <p:cNvSpPr/>
          <p:nvPr/>
        </p:nvSpPr>
        <p:spPr>
          <a:xfrm>
            <a:off x="457200" y="1325880"/>
            <a:ext cx="8229600" cy="0"/>
          </a:xfrm>
          <a:prstGeom prst="line">
            <a:avLst/>
          </a:prstGeom>
          <a:noFill/>
          <a:ln w="9525">
            <a:solidFill>
              <a:srgbClr val="E5E5E5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457200" y="1554480"/>
            <a:ext cx="3931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140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User adoption after first mass-market launch</a:t>
            </a:r>
            <a:endParaRPr lang="en-US" sz="1400" dirty="0"/>
          </a:p>
        </p:txBody>
      </p:sp>
      <p:sp>
        <p:nvSpPr>
          <p:cNvPr id="8" name="Shape 6"/>
          <p:cNvSpPr/>
          <p:nvPr/>
        </p:nvSpPr>
        <p:spPr>
          <a:xfrm>
            <a:off x="457200" y="1828800"/>
            <a:ext cx="3931920" cy="0"/>
          </a:xfrm>
          <a:prstGeom prst="line">
            <a:avLst/>
          </a:prstGeom>
          <a:noFill/>
          <a:ln w="19050">
            <a:solidFill>
              <a:srgbClr val="000000"/>
            </a:solidFill>
            <a:prstDash val="solid"/>
          </a:ln>
        </p:spPr>
      </p:sp>
      <p:graphicFrame>
        <p:nvGraphicFramePr>
          <p:cNvPr id="9" name="Chart 0" descr=""/>
          <p:cNvGraphicFramePr/>
          <p:nvPr/>
        </p:nvGraphicFramePr>
        <p:xfrm>
          <a:off x="457200" y="2011680"/>
          <a:ext cx="3931920" cy="329184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10" name="Text 7"/>
          <p:cNvSpPr/>
          <p:nvPr/>
        </p:nvSpPr>
        <p:spPr>
          <a:xfrm>
            <a:off x="457200" y="1920240"/>
            <a:ext cx="393192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i="1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% of US population</a:t>
            </a:r>
            <a:endParaRPr lang="en-US" sz="800" dirty="0"/>
          </a:p>
        </p:txBody>
      </p:sp>
      <p:sp>
        <p:nvSpPr>
          <p:cNvPr id="11" name="Text 8"/>
          <p:cNvSpPr/>
          <p:nvPr/>
        </p:nvSpPr>
        <p:spPr>
          <a:xfrm>
            <a:off x="4754880" y="1554480"/>
            <a:ext cx="3931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140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Revenue after first $1B year ($B)</a:t>
            </a:r>
            <a:endParaRPr lang="en-US" sz="1400" dirty="0"/>
          </a:p>
        </p:txBody>
      </p:sp>
      <p:sp>
        <p:nvSpPr>
          <p:cNvPr id="12" name="Shape 9"/>
          <p:cNvSpPr/>
          <p:nvPr/>
        </p:nvSpPr>
        <p:spPr>
          <a:xfrm>
            <a:off x="4754880" y="1828800"/>
            <a:ext cx="3931920" cy="0"/>
          </a:xfrm>
          <a:prstGeom prst="line">
            <a:avLst/>
          </a:prstGeom>
          <a:noFill/>
          <a:ln w="19050">
            <a:solidFill>
              <a:srgbClr val="000000"/>
            </a:solidFill>
            <a:prstDash val="solid"/>
          </a:ln>
        </p:spPr>
      </p:sp>
      <p:graphicFrame>
        <p:nvGraphicFramePr>
          <p:cNvPr id="13" name="Chart 1" descr=""/>
          <p:cNvGraphicFramePr/>
          <p:nvPr/>
        </p:nvGraphicFramePr>
        <p:xfrm>
          <a:off x="4754880" y="2011680"/>
          <a:ext cx="3931920" cy="329184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14" name="Text 10"/>
          <p:cNvSpPr/>
          <p:nvPr/>
        </p:nvSpPr>
        <p:spPr>
          <a:xfrm>
            <a:off x="4754880" y="1920240"/>
            <a:ext cx="393192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i="1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Revenue ($B)</a:t>
            </a:r>
            <a:endParaRPr lang="en-US" sz="800" dirty="0"/>
          </a:p>
        </p:txBody>
      </p:sp>
      <p:sp>
        <p:nvSpPr>
          <p:cNvPr id="15" name="Shape 11"/>
          <p:cNvSpPr/>
          <p:nvPr/>
        </p:nvSpPr>
        <p:spPr>
          <a:xfrm>
            <a:off x="457200" y="5394960"/>
            <a:ext cx="8229600" cy="219456"/>
          </a:xfrm>
          <a:prstGeom prst="rect">
            <a:avLst/>
          </a:prstGeom>
          <a:solidFill>
            <a:srgbClr val="333333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6" name="Text 12"/>
          <p:cNvSpPr/>
          <p:nvPr/>
        </p:nvSpPr>
        <p:spPr>
          <a:xfrm>
            <a:off x="640080" y="5394960"/>
            <a:ext cx="786384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spc="200" kern="0" dirty="0">
                <a:solidFill>
                  <a:srgbClr val="F6693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AI </a:t>
            </a:r>
            <a:pPr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OpenAI · Anthropic    </a:t>
            </a:r>
            <a:pPr indent="0" marL="0">
              <a:buNone/>
            </a:pPr>
            <a:r>
              <a:rPr lang="en-US" sz="850" b="1" spc="200" kern="0" dirty="0">
                <a:solidFill>
                  <a:srgbClr val="FFB8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CLOUD </a:t>
            </a:r>
            <a:pPr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AWS · Azure · Google Cloud    </a:t>
            </a:r>
            <a:pPr indent="0" marL="0">
              <a:buNone/>
            </a:pPr>
            <a:r>
              <a:rPr lang="en-US" sz="850" b="1" spc="200" kern="0" dirty="0">
                <a:solidFill>
                  <a:srgbClr val="008B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INTERNET </a:t>
            </a:r>
            <a:pPr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Meta · Google</a:t>
            </a:r>
            <a:endParaRPr lang="en-US" sz="850" dirty="0"/>
          </a:p>
        </p:txBody>
      </p:sp>
      <p:sp>
        <p:nvSpPr>
          <p:cNvPr id="17" name="Shape 13"/>
          <p:cNvSpPr/>
          <p:nvPr/>
        </p:nvSpPr>
        <p:spPr>
          <a:xfrm>
            <a:off x="457200" y="5650992"/>
            <a:ext cx="8229600" cy="201168"/>
          </a:xfrm>
          <a:prstGeom prst="rect">
            <a:avLst/>
          </a:prstGeom>
          <a:solidFill>
            <a:srgbClr val="FFD100"/>
          </a:solidFill>
          <a:ln w="12700">
            <a:solidFill>
              <a:srgbClr val="FFD100"/>
            </a:solidFill>
            <a:prstDash val="solid"/>
          </a:ln>
        </p:spPr>
      </p:sp>
      <p:sp>
        <p:nvSpPr>
          <p:cNvPr id="18" name="Text 14"/>
          <p:cNvSpPr/>
          <p:nvPr/>
        </p:nvSpPr>
        <p:spPr>
          <a:xfrm>
            <a:off x="640080" y="5650992"/>
            <a:ext cx="78638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User adoption and revenue growth for AI far eclipse prior technologies.</a:t>
            </a:r>
            <a:endParaRPr lang="en-US" sz="1000" dirty="0"/>
          </a:p>
        </p:txBody>
      </p:sp>
      <p:sp>
        <p:nvSpPr>
          <p:cNvPr id="19" name="Text 15"/>
          <p:cNvSpPr/>
          <p:nvPr/>
        </p:nvSpPr>
        <p:spPr>
          <a:xfrm>
            <a:off x="457200" y="5875020"/>
            <a:ext cx="8229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dirty="0">
                <a:solidFill>
                  <a:srgbClr val="99999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Sources: Mary Meeker (Bond Capital / KPCB Internet Trends 2019); company filings and consensus estimates. Cloud and Internet trajectories are illustrative. 2026E shown for AI.</a:t>
            </a:r>
            <a:endParaRPr lang="en-US" sz="700" dirty="0"/>
          </a:p>
        </p:txBody>
      </p:sp>
      <p:sp>
        <p:nvSpPr>
          <p:cNvPr id="20" name="Shape 16"/>
          <p:cNvSpPr/>
          <p:nvPr/>
        </p:nvSpPr>
        <p:spPr>
          <a:xfrm>
            <a:off x="0" y="6286500"/>
            <a:ext cx="9144000" cy="571500"/>
          </a:xfrm>
          <a:prstGeom prst="rect">
            <a:avLst/>
          </a:prstGeom>
          <a:solidFill>
            <a:srgbClr val="000000"/>
          </a:solidFill>
          <a:ln w="12700">
            <a:solidFill>
              <a:srgbClr val="000000"/>
            </a:solidFill>
            <a:prstDash val="solid"/>
          </a:ln>
        </p:spPr>
      </p:sp>
      <p:sp>
        <p:nvSpPr>
          <p:cNvPr id="21" name="Text 17"/>
          <p:cNvSpPr/>
          <p:nvPr/>
        </p:nvSpPr>
        <p:spPr>
          <a:xfrm>
            <a:off x="1371600" y="6332220"/>
            <a:ext cx="6400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FOR INFORMATIONAL PURPOSES ONLY. NOT INVESTMENT ADVICE. PAST PERFORMANCE IS NOT INDICATIVE OF FUTURE RESULTS.</a:t>
            </a:r>
            <a:endParaRPr lang="en-US" sz="650" dirty="0"/>
          </a:p>
        </p:txBody>
      </p:sp>
      <p:sp>
        <p:nvSpPr>
          <p:cNvPr id="22" name="Text 18"/>
          <p:cNvSpPr/>
          <p:nvPr/>
        </p:nvSpPr>
        <p:spPr>
          <a:xfrm>
            <a:off x="8321040" y="6405372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</a:t>
            </a:r>
            <a:endParaRPr lang="en-US" sz="9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7132320" y="164592"/>
            <a:ext cx="1737360" cy="292608"/>
          </a:xfrm>
          <a:prstGeom prst="roundRect">
            <a:avLst>
              <a:gd name="adj" fmla="val 15625"/>
            </a:avLst>
          </a:prstGeom>
          <a:solidFill>
            <a:srgbClr val="FFB800"/>
          </a:solidFill>
          <a:ln w="12700">
            <a:solidFill>
              <a:srgbClr val="FFB800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7132320" y="164592"/>
            <a:ext cx="17373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spc="100" kern="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MARKET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457200" y="182880"/>
            <a:ext cx="65836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400" b="1" dirty="0">
                <a:solidFill>
                  <a:srgbClr val="000000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Semiconductors, explained.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457200" y="914400"/>
            <a:ext cx="8229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Chips pass through four making stages before reaching six product markets. AI capex piles into just two categories — but flows through bottlenecks at every stage.</a:t>
            </a:r>
            <a:endParaRPr lang="en-US" sz="1350" dirty="0"/>
          </a:p>
        </p:txBody>
      </p:sp>
      <p:sp>
        <p:nvSpPr>
          <p:cNvPr id="6" name="Shape 4"/>
          <p:cNvSpPr/>
          <p:nvPr/>
        </p:nvSpPr>
        <p:spPr>
          <a:xfrm>
            <a:off x="457200" y="1325880"/>
            <a:ext cx="8229600" cy="0"/>
          </a:xfrm>
          <a:prstGeom prst="line">
            <a:avLst/>
          </a:prstGeom>
          <a:noFill/>
          <a:ln w="9525">
            <a:solidFill>
              <a:srgbClr val="E5E5E5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457200" y="1691640"/>
            <a:ext cx="8229600" cy="777240"/>
          </a:xfrm>
          <a:prstGeom prst="rect">
            <a:avLst/>
          </a:prstGeom>
          <a:solidFill>
            <a:srgbClr val="F9F9F9"/>
          </a:solidFill>
          <a:ln w="6350">
            <a:solidFill>
              <a:srgbClr val="E5E5E5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640080" y="1792224"/>
            <a:ext cx="128016" cy="128016"/>
          </a:xfrm>
          <a:prstGeom prst="ellipse">
            <a:avLst/>
          </a:prstGeom>
          <a:solidFill>
            <a:srgbClr val="6B46C1"/>
          </a:solidFill>
          <a:ln w="12700">
            <a:solidFill>
              <a:srgbClr val="6B46C1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822960" y="1709928"/>
            <a:ext cx="1600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DESIGN</a:t>
            </a:r>
            <a:endParaRPr lang="en-US" sz="1100" dirty="0"/>
          </a:p>
        </p:txBody>
      </p:sp>
      <p:sp>
        <p:nvSpPr>
          <p:cNvPr id="10" name="Text 8"/>
          <p:cNvSpPr/>
          <p:nvPr/>
        </p:nvSpPr>
        <p:spPr>
          <a:xfrm>
            <a:off x="640080" y="1947672"/>
            <a:ext cx="17830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i="1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architects the chip</a:t>
            </a:r>
            <a:endParaRPr lang="en-US" sz="950" dirty="0"/>
          </a:p>
        </p:txBody>
      </p:sp>
      <p:sp>
        <p:nvSpPr>
          <p:cNvPr id="11" name="Shape 9"/>
          <p:cNvSpPr/>
          <p:nvPr/>
        </p:nvSpPr>
        <p:spPr>
          <a:xfrm>
            <a:off x="658368" y="2148840"/>
            <a:ext cx="1600200" cy="0"/>
          </a:xfrm>
          <a:prstGeom prst="line">
            <a:avLst/>
          </a:prstGeom>
          <a:noFill/>
          <a:ln w="6350">
            <a:solidFill>
              <a:srgbClr val="E5E5E5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640080" y="2167128"/>
            <a:ext cx="17830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5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NVIDIA · Apple · AMD · Broadcom</a:t>
            </a:r>
            <a:endParaRPr lang="en-US" sz="850" dirty="0"/>
          </a:p>
        </p:txBody>
      </p:sp>
      <p:sp>
        <p:nvSpPr>
          <p:cNvPr id="13" name="Text 11"/>
          <p:cNvSpPr/>
          <p:nvPr/>
        </p:nvSpPr>
        <p:spPr>
          <a:xfrm>
            <a:off x="2359152" y="1897380"/>
            <a:ext cx="21945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›</a:t>
            </a:r>
            <a:endParaRPr lang="en-US" sz="2400" dirty="0"/>
          </a:p>
        </p:txBody>
      </p:sp>
      <p:sp>
        <p:nvSpPr>
          <p:cNvPr id="14" name="Shape 12"/>
          <p:cNvSpPr/>
          <p:nvPr/>
        </p:nvSpPr>
        <p:spPr>
          <a:xfrm>
            <a:off x="2697480" y="1792224"/>
            <a:ext cx="128016" cy="128016"/>
          </a:xfrm>
          <a:prstGeom prst="ellipse">
            <a:avLst/>
          </a:prstGeom>
          <a:solidFill>
            <a:srgbClr val="E8478D"/>
          </a:solidFill>
          <a:ln w="12700">
            <a:solidFill>
              <a:srgbClr val="E8478D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2880360" y="1709928"/>
            <a:ext cx="1600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EQUIPMENT</a:t>
            </a:r>
            <a:endParaRPr lang="en-US" sz="1100" dirty="0"/>
          </a:p>
        </p:txBody>
      </p:sp>
      <p:sp>
        <p:nvSpPr>
          <p:cNvPr id="16" name="Text 14"/>
          <p:cNvSpPr/>
          <p:nvPr/>
        </p:nvSpPr>
        <p:spPr>
          <a:xfrm>
            <a:off x="2697480" y="1947672"/>
            <a:ext cx="17830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i="1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builds the tools</a:t>
            </a:r>
            <a:endParaRPr lang="en-US" sz="950" dirty="0"/>
          </a:p>
        </p:txBody>
      </p:sp>
      <p:sp>
        <p:nvSpPr>
          <p:cNvPr id="17" name="Shape 15"/>
          <p:cNvSpPr/>
          <p:nvPr/>
        </p:nvSpPr>
        <p:spPr>
          <a:xfrm>
            <a:off x="2715768" y="2148840"/>
            <a:ext cx="1600200" cy="0"/>
          </a:xfrm>
          <a:prstGeom prst="line">
            <a:avLst/>
          </a:prstGeom>
          <a:noFill/>
          <a:ln w="6350">
            <a:solidFill>
              <a:srgbClr val="E5E5E5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2697480" y="2167128"/>
            <a:ext cx="17830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5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ASML · Applied Materials · Lam · KLA</a:t>
            </a:r>
            <a:endParaRPr lang="en-US" sz="850" dirty="0"/>
          </a:p>
        </p:txBody>
      </p:sp>
      <p:sp>
        <p:nvSpPr>
          <p:cNvPr id="19" name="Text 17"/>
          <p:cNvSpPr/>
          <p:nvPr/>
        </p:nvSpPr>
        <p:spPr>
          <a:xfrm>
            <a:off x="4416552" y="1897380"/>
            <a:ext cx="21945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›</a:t>
            </a:r>
            <a:endParaRPr lang="en-US" sz="2400" dirty="0"/>
          </a:p>
        </p:txBody>
      </p:sp>
      <p:sp>
        <p:nvSpPr>
          <p:cNvPr id="20" name="Shape 18"/>
          <p:cNvSpPr/>
          <p:nvPr/>
        </p:nvSpPr>
        <p:spPr>
          <a:xfrm>
            <a:off x="4754880" y="1792224"/>
            <a:ext cx="128016" cy="128016"/>
          </a:xfrm>
          <a:prstGeom prst="ellipse">
            <a:avLst/>
          </a:prstGeom>
          <a:solidFill>
            <a:srgbClr val="333333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4937760" y="1709928"/>
            <a:ext cx="1600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FOUNDRY</a:t>
            </a:r>
            <a:endParaRPr lang="en-US" sz="1100" dirty="0"/>
          </a:p>
        </p:txBody>
      </p:sp>
      <p:sp>
        <p:nvSpPr>
          <p:cNvPr id="22" name="Text 20"/>
          <p:cNvSpPr/>
          <p:nvPr/>
        </p:nvSpPr>
        <p:spPr>
          <a:xfrm>
            <a:off x="4754880" y="1947672"/>
            <a:ext cx="17830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i="1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prints the wafer</a:t>
            </a:r>
            <a:endParaRPr lang="en-US" sz="950" dirty="0"/>
          </a:p>
        </p:txBody>
      </p:sp>
      <p:sp>
        <p:nvSpPr>
          <p:cNvPr id="23" name="Shape 21"/>
          <p:cNvSpPr/>
          <p:nvPr/>
        </p:nvSpPr>
        <p:spPr>
          <a:xfrm>
            <a:off x="4773168" y="2148840"/>
            <a:ext cx="1600200" cy="0"/>
          </a:xfrm>
          <a:prstGeom prst="line">
            <a:avLst/>
          </a:prstGeom>
          <a:noFill/>
          <a:ln w="6350">
            <a:solidFill>
              <a:srgbClr val="E5E5E5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4754880" y="2167128"/>
            <a:ext cx="17830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5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TSMC · Samsung · Intel Foundry</a:t>
            </a:r>
            <a:endParaRPr lang="en-US" sz="850" dirty="0"/>
          </a:p>
        </p:txBody>
      </p:sp>
      <p:sp>
        <p:nvSpPr>
          <p:cNvPr id="25" name="Text 23"/>
          <p:cNvSpPr/>
          <p:nvPr/>
        </p:nvSpPr>
        <p:spPr>
          <a:xfrm>
            <a:off x="6473952" y="1897380"/>
            <a:ext cx="21945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›</a:t>
            </a:r>
            <a:endParaRPr lang="en-US" sz="2400" dirty="0"/>
          </a:p>
        </p:txBody>
      </p:sp>
      <p:sp>
        <p:nvSpPr>
          <p:cNvPr id="26" name="Shape 24"/>
          <p:cNvSpPr/>
          <p:nvPr/>
        </p:nvSpPr>
        <p:spPr>
          <a:xfrm>
            <a:off x="6812280" y="1792224"/>
            <a:ext cx="128016" cy="128016"/>
          </a:xfrm>
          <a:prstGeom prst="ellipse">
            <a:avLst/>
          </a:prstGeom>
          <a:solidFill>
            <a:srgbClr val="000000"/>
          </a:solidFill>
          <a:ln w="12700">
            <a:solidFill>
              <a:srgbClr val="000000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6995160" y="1709928"/>
            <a:ext cx="1600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PACKAGING</a:t>
            </a:r>
            <a:endParaRPr lang="en-US" sz="1100" dirty="0"/>
          </a:p>
        </p:txBody>
      </p:sp>
      <p:sp>
        <p:nvSpPr>
          <p:cNvPr id="28" name="Text 26"/>
          <p:cNvSpPr/>
          <p:nvPr/>
        </p:nvSpPr>
        <p:spPr>
          <a:xfrm>
            <a:off x="6812280" y="1947672"/>
            <a:ext cx="17830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i="1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stacks the dies</a:t>
            </a:r>
            <a:endParaRPr lang="en-US" sz="950" dirty="0"/>
          </a:p>
        </p:txBody>
      </p:sp>
      <p:sp>
        <p:nvSpPr>
          <p:cNvPr id="29" name="Shape 27"/>
          <p:cNvSpPr/>
          <p:nvPr/>
        </p:nvSpPr>
        <p:spPr>
          <a:xfrm>
            <a:off x="6830568" y="2148840"/>
            <a:ext cx="1600200" cy="0"/>
          </a:xfrm>
          <a:prstGeom prst="line">
            <a:avLst/>
          </a:prstGeom>
          <a:noFill/>
          <a:ln w="6350">
            <a:solidFill>
              <a:srgbClr val="E5E5E5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6812280" y="2167128"/>
            <a:ext cx="17830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5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TSMC CoWoS · ASE · Amkor</a:t>
            </a:r>
            <a:endParaRPr lang="en-US" sz="850" dirty="0"/>
          </a:p>
        </p:txBody>
      </p:sp>
      <p:sp>
        <p:nvSpPr>
          <p:cNvPr id="31" name="Shape 29"/>
          <p:cNvSpPr/>
          <p:nvPr/>
        </p:nvSpPr>
        <p:spPr>
          <a:xfrm>
            <a:off x="457200" y="2606040"/>
            <a:ext cx="2651760" cy="1280160"/>
          </a:xfrm>
          <a:prstGeom prst="rect">
            <a:avLst/>
          </a:prstGeom>
          <a:solidFill>
            <a:srgbClr val="F9F9F9"/>
          </a:solidFill>
          <a:ln w="6350">
            <a:solidFill>
              <a:srgbClr val="E5E5E5"/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>
            <a:off x="457200" y="2606040"/>
            <a:ext cx="2651760" cy="256032"/>
          </a:xfrm>
          <a:prstGeom prst="rect">
            <a:avLst/>
          </a:prstGeom>
          <a:solidFill>
            <a:srgbClr val="F6693D"/>
          </a:solidFill>
          <a:ln w="12700">
            <a:solidFill>
              <a:srgbClr val="F6693D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457200" y="2606040"/>
            <a:ext cx="26517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spc="200" kern="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LOGIC</a:t>
            </a:r>
            <a:endParaRPr lang="en-US" sz="1000" dirty="0"/>
          </a:p>
        </p:txBody>
      </p:sp>
      <p:sp>
        <p:nvSpPr>
          <p:cNvPr id="34" name="Text 32"/>
          <p:cNvSpPr/>
          <p:nvPr/>
        </p:nvSpPr>
        <p:spPr>
          <a:xfrm>
            <a:off x="594360" y="2916936"/>
            <a:ext cx="23774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Where computation happens — the chips that run code and move data.</a:t>
            </a:r>
            <a:endParaRPr lang="en-US" sz="950" dirty="0"/>
          </a:p>
        </p:txBody>
      </p:sp>
      <p:sp>
        <p:nvSpPr>
          <p:cNvPr id="35" name="Text 33"/>
          <p:cNvSpPr/>
          <p:nvPr/>
        </p:nvSpPr>
        <p:spPr>
          <a:xfrm>
            <a:off x="594360" y="3392424"/>
            <a:ext cx="23774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50" i="1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GPUs, AI accelerators, ASICs, FPGAs</a:t>
            </a:r>
            <a:endParaRPr lang="en-US" sz="850" dirty="0"/>
          </a:p>
        </p:txBody>
      </p:sp>
      <p:sp>
        <p:nvSpPr>
          <p:cNvPr id="36" name="Shape 34"/>
          <p:cNvSpPr/>
          <p:nvPr/>
        </p:nvSpPr>
        <p:spPr>
          <a:xfrm>
            <a:off x="640080" y="3648456"/>
            <a:ext cx="2286000" cy="0"/>
          </a:xfrm>
          <a:prstGeom prst="line">
            <a:avLst/>
          </a:prstGeom>
          <a:noFill/>
          <a:ln w="6350">
            <a:solidFill>
              <a:srgbClr val="E5E5E5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457200" y="3666744"/>
            <a:ext cx="26517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i="1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NVIDIA · AMD · Broadcom · TSMC</a:t>
            </a:r>
            <a:endParaRPr lang="en-US" sz="750" dirty="0"/>
          </a:p>
        </p:txBody>
      </p:sp>
      <p:sp>
        <p:nvSpPr>
          <p:cNvPr id="38" name="Shape 36"/>
          <p:cNvSpPr/>
          <p:nvPr/>
        </p:nvSpPr>
        <p:spPr>
          <a:xfrm>
            <a:off x="3246120" y="2606040"/>
            <a:ext cx="2651760" cy="1280160"/>
          </a:xfrm>
          <a:prstGeom prst="rect">
            <a:avLst/>
          </a:prstGeom>
          <a:solidFill>
            <a:srgbClr val="F9F9F9"/>
          </a:solidFill>
          <a:ln w="6350">
            <a:solidFill>
              <a:srgbClr val="E5E5E5"/>
            </a:solidFill>
            <a:prstDash val="solid"/>
          </a:ln>
        </p:spPr>
      </p:sp>
      <p:sp>
        <p:nvSpPr>
          <p:cNvPr id="39" name="Shape 37"/>
          <p:cNvSpPr/>
          <p:nvPr/>
        </p:nvSpPr>
        <p:spPr>
          <a:xfrm>
            <a:off x="3246120" y="2606040"/>
            <a:ext cx="2651760" cy="256032"/>
          </a:xfrm>
          <a:prstGeom prst="rect">
            <a:avLst/>
          </a:prstGeom>
          <a:solidFill>
            <a:srgbClr val="FFB800"/>
          </a:solidFill>
          <a:ln w="12700">
            <a:solidFill>
              <a:srgbClr val="FFB800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3246120" y="2606040"/>
            <a:ext cx="26517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spc="200" kern="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MEMORY</a:t>
            </a:r>
            <a:endParaRPr lang="en-US" sz="1000" dirty="0"/>
          </a:p>
        </p:txBody>
      </p:sp>
      <p:sp>
        <p:nvSpPr>
          <p:cNvPr id="41" name="Text 39"/>
          <p:cNvSpPr/>
          <p:nvPr/>
        </p:nvSpPr>
        <p:spPr>
          <a:xfrm>
            <a:off x="3383280" y="2916936"/>
            <a:ext cx="23774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Stores data so logic can read it at terabit speeds.</a:t>
            </a:r>
            <a:endParaRPr lang="en-US" sz="950" dirty="0"/>
          </a:p>
        </p:txBody>
      </p:sp>
      <p:sp>
        <p:nvSpPr>
          <p:cNvPr id="42" name="Text 40"/>
          <p:cNvSpPr/>
          <p:nvPr/>
        </p:nvSpPr>
        <p:spPr>
          <a:xfrm>
            <a:off x="3383280" y="3392424"/>
            <a:ext cx="23774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50" i="1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DRAM, HBM, NAND — every AI server</a:t>
            </a:r>
            <a:endParaRPr lang="en-US" sz="850" dirty="0"/>
          </a:p>
        </p:txBody>
      </p:sp>
      <p:sp>
        <p:nvSpPr>
          <p:cNvPr id="43" name="Shape 41"/>
          <p:cNvSpPr/>
          <p:nvPr/>
        </p:nvSpPr>
        <p:spPr>
          <a:xfrm>
            <a:off x="3429000" y="3648456"/>
            <a:ext cx="2286000" cy="0"/>
          </a:xfrm>
          <a:prstGeom prst="line">
            <a:avLst/>
          </a:prstGeom>
          <a:noFill/>
          <a:ln w="6350">
            <a:solidFill>
              <a:srgbClr val="E5E5E5"/>
            </a:solidFill>
            <a:prstDash val="solid"/>
          </a:ln>
        </p:spPr>
      </p:sp>
      <p:sp>
        <p:nvSpPr>
          <p:cNvPr id="44" name="Text 42"/>
          <p:cNvSpPr/>
          <p:nvPr/>
        </p:nvSpPr>
        <p:spPr>
          <a:xfrm>
            <a:off x="3246120" y="3666744"/>
            <a:ext cx="26517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i="1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SK Hynix · Samsung · Micron</a:t>
            </a:r>
            <a:endParaRPr lang="en-US" sz="750" dirty="0"/>
          </a:p>
        </p:txBody>
      </p:sp>
      <p:sp>
        <p:nvSpPr>
          <p:cNvPr id="45" name="Shape 43"/>
          <p:cNvSpPr/>
          <p:nvPr/>
        </p:nvSpPr>
        <p:spPr>
          <a:xfrm>
            <a:off x="6035040" y="2606040"/>
            <a:ext cx="2651760" cy="1280160"/>
          </a:xfrm>
          <a:prstGeom prst="rect">
            <a:avLst/>
          </a:prstGeom>
          <a:solidFill>
            <a:srgbClr val="F9F9F9"/>
          </a:solidFill>
          <a:ln w="6350">
            <a:solidFill>
              <a:srgbClr val="E5E5E5"/>
            </a:solidFill>
            <a:prstDash val="solid"/>
          </a:ln>
        </p:spPr>
      </p:sp>
      <p:sp>
        <p:nvSpPr>
          <p:cNvPr id="46" name="Shape 44"/>
          <p:cNvSpPr/>
          <p:nvPr/>
        </p:nvSpPr>
        <p:spPr>
          <a:xfrm>
            <a:off x="6035040" y="2606040"/>
            <a:ext cx="2651760" cy="256032"/>
          </a:xfrm>
          <a:prstGeom prst="rect">
            <a:avLst/>
          </a:prstGeom>
          <a:solidFill>
            <a:srgbClr val="008B8B"/>
          </a:solidFill>
          <a:ln w="12700">
            <a:solidFill>
              <a:srgbClr val="008B8B"/>
            </a:solidFill>
            <a:prstDash val="solid"/>
          </a:ln>
        </p:spPr>
      </p:sp>
      <p:sp>
        <p:nvSpPr>
          <p:cNvPr id="47" name="Text 45"/>
          <p:cNvSpPr/>
          <p:nvPr/>
        </p:nvSpPr>
        <p:spPr>
          <a:xfrm>
            <a:off x="6035040" y="2606040"/>
            <a:ext cx="26517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spc="200" kern="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PROCESSORS</a:t>
            </a:r>
            <a:endParaRPr lang="en-US" sz="1000" dirty="0"/>
          </a:p>
        </p:txBody>
      </p:sp>
      <p:sp>
        <p:nvSpPr>
          <p:cNvPr id="48" name="Text 46"/>
          <p:cNvSpPr/>
          <p:nvPr/>
        </p:nvSpPr>
        <p:spPr>
          <a:xfrm>
            <a:off x="6172200" y="2916936"/>
            <a:ext cx="23774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General-purpose silicon that runs your operating system.</a:t>
            </a:r>
            <a:endParaRPr lang="en-US" sz="950" dirty="0"/>
          </a:p>
        </p:txBody>
      </p:sp>
      <p:sp>
        <p:nvSpPr>
          <p:cNvPr id="49" name="Text 47"/>
          <p:cNvSpPr/>
          <p:nvPr/>
        </p:nvSpPr>
        <p:spPr>
          <a:xfrm>
            <a:off x="6172200" y="3392424"/>
            <a:ext cx="23774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50" i="1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CPUs in every phone and PC</a:t>
            </a:r>
            <a:endParaRPr lang="en-US" sz="850" dirty="0"/>
          </a:p>
        </p:txBody>
      </p:sp>
      <p:sp>
        <p:nvSpPr>
          <p:cNvPr id="50" name="Shape 48"/>
          <p:cNvSpPr/>
          <p:nvPr/>
        </p:nvSpPr>
        <p:spPr>
          <a:xfrm>
            <a:off x="6217920" y="3648456"/>
            <a:ext cx="2286000" cy="0"/>
          </a:xfrm>
          <a:prstGeom prst="line">
            <a:avLst/>
          </a:prstGeom>
          <a:noFill/>
          <a:ln w="6350">
            <a:solidFill>
              <a:srgbClr val="E5E5E5"/>
            </a:solidFill>
            <a:prstDash val="solid"/>
          </a:ln>
        </p:spPr>
      </p:sp>
      <p:sp>
        <p:nvSpPr>
          <p:cNvPr id="51" name="Text 49"/>
          <p:cNvSpPr/>
          <p:nvPr/>
        </p:nvSpPr>
        <p:spPr>
          <a:xfrm>
            <a:off x="6035040" y="3666744"/>
            <a:ext cx="26517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i="1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Intel · AMD · Apple · Qualcomm</a:t>
            </a:r>
            <a:endParaRPr lang="en-US" sz="750" dirty="0"/>
          </a:p>
        </p:txBody>
      </p:sp>
      <p:sp>
        <p:nvSpPr>
          <p:cNvPr id="52" name="Shape 50"/>
          <p:cNvSpPr/>
          <p:nvPr/>
        </p:nvSpPr>
        <p:spPr>
          <a:xfrm>
            <a:off x="457200" y="3977640"/>
            <a:ext cx="2651760" cy="1280160"/>
          </a:xfrm>
          <a:prstGeom prst="rect">
            <a:avLst/>
          </a:prstGeom>
          <a:solidFill>
            <a:srgbClr val="F9F9F9"/>
          </a:solidFill>
          <a:ln w="6350">
            <a:solidFill>
              <a:srgbClr val="E5E5E5"/>
            </a:solidFill>
            <a:prstDash val="solid"/>
          </a:ln>
        </p:spPr>
      </p:sp>
      <p:sp>
        <p:nvSpPr>
          <p:cNvPr id="53" name="Shape 51"/>
          <p:cNvSpPr/>
          <p:nvPr/>
        </p:nvSpPr>
        <p:spPr>
          <a:xfrm>
            <a:off x="457200" y="3977640"/>
            <a:ext cx="2651760" cy="256032"/>
          </a:xfrm>
          <a:prstGeom prst="rect">
            <a:avLst/>
          </a:prstGeom>
          <a:solidFill>
            <a:srgbClr val="051A3D"/>
          </a:solidFill>
          <a:ln w="12700">
            <a:solidFill>
              <a:srgbClr val="051A3D"/>
            </a:solidFill>
            <a:prstDash val="solid"/>
          </a:ln>
        </p:spPr>
      </p:sp>
      <p:sp>
        <p:nvSpPr>
          <p:cNvPr id="54" name="Text 52"/>
          <p:cNvSpPr/>
          <p:nvPr/>
        </p:nvSpPr>
        <p:spPr>
          <a:xfrm>
            <a:off x="457200" y="3977640"/>
            <a:ext cx="26517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spc="200" kern="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ANALOG</a:t>
            </a:r>
            <a:endParaRPr lang="en-US" sz="1000" dirty="0"/>
          </a:p>
        </p:txBody>
      </p:sp>
      <p:sp>
        <p:nvSpPr>
          <p:cNvPr id="55" name="Text 53"/>
          <p:cNvSpPr/>
          <p:nvPr/>
        </p:nvSpPr>
        <p:spPr>
          <a:xfrm>
            <a:off x="594360" y="4288536"/>
            <a:ext cx="23774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bridge between silicon and the real world — voltages, signals, RF.</a:t>
            </a:r>
            <a:endParaRPr lang="en-US" sz="950" dirty="0"/>
          </a:p>
        </p:txBody>
      </p:sp>
      <p:sp>
        <p:nvSpPr>
          <p:cNvPr id="56" name="Text 54"/>
          <p:cNvSpPr/>
          <p:nvPr/>
        </p:nvSpPr>
        <p:spPr>
          <a:xfrm>
            <a:off x="594360" y="4764024"/>
            <a:ext cx="23774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50" i="1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Power management, radio, audio</a:t>
            </a:r>
            <a:endParaRPr lang="en-US" sz="850" dirty="0"/>
          </a:p>
        </p:txBody>
      </p:sp>
      <p:sp>
        <p:nvSpPr>
          <p:cNvPr id="57" name="Shape 55"/>
          <p:cNvSpPr/>
          <p:nvPr/>
        </p:nvSpPr>
        <p:spPr>
          <a:xfrm>
            <a:off x="640080" y="5020056"/>
            <a:ext cx="2286000" cy="0"/>
          </a:xfrm>
          <a:prstGeom prst="line">
            <a:avLst/>
          </a:prstGeom>
          <a:noFill/>
          <a:ln w="6350">
            <a:solidFill>
              <a:srgbClr val="E5E5E5"/>
            </a:solidFill>
            <a:prstDash val="solid"/>
          </a:ln>
        </p:spPr>
      </p:sp>
      <p:sp>
        <p:nvSpPr>
          <p:cNvPr id="58" name="Text 56"/>
          <p:cNvSpPr/>
          <p:nvPr/>
        </p:nvSpPr>
        <p:spPr>
          <a:xfrm>
            <a:off x="457200" y="5038344"/>
            <a:ext cx="26517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i="1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TI · Analog Devices · Infineon</a:t>
            </a:r>
            <a:endParaRPr lang="en-US" sz="750" dirty="0"/>
          </a:p>
        </p:txBody>
      </p:sp>
      <p:sp>
        <p:nvSpPr>
          <p:cNvPr id="59" name="Shape 57"/>
          <p:cNvSpPr/>
          <p:nvPr/>
        </p:nvSpPr>
        <p:spPr>
          <a:xfrm>
            <a:off x="3246120" y="3977640"/>
            <a:ext cx="2651760" cy="1280160"/>
          </a:xfrm>
          <a:prstGeom prst="rect">
            <a:avLst/>
          </a:prstGeom>
          <a:solidFill>
            <a:srgbClr val="F9F9F9"/>
          </a:solidFill>
          <a:ln w="6350">
            <a:solidFill>
              <a:srgbClr val="E5E5E5"/>
            </a:solidFill>
            <a:prstDash val="solid"/>
          </a:ln>
        </p:spPr>
      </p:sp>
      <p:sp>
        <p:nvSpPr>
          <p:cNvPr id="60" name="Shape 58"/>
          <p:cNvSpPr/>
          <p:nvPr/>
        </p:nvSpPr>
        <p:spPr>
          <a:xfrm>
            <a:off x="3246120" y="3977640"/>
            <a:ext cx="2651760" cy="256032"/>
          </a:xfrm>
          <a:prstGeom prst="rect">
            <a:avLst/>
          </a:prstGeom>
          <a:solidFill>
            <a:srgbClr val="00A854"/>
          </a:solidFill>
          <a:ln w="12700">
            <a:solidFill>
              <a:srgbClr val="00A854"/>
            </a:solidFill>
            <a:prstDash val="solid"/>
          </a:ln>
        </p:spPr>
      </p:sp>
      <p:sp>
        <p:nvSpPr>
          <p:cNvPr id="61" name="Text 59"/>
          <p:cNvSpPr/>
          <p:nvPr/>
        </p:nvSpPr>
        <p:spPr>
          <a:xfrm>
            <a:off x="3246120" y="3977640"/>
            <a:ext cx="26517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spc="200" kern="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SENSORS + OPTO</a:t>
            </a:r>
            <a:endParaRPr lang="en-US" sz="1000" dirty="0"/>
          </a:p>
        </p:txBody>
      </p:sp>
      <p:sp>
        <p:nvSpPr>
          <p:cNvPr id="62" name="Text 60"/>
          <p:cNvSpPr/>
          <p:nvPr/>
        </p:nvSpPr>
        <p:spPr>
          <a:xfrm>
            <a:off x="3383280" y="4288536"/>
            <a:ext cx="23774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How chips see, hear, and communicate with photons.</a:t>
            </a:r>
            <a:endParaRPr lang="en-US" sz="950" dirty="0"/>
          </a:p>
        </p:txBody>
      </p:sp>
      <p:sp>
        <p:nvSpPr>
          <p:cNvPr id="63" name="Text 61"/>
          <p:cNvSpPr/>
          <p:nvPr/>
        </p:nvSpPr>
        <p:spPr>
          <a:xfrm>
            <a:off x="3383280" y="4764024"/>
            <a:ext cx="23774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50" i="1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Phone cameras, lidar, fiber optics</a:t>
            </a:r>
            <a:endParaRPr lang="en-US" sz="850" dirty="0"/>
          </a:p>
        </p:txBody>
      </p:sp>
      <p:sp>
        <p:nvSpPr>
          <p:cNvPr id="64" name="Shape 62"/>
          <p:cNvSpPr/>
          <p:nvPr/>
        </p:nvSpPr>
        <p:spPr>
          <a:xfrm>
            <a:off x="3429000" y="5020056"/>
            <a:ext cx="2286000" cy="0"/>
          </a:xfrm>
          <a:prstGeom prst="line">
            <a:avLst/>
          </a:prstGeom>
          <a:noFill/>
          <a:ln w="6350">
            <a:solidFill>
              <a:srgbClr val="E5E5E5"/>
            </a:solidFill>
            <a:prstDash val="solid"/>
          </a:ln>
        </p:spPr>
      </p:sp>
      <p:sp>
        <p:nvSpPr>
          <p:cNvPr id="65" name="Text 63"/>
          <p:cNvSpPr/>
          <p:nvPr/>
        </p:nvSpPr>
        <p:spPr>
          <a:xfrm>
            <a:off x="3246120" y="5038344"/>
            <a:ext cx="26517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i="1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Sony · Samsung · STMicro</a:t>
            </a:r>
            <a:endParaRPr lang="en-US" sz="750" dirty="0"/>
          </a:p>
        </p:txBody>
      </p:sp>
      <p:sp>
        <p:nvSpPr>
          <p:cNvPr id="66" name="Shape 64"/>
          <p:cNvSpPr/>
          <p:nvPr/>
        </p:nvSpPr>
        <p:spPr>
          <a:xfrm>
            <a:off x="6035040" y="3977640"/>
            <a:ext cx="2651760" cy="1280160"/>
          </a:xfrm>
          <a:prstGeom prst="rect">
            <a:avLst/>
          </a:prstGeom>
          <a:solidFill>
            <a:srgbClr val="F9F9F9"/>
          </a:solidFill>
          <a:ln w="6350">
            <a:solidFill>
              <a:srgbClr val="E5E5E5"/>
            </a:solidFill>
            <a:prstDash val="solid"/>
          </a:ln>
        </p:spPr>
      </p:sp>
      <p:sp>
        <p:nvSpPr>
          <p:cNvPr id="67" name="Shape 65"/>
          <p:cNvSpPr/>
          <p:nvPr/>
        </p:nvSpPr>
        <p:spPr>
          <a:xfrm>
            <a:off x="6035040" y="3977640"/>
            <a:ext cx="2651760" cy="256032"/>
          </a:xfrm>
          <a:prstGeom prst="rect">
            <a:avLst/>
          </a:prstGeom>
          <a:solidFill>
            <a:srgbClr val="666666"/>
          </a:solidFill>
          <a:ln w="12700">
            <a:solidFill>
              <a:srgbClr val="666666"/>
            </a:solidFill>
            <a:prstDash val="solid"/>
          </a:ln>
        </p:spPr>
      </p:sp>
      <p:sp>
        <p:nvSpPr>
          <p:cNvPr id="68" name="Text 66"/>
          <p:cNvSpPr/>
          <p:nvPr/>
        </p:nvSpPr>
        <p:spPr>
          <a:xfrm>
            <a:off x="6035040" y="3977640"/>
            <a:ext cx="26517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spc="200" kern="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DISCRETE + POWER</a:t>
            </a:r>
            <a:endParaRPr lang="en-US" sz="1000" dirty="0"/>
          </a:p>
        </p:txBody>
      </p:sp>
      <p:sp>
        <p:nvSpPr>
          <p:cNvPr id="69" name="Text 67"/>
          <p:cNvSpPr/>
          <p:nvPr/>
        </p:nvSpPr>
        <p:spPr>
          <a:xfrm>
            <a:off x="6172200" y="4288536"/>
            <a:ext cx="23774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Heavy-current switching for machines, grids, and vehicles.</a:t>
            </a:r>
            <a:endParaRPr lang="en-US" sz="950" dirty="0"/>
          </a:p>
        </p:txBody>
      </p:sp>
      <p:sp>
        <p:nvSpPr>
          <p:cNvPr id="70" name="Text 68"/>
          <p:cNvSpPr/>
          <p:nvPr/>
        </p:nvSpPr>
        <p:spPr>
          <a:xfrm>
            <a:off x="6172200" y="4764024"/>
            <a:ext cx="23774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50" i="1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EVs, industrial motors, chargers</a:t>
            </a:r>
            <a:endParaRPr lang="en-US" sz="850" dirty="0"/>
          </a:p>
        </p:txBody>
      </p:sp>
      <p:sp>
        <p:nvSpPr>
          <p:cNvPr id="71" name="Shape 69"/>
          <p:cNvSpPr/>
          <p:nvPr/>
        </p:nvSpPr>
        <p:spPr>
          <a:xfrm>
            <a:off x="6217920" y="5020056"/>
            <a:ext cx="2286000" cy="0"/>
          </a:xfrm>
          <a:prstGeom prst="line">
            <a:avLst/>
          </a:prstGeom>
          <a:noFill/>
          <a:ln w="6350">
            <a:solidFill>
              <a:srgbClr val="E5E5E5"/>
            </a:solidFill>
            <a:prstDash val="solid"/>
          </a:ln>
        </p:spPr>
      </p:sp>
      <p:sp>
        <p:nvSpPr>
          <p:cNvPr id="72" name="Text 70"/>
          <p:cNvSpPr/>
          <p:nvPr/>
        </p:nvSpPr>
        <p:spPr>
          <a:xfrm>
            <a:off x="6035040" y="5038344"/>
            <a:ext cx="26517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i="1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Infineon · ON Semi · Wolfspeed</a:t>
            </a:r>
            <a:endParaRPr lang="en-US" sz="750" dirty="0"/>
          </a:p>
        </p:txBody>
      </p:sp>
      <p:sp>
        <p:nvSpPr>
          <p:cNvPr id="73" name="Shape 71"/>
          <p:cNvSpPr/>
          <p:nvPr/>
        </p:nvSpPr>
        <p:spPr>
          <a:xfrm>
            <a:off x="457200" y="5285232"/>
            <a:ext cx="8229600" cy="402336"/>
          </a:xfrm>
          <a:prstGeom prst="rect">
            <a:avLst/>
          </a:prstGeom>
          <a:solidFill>
            <a:srgbClr val="FFD100"/>
          </a:solidFill>
          <a:ln w="12700">
            <a:solidFill>
              <a:srgbClr val="FFD100"/>
            </a:solidFill>
            <a:prstDash val="solid"/>
          </a:ln>
        </p:spPr>
      </p:sp>
      <p:sp>
        <p:nvSpPr>
          <p:cNvPr id="74" name="Text 72"/>
          <p:cNvSpPr/>
          <p:nvPr/>
        </p:nvSpPr>
        <p:spPr>
          <a:xfrm>
            <a:off x="640080" y="5285232"/>
            <a:ext cx="7863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Logic and memory absorb the AI capex — but every chip flows through ASML tools, TSMC fabs, and advanced packaging, where bottlenecks decide who ships.</a:t>
            </a:r>
            <a:endParaRPr lang="en-US" sz="1150" dirty="0"/>
          </a:p>
        </p:txBody>
      </p:sp>
      <p:sp>
        <p:nvSpPr>
          <p:cNvPr id="75" name="Text 73"/>
          <p:cNvSpPr/>
          <p:nvPr/>
        </p:nvSpPr>
        <p:spPr>
          <a:xfrm>
            <a:off x="457200" y="5875020"/>
            <a:ext cx="8229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dirty="0">
                <a:solidFill>
                  <a:srgbClr val="99999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Sources: SIA category taxonomy; WSTS Fall 2025; SEMI World Fab Forecast; TrendForce; company disclosures. Category descriptions are plain-English simplifications.</a:t>
            </a:r>
            <a:endParaRPr lang="en-US" sz="700" dirty="0"/>
          </a:p>
        </p:txBody>
      </p:sp>
      <p:sp>
        <p:nvSpPr>
          <p:cNvPr id="76" name="Shape 74"/>
          <p:cNvSpPr/>
          <p:nvPr/>
        </p:nvSpPr>
        <p:spPr>
          <a:xfrm>
            <a:off x="0" y="6286500"/>
            <a:ext cx="9144000" cy="571500"/>
          </a:xfrm>
          <a:prstGeom prst="rect">
            <a:avLst/>
          </a:prstGeom>
          <a:solidFill>
            <a:srgbClr val="000000"/>
          </a:solidFill>
          <a:ln w="12700">
            <a:solidFill>
              <a:srgbClr val="000000"/>
            </a:solidFill>
            <a:prstDash val="solid"/>
          </a:ln>
        </p:spPr>
      </p:sp>
      <p:sp>
        <p:nvSpPr>
          <p:cNvPr id="77" name="Text 75"/>
          <p:cNvSpPr/>
          <p:nvPr/>
        </p:nvSpPr>
        <p:spPr>
          <a:xfrm>
            <a:off x="1371600" y="6332220"/>
            <a:ext cx="6400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FOR INFORMATIONAL PURPOSES ONLY. NOT INVESTMENT ADVICE. PAST PERFORMANCE IS NOT INDICATIVE OF FUTURE RESULTS.</a:t>
            </a:r>
            <a:endParaRPr lang="en-US" sz="650" dirty="0"/>
          </a:p>
        </p:txBody>
      </p:sp>
      <p:sp>
        <p:nvSpPr>
          <p:cNvPr id="78" name="Text 76"/>
          <p:cNvSpPr/>
          <p:nvPr/>
        </p:nvSpPr>
        <p:spPr>
          <a:xfrm>
            <a:off x="8321040" y="6405372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</a:t>
            </a:r>
            <a:endParaRPr lang="en-US" sz="9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7132320" y="164592"/>
            <a:ext cx="1737360" cy="292608"/>
          </a:xfrm>
          <a:prstGeom prst="roundRect">
            <a:avLst>
              <a:gd name="adj" fmla="val 15625"/>
            </a:avLst>
          </a:prstGeom>
          <a:solidFill>
            <a:srgbClr val="FFB800"/>
          </a:solidFill>
          <a:ln w="12700">
            <a:solidFill>
              <a:srgbClr val="FFB800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7132320" y="164592"/>
            <a:ext cx="17373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spc="100" kern="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MARKET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457200" y="182880"/>
            <a:ext cx="65836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400" b="1" dirty="0">
                <a:solidFill>
                  <a:srgbClr val="000000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Who's buying the chips.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457200" y="914400"/>
            <a:ext cx="8229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Five hyperscalers fund roughly 60% of advanced-AI chip demand — sovereigns, enterprise, and edge devices split the rest.</a:t>
            </a:r>
            <a:endParaRPr lang="en-US" sz="1350" dirty="0"/>
          </a:p>
        </p:txBody>
      </p:sp>
      <p:sp>
        <p:nvSpPr>
          <p:cNvPr id="6" name="Shape 4"/>
          <p:cNvSpPr/>
          <p:nvPr/>
        </p:nvSpPr>
        <p:spPr>
          <a:xfrm>
            <a:off x="457200" y="1325880"/>
            <a:ext cx="8229600" cy="0"/>
          </a:xfrm>
          <a:prstGeom prst="line">
            <a:avLst/>
          </a:prstGeom>
          <a:noFill/>
          <a:ln w="9525">
            <a:solidFill>
              <a:srgbClr val="E5E5E5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457200" y="1737360"/>
            <a:ext cx="4773168" cy="457200"/>
          </a:xfrm>
          <a:prstGeom prst="rect">
            <a:avLst/>
          </a:prstGeom>
          <a:solidFill>
            <a:srgbClr val="FFB800"/>
          </a:solidFill>
          <a:ln w="12700">
            <a:solidFill>
              <a:srgbClr val="FFB800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457200" y="1737360"/>
            <a:ext cx="477316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spc="200" kern="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HYPERSCALERS</a:t>
            </a:r>
            <a:endParaRPr lang="en-US" sz="1000" dirty="0"/>
          </a:p>
        </p:txBody>
      </p:sp>
      <p:sp>
        <p:nvSpPr>
          <p:cNvPr id="9" name="Shape 7"/>
          <p:cNvSpPr/>
          <p:nvPr/>
        </p:nvSpPr>
        <p:spPr>
          <a:xfrm>
            <a:off x="5230368" y="1737360"/>
            <a:ext cx="987552" cy="457200"/>
          </a:xfrm>
          <a:prstGeom prst="rect">
            <a:avLst/>
          </a:prstGeom>
          <a:solidFill>
            <a:srgbClr val="008B8B"/>
          </a:solidFill>
          <a:ln w="12700">
            <a:solidFill>
              <a:srgbClr val="008B8B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5230368" y="1737360"/>
            <a:ext cx="98755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spc="200" kern="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SOVEREIGNS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6217920" y="1737360"/>
            <a:ext cx="822960" cy="457200"/>
          </a:xfrm>
          <a:prstGeom prst="rect">
            <a:avLst/>
          </a:prstGeom>
          <a:solidFill>
            <a:srgbClr val="666666"/>
          </a:solidFill>
          <a:ln w="12700">
            <a:solidFill>
              <a:srgbClr val="666666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6217920" y="1737360"/>
            <a:ext cx="822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spc="200" kern="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ENTERPRISE</a:t>
            </a:r>
            <a:endParaRPr lang="en-US" sz="1000" dirty="0"/>
          </a:p>
        </p:txBody>
      </p:sp>
      <p:sp>
        <p:nvSpPr>
          <p:cNvPr id="13" name="Shape 11"/>
          <p:cNvSpPr/>
          <p:nvPr/>
        </p:nvSpPr>
        <p:spPr>
          <a:xfrm>
            <a:off x="7040880" y="1737360"/>
            <a:ext cx="1645920" cy="457200"/>
          </a:xfrm>
          <a:prstGeom prst="rect">
            <a:avLst/>
          </a:prstGeom>
          <a:solidFill>
            <a:srgbClr val="F6693D"/>
          </a:solidFill>
          <a:ln w="12700">
            <a:solidFill>
              <a:srgbClr val="F6693D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7040880" y="1737360"/>
            <a:ext cx="16459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spc="200" kern="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CONSUMER + EDGE</a:t>
            </a:r>
            <a:endParaRPr lang="en-US" sz="1000" dirty="0"/>
          </a:p>
        </p:txBody>
      </p:sp>
      <p:sp>
        <p:nvSpPr>
          <p:cNvPr id="15" name="Text 13"/>
          <p:cNvSpPr/>
          <p:nvPr/>
        </p:nvSpPr>
        <p:spPr>
          <a:xfrm>
            <a:off x="457200" y="2212848"/>
            <a:ext cx="82296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i="1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Estimated share of advanced-AI chip demand, 2026E</a:t>
            </a:r>
            <a:endParaRPr lang="en-US" sz="850" dirty="0"/>
          </a:p>
        </p:txBody>
      </p:sp>
      <p:sp>
        <p:nvSpPr>
          <p:cNvPr id="16" name="Shape 14"/>
          <p:cNvSpPr/>
          <p:nvPr/>
        </p:nvSpPr>
        <p:spPr>
          <a:xfrm>
            <a:off x="457200" y="2560320"/>
            <a:ext cx="1988820" cy="2606040"/>
          </a:xfrm>
          <a:prstGeom prst="rect">
            <a:avLst/>
          </a:prstGeom>
          <a:solidFill>
            <a:srgbClr val="F9F9F9"/>
          </a:solidFill>
          <a:ln w="6350">
            <a:solidFill>
              <a:srgbClr val="E5E5E5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457200" y="2560320"/>
            <a:ext cx="1988820" cy="292608"/>
          </a:xfrm>
          <a:prstGeom prst="rect">
            <a:avLst/>
          </a:prstGeom>
          <a:solidFill>
            <a:srgbClr val="FFB800"/>
          </a:solidFill>
          <a:ln w="12700">
            <a:solidFill>
              <a:srgbClr val="FFB800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457200" y="2560320"/>
            <a:ext cx="19888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spc="200" kern="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HYPERSCALERS</a:t>
            </a:r>
            <a:endParaRPr lang="en-US" sz="950" dirty="0"/>
          </a:p>
        </p:txBody>
      </p:sp>
      <p:sp>
        <p:nvSpPr>
          <p:cNvPr id="19" name="Text 17"/>
          <p:cNvSpPr/>
          <p:nvPr/>
        </p:nvSpPr>
        <p:spPr>
          <a:xfrm>
            <a:off x="585216" y="2944368"/>
            <a:ext cx="1732788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Training frontier models and renting compute to everyone else.</a:t>
            </a:r>
            <a:endParaRPr lang="en-US" sz="1000" dirty="0"/>
          </a:p>
        </p:txBody>
      </p:sp>
      <p:sp>
        <p:nvSpPr>
          <p:cNvPr id="20" name="Shape 18"/>
          <p:cNvSpPr/>
          <p:nvPr/>
        </p:nvSpPr>
        <p:spPr>
          <a:xfrm>
            <a:off x="640080" y="4434840"/>
            <a:ext cx="1623060" cy="0"/>
          </a:xfrm>
          <a:prstGeom prst="line">
            <a:avLst/>
          </a:prstGeom>
          <a:noFill/>
          <a:ln w="6350">
            <a:solidFill>
              <a:srgbClr val="E5E5E5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585216" y="4507992"/>
            <a:ext cx="173278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50" b="1" spc="200" kern="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TOP BUYERS</a:t>
            </a:r>
            <a:endParaRPr lang="en-US" sz="750" dirty="0"/>
          </a:p>
        </p:txBody>
      </p:sp>
      <p:sp>
        <p:nvSpPr>
          <p:cNvPr id="22" name="Text 20"/>
          <p:cNvSpPr/>
          <p:nvPr/>
        </p:nvSpPr>
        <p:spPr>
          <a:xfrm>
            <a:off x="585216" y="4727448"/>
            <a:ext cx="173278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AWS · Azure · Google · Meta · Oracle</a:t>
            </a:r>
            <a:endParaRPr lang="en-US" sz="900" dirty="0"/>
          </a:p>
        </p:txBody>
      </p:sp>
      <p:sp>
        <p:nvSpPr>
          <p:cNvPr id="23" name="Shape 21"/>
          <p:cNvSpPr/>
          <p:nvPr/>
        </p:nvSpPr>
        <p:spPr>
          <a:xfrm>
            <a:off x="2537460" y="2560320"/>
            <a:ext cx="1988820" cy="2606040"/>
          </a:xfrm>
          <a:prstGeom prst="rect">
            <a:avLst/>
          </a:prstGeom>
          <a:solidFill>
            <a:srgbClr val="F9F9F9"/>
          </a:solidFill>
          <a:ln w="6350">
            <a:solidFill>
              <a:srgbClr val="E5E5E5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2537460" y="2560320"/>
            <a:ext cx="1988820" cy="292608"/>
          </a:xfrm>
          <a:prstGeom prst="rect">
            <a:avLst/>
          </a:prstGeom>
          <a:solidFill>
            <a:srgbClr val="008B8B"/>
          </a:solidFill>
          <a:ln w="12700">
            <a:solidFill>
              <a:srgbClr val="008B8B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2537460" y="2560320"/>
            <a:ext cx="19888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spc="200" kern="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SOVEREIGNS</a:t>
            </a:r>
            <a:endParaRPr lang="en-US" sz="950" dirty="0"/>
          </a:p>
        </p:txBody>
      </p:sp>
      <p:sp>
        <p:nvSpPr>
          <p:cNvPr id="26" name="Text 24"/>
          <p:cNvSpPr/>
          <p:nvPr/>
        </p:nvSpPr>
        <p:spPr>
          <a:xfrm>
            <a:off x="2665476" y="2944368"/>
            <a:ext cx="1732788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National AI programs building sovereign access to frontier compute.</a:t>
            </a:r>
            <a:endParaRPr lang="en-US" sz="1000" dirty="0"/>
          </a:p>
        </p:txBody>
      </p:sp>
      <p:sp>
        <p:nvSpPr>
          <p:cNvPr id="27" name="Shape 25"/>
          <p:cNvSpPr/>
          <p:nvPr/>
        </p:nvSpPr>
        <p:spPr>
          <a:xfrm>
            <a:off x="2720340" y="4434840"/>
            <a:ext cx="1623060" cy="0"/>
          </a:xfrm>
          <a:prstGeom prst="line">
            <a:avLst/>
          </a:prstGeom>
          <a:noFill/>
          <a:ln w="6350">
            <a:solidFill>
              <a:srgbClr val="E5E5E5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2665476" y="4507992"/>
            <a:ext cx="173278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50" b="1" spc="200" kern="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TOP BUYERS</a:t>
            </a:r>
            <a:endParaRPr lang="en-US" sz="750" dirty="0"/>
          </a:p>
        </p:txBody>
      </p:sp>
      <p:sp>
        <p:nvSpPr>
          <p:cNvPr id="29" name="Text 27"/>
          <p:cNvSpPr/>
          <p:nvPr/>
        </p:nvSpPr>
        <p:spPr>
          <a:xfrm>
            <a:off x="2665476" y="4727448"/>
            <a:ext cx="173278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UAE G42 · Saudi HUMAIN · UK AIRR · Japan METI</a:t>
            </a:r>
            <a:endParaRPr lang="en-US" sz="900" dirty="0"/>
          </a:p>
        </p:txBody>
      </p:sp>
      <p:sp>
        <p:nvSpPr>
          <p:cNvPr id="30" name="Shape 28"/>
          <p:cNvSpPr/>
          <p:nvPr/>
        </p:nvSpPr>
        <p:spPr>
          <a:xfrm>
            <a:off x="4617720" y="2560320"/>
            <a:ext cx="1988820" cy="2606040"/>
          </a:xfrm>
          <a:prstGeom prst="rect">
            <a:avLst/>
          </a:prstGeom>
          <a:solidFill>
            <a:srgbClr val="F9F9F9"/>
          </a:solidFill>
          <a:ln w="6350">
            <a:solidFill>
              <a:srgbClr val="E5E5E5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4617720" y="2560320"/>
            <a:ext cx="1988820" cy="292608"/>
          </a:xfrm>
          <a:prstGeom prst="rect">
            <a:avLst/>
          </a:prstGeom>
          <a:solidFill>
            <a:srgbClr val="666666"/>
          </a:solidFill>
          <a:ln w="12700">
            <a:solidFill>
              <a:srgbClr val="666666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4617720" y="2560320"/>
            <a:ext cx="19888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spc="200" kern="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ENTERPRISE</a:t>
            </a:r>
            <a:endParaRPr lang="en-US" sz="950" dirty="0"/>
          </a:p>
        </p:txBody>
      </p:sp>
      <p:sp>
        <p:nvSpPr>
          <p:cNvPr id="33" name="Text 31"/>
          <p:cNvSpPr/>
          <p:nvPr/>
        </p:nvSpPr>
        <p:spPr>
          <a:xfrm>
            <a:off x="4745736" y="2944368"/>
            <a:ext cx="1732788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Banks, pharma, and Fortune 500s deploying on-prem for regulated data.</a:t>
            </a:r>
            <a:endParaRPr lang="en-US" sz="1000" dirty="0"/>
          </a:p>
        </p:txBody>
      </p:sp>
      <p:sp>
        <p:nvSpPr>
          <p:cNvPr id="34" name="Shape 32"/>
          <p:cNvSpPr/>
          <p:nvPr/>
        </p:nvSpPr>
        <p:spPr>
          <a:xfrm>
            <a:off x="4800600" y="4434840"/>
            <a:ext cx="1623060" cy="0"/>
          </a:xfrm>
          <a:prstGeom prst="line">
            <a:avLst/>
          </a:prstGeom>
          <a:noFill/>
          <a:ln w="6350">
            <a:solidFill>
              <a:srgbClr val="E5E5E5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4745736" y="4507992"/>
            <a:ext cx="173278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50" b="1" spc="200" kern="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TOP BUYERS</a:t>
            </a:r>
            <a:endParaRPr lang="en-US" sz="750" dirty="0"/>
          </a:p>
        </p:txBody>
      </p:sp>
      <p:sp>
        <p:nvSpPr>
          <p:cNvPr id="36" name="Text 34"/>
          <p:cNvSpPr/>
          <p:nvPr/>
        </p:nvSpPr>
        <p:spPr>
          <a:xfrm>
            <a:off x="4745736" y="4727448"/>
            <a:ext cx="173278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JPMorgan · Novartis · Walmart</a:t>
            </a:r>
            <a:endParaRPr lang="en-US" sz="900" dirty="0"/>
          </a:p>
        </p:txBody>
      </p:sp>
      <p:sp>
        <p:nvSpPr>
          <p:cNvPr id="37" name="Shape 35"/>
          <p:cNvSpPr/>
          <p:nvPr/>
        </p:nvSpPr>
        <p:spPr>
          <a:xfrm>
            <a:off x="6697980" y="2560320"/>
            <a:ext cx="1988820" cy="2606040"/>
          </a:xfrm>
          <a:prstGeom prst="rect">
            <a:avLst/>
          </a:prstGeom>
          <a:solidFill>
            <a:srgbClr val="F9F9F9"/>
          </a:solidFill>
          <a:ln w="6350">
            <a:solidFill>
              <a:srgbClr val="E5E5E5"/>
            </a:solidFill>
            <a:prstDash val="solid"/>
          </a:ln>
        </p:spPr>
      </p:sp>
      <p:sp>
        <p:nvSpPr>
          <p:cNvPr id="38" name="Shape 36"/>
          <p:cNvSpPr/>
          <p:nvPr/>
        </p:nvSpPr>
        <p:spPr>
          <a:xfrm>
            <a:off x="6697980" y="2560320"/>
            <a:ext cx="1988820" cy="292608"/>
          </a:xfrm>
          <a:prstGeom prst="rect">
            <a:avLst/>
          </a:prstGeom>
          <a:solidFill>
            <a:srgbClr val="F6693D"/>
          </a:solidFill>
          <a:ln w="12700">
            <a:solidFill>
              <a:srgbClr val="F6693D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6697980" y="2560320"/>
            <a:ext cx="19888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spc="200" kern="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CONSUMER + EDGE</a:t>
            </a:r>
            <a:endParaRPr lang="en-US" sz="950" dirty="0"/>
          </a:p>
        </p:txBody>
      </p:sp>
      <p:sp>
        <p:nvSpPr>
          <p:cNvPr id="40" name="Text 38"/>
          <p:cNvSpPr/>
          <p:nvPr/>
        </p:nvSpPr>
        <p:spPr>
          <a:xfrm>
            <a:off x="6825996" y="2944368"/>
            <a:ext cx="1732788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AI inference moves into phones, PCs, cars, and factory robots.</a:t>
            </a:r>
            <a:endParaRPr lang="en-US" sz="1000" dirty="0"/>
          </a:p>
        </p:txBody>
      </p:sp>
      <p:sp>
        <p:nvSpPr>
          <p:cNvPr id="41" name="Shape 39"/>
          <p:cNvSpPr/>
          <p:nvPr/>
        </p:nvSpPr>
        <p:spPr>
          <a:xfrm>
            <a:off x="6880860" y="4434840"/>
            <a:ext cx="1623060" cy="0"/>
          </a:xfrm>
          <a:prstGeom prst="line">
            <a:avLst/>
          </a:prstGeom>
          <a:noFill/>
          <a:ln w="6350">
            <a:solidFill>
              <a:srgbClr val="E5E5E5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6825996" y="4507992"/>
            <a:ext cx="173278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50" b="1" spc="200" kern="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TOP BUYERS</a:t>
            </a:r>
            <a:endParaRPr lang="en-US" sz="750" dirty="0"/>
          </a:p>
        </p:txBody>
      </p:sp>
      <p:sp>
        <p:nvSpPr>
          <p:cNvPr id="43" name="Text 41"/>
          <p:cNvSpPr/>
          <p:nvPr/>
        </p:nvSpPr>
        <p:spPr>
          <a:xfrm>
            <a:off x="6825996" y="4727448"/>
            <a:ext cx="173278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Apple · Samsung · Tesla · humanoid OEMs</a:t>
            </a:r>
            <a:endParaRPr lang="en-US" sz="900" dirty="0"/>
          </a:p>
        </p:txBody>
      </p:sp>
      <p:sp>
        <p:nvSpPr>
          <p:cNvPr id="44" name="Shape 42"/>
          <p:cNvSpPr/>
          <p:nvPr/>
        </p:nvSpPr>
        <p:spPr>
          <a:xfrm>
            <a:off x="457200" y="5257800"/>
            <a:ext cx="8229600" cy="411480"/>
          </a:xfrm>
          <a:prstGeom prst="rect">
            <a:avLst/>
          </a:prstGeom>
          <a:solidFill>
            <a:srgbClr val="FFD100"/>
          </a:solidFill>
          <a:ln w="12700">
            <a:solidFill>
              <a:srgbClr val="FFD100"/>
            </a:solidFill>
            <a:prstDash val="solid"/>
          </a:ln>
        </p:spPr>
      </p:sp>
      <p:sp>
        <p:nvSpPr>
          <p:cNvPr id="45" name="Text 43"/>
          <p:cNvSpPr/>
          <p:nvPr/>
        </p:nvSpPr>
        <p:spPr>
          <a:xfrm>
            <a:off x="640080" y="5257800"/>
            <a:ext cx="78638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Five buyers fund most of the AI compute cycle — their capex IS the market.</a:t>
            </a:r>
            <a:endParaRPr lang="en-US" sz="1200" dirty="0"/>
          </a:p>
        </p:txBody>
      </p:sp>
      <p:sp>
        <p:nvSpPr>
          <p:cNvPr id="46" name="Text 44"/>
          <p:cNvSpPr/>
          <p:nvPr/>
        </p:nvSpPr>
        <p:spPr>
          <a:xfrm>
            <a:off x="457200" y="5875020"/>
            <a:ext cx="8229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dirty="0">
                <a:solidFill>
                  <a:srgbClr val="99999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Sources: SemiAnalysis and Omdia estimates of AI accelerator end-demand; TrendForce; hyperscaler 2026 capex guides (AWS, Microsoft, Google, Meta, Oracle); IDC. Shares are directional 2026E estimates.</a:t>
            </a:r>
            <a:endParaRPr lang="en-US" sz="700" dirty="0"/>
          </a:p>
        </p:txBody>
      </p:sp>
      <p:sp>
        <p:nvSpPr>
          <p:cNvPr id="47" name="Shape 45"/>
          <p:cNvSpPr/>
          <p:nvPr/>
        </p:nvSpPr>
        <p:spPr>
          <a:xfrm>
            <a:off x="0" y="6286500"/>
            <a:ext cx="9144000" cy="571500"/>
          </a:xfrm>
          <a:prstGeom prst="rect">
            <a:avLst/>
          </a:prstGeom>
          <a:solidFill>
            <a:srgbClr val="000000"/>
          </a:solidFill>
          <a:ln w="12700">
            <a:solidFill>
              <a:srgbClr val="000000"/>
            </a:solidFill>
            <a:prstDash val="solid"/>
          </a:ln>
        </p:spPr>
      </p:sp>
      <p:sp>
        <p:nvSpPr>
          <p:cNvPr id="48" name="Text 46"/>
          <p:cNvSpPr/>
          <p:nvPr/>
        </p:nvSpPr>
        <p:spPr>
          <a:xfrm>
            <a:off x="1371600" y="6332220"/>
            <a:ext cx="6400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FOR INFORMATIONAL PURPOSES ONLY. NOT INVESTMENT ADVICE. PAST PERFORMANCE IS NOT INDICATIVE OF FUTURE RESULTS.</a:t>
            </a:r>
            <a:endParaRPr lang="en-US" sz="650" dirty="0"/>
          </a:p>
        </p:txBody>
      </p:sp>
      <p:sp>
        <p:nvSpPr>
          <p:cNvPr id="49" name="Text 47"/>
          <p:cNvSpPr/>
          <p:nvPr/>
        </p:nvSpPr>
        <p:spPr>
          <a:xfrm>
            <a:off x="8321040" y="6405372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</a:t>
            </a:r>
            <a:endParaRPr lang="en-US" sz="9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7132320" y="164592"/>
            <a:ext cx="1737360" cy="292608"/>
          </a:xfrm>
          <a:prstGeom prst="roundRect">
            <a:avLst>
              <a:gd name="adj" fmla="val 15625"/>
            </a:avLst>
          </a:prstGeom>
          <a:solidFill>
            <a:srgbClr val="FFB800"/>
          </a:solidFill>
          <a:ln w="12700">
            <a:solidFill>
              <a:srgbClr val="FFB800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7132320" y="164592"/>
            <a:ext cx="17373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spc="100" kern="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MARKET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457200" y="182880"/>
            <a:ext cx="65836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400" b="1" dirty="0">
                <a:solidFill>
                  <a:srgbClr val="000000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Power is the new bottleneck.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457200" y="914400"/>
            <a:ext cx="8229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 single hyperscale AI campus now draws as much electricity as a mid-sized city. The grid, not the chip, is starting to set the pace of buildouts.</a:t>
            </a:r>
            <a:endParaRPr lang="en-US" sz="1350" dirty="0"/>
          </a:p>
        </p:txBody>
      </p:sp>
      <p:sp>
        <p:nvSpPr>
          <p:cNvPr id="6" name="Shape 4"/>
          <p:cNvSpPr/>
          <p:nvPr/>
        </p:nvSpPr>
        <p:spPr>
          <a:xfrm>
            <a:off x="457200" y="1325880"/>
            <a:ext cx="8229600" cy="0"/>
          </a:xfrm>
          <a:prstGeom prst="line">
            <a:avLst/>
          </a:prstGeom>
          <a:noFill/>
          <a:ln w="9525">
            <a:solidFill>
              <a:srgbClr val="E5E5E5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480060" y="1920240"/>
            <a:ext cx="26060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000" b="1" dirty="0">
                <a:solidFill>
                  <a:srgbClr val="F6693D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~12%</a:t>
            </a:r>
            <a:endParaRPr lang="en-US" sz="4000" dirty="0"/>
          </a:p>
        </p:txBody>
      </p:sp>
      <p:sp>
        <p:nvSpPr>
          <p:cNvPr id="8" name="Text 6"/>
          <p:cNvSpPr/>
          <p:nvPr/>
        </p:nvSpPr>
        <p:spPr>
          <a:xfrm>
            <a:off x="480060" y="2651760"/>
            <a:ext cx="26060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0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of US electricity demand will go to data centers by 2028 — up from ~4% in 2023</a:t>
            </a:r>
            <a:endParaRPr lang="en-US" sz="1100" dirty="0"/>
          </a:p>
        </p:txBody>
      </p:sp>
      <p:sp>
        <p:nvSpPr>
          <p:cNvPr id="9" name="Text 7"/>
          <p:cNvSpPr/>
          <p:nvPr/>
        </p:nvSpPr>
        <p:spPr>
          <a:xfrm>
            <a:off x="3268980" y="1920240"/>
            <a:ext cx="26060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000" b="1" dirty="0">
                <a:solidFill>
                  <a:srgbClr val="F6693D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1 GW</a:t>
            </a:r>
            <a:endParaRPr lang="en-US" sz="4000" dirty="0"/>
          </a:p>
        </p:txBody>
      </p:sp>
      <p:sp>
        <p:nvSpPr>
          <p:cNvPr id="10" name="Text 8"/>
          <p:cNvSpPr/>
          <p:nvPr/>
        </p:nvSpPr>
        <p:spPr>
          <a:xfrm>
            <a:off x="3268980" y="2651760"/>
            <a:ext cx="26060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0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typical new AI campus — the draw of ~750K US homes</a:t>
            </a:r>
            <a:endParaRPr lang="en-US" sz="1100" dirty="0"/>
          </a:p>
        </p:txBody>
      </p:sp>
      <p:sp>
        <p:nvSpPr>
          <p:cNvPr id="11" name="Text 9"/>
          <p:cNvSpPr/>
          <p:nvPr/>
        </p:nvSpPr>
        <p:spPr>
          <a:xfrm>
            <a:off x="6057900" y="1920240"/>
            <a:ext cx="26060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000" b="1" dirty="0">
                <a:solidFill>
                  <a:srgbClr val="CC0000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~5 yr</a:t>
            </a:r>
            <a:endParaRPr lang="en-US" sz="4000" dirty="0"/>
          </a:p>
        </p:txBody>
      </p:sp>
      <p:sp>
        <p:nvSpPr>
          <p:cNvPr id="12" name="Text 10"/>
          <p:cNvSpPr/>
          <p:nvPr/>
        </p:nvSpPr>
        <p:spPr>
          <a:xfrm>
            <a:off x="6057900" y="2651760"/>
            <a:ext cx="26060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0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avg wait for a new grid interconnection in PJM &amp; ERCOT</a:t>
            </a:r>
            <a:endParaRPr lang="en-US" sz="1100" dirty="0"/>
          </a:p>
        </p:txBody>
      </p:sp>
      <p:sp>
        <p:nvSpPr>
          <p:cNvPr id="13" name="Shape 11"/>
          <p:cNvSpPr/>
          <p:nvPr/>
        </p:nvSpPr>
        <p:spPr>
          <a:xfrm>
            <a:off x="457200" y="3474720"/>
            <a:ext cx="2697480" cy="365760"/>
          </a:xfrm>
          <a:prstGeom prst="rect">
            <a:avLst/>
          </a:prstGeom>
          <a:solidFill>
            <a:srgbClr val="FFB800"/>
          </a:solidFill>
          <a:ln w="12700">
            <a:solidFill>
              <a:srgbClr val="FFB800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457200" y="3474720"/>
            <a:ext cx="2697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spc="200" kern="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GAS</a:t>
            </a:r>
            <a:endParaRPr lang="en-US" sz="1100" dirty="0"/>
          </a:p>
        </p:txBody>
      </p:sp>
      <p:sp>
        <p:nvSpPr>
          <p:cNvPr id="15" name="Shape 13"/>
          <p:cNvSpPr/>
          <p:nvPr/>
        </p:nvSpPr>
        <p:spPr>
          <a:xfrm>
            <a:off x="457200" y="3840480"/>
            <a:ext cx="2697480" cy="1417320"/>
          </a:xfrm>
          <a:prstGeom prst="rect">
            <a:avLst/>
          </a:prstGeom>
          <a:solidFill>
            <a:srgbClr val="F9F9F9"/>
          </a:solidFill>
          <a:ln w="6350">
            <a:solidFill>
              <a:srgbClr val="E5E5E5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594360" y="3931920"/>
            <a:ext cx="242316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Fastest to build, dispatchable. New CCGT contracts up sharply; GE Vernova backlog at record highs.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594360" y="4919472"/>
            <a:ext cx="2423160" cy="0"/>
          </a:xfrm>
          <a:prstGeom prst="line">
            <a:avLst/>
          </a:prstGeom>
          <a:noFill/>
          <a:ln w="6350">
            <a:solidFill>
              <a:srgbClr val="E5E5E5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594360" y="4983480"/>
            <a:ext cx="24231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50" i="1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GE Vernova · Siemens Energy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3291840" y="3474720"/>
            <a:ext cx="2697480" cy="365760"/>
          </a:xfrm>
          <a:prstGeom prst="rect">
            <a:avLst/>
          </a:prstGeom>
          <a:solidFill>
            <a:srgbClr val="008B8B"/>
          </a:solidFill>
          <a:ln w="12700">
            <a:solidFill>
              <a:srgbClr val="008B8B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3291840" y="3474720"/>
            <a:ext cx="2697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spc="200" kern="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NUCLEAR</a:t>
            </a:r>
            <a:endParaRPr lang="en-US" sz="1100" dirty="0"/>
          </a:p>
        </p:txBody>
      </p:sp>
      <p:sp>
        <p:nvSpPr>
          <p:cNvPr id="21" name="Shape 19"/>
          <p:cNvSpPr/>
          <p:nvPr/>
        </p:nvSpPr>
        <p:spPr>
          <a:xfrm>
            <a:off x="3291840" y="3840480"/>
            <a:ext cx="2697480" cy="1417320"/>
          </a:xfrm>
          <a:prstGeom prst="rect">
            <a:avLst/>
          </a:prstGeom>
          <a:solidFill>
            <a:srgbClr val="F9F9F9"/>
          </a:solidFill>
          <a:ln w="6350">
            <a:solidFill>
              <a:srgbClr val="E5E5E5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3429000" y="3931920"/>
            <a:ext cx="242316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Three Mile Island reopening for Microsoft. SMRs (Oklo, X-Energy) signed to hyperscaler PPAs.</a:t>
            </a:r>
            <a:endParaRPr lang="en-US" sz="1000" dirty="0"/>
          </a:p>
        </p:txBody>
      </p:sp>
      <p:sp>
        <p:nvSpPr>
          <p:cNvPr id="23" name="Shape 21"/>
          <p:cNvSpPr/>
          <p:nvPr/>
        </p:nvSpPr>
        <p:spPr>
          <a:xfrm>
            <a:off x="3429000" y="4919472"/>
            <a:ext cx="2423160" cy="0"/>
          </a:xfrm>
          <a:prstGeom prst="line">
            <a:avLst/>
          </a:prstGeom>
          <a:noFill/>
          <a:ln w="6350">
            <a:solidFill>
              <a:srgbClr val="E5E5E5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3429000" y="4983480"/>
            <a:ext cx="24231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50" i="1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Constellation · Oklo · NuScale</a:t>
            </a:r>
            <a:endParaRPr lang="en-US" sz="850" dirty="0"/>
          </a:p>
        </p:txBody>
      </p:sp>
      <p:sp>
        <p:nvSpPr>
          <p:cNvPr id="25" name="Shape 23"/>
          <p:cNvSpPr/>
          <p:nvPr/>
        </p:nvSpPr>
        <p:spPr>
          <a:xfrm>
            <a:off x="6126480" y="3474720"/>
            <a:ext cx="2697480" cy="365760"/>
          </a:xfrm>
          <a:prstGeom prst="rect">
            <a:avLst/>
          </a:prstGeom>
          <a:solidFill>
            <a:srgbClr val="00A854"/>
          </a:solidFill>
          <a:ln w="12700">
            <a:solidFill>
              <a:srgbClr val="00A854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6126480" y="3474720"/>
            <a:ext cx="2697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spc="200" kern="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RENEWABLES + STORAGE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6126480" y="3840480"/>
            <a:ext cx="2697480" cy="1417320"/>
          </a:xfrm>
          <a:prstGeom prst="rect">
            <a:avLst/>
          </a:prstGeom>
          <a:solidFill>
            <a:srgbClr val="F9F9F9"/>
          </a:solidFill>
          <a:ln w="6350">
            <a:solidFill>
              <a:srgbClr val="E5E5E5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6263640" y="3931920"/>
            <a:ext cx="242316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Solar + battery hybrids now the cheapest new capacity. Hyperscalers signing 24/7 PPAs.</a:t>
            </a:r>
            <a:endParaRPr lang="en-US" sz="1000" dirty="0"/>
          </a:p>
        </p:txBody>
      </p:sp>
      <p:sp>
        <p:nvSpPr>
          <p:cNvPr id="29" name="Shape 27"/>
          <p:cNvSpPr/>
          <p:nvPr/>
        </p:nvSpPr>
        <p:spPr>
          <a:xfrm>
            <a:off x="6263640" y="4919472"/>
            <a:ext cx="2423160" cy="0"/>
          </a:xfrm>
          <a:prstGeom prst="line">
            <a:avLst/>
          </a:prstGeom>
          <a:noFill/>
          <a:ln w="6350">
            <a:solidFill>
              <a:srgbClr val="E5E5E5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6263640" y="4983480"/>
            <a:ext cx="24231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50" i="1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NextEra · AES · Fluence</a:t>
            </a:r>
            <a:endParaRPr lang="en-US" sz="850" dirty="0"/>
          </a:p>
        </p:txBody>
      </p:sp>
      <p:sp>
        <p:nvSpPr>
          <p:cNvPr id="31" name="Shape 29"/>
          <p:cNvSpPr/>
          <p:nvPr/>
        </p:nvSpPr>
        <p:spPr>
          <a:xfrm>
            <a:off x="457200" y="5394960"/>
            <a:ext cx="8229600" cy="411480"/>
          </a:xfrm>
          <a:prstGeom prst="rect">
            <a:avLst/>
          </a:prstGeom>
          <a:solidFill>
            <a:srgbClr val="FFD100"/>
          </a:solidFill>
          <a:ln w="12700">
            <a:solidFill>
              <a:srgbClr val="FFD100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640080" y="5394960"/>
            <a:ext cx="78638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GPUs are useless without electrons. Power names are trading like semis.</a:t>
            </a:r>
            <a:endParaRPr lang="en-US" sz="1250" dirty="0"/>
          </a:p>
        </p:txBody>
      </p:sp>
      <p:sp>
        <p:nvSpPr>
          <p:cNvPr id="33" name="Text 31"/>
          <p:cNvSpPr/>
          <p:nvPr/>
        </p:nvSpPr>
        <p:spPr>
          <a:xfrm>
            <a:off x="457200" y="5875020"/>
            <a:ext cx="8229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dirty="0">
                <a:solidFill>
                  <a:srgbClr val="99999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Sources: EPRI (US data-center load forecast, 2024); DOE; Lawrence Berkeley National Lab; Microsoft / Constellation TMI announcement (Sep 2024); PJM, ERCOT interconnection queues.</a:t>
            </a:r>
            <a:endParaRPr lang="en-US" sz="700" dirty="0"/>
          </a:p>
        </p:txBody>
      </p:sp>
      <p:sp>
        <p:nvSpPr>
          <p:cNvPr id="34" name="Shape 32"/>
          <p:cNvSpPr/>
          <p:nvPr/>
        </p:nvSpPr>
        <p:spPr>
          <a:xfrm>
            <a:off x="0" y="6286500"/>
            <a:ext cx="9144000" cy="571500"/>
          </a:xfrm>
          <a:prstGeom prst="rect">
            <a:avLst/>
          </a:prstGeom>
          <a:solidFill>
            <a:srgbClr val="000000"/>
          </a:solidFill>
          <a:ln w="12700">
            <a:solidFill>
              <a:srgbClr val="000000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1371600" y="6332220"/>
            <a:ext cx="6400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FOR INFORMATIONAL PURPOSES ONLY. NOT INVESTMENT ADVICE. PAST PERFORMANCE IS NOT INDICATIVE OF FUTURE RESULTS.</a:t>
            </a:r>
            <a:endParaRPr lang="en-US" sz="650" dirty="0"/>
          </a:p>
        </p:txBody>
      </p:sp>
      <p:sp>
        <p:nvSpPr>
          <p:cNvPr id="36" name="Text 34"/>
          <p:cNvSpPr/>
          <p:nvPr/>
        </p:nvSpPr>
        <p:spPr>
          <a:xfrm>
            <a:off x="8321040" y="6405372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9</a:t>
            </a:r>
            <a:endParaRPr lang="en-US" sz="9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7132320" y="164592"/>
            <a:ext cx="1737360" cy="292608"/>
          </a:xfrm>
          <a:prstGeom prst="roundRect">
            <a:avLst>
              <a:gd name="adj" fmla="val 15625"/>
            </a:avLst>
          </a:prstGeom>
          <a:solidFill>
            <a:srgbClr val="FFB800"/>
          </a:solidFill>
          <a:ln w="12700">
            <a:solidFill>
              <a:srgbClr val="FFB800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7132320" y="164592"/>
            <a:ext cx="17373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spc="100" kern="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MARKET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457200" y="182880"/>
            <a:ext cx="65836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400" b="1" dirty="0">
                <a:solidFill>
                  <a:srgbClr val="000000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The labs.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457200" y="914400"/>
            <a:ext cx="8229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Two independent private labs, one public giant, and xAI — now inside SpaceX after February's $1.25T all-stock merger.</a:t>
            </a:r>
            <a:endParaRPr lang="en-US" sz="1350" dirty="0"/>
          </a:p>
        </p:txBody>
      </p:sp>
      <p:sp>
        <p:nvSpPr>
          <p:cNvPr id="6" name="Shape 4"/>
          <p:cNvSpPr/>
          <p:nvPr/>
        </p:nvSpPr>
        <p:spPr>
          <a:xfrm>
            <a:off x="457200" y="1325880"/>
            <a:ext cx="8229600" cy="0"/>
          </a:xfrm>
          <a:prstGeom prst="line">
            <a:avLst/>
          </a:prstGeom>
          <a:noFill/>
          <a:ln w="9525">
            <a:solidFill>
              <a:srgbClr val="E5E5E5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457200" y="1691640"/>
            <a:ext cx="8229600" cy="758952"/>
          </a:xfrm>
          <a:prstGeom prst="rect">
            <a:avLst/>
          </a:prstGeom>
          <a:solidFill>
            <a:srgbClr val="FFFFFF"/>
          </a:solidFill>
          <a:ln w="6350">
            <a:solidFill>
              <a:srgbClr val="E5E5E5"/>
            </a:solidFill>
            <a:prstDash val="solid"/>
          </a:ln>
        </p:spPr>
      </p:sp>
      <p:pic>
        <p:nvPicPr>
          <p:cNvPr id="8" name="Image 0" descr="logos/openai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640080" y="1819656"/>
            <a:ext cx="502920" cy="502920"/>
          </a:xfrm>
          <a:prstGeom prst="rect">
            <a:avLst/>
          </a:prstGeom>
        </p:spPr>
      </p:pic>
      <p:sp>
        <p:nvSpPr>
          <p:cNvPr id="9" name="Text 6"/>
          <p:cNvSpPr/>
          <p:nvPr/>
        </p:nvSpPr>
        <p:spPr>
          <a:xfrm>
            <a:off x="1325880" y="1691640"/>
            <a:ext cx="1828800" cy="7589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OpenAI</a:t>
            </a:r>
            <a:endParaRPr lang="en-US" sz="1500" dirty="0"/>
          </a:p>
        </p:txBody>
      </p:sp>
      <p:sp>
        <p:nvSpPr>
          <p:cNvPr id="10" name="Text 7"/>
          <p:cNvSpPr/>
          <p:nvPr/>
        </p:nvSpPr>
        <p:spPr>
          <a:xfrm>
            <a:off x="3200400" y="1691640"/>
            <a:ext cx="1280160" cy="7589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6693D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$852B</a:t>
            </a:r>
            <a:pPr algn="ctr" indent="0" marL="0">
              <a:buNone/>
            </a:pPr>
            <a:r>
              <a:rPr lang="en-US" sz="1000" b="1" baseline="30000" dirty="0">
                <a:solidFill>
                  <a:srgbClr val="F6693D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 1</a:t>
            </a:r>
            <a:endParaRPr lang="en-US" sz="2000" dirty="0"/>
          </a:p>
        </p:txBody>
      </p:sp>
      <p:sp>
        <p:nvSpPr>
          <p:cNvPr id="11" name="Text 8"/>
          <p:cNvSpPr/>
          <p:nvPr/>
        </p:nvSpPr>
        <p:spPr>
          <a:xfrm>
            <a:off x="4480560" y="1691640"/>
            <a:ext cx="1188720" cy="7589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~35× ARR</a:t>
            </a:r>
            <a:endParaRPr lang="en-US" sz="1200" dirty="0"/>
          </a:p>
        </p:txBody>
      </p:sp>
      <p:sp>
        <p:nvSpPr>
          <p:cNvPr id="12" name="Text 9"/>
          <p:cNvSpPr/>
          <p:nvPr/>
        </p:nvSpPr>
        <p:spPr>
          <a:xfrm>
            <a:off x="5760720" y="1691640"/>
            <a:ext cx="2834640" cy="7589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$122B round · AMZN / NVDA / SoftBank · Apr 2026</a:t>
            </a:r>
            <a:endParaRPr lang="en-US" sz="1100" dirty="0"/>
          </a:p>
        </p:txBody>
      </p:sp>
      <p:sp>
        <p:nvSpPr>
          <p:cNvPr id="13" name="Shape 10"/>
          <p:cNvSpPr/>
          <p:nvPr/>
        </p:nvSpPr>
        <p:spPr>
          <a:xfrm>
            <a:off x="457200" y="2496312"/>
            <a:ext cx="8229600" cy="758952"/>
          </a:xfrm>
          <a:prstGeom prst="rect">
            <a:avLst/>
          </a:prstGeom>
          <a:solidFill>
            <a:srgbClr val="F9F9F9"/>
          </a:solidFill>
          <a:ln w="6350">
            <a:solidFill>
              <a:srgbClr val="E5E5E5"/>
            </a:solidFill>
            <a:prstDash val="solid"/>
          </a:ln>
        </p:spPr>
      </p:sp>
      <p:pic>
        <p:nvPicPr>
          <p:cNvPr id="14" name="Image 1" descr="logos/anthropic.png">    </p:cNvPr>
          <p:cNvPicPr>
            <a:picLocks noChangeAspect="1"/>
          </p:cNvPicPr>
          <p:nvPr/>
        </p:nvPicPr>
        <p:blipFill>
          <a:blip r:embed="rId2"/>
          <a:srcRect l="0" r="0" t="0" b="0"/>
          <a:stretch/>
        </p:blipFill>
        <p:spPr>
          <a:xfrm>
            <a:off x="640080" y="2624328"/>
            <a:ext cx="502920" cy="502920"/>
          </a:xfrm>
          <a:prstGeom prst="rect">
            <a:avLst/>
          </a:prstGeom>
        </p:spPr>
      </p:pic>
      <p:sp>
        <p:nvSpPr>
          <p:cNvPr id="15" name="Text 11"/>
          <p:cNvSpPr/>
          <p:nvPr/>
        </p:nvSpPr>
        <p:spPr>
          <a:xfrm>
            <a:off x="1325880" y="2496312"/>
            <a:ext cx="1828800" cy="7589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Anthropic</a:t>
            </a:r>
            <a:endParaRPr lang="en-US" sz="1500" dirty="0"/>
          </a:p>
        </p:txBody>
      </p:sp>
      <p:sp>
        <p:nvSpPr>
          <p:cNvPr id="16" name="Text 12"/>
          <p:cNvSpPr/>
          <p:nvPr/>
        </p:nvSpPr>
        <p:spPr>
          <a:xfrm>
            <a:off x="3200400" y="2496312"/>
            <a:ext cx="1280160" cy="7589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6693D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$380B</a:t>
            </a:r>
            <a:pPr algn="ctr" indent="0" marL="0">
              <a:buNone/>
            </a:pPr>
            <a:r>
              <a:rPr lang="en-US" sz="1000" b="1" baseline="30000" dirty="0">
                <a:solidFill>
                  <a:srgbClr val="F6693D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 2</a:t>
            </a:r>
            <a:endParaRPr lang="en-US" sz="2000" dirty="0"/>
          </a:p>
        </p:txBody>
      </p:sp>
      <p:sp>
        <p:nvSpPr>
          <p:cNvPr id="17" name="Text 13"/>
          <p:cNvSpPr/>
          <p:nvPr/>
        </p:nvSpPr>
        <p:spPr>
          <a:xfrm>
            <a:off x="4480560" y="2496312"/>
            <a:ext cx="1188720" cy="7589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~13× ARR</a:t>
            </a:r>
            <a:endParaRPr lang="en-US" sz="1200" dirty="0"/>
          </a:p>
        </p:txBody>
      </p:sp>
      <p:sp>
        <p:nvSpPr>
          <p:cNvPr id="18" name="Text 14"/>
          <p:cNvSpPr/>
          <p:nvPr/>
        </p:nvSpPr>
        <p:spPr>
          <a:xfrm>
            <a:off x="5760720" y="2496312"/>
            <a:ext cx="2834640" cy="7589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$30B Series G (Feb); VCs now offering $800B+</a:t>
            </a:r>
            <a:endParaRPr lang="en-US" sz="1100" dirty="0"/>
          </a:p>
        </p:txBody>
      </p:sp>
      <p:sp>
        <p:nvSpPr>
          <p:cNvPr id="19" name="Shape 15"/>
          <p:cNvSpPr/>
          <p:nvPr/>
        </p:nvSpPr>
        <p:spPr>
          <a:xfrm>
            <a:off x="457200" y="3300984"/>
            <a:ext cx="8229600" cy="758952"/>
          </a:xfrm>
          <a:prstGeom prst="rect">
            <a:avLst/>
          </a:prstGeom>
          <a:solidFill>
            <a:srgbClr val="FFFFFF"/>
          </a:solidFill>
          <a:ln w="6350">
            <a:solidFill>
              <a:srgbClr val="E5E5E5"/>
            </a:solidFill>
            <a:prstDash val="solid"/>
          </a:ln>
        </p:spPr>
      </p:sp>
      <p:pic>
        <p:nvPicPr>
          <p:cNvPr id="20" name="Image 2" descr="logos/google.png">    </p:cNvPr>
          <p:cNvPicPr>
            <a:picLocks noChangeAspect="1"/>
          </p:cNvPicPr>
          <p:nvPr/>
        </p:nvPicPr>
        <p:blipFill>
          <a:blip r:embed="rId3"/>
          <a:srcRect l="0" r="0" t="0" b="0"/>
          <a:stretch/>
        </p:blipFill>
        <p:spPr>
          <a:xfrm>
            <a:off x="640080" y="3429000"/>
            <a:ext cx="502920" cy="502920"/>
          </a:xfrm>
          <a:prstGeom prst="rect">
            <a:avLst/>
          </a:prstGeom>
        </p:spPr>
      </p:pic>
      <p:sp>
        <p:nvSpPr>
          <p:cNvPr id="21" name="Text 16"/>
          <p:cNvSpPr/>
          <p:nvPr/>
        </p:nvSpPr>
        <p:spPr>
          <a:xfrm>
            <a:off x="1325880" y="3300984"/>
            <a:ext cx="1828800" cy="7589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Google</a:t>
            </a:r>
            <a:endParaRPr lang="en-US" sz="1500" dirty="0"/>
          </a:p>
        </p:txBody>
      </p:sp>
      <p:sp>
        <p:nvSpPr>
          <p:cNvPr id="22" name="Text 17"/>
          <p:cNvSpPr/>
          <p:nvPr/>
        </p:nvSpPr>
        <p:spPr>
          <a:xfrm>
            <a:off x="3200400" y="3300984"/>
            <a:ext cx="1280160" cy="7589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6693D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$2.3T</a:t>
            </a:r>
            <a:pPr algn="ctr" indent="0" marL="0">
              <a:buNone/>
            </a:pPr>
            <a:r>
              <a:rPr lang="en-US" sz="1000" b="1" baseline="30000" dirty="0">
                <a:solidFill>
                  <a:srgbClr val="F6693D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 3</a:t>
            </a:r>
            <a:endParaRPr lang="en-US" sz="2000" dirty="0"/>
          </a:p>
        </p:txBody>
      </p:sp>
      <p:sp>
        <p:nvSpPr>
          <p:cNvPr id="23" name="Text 18"/>
          <p:cNvSpPr/>
          <p:nvPr/>
        </p:nvSpPr>
        <p:spPr>
          <a:xfrm>
            <a:off x="4480560" y="3300984"/>
            <a:ext cx="1188720" cy="7589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~20× P/E</a:t>
            </a:r>
            <a:endParaRPr lang="en-US" sz="1200" dirty="0"/>
          </a:p>
        </p:txBody>
      </p:sp>
      <p:sp>
        <p:nvSpPr>
          <p:cNvPr id="24" name="Text 19"/>
          <p:cNvSpPr/>
          <p:nvPr/>
        </p:nvSpPr>
        <p:spPr>
          <a:xfrm>
            <a:off x="5760720" y="3300984"/>
            <a:ext cx="2834640" cy="7589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Alphabet (public) · Gemini 3 / DeepMind · ~$85B 2026 capex</a:t>
            </a:r>
            <a:endParaRPr lang="en-US" sz="1100" dirty="0"/>
          </a:p>
        </p:txBody>
      </p:sp>
      <p:sp>
        <p:nvSpPr>
          <p:cNvPr id="25" name="Shape 20"/>
          <p:cNvSpPr/>
          <p:nvPr/>
        </p:nvSpPr>
        <p:spPr>
          <a:xfrm>
            <a:off x="457200" y="4105656"/>
            <a:ext cx="8229600" cy="758952"/>
          </a:xfrm>
          <a:prstGeom prst="rect">
            <a:avLst/>
          </a:prstGeom>
          <a:solidFill>
            <a:srgbClr val="F9F9F9"/>
          </a:solidFill>
          <a:ln w="6350">
            <a:solidFill>
              <a:srgbClr val="E5E5E5"/>
            </a:solidFill>
            <a:prstDash val="solid"/>
          </a:ln>
        </p:spPr>
      </p:sp>
      <p:pic>
        <p:nvPicPr>
          <p:cNvPr id="26" name="Image 3" descr="logos/xai.png">    </p:cNvPr>
          <p:cNvPicPr>
            <a:picLocks noChangeAspect="1"/>
          </p:cNvPicPr>
          <p:nvPr/>
        </p:nvPicPr>
        <p:blipFill>
          <a:blip r:embed="rId4"/>
          <a:srcRect l="0" r="0" t="0" b="0"/>
          <a:stretch/>
        </p:blipFill>
        <p:spPr>
          <a:xfrm>
            <a:off x="640080" y="4233672"/>
            <a:ext cx="502920" cy="502920"/>
          </a:xfrm>
          <a:prstGeom prst="rect">
            <a:avLst/>
          </a:prstGeom>
        </p:spPr>
      </p:pic>
      <p:sp>
        <p:nvSpPr>
          <p:cNvPr id="27" name="Text 21"/>
          <p:cNvSpPr/>
          <p:nvPr/>
        </p:nvSpPr>
        <p:spPr>
          <a:xfrm>
            <a:off x="1325880" y="4105656"/>
            <a:ext cx="1828800" cy="7589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xAI / SpaceX</a:t>
            </a:r>
            <a:endParaRPr lang="en-US" sz="1500" dirty="0"/>
          </a:p>
        </p:txBody>
      </p:sp>
      <p:sp>
        <p:nvSpPr>
          <p:cNvPr id="28" name="Text 22"/>
          <p:cNvSpPr/>
          <p:nvPr/>
        </p:nvSpPr>
        <p:spPr>
          <a:xfrm>
            <a:off x="3200400" y="4105656"/>
            <a:ext cx="1280160" cy="7589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6693D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$1.25T</a:t>
            </a:r>
            <a:pPr algn="ctr" indent="0" marL="0">
              <a:buNone/>
            </a:pPr>
            <a:r>
              <a:rPr lang="en-US" sz="1000" b="1" baseline="30000" dirty="0">
                <a:solidFill>
                  <a:srgbClr val="F6693D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 4</a:t>
            </a:r>
            <a:endParaRPr lang="en-US" sz="2000" dirty="0"/>
          </a:p>
        </p:txBody>
      </p:sp>
      <p:sp>
        <p:nvSpPr>
          <p:cNvPr id="29" name="Text 23"/>
          <p:cNvSpPr/>
          <p:nvPr/>
        </p:nvSpPr>
        <p:spPr>
          <a:xfrm>
            <a:off x="4480560" y="4105656"/>
            <a:ext cx="1188720" cy="7589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combined</a:t>
            </a:r>
            <a:endParaRPr lang="en-US" sz="1200" dirty="0"/>
          </a:p>
        </p:txBody>
      </p:sp>
      <p:sp>
        <p:nvSpPr>
          <p:cNvPr id="30" name="Text 24"/>
          <p:cNvSpPr/>
          <p:nvPr/>
        </p:nvSpPr>
        <p:spPr>
          <a:xfrm>
            <a:off x="5760720" y="4105656"/>
            <a:ext cx="2834640" cy="7589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All-stock merger closed Feb 2, 2026 — xAI now a SpaceX subsidiary</a:t>
            </a:r>
            <a:endParaRPr lang="en-US" sz="1100" dirty="0"/>
          </a:p>
        </p:txBody>
      </p:sp>
      <p:sp>
        <p:nvSpPr>
          <p:cNvPr id="31" name="Shape 25"/>
          <p:cNvSpPr/>
          <p:nvPr/>
        </p:nvSpPr>
        <p:spPr>
          <a:xfrm>
            <a:off x="457200" y="5166360"/>
            <a:ext cx="8229600" cy="502920"/>
          </a:xfrm>
          <a:prstGeom prst="rect">
            <a:avLst/>
          </a:prstGeom>
          <a:solidFill>
            <a:srgbClr val="FFD100"/>
          </a:solidFill>
          <a:ln w="12700">
            <a:solidFill>
              <a:srgbClr val="FFD100"/>
            </a:solidFill>
            <a:prstDash val="solid"/>
          </a:ln>
        </p:spPr>
      </p:sp>
      <p:sp>
        <p:nvSpPr>
          <p:cNvPr id="32" name="Text 26"/>
          <p:cNvSpPr/>
          <p:nvPr/>
        </p:nvSpPr>
        <p:spPr>
          <a:xfrm>
            <a:off x="640080" y="5166360"/>
            <a:ext cx="78638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Q1 2026 funding to foundational AI startups was 2× all of 2025.</a:t>
            </a:r>
            <a:pPr indent="0" marL="0">
              <a:buNone/>
            </a:pPr>
            <a:r>
              <a:rPr lang="en-US" sz="800" b="1" baseline="300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5</a:t>
            </a:r>
            <a:endParaRPr lang="en-US" sz="1400" dirty="0"/>
          </a:p>
        </p:txBody>
      </p:sp>
      <p:sp>
        <p:nvSpPr>
          <p:cNvPr id="33" name="Text 27"/>
          <p:cNvSpPr/>
          <p:nvPr/>
        </p:nvSpPr>
        <p:spPr>
          <a:xfrm>
            <a:off x="457200" y="5875020"/>
            <a:ext cx="8229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b="1" dirty="0">
                <a:solidFill>
                  <a:srgbClr val="99999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(1) </a:t>
            </a:r>
            <a:pPr indent="0" marL="0">
              <a:buNone/>
            </a:pPr>
            <a:r>
              <a:rPr lang="en-US" sz="700" dirty="0">
                <a:solidFill>
                  <a:srgbClr val="99999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Bloomberg / CNBC — OpenAI $122B round, Apr 2026, </a:t>
            </a:r>
            <a:pPr indent="0" marL="0">
              <a:buNone/>
            </a:pPr>
            <a:r>
              <a:rPr lang="en-US" sz="700" b="1" dirty="0">
                <a:solidFill>
                  <a:srgbClr val="99999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(2) </a:t>
            </a:r>
            <a:pPr indent="0" marL="0">
              <a:buNone/>
            </a:pPr>
            <a:r>
              <a:rPr lang="en-US" sz="700" dirty="0">
                <a:solidFill>
                  <a:srgbClr val="99999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Sacra / Bloomberg — Anthropic Series G, Feb 2026, </a:t>
            </a:r>
            <a:pPr indent="0" marL="0">
              <a:buNone/>
            </a:pPr>
            <a:r>
              <a:rPr lang="en-US" sz="700" b="1" dirty="0">
                <a:solidFill>
                  <a:srgbClr val="99999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(3) </a:t>
            </a:r>
            <a:pPr indent="0" marL="0">
              <a:buNone/>
            </a:pPr>
            <a:r>
              <a:rPr lang="en-US" sz="700" dirty="0">
                <a:solidFill>
                  <a:srgbClr val="99999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Alphabet 10-K + 2026 capex guide, </a:t>
            </a:r>
            <a:pPr indent="0" marL="0">
              <a:buNone/>
            </a:pPr>
            <a:r>
              <a:rPr lang="en-US" sz="700" b="1" dirty="0">
                <a:solidFill>
                  <a:srgbClr val="99999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(4) </a:t>
            </a:r>
            <a:pPr indent="0" marL="0">
              <a:buNone/>
            </a:pPr>
            <a:r>
              <a:rPr lang="en-US" sz="700" dirty="0">
                <a:solidFill>
                  <a:srgbClr val="99999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TechCrunch / CNBC — xAI-SpaceX merger, Feb 2, 2026, </a:t>
            </a:r>
            <a:pPr indent="0" marL="0">
              <a:buNone/>
            </a:pPr>
            <a:r>
              <a:rPr lang="en-US" sz="700" b="1" dirty="0">
                <a:solidFill>
                  <a:srgbClr val="99999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(5) </a:t>
            </a:r>
            <a:pPr indent="0" marL="0">
              <a:buNone/>
            </a:pPr>
            <a:r>
              <a:rPr lang="en-US" sz="700" dirty="0">
                <a:solidFill>
                  <a:srgbClr val="99999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Crunchbase Q1 2026 VC data.</a:t>
            </a:r>
            <a:endParaRPr lang="en-US" sz="700" dirty="0"/>
          </a:p>
        </p:txBody>
      </p:sp>
      <p:sp>
        <p:nvSpPr>
          <p:cNvPr id="34" name="Shape 28"/>
          <p:cNvSpPr/>
          <p:nvPr/>
        </p:nvSpPr>
        <p:spPr>
          <a:xfrm>
            <a:off x="0" y="6286500"/>
            <a:ext cx="9144000" cy="571500"/>
          </a:xfrm>
          <a:prstGeom prst="rect">
            <a:avLst/>
          </a:prstGeom>
          <a:solidFill>
            <a:srgbClr val="000000"/>
          </a:solidFill>
          <a:ln w="12700">
            <a:solidFill>
              <a:srgbClr val="000000"/>
            </a:solidFill>
            <a:prstDash val="solid"/>
          </a:ln>
        </p:spPr>
      </p:sp>
      <p:sp>
        <p:nvSpPr>
          <p:cNvPr id="35" name="Text 29"/>
          <p:cNvSpPr/>
          <p:nvPr/>
        </p:nvSpPr>
        <p:spPr>
          <a:xfrm>
            <a:off x="1371600" y="6332220"/>
            <a:ext cx="6400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FOR INFORMATIONAL PURPOSES ONLY. NOT INVESTMENT ADVICE. PAST PERFORMANCE IS NOT INDICATIVE OF FUTURE RESULTS.</a:t>
            </a:r>
            <a:endParaRPr lang="en-US" sz="650" dirty="0"/>
          </a:p>
        </p:txBody>
      </p:sp>
      <p:sp>
        <p:nvSpPr>
          <p:cNvPr id="36" name="Text 30"/>
          <p:cNvSpPr/>
          <p:nvPr/>
        </p:nvSpPr>
        <p:spPr>
          <a:xfrm>
            <a:off x="8321040" y="6405372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</a:t>
            </a:r>
            <a:endParaRPr lang="en-US" sz="9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7132320" y="164592"/>
            <a:ext cx="1737360" cy="292608"/>
          </a:xfrm>
          <a:prstGeom prst="roundRect">
            <a:avLst>
              <a:gd name="adj" fmla="val 15625"/>
            </a:avLst>
          </a:prstGeom>
          <a:solidFill>
            <a:srgbClr val="FFB800"/>
          </a:solidFill>
          <a:ln w="12700">
            <a:solidFill>
              <a:srgbClr val="FFB800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7132320" y="164592"/>
            <a:ext cx="17373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spc="100" kern="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MARKET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457200" y="182880"/>
            <a:ext cx="65836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400" b="1" dirty="0">
                <a:solidFill>
                  <a:srgbClr val="000000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Earnings &amp; valuations.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457200" y="914400"/>
            <a:ext cx="8229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Top 10 Tech firms are growing 4× faster than the top 10 Non-Tech — at a lower multiple. The divergence in fundamentals has not been priced into valuations.</a:t>
            </a:r>
            <a:endParaRPr lang="en-US" sz="1350" dirty="0"/>
          </a:p>
        </p:txBody>
      </p:sp>
      <p:sp>
        <p:nvSpPr>
          <p:cNvPr id="6" name="Shape 4"/>
          <p:cNvSpPr/>
          <p:nvPr/>
        </p:nvSpPr>
        <p:spPr>
          <a:xfrm>
            <a:off x="457200" y="1325880"/>
            <a:ext cx="8229600" cy="0"/>
          </a:xfrm>
          <a:prstGeom prst="line">
            <a:avLst/>
          </a:prstGeom>
          <a:noFill/>
          <a:ln w="9525">
            <a:solidFill>
              <a:srgbClr val="E5E5E5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457200" y="1554480"/>
            <a:ext cx="3931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140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Top 10 Tech vs Top 10 Non-Tech — 2026E</a:t>
            </a:r>
            <a:endParaRPr lang="en-US" sz="1400" dirty="0"/>
          </a:p>
        </p:txBody>
      </p:sp>
      <p:sp>
        <p:nvSpPr>
          <p:cNvPr id="8" name="Shape 6"/>
          <p:cNvSpPr/>
          <p:nvPr/>
        </p:nvSpPr>
        <p:spPr>
          <a:xfrm>
            <a:off x="457200" y="1828800"/>
            <a:ext cx="3931920" cy="0"/>
          </a:xfrm>
          <a:prstGeom prst="line">
            <a:avLst/>
          </a:prstGeom>
          <a:noFill/>
          <a:ln w="19050">
            <a:solidFill>
              <a:srgbClr val="000000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457200" y="2011680"/>
            <a:ext cx="3931920" cy="2926080"/>
          </a:xfrm>
          <a:prstGeom prst="rect">
            <a:avLst/>
          </a:prstGeom>
          <a:solidFill>
            <a:srgbClr val="FFFFFF"/>
          </a:solidFill>
          <a:ln w="6350">
            <a:solidFill>
              <a:srgbClr val="E5E5E5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603504" y="3401568"/>
            <a:ext cx="512064" cy="804672"/>
          </a:xfrm>
          <a:prstGeom prst="rect">
            <a:avLst/>
          </a:prstGeom>
          <a:solidFill>
            <a:srgbClr val="F6693D"/>
          </a:solidFill>
          <a:ln w="12700">
            <a:solidFill>
              <a:srgbClr val="F6693D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603504" y="3127248"/>
            <a:ext cx="512064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6693D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22%</a:t>
            </a:r>
            <a:endParaRPr lang="en-US" sz="1050" dirty="0"/>
          </a:p>
        </p:txBody>
      </p:sp>
      <p:sp>
        <p:nvSpPr>
          <p:cNvPr id="12" name="Shape 10"/>
          <p:cNvSpPr/>
          <p:nvPr/>
        </p:nvSpPr>
        <p:spPr>
          <a:xfrm>
            <a:off x="1170432" y="4023360"/>
            <a:ext cx="512064" cy="182880"/>
          </a:xfrm>
          <a:prstGeom prst="rect">
            <a:avLst/>
          </a:prstGeom>
          <a:solidFill>
            <a:srgbClr val="666666"/>
          </a:solidFill>
          <a:ln w="12700">
            <a:solidFill>
              <a:srgbClr val="666666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1170432" y="3749040"/>
            <a:ext cx="512064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666666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5%</a:t>
            </a:r>
            <a:endParaRPr lang="en-US" sz="1050" dirty="0"/>
          </a:p>
        </p:txBody>
      </p:sp>
      <p:sp>
        <p:nvSpPr>
          <p:cNvPr id="14" name="Shape 12"/>
          <p:cNvSpPr/>
          <p:nvPr/>
        </p:nvSpPr>
        <p:spPr>
          <a:xfrm>
            <a:off x="585216" y="4206240"/>
            <a:ext cx="1115568" cy="0"/>
          </a:xfrm>
          <a:prstGeom prst="line">
            <a:avLst/>
          </a:prstGeom>
          <a:noFill/>
          <a:ln w="9525">
            <a:solidFill>
              <a:srgbClr val="333333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548640" y="4315968"/>
            <a:ext cx="11887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Revenue Growth</a:t>
            </a:r>
            <a:endParaRPr lang="en-US" sz="1000" dirty="0"/>
          </a:p>
        </p:txBody>
      </p:sp>
      <p:sp>
        <p:nvSpPr>
          <p:cNvPr id="16" name="Shape 14"/>
          <p:cNvSpPr/>
          <p:nvPr/>
        </p:nvSpPr>
        <p:spPr>
          <a:xfrm>
            <a:off x="1883664" y="2706624"/>
            <a:ext cx="512064" cy="1499616"/>
          </a:xfrm>
          <a:prstGeom prst="rect">
            <a:avLst/>
          </a:prstGeom>
          <a:solidFill>
            <a:srgbClr val="F6693D"/>
          </a:solidFill>
          <a:ln w="12700">
            <a:solidFill>
              <a:srgbClr val="F6693D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1883664" y="2432304"/>
            <a:ext cx="512064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6693D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41%</a:t>
            </a:r>
            <a:endParaRPr lang="en-US" sz="1050" dirty="0"/>
          </a:p>
        </p:txBody>
      </p:sp>
      <p:sp>
        <p:nvSpPr>
          <p:cNvPr id="18" name="Shape 16"/>
          <p:cNvSpPr/>
          <p:nvPr/>
        </p:nvSpPr>
        <p:spPr>
          <a:xfrm>
            <a:off x="2450592" y="3474720"/>
            <a:ext cx="512064" cy="731520"/>
          </a:xfrm>
          <a:prstGeom prst="rect">
            <a:avLst/>
          </a:prstGeom>
          <a:solidFill>
            <a:srgbClr val="666666"/>
          </a:solidFill>
          <a:ln w="12700">
            <a:solidFill>
              <a:srgbClr val="666666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2450592" y="3200400"/>
            <a:ext cx="512064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666666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20%</a:t>
            </a:r>
            <a:endParaRPr lang="en-US" sz="1050" dirty="0"/>
          </a:p>
        </p:txBody>
      </p:sp>
      <p:sp>
        <p:nvSpPr>
          <p:cNvPr id="20" name="Shape 18"/>
          <p:cNvSpPr/>
          <p:nvPr/>
        </p:nvSpPr>
        <p:spPr>
          <a:xfrm>
            <a:off x="1865376" y="4206240"/>
            <a:ext cx="1115568" cy="0"/>
          </a:xfrm>
          <a:prstGeom prst="line">
            <a:avLst/>
          </a:prstGeom>
          <a:noFill/>
          <a:ln w="9525">
            <a:solidFill>
              <a:srgbClr val="333333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1828800" y="4315968"/>
            <a:ext cx="11887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Op Margin</a:t>
            </a:r>
            <a:endParaRPr lang="en-US" sz="1000" dirty="0"/>
          </a:p>
        </p:txBody>
      </p:sp>
      <p:sp>
        <p:nvSpPr>
          <p:cNvPr id="22" name="Shape 20"/>
          <p:cNvSpPr/>
          <p:nvPr/>
        </p:nvSpPr>
        <p:spPr>
          <a:xfrm>
            <a:off x="3163824" y="3004457"/>
            <a:ext cx="512064" cy="1201783"/>
          </a:xfrm>
          <a:prstGeom prst="rect">
            <a:avLst/>
          </a:prstGeom>
          <a:solidFill>
            <a:srgbClr val="F6693D"/>
          </a:solidFill>
          <a:ln w="12700">
            <a:solidFill>
              <a:srgbClr val="F6693D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163824" y="2730137"/>
            <a:ext cx="512064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6693D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23x</a:t>
            </a:r>
            <a:endParaRPr lang="en-US" sz="1050" dirty="0"/>
          </a:p>
        </p:txBody>
      </p:sp>
      <p:sp>
        <p:nvSpPr>
          <p:cNvPr id="24" name="Shape 22"/>
          <p:cNvSpPr/>
          <p:nvPr/>
        </p:nvSpPr>
        <p:spPr>
          <a:xfrm>
            <a:off x="3730752" y="2795451"/>
            <a:ext cx="512064" cy="1410789"/>
          </a:xfrm>
          <a:prstGeom prst="rect">
            <a:avLst/>
          </a:prstGeom>
          <a:solidFill>
            <a:srgbClr val="666666"/>
          </a:solidFill>
          <a:ln w="12700">
            <a:solidFill>
              <a:srgbClr val="666666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3730752" y="2521131"/>
            <a:ext cx="512064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666666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27x</a:t>
            </a:r>
            <a:endParaRPr lang="en-US" sz="1050" dirty="0"/>
          </a:p>
        </p:txBody>
      </p:sp>
      <p:sp>
        <p:nvSpPr>
          <p:cNvPr id="26" name="Shape 24"/>
          <p:cNvSpPr/>
          <p:nvPr/>
        </p:nvSpPr>
        <p:spPr>
          <a:xfrm>
            <a:off x="3145536" y="4206240"/>
            <a:ext cx="1115568" cy="0"/>
          </a:xfrm>
          <a:prstGeom prst="line">
            <a:avLst/>
          </a:prstGeom>
          <a:noFill/>
          <a:ln w="9525">
            <a:solidFill>
              <a:srgbClr val="333333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3108960" y="4315968"/>
            <a:ext cx="11887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P/E</a:t>
            </a:r>
            <a:endParaRPr lang="en-US" sz="1000" dirty="0"/>
          </a:p>
        </p:txBody>
      </p:sp>
      <p:sp>
        <p:nvSpPr>
          <p:cNvPr id="28" name="Shape 26"/>
          <p:cNvSpPr/>
          <p:nvPr/>
        </p:nvSpPr>
        <p:spPr>
          <a:xfrm>
            <a:off x="914400" y="5074920"/>
            <a:ext cx="164592" cy="109728"/>
          </a:xfrm>
          <a:prstGeom prst="rect">
            <a:avLst/>
          </a:prstGeom>
          <a:solidFill>
            <a:srgbClr val="F6693D"/>
          </a:solidFill>
          <a:ln w="12700">
            <a:solidFill>
              <a:srgbClr val="F6693D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1115568" y="5038344"/>
            <a:ext cx="128016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Top 10 Tech</a:t>
            </a:r>
            <a:endParaRPr lang="en-US" sz="900" dirty="0"/>
          </a:p>
        </p:txBody>
      </p:sp>
      <p:sp>
        <p:nvSpPr>
          <p:cNvPr id="30" name="Shape 28"/>
          <p:cNvSpPr/>
          <p:nvPr/>
        </p:nvSpPr>
        <p:spPr>
          <a:xfrm>
            <a:off x="2468880" y="5074920"/>
            <a:ext cx="164592" cy="109728"/>
          </a:xfrm>
          <a:prstGeom prst="rect">
            <a:avLst/>
          </a:prstGeom>
          <a:solidFill>
            <a:srgbClr val="666666"/>
          </a:solidFill>
          <a:ln w="12700">
            <a:solidFill>
              <a:srgbClr val="666666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2670048" y="5038344"/>
            <a:ext cx="15544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Top 10 Non-Tech</a:t>
            </a:r>
            <a:endParaRPr lang="en-US" sz="900" dirty="0"/>
          </a:p>
        </p:txBody>
      </p:sp>
      <p:sp>
        <p:nvSpPr>
          <p:cNvPr id="32" name="Text 30"/>
          <p:cNvSpPr/>
          <p:nvPr/>
        </p:nvSpPr>
        <p:spPr>
          <a:xfrm>
            <a:off x="4754880" y="1554480"/>
            <a:ext cx="3931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140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Top US — P/E vs revenue growth</a:t>
            </a:r>
            <a:endParaRPr lang="en-US" sz="1400" dirty="0"/>
          </a:p>
        </p:txBody>
      </p:sp>
      <p:sp>
        <p:nvSpPr>
          <p:cNvPr id="33" name="Shape 31"/>
          <p:cNvSpPr/>
          <p:nvPr/>
        </p:nvSpPr>
        <p:spPr>
          <a:xfrm>
            <a:off x="4754880" y="1828800"/>
            <a:ext cx="3931920" cy="0"/>
          </a:xfrm>
          <a:prstGeom prst="line">
            <a:avLst/>
          </a:prstGeom>
          <a:noFill/>
          <a:ln w="19050">
            <a:solidFill>
              <a:srgbClr val="000000"/>
            </a:solidFill>
            <a:prstDash val="solid"/>
          </a:ln>
        </p:spPr>
      </p:sp>
      <p:sp>
        <p:nvSpPr>
          <p:cNvPr id="34" name="Shape 32"/>
          <p:cNvSpPr/>
          <p:nvPr/>
        </p:nvSpPr>
        <p:spPr>
          <a:xfrm>
            <a:off x="4754880" y="2011680"/>
            <a:ext cx="3931920" cy="2926080"/>
          </a:xfrm>
          <a:prstGeom prst="rect">
            <a:avLst/>
          </a:prstGeom>
          <a:solidFill>
            <a:srgbClr val="FFFFFF"/>
          </a:solidFill>
          <a:ln w="6350">
            <a:solidFill>
              <a:srgbClr val="E5E5E5"/>
            </a:solidFill>
            <a:prstDash val="solid"/>
          </a:ln>
        </p:spPr>
      </p:sp>
      <p:sp>
        <p:nvSpPr>
          <p:cNvPr id="35" name="Shape 33"/>
          <p:cNvSpPr/>
          <p:nvPr/>
        </p:nvSpPr>
        <p:spPr>
          <a:xfrm>
            <a:off x="5074920" y="4151376"/>
            <a:ext cx="3520440" cy="0"/>
          </a:xfrm>
          <a:prstGeom prst="line">
            <a:avLst/>
          </a:prstGeom>
          <a:noFill/>
          <a:ln w="6350">
            <a:solidFill>
              <a:srgbClr val="EEEEEE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5074920" y="3639312"/>
            <a:ext cx="3520440" cy="0"/>
          </a:xfrm>
          <a:prstGeom prst="line">
            <a:avLst/>
          </a:prstGeom>
          <a:noFill/>
          <a:ln w="6350">
            <a:solidFill>
              <a:srgbClr val="EEEEEE"/>
            </a:solidFill>
            <a:prstDash val="solid"/>
          </a:ln>
        </p:spPr>
      </p:sp>
      <p:sp>
        <p:nvSpPr>
          <p:cNvPr id="37" name="Shape 35"/>
          <p:cNvSpPr/>
          <p:nvPr/>
        </p:nvSpPr>
        <p:spPr>
          <a:xfrm>
            <a:off x="5074920" y="3127248"/>
            <a:ext cx="3520440" cy="0"/>
          </a:xfrm>
          <a:prstGeom prst="line">
            <a:avLst/>
          </a:prstGeom>
          <a:noFill/>
          <a:ln w="6350">
            <a:solidFill>
              <a:srgbClr val="EEEEEE"/>
            </a:solidFill>
            <a:prstDash val="solid"/>
          </a:ln>
        </p:spPr>
      </p:sp>
      <p:sp>
        <p:nvSpPr>
          <p:cNvPr id="38" name="Shape 36"/>
          <p:cNvSpPr/>
          <p:nvPr/>
        </p:nvSpPr>
        <p:spPr>
          <a:xfrm>
            <a:off x="5074920" y="2615184"/>
            <a:ext cx="3520440" cy="0"/>
          </a:xfrm>
          <a:prstGeom prst="line">
            <a:avLst/>
          </a:prstGeom>
          <a:noFill/>
          <a:ln w="6350">
            <a:solidFill>
              <a:srgbClr val="EEEEEE"/>
            </a:solidFill>
            <a:prstDash val="solid"/>
          </a:ln>
        </p:spPr>
      </p:sp>
      <p:sp>
        <p:nvSpPr>
          <p:cNvPr id="39" name="Shape 37"/>
          <p:cNvSpPr/>
          <p:nvPr/>
        </p:nvSpPr>
        <p:spPr>
          <a:xfrm>
            <a:off x="5074920" y="4663440"/>
            <a:ext cx="3520440" cy="0"/>
          </a:xfrm>
          <a:prstGeom prst="line">
            <a:avLst/>
          </a:prstGeom>
          <a:noFill/>
          <a:ln w="9525">
            <a:solidFill>
              <a:srgbClr val="666666"/>
            </a:solidFill>
            <a:prstDash val="solid"/>
          </a:ln>
        </p:spPr>
      </p:sp>
      <p:sp>
        <p:nvSpPr>
          <p:cNvPr id="40" name="Shape 38"/>
          <p:cNvSpPr/>
          <p:nvPr/>
        </p:nvSpPr>
        <p:spPr>
          <a:xfrm>
            <a:off x="5074920" y="2103120"/>
            <a:ext cx="0" cy="2560320"/>
          </a:xfrm>
          <a:prstGeom prst="line">
            <a:avLst/>
          </a:prstGeom>
          <a:noFill/>
          <a:ln w="9525">
            <a:solidFill>
              <a:srgbClr val="666666"/>
            </a:solidFill>
            <a:prstDash val="solid"/>
          </a:ln>
        </p:spPr>
      </p:sp>
      <p:sp>
        <p:nvSpPr>
          <p:cNvPr id="41" name="Text 39"/>
          <p:cNvSpPr/>
          <p:nvPr/>
        </p:nvSpPr>
        <p:spPr>
          <a:xfrm>
            <a:off x="4873752" y="4690872"/>
            <a:ext cx="402336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99999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-5%</a:t>
            </a:r>
            <a:endParaRPr lang="en-US" sz="700" dirty="0"/>
          </a:p>
        </p:txBody>
      </p:sp>
      <p:sp>
        <p:nvSpPr>
          <p:cNvPr id="42" name="Text 40"/>
          <p:cNvSpPr/>
          <p:nvPr/>
        </p:nvSpPr>
        <p:spPr>
          <a:xfrm>
            <a:off x="5193792" y="4690872"/>
            <a:ext cx="402336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99999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0%</a:t>
            </a:r>
            <a:endParaRPr lang="en-US" sz="700" dirty="0"/>
          </a:p>
        </p:txBody>
      </p:sp>
      <p:sp>
        <p:nvSpPr>
          <p:cNvPr id="43" name="Text 41"/>
          <p:cNvSpPr/>
          <p:nvPr/>
        </p:nvSpPr>
        <p:spPr>
          <a:xfrm>
            <a:off x="5833872" y="4690872"/>
            <a:ext cx="402336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99999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+10%</a:t>
            </a:r>
            <a:endParaRPr lang="en-US" sz="700" dirty="0"/>
          </a:p>
        </p:txBody>
      </p:sp>
      <p:sp>
        <p:nvSpPr>
          <p:cNvPr id="44" name="Text 42"/>
          <p:cNvSpPr/>
          <p:nvPr/>
        </p:nvSpPr>
        <p:spPr>
          <a:xfrm>
            <a:off x="6473952" y="4690872"/>
            <a:ext cx="402336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99999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+20%</a:t>
            </a:r>
            <a:endParaRPr lang="en-US" sz="700" dirty="0"/>
          </a:p>
        </p:txBody>
      </p:sp>
      <p:sp>
        <p:nvSpPr>
          <p:cNvPr id="45" name="Text 43"/>
          <p:cNvSpPr/>
          <p:nvPr/>
        </p:nvSpPr>
        <p:spPr>
          <a:xfrm>
            <a:off x="7114032" y="4690872"/>
            <a:ext cx="402336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99999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+30%</a:t>
            </a:r>
            <a:endParaRPr lang="en-US" sz="700" dirty="0"/>
          </a:p>
        </p:txBody>
      </p:sp>
      <p:sp>
        <p:nvSpPr>
          <p:cNvPr id="46" name="Text 44"/>
          <p:cNvSpPr/>
          <p:nvPr/>
        </p:nvSpPr>
        <p:spPr>
          <a:xfrm>
            <a:off x="7754112" y="4690872"/>
            <a:ext cx="402336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99999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+40%</a:t>
            </a:r>
            <a:endParaRPr lang="en-US" sz="700" dirty="0"/>
          </a:p>
        </p:txBody>
      </p:sp>
      <p:sp>
        <p:nvSpPr>
          <p:cNvPr id="47" name="Text 45"/>
          <p:cNvSpPr/>
          <p:nvPr/>
        </p:nvSpPr>
        <p:spPr>
          <a:xfrm>
            <a:off x="8394192" y="4690872"/>
            <a:ext cx="402336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99999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+50%</a:t>
            </a:r>
            <a:endParaRPr lang="en-US" sz="700" dirty="0"/>
          </a:p>
        </p:txBody>
      </p:sp>
      <p:sp>
        <p:nvSpPr>
          <p:cNvPr id="48" name="Text 46"/>
          <p:cNvSpPr/>
          <p:nvPr/>
        </p:nvSpPr>
        <p:spPr>
          <a:xfrm>
            <a:off x="4727448" y="4599432"/>
            <a:ext cx="301752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00" dirty="0">
                <a:solidFill>
                  <a:srgbClr val="99999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0×</a:t>
            </a:r>
            <a:endParaRPr lang="en-US" sz="700" dirty="0"/>
          </a:p>
        </p:txBody>
      </p:sp>
      <p:sp>
        <p:nvSpPr>
          <p:cNvPr id="49" name="Text 47"/>
          <p:cNvSpPr/>
          <p:nvPr/>
        </p:nvSpPr>
        <p:spPr>
          <a:xfrm>
            <a:off x="4727448" y="4087368"/>
            <a:ext cx="301752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00" dirty="0">
                <a:solidFill>
                  <a:srgbClr val="99999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10×</a:t>
            </a:r>
            <a:endParaRPr lang="en-US" sz="700" dirty="0"/>
          </a:p>
        </p:txBody>
      </p:sp>
      <p:sp>
        <p:nvSpPr>
          <p:cNvPr id="50" name="Text 48"/>
          <p:cNvSpPr/>
          <p:nvPr/>
        </p:nvSpPr>
        <p:spPr>
          <a:xfrm>
            <a:off x="4727448" y="3575304"/>
            <a:ext cx="301752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00" dirty="0">
                <a:solidFill>
                  <a:srgbClr val="99999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20×</a:t>
            </a:r>
            <a:endParaRPr lang="en-US" sz="700" dirty="0"/>
          </a:p>
        </p:txBody>
      </p:sp>
      <p:sp>
        <p:nvSpPr>
          <p:cNvPr id="51" name="Text 49"/>
          <p:cNvSpPr/>
          <p:nvPr/>
        </p:nvSpPr>
        <p:spPr>
          <a:xfrm>
            <a:off x="4727448" y="3063240"/>
            <a:ext cx="301752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00" dirty="0">
                <a:solidFill>
                  <a:srgbClr val="99999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30×</a:t>
            </a:r>
            <a:endParaRPr lang="en-US" sz="700" dirty="0"/>
          </a:p>
        </p:txBody>
      </p:sp>
      <p:sp>
        <p:nvSpPr>
          <p:cNvPr id="52" name="Text 50"/>
          <p:cNvSpPr/>
          <p:nvPr/>
        </p:nvSpPr>
        <p:spPr>
          <a:xfrm>
            <a:off x="4727448" y="2551176"/>
            <a:ext cx="301752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00" dirty="0">
                <a:solidFill>
                  <a:srgbClr val="99999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40×</a:t>
            </a:r>
            <a:endParaRPr lang="en-US" sz="700" dirty="0"/>
          </a:p>
        </p:txBody>
      </p:sp>
      <p:sp>
        <p:nvSpPr>
          <p:cNvPr id="53" name="Text 51"/>
          <p:cNvSpPr/>
          <p:nvPr/>
        </p:nvSpPr>
        <p:spPr>
          <a:xfrm>
            <a:off x="4727448" y="2039112"/>
            <a:ext cx="301752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00" dirty="0">
                <a:solidFill>
                  <a:srgbClr val="99999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50×</a:t>
            </a:r>
            <a:endParaRPr lang="en-US" sz="700" dirty="0"/>
          </a:p>
        </p:txBody>
      </p:sp>
      <p:sp>
        <p:nvSpPr>
          <p:cNvPr id="54" name="Text 52"/>
          <p:cNvSpPr/>
          <p:nvPr/>
        </p:nvSpPr>
        <p:spPr>
          <a:xfrm>
            <a:off x="5074920" y="4791456"/>
            <a:ext cx="352044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i="1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Forward revenue growth, 2026E → 2027E</a:t>
            </a:r>
            <a:endParaRPr lang="en-US" sz="800" dirty="0"/>
          </a:p>
        </p:txBody>
      </p:sp>
      <p:sp>
        <p:nvSpPr>
          <p:cNvPr id="55" name="Text 53"/>
          <p:cNvSpPr/>
          <p:nvPr/>
        </p:nvSpPr>
        <p:spPr>
          <a:xfrm>
            <a:off x="4754880" y="1801368"/>
            <a:ext cx="3931920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i="1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Forward P/E (2026E)</a:t>
            </a:r>
            <a:endParaRPr lang="en-US" sz="800" dirty="0"/>
          </a:p>
        </p:txBody>
      </p:sp>
      <p:sp>
        <p:nvSpPr>
          <p:cNvPr id="56" name="Shape 54"/>
          <p:cNvSpPr/>
          <p:nvPr/>
        </p:nvSpPr>
        <p:spPr>
          <a:xfrm>
            <a:off x="8535924" y="3375050"/>
            <a:ext cx="118872" cy="118872"/>
          </a:xfrm>
          <a:prstGeom prst="ellipse">
            <a:avLst/>
          </a:prstGeom>
          <a:solidFill>
            <a:srgbClr val="F6693D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57" name="Shape 55"/>
          <p:cNvSpPr/>
          <p:nvPr/>
        </p:nvSpPr>
        <p:spPr>
          <a:xfrm>
            <a:off x="6308130" y="3134380"/>
            <a:ext cx="118872" cy="118872"/>
          </a:xfrm>
          <a:prstGeom prst="ellipse">
            <a:avLst/>
          </a:prstGeom>
          <a:solidFill>
            <a:srgbClr val="F6693D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58" name="Shape 56"/>
          <p:cNvSpPr/>
          <p:nvPr/>
        </p:nvSpPr>
        <p:spPr>
          <a:xfrm>
            <a:off x="5780211" y="2991002"/>
            <a:ext cx="118872" cy="118872"/>
          </a:xfrm>
          <a:prstGeom prst="ellipse">
            <a:avLst/>
          </a:prstGeom>
          <a:solidFill>
            <a:srgbClr val="F6693D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59" name="Shape 57"/>
          <p:cNvSpPr/>
          <p:nvPr/>
        </p:nvSpPr>
        <p:spPr>
          <a:xfrm>
            <a:off x="6329081" y="3293120"/>
            <a:ext cx="118872" cy="118872"/>
          </a:xfrm>
          <a:prstGeom prst="ellipse">
            <a:avLst/>
          </a:prstGeom>
          <a:solidFill>
            <a:srgbClr val="F6693D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60" name="Shape 58"/>
          <p:cNvSpPr/>
          <p:nvPr/>
        </p:nvSpPr>
        <p:spPr>
          <a:xfrm>
            <a:off x="6090850" y="2960279"/>
            <a:ext cx="118872" cy="118872"/>
          </a:xfrm>
          <a:prstGeom prst="ellipse">
            <a:avLst/>
          </a:prstGeom>
          <a:solidFill>
            <a:srgbClr val="F6693D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61" name="Shape 59"/>
          <p:cNvSpPr/>
          <p:nvPr/>
        </p:nvSpPr>
        <p:spPr>
          <a:xfrm>
            <a:off x="8535924" y="2724729"/>
            <a:ext cx="118872" cy="118872"/>
          </a:xfrm>
          <a:prstGeom prst="ellipse">
            <a:avLst/>
          </a:prstGeom>
          <a:solidFill>
            <a:srgbClr val="F6693D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62" name="Shape 60"/>
          <p:cNvSpPr/>
          <p:nvPr/>
        </p:nvSpPr>
        <p:spPr>
          <a:xfrm>
            <a:off x="6515279" y="3467222"/>
            <a:ext cx="118872" cy="118872"/>
          </a:xfrm>
          <a:prstGeom prst="ellipse">
            <a:avLst/>
          </a:prstGeom>
          <a:solidFill>
            <a:srgbClr val="F6693D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63" name="Shape 61"/>
          <p:cNvSpPr/>
          <p:nvPr/>
        </p:nvSpPr>
        <p:spPr>
          <a:xfrm>
            <a:off x="6371844" y="2043684"/>
            <a:ext cx="118872" cy="118872"/>
          </a:xfrm>
          <a:prstGeom prst="ellipse">
            <a:avLst/>
          </a:prstGeom>
          <a:solidFill>
            <a:srgbClr val="333333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64" name="Shape 62"/>
          <p:cNvSpPr/>
          <p:nvPr/>
        </p:nvSpPr>
        <p:spPr>
          <a:xfrm>
            <a:off x="5721547" y="2340681"/>
            <a:ext cx="118872" cy="118872"/>
          </a:xfrm>
          <a:prstGeom prst="ellipse">
            <a:avLst/>
          </a:prstGeom>
          <a:solidFill>
            <a:srgbClr val="333333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65" name="Shape 63"/>
          <p:cNvSpPr/>
          <p:nvPr/>
        </p:nvSpPr>
        <p:spPr>
          <a:xfrm>
            <a:off x="5544246" y="3497946"/>
            <a:ext cx="118872" cy="118872"/>
          </a:xfrm>
          <a:prstGeom prst="ellipse">
            <a:avLst/>
          </a:prstGeom>
          <a:solidFill>
            <a:srgbClr val="333333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66" name="Shape 64"/>
          <p:cNvSpPr/>
          <p:nvPr/>
        </p:nvSpPr>
        <p:spPr>
          <a:xfrm>
            <a:off x="5625007" y="3871752"/>
            <a:ext cx="118872" cy="118872"/>
          </a:xfrm>
          <a:prstGeom prst="ellipse">
            <a:avLst/>
          </a:prstGeom>
          <a:solidFill>
            <a:srgbClr val="333333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67" name="Shape 65"/>
          <p:cNvSpPr/>
          <p:nvPr/>
        </p:nvSpPr>
        <p:spPr>
          <a:xfrm>
            <a:off x="6338059" y="3252155"/>
            <a:ext cx="118872" cy="118872"/>
          </a:xfrm>
          <a:prstGeom prst="ellipse">
            <a:avLst/>
          </a:prstGeom>
          <a:solidFill>
            <a:srgbClr val="333333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68" name="Shape 66"/>
          <p:cNvSpPr/>
          <p:nvPr/>
        </p:nvSpPr>
        <p:spPr>
          <a:xfrm>
            <a:off x="5131785" y="3641324"/>
            <a:ext cx="118872" cy="118872"/>
          </a:xfrm>
          <a:prstGeom prst="ellipse">
            <a:avLst/>
          </a:prstGeom>
          <a:solidFill>
            <a:srgbClr val="333333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69" name="Shape 67"/>
          <p:cNvSpPr/>
          <p:nvPr/>
        </p:nvSpPr>
        <p:spPr>
          <a:xfrm>
            <a:off x="5892115" y="3390412"/>
            <a:ext cx="118872" cy="118872"/>
          </a:xfrm>
          <a:prstGeom prst="ellipse">
            <a:avLst/>
          </a:prstGeom>
          <a:solidFill>
            <a:srgbClr val="333333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70" name="Text 68"/>
          <p:cNvSpPr/>
          <p:nvPr/>
        </p:nvSpPr>
        <p:spPr>
          <a:xfrm>
            <a:off x="7936992" y="3370478"/>
            <a:ext cx="822960" cy="1188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b="1" dirty="0">
                <a:solidFill>
                  <a:srgbClr val="F6693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NVIDIA</a:t>
            </a:r>
            <a:endParaRPr lang="en-US" sz="700" dirty="0"/>
          </a:p>
        </p:txBody>
      </p:sp>
      <p:sp>
        <p:nvSpPr>
          <p:cNvPr id="71" name="Text 69"/>
          <p:cNvSpPr/>
          <p:nvPr/>
        </p:nvSpPr>
        <p:spPr>
          <a:xfrm>
            <a:off x="6440718" y="3056656"/>
            <a:ext cx="822960" cy="1188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b="1" dirty="0">
                <a:solidFill>
                  <a:srgbClr val="F6693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Alphabet</a:t>
            </a:r>
            <a:endParaRPr lang="en-US" sz="700" dirty="0"/>
          </a:p>
        </p:txBody>
      </p:sp>
      <p:sp>
        <p:nvSpPr>
          <p:cNvPr id="72" name="Text 70"/>
          <p:cNvSpPr/>
          <p:nvPr/>
        </p:nvSpPr>
        <p:spPr>
          <a:xfrm>
            <a:off x="5455599" y="2986430"/>
            <a:ext cx="822960" cy="1188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b="1" dirty="0">
                <a:solidFill>
                  <a:srgbClr val="F6693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Apple</a:t>
            </a:r>
            <a:endParaRPr lang="en-US" sz="700" dirty="0"/>
          </a:p>
        </p:txBody>
      </p:sp>
      <p:sp>
        <p:nvSpPr>
          <p:cNvPr id="73" name="Text 71"/>
          <p:cNvSpPr/>
          <p:nvPr/>
        </p:nvSpPr>
        <p:spPr>
          <a:xfrm>
            <a:off x="6461669" y="3407420"/>
            <a:ext cx="822960" cy="1188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b="1" dirty="0">
                <a:solidFill>
                  <a:srgbClr val="F6693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Microsoft</a:t>
            </a:r>
            <a:endParaRPr lang="en-US" sz="700" dirty="0"/>
          </a:p>
        </p:txBody>
      </p:sp>
      <p:sp>
        <p:nvSpPr>
          <p:cNvPr id="74" name="Text 72"/>
          <p:cNvSpPr/>
          <p:nvPr/>
        </p:nvSpPr>
        <p:spPr>
          <a:xfrm>
            <a:off x="6223438" y="2955707"/>
            <a:ext cx="822960" cy="1188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b="1" dirty="0">
                <a:solidFill>
                  <a:srgbClr val="F6693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Amazon</a:t>
            </a:r>
            <a:endParaRPr lang="en-US" sz="700" dirty="0"/>
          </a:p>
        </p:txBody>
      </p:sp>
      <p:sp>
        <p:nvSpPr>
          <p:cNvPr id="75" name="Text 73"/>
          <p:cNvSpPr/>
          <p:nvPr/>
        </p:nvSpPr>
        <p:spPr>
          <a:xfrm>
            <a:off x="7845552" y="2720157"/>
            <a:ext cx="822960" cy="1188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b="1" dirty="0">
                <a:solidFill>
                  <a:srgbClr val="F6693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Broadcom</a:t>
            </a:r>
            <a:endParaRPr lang="en-US" sz="700" dirty="0"/>
          </a:p>
        </p:txBody>
      </p:sp>
      <p:sp>
        <p:nvSpPr>
          <p:cNvPr id="76" name="Text 74"/>
          <p:cNvSpPr/>
          <p:nvPr/>
        </p:nvSpPr>
        <p:spPr>
          <a:xfrm>
            <a:off x="6208955" y="3462650"/>
            <a:ext cx="822960" cy="1188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b="1" dirty="0">
                <a:solidFill>
                  <a:srgbClr val="F6693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Meta</a:t>
            </a:r>
            <a:endParaRPr lang="en-US" sz="700" dirty="0"/>
          </a:p>
        </p:txBody>
      </p:sp>
      <p:sp>
        <p:nvSpPr>
          <p:cNvPr id="77" name="Text 75"/>
          <p:cNvSpPr/>
          <p:nvPr/>
        </p:nvSpPr>
        <p:spPr>
          <a:xfrm>
            <a:off x="6504432" y="2139696"/>
            <a:ext cx="822960" cy="1188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b="1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Tesla</a:t>
            </a:r>
            <a:endParaRPr lang="en-US" sz="700" dirty="0"/>
          </a:p>
        </p:txBody>
      </p:sp>
      <p:sp>
        <p:nvSpPr>
          <p:cNvPr id="78" name="Text 76"/>
          <p:cNvSpPr/>
          <p:nvPr/>
        </p:nvSpPr>
        <p:spPr>
          <a:xfrm>
            <a:off x="5854135" y="2454981"/>
            <a:ext cx="822960" cy="1188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b="1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Walmart</a:t>
            </a:r>
            <a:endParaRPr lang="en-US" sz="700" dirty="0"/>
          </a:p>
        </p:txBody>
      </p:sp>
      <p:sp>
        <p:nvSpPr>
          <p:cNvPr id="79" name="Text 77"/>
          <p:cNvSpPr/>
          <p:nvPr/>
        </p:nvSpPr>
        <p:spPr>
          <a:xfrm>
            <a:off x="5676834" y="3612246"/>
            <a:ext cx="822960" cy="1188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b="1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Berkshire</a:t>
            </a:r>
            <a:endParaRPr lang="en-US" sz="700" dirty="0"/>
          </a:p>
        </p:txBody>
      </p:sp>
      <p:sp>
        <p:nvSpPr>
          <p:cNvPr id="80" name="Text 78"/>
          <p:cNvSpPr/>
          <p:nvPr/>
        </p:nvSpPr>
        <p:spPr>
          <a:xfrm>
            <a:off x="5757595" y="3867180"/>
            <a:ext cx="822960" cy="1188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b="1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JPMorgan</a:t>
            </a:r>
            <a:endParaRPr lang="en-US" sz="700" dirty="0"/>
          </a:p>
        </p:txBody>
      </p:sp>
      <p:sp>
        <p:nvSpPr>
          <p:cNvPr id="81" name="Text 79"/>
          <p:cNvSpPr/>
          <p:nvPr/>
        </p:nvSpPr>
        <p:spPr>
          <a:xfrm>
            <a:off x="5922007" y="3357311"/>
            <a:ext cx="822960" cy="1188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b="1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Eli Lilly</a:t>
            </a:r>
            <a:endParaRPr lang="en-US" sz="700" dirty="0"/>
          </a:p>
        </p:txBody>
      </p:sp>
      <p:sp>
        <p:nvSpPr>
          <p:cNvPr id="82" name="Text 80"/>
          <p:cNvSpPr/>
          <p:nvPr/>
        </p:nvSpPr>
        <p:spPr>
          <a:xfrm>
            <a:off x="4825461" y="3636752"/>
            <a:ext cx="822960" cy="1188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b="1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Exxon</a:t>
            </a:r>
            <a:endParaRPr lang="en-US" sz="700" dirty="0"/>
          </a:p>
        </p:txBody>
      </p:sp>
      <p:sp>
        <p:nvSpPr>
          <p:cNvPr id="83" name="Text 81"/>
          <p:cNvSpPr/>
          <p:nvPr/>
        </p:nvSpPr>
        <p:spPr>
          <a:xfrm>
            <a:off x="6024703" y="3504712"/>
            <a:ext cx="822960" cy="1188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b="1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Visa</a:t>
            </a:r>
            <a:endParaRPr lang="en-US" sz="700" dirty="0"/>
          </a:p>
        </p:txBody>
      </p:sp>
      <p:sp>
        <p:nvSpPr>
          <p:cNvPr id="84" name="Shape 82"/>
          <p:cNvSpPr/>
          <p:nvPr/>
        </p:nvSpPr>
        <p:spPr>
          <a:xfrm>
            <a:off x="7818120" y="2157984"/>
            <a:ext cx="91440" cy="91440"/>
          </a:xfrm>
          <a:prstGeom prst="ellipse">
            <a:avLst/>
          </a:prstGeom>
          <a:solidFill>
            <a:srgbClr val="F6693D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85" name="Text 83"/>
          <p:cNvSpPr/>
          <p:nvPr/>
        </p:nvSpPr>
        <p:spPr>
          <a:xfrm>
            <a:off x="7936992" y="2130552"/>
            <a:ext cx="54864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b="1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Tech</a:t>
            </a:r>
            <a:endParaRPr lang="en-US" sz="750" dirty="0"/>
          </a:p>
        </p:txBody>
      </p:sp>
      <p:sp>
        <p:nvSpPr>
          <p:cNvPr id="86" name="Shape 84"/>
          <p:cNvSpPr/>
          <p:nvPr/>
        </p:nvSpPr>
        <p:spPr>
          <a:xfrm>
            <a:off x="7818120" y="2322576"/>
            <a:ext cx="91440" cy="91440"/>
          </a:xfrm>
          <a:prstGeom prst="ellipse">
            <a:avLst/>
          </a:prstGeom>
          <a:solidFill>
            <a:srgbClr val="333333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87" name="Text 85"/>
          <p:cNvSpPr/>
          <p:nvPr/>
        </p:nvSpPr>
        <p:spPr>
          <a:xfrm>
            <a:off x="7936992" y="2295144"/>
            <a:ext cx="77724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b="1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Non-Tech</a:t>
            </a:r>
            <a:endParaRPr lang="en-US" sz="750" dirty="0"/>
          </a:p>
        </p:txBody>
      </p:sp>
      <p:sp>
        <p:nvSpPr>
          <p:cNvPr id="88" name="Shape 86"/>
          <p:cNvSpPr/>
          <p:nvPr/>
        </p:nvSpPr>
        <p:spPr>
          <a:xfrm>
            <a:off x="457200" y="5394960"/>
            <a:ext cx="8229600" cy="411480"/>
          </a:xfrm>
          <a:prstGeom prst="rect">
            <a:avLst/>
          </a:prstGeom>
          <a:solidFill>
            <a:srgbClr val="333333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89" name="Text 87"/>
          <p:cNvSpPr/>
          <p:nvPr/>
        </p:nvSpPr>
        <p:spPr>
          <a:xfrm>
            <a:off x="640080" y="5394960"/>
            <a:ext cx="78638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Tech median: ~26× fwd P/E on ~17% forward revenue growth. Non-Tech: ~23× on ~5%. The divergence is in the engine, not the multiple.</a:t>
            </a:r>
            <a:endParaRPr lang="en-US" sz="1100" dirty="0"/>
          </a:p>
        </p:txBody>
      </p:sp>
      <p:sp>
        <p:nvSpPr>
          <p:cNvPr id="90" name="Text 88"/>
          <p:cNvSpPr/>
          <p:nvPr/>
        </p:nvSpPr>
        <p:spPr>
          <a:xfrm>
            <a:off x="457200" y="5875020"/>
            <a:ext cx="8229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dirty="0">
                <a:solidFill>
                  <a:srgbClr val="99999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Sources: stockanalysis.com analyst consensus (AAPL/MSFT/GOOGL/AMZN/NVDA/META/AVGO/TSLA/LLY/JPM/V/XOM/BRK.B/WMT, as of Apr 22, 2026); companiesmarketcap.com (mkt caps, Apr 22, 2026). NVDA, AVGO clipped at +50% growth; TSLA at 50× fwd P/E.</a:t>
            </a:r>
            <a:endParaRPr lang="en-US" sz="700" dirty="0"/>
          </a:p>
        </p:txBody>
      </p:sp>
      <p:sp>
        <p:nvSpPr>
          <p:cNvPr id="91" name="Shape 89"/>
          <p:cNvSpPr/>
          <p:nvPr/>
        </p:nvSpPr>
        <p:spPr>
          <a:xfrm>
            <a:off x="0" y="6286500"/>
            <a:ext cx="9144000" cy="571500"/>
          </a:xfrm>
          <a:prstGeom prst="rect">
            <a:avLst/>
          </a:prstGeom>
          <a:solidFill>
            <a:srgbClr val="000000"/>
          </a:solidFill>
          <a:ln w="12700">
            <a:solidFill>
              <a:srgbClr val="000000"/>
            </a:solidFill>
            <a:prstDash val="solid"/>
          </a:ln>
        </p:spPr>
      </p:sp>
      <p:sp>
        <p:nvSpPr>
          <p:cNvPr id="92" name="Text 90"/>
          <p:cNvSpPr/>
          <p:nvPr/>
        </p:nvSpPr>
        <p:spPr>
          <a:xfrm>
            <a:off x="1371600" y="6332220"/>
            <a:ext cx="6400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FOR INFORMATIONAL PURPOSES ONLY. NOT INVESTMENT ADVICE. PAST PERFORMANCE IS NOT INDICATIVE OF FUTURE RESULTS.</a:t>
            </a:r>
            <a:endParaRPr lang="en-US" sz="650" dirty="0"/>
          </a:p>
        </p:txBody>
      </p:sp>
      <p:sp>
        <p:nvSpPr>
          <p:cNvPr id="93" name="Text 91"/>
          <p:cNvSpPr/>
          <p:nvPr/>
        </p:nvSpPr>
        <p:spPr>
          <a:xfrm>
            <a:off x="8321040" y="6405372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11</a:t>
            </a:r>
            <a:endParaRPr lang="en-US" sz="9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7132320" y="164592"/>
            <a:ext cx="1737360" cy="292608"/>
          </a:xfrm>
          <a:prstGeom prst="roundRect">
            <a:avLst>
              <a:gd name="adj" fmla="val 15625"/>
            </a:avLst>
          </a:prstGeom>
          <a:solidFill>
            <a:srgbClr val="F6693D"/>
          </a:solidFill>
          <a:ln w="12700">
            <a:solidFill>
              <a:srgbClr val="F6693D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7132320" y="164592"/>
            <a:ext cx="17373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spc="100" kern="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SHIFTS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457200" y="182880"/>
            <a:ext cx="65836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400" b="1" dirty="0">
                <a:solidFill>
                  <a:srgbClr val="000000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What is agentic AI?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457200" y="914400"/>
            <a:ext cx="8229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Agents set goals, use tools, and complete tasks end-to-end. Each session uses 10–100× the compute of a chatbot query.</a:t>
            </a:r>
            <a:endParaRPr lang="en-US" sz="1350" dirty="0"/>
          </a:p>
        </p:txBody>
      </p:sp>
      <p:sp>
        <p:nvSpPr>
          <p:cNvPr id="6" name="Shape 4"/>
          <p:cNvSpPr/>
          <p:nvPr/>
        </p:nvSpPr>
        <p:spPr>
          <a:xfrm>
            <a:off x="457200" y="1325880"/>
            <a:ext cx="8229600" cy="0"/>
          </a:xfrm>
          <a:prstGeom prst="line">
            <a:avLst/>
          </a:prstGeom>
          <a:noFill/>
          <a:ln w="9525">
            <a:solidFill>
              <a:srgbClr val="E5E5E5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457200" y="1691640"/>
            <a:ext cx="3017520" cy="2971800"/>
          </a:xfrm>
          <a:prstGeom prst="rect">
            <a:avLst/>
          </a:prstGeom>
          <a:solidFill>
            <a:srgbClr val="EEEEEE"/>
          </a:solidFill>
          <a:ln w="9525">
            <a:solidFill>
              <a:srgbClr val="BBBBBB"/>
            </a:solidFill>
            <a:prstDash val="dash"/>
          </a:ln>
        </p:spPr>
      </p:sp>
      <p:sp>
        <p:nvSpPr>
          <p:cNvPr id="8" name="Text 6"/>
          <p:cNvSpPr/>
          <p:nvPr/>
        </p:nvSpPr>
        <p:spPr>
          <a:xfrm>
            <a:off x="548640" y="1691640"/>
            <a:ext cx="2834640" cy="2971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i="1" dirty="0">
                <a:solidFill>
                  <a:srgbClr val="88888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IMAGE: Screenshot — dark-mode IDE, AI agent editing Python code live, glowing orange cursor, 'Claude is editing' pill, streaming test output in a terminal pane, square framing</a:t>
            </a:r>
            <a:endParaRPr lang="en-US" sz="1000" dirty="0"/>
          </a:p>
        </p:txBody>
      </p:sp>
      <p:graphicFrame>
        <p:nvGraphicFramePr>
          <p:cNvPr id="13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3611880" y="1691640"/>
          <a:ext cx="5074920" cy="914400"/>
        </p:xfrm>
        <a:graphic>
          <a:graphicData uri="http://schemas.openxmlformats.org/drawingml/2006/table">
            <a:tbl>
              <a:tblPr/>
              <a:tblGrid>
                <a:gridCol w="1325880"/>
                <a:gridCol w="1874520"/>
                <a:gridCol w="1874520"/>
              </a:tblGrid>
              <a:tr h="59436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Dimension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Chatbot (2023–24)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Agent (2025+)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</a:tr>
              <a:tr h="59436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b="1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Interaction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9F9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You ask, it answers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9F9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b="1" dirty="0">
                          <a:solidFill>
                            <a:srgbClr val="F6693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Sets goals, executes autonomously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9F9"/>
                    </a:solidFill>
                  </a:tcPr>
                </a:tc>
              </a:tr>
              <a:tr h="59436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b="1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Tokens per session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1K – 5K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b="1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50K – 500K+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9436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b="1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Compute per user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9F9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1×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9F9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b="1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10 – 100×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9F9"/>
                    </a:solidFill>
                  </a:tcPr>
                </a:tc>
              </a:tr>
              <a:tr h="59436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b="1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Tools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None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b="1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Code, APIs, browsers, databases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10" name="Shape 7"/>
          <p:cNvSpPr/>
          <p:nvPr/>
        </p:nvSpPr>
        <p:spPr>
          <a:xfrm>
            <a:off x="457200" y="5349240"/>
            <a:ext cx="8229600" cy="457200"/>
          </a:xfrm>
          <a:prstGeom prst="rect">
            <a:avLst/>
          </a:prstGeom>
          <a:solidFill>
            <a:srgbClr val="F6693D"/>
          </a:solidFill>
          <a:ln w="12700">
            <a:solidFill>
              <a:srgbClr val="F6693D"/>
            </a:solidFill>
            <a:prstDash val="solid"/>
          </a:ln>
        </p:spPr>
      </p:sp>
      <p:sp>
        <p:nvSpPr>
          <p:cNvPr id="11" name="Text 8"/>
          <p:cNvSpPr/>
          <p:nvPr/>
        </p:nvSpPr>
        <p:spPr>
          <a:xfrm>
            <a:off x="640080" y="5349240"/>
            <a:ext cx="7863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10–100× compute step-up per session is what every AI capex forecast is pricing in.</a:t>
            </a:r>
            <a:endParaRPr lang="en-US" sz="1300" dirty="0"/>
          </a:p>
        </p:txBody>
      </p:sp>
      <p:sp>
        <p:nvSpPr>
          <p:cNvPr id="12" name="Text 9"/>
          <p:cNvSpPr/>
          <p:nvPr/>
        </p:nvSpPr>
        <p:spPr>
          <a:xfrm>
            <a:off x="457200" y="5875020"/>
            <a:ext cx="8229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dirty="0">
                <a:solidFill>
                  <a:srgbClr val="99999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Source: Anthropic, OpenAI, GitHub Trending; Morgan Stanley CIO Survey; Strategy Research.</a:t>
            </a:r>
            <a:endParaRPr lang="en-US" sz="700" dirty="0"/>
          </a:p>
        </p:txBody>
      </p:sp>
      <p:sp>
        <p:nvSpPr>
          <p:cNvPr id="13" name="Shape 10"/>
          <p:cNvSpPr/>
          <p:nvPr/>
        </p:nvSpPr>
        <p:spPr>
          <a:xfrm>
            <a:off x="0" y="6286500"/>
            <a:ext cx="9144000" cy="571500"/>
          </a:xfrm>
          <a:prstGeom prst="rect">
            <a:avLst/>
          </a:prstGeom>
          <a:solidFill>
            <a:srgbClr val="000000"/>
          </a:solidFill>
          <a:ln w="12700">
            <a:solidFill>
              <a:srgbClr val="000000"/>
            </a:solidFill>
            <a:prstDash val="solid"/>
          </a:ln>
        </p:spPr>
      </p:sp>
      <p:sp>
        <p:nvSpPr>
          <p:cNvPr id="14" name="Text 11"/>
          <p:cNvSpPr/>
          <p:nvPr/>
        </p:nvSpPr>
        <p:spPr>
          <a:xfrm>
            <a:off x="1371600" y="6332220"/>
            <a:ext cx="6400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FOR INFORMATIONAL PURPOSES ONLY. NOT INVESTMENT ADVICE. PAST PERFORMANCE IS NOT INDICATIVE OF FUTURE RESULTS.</a:t>
            </a:r>
            <a:endParaRPr lang="en-US" sz="650" dirty="0"/>
          </a:p>
        </p:txBody>
      </p:sp>
      <p:sp>
        <p:nvSpPr>
          <p:cNvPr id="15" name="Text 12"/>
          <p:cNvSpPr/>
          <p:nvPr/>
        </p:nvSpPr>
        <p:spPr>
          <a:xfrm>
            <a:off x="8321040" y="6405372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12</a:t>
            </a:r>
            <a:endParaRPr lang="en-US" sz="9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7132320" y="164592"/>
            <a:ext cx="1737360" cy="292608"/>
          </a:xfrm>
          <a:prstGeom prst="roundRect">
            <a:avLst>
              <a:gd name="adj" fmla="val 15625"/>
            </a:avLst>
          </a:prstGeom>
          <a:solidFill>
            <a:srgbClr val="F6693D"/>
          </a:solidFill>
          <a:ln w="12700">
            <a:solidFill>
              <a:srgbClr val="F6693D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7132320" y="164592"/>
            <a:ext cx="17373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spc="100" kern="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SHIFTS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457200" y="182880"/>
            <a:ext cx="65836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400" b="1" dirty="0">
                <a:solidFill>
                  <a:srgbClr val="000000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The divergence.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457200" y="914400"/>
            <a:ext cx="8229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Semis are up, software is down — a wide spread inside one theme. The sell-off is starting to bleed into private credit and PE-held SaaS.</a:t>
            </a:r>
            <a:endParaRPr lang="en-US" sz="1350" dirty="0"/>
          </a:p>
        </p:txBody>
      </p:sp>
      <p:sp>
        <p:nvSpPr>
          <p:cNvPr id="6" name="Shape 4"/>
          <p:cNvSpPr/>
          <p:nvPr/>
        </p:nvSpPr>
        <p:spPr>
          <a:xfrm>
            <a:off x="457200" y="1325880"/>
            <a:ext cx="8229600" cy="0"/>
          </a:xfrm>
          <a:prstGeom prst="line">
            <a:avLst/>
          </a:prstGeom>
          <a:noFill/>
          <a:ln w="9525">
            <a:solidFill>
              <a:srgbClr val="E5E5E5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457200" y="1417320"/>
            <a:ext cx="3931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140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YTD price return, rebased to 100</a:t>
            </a:r>
            <a:endParaRPr lang="en-US" sz="1400" dirty="0"/>
          </a:p>
        </p:txBody>
      </p:sp>
      <p:sp>
        <p:nvSpPr>
          <p:cNvPr id="8" name="Shape 6"/>
          <p:cNvSpPr/>
          <p:nvPr/>
        </p:nvSpPr>
        <p:spPr>
          <a:xfrm>
            <a:off x="457200" y="1691640"/>
            <a:ext cx="3931920" cy="0"/>
          </a:xfrm>
          <a:prstGeom prst="line">
            <a:avLst/>
          </a:prstGeom>
          <a:noFill/>
          <a:ln w="19050">
            <a:solidFill>
              <a:srgbClr val="000000"/>
            </a:solidFill>
            <a:prstDash val="solid"/>
          </a:ln>
        </p:spPr>
      </p:sp>
      <p:graphicFrame>
        <p:nvGraphicFramePr>
          <p:cNvPr id="9" name="Chart 0" descr=""/>
          <p:cNvGraphicFramePr/>
          <p:nvPr/>
        </p:nvGraphicFramePr>
        <p:xfrm>
          <a:off x="457200" y="1783080"/>
          <a:ext cx="3931920" cy="342900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10" name="Shape 7"/>
          <p:cNvSpPr/>
          <p:nvPr/>
        </p:nvSpPr>
        <p:spPr>
          <a:xfrm>
            <a:off x="4754880" y="1783080"/>
            <a:ext cx="3931920" cy="1645920"/>
          </a:xfrm>
          <a:prstGeom prst="rect">
            <a:avLst/>
          </a:prstGeom>
          <a:solidFill>
            <a:srgbClr val="FFFFFF"/>
          </a:solidFill>
          <a:ln w="6350">
            <a:solidFill>
              <a:srgbClr val="E5E5E5"/>
            </a:solidFill>
            <a:prstDash val="solid"/>
          </a:ln>
        </p:spPr>
      </p:sp>
      <p:sp>
        <p:nvSpPr>
          <p:cNvPr id="11" name="Shape 8"/>
          <p:cNvSpPr/>
          <p:nvPr/>
        </p:nvSpPr>
        <p:spPr>
          <a:xfrm>
            <a:off x="4754880" y="1783080"/>
            <a:ext cx="3931920" cy="54864"/>
          </a:xfrm>
          <a:prstGeom prst="rect">
            <a:avLst/>
          </a:prstGeom>
          <a:solidFill>
            <a:srgbClr val="F6693D"/>
          </a:solidFill>
          <a:ln w="12700">
            <a:solidFill>
              <a:srgbClr val="F6693D"/>
            </a:solidFill>
            <a:prstDash val="solid"/>
          </a:ln>
        </p:spPr>
      </p:sp>
      <p:sp>
        <p:nvSpPr>
          <p:cNvPr id="12" name="Text 9"/>
          <p:cNvSpPr/>
          <p:nvPr/>
        </p:nvSpPr>
        <p:spPr>
          <a:xfrm>
            <a:off x="4937760" y="1874520"/>
            <a:ext cx="356616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spc="300" kern="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WHY SEMIS ARE UP</a:t>
            </a:r>
            <a:endParaRPr lang="en-US" sz="1000" dirty="0"/>
          </a:p>
        </p:txBody>
      </p:sp>
      <p:sp>
        <p:nvSpPr>
          <p:cNvPr id="13" name="Text 10"/>
          <p:cNvSpPr/>
          <p:nvPr/>
        </p:nvSpPr>
        <p:spPr>
          <a:xfrm>
            <a:off x="4937760" y="2057400"/>
            <a:ext cx="35661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Sold out, with demand still building.</a:t>
            </a:r>
            <a:endParaRPr lang="en-US" sz="1200" dirty="0"/>
          </a:p>
        </p:txBody>
      </p:sp>
      <p:sp>
        <p:nvSpPr>
          <p:cNvPr id="14" name="Shape 11"/>
          <p:cNvSpPr/>
          <p:nvPr/>
        </p:nvSpPr>
        <p:spPr>
          <a:xfrm>
            <a:off x="4937760" y="2468880"/>
            <a:ext cx="274320" cy="274320"/>
          </a:xfrm>
          <a:prstGeom prst="ellipse">
            <a:avLst/>
          </a:prstGeom>
          <a:solidFill>
            <a:srgbClr val="F6693D"/>
          </a:solidFill>
          <a:ln w="12700">
            <a:solidFill>
              <a:srgbClr val="F6693D"/>
            </a:solidFill>
            <a:prstDash val="solid"/>
          </a:ln>
        </p:spPr>
      </p:sp>
      <p:sp>
        <p:nvSpPr>
          <p:cNvPr id="15" name="Text 12"/>
          <p:cNvSpPr/>
          <p:nvPr/>
        </p:nvSpPr>
        <p:spPr>
          <a:xfrm>
            <a:off x="4937760" y="2468880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⚙</a:t>
            </a:r>
            <a:endParaRPr lang="en-US" sz="1100" dirty="0"/>
          </a:p>
        </p:txBody>
      </p:sp>
      <p:sp>
        <p:nvSpPr>
          <p:cNvPr id="16" name="Text 13"/>
          <p:cNvSpPr/>
          <p:nvPr/>
        </p:nvSpPr>
        <p:spPr>
          <a:xfrm>
            <a:off x="5303520" y="2441448"/>
            <a:ext cx="32004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5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HBM sold out through 2026; hyperscalers are locking in every GB of memory they can secure.</a:t>
            </a:r>
            <a:pPr algn="l" indent="0" marL="0">
              <a:buNone/>
            </a:pPr>
            <a:r>
              <a:rPr lang="en-US" sz="700" baseline="30000" dirty="0">
                <a:solidFill>
                  <a:srgbClr val="F6693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1</a:t>
            </a:r>
            <a:endParaRPr lang="en-US" sz="950" dirty="0"/>
          </a:p>
        </p:txBody>
      </p:sp>
      <p:sp>
        <p:nvSpPr>
          <p:cNvPr id="17" name="Shape 14"/>
          <p:cNvSpPr/>
          <p:nvPr/>
        </p:nvSpPr>
        <p:spPr>
          <a:xfrm>
            <a:off x="4937760" y="2798064"/>
            <a:ext cx="274320" cy="274320"/>
          </a:xfrm>
          <a:prstGeom prst="ellipse">
            <a:avLst/>
          </a:prstGeom>
          <a:solidFill>
            <a:srgbClr val="F6693D"/>
          </a:solidFill>
          <a:ln w="12700">
            <a:solidFill>
              <a:srgbClr val="F6693D"/>
            </a:solidFill>
            <a:prstDash val="solid"/>
          </a:ln>
        </p:spPr>
      </p:sp>
      <p:sp>
        <p:nvSpPr>
          <p:cNvPr id="18" name="Text 15"/>
          <p:cNvSpPr/>
          <p:nvPr/>
        </p:nvSpPr>
        <p:spPr>
          <a:xfrm>
            <a:off x="4937760" y="2798064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⚡</a:t>
            </a:r>
            <a:endParaRPr lang="en-US" sz="1100" dirty="0"/>
          </a:p>
        </p:txBody>
      </p:sp>
      <p:sp>
        <p:nvSpPr>
          <p:cNvPr id="19" name="Text 16"/>
          <p:cNvSpPr/>
          <p:nvPr/>
        </p:nvSpPr>
        <p:spPr>
          <a:xfrm>
            <a:off x="5303520" y="2770632"/>
            <a:ext cx="32004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5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Data-center power demand keeps pulling forward; each new model generation wants more silicon.</a:t>
            </a:r>
            <a:endParaRPr lang="en-US" sz="950" dirty="0"/>
          </a:p>
        </p:txBody>
      </p:sp>
      <p:sp>
        <p:nvSpPr>
          <p:cNvPr id="20" name="Shape 17"/>
          <p:cNvSpPr/>
          <p:nvPr/>
        </p:nvSpPr>
        <p:spPr>
          <a:xfrm>
            <a:off x="4937760" y="3127248"/>
            <a:ext cx="274320" cy="274320"/>
          </a:xfrm>
          <a:prstGeom prst="ellipse">
            <a:avLst/>
          </a:prstGeom>
          <a:solidFill>
            <a:srgbClr val="F6693D"/>
          </a:solidFill>
          <a:ln w="12700">
            <a:solidFill>
              <a:srgbClr val="F6693D"/>
            </a:solidFill>
            <a:prstDash val="solid"/>
          </a:ln>
        </p:spPr>
      </p:sp>
      <p:sp>
        <p:nvSpPr>
          <p:cNvPr id="21" name="Text 18"/>
          <p:cNvSpPr/>
          <p:nvPr/>
        </p:nvSpPr>
        <p:spPr>
          <a:xfrm>
            <a:off x="4937760" y="3127248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↑</a:t>
            </a:r>
            <a:endParaRPr lang="en-US" sz="1100" dirty="0"/>
          </a:p>
        </p:txBody>
      </p:sp>
      <p:sp>
        <p:nvSpPr>
          <p:cNvPr id="22" name="Text 19"/>
          <p:cNvSpPr/>
          <p:nvPr/>
        </p:nvSpPr>
        <p:spPr>
          <a:xfrm>
            <a:off x="5303520" y="3099816"/>
            <a:ext cx="32004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5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ASPs and margins are expanding across memory and advanced-node logic.</a:t>
            </a:r>
            <a:endParaRPr lang="en-US" sz="950" dirty="0"/>
          </a:p>
        </p:txBody>
      </p:sp>
      <p:sp>
        <p:nvSpPr>
          <p:cNvPr id="23" name="Shape 20"/>
          <p:cNvSpPr/>
          <p:nvPr/>
        </p:nvSpPr>
        <p:spPr>
          <a:xfrm>
            <a:off x="4754880" y="3520440"/>
            <a:ext cx="3931920" cy="1645920"/>
          </a:xfrm>
          <a:prstGeom prst="rect">
            <a:avLst/>
          </a:prstGeom>
          <a:solidFill>
            <a:srgbClr val="FFFFFF"/>
          </a:solidFill>
          <a:ln w="6350">
            <a:solidFill>
              <a:srgbClr val="E5E5E5"/>
            </a:solidFill>
            <a:prstDash val="solid"/>
          </a:ln>
        </p:spPr>
      </p:sp>
      <p:sp>
        <p:nvSpPr>
          <p:cNvPr id="24" name="Shape 21"/>
          <p:cNvSpPr/>
          <p:nvPr/>
        </p:nvSpPr>
        <p:spPr>
          <a:xfrm>
            <a:off x="4754880" y="3520440"/>
            <a:ext cx="3931920" cy="54864"/>
          </a:xfrm>
          <a:prstGeom prst="rect">
            <a:avLst/>
          </a:prstGeom>
          <a:solidFill>
            <a:srgbClr val="CC0000"/>
          </a:solidFill>
          <a:ln w="12700">
            <a:solidFill>
              <a:srgbClr val="CC0000"/>
            </a:solidFill>
            <a:prstDash val="solid"/>
          </a:ln>
        </p:spPr>
      </p:sp>
      <p:sp>
        <p:nvSpPr>
          <p:cNvPr id="25" name="Text 22"/>
          <p:cNvSpPr/>
          <p:nvPr/>
        </p:nvSpPr>
        <p:spPr>
          <a:xfrm>
            <a:off x="4937760" y="3611880"/>
            <a:ext cx="356616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spc="300" kern="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WHY SOFTWARE IS DOWN</a:t>
            </a:r>
            <a:endParaRPr lang="en-US" sz="1000" dirty="0"/>
          </a:p>
        </p:txBody>
      </p:sp>
      <p:sp>
        <p:nvSpPr>
          <p:cNvPr id="26" name="Text 23"/>
          <p:cNvSpPr/>
          <p:nvPr/>
        </p:nvSpPr>
        <p:spPr>
          <a:xfrm>
            <a:off x="4937760" y="3794760"/>
            <a:ext cx="35661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Per-seat pricing is under attack.</a:t>
            </a:r>
            <a:endParaRPr lang="en-US" sz="1200" dirty="0"/>
          </a:p>
        </p:txBody>
      </p:sp>
      <p:sp>
        <p:nvSpPr>
          <p:cNvPr id="27" name="Shape 24"/>
          <p:cNvSpPr/>
          <p:nvPr/>
        </p:nvSpPr>
        <p:spPr>
          <a:xfrm>
            <a:off x="4937760" y="4206240"/>
            <a:ext cx="274320" cy="274320"/>
          </a:xfrm>
          <a:prstGeom prst="ellipse">
            <a:avLst/>
          </a:prstGeom>
          <a:solidFill>
            <a:srgbClr val="CC0000"/>
          </a:solidFill>
          <a:ln w="12700">
            <a:solidFill>
              <a:srgbClr val="CC0000"/>
            </a:solidFill>
            <a:prstDash val="solid"/>
          </a:ln>
        </p:spPr>
      </p:sp>
      <p:sp>
        <p:nvSpPr>
          <p:cNvPr id="28" name="Text 25"/>
          <p:cNvSpPr/>
          <p:nvPr/>
        </p:nvSpPr>
        <p:spPr>
          <a:xfrm>
            <a:off x="4937760" y="4206240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◉</a:t>
            </a:r>
            <a:endParaRPr lang="en-US" sz="1100" dirty="0"/>
          </a:p>
        </p:txBody>
      </p:sp>
      <p:sp>
        <p:nvSpPr>
          <p:cNvPr id="29" name="Text 26"/>
          <p:cNvSpPr/>
          <p:nvPr/>
        </p:nvSpPr>
        <p:spPr>
          <a:xfrm>
            <a:off x="5303520" y="4178808"/>
            <a:ext cx="32004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5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Agentic AI threatens per-seat pricing; 2026 CIO surveys flag displacement risk on horizontal SaaS.</a:t>
            </a:r>
            <a:endParaRPr lang="en-US" sz="950" dirty="0"/>
          </a:p>
        </p:txBody>
      </p:sp>
      <p:sp>
        <p:nvSpPr>
          <p:cNvPr id="30" name="Shape 27"/>
          <p:cNvSpPr/>
          <p:nvPr/>
        </p:nvSpPr>
        <p:spPr>
          <a:xfrm>
            <a:off x="4937760" y="4535424"/>
            <a:ext cx="274320" cy="274320"/>
          </a:xfrm>
          <a:prstGeom prst="ellipse">
            <a:avLst/>
          </a:prstGeom>
          <a:solidFill>
            <a:srgbClr val="CC0000"/>
          </a:solidFill>
          <a:ln w="12700">
            <a:solidFill>
              <a:srgbClr val="CC0000"/>
            </a:solidFill>
            <a:prstDash val="solid"/>
          </a:ln>
        </p:spPr>
      </p:sp>
      <p:sp>
        <p:nvSpPr>
          <p:cNvPr id="31" name="Text 28"/>
          <p:cNvSpPr/>
          <p:nvPr/>
        </p:nvSpPr>
        <p:spPr>
          <a:xfrm>
            <a:off x="4937760" y="4535424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✕</a:t>
            </a:r>
            <a:endParaRPr lang="en-US" sz="1100" dirty="0"/>
          </a:p>
        </p:txBody>
      </p:sp>
      <p:sp>
        <p:nvSpPr>
          <p:cNvPr id="32" name="Text 29"/>
          <p:cNvSpPr/>
          <p:nvPr/>
        </p:nvSpPr>
        <p:spPr>
          <a:xfrm>
            <a:off x="5303520" y="4507992"/>
            <a:ext cx="32004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5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Public SaaS multiples re-rated lower as buyers underwrite slower seat growth and pricing pressure.</a:t>
            </a:r>
            <a:pPr algn="l" indent="0" marL="0">
              <a:buNone/>
            </a:pPr>
            <a:r>
              <a:rPr lang="en-US" sz="700" baseline="30000" dirty="0">
                <a:solidFill>
                  <a:srgbClr val="CC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2</a:t>
            </a:r>
            <a:endParaRPr lang="en-US" sz="950" dirty="0"/>
          </a:p>
        </p:txBody>
      </p:sp>
      <p:sp>
        <p:nvSpPr>
          <p:cNvPr id="33" name="Shape 30"/>
          <p:cNvSpPr/>
          <p:nvPr/>
        </p:nvSpPr>
        <p:spPr>
          <a:xfrm>
            <a:off x="4937760" y="4864608"/>
            <a:ext cx="274320" cy="274320"/>
          </a:xfrm>
          <a:prstGeom prst="ellipse">
            <a:avLst/>
          </a:prstGeom>
          <a:solidFill>
            <a:srgbClr val="CC0000"/>
          </a:solidFill>
          <a:ln w="12700">
            <a:solidFill>
              <a:srgbClr val="CC0000"/>
            </a:solidFill>
            <a:prstDash val="solid"/>
          </a:ln>
        </p:spPr>
      </p:sp>
      <p:sp>
        <p:nvSpPr>
          <p:cNvPr id="34" name="Text 31"/>
          <p:cNvSpPr/>
          <p:nvPr/>
        </p:nvSpPr>
        <p:spPr>
          <a:xfrm>
            <a:off x="4937760" y="4864608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↓</a:t>
            </a:r>
            <a:endParaRPr lang="en-US" sz="1100" dirty="0"/>
          </a:p>
        </p:txBody>
      </p:sp>
      <p:sp>
        <p:nvSpPr>
          <p:cNvPr id="35" name="Text 32"/>
          <p:cNvSpPr/>
          <p:nvPr/>
        </p:nvSpPr>
        <p:spPr>
          <a:xfrm>
            <a:off x="5303520" y="4837176"/>
            <a:ext cx="32004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5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Renewals slowing and deal cycles stretching as customers wait for vendor AI roadmaps to settle.</a:t>
            </a:r>
            <a:endParaRPr lang="en-US" sz="950" dirty="0"/>
          </a:p>
        </p:txBody>
      </p:sp>
      <p:sp>
        <p:nvSpPr>
          <p:cNvPr id="36" name="Text 33"/>
          <p:cNvSpPr/>
          <p:nvPr/>
        </p:nvSpPr>
        <p:spPr>
          <a:xfrm>
            <a:off x="457200" y="53492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i="1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One theme, two outcomes — and software's pain is now bleeding into private equity and private credit, both anchored in SaaS.</a:t>
            </a:r>
            <a:endParaRPr lang="en-US" sz="950" dirty="0"/>
          </a:p>
        </p:txBody>
      </p:sp>
      <p:sp>
        <p:nvSpPr>
          <p:cNvPr id="37" name="Text 34"/>
          <p:cNvSpPr/>
          <p:nvPr/>
        </p:nvSpPr>
        <p:spPr>
          <a:xfrm>
            <a:off x="457200" y="5875020"/>
            <a:ext cx="8229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b="1" dirty="0">
                <a:solidFill>
                  <a:srgbClr val="99999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(1) </a:t>
            </a:r>
            <a:pPr indent="0" marL="0">
              <a:buNone/>
            </a:pPr>
            <a:r>
              <a:rPr lang="en-US" sz="700" dirty="0">
                <a:solidFill>
                  <a:srgbClr val="99999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TrendForce via Data Center Dynamics, 2026, </a:t>
            </a:r>
            <a:pPr indent="0" marL="0">
              <a:buNone/>
            </a:pPr>
            <a:r>
              <a:rPr lang="en-US" sz="700" b="1" dirty="0">
                <a:solidFill>
                  <a:srgbClr val="99999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(2) </a:t>
            </a:r>
            <a:pPr indent="0" marL="0">
              <a:buNone/>
            </a:pPr>
            <a:r>
              <a:rPr lang="en-US" sz="700" dirty="0">
                <a:solidFill>
                  <a:srgbClr val="99999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multiples.vc public software multiples, Apr 2026.</a:t>
            </a:r>
            <a:endParaRPr lang="en-US" sz="700" dirty="0"/>
          </a:p>
        </p:txBody>
      </p:sp>
      <p:sp>
        <p:nvSpPr>
          <p:cNvPr id="38" name="Shape 35"/>
          <p:cNvSpPr/>
          <p:nvPr/>
        </p:nvSpPr>
        <p:spPr>
          <a:xfrm>
            <a:off x="0" y="6286500"/>
            <a:ext cx="9144000" cy="571500"/>
          </a:xfrm>
          <a:prstGeom prst="rect">
            <a:avLst/>
          </a:prstGeom>
          <a:solidFill>
            <a:srgbClr val="000000"/>
          </a:solidFill>
          <a:ln w="12700">
            <a:solidFill>
              <a:srgbClr val="000000"/>
            </a:solidFill>
            <a:prstDash val="solid"/>
          </a:ln>
        </p:spPr>
      </p:sp>
      <p:sp>
        <p:nvSpPr>
          <p:cNvPr id="39" name="Text 36"/>
          <p:cNvSpPr/>
          <p:nvPr/>
        </p:nvSpPr>
        <p:spPr>
          <a:xfrm>
            <a:off x="1371600" y="6332220"/>
            <a:ext cx="6400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FOR INFORMATIONAL PURPOSES ONLY. NOT INVESTMENT ADVICE. PAST PERFORMANCE IS NOT INDICATIVE OF FUTURE RESULTS.</a:t>
            </a:r>
            <a:endParaRPr lang="en-US" sz="650" dirty="0"/>
          </a:p>
        </p:txBody>
      </p:sp>
      <p:sp>
        <p:nvSpPr>
          <p:cNvPr id="40" name="Text 37"/>
          <p:cNvSpPr/>
          <p:nvPr/>
        </p:nvSpPr>
        <p:spPr>
          <a:xfrm>
            <a:off x="8321040" y="6405372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13</a:t>
            </a:r>
            <a:endParaRPr lang="en-US" sz="9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7132320" y="164592"/>
            <a:ext cx="1737360" cy="292608"/>
          </a:xfrm>
          <a:prstGeom prst="roundRect">
            <a:avLst>
              <a:gd name="adj" fmla="val 15625"/>
            </a:avLst>
          </a:prstGeom>
          <a:solidFill>
            <a:srgbClr val="CC0000"/>
          </a:solidFill>
          <a:ln w="12700">
            <a:solidFill>
              <a:srgbClr val="CC0000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7132320" y="164592"/>
            <a:ext cx="17373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spc="100" kern="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RISKS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457200" y="182880"/>
            <a:ext cx="65836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400" b="1" dirty="0">
                <a:solidFill>
                  <a:srgbClr val="000000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The bubble question.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457200" y="914400"/>
            <a:ext cx="8229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Four tests. Same questions investors asked about Cisco and the dotcoms. Different answers today.</a:t>
            </a:r>
            <a:endParaRPr lang="en-US" sz="1350" dirty="0"/>
          </a:p>
        </p:txBody>
      </p:sp>
      <p:sp>
        <p:nvSpPr>
          <p:cNvPr id="6" name="Shape 4"/>
          <p:cNvSpPr/>
          <p:nvPr/>
        </p:nvSpPr>
        <p:spPr>
          <a:xfrm>
            <a:off x="457200" y="1325880"/>
            <a:ext cx="8229600" cy="0"/>
          </a:xfrm>
          <a:prstGeom prst="line">
            <a:avLst/>
          </a:prstGeom>
          <a:noFill/>
          <a:ln w="9525">
            <a:solidFill>
              <a:srgbClr val="E5E5E5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457200" y="1737360"/>
            <a:ext cx="3108960" cy="320040"/>
          </a:xfrm>
          <a:prstGeom prst="rect">
            <a:avLst/>
          </a:prstGeom>
          <a:solidFill>
            <a:srgbClr val="333333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457200" y="1737360"/>
            <a:ext cx="31089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spc="200" kern="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TEST</a:t>
            </a:r>
            <a:endParaRPr lang="en-US" sz="1050" dirty="0"/>
          </a:p>
        </p:txBody>
      </p:sp>
      <p:sp>
        <p:nvSpPr>
          <p:cNvPr id="9" name="Shape 7"/>
          <p:cNvSpPr/>
          <p:nvPr/>
        </p:nvSpPr>
        <p:spPr>
          <a:xfrm>
            <a:off x="3611880" y="1737360"/>
            <a:ext cx="2468880" cy="320040"/>
          </a:xfrm>
          <a:prstGeom prst="rect">
            <a:avLst/>
          </a:prstGeom>
          <a:solidFill>
            <a:srgbClr val="CC0000"/>
          </a:solidFill>
          <a:ln w="12700">
            <a:solidFill>
              <a:srgbClr val="CC0000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3611880" y="1737360"/>
            <a:ext cx="24688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spc="200" kern="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✗  DOTCOM 2000</a:t>
            </a:r>
            <a:endParaRPr lang="en-US" sz="1050" dirty="0"/>
          </a:p>
        </p:txBody>
      </p:sp>
      <p:sp>
        <p:nvSpPr>
          <p:cNvPr id="11" name="Shape 9"/>
          <p:cNvSpPr/>
          <p:nvPr/>
        </p:nvSpPr>
        <p:spPr>
          <a:xfrm>
            <a:off x="6126480" y="1737360"/>
            <a:ext cx="2560320" cy="320040"/>
          </a:xfrm>
          <a:prstGeom prst="rect">
            <a:avLst/>
          </a:prstGeom>
          <a:solidFill>
            <a:srgbClr val="00A854"/>
          </a:solidFill>
          <a:ln w="12700">
            <a:solidFill>
              <a:srgbClr val="00A854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6126480" y="1737360"/>
            <a:ext cx="25603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spc="200" kern="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✓  AI 2026</a:t>
            </a:r>
            <a:endParaRPr lang="en-US" sz="1050" dirty="0"/>
          </a:p>
        </p:txBody>
      </p:sp>
      <p:sp>
        <p:nvSpPr>
          <p:cNvPr id="13" name="Shape 11"/>
          <p:cNvSpPr/>
          <p:nvPr/>
        </p:nvSpPr>
        <p:spPr>
          <a:xfrm>
            <a:off x="594360" y="2249424"/>
            <a:ext cx="365760" cy="365760"/>
          </a:xfrm>
          <a:prstGeom prst="ellipse">
            <a:avLst/>
          </a:prstGeom>
          <a:solidFill>
            <a:srgbClr val="333333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594360" y="2249424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B800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$</a:t>
            </a:r>
            <a:endParaRPr lang="en-US" sz="1400" dirty="0"/>
          </a:p>
        </p:txBody>
      </p:sp>
      <p:sp>
        <p:nvSpPr>
          <p:cNvPr id="15" name="Text 13"/>
          <p:cNvSpPr/>
          <p:nvPr/>
        </p:nvSpPr>
        <p:spPr>
          <a:xfrm>
            <a:off x="1051560" y="2103120"/>
            <a:ext cx="2514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PRICE PER DOLLAR OF EARNINGS</a:t>
            </a:r>
            <a:endParaRPr lang="en-US" sz="1000" dirty="0"/>
          </a:p>
        </p:txBody>
      </p:sp>
      <p:sp>
        <p:nvSpPr>
          <p:cNvPr id="16" name="Text 14"/>
          <p:cNvSpPr/>
          <p:nvPr/>
        </p:nvSpPr>
        <p:spPr>
          <a:xfrm>
            <a:off x="3611880" y="2103120"/>
            <a:ext cx="2468880" cy="658368"/>
          </a:xfrm>
          <a:prstGeom prst="rect">
            <a:avLst/>
          </a:prstGeom>
          <a:noFill/>
          <a:ln/>
        </p:spPr>
        <p:txBody>
          <a:bodyPr wrap="square" lIns="1016" tIns="1016" rIns="1016" bIns="1016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CC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131×</a:t>
            </a:r>
            <a:pPr indent="0" marL="0">
              <a:buNone/>
            </a:pPr>
            <a:r>
              <a:rPr lang="en-US" sz="900" baseline="30000" dirty="0">
                <a:solidFill>
                  <a:srgbClr val="CC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1</a:t>
            </a:r>
            <a:pPr indent="0" marL="0">
              <a:buNone/>
            </a:pPr>
            <a:r>
              <a:rPr lang="en-US" sz="90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Cisco fwd P/E, Mar 2000</a:t>
            </a:r>
            <a:endParaRPr lang="en-US" sz="1600" dirty="0"/>
          </a:p>
        </p:txBody>
      </p:sp>
      <p:sp>
        <p:nvSpPr>
          <p:cNvPr id="17" name="Text 15"/>
          <p:cNvSpPr/>
          <p:nvPr/>
        </p:nvSpPr>
        <p:spPr>
          <a:xfrm>
            <a:off x="6126480" y="2103120"/>
            <a:ext cx="2560320" cy="658368"/>
          </a:xfrm>
          <a:prstGeom prst="rect">
            <a:avLst/>
          </a:prstGeom>
          <a:noFill/>
          <a:ln/>
        </p:spPr>
        <p:txBody>
          <a:bodyPr wrap="square" lIns="1016" tIns="1016" rIns="1016" bIns="1016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0A85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~24×</a:t>
            </a:r>
            <a:pPr indent="0" marL="0">
              <a:buNone/>
            </a:pPr>
            <a:r>
              <a:rPr lang="en-US" sz="900" baseline="30000" dirty="0">
                <a:solidFill>
                  <a:srgbClr val="00A85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2</a:t>
            </a:r>
            <a:pPr indent="0" marL="0">
              <a:buNone/>
            </a:pPr>
            <a:r>
              <a:rPr lang="en-US" sz="90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NVIDIA fwd P/E, Apr 17, 2026</a:t>
            </a:r>
            <a:endParaRPr lang="en-US" sz="1600" dirty="0"/>
          </a:p>
        </p:txBody>
      </p:sp>
      <p:sp>
        <p:nvSpPr>
          <p:cNvPr id="18" name="Shape 16"/>
          <p:cNvSpPr/>
          <p:nvPr/>
        </p:nvSpPr>
        <p:spPr>
          <a:xfrm>
            <a:off x="457200" y="2761488"/>
            <a:ext cx="8229600" cy="658368"/>
          </a:xfrm>
          <a:prstGeom prst="rect">
            <a:avLst/>
          </a:prstGeom>
          <a:solidFill>
            <a:srgbClr val="F9F9F9"/>
          </a:solidFill>
          <a:ln w="12700">
            <a:solidFill>
              <a:srgbClr val="F9F9F9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594360" y="2907792"/>
            <a:ext cx="365760" cy="365760"/>
          </a:xfrm>
          <a:prstGeom prst="ellipse">
            <a:avLst/>
          </a:prstGeom>
          <a:solidFill>
            <a:srgbClr val="333333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594360" y="2907792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B800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%</a:t>
            </a:r>
            <a:endParaRPr lang="en-US" sz="1400" dirty="0"/>
          </a:p>
        </p:txBody>
      </p:sp>
      <p:sp>
        <p:nvSpPr>
          <p:cNvPr id="21" name="Text 19"/>
          <p:cNvSpPr/>
          <p:nvPr/>
        </p:nvSpPr>
        <p:spPr>
          <a:xfrm>
            <a:off x="1051560" y="2761488"/>
            <a:ext cx="2514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LEADER PROFITABILITY</a:t>
            </a:r>
            <a:endParaRPr lang="en-US" sz="1000" dirty="0"/>
          </a:p>
        </p:txBody>
      </p:sp>
      <p:sp>
        <p:nvSpPr>
          <p:cNvPr id="22" name="Text 20"/>
          <p:cNvSpPr/>
          <p:nvPr/>
        </p:nvSpPr>
        <p:spPr>
          <a:xfrm>
            <a:off x="3611880" y="2761488"/>
            <a:ext cx="2468880" cy="658368"/>
          </a:xfrm>
          <a:prstGeom prst="rect">
            <a:avLst/>
          </a:prstGeom>
          <a:noFill/>
          <a:ln/>
        </p:spPr>
        <p:txBody>
          <a:bodyPr wrap="square" lIns="1016" tIns="1016" rIns="1016" bIns="1016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CC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14%</a:t>
            </a:r>
            <a:pPr indent="0" marL="0">
              <a:buNone/>
            </a:pPr>
            <a:r>
              <a:rPr lang="en-US" sz="900" baseline="30000" dirty="0">
                <a:solidFill>
                  <a:srgbClr val="CC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3</a:t>
            </a:r>
            <a:pPr indent="0" marL="0">
              <a:buNone/>
            </a:pPr>
            <a:r>
              <a:rPr lang="en-US" sz="90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of tech IPOs were profitable</a:t>
            </a:r>
            <a:endParaRPr lang="en-US" sz="1600" dirty="0"/>
          </a:p>
        </p:txBody>
      </p:sp>
      <p:sp>
        <p:nvSpPr>
          <p:cNvPr id="23" name="Text 21"/>
          <p:cNvSpPr/>
          <p:nvPr/>
        </p:nvSpPr>
        <p:spPr>
          <a:xfrm>
            <a:off x="6126480" y="2761488"/>
            <a:ext cx="2560320" cy="658368"/>
          </a:xfrm>
          <a:prstGeom prst="rect">
            <a:avLst/>
          </a:prstGeom>
          <a:noFill/>
          <a:ln/>
        </p:spPr>
        <p:txBody>
          <a:bodyPr wrap="square" lIns="1016" tIns="1016" rIns="1016" bIns="1016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0A85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26%</a:t>
            </a:r>
            <a:pPr indent="0" marL="0">
              <a:buNone/>
            </a:pPr>
            <a:r>
              <a:rPr lang="en-US" sz="900" baseline="30000" dirty="0">
                <a:solidFill>
                  <a:srgbClr val="00A85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4</a:t>
            </a:r>
            <a:pPr indent="0" marL="0">
              <a:buNone/>
            </a:pPr>
            <a:r>
              <a:rPr lang="en-US" sz="90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Mag 7 avg net margin (2× S&amp;P)</a:t>
            </a:r>
            <a:endParaRPr lang="en-US" sz="1600" dirty="0"/>
          </a:p>
        </p:txBody>
      </p:sp>
      <p:sp>
        <p:nvSpPr>
          <p:cNvPr id="24" name="Shape 22"/>
          <p:cNvSpPr/>
          <p:nvPr/>
        </p:nvSpPr>
        <p:spPr>
          <a:xfrm>
            <a:off x="594360" y="3566160"/>
            <a:ext cx="365760" cy="365760"/>
          </a:xfrm>
          <a:prstGeom prst="ellipse">
            <a:avLst/>
          </a:prstGeom>
          <a:solidFill>
            <a:srgbClr val="333333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594360" y="356616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B800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⇅</a:t>
            </a:r>
            <a:endParaRPr lang="en-US" sz="1400" dirty="0"/>
          </a:p>
        </p:txBody>
      </p:sp>
      <p:sp>
        <p:nvSpPr>
          <p:cNvPr id="26" name="Text 24"/>
          <p:cNvSpPr/>
          <p:nvPr/>
        </p:nvSpPr>
        <p:spPr>
          <a:xfrm>
            <a:off x="1051560" y="3419856"/>
            <a:ext cx="2514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SUPPLY VS. DEMAND</a:t>
            </a:r>
            <a:endParaRPr lang="en-US" sz="1000" dirty="0"/>
          </a:p>
        </p:txBody>
      </p:sp>
      <p:sp>
        <p:nvSpPr>
          <p:cNvPr id="27" name="Text 25"/>
          <p:cNvSpPr/>
          <p:nvPr/>
        </p:nvSpPr>
        <p:spPr>
          <a:xfrm>
            <a:off x="3611880" y="3419856"/>
            <a:ext cx="2468880" cy="658368"/>
          </a:xfrm>
          <a:prstGeom prst="rect">
            <a:avLst/>
          </a:prstGeom>
          <a:noFill/>
          <a:ln/>
        </p:spPr>
        <p:txBody>
          <a:bodyPr wrap="square" lIns="1016" tIns="1016" rIns="1016" bIns="1016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CC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Oversupply</a:t>
            </a:r>
            <a:pPr indent="0" marL="0">
              <a:buNone/>
            </a:pPr>
            <a:r>
              <a:rPr lang="en-US" sz="900" baseline="30000" dirty="0">
                <a:solidFill>
                  <a:srgbClr val="CC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5</a:t>
            </a:r>
            <a:pPr indent="0" marL="0">
              <a:buNone/>
            </a:pPr>
            <a:r>
              <a:rPr lang="en-US" sz="90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$500B dark fiber unused</a:t>
            </a:r>
            <a:endParaRPr lang="en-US" sz="1600" dirty="0"/>
          </a:p>
        </p:txBody>
      </p:sp>
      <p:sp>
        <p:nvSpPr>
          <p:cNvPr id="28" name="Text 26"/>
          <p:cNvSpPr/>
          <p:nvPr/>
        </p:nvSpPr>
        <p:spPr>
          <a:xfrm>
            <a:off x="6126480" y="3419856"/>
            <a:ext cx="2560320" cy="658368"/>
          </a:xfrm>
          <a:prstGeom prst="rect">
            <a:avLst/>
          </a:prstGeom>
          <a:noFill/>
          <a:ln/>
        </p:spPr>
        <p:txBody>
          <a:bodyPr wrap="square" lIns="1016" tIns="1016" rIns="1016" bIns="1016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0A85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Sold out</a:t>
            </a:r>
            <a:pPr indent="0" marL="0">
              <a:buNone/>
            </a:pPr>
            <a:r>
              <a:rPr lang="en-US" sz="900" baseline="30000" dirty="0">
                <a:solidFill>
                  <a:srgbClr val="00A85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6</a:t>
            </a:r>
            <a:pPr indent="0" marL="0">
              <a:buNone/>
            </a:pPr>
            <a:r>
              <a:rPr lang="en-US" sz="90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GPU 2nd market 90–95% of list</a:t>
            </a:r>
            <a:endParaRPr lang="en-US" sz="1600" dirty="0"/>
          </a:p>
        </p:txBody>
      </p:sp>
      <p:sp>
        <p:nvSpPr>
          <p:cNvPr id="29" name="Shape 27"/>
          <p:cNvSpPr/>
          <p:nvPr/>
        </p:nvSpPr>
        <p:spPr>
          <a:xfrm>
            <a:off x="457200" y="4078224"/>
            <a:ext cx="8229600" cy="658368"/>
          </a:xfrm>
          <a:prstGeom prst="rect">
            <a:avLst/>
          </a:prstGeom>
          <a:solidFill>
            <a:srgbClr val="F9F9F9"/>
          </a:solidFill>
          <a:ln w="12700">
            <a:solidFill>
              <a:srgbClr val="F9F9F9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594360" y="4224528"/>
            <a:ext cx="365760" cy="365760"/>
          </a:xfrm>
          <a:prstGeom prst="ellipse">
            <a:avLst/>
          </a:prstGeom>
          <a:solidFill>
            <a:srgbClr val="333333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594360" y="4224528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B800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◨</a:t>
            </a:r>
            <a:endParaRPr lang="en-US" sz="1400" dirty="0"/>
          </a:p>
        </p:txBody>
      </p:sp>
      <p:sp>
        <p:nvSpPr>
          <p:cNvPr id="32" name="Text 30"/>
          <p:cNvSpPr/>
          <p:nvPr/>
        </p:nvSpPr>
        <p:spPr>
          <a:xfrm>
            <a:off x="1051560" y="4078224"/>
            <a:ext cx="2514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BUYER BALANCE SHEETS</a:t>
            </a:r>
            <a:endParaRPr lang="en-US" sz="1000" dirty="0"/>
          </a:p>
        </p:txBody>
      </p:sp>
      <p:sp>
        <p:nvSpPr>
          <p:cNvPr id="33" name="Text 31"/>
          <p:cNvSpPr/>
          <p:nvPr/>
        </p:nvSpPr>
        <p:spPr>
          <a:xfrm>
            <a:off x="3611880" y="4078224"/>
            <a:ext cx="2468880" cy="658368"/>
          </a:xfrm>
          <a:prstGeom prst="rect">
            <a:avLst/>
          </a:prstGeom>
          <a:noFill/>
          <a:ln/>
        </p:spPr>
        <p:txBody>
          <a:bodyPr wrap="square" lIns="1016" tIns="1016" rIns="1016" bIns="1016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CC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20+</a:t>
            </a:r>
            <a:pPr indent="0" marL="0">
              <a:buNone/>
            </a:pPr>
            <a:r>
              <a:rPr lang="en-US" sz="900" baseline="30000" dirty="0">
                <a:solidFill>
                  <a:srgbClr val="CC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7</a:t>
            </a:r>
            <a:pPr indent="0" marL="0">
              <a:buNone/>
            </a:pPr>
            <a:r>
              <a:rPr lang="en-US" sz="90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major telcos went bankrupt</a:t>
            </a:r>
            <a:endParaRPr lang="en-US" sz="1600" dirty="0"/>
          </a:p>
        </p:txBody>
      </p:sp>
      <p:sp>
        <p:nvSpPr>
          <p:cNvPr id="34" name="Text 32"/>
          <p:cNvSpPr/>
          <p:nvPr/>
        </p:nvSpPr>
        <p:spPr>
          <a:xfrm>
            <a:off x="6126480" y="4078224"/>
            <a:ext cx="2560320" cy="658368"/>
          </a:xfrm>
          <a:prstGeom prst="rect">
            <a:avLst/>
          </a:prstGeom>
          <a:noFill/>
          <a:ln/>
        </p:spPr>
        <p:txBody>
          <a:bodyPr wrap="square" lIns="1016" tIns="1016" rIns="1016" bIns="1016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0A85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~48%</a:t>
            </a:r>
            <a:pPr indent="0" marL="0">
              <a:buNone/>
            </a:pPr>
            <a:r>
              <a:rPr lang="en-US" sz="900" baseline="30000" dirty="0">
                <a:solidFill>
                  <a:srgbClr val="00A85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8</a:t>
            </a:r>
            <a:pPr indent="0" marL="0">
              <a:buNone/>
            </a:pPr>
            <a:r>
              <a:rPr lang="en-US" sz="90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hyperscaler net debt/EBITDA (vs ~80% S&amp;P)</a:t>
            </a:r>
            <a:endParaRPr lang="en-US" sz="1600" dirty="0"/>
          </a:p>
        </p:txBody>
      </p:sp>
      <p:sp>
        <p:nvSpPr>
          <p:cNvPr id="35" name="Shape 33"/>
          <p:cNvSpPr/>
          <p:nvPr/>
        </p:nvSpPr>
        <p:spPr>
          <a:xfrm>
            <a:off x="457200" y="5074920"/>
            <a:ext cx="8229600" cy="365760"/>
          </a:xfrm>
          <a:prstGeom prst="rect">
            <a:avLst/>
          </a:prstGeom>
          <a:solidFill>
            <a:srgbClr val="FFD100"/>
          </a:solidFill>
          <a:ln w="12700">
            <a:solidFill>
              <a:srgbClr val="FFD100"/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640080" y="5074920"/>
            <a:ext cx="78638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Corrections happen. Bubbles require stretched valuations AND supply exceeding demand. </a:t>
            </a:r>
            <a:pPr indent="0" marL="0">
              <a:buNone/>
            </a:pPr>
            <a:r>
              <a:rPr lang="en-US" sz="1150" b="1" dirty="0">
                <a:solidFill>
                  <a:srgbClr val="CC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Neither condition holds today.</a:t>
            </a:r>
            <a:endParaRPr lang="en-US" sz="1100" dirty="0"/>
          </a:p>
        </p:txBody>
      </p:sp>
      <p:sp>
        <p:nvSpPr>
          <p:cNvPr id="37" name="Text 35"/>
          <p:cNvSpPr/>
          <p:nvPr/>
        </p:nvSpPr>
        <p:spPr>
          <a:xfrm>
            <a:off x="457200" y="5875020"/>
            <a:ext cx="8229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b="1" dirty="0">
                <a:solidFill>
                  <a:srgbClr val="99999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(1) </a:t>
            </a:r>
            <a:pPr indent="0" marL="0">
              <a:buNone/>
            </a:pPr>
            <a:r>
              <a:rPr lang="en-US" sz="700" dirty="0">
                <a:solidFill>
                  <a:srgbClr val="99999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Harding Loevner retrospective, </a:t>
            </a:r>
            <a:pPr indent="0" marL="0">
              <a:buNone/>
            </a:pPr>
            <a:r>
              <a:rPr lang="en-US" sz="700" b="1" dirty="0">
                <a:solidFill>
                  <a:srgbClr val="99999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(2) </a:t>
            </a:r>
            <a:pPr indent="0" marL="0">
              <a:buNone/>
            </a:pPr>
            <a:r>
              <a:rPr lang="en-US" sz="700" dirty="0">
                <a:solidFill>
                  <a:srgbClr val="99999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GuruFocus (Apr 17, 2026), </a:t>
            </a:r>
            <a:pPr indent="0" marL="0">
              <a:buNone/>
            </a:pPr>
            <a:r>
              <a:rPr lang="en-US" sz="700" b="1" dirty="0">
                <a:solidFill>
                  <a:srgbClr val="99999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(3) </a:t>
            </a:r>
            <a:pPr indent="0" marL="0">
              <a:buNone/>
            </a:pPr>
            <a:r>
              <a:rPr lang="en-US" sz="700" dirty="0">
                <a:solidFill>
                  <a:srgbClr val="99999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Jay Ritter, Univ. of Florida IPO data, </a:t>
            </a:r>
            <a:pPr indent="0" marL="0">
              <a:buNone/>
            </a:pPr>
            <a:r>
              <a:rPr lang="en-US" sz="700" b="1" dirty="0">
                <a:solidFill>
                  <a:srgbClr val="99999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(4) </a:t>
            </a:r>
            <a:pPr indent="0" marL="0">
              <a:buNone/>
            </a:pPr>
            <a:r>
              <a:rPr lang="en-US" sz="700" dirty="0">
                <a:solidFill>
                  <a:srgbClr val="99999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Bloomberg / company filings, 2025 TTM, </a:t>
            </a:r>
            <a:pPr indent="0" marL="0">
              <a:buNone/>
            </a:pPr>
            <a:r>
              <a:rPr lang="en-US" sz="700" b="1" dirty="0">
                <a:solidFill>
                  <a:srgbClr val="99999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(5) </a:t>
            </a:r>
            <a:pPr indent="0" marL="0">
              <a:buNone/>
            </a:pPr>
            <a:r>
              <a:rPr lang="en-US" sz="700" dirty="0">
                <a:solidFill>
                  <a:srgbClr val="99999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FCC / industry retrospectives, </a:t>
            </a:r>
            <a:pPr indent="0" marL="0">
              <a:buNone/>
            </a:pPr>
            <a:r>
              <a:rPr lang="en-US" sz="700" b="1" dirty="0">
                <a:solidFill>
                  <a:srgbClr val="99999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(6) </a:t>
            </a:r>
            <a:pPr indent="0" marL="0">
              <a:buNone/>
            </a:pPr>
            <a:r>
              <a:rPr lang="en-US" sz="700" dirty="0">
                <a:solidFill>
                  <a:srgbClr val="99999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CoreWeave / 2nd-market trackers, 2026, </a:t>
            </a:r>
            <a:pPr indent="0" marL="0">
              <a:buNone/>
            </a:pPr>
            <a:r>
              <a:rPr lang="en-US" sz="700" b="1" dirty="0">
                <a:solidFill>
                  <a:srgbClr val="99999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(7) </a:t>
            </a:r>
            <a:pPr indent="0" marL="0">
              <a:buNone/>
            </a:pPr>
            <a:r>
              <a:rPr lang="en-US" sz="700" dirty="0">
                <a:solidFill>
                  <a:srgbClr val="99999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Public filings / press retrospectives, 2001–02, </a:t>
            </a:r>
            <a:pPr indent="0" marL="0">
              <a:buNone/>
            </a:pPr>
            <a:r>
              <a:rPr lang="en-US" sz="700" b="1" dirty="0">
                <a:solidFill>
                  <a:srgbClr val="99999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(8) </a:t>
            </a:r>
            <a:pPr indent="0" marL="0">
              <a:buNone/>
            </a:pPr>
            <a:r>
              <a:rPr lang="en-US" sz="700" dirty="0">
                <a:solidFill>
                  <a:srgbClr val="99999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Bloomberg, 2025 YE.</a:t>
            </a:r>
            <a:endParaRPr lang="en-US" sz="700" dirty="0"/>
          </a:p>
        </p:txBody>
      </p:sp>
      <p:sp>
        <p:nvSpPr>
          <p:cNvPr id="38" name="Shape 36"/>
          <p:cNvSpPr/>
          <p:nvPr/>
        </p:nvSpPr>
        <p:spPr>
          <a:xfrm>
            <a:off x="0" y="6286500"/>
            <a:ext cx="9144000" cy="571500"/>
          </a:xfrm>
          <a:prstGeom prst="rect">
            <a:avLst/>
          </a:prstGeom>
          <a:solidFill>
            <a:srgbClr val="000000"/>
          </a:solidFill>
          <a:ln w="12700">
            <a:solidFill>
              <a:srgbClr val="000000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1371600" y="6332220"/>
            <a:ext cx="6400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FOR INFORMATIONAL PURPOSES ONLY. NOT INVESTMENT ADVICE. PAST PERFORMANCE IS NOT INDICATIVE OF FUTURE RESULTS.</a:t>
            </a:r>
            <a:endParaRPr lang="en-US" sz="650" dirty="0"/>
          </a:p>
        </p:txBody>
      </p:sp>
      <p:sp>
        <p:nvSpPr>
          <p:cNvPr id="40" name="Text 38"/>
          <p:cNvSpPr/>
          <p:nvPr/>
        </p:nvSpPr>
        <p:spPr>
          <a:xfrm>
            <a:off x="8321040" y="6405372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14</a:t>
            </a:r>
            <a:endParaRPr lang="en-US" sz="9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7132320" y="164592"/>
            <a:ext cx="1737360" cy="292608"/>
          </a:xfrm>
          <a:prstGeom prst="roundRect">
            <a:avLst>
              <a:gd name="adj" fmla="val 15625"/>
            </a:avLst>
          </a:prstGeom>
          <a:solidFill>
            <a:srgbClr val="CC0000"/>
          </a:solidFill>
          <a:ln w="12700">
            <a:solidFill>
              <a:srgbClr val="CC0000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7132320" y="164592"/>
            <a:ext cx="17373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spc="100" kern="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RISKS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457200" y="182880"/>
            <a:ext cx="65836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400" b="1" dirty="0">
                <a:solidFill>
                  <a:srgbClr val="000000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Supply chain fragility.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457200" y="914400"/>
            <a:ext cx="8229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Four countries control the advanced semiconductor stack. US reshoring is real but slow — most leading-edge fabs come online 2027+.</a:t>
            </a:r>
            <a:endParaRPr lang="en-US" sz="1350" dirty="0"/>
          </a:p>
        </p:txBody>
      </p:sp>
      <p:sp>
        <p:nvSpPr>
          <p:cNvPr id="6" name="Shape 4"/>
          <p:cNvSpPr/>
          <p:nvPr/>
        </p:nvSpPr>
        <p:spPr>
          <a:xfrm>
            <a:off x="457200" y="1325880"/>
            <a:ext cx="8229600" cy="0"/>
          </a:xfrm>
          <a:prstGeom prst="line">
            <a:avLst/>
          </a:prstGeom>
          <a:noFill/>
          <a:ln w="9525">
            <a:solidFill>
              <a:srgbClr val="E5E5E5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457200" y="1691640"/>
            <a:ext cx="3200400" cy="3017520"/>
          </a:xfrm>
          <a:prstGeom prst="rect">
            <a:avLst/>
          </a:prstGeom>
          <a:solidFill>
            <a:srgbClr val="EEEEEE"/>
          </a:solidFill>
          <a:ln w="9525">
            <a:solidFill>
              <a:srgbClr val="BBBBBB"/>
            </a:solidFill>
            <a:prstDash val="dash"/>
          </a:ln>
        </p:spPr>
      </p:sp>
      <p:sp>
        <p:nvSpPr>
          <p:cNvPr id="8" name="Text 6"/>
          <p:cNvSpPr/>
          <p:nvPr/>
        </p:nvSpPr>
        <p:spPr>
          <a:xfrm>
            <a:off x="548640" y="1691640"/>
            <a:ext cx="3017520" cy="3017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i="1" dirty="0">
                <a:solidFill>
                  <a:srgbClr val="88888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IMAGE: Cinematic — two bunny-suited technicians in front of an EUV lithography tool, warm amber photolith glow, shallow DOF on a gloved hand at a control, stainless-steel cleanroom, near-square</a:t>
            </a:r>
            <a:endParaRPr lang="en-US" sz="1000" dirty="0"/>
          </a:p>
        </p:txBody>
      </p:sp>
      <p:sp>
        <p:nvSpPr>
          <p:cNvPr id="9" name="Text 7"/>
          <p:cNvSpPr/>
          <p:nvPr/>
        </p:nvSpPr>
        <p:spPr>
          <a:xfrm>
            <a:off x="3886200" y="1783080"/>
            <a:ext cx="23774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000" b="1" dirty="0">
                <a:solidFill>
                  <a:srgbClr val="CC0000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~90%</a:t>
            </a:r>
            <a:pPr algn="ctr" indent="0" marL="0">
              <a:buNone/>
            </a:pPr>
            <a:r>
              <a:rPr lang="en-US" sz="1400" baseline="30000" dirty="0">
                <a:solidFill>
                  <a:srgbClr val="CC0000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 1</a:t>
            </a:r>
            <a:endParaRPr lang="en-US" sz="4000" dirty="0"/>
          </a:p>
        </p:txBody>
      </p:sp>
      <p:sp>
        <p:nvSpPr>
          <p:cNvPr id="10" name="Text 8"/>
          <p:cNvSpPr/>
          <p:nvPr/>
        </p:nvSpPr>
        <p:spPr>
          <a:xfrm>
            <a:off x="3886200" y="2514600"/>
            <a:ext cx="23774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0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TSMC share of advanced-node chips</a:t>
            </a:r>
            <a:endParaRPr lang="en-US" sz="1100" dirty="0"/>
          </a:p>
        </p:txBody>
      </p:sp>
      <p:sp>
        <p:nvSpPr>
          <p:cNvPr id="11" name="Text 9"/>
          <p:cNvSpPr/>
          <p:nvPr/>
        </p:nvSpPr>
        <p:spPr>
          <a:xfrm>
            <a:off x="6446520" y="1783080"/>
            <a:ext cx="23774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000" b="1" dirty="0">
                <a:solidFill>
                  <a:srgbClr val="CC0000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76%</a:t>
            </a:r>
            <a:pPr algn="ctr" indent="0" marL="0">
              <a:buNone/>
            </a:pPr>
            <a:r>
              <a:rPr lang="en-US" sz="1400" baseline="30000" dirty="0">
                <a:solidFill>
                  <a:srgbClr val="CC0000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 2</a:t>
            </a:r>
            <a:endParaRPr lang="en-US" sz="4000" dirty="0"/>
          </a:p>
        </p:txBody>
      </p:sp>
      <p:sp>
        <p:nvSpPr>
          <p:cNvPr id="12" name="Text 10"/>
          <p:cNvSpPr/>
          <p:nvPr/>
        </p:nvSpPr>
        <p:spPr>
          <a:xfrm>
            <a:off x="6446520" y="2514600"/>
            <a:ext cx="23774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0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SK Hynix + Samsung DRAM share</a:t>
            </a:r>
            <a:endParaRPr lang="en-US" sz="1100" dirty="0"/>
          </a:p>
        </p:txBody>
      </p:sp>
      <p:sp>
        <p:nvSpPr>
          <p:cNvPr id="13" name="Text 11"/>
          <p:cNvSpPr/>
          <p:nvPr/>
        </p:nvSpPr>
        <p:spPr>
          <a:xfrm>
            <a:off x="3886200" y="3383280"/>
            <a:ext cx="48006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 single leading-edge chip crosses 70+ borders and six countries</a:t>
            </a:r>
            <a:pPr indent="0" marL="0">
              <a:buNone/>
            </a:pPr>
            <a:r>
              <a:rPr lang="en-US" sz="800" baseline="300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3</a:t>
            </a:r>
            <a:pPr indent="0" marL="0">
              <a:buNone/>
            </a:pPr>
            <a:r>
              <a:rPr lang="en-US" sz="12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before reaching a data center. ASML builds fewer than 100 EUV machines a year</a:t>
            </a:r>
            <a:pPr indent="0" marL="0">
              <a:buNone/>
            </a:pPr>
            <a:r>
              <a:rPr lang="en-US" sz="800" baseline="300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4</a:t>
            </a:r>
            <a:pPr indent="0" marL="0">
              <a:buNone/>
            </a:pPr>
            <a:r>
              <a:rPr lang="en-US" sz="12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.</a:t>
            </a:r>
            <a:endParaRPr lang="en-US" sz="1200" dirty="0"/>
          </a:p>
        </p:txBody>
      </p:sp>
      <p:sp>
        <p:nvSpPr>
          <p:cNvPr id="14" name="Shape 12"/>
          <p:cNvSpPr/>
          <p:nvPr/>
        </p:nvSpPr>
        <p:spPr>
          <a:xfrm>
            <a:off x="457200" y="4800600"/>
            <a:ext cx="8229600" cy="320040"/>
          </a:xfrm>
          <a:prstGeom prst="rect">
            <a:avLst/>
          </a:prstGeom>
          <a:solidFill>
            <a:srgbClr val="333333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457200" y="4800600"/>
            <a:ext cx="8229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spc="300" kern="0" dirty="0">
                <a:solidFill>
                  <a:srgbClr val="F6693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US RESHORING — ACTUAL STATUS</a:t>
            </a:r>
            <a:endParaRPr lang="en-US" sz="1000" dirty="0"/>
          </a:p>
        </p:txBody>
      </p:sp>
      <p:sp>
        <p:nvSpPr>
          <p:cNvPr id="16" name="Shape 14"/>
          <p:cNvSpPr/>
          <p:nvPr/>
        </p:nvSpPr>
        <p:spPr>
          <a:xfrm>
            <a:off x="502920" y="5120640"/>
            <a:ext cx="1943100" cy="685800"/>
          </a:xfrm>
          <a:prstGeom prst="rect">
            <a:avLst/>
          </a:prstGeom>
          <a:solidFill>
            <a:srgbClr val="F9F9F9"/>
          </a:solidFill>
          <a:ln w="6350">
            <a:solidFill>
              <a:srgbClr val="E5E5E5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548640" y="5138928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TSMC Arizona</a:t>
            </a:r>
            <a:endParaRPr lang="en-US" sz="1050" dirty="0"/>
          </a:p>
        </p:txBody>
      </p:sp>
      <p:sp>
        <p:nvSpPr>
          <p:cNvPr id="18" name="Text 16"/>
          <p:cNvSpPr/>
          <p:nvPr/>
        </p:nvSpPr>
        <p:spPr>
          <a:xfrm>
            <a:off x="548640" y="5394960"/>
            <a:ext cx="18288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Fab 1 at 4nm; Fab 2 ~2026–27</a:t>
            </a:r>
            <a:endParaRPr lang="en-US" sz="900" dirty="0"/>
          </a:p>
        </p:txBody>
      </p:sp>
      <p:sp>
        <p:nvSpPr>
          <p:cNvPr id="19" name="Shape 17"/>
          <p:cNvSpPr/>
          <p:nvPr/>
        </p:nvSpPr>
        <p:spPr>
          <a:xfrm>
            <a:off x="2537460" y="5120640"/>
            <a:ext cx="1943100" cy="685800"/>
          </a:xfrm>
          <a:prstGeom prst="rect">
            <a:avLst/>
          </a:prstGeom>
          <a:solidFill>
            <a:srgbClr val="F9F9F9"/>
          </a:solidFill>
          <a:ln w="6350">
            <a:solidFill>
              <a:srgbClr val="E5E5E5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2583180" y="5138928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Samsung Taylor</a:t>
            </a:r>
            <a:endParaRPr lang="en-US" sz="1050" dirty="0"/>
          </a:p>
        </p:txBody>
      </p:sp>
      <p:sp>
        <p:nvSpPr>
          <p:cNvPr id="21" name="Text 19"/>
          <p:cNvSpPr/>
          <p:nvPr/>
        </p:nvSpPr>
        <p:spPr>
          <a:xfrm>
            <a:off x="2583180" y="5394960"/>
            <a:ext cx="18288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2nm fab, pushed to 2026</a:t>
            </a:r>
            <a:endParaRPr lang="en-US" sz="900" dirty="0"/>
          </a:p>
        </p:txBody>
      </p:sp>
      <p:sp>
        <p:nvSpPr>
          <p:cNvPr id="22" name="Shape 20"/>
          <p:cNvSpPr/>
          <p:nvPr/>
        </p:nvSpPr>
        <p:spPr>
          <a:xfrm>
            <a:off x="4572000" y="5120640"/>
            <a:ext cx="1943100" cy="685800"/>
          </a:xfrm>
          <a:prstGeom prst="rect">
            <a:avLst/>
          </a:prstGeom>
          <a:solidFill>
            <a:srgbClr val="F9F9F9"/>
          </a:solidFill>
          <a:ln w="6350">
            <a:solidFill>
              <a:srgbClr val="E5E5E5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4617720" y="5138928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Micron Clay NY</a:t>
            </a:r>
            <a:endParaRPr lang="en-US" sz="1050" dirty="0"/>
          </a:p>
        </p:txBody>
      </p:sp>
      <p:sp>
        <p:nvSpPr>
          <p:cNvPr id="24" name="Text 22"/>
          <p:cNvSpPr/>
          <p:nvPr/>
        </p:nvSpPr>
        <p:spPr>
          <a:xfrm>
            <a:off x="4617720" y="5394960"/>
            <a:ext cx="18288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Ground broken; online ~2028–30</a:t>
            </a:r>
            <a:endParaRPr lang="en-US" sz="900" dirty="0"/>
          </a:p>
        </p:txBody>
      </p:sp>
      <p:sp>
        <p:nvSpPr>
          <p:cNvPr id="25" name="Shape 23"/>
          <p:cNvSpPr/>
          <p:nvPr/>
        </p:nvSpPr>
        <p:spPr>
          <a:xfrm>
            <a:off x="6606540" y="5120640"/>
            <a:ext cx="1943100" cy="685800"/>
          </a:xfrm>
          <a:prstGeom prst="rect">
            <a:avLst/>
          </a:prstGeom>
          <a:solidFill>
            <a:srgbClr val="F9F9F9"/>
          </a:solidFill>
          <a:ln w="6350">
            <a:solidFill>
              <a:srgbClr val="E5E5E5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6652260" y="5138928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Intel Ohio</a:t>
            </a:r>
            <a:endParaRPr lang="en-US" sz="1050" dirty="0"/>
          </a:p>
        </p:txBody>
      </p:sp>
      <p:sp>
        <p:nvSpPr>
          <p:cNvPr id="27" name="Text 25"/>
          <p:cNvSpPr/>
          <p:nvPr/>
        </p:nvSpPr>
        <p:spPr>
          <a:xfrm>
            <a:off x="6652260" y="5394960"/>
            <a:ext cx="18288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Two fabs; online ~2027–28</a:t>
            </a:r>
            <a:endParaRPr lang="en-US" sz="900" dirty="0"/>
          </a:p>
        </p:txBody>
      </p:sp>
      <p:sp>
        <p:nvSpPr>
          <p:cNvPr id="28" name="Text 26"/>
          <p:cNvSpPr/>
          <p:nvPr/>
        </p:nvSpPr>
        <p:spPr>
          <a:xfrm>
            <a:off x="457200" y="5875020"/>
            <a:ext cx="8229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b="1" dirty="0">
                <a:solidFill>
                  <a:srgbClr val="99999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(1) </a:t>
            </a:r>
            <a:pPr indent="0" marL="0">
              <a:buNone/>
            </a:pPr>
            <a:r>
              <a:rPr lang="en-US" sz="700" dirty="0">
                <a:solidFill>
                  <a:srgbClr val="99999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TrendForce / Counterpoint, 2025, </a:t>
            </a:r>
            <a:pPr indent="0" marL="0">
              <a:buNone/>
            </a:pPr>
            <a:r>
              <a:rPr lang="en-US" sz="700" b="1" dirty="0">
                <a:solidFill>
                  <a:srgbClr val="99999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(2) </a:t>
            </a:r>
            <a:pPr indent="0" marL="0">
              <a:buNone/>
            </a:pPr>
            <a:r>
              <a:rPr lang="en-US" sz="700" dirty="0">
                <a:solidFill>
                  <a:srgbClr val="99999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TrendForce, 2025, </a:t>
            </a:r>
            <a:pPr indent="0" marL="0">
              <a:buNone/>
            </a:pPr>
            <a:r>
              <a:rPr lang="en-US" sz="700" b="1" dirty="0">
                <a:solidFill>
                  <a:srgbClr val="99999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(3) </a:t>
            </a:r>
            <a:pPr indent="0" marL="0">
              <a:buNone/>
            </a:pPr>
            <a:r>
              <a:rPr lang="en-US" sz="700" dirty="0">
                <a:solidFill>
                  <a:srgbClr val="99999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SIA semiconductor supply-chain report, </a:t>
            </a:r>
            <a:pPr indent="0" marL="0">
              <a:buNone/>
            </a:pPr>
            <a:r>
              <a:rPr lang="en-US" sz="700" b="1" dirty="0">
                <a:solidFill>
                  <a:srgbClr val="99999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(4) </a:t>
            </a:r>
            <a:pPr indent="0" marL="0">
              <a:buNone/>
            </a:pPr>
            <a:r>
              <a:rPr lang="en-US" sz="700" dirty="0">
                <a:solidFill>
                  <a:srgbClr val="99999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ASML 2025 annual report.</a:t>
            </a:r>
            <a:endParaRPr lang="en-US" sz="700" dirty="0"/>
          </a:p>
        </p:txBody>
      </p:sp>
      <p:sp>
        <p:nvSpPr>
          <p:cNvPr id="29" name="Shape 27"/>
          <p:cNvSpPr/>
          <p:nvPr/>
        </p:nvSpPr>
        <p:spPr>
          <a:xfrm>
            <a:off x="0" y="6286500"/>
            <a:ext cx="9144000" cy="571500"/>
          </a:xfrm>
          <a:prstGeom prst="rect">
            <a:avLst/>
          </a:prstGeom>
          <a:solidFill>
            <a:srgbClr val="000000"/>
          </a:solidFill>
          <a:ln w="12700">
            <a:solidFill>
              <a:srgbClr val="000000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1371600" y="6332220"/>
            <a:ext cx="6400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FOR INFORMATIONAL PURPOSES ONLY. NOT INVESTMENT ADVICE. PAST PERFORMANCE IS NOT INDICATIVE OF FUTURE RESULTS.</a:t>
            </a:r>
            <a:endParaRPr lang="en-US" sz="650" dirty="0"/>
          </a:p>
        </p:txBody>
      </p:sp>
      <p:sp>
        <p:nvSpPr>
          <p:cNvPr id="31" name="Text 29"/>
          <p:cNvSpPr/>
          <p:nvPr/>
        </p:nvSpPr>
        <p:spPr>
          <a:xfrm>
            <a:off x="8321040" y="6405372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15</a:t>
            </a:r>
            <a:endParaRPr lang="en-US" sz="9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7132320" y="164592"/>
            <a:ext cx="1737360" cy="292608"/>
          </a:xfrm>
          <a:prstGeom prst="roundRect">
            <a:avLst>
              <a:gd name="adj" fmla="val 15625"/>
            </a:avLst>
          </a:prstGeom>
          <a:solidFill>
            <a:srgbClr val="CC0000"/>
          </a:solidFill>
          <a:ln w="12700">
            <a:solidFill>
              <a:srgbClr val="CC0000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7132320" y="164592"/>
            <a:ext cx="17373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spc="100" kern="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RISKS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457200" y="182880"/>
            <a:ext cx="65836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400" b="1" dirty="0">
                <a:solidFill>
                  <a:srgbClr val="000000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Policy &amp; regulation.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457200" y="914400"/>
            <a:ext cx="8229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Export controls, EU compliance, and reshoring subsidies now decide who can sell what, to whom, from where.</a:t>
            </a:r>
            <a:endParaRPr lang="en-US" sz="1350" dirty="0"/>
          </a:p>
        </p:txBody>
      </p:sp>
      <p:sp>
        <p:nvSpPr>
          <p:cNvPr id="6" name="Shape 4"/>
          <p:cNvSpPr/>
          <p:nvPr/>
        </p:nvSpPr>
        <p:spPr>
          <a:xfrm>
            <a:off x="457200" y="1325880"/>
            <a:ext cx="8229600" cy="0"/>
          </a:xfrm>
          <a:prstGeom prst="line">
            <a:avLst/>
          </a:prstGeom>
          <a:noFill/>
          <a:ln w="9525">
            <a:solidFill>
              <a:srgbClr val="E5E5E5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457200" y="1783080"/>
            <a:ext cx="2560320" cy="411480"/>
          </a:xfrm>
          <a:prstGeom prst="rect">
            <a:avLst/>
          </a:prstGeom>
          <a:solidFill>
            <a:srgbClr val="CC0000"/>
          </a:solidFill>
          <a:ln w="12700">
            <a:solidFill>
              <a:srgbClr val="CC0000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457200" y="1783080"/>
            <a:ext cx="25603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spc="200" kern="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EXPORT CONTROLS</a:t>
            </a:r>
            <a:endParaRPr lang="en-US" sz="1150" dirty="0"/>
          </a:p>
        </p:txBody>
      </p:sp>
      <p:sp>
        <p:nvSpPr>
          <p:cNvPr id="9" name="Shape 7"/>
          <p:cNvSpPr/>
          <p:nvPr/>
        </p:nvSpPr>
        <p:spPr>
          <a:xfrm>
            <a:off x="457200" y="2194560"/>
            <a:ext cx="2560320" cy="3474720"/>
          </a:xfrm>
          <a:prstGeom prst="rect">
            <a:avLst/>
          </a:prstGeom>
          <a:solidFill>
            <a:srgbClr val="F9F9F9"/>
          </a:solidFill>
          <a:ln w="6350">
            <a:solidFill>
              <a:srgbClr val="E5E5E5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457200" y="2331720"/>
            <a:ext cx="256032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800" b="1" dirty="0">
                <a:solidFill>
                  <a:srgbClr val="CC0000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▣</a:t>
            </a:r>
            <a:endParaRPr lang="en-US" sz="4800" dirty="0"/>
          </a:p>
        </p:txBody>
      </p:sp>
      <p:sp>
        <p:nvSpPr>
          <p:cNvPr id="11" name="Shape 9"/>
          <p:cNvSpPr/>
          <p:nvPr/>
        </p:nvSpPr>
        <p:spPr>
          <a:xfrm>
            <a:off x="822960" y="3291840"/>
            <a:ext cx="1828800" cy="0"/>
          </a:xfrm>
          <a:prstGeom prst="line">
            <a:avLst/>
          </a:prstGeom>
          <a:noFill/>
          <a:ln w="19050">
            <a:solidFill>
              <a:srgbClr val="CC0000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640080" y="3429000"/>
            <a:ext cx="2240280" cy="18745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0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H100 / H200 / Blackwell banned from China.</a:t>
            </a:r>
            <a:pPr indent="0" marL="0">
              <a:spcAft>
                <a:spcPts val="500"/>
              </a:spcAft>
              <a:buNone/>
            </a:pPr>
            <a:r>
              <a:rPr lang="en-US" sz="700" baseline="300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1</a:t>
            </a:r>
            <a:endParaRPr lang="en-US" sz="1000" dirty="0"/>
          </a:p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0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H20 reinstated with a 15% Treasury fee.</a:t>
            </a:r>
            <a:pPr indent="0" marL="0">
              <a:spcAft>
                <a:spcPts val="500"/>
              </a:spcAft>
              <a:buNone/>
            </a:pPr>
            <a:r>
              <a:rPr lang="en-US" sz="700" baseline="300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2</a:t>
            </a:r>
            <a:endParaRPr lang="en-US" sz="1000" dirty="0"/>
          </a:p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0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$5.5B NVIDIA H20 writedown.</a:t>
            </a:r>
            <a:pPr indent="0" marL="0">
              <a:spcAft>
                <a:spcPts val="500"/>
              </a:spcAft>
              <a:buNone/>
            </a:pPr>
            <a:r>
              <a:rPr lang="en-US" sz="700" baseline="300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3</a:t>
            </a:r>
            <a:endParaRPr lang="en-US" sz="1000" dirty="0"/>
          </a:p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0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ASML DUV banned; China ~20% of revenue.</a:t>
            </a:r>
            <a:pPr indent="0" marL="0">
              <a:spcAft>
                <a:spcPts val="500"/>
              </a:spcAft>
              <a:buNone/>
            </a:pPr>
            <a:r>
              <a:rPr lang="en-US" sz="700" baseline="300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4</a:t>
            </a:r>
            <a:endParaRPr lang="en-US" sz="1000" dirty="0"/>
          </a:p>
        </p:txBody>
      </p:sp>
      <p:sp>
        <p:nvSpPr>
          <p:cNvPr id="13" name="Shape 11"/>
          <p:cNvSpPr/>
          <p:nvPr/>
        </p:nvSpPr>
        <p:spPr>
          <a:xfrm>
            <a:off x="3291840" y="1783080"/>
            <a:ext cx="2560320" cy="411480"/>
          </a:xfrm>
          <a:prstGeom prst="rect">
            <a:avLst/>
          </a:prstGeom>
          <a:solidFill>
            <a:srgbClr val="F6693D"/>
          </a:solidFill>
          <a:ln w="12700">
            <a:solidFill>
              <a:srgbClr val="F6693D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3291840" y="1783080"/>
            <a:ext cx="25603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spc="200" kern="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AI REGULATION</a:t>
            </a:r>
            <a:endParaRPr lang="en-US" sz="1150" dirty="0"/>
          </a:p>
        </p:txBody>
      </p:sp>
      <p:sp>
        <p:nvSpPr>
          <p:cNvPr id="15" name="Shape 13"/>
          <p:cNvSpPr/>
          <p:nvPr/>
        </p:nvSpPr>
        <p:spPr>
          <a:xfrm>
            <a:off x="3291840" y="2194560"/>
            <a:ext cx="2560320" cy="3474720"/>
          </a:xfrm>
          <a:prstGeom prst="rect">
            <a:avLst/>
          </a:prstGeom>
          <a:solidFill>
            <a:srgbClr val="F9F9F9"/>
          </a:solidFill>
          <a:ln w="6350">
            <a:solidFill>
              <a:srgbClr val="E5E5E5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3291840" y="2331720"/>
            <a:ext cx="256032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800" b="1" dirty="0">
                <a:solidFill>
                  <a:srgbClr val="F6693D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§</a:t>
            </a:r>
            <a:endParaRPr lang="en-US" sz="4800" dirty="0"/>
          </a:p>
        </p:txBody>
      </p:sp>
      <p:sp>
        <p:nvSpPr>
          <p:cNvPr id="17" name="Shape 15"/>
          <p:cNvSpPr/>
          <p:nvPr/>
        </p:nvSpPr>
        <p:spPr>
          <a:xfrm>
            <a:off x="3657600" y="3291840"/>
            <a:ext cx="1828800" cy="0"/>
          </a:xfrm>
          <a:prstGeom prst="line">
            <a:avLst/>
          </a:prstGeom>
          <a:noFill/>
          <a:ln w="19050">
            <a:solidFill>
              <a:srgbClr val="F6693D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3474720" y="3429000"/>
            <a:ext cx="2240280" cy="18745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0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EU AI Act enforcement: Aug 2, 2026.</a:t>
            </a:r>
            <a:pPr indent="0" marL="0">
              <a:spcAft>
                <a:spcPts val="500"/>
              </a:spcAft>
              <a:buNone/>
            </a:pPr>
            <a:r>
              <a:rPr lang="en-US" sz="700" baseline="300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5</a:t>
            </a:r>
            <a:endParaRPr lang="en-US" sz="1000" dirty="0"/>
          </a:p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0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Fines up to €35M or 7% of global revenue.</a:t>
            </a:r>
            <a:pPr indent="0" marL="0">
              <a:spcAft>
                <a:spcPts val="500"/>
              </a:spcAft>
              <a:buNone/>
            </a:pPr>
            <a:r>
              <a:rPr lang="en-US" sz="700" baseline="300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6</a:t>
            </a:r>
            <a:endParaRPr lang="en-US" sz="1000" dirty="0"/>
          </a:p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0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Initial compliance: $8–15M per system.</a:t>
            </a:r>
            <a:pPr indent="0" marL="0">
              <a:spcAft>
                <a:spcPts val="500"/>
              </a:spcAft>
              <a:buNone/>
            </a:pPr>
            <a:r>
              <a:rPr lang="en-US" sz="700" baseline="300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7</a:t>
            </a:r>
            <a:endParaRPr lang="en-US" sz="1000" dirty="0"/>
          </a:p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0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Only 36% of enterprises feel prepared.</a:t>
            </a:r>
            <a:pPr indent="0" marL="0">
              <a:spcAft>
                <a:spcPts val="500"/>
              </a:spcAft>
              <a:buNone/>
            </a:pPr>
            <a:r>
              <a:rPr lang="en-US" sz="700" baseline="300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8</a:t>
            </a:r>
            <a:endParaRPr lang="en-US" sz="1000" dirty="0"/>
          </a:p>
        </p:txBody>
      </p:sp>
      <p:sp>
        <p:nvSpPr>
          <p:cNvPr id="19" name="Shape 17"/>
          <p:cNvSpPr/>
          <p:nvPr/>
        </p:nvSpPr>
        <p:spPr>
          <a:xfrm>
            <a:off x="6126480" y="1783080"/>
            <a:ext cx="2560320" cy="411480"/>
          </a:xfrm>
          <a:prstGeom prst="rect">
            <a:avLst/>
          </a:prstGeom>
          <a:solidFill>
            <a:srgbClr val="FFB800"/>
          </a:solidFill>
          <a:ln w="12700">
            <a:solidFill>
              <a:srgbClr val="FFB800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6126480" y="1783080"/>
            <a:ext cx="25603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spc="200" kern="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TRADE &amp; RESHORING</a:t>
            </a:r>
            <a:endParaRPr lang="en-US" sz="1150" dirty="0"/>
          </a:p>
        </p:txBody>
      </p:sp>
      <p:sp>
        <p:nvSpPr>
          <p:cNvPr id="21" name="Shape 19"/>
          <p:cNvSpPr/>
          <p:nvPr/>
        </p:nvSpPr>
        <p:spPr>
          <a:xfrm>
            <a:off x="6126480" y="2194560"/>
            <a:ext cx="2560320" cy="3474720"/>
          </a:xfrm>
          <a:prstGeom prst="rect">
            <a:avLst/>
          </a:prstGeom>
          <a:solidFill>
            <a:srgbClr val="F9F9F9"/>
          </a:solidFill>
          <a:ln w="6350">
            <a:solidFill>
              <a:srgbClr val="E5E5E5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6126480" y="2331720"/>
            <a:ext cx="256032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800" b="1" dirty="0">
                <a:solidFill>
                  <a:srgbClr val="FFB800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⚒</a:t>
            </a:r>
            <a:endParaRPr lang="en-US" sz="4800" dirty="0"/>
          </a:p>
        </p:txBody>
      </p:sp>
      <p:sp>
        <p:nvSpPr>
          <p:cNvPr id="23" name="Shape 21"/>
          <p:cNvSpPr/>
          <p:nvPr/>
        </p:nvSpPr>
        <p:spPr>
          <a:xfrm>
            <a:off x="6492240" y="3291840"/>
            <a:ext cx="1828800" cy="0"/>
          </a:xfrm>
          <a:prstGeom prst="line">
            <a:avLst/>
          </a:prstGeom>
          <a:noFill/>
          <a:ln w="19050">
            <a:solidFill>
              <a:srgbClr val="FFB800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6309360" y="3429000"/>
            <a:ext cx="2240280" cy="18745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0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CHIPS Act: ~$36B committed of $52.7B.</a:t>
            </a:r>
            <a:pPr indent="0" marL="0">
              <a:spcAft>
                <a:spcPts val="500"/>
              </a:spcAft>
              <a:buNone/>
            </a:pPr>
            <a:r>
              <a:rPr lang="en-US" sz="700" baseline="300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9</a:t>
            </a:r>
            <a:endParaRPr lang="en-US" sz="1000" dirty="0"/>
          </a:p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0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China controls ~90% of rare-earth processing.</a:t>
            </a:r>
            <a:pPr indent="0" marL="0">
              <a:spcAft>
                <a:spcPts val="500"/>
              </a:spcAft>
              <a:buNone/>
            </a:pPr>
            <a:r>
              <a:rPr lang="en-US" sz="700" baseline="300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10</a:t>
            </a:r>
            <a:endParaRPr lang="en-US" sz="1000" dirty="0"/>
          </a:p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0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Gallium / germanium controls since Jul 2023.</a:t>
            </a:r>
            <a:pPr indent="0" marL="0">
              <a:spcAft>
                <a:spcPts val="500"/>
              </a:spcAft>
              <a:buNone/>
            </a:pPr>
            <a:r>
              <a:rPr lang="en-US" sz="700" baseline="300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11</a:t>
            </a:r>
            <a:endParaRPr lang="en-US" sz="1000" dirty="0"/>
          </a:p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0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SMIC 5nm yield ~20% vs &gt;70% threshold.</a:t>
            </a:r>
            <a:pPr indent="0" marL="0">
              <a:spcAft>
                <a:spcPts val="500"/>
              </a:spcAft>
              <a:buNone/>
            </a:pPr>
            <a:r>
              <a:rPr lang="en-US" sz="700" baseline="300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12</a:t>
            </a:r>
            <a:endParaRPr lang="en-US" sz="1000" dirty="0"/>
          </a:p>
        </p:txBody>
      </p:sp>
      <p:sp>
        <p:nvSpPr>
          <p:cNvPr id="25" name="Text 23"/>
          <p:cNvSpPr/>
          <p:nvPr/>
        </p:nvSpPr>
        <p:spPr>
          <a:xfrm>
            <a:off x="457200" y="5875020"/>
            <a:ext cx="8229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b="1" dirty="0">
                <a:solidFill>
                  <a:srgbClr val="99999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(1) </a:t>
            </a:r>
            <a:pPr indent="0" marL="0">
              <a:buNone/>
            </a:pPr>
            <a:r>
              <a:rPr lang="en-US" sz="700" dirty="0">
                <a:solidFill>
                  <a:srgbClr val="99999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US BIS export rules, 2023–25, </a:t>
            </a:r>
            <a:pPr indent="0" marL="0">
              <a:buNone/>
            </a:pPr>
            <a:r>
              <a:rPr lang="en-US" sz="700" b="1" dirty="0">
                <a:solidFill>
                  <a:srgbClr val="99999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(2) </a:t>
            </a:r>
            <a:pPr indent="0" marL="0">
              <a:buNone/>
            </a:pPr>
            <a:r>
              <a:rPr lang="en-US" sz="700" dirty="0">
                <a:solidFill>
                  <a:srgbClr val="99999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US Treasury / NVIDIA, Jul 2025, </a:t>
            </a:r>
            <a:pPr indent="0" marL="0">
              <a:buNone/>
            </a:pPr>
            <a:r>
              <a:rPr lang="en-US" sz="700" b="1" dirty="0">
                <a:solidFill>
                  <a:srgbClr val="99999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(3) </a:t>
            </a:r>
            <a:pPr indent="0" marL="0">
              <a:buNone/>
            </a:pPr>
            <a:r>
              <a:rPr lang="en-US" sz="700" dirty="0">
                <a:solidFill>
                  <a:srgbClr val="99999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NVIDIA 10-Q, FY26 Q1, </a:t>
            </a:r>
            <a:pPr indent="0" marL="0">
              <a:buNone/>
            </a:pPr>
            <a:r>
              <a:rPr lang="en-US" sz="700" b="1" dirty="0">
                <a:solidFill>
                  <a:srgbClr val="99999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(4) </a:t>
            </a:r>
            <a:pPr indent="0" marL="0">
              <a:buNone/>
            </a:pPr>
            <a:r>
              <a:rPr lang="en-US" sz="700" dirty="0">
                <a:solidFill>
                  <a:srgbClr val="99999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ASML 2025 annual report, </a:t>
            </a:r>
            <a:pPr indent="0" marL="0">
              <a:buNone/>
            </a:pPr>
            <a:r>
              <a:rPr lang="en-US" sz="700" b="1" dirty="0">
                <a:solidFill>
                  <a:srgbClr val="99999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(5) </a:t>
            </a:r>
            <a:pPr indent="0" marL="0">
              <a:buNone/>
            </a:pPr>
            <a:r>
              <a:rPr lang="en-US" sz="700" dirty="0">
                <a:solidFill>
                  <a:srgbClr val="99999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EU AI Act, Article 99, </a:t>
            </a:r>
            <a:pPr indent="0" marL="0">
              <a:buNone/>
            </a:pPr>
            <a:r>
              <a:rPr lang="en-US" sz="700" b="1" dirty="0">
                <a:solidFill>
                  <a:srgbClr val="99999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(6) </a:t>
            </a:r>
            <a:pPr indent="0" marL="0">
              <a:buNone/>
            </a:pPr>
            <a:r>
              <a:rPr lang="en-US" sz="700" dirty="0">
                <a:solidFill>
                  <a:srgbClr val="99999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EU AI Act, Article 99, </a:t>
            </a:r>
            <a:pPr indent="0" marL="0">
              <a:buNone/>
            </a:pPr>
            <a:r>
              <a:rPr lang="en-US" sz="700" b="1" dirty="0">
                <a:solidFill>
                  <a:srgbClr val="99999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(7) </a:t>
            </a:r>
            <a:pPr indent="0" marL="0">
              <a:buNone/>
            </a:pPr>
            <a:r>
              <a:rPr lang="en-US" sz="700" dirty="0">
                <a:solidFill>
                  <a:srgbClr val="99999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EU Commission / law firm analyses, 2025, </a:t>
            </a:r>
            <a:pPr indent="0" marL="0">
              <a:buNone/>
            </a:pPr>
            <a:r>
              <a:rPr lang="en-US" sz="700" b="1" dirty="0">
                <a:solidFill>
                  <a:srgbClr val="99999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(8) </a:t>
            </a:r>
            <a:pPr indent="0" marL="0">
              <a:buNone/>
            </a:pPr>
            <a:r>
              <a:rPr lang="en-US" sz="700" dirty="0">
                <a:solidFill>
                  <a:srgbClr val="99999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Gartner enterprise AI readiness, 2026, </a:t>
            </a:r>
            <a:pPr indent="0" marL="0">
              <a:buNone/>
            </a:pPr>
            <a:r>
              <a:rPr lang="en-US" sz="700" b="1" dirty="0">
                <a:solidFill>
                  <a:srgbClr val="99999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(9) </a:t>
            </a:r>
            <a:pPr indent="0" marL="0">
              <a:buNone/>
            </a:pPr>
            <a:r>
              <a:rPr lang="en-US" sz="700" dirty="0">
                <a:solidFill>
                  <a:srgbClr val="99999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US Commerce Dept CHIPS Office, Nov 2025, </a:t>
            </a:r>
            <a:pPr indent="0" marL="0">
              <a:buNone/>
            </a:pPr>
            <a:r>
              <a:rPr lang="en-US" sz="700" b="1" dirty="0">
                <a:solidFill>
                  <a:srgbClr val="99999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(10) </a:t>
            </a:r>
            <a:pPr indent="0" marL="0">
              <a:buNone/>
            </a:pPr>
            <a:r>
              <a:rPr lang="en-US" sz="700" dirty="0">
                <a:solidFill>
                  <a:srgbClr val="99999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IEA / USGS rare-earth reports, 2025, </a:t>
            </a:r>
            <a:pPr indent="0" marL="0">
              <a:buNone/>
            </a:pPr>
            <a:r>
              <a:rPr lang="en-US" sz="700" b="1" dirty="0">
                <a:solidFill>
                  <a:srgbClr val="99999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(11) </a:t>
            </a:r>
            <a:pPr indent="0" marL="0">
              <a:buNone/>
            </a:pPr>
            <a:r>
              <a:rPr lang="en-US" sz="700" dirty="0">
                <a:solidFill>
                  <a:srgbClr val="99999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China MOFCOM, Jul 2023, </a:t>
            </a:r>
            <a:pPr indent="0" marL="0">
              <a:buNone/>
            </a:pPr>
            <a:r>
              <a:rPr lang="en-US" sz="700" b="1" dirty="0">
                <a:solidFill>
                  <a:srgbClr val="99999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(12) </a:t>
            </a:r>
            <a:pPr indent="0" marL="0">
              <a:buNone/>
            </a:pPr>
            <a:r>
              <a:rPr lang="en-US" sz="700" dirty="0">
                <a:solidFill>
                  <a:srgbClr val="99999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TechInsights / trade press, 2025–26.</a:t>
            </a:r>
            <a:endParaRPr lang="en-US" sz="700" dirty="0"/>
          </a:p>
        </p:txBody>
      </p:sp>
      <p:sp>
        <p:nvSpPr>
          <p:cNvPr id="26" name="Shape 24"/>
          <p:cNvSpPr/>
          <p:nvPr/>
        </p:nvSpPr>
        <p:spPr>
          <a:xfrm>
            <a:off x="0" y="6286500"/>
            <a:ext cx="9144000" cy="571500"/>
          </a:xfrm>
          <a:prstGeom prst="rect">
            <a:avLst/>
          </a:prstGeom>
          <a:solidFill>
            <a:srgbClr val="000000"/>
          </a:solidFill>
          <a:ln w="12700">
            <a:solidFill>
              <a:srgbClr val="000000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1371600" y="6332220"/>
            <a:ext cx="6400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FOR INFORMATIONAL PURPOSES ONLY. NOT INVESTMENT ADVICE. PAST PERFORMANCE IS NOT INDICATIVE OF FUTURE RESULTS.</a:t>
            </a:r>
            <a:endParaRPr lang="en-US" sz="650" dirty="0"/>
          </a:p>
        </p:txBody>
      </p:sp>
      <p:sp>
        <p:nvSpPr>
          <p:cNvPr id="28" name="Text 26"/>
          <p:cNvSpPr/>
          <p:nvPr/>
        </p:nvSpPr>
        <p:spPr>
          <a:xfrm>
            <a:off x="8321040" y="6405372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16</a:t>
            </a:r>
            <a:endParaRPr lang="en-US" sz="90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7132320" y="164592"/>
            <a:ext cx="1737360" cy="292608"/>
          </a:xfrm>
          <a:prstGeom prst="roundRect">
            <a:avLst>
              <a:gd name="adj" fmla="val 15625"/>
            </a:avLst>
          </a:prstGeom>
          <a:solidFill>
            <a:srgbClr val="CC0000"/>
          </a:solidFill>
          <a:ln w="12700">
            <a:solidFill>
              <a:srgbClr val="CC0000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7132320" y="164592"/>
            <a:ext cx="17373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spc="100" kern="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RISKS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457200" y="182880"/>
            <a:ext cx="65836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400" b="1" dirty="0">
                <a:solidFill>
                  <a:srgbClr val="000000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AI backlash.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457200" y="914400"/>
            <a:ext cx="8229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NIMBY revolt, anti-AI sentiment, and a labor shortage are each capable of pricing the infrastructure bet lower.</a:t>
            </a:r>
            <a:endParaRPr lang="en-US" sz="1350" dirty="0"/>
          </a:p>
        </p:txBody>
      </p:sp>
      <p:sp>
        <p:nvSpPr>
          <p:cNvPr id="6" name="Shape 4"/>
          <p:cNvSpPr/>
          <p:nvPr/>
        </p:nvSpPr>
        <p:spPr>
          <a:xfrm>
            <a:off x="457200" y="1325880"/>
            <a:ext cx="8229600" cy="0"/>
          </a:xfrm>
          <a:prstGeom prst="line">
            <a:avLst/>
          </a:prstGeom>
          <a:noFill/>
          <a:ln w="9525">
            <a:solidFill>
              <a:srgbClr val="E5E5E5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457200" y="1691640"/>
            <a:ext cx="3200400" cy="3200400"/>
          </a:xfrm>
          <a:prstGeom prst="rect">
            <a:avLst/>
          </a:prstGeom>
          <a:solidFill>
            <a:srgbClr val="EEEEEE"/>
          </a:solidFill>
          <a:ln w="9525">
            <a:solidFill>
              <a:srgbClr val="BBBBBB"/>
            </a:solidFill>
            <a:prstDash val="dash"/>
          </a:ln>
        </p:spPr>
      </p:sp>
      <p:sp>
        <p:nvSpPr>
          <p:cNvPr id="8" name="Text 6"/>
          <p:cNvSpPr/>
          <p:nvPr/>
        </p:nvSpPr>
        <p:spPr>
          <a:xfrm>
            <a:off x="548640" y="1691640"/>
            <a:ext cx="3017520" cy="3200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i="1" dirty="0">
                <a:solidFill>
                  <a:srgbClr val="88888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IMAGE: Photojournalism — 'STOP THE AI RACE' hand-lettered protest signs at a dusk rally, shoulder-height crowd POV, warm golden-hour sky, faces in shadow, signs in sharp focus, square</a:t>
            </a:r>
            <a:endParaRPr lang="en-US" sz="1000" dirty="0"/>
          </a:p>
        </p:txBody>
      </p:sp>
      <p:sp>
        <p:nvSpPr>
          <p:cNvPr id="9" name="Text 7"/>
          <p:cNvSpPr/>
          <p:nvPr/>
        </p:nvSpPr>
        <p:spPr>
          <a:xfrm>
            <a:off x="3886200" y="1783080"/>
            <a:ext cx="48006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Three forces now price the AI infrastructure bet lower: communities blocking the builds, voters souring on the technology, and a shortage of the skilled workers who wire it all up.</a:t>
            </a:r>
            <a:endParaRPr lang="en-US" sz="1150" dirty="0"/>
          </a:p>
        </p:txBody>
      </p:sp>
      <p:sp>
        <p:nvSpPr>
          <p:cNvPr id="10" name="Shape 8"/>
          <p:cNvSpPr/>
          <p:nvPr/>
        </p:nvSpPr>
        <p:spPr>
          <a:xfrm>
            <a:off x="3886200" y="2514600"/>
            <a:ext cx="4800600" cy="868680"/>
          </a:xfrm>
          <a:prstGeom prst="rect">
            <a:avLst/>
          </a:prstGeom>
          <a:solidFill>
            <a:srgbClr val="F9F9F9"/>
          </a:solidFill>
          <a:ln w="6350">
            <a:solidFill>
              <a:srgbClr val="E5E5E5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3886200" y="2514600"/>
            <a:ext cx="4800600" cy="292608"/>
          </a:xfrm>
          <a:prstGeom prst="rect">
            <a:avLst/>
          </a:prstGeom>
          <a:solidFill>
            <a:srgbClr val="CC0000"/>
          </a:solidFill>
          <a:ln w="12700">
            <a:solidFill>
              <a:srgbClr val="CC0000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3886200" y="2514600"/>
            <a:ext cx="4800600" cy="292608"/>
          </a:xfrm>
          <a:prstGeom prst="rect">
            <a:avLst/>
          </a:prstGeom>
          <a:noFill/>
          <a:ln/>
        </p:spPr>
        <p:txBody>
          <a:bodyPr wrap="square" lIns="1905" tIns="1905" rIns="1905" bIns="1905" rtlCol="0" anchor="ctr"/>
          <a:lstStyle/>
          <a:p>
            <a:pPr algn="l" indent="0" marL="0">
              <a:buNone/>
            </a:pPr>
            <a:r>
              <a:rPr lang="en-US" sz="1000" b="1" spc="200" kern="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NIMBY REVOLT</a:t>
            </a:r>
            <a:endParaRPr lang="en-US" sz="1000" dirty="0"/>
          </a:p>
        </p:txBody>
      </p:sp>
      <p:sp>
        <p:nvSpPr>
          <p:cNvPr id="13" name="Text 11"/>
          <p:cNvSpPr/>
          <p:nvPr/>
        </p:nvSpPr>
        <p:spPr>
          <a:xfrm>
            <a:off x="4023360" y="2880360"/>
            <a:ext cx="4526280" cy="4297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$18B halted, $46B delayed. 142 activist groups across 24 states — Virginia leads with 42 chapters.</a:t>
            </a:r>
            <a:pPr indent="0" marL="0">
              <a:buNone/>
            </a:pPr>
            <a:r>
              <a:rPr lang="en-US" sz="700" baseline="300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1</a:t>
            </a:r>
            <a:endParaRPr lang="en-US" sz="1050" dirty="0"/>
          </a:p>
        </p:txBody>
      </p:sp>
      <p:sp>
        <p:nvSpPr>
          <p:cNvPr id="14" name="Shape 12"/>
          <p:cNvSpPr/>
          <p:nvPr/>
        </p:nvSpPr>
        <p:spPr>
          <a:xfrm>
            <a:off x="3886200" y="3456432"/>
            <a:ext cx="4800600" cy="868680"/>
          </a:xfrm>
          <a:prstGeom prst="rect">
            <a:avLst/>
          </a:prstGeom>
          <a:solidFill>
            <a:srgbClr val="F9F9F9"/>
          </a:solidFill>
          <a:ln w="6350">
            <a:solidFill>
              <a:srgbClr val="E5E5E5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3886200" y="3456432"/>
            <a:ext cx="4800600" cy="292608"/>
          </a:xfrm>
          <a:prstGeom prst="rect">
            <a:avLst/>
          </a:prstGeom>
          <a:solidFill>
            <a:srgbClr val="CC0000"/>
          </a:solidFill>
          <a:ln w="12700">
            <a:solidFill>
              <a:srgbClr val="CC0000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3886200" y="3456432"/>
            <a:ext cx="4800600" cy="292608"/>
          </a:xfrm>
          <a:prstGeom prst="rect">
            <a:avLst/>
          </a:prstGeom>
          <a:noFill/>
          <a:ln/>
        </p:spPr>
        <p:txBody>
          <a:bodyPr wrap="square" lIns="1905" tIns="1905" rIns="1905" bIns="1905" rtlCol="0" anchor="ctr"/>
          <a:lstStyle/>
          <a:p>
            <a:pPr algn="l" indent="0" marL="0">
              <a:buNone/>
            </a:pPr>
            <a:r>
              <a:rPr lang="en-US" sz="1000" b="1" spc="200" kern="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ANTI-AI SENTIMENT</a:t>
            </a:r>
            <a:endParaRPr lang="en-US" sz="1000" dirty="0"/>
          </a:p>
        </p:txBody>
      </p:sp>
      <p:sp>
        <p:nvSpPr>
          <p:cNvPr id="17" name="Text 15"/>
          <p:cNvSpPr/>
          <p:nvPr/>
        </p:nvSpPr>
        <p:spPr>
          <a:xfrm>
            <a:off x="4023360" y="3822192"/>
            <a:ext cx="4526280" cy="4297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Only 26%</a:t>
            </a:r>
            <a:pPr indent="0" marL="0">
              <a:buNone/>
            </a:pPr>
            <a:r>
              <a:rPr lang="en-US" sz="700" baseline="300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2</a:t>
            </a:r>
            <a:pPr indent="0" marL="0">
              <a:buNone/>
            </a:pPr>
            <a:r>
              <a:rPr lang="en-US" sz="105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of Americans view AI positively. March 2026 "Stop the AI Race" protests</a:t>
            </a:r>
            <a:pPr indent="0" marL="0">
              <a:buNone/>
            </a:pPr>
            <a:r>
              <a:rPr lang="en-US" sz="700" baseline="300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3</a:t>
            </a:r>
            <a:pPr indent="0" marL="0">
              <a:buNone/>
            </a:pPr>
            <a:r>
              <a:rPr lang="en-US" sz="105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hit lab HQs in SF and DC.</a:t>
            </a:r>
            <a:endParaRPr lang="en-US" sz="1050" dirty="0"/>
          </a:p>
        </p:txBody>
      </p:sp>
      <p:sp>
        <p:nvSpPr>
          <p:cNvPr id="18" name="Shape 16"/>
          <p:cNvSpPr/>
          <p:nvPr/>
        </p:nvSpPr>
        <p:spPr>
          <a:xfrm>
            <a:off x="3886200" y="4398264"/>
            <a:ext cx="4800600" cy="868680"/>
          </a:xfrm>
          <a:prstGeom prst="rect">
            <a:avLst/>
          </a:prstGeom>
          <a:solidFill>
            <a:srgbClr val="F9F9F9"/>
          </a:solidFill>
          <a:ln w="6350">
            <a:solidFill>
              <a:srgbClr val="E5E5E5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3886200" y="4398264"/>
            <a:ext cx="4800600" cy="292608"/>
          </a:xfrm>
          <a:prstGeom prst="rect">
            <a:avLst/>
          </a:prstGeom>
          <a:solidFill>
            <a:srgbClr val="CC0000"/>
          </a:solidFill>
          <a:ln w="12700">
            <a:solidFill>
              <a:srgbClr val="CC0000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3886200" y="4398264"/>
            <a:ext cx="4800600" cy="292608"/>
          </a:xfrm>
          <a:prstGeom prst="rect">
            <a:avLst/>
          </a:prstGeom>
          <a:noFill/>
          <a:ln/>
        </p:spPr>
        <p:txBody>
          <a:bodyPr wrap="square" lIns="1905" tIns="1905" rIns="1905" bIns="1905" rtlCol="0" anchor="ctr"/>
          <a:lstStyle/>
          <a:p>
            <a:pPr algn="l" indent="0" marL="0">
              <a:buNone/>
            </a:pPr>
            <a:r>
              <a:rPr lang="en-US" sz="1000" b="1" spc="200" kern="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LABOR SHORTAGE</a:t>
            </a:r>
            <a:endParaRPr lang="en-US" sz="1000" dirty="0"/>
          </a:p>
        </p:txBody>
      </p:sp>
      <p:sp>
        <p:nvSpPr>
          <p:cNvPr id="21" name="Text 19"/>
          <p:cNvSpPr/>
          <p:nvPr/>
        </p:nvSpPr>
        <p:spPr>
          <a:xfrm>
            <a:off x="4023360" y="4764024"/>
            <a:ext cx="4526280" cy="4297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 ~480K data-center workforce gap against 400+ sites under construction.</a:t>
            </a:r>
            <a:pPr indent="0" marL="0">
              <a:buNone/>
            </a:pPr>
            <a:r>
              <a:rPr lang="en-US" sz="700" baseline="300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4</a:t>
            </a:r>
            <a:pPr indent="0" marL="0">
              <a:buNone/>
            </a:pPr>
            <a:r>
              <a:rPr lang="en-US" sz="105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Talent, not capital, is binding.</a:t>
            </a:r>
            <a:endParaRPr lang="en-US" sz="1050" dirty="0"/>
          </a:p>
        </p:txBody>
      </p:sp>
      <p:sp>
        <p:nvSpPr>
          <p:cNvPr id="22" name="Shape 20"/>
          <p:cNvSpPr/>
          <p:nvPr/>
        </p:nvSpPr>
        <p:spPr>
          <a:xfrm>
            <a:off x="457200" y="5394960"/>
            <a:ext cx="8229600" cy="365760"/>
          </a:xfrm>
          <a:prstGeom prst="rect">
            <a:avLst/>
          </a:prstGeom>
          <a:solidFill>
            <a:srgbClr val="CC0000"/>
          </a:solidFill>
          <a:ln w="12700">
            <a:solidFill>
              <a:srgbClr val="CC000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640080" y="5394960"/>
            <a:ext cx="78638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permitting layer is the new supply-chain layer — and it is politically, not technically, constrained.</a:t>
            </a:r>
            <a:endParaRPr lang="en-US" sz="1100" dirty="0"/>
          </a:p>
        </p:txBody>
      </p:sp>
      <p:sp>
        <p:nvSpPr>
          <p:cNvPr id="24" name="Text 22"/>
          <p:cNvSpPr/>
          <p:nvPr/>
        </p:nvSpPr>
        <p:spPr>
          <a:xfrm>
            <a:off x="457200" y="5875020"/>
            <a:ext cx="8229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b="1" dirty="0">
                <a:solidFill>
                  <a:srgbClr val="99999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(1) </a:t>
            </a:r>
            <a:pPr indent="0" marL="0">
              <a:buNone/>
            </a:pPr>
            <a:r>
              <a:rPr lang="en-US" sz="700" dirty="0">
                <a:solidFill>
                  <a:srgbClr val="99999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Data Center Watch, 2026 NIMBY tracker, </a:t>
            </a:r>
            <a:pPr indent="0" marL="0">
              <a:buNone/>
            </a:pPr>
            <a:r>
              <a:rPr lang="en-US" sz="700" b="1" dirty="0">
                <a:solidFill>
                  <a:srgbClr val="99999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(2) </a:t>
            </a:r>
            <a:pPr indent="0" marL="0">
              <a:buNone/>
            </a:pPr>
            <a:r>
              <a:rPr lang="en-US" sz="700" dirty="0">
                <a:solidFill>
                  <a:srgbClr val="99999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Echelon Insights, Mar 2026 AI sentiment poll, </a:t>
            </a:r>
            <a:pPr indent="0" marL="0">
              <a:buNone/>
            </a:pPr>
            <a:r>
              <a:rPr lang="en-US" sz="700" b="1" dirty="0">
                <a:solidFill>
                  <a:srgbClr val="99999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(3) </a:t>
            </a:r>
            <a:pPr indent="0" marL="0">
              <a:buNone/>
            </a:pPr>
            <a:r>
              <a:rPr lang="en-US" sz="700" dirty="0">
                <a:solidFill>
                  <a:srgbClr val="99999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Fortune / TIME / CNN / NBC News — Stop the AI Race coverage, </a:t>
            </a:r>
            <a:pPr indent="0" marL="0">
              <a:buNone/>
            </a:pPr>
            <a:r>
              <a:rPr lang="en-US" sz="700" b="1" dirty="0">
                <a:solidFill>
                  <a:srgbClr val="99999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(4) </a:t>
            </a:r>
            <a:pPr indent="0" marL="0">
              <a:buNone/>
            </a:pPr>
            <a:r>
              <a:rPr lang="en-US" sz="700" dirty="0">
                <a:solidFill>
                  <a:srgbClr val="99999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Data Center Frontier — workforce gap analysis.</a:t>
            </a:r>
            <a:endParaRPr lang="en-US" sz="700" dirty="0"/>
          </a:p>
        </p:txBody>
      </p:sp>
      <p:sp>
        <p:nvSpPr>
          <p:cNvPr id="25" name="Shape 23"/>
          <p:cNvSpPr/>
          <p:nvPr/>
        </p:nvSpPr>
        <p:spPr>
          <a:xfrm>
            <a:off x="0" y="6286500"/>
            <a:ext cx="9144000" cy="571500"/>
          </a:xfrm>
          <a:prstGeom prst="rect">
            <a:avLst/>
          </a:prstGeom>
          <a:solidFill>
            <a:srgbClr val="000000"/>
          </a:solidFill>
          <a:ln w="12700">
            <a:solidFill>
              <a:srgbClr val="000000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1371600" y="6332220"/>
            <a:ext cx="6400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FOR INFORMATIONAL PURPOSES ONLY. NOT INVESTMENT ADVICE. PAST PERFORMANCE IS NOT INDICATIVE OF FUTURE RESULTS.</a:t>
            </a:r>
            <a:endParaRPr lang="en-US" sz="650" dirty="0"/>
          </a:p>
        </p:txBody>
      </p:sp>
      <p:sp>
        <p:nvSpPr>
          <p:cNvPr id="27" name="Text 25"/>
          <p:cNvSpPr/>
          <p:nvPr/>
        </p:nvSpPr>
        <p:spPr>
          <a:xfrm>
            <a:off x="8321040" y="6405372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17</a:t>
            </a:r>
            <a:endParaRPr lang="en-US" sz="90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7132320" y="164592"/>
            <a:ext cx="1737360" cy="292608"/>
          </a:xfrm>
          <a:prstGeom prst="roundRect">
            <a:avLst>
              <a:gd name="adj" fmla="val 15625"/>
            </a:avLst>
          </a:prstGeom>
          <a:solidFill>
            <a:srgbClr val="6B46C1"/>
          </a:solidFill>
          <a:ln w="12700">
            <a:solidFill>
              <a:srgbClr val="6B46C1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7132320" y="164592"/>
            <a:ext cx="17373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spc="100" kern="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FRONTIER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457200" y="182880"/>
            <a:ext cx="65836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400" b="1" dirty="0">
                <a:solidFill>
                  <a:srgbClr val="000000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Beyond the grid.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457200" y="914400"/>
            <a:ext cx="8229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No interconnection queue. No permits. No water. 1,361 W/m²</a:t>
            </a:r>
            <a:pPr indent="0" marL="0">
              <a:buNone/>
            </a:pPr>
            <a:r>
              <a:rPr lang="en-US" sz="700" baseline="3000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1</a:t>
            </a:r>
            <a:pPr indent="0" marL="0">
              <a:buNone/>
            </a:pPr>
            <a:r>
              <a:rPr lang="en-US" sz="135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of unfiltered solar, 24/7. Orbital compute sidesteps Earth's bottlenecks.</a:t>
            </a:r>
            <a:endParaRPr lang="en-US" sz="1350" dirty="0"/>
          </a:p>
        </p:txBody>
      </p:sp>
      <p:sp>
        <p:nvSpPr>
          <p:cNvPr id="6" name="Shape 4"/>
          <p:cNvSpPr/>
          <p:nvPr/>
        </p:nvSpPr>
        <p:spPr>
          <a:xfrm>
            <a:off x="457200" y="1325880"/>
            <a:ext cx="8229600" cy="0"/>
          </a:xfrm>
          <a:prstGeom prst="line">
            <a:avLst/>
          </a:prstGeom>
          <a:noFill/>
          <a:ln w="9525">
            <a:solidFill>
              <a:srgbClr val="E5E5E5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5349240" y="1463040"/>
            <a:ext cx="3337560" cy="3474720"/>
          </a:xfrm>
          <a:prstGeom prst="rect">
            <a:avLst/>
          </a:prstGeom>
          <a:solidFill>
            <a:srgbClr val="EEEEEE"/>
          </a:solidFill>
          <a:ln w="9525">
            <a:solidFill>
              <a:srgbClr val="BBBBBB"/>
            </a:solidFill>
            <a:prstDash val="dash"/>
          </a:ln>
        </p:spPr>
      </p:sp>
      <p:sp>
        <p:nvSpPr>
          <p:cNvPr id="8" name="Text 6"/>
          <p:cNvSpPr/>
          <p:nvPr/>
        </p:nvSpPr>
        <p:spPr>
          <a:xfrm>
            <a:off x="5440680" y="1463040"/>
            <a:ext cx="3154680" cy="3474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i="1" dirty="0">
                <a:solidFill>
                  <a:srgbClr val="88888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IMAGE: Render — modular orbital data-center satellite with 50-meter solar wings catching a violet tint, above Earth's dawn limb with atmospheric glow, deep indigo space, hyperrealistic Octane quality, slightly portrait</a:t>
            </a:r>
            <a:endParaRPr lang="en-US" sz="1000" dirty="0"/>
          </a:p>
        </p:txBody>
      </p:sp>
      <p:sp>
        <p:nvSpPr>
          <p:cNvPr id="9" name="Shape 7"/>
          <p:cNvSpPr/>
          <p:nvPr/>
        </p:nvSpPr>
        <p:spPr>
          <a:xfrm>
            <a:off x="457200" y="1463040"/>
            <a:ext cx="4709160" cy="320040"/>
          </a:xfrm>
          <a:prstGeom prst="rect">
            <a:avLst/>
          </a:prstGeom>
          <a:solidFill>
            <a:srgbClr val="333333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457200" y="1463040"/>
            <a:ext cx="4709160" cy="320040"/>
          </a:xfrm>
          <a:prstGeom prst="rect">
            <a:avLst/>
          </a:prstGeom>
          <a:noFill/>
          <a:ln/>
        </p:spPr>
        <p:txBody>
          <a:bodyPr wrap="square" lIns="3810" tIns="3810" rIns="3810" bIns="3810" rtlCol="0" anchor="ctr"/>
          <a:lstStyle/>
          <a:p>
            <a:pPr algn="l" indent="0" marL="0">
              <a:buNone/>
            </a:pPr>
            <a:r>
              <a:rPr lang="en-US" sz="1100" b="1" spc="300" kern="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NO GRID QUEUE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457200" y="1783080"/>
            <a:ext cx="4709160" cy="731520"/>
          </a:xfrm>
          <a:prstGeom prst="rect">
            <a:avLst/>
          </a:prstGeom>
          <a:solidFill>
            <a:srgbClr val="F9F9F9"/>
          </a:solidFill>
          <a:ln w="6350">
            <a:solidFill>
              <a:srgbClr val="E5E5E5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685800" y="1828800"/>
            <a:ext cx="43434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Earth's interconnection backlogs, zoning battles, and cooling constraints don't exist in orbit.</a:t>
            </a:r>
            <a:endParaRPr lang="en-US" sz="1000" dirty="0"/>
          </a:p>
        </p:txBody>
      </p:sp>
      <p:sp>
        <p:nvSpPr>
          <p:cNvPr id="13" name="Shape 11"/>
          <p:cNvSpPr/>
          <p:nvPr/>
        </p:nvSpPr>
        <p:spPr>
          <a:xfrm>
            <a:off x="457200" y="2651760"/>
            <a:ext cx="4709160" cy="320040"/>
          </a:xfrm>
          <a:prstGeom prst="rect">
            <a:avLst/>
          </a:prstGeom>
          <a:solidFill>
            <a:srgbClr val="333333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457200" y="2651760"/>
            <a:ext cx="4709160" cy="320040"/>
          </a:xfrm>
          <a:prstGeom prst="rect">
            <a:avLst/>
          </a:prstGeom>
          <a:noFill/>
          <a:ln/>
        </p:spPr>
        <p:txBody>
          <a:bodyPr wrap="square" lIns="3810" tIns="3810" rIns="3810" bIns="3810" rtlCol="0" anchor="ctr"/>
          <a:lstStyle/>
          <a:p>
            <a:pPr algn="l" indent="0" marL="0">
              <a:buNone/>
            </a:pPr>
            <a:r>
              <a:rPr lang="en-US" sz="1100" b="1" spc="300" kern="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UNLIMITED SOLAR</a:t>
            </a:r>
            <a:endParaRPr lang="en-US" sz="1100" dirty="0"/>
          </a:p>
        </p:txBody>
      </p:sp>
      <p:sp>
        <p:nvSpPr>
          <p:cNvPr id="15" name="Shape 13"/>
          <p:cNvSpPr/>
          <p:nvPr/>
        </p:nvSpPr>
        <p:spPr>
          <a:xfrm>
            <a:off x="457200" y="2971800"/>
            <a:ext cx="4709160" cy="731520"/>
          </a:xfrm>
          <a:prstGeom prst="rect">
            <a:avLst/>
          </a:prstGeom>
          <a:solidFill>
            <a:srgbClr val="F9F9F9"/>
          </a:solidFill>
          <a:ln w="6350">
            <a:solidFill>
              <a:srgbClr val="E5E5E5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685800" y="3017520"/>
            <a:ext cx="43434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1,361 W/m² of unfiltered sunlight, 24/7 — no intermittency, no capacity-factor limits.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457200" y="3840480"/>
            <a:ext cx="4709160" cy="320040"/>
          </a:xfrm>
          <a:prstGeom prst="rect">
            <a:avLst/>
          </a:prstGeom>
          <a:solidFill>
            <a:srgbClr val="333333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457200" y="3840480"/>
            <a:ext cx="4709160" cy="320040"/>
          </a:xfrm>
          <a:prstGeom prst="rect">
            <a:avLst/>
          </a:prstGeom>
          <a:noFill/>
          <a:ln/>
        </p:spPr>
        <p:txBody>
          <a:bodyPr wrap="square" lIns="3810" tIns="3810" rIns="3810" bIns="3810" rtlCol="0" anchor="ctr"/>
          <a:lstStyle/>
          <a:p>
            <a:pPr algn="l" indent="0" marL="0">
              <a:buNone/>
            </a:pPr>
            <a:r>
              <a:rPr lang="en-US" sz="1100" b="1" spc="300" kern="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BEYOND BORDERS</a:t>
            </a:r>
            <a:endParaRPr lang="en-US" sz="1100" dirty="0"/>
          </a:p>
        </p:txBody>
      </p:sp>
      <p:sp>
        <p:nvSpPr>
          <p:cNvPr id="19" name="Shape 17"/>
          <p:cNvSpPr/>
          <p:nvPr/>
        </p:nvSpPr>
        <p:spPr>
          <a:xfrm>
            <a:off x="457200" y="4160520"/>
            <a:ext cx="4709160" cy="731520"/>
          </a:xfrm>
          <a:prstGeom prst="rect">
            <a:avLst/>
          </a:prstGeom>
          <a:solidFill>
            <a:srgbClr val="F9F9F9"/>
          </a:solidFill>
          <a:ln w="6350">
            <a:solidFill>
              <a:srgbClr val="E5E5E5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685800" y="4206240"/>
            <a:ext cx="43434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Sidesteps data-localization laws, export controls, and the jurisdictional patchwork.</a:t>
            </a:r>
            <a:endParaRPr lang="en-US" sz="1000" dirty="0"/>
          </a:p>
        </p:txBody>
      </p:sp>
      <p:sp>
        <p:nvSpPr>
          <p:cNvPr id="21" name="Shape 19"/>
          <p:cNvSpPr/>
          <p:nvPr/>
        </p:nvSpPr>
        <p:spPr>
          <a:xfrm>
            <a:off x="457200" y="5349240"/>
            <a:ext cx="8229600" cy="365760"/>
          </a:xfrm>
          <a:prstGeom prst="rect">
            <a:avLst/>
          </a:prstGeom>
          <a:solidFill>
            <a:srgbClr val="333333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640080" y="5349240"/>
            <a:ext cx="78638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300" kern="0" dirty="0">
                <a:solidFill>
                  <a:srgbClr val="FFB8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PLAYERS   </a:t>
            </a:r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Starcloud · SpaceX · Google Suncatcher · Aetherflux</a:t>
            </a:r>
            <a:pPr indent="0" marL="0">
              <a:buNone/>
            </a:pPr>
            <a:r>
              <a:rPr lang="en-US" sz="800" baseline="300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2</a:t>
            </a:r>
            <a:endParaRPr lang="en-US" sz="950" dirty="0"/>
          </a:p>
        </p:txBody>
      </p:sp>
      <p:sp>
        <p:nvSpPr>
          <p:cNvPr id="23" name="Text 21"/>
          <p:cNvSpPr/>
          <p:nvPr/>
        </p:nvSpPr>
        <p:spPr>
          <a:xfrm>
            <a:off x="457200" y="5875020"/>
            <a:ext cx="8229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b="1" dirty="0">
                <a:solidFill>
                  <a:srgbClr val="99999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(1) </a:t>
            </a:r>
            <a:pPr indent="0" marL="0">
              <a:buNone/>
            </a:pPr>
            <a:r>
              <a:rPr lang="en-US" sz="700" dirty="0">
                <a:solidFill>
                  <a:srgbClr val="99999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NASA solar constant, 1,361 W/m² at 1 AU, </a:t>
            </a:r>
            <a:pPr indent="0" marL="0">
              <a:buNone/>
            </a:pPr>
            <a:r>
              <a:rPr lang="en-US" sz="700" b="1" dirty="0">
                <a:solidFill>
                  <a:srgbClr val="99999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(2) </a:t>
            </a:r>
            <a:pPr indent="0" marL="0">
              <a:buNone/>
            </a:pPr>
            <a:r>
              <a:rPr lang="en-US" sz="700" dirty="0">
                <a:solidFill>
                  <a:srgbClr val="99999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FCC filings; Starcloud, SpaceX, Google Suncatcher, Aetherflux announcements; CNBC.</a:t>
            </a:r>
            <a:endParaRPr lang="en-US" sz="700" dirty="0"/>
          </a:p>
        </p:txBody>
      </p:sp>
      <p:sp>
        <p:nvSpPr>
          <p:cNvPr id="24" name="Shape 22"/>
          <p:cNvSpPr/>
          <p:nvPr/>
        </p:nvSpPr>
        <p:spPr>
          <a:xfrm>
            <a:off x="0" y="6286500"/>
            <a:ext cx="9144000" cy="571500"/>
          </a:xfrm>
          <a:prstGeom prst="rect">
            <a:avLst/>
          </a:prstGeom>
          <a:solidFill>
            <a:srgbClr val="000000"/>
          </a:solidFill>
          <a:ln w="12700">
            <a:solidFill>
              <a:srgbClr val="000000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1371600" y="6332220"/>
            <a:ext cx="6400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FOR INFORMATIONAL PURPOSES ONLY. NOT INVESTMENT ADVICE. PAST PERFORMANCE IS NOT INDICATIVE OF FUTURE RESULTS.</a:t>
            </a:r>
            <a:endParaRPr lang="en-US" sz="650" dirty="0"/>
          </a:p>
        </p:txBody>
      </p:sp>
      <p:sp>
        <p:nvSpPr>
          <p:cNvPr id="26" name="Text 24"/>
          <p:cNvSpPr/>
          <p:nvPr/>
        </p:nvSpPr>
        <p:spPr>
          <a:xfrm>
            <a:off x="8321040" y="6405372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18</a:t>
            </a:r>
            <a:endParaRPr lang="en-US" sz="90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7132320" y="164592"/>
            <a:ext cx="1737360" cy="292608"/>
          </a:xfrm>
          <a:prstGeom prst="roundRect">
            <a:avLst>
              <a:gd name="adj" fmla="val 15625"/>
            </a:avLst>
          </a:prstGeom>
          <a:solidFill>
            <a:srgbClr val="6B46C1"/>
          </a:solidFill>
          <a:ln w="12700">
            <a:solidFill>
              <a:srgbClr val="6B46C1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7132320" y="164592"/>
            <a:ext cx="17373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spc="100" kern="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FRONTIER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457200" y="182880"/>
            <a:ext cx="65836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400" b="1" dirty="0">
                <a:solidFill>
                  <a:srgbClr val="000000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Physical AI.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457200" y="914400"/>
            <a:ext cx="8229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Humanoids enter manufacturing, logistics, and healthcare at pilot scale. Every robot is a walking inference endpoint.</a:t>
            </a:r>
            <a:endParaRPr lang="en-US" sz="1350" dirty="0"/>
          </a:p>
        </p:txBody>
      </p:sp>
      <p:sp>
        <p:nvSpPr>
          <p:cNvPr id="6" name="Shape 4"/>
          <p:cNvSpPr/>
          <p:nvPr/>
        </p:nvSpPr>
        <p:spPr>
          <a:xfrm>
            <a:off x="457200" y="1325880"/>
            <a:ext cx="8229600" cy="0"/>
          </a:xfrm>
          <a:prstGeom prst="line">
            <a:avLst/>
          </a:prstGeom>
          <a:noFill/>
          <a:ln w="9525">
            <a:solidFill>
              <a:srgbClr val="E5E5E5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1371600" y="1463040"/>
            <a:ext cx="6400800" cy="2011680"/>
          </a:xfrm>
          <a:prstGeom prst="rect">
            <a:avLst/>
          </a:prstGeom>
          <a:solidFill>
            <a:srgbClr val="EEEEEE"/>
          </a:solidFill>
          <a:ln w="9525">
            <a:solidFill>
              <a:srgbClr val="BBBBBB"/>
            </a:solidFill>
            <a:prstDash val="dash"/>
          </a:ln>
        </p:spPr>
      </p:sp>
      <p:sp>
        <p:nvSpPr>
          <p:cNvPr id="8" name="Text 6"/>
          <p:cNvSpPr/>
          <p:nvPr/>
        </p:nvSpPr>
        <p:spPr>
          <a:xfrm>
            <a:off x="1463040" y="1463040"/>
            <a:ext cx="621792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i="1" dirty="0">
                <a:solidFill>
                  <a:srgbClr val="88888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IMAGE: Panoramic photo — humanoid robot mid-stride on a factory floor, matte-white body with violet joint accents, motion blur on limbs, amber work-lights, a blurred human worker in a safety vest in the background</a:t>
            </a:r>
            <a:endParaRPr lang="en-US" sz="1000" dirty="0"/>
          </a:p>
        </p:txBody>
      </p:sp>
      <p:sp>
        <p:nvSpPr>
          <p:cNvPr id="9" name="Shape 7"/>
          <p:cNvSpPr/>
          <p:nvPr/>
        </p:nvSpPr>
        <p:spPr>
          <a:xfrm>
            <a:off x="457200" y="3657600"/>
            <a:ext cx="2697480" cy="320040"/>
          </a:xfrm>
          <a:prstGeom prst="rect">
            <a:avLst/>
          </a:prstGeom>
          <a:solidFill>
            <a:srgbClr val="333333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457200" y="3657600"/>
            <a:ext cx="26974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spc="200" kern="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PHYSICAL WORK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457200" y="3977640"/>
            <a:ext cx="2697480" cy="1188720"/>
          </a:xfrm>
          <a:prstGeom prst="rect">
            <a:avLst/>
          </a:prstGeom>
          <a:solidFill>
            <a:srgbClr val="F9F9F9"/>
          </a:solidFill>
          <a:ln w="6350">
            <a:solidFill>
              <a:srgbClr val="E5E5E5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594360" y="4069080"/>
            <a:ext cx="242316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Manufacturing, logistics, warehousing, agriculture, healthcare — pilots are underway.</a:t>
            </a:r>
            <a:pPr indent="0" marL="0">
              <a:buNone/>
            </a:pPr>
            <a:r>
              <a:rPr lang="en-US" sz="650" baseline="300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1</a:t>
            </a:r>
            <a:endParaRPr lang="en-US" sz="1000" dirty="0"/>
          </a:p>
        </p:txBody>
      </p:sp>
      <p:sp>
        <p:nvSpPr>
          <p:cNvPr id="13" name="Shape 11"/>
          <p:cNvSpPr/>
          <p:nvPr/>
        </p:nvSpPr>
        <p:spPr>
          <a:xfrm>
            <a:off x="3291840" y="3657600"/>
            <a:ext cx="2697480" cy="320040"/>
          </a:xfrm>
          <a:prstGeom prst="rect">
            <a:avLst/>
          </a:prstGeom>
          <a:solidFill>
            <a:srgbClr val="333333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3291840" y="3657600"/>
            <a:ext cx="26974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spc="200" kern="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TIRELESS COWORKERS</a:t>
            </a:r>
            <a:endParaRPr lang="en-US" sz="1100" dirty="0"/>
          </a:p>
        </p:txBody>
      </p:sp>
      <p:sp>
        <p:nvSpPr>
          <p:cNvPr id="15" name="Shape 13"/>
          <p:cNvSpPr/>
          <p:nvPr/>
        </p:nvSpPr>
        <p:spPr>
          <a:xfrm>
            <a:off x="3291840" y="3977640"/>
            <a:ext cx="2697480" cy="1188720"/>
          </a:xfrm>
          <a:prstGeom prst="rect">
            <a:avLst/>
          </a:prstGeom>
          <a:solidFill>
            <a:srgbClr val="F9F9F9"/>
          </a:solidFill>
          <a:ln w="6350">
            <a:solidFill>
              <a:srgbClr val="E5E5E5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3429000" y="4069080"/>
            <a:ext cx="242316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Humanoids take hazardous and ergonomically punishing tasks. Humans keep judgment.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6126480" y="3657600"/>
            <a:ext cx="2697480" cy="320040"/>
          </a:xfrm>
          <a:prstGeom prst="rect">
            <a:avLst/>
          </a:prstGeom>
          <a:solidFill>
            <a:srgbClr val="333333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6126480" y="3657600"/>
            <a:ext cx="26974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spc="200" kern="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INFERENCE AT THE EDGE</a:t>
            </a:r>
            <a:endParaRPr lang="en-US" sz="1100" dirty="0"/>
          </a:p>
        </p:txBody>
      </p:sp>
      <p:sp>
        <p:nvSpPr>
          <p:cNvPr id="19" name="Shape 17"/>
          <p:cNvSpPr/>
          <p:nvPr/>
        </p:nvSpPr>
        <p:spPr>
          <a:xfrm>
            <a:off x="6126480" y="3977640"/>
            <a:ext cx="2697480" cy="1188720"/>
          </a:xfrm>
          <a:prstGeom prst="rect">
            <a:avLst/>
          </a:prstGeom>
          <a:solidFill>
            <a:srgbClr val="F9F9F9"/>
          </a:solidFill>
          <a:ln w="6350">
            <a:solidFill>
              <a:srgbClr val="E5E5E5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6263640" y="4069080"/>
            <a:ext cx="242316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Every robot runs foundation models in real time. At scale, rivals LLM compute.</a:t>
            </a:r>
            <a:pPr indent="0" marL="0">
              <a:buNone/>
            </a:pPr>
            <a:r>
              <a:rPr lang="en-US" sz="650" baseline="300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2</a:t>
            </a:r>
            <a:endParaRPr lang="en-US" sz="1000" dirty="0"/>
          </a:p>
        </p:txBody>
      </p:sp>
      <p:sp>
        <p:nvSpPr>
          <p:cNvPr id="21" name="Shape 19"/>
          <p:cNvSpPr/>
          <p:nvPr/>
        </p:nvSpPr>
        <p:spPr>
          <a:xfrm>
            <a:off x="457200" y="5349240"/>
            <a:ext cx="8229600" cy="365760"/>
          </a:xfrm>
          <a:prstGeom prst="rect">
            <a:avLst/>
          </a:prstGeom>
          <a:solidFill>
            <a:srgbClr val="333333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640080" y="5349240"/>
            <a:ext cx="78638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300" kern="0" dirty="0">
                <a:solidFill>
                  <a:srgbClr val="FFB8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PLAYERS   </a:t>
            </a:r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Tesla Optimus · Figure · Boston Dynamics · Unitree · Agility</a:t>
            </a:r>
            <a:pPr indent="0" marL="0">
              <a:buNone/>
            </a:pPr>
            <a:r>
              <a:rPr lang="en-US" sz="800" baseline="300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3</a:t>
            </a:r>
            <a:endParaRPr lang="en-US" sz="950" dirty="0"/>
          </a:p>
        </p:txBody>
      </p:sp>
      <p:sp>
        <p:nvSpPr>
          <p:cNvPr id="23" name="Text 21"/>
          <p:cNvSpPr/>
          <p:nvPr/>
        </p:nvSpPr>
        <p:spPr>
          <a:xfrm>
            <a:off x="457200" y="5875020"/>
            <a:ext cx="8229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b="1" dirty="0">
                <a:solidFill>
                  <a:srgbClr val="99999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(1) </a:t>
            </a:r>
            <a:pPr indent="0" marL="0">
              <a:buNone/>
            </a:pPr>
            <a:r>
              <a:rPr lang="en-US" sz="700" dirty="0">
                <a:solidFill>
                  <a:srgbClr val="99999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Goldman Sachs — humanoid robotics market outlook, </a:t>
            </a:r>
            <a:pPr indent="0" marL="0">
              <a:buNone/>
            </a:pPr>
            <a:r>
              <a:rPr lang="en-US" sz="700" b="1" dirty="0">
                <a:solidFill>
                  <a:srgbClr val="99999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(2) </a:t>
            </a:r>
            <a:pPr indent="0" marL="0">
              <a:buNone/>
            </a:pPr>
            <a:r>
              <a:rPr lang="en-US" sz="700" dirty="0">
                <a:solidFill>
                  <a:srgbClr val="99999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NVIDIA FY2026 — robotics compute keynotes, </a:t>
            </a:r>
            <a:pPr indent="0" marL="0">
              <a:buNone/>
            </a:pPr>
            <a:r>
              <a:rPr lang="en-US" sz="700" b="1" dirty="0">
                <a:solidFill>
                  <a:srgbClr val="99999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(3) </a:t>
            </a:r>
            <a:pPr indent="0" marL="0">
              <a:buNone/>
            </a:pPr>
            <a:r>
              <a:rPr lang="en-US" sz="700" dirty="0">
                <a:solidFill>
                  <a:srgbClr val="99999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Tesla, Figure AI, Hyundai/Boston Dynamics, Unitree, Agility — company announcements.</a:t>
            </a:r>
            <a:endParaRPr lang="en-US" sz="700" dirty="0"/>
          </a:p>
        </p:txBody>
      </p:sp>
      <p:sp>
        <p:nvSpPr>
          <p:cNvPr id="24" name="Shape 22"/>
          <p:cNvSpPr/>
          <p:nvPr/>
        </p:nvSpPr>
        <p:spPr>
          <a:xfrm>
            <a:off x="0" y="6286500"/>
            <a:ext cx="9144000" cy="571500"/>
          </a:xfrm>
          <a:prstGeom prst="rect">
            <a:avLst/>
          </a:prstGeom>
          <a:solidFill>
            <a:srgbClr val="000000"/>
          </a:solidFill>
          <a:ln w="12700">
            <a:solidFill>
              <a:srgbClr val="000000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1371600" y="6332220"/>
            <a:ext cx="6400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FOR INFORMATIONAL PURPOSES ONLY. NOT INVESTMENT ADVICE. PAST PERFORMANCE IS NOT INDICATIVE OF FUTURE RESULTS.</a:t>
            </a:r>
            <a:endParaRPr lang="en-US" sz="650" dirty="0"/>
          </a:p>
        </p:txBody>
      </p:sp>
      <p:sp>
        <p:nvSpPr>
          <p:cNvPr id="26" name="Text 24"/>
          <p:cNvSpPr/>
          <p:nvPr/>
        </p:nvSpPr>
        <p:spPr>
          <a:xfrm>
            <a:off x="8321040" y="6405372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19</a:t>
            </a:r>
            <a:endParaRPr lang="en-US" sz="900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7132320" y="164592"/>
            <a:ext cx="1737360" cy="292608"/>
          </a:xfrm>
          <a:prstGeom prst="roundRect">
            <a:avLst>
              <a:gd name="adj" fmla="val 15625"/>
            </a:avLst>
          </a:prstGeom>
          <a:solidFill>
            <a:srgbClr val="6B46C1"/>
          </a:solidFill>
          <a:ln w="12700">
            <a:solidFill>
              <a:srgbClr val="6B46C1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7132320" y="164592"/>
            <a:ext cx="17373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spc="100" kern="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FRONTIER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457200" y="182880"/>
            <a:ext cx="65836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400" b="1" dirty="0">
                <a:solidFill>
                  <a:srgbClr val="000000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Autonomous mobility.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457200" y="914400"/>
            <a:ext cx="8229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More miles → better models → more deployments. Every vehicle is a rolling inference machine consuming frontier-scale compute.</a:t>
            </a:r>
            <a:endParaRPr lang="en-US" sz="1350" dirty="0"/>
          </a:p>
        </p:txBody>
      </p:sp>
      <p:sp>
        <p:nvSpPr>
          <p:cNvPr id="6" name="Shape 4"/>
          <p:cNvSpPr/>
          <p:nvPr/>
        </p:nvSpPr>
        <p:spPr>
          <a:xfrm>
            <a:off x="457200" y="1325880"/>
            <a:ext cx="8229600" cy="0"/>
          </a:xfrm>
          <a:prstGeom prst="line">
            <a:avLst/>
          </a:prstGeom>
          <a:noFill/>
          <a:ln w="9525">
            <a:solidFill>
              <a:srgbClr val="E5E5E5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457200" y="1463040"/>
            <a:ext cx="2560320" cy="3794760"/>
          </a:xfrm>
          <a:prstGeom prst="rect">
            <a:avLst/>
          </a:prstGeom>
          <a:solidFill>
            <a:srgbClr val="EEEEEE"/>
          </a:solidFill>
          <a:ln w="9525">
            <a:solidFill>
              <a:srgbClr val="BBBBBB"/>
            </a:solidFill>
            <a:prstDash val="dash"/>
          </a:ln>
        </p:spPr>
      </p:sp>
      <p:sp>
        <p:nvSpPr>
          <p:cNvPr id="8" name="Text 6"/>
          <p:cNvSpPr/>
          <p:nvPr/>
        </p:nvSpPr>
        <p:spPr>
          <a:xfrm>
            <a:off x="548640" y="1463040"/>
            <a:ext cx="2377440" cy="3794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i="1" dirty="0">
                <a:solidFill>
                  <a:srgbClr val="88888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IMAGE: Long-exposure photo — white minivan robotaxi with a violet-glowing roof lidar on a rainy dusk city street, red and white traffic light trails, wet asphalt reflecting neon storefronts, tall portrait</a:t>
            </a:r>
            <a:endParaRPr lang="en-US" sz="1000" dirty="0"/>
          </a:p>
        </p:txBody>
      </p:sp>
      <p:sp>
        <p:nvSpPr>
          <p:cNvPr id="9" name="Shape 7"/>
          <p:cNvSpPr/>
          <p:nvPr/>
        </p:nvSpPr>
        <p:spPr>
          <a:xfrm>
            <a:off x="3200400" y="1463040"/>
            <a:ext cx="5486400" cy="320040"/>
          </a:xfrm>
          <a:prstGeom prst="rect">
            <a:avLst/>
          </a:prstGeom>
          <a:solidFill>
            <a:srgbClr val="333333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3200400" y="1463040"/>
            <a:ext cx="5486400" cy="320040"/>
          </a:xfrm>
          <a:prstGeom prst="rect">
            <a:avLst/>
          </a:prstGeom>
          <a:noFill/>
          <a:ln/>
        </p:spPr>
        <p:txBody>
          <a:bodyPr wrap="square" lIns="1905" tIns="1905" rIns="1905" bIns="1905" rtlCol="0" anchor="ctr"/>
          <a:lstStyle/>
          <a:p>
            <a:pPr algn="l" indent="0" marL="0">
              <a:buNone/>
            </a:pPr>
            <a:r>
              <a:rPr lang="en-US" sz="1100" b="1" spc="200" kern="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SAFETY CASE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3200400" y="1783080"/>
            <a:ext cx="5486400" cy="822960"/>
          </a:xfrm>
          <a:prstGeom prst="rect">
            <a:avLst/>
          </a:prstGeom>
          <a:solidFill>
            <a:srgbClr val="F9F9F9"/>
          </a:solidFill>
          <a:ln w="6350">
            <a:solidFill>
              <a:srgbClr val="E5E5E5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3337560" y="1828800"/>
            <a:ext cx="52120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Human drivers cause ~1.35M deaths a year.</a:t>
            </a:r>
            <a:pPr indent="0" marL="0">
              <a:buNone/>
            </a:pPr>
            <a:r>
              <a:rPr lang="en-US" sz="700" baseline="300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1</a:t>
            </a:r>
            <a:pPr indent="0" marL="0">
              <a:buNone/>
            </a:pPr>
            <a:r>
              <a:rPr lang="en-US" sz="105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Autonomous systems don't tire or lose focus.</a:t>
            </a:r>
            <a:endParaRPr lang="en-US" sz="1050" dirty="0"/>
          </a:p>
        </p:txBody>
      </p:sp>
      <p:sp>
        <p:nvSpPr>
          <p:cNvPr id="13" name="Shape 11"/>
          <p:cNvSpPr/>
          <p:nvPr/>
        </p:nvSpPr>
        <p:spPr>
          <a:xfrm>
            <a:off x="3200400" y="2743200"/>
            <a:ext cx="5486400" cy="320040"/>
          </a:xfrm>
          <a:prstGeom prst="rect">
            <a:avLst/>
          </a:prstGeom>
          <a:solidFill>
            <a:srgbClr val="333333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3200400" y="2743200"/>
            <a:ext cx="5486400" cy="320040"/>
          </a:xfrm>
          <a:prstGeom prst="rect">
            <a:avLst/>
          </a:prstGeom>
          <a:noFill/>
          <a:ln/>
        </p:spPr>
        <p:txBody>
          <a:bodyPr wrap="square" lIns="1905" tIns="1905" rIns="1905" bIns="1905" rtlCol="0" anchor="ctr"/>
          <a:lstStyle/>
          <a:p>
            <a:pPr algn="l" indent="0" marL="0">
              <a:buNone/>
            </a:pPr>
            <a:r>
              <a:rPr lang="en-US" sz="1100" b="1" spc="200" kern="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DATA FLYWHEEL</a:t>
            </a:r>
            <a:endParaRPr lang="en-US" sz="1100" dirty="0"/>
          </a:p>
        </p:txBody>
      </p:sp>
      <p:sp>
        <p:nvSpPr>
          <p:cNvPr id="15" name="Shape 13"/>
          <p:cNvSpPr/>
          <p:nvPr/>
        </p:nvSpPr>
        <p:spPr>
          <a:xfrm>
            <a:off x="3200400" y="3063240"/>
            <a:ext cx="5486400" cy="822960"/>
          </a:xfrm>
          <a:prstGeom prst="rect">
            <a:avLst/>
          </a:prstGeom>
          <a:solidFill>
            <a:srgbClr val="F9F9F9"/>
          </a:solidFill>
          <a:ln w="6350">
            <a:solidFill>
              <a:srgbClr val="E5E5E5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3337560" y="3108960"/>
            <a:ext cx="52120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Every mile generates training data. Better models unlock more cities. Flywheel self-reinforces.</a:t>
            </a:r>
            <a:endParaRPr lang="en-US" sz="1050" dirty="0"/>
          </a:p>
        </p:txBody>
      </p:sp>
      <p:sp>
        <p:nvSpPr>
          <p:cNvPr id="17" name="Shape 15"/>
          <p:cNvSpPr/>
          <p:nvPr/>
        </p:nvSpPr>
        <p:spPr>
          <a:xfrm>
            <a:off x="3200400" y="4023360"/>
            <a:ext cx="5486400" cy="320040"/>
          </a:xfrm>
          <a:prstGeom prst="rect">
            <a:avLst/>
          </a:prstGeom>
          <a:solidFill>
            <a:srgbClr val="333333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3200400" y="4023360"/>
            <a:ext cx="5486400" cy="320040"/>
          </a:xfrm>
          <a:prstGeom prst="rect">
            <a:avLst/>
          </a:prstGeom>
          <a:noFill/>
          <a:ln/>
        </p:spPr>
        <p:txBody>
          <a:bodyPr wrap="square" lIns="1905" tIns="1905" rIns="1905" bIns="1905" rtlCol="0" anchor="ctr"/>
          <a:lstStyle/>
          <a:p>
            <a:pPr algn="l" indent="0" marL="0">
              <a:buNone/>
            </a:pPr>
            <a:r>
              <a:rPr lang="en-US" sz="1100" b="1" spc="200" kern="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EDGE INFERENCE</a:t>
            </a:r>
            <a:endParaRPr lang="en-US" sz="1100" dirty="0"/>
          </a:p>
        </p:txBody>
      </p:sp>
      <p:sp>
        <p:nvSpPr>
          <p:cNvPr id="19" name="Shape 17"/>
          <p:cNvSpPr/>
          <p:nvPr/>
        </p:nvSpPr>
        <p:spPr>
          <a:xfrm>
            <a:off x="3200400" y="4343400"/>
            <a:ext cx="5486400" cy="822960"/>
          </a:xfrm>
          <a:prstGeom prst="rect">
            <a:avLst/>
          </a:prstGeom>
          <a:solidFill>
            <a:srgbClr val="F9F9F9"/>
          </a:solidFill>
          <a:ln w="6350">
            <a:solidFill>
              <a:srgbClr val="E5E5E5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3337560" y="4389120"/>
            <a:ext cx="52120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Each AV runs thousands of AI ops / second across cameras, lidar, radar — frontier-scale compute.</a:t>
            </a:r>
            <a:pPr indent="0" marL="0">
              <a:buNone/>
            </a:pPr>
            <a:r>
              <a:rPr lang="en-US" sz="700" baseline="300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2</a:t>
            </a:r>
            <a:endParaRPr lang="en-US" sz="1050" dirty="0"/>
          </a:p>
        </p:txBody>
      </p:sp>
      <p:sp>
        <p:nvSpPr>
          <p:cNvPr id="21" name="Shape 19"/>
          <p:cNvSpPr/>
          <p:nvPr/>
        </p:nvSpPr>
        <p:spPr>
          <a:xfrm>
            <a:off x="457200" y="5394960"/>
            <a:ext cx="8229600" cy="320040"/>
          </a:xfrm>
          <a:prstGeom prst="rect">
            <a:avLst/>
          </a:prstGeom>
          <a:solidFill>
            <a:srgbClr val="333333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640080" y="5394960"/>
            <a:ext cx="78638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300" kern="0" dirty="0">
                <a:solidFill>
                  <a:srgbClr val="FFB8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PLAYERS   </a:t>
            </a:r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Waymo · Tesla FSD · Baidu Apollo · Aurora</a:t>
            </a:r>
            <a:pPr indent="0" marL="0">
              <a:buNone/>
            </a:pPr>
            <a:r>
              <a:rPr lang="en-US" sz="800" baseline="300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3</a:t>
            </a:r>
            <a:endParaRPr lang="en-US" sz="950" dirty="0"/>
          </a:p>
        </p:txBody>
      </p:sp>
      <p:sp>
        <p:nvSpPr>
          <p:cNvPr id="23" name="Text 21"/>
          <p:cNvSpPr/>
          <p:nvPr/>
        </p:nvSpPr>
        <p:spPr>
          <a:xfrm>
            <a:off x="457200" y="5875020"/>
            <a:ext cx="8229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b="1" dirty="0">
                <a:solidFill>
                  <a:srgbClr val="99999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(1) </a:t>
            </a:r>
            <a:pPr indent="0" marL="0">
              <a:buNone/>
            </a:pPr>
            <a:r>
              <a:rPr lang="en-US" sz="700" dirty="0">
                <a:solidFill>
                  <a:srgbClr val="99999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WHO Global Road Safety report, </a:t>
            </a:r>
            <a:pPr indent="0" marL="0">
              <a:buNone/>
            </a:pPr>
            <a:r>
              <a:rPr lang="en-US" sz="700" b="1" dirty="0">
                <a:solidFill>
                  <a:srgbClr val="99999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(2) </a:t>
            </a:r>
            <a:pPr indent="0" marL="0">
              <a:buNone/>
            </a:pPr>
            <a:r>
              <a:rPr lang="en-US" sz="700" dirty="0">
                <a:solidFill>
                  <a:srgbClr val="99999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NVIDIA FY2026 — automotive/DRIVE platform, </a:t>
            </a:r>
            <a:pPr indent="0" marL="0">
              <a:buNone/>
            </a:pPr>
            <a:r>
              <a:rPr lang="en-US" sz="700" b="1" dirty="0">
                <a:solidFill>
                  <a:srgbClr val="99999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(3) </a:t>
            </a:r>
            <a:pPr indent="0" marL="0">
              <a:buNone/>
            </a:pPr>
            <a:r>
              <a:rPr lang="en-US" sz="700" dirty="0">
                <a:solidFill>
                  <a:srgbClr val="99999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Waymo, Tesla, Baidu Apollo, Aurora — company disclosures.</a:t>
            </a:r>
            <a:endParaRPr lang="en-US" sz="700" dirty="0"/>
          </a:p>
        </p:txBody>
      </p:sp>
      <p:sp>
        <p:nvSpPr>
          <p:cNvPr id="24" name="Shape 22"/>
          <p:cNvSpPr/>
          <p:nvPr/>
        </p:nvSpPr>
        <p:spPr>
          <a:xfrm>
            <a:off x="0" y="6286500"/>
            <a:ext cx="9144000" cy="571500"/>
          </a:xfrm>
          <a:prstGeom prst="rect">
            <a:avLst/>
          </a:prstGeom>
          <a:solidFill>
            <a:srgbClr val="000000"/>
          </a:solidFill>
          <a:ln w="12700">
            <a:solidFill>
              <a:srgbClr val="000000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1371600" y="6332220"/>
            <a:ext cx="6400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FOR INFORMATIONAL PURPOSES ONLY. NOT INVESTMENT ADVICE. PAST PERFORMANCE IS NOT INDICATIVE OF FUTURE RESULTS.</a:t>
            </a:r>
            <a:endParaRPr lang="en-US" sz="650" dirty="0"/>
          </a:p>
        </p:txBody>
      </p:sp>
      <p:sp>
        <p:nvSpPr>
          <p:cNvPr id="26" name="Text 24"/>
          <p:cNvSpPr/>
          <p:nvPr/>
        </p:nvSpPr>
        <p:spPr>
          <a:xfrm>
            <a:off x="8321040" y="6405372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20</a:t>
            </a:r>
            <a:endParaRPr lang="en-US" sz="900" dirty="0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7132320" y="164592"/>
            <a:ext cx="1737360" cy="292608"/>
          </a:xfrm>
          <a:prstGeom prst="roundRect">
            <a:avLst>
              <a:gd name="adj" fmla="val 15625"/>
            </a:avLst>
          </a:prstGeom>
          <a:solidFill>
            <a:srgbClr val="6B46C1"/>
          </a:solidFill>
          <a:ln w="12700">
            <a:solidFill>
              <a:srgbClr val="6B46C1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7132320" y="164592"/>
            <a:ext cx="17373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spc="100" kern="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FRONTIER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457200" y="182880"/>
            <a:ext cx="65836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400" b="1" dirty="0">
                <a:solidFill>
                  <a:srgbClr val="000000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AI is rewriting drug discovery.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457200" y="914400"/>
            <a:ext cx="8229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Three mechanisms compress the R&amp;D cycle's earliest stages from years to hours. Clinical trials still take years — AI collapses the design stage, not the regulatory one.</a:t>
            </a:r>
            <a:endParaRPr lang="en-US" sz="1350" dirty="0"/>
          </a:p>
        </p:txBody>
      </p:sp>
      <p:sp>
        <p:nvSpPr>
          <p:cNvPr id="6" name="Shape 4"/>
          <p:cNvSpPr/>
          <p:nvPr/>
        </p:nvSpPr>
        <p:spPr>
          <a:xfrm>
            <a:off x="457200" y="1325880"/>
            <a:ext cx="8229600" cy="0"/>
          </a:xfrm>
          <a:prstGeom prst="line">
            <a:avLst/>
          </a:prstGeom>
          <a:noFill/>
          <a:ln w="9525">
            <a:solidFill>
              <a:srgbClr val="E5E5E5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457200" y="1691640"/>
            <a:ext cx="3017520" cy="3355848"/>
          </a:xfrm>
          <a:prstGeom prst="rect">
            <a:avLst/>
          </a:prstGeom>
          <a:solidFill>
            <a:srgbClr val="EEEEEE"/>
          </a:solidFill>
          <a:ln w="9525">
            <a:solidFill>
              <a:srgbClr val="BBBBBB"/>
            </a:solidFill>
            <a:prstDash val="dash"/>
          </a:ln>
        </p:spPr>
      </p:sp>
      <p:sp>
        <p:nvSpPr>
          <p:cNvPr id="8" name="Text 6"/>
          <p:cNvSpPr/>
          <p:nvPr/>
        </p:nvSpPr>
        <p:spPr>
          <a:xfrm>
            <a:off x="548640" y="1691640"/>
            <a:ext cx="2834640" cy="33558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i="1" dirty="0">
                <a:solidFill>
                  <a:srgbClr val="88888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IMAGE: Render — protein ribbon diagram in a violet-to-magenta-to-gold gradient on graphite black, razor-sharp front with softly-blurred back, faint electron-density mesh around the structure, no labels or annotations</a:t>
            </a:r>
            <a:endParaRPr lang="en-US" sz="1000" dirty="0"/>
          </a:p>
        </p:txBody>
      </p:sp>
      <p:sp>
        <p:nvSpPr>
          <p:cNvPr id="9" name="Shape 7"/>
          <p:cNvSpPr/>
          <p:nvPr/>
        </p:nvSpPr>
        <p:spPr>
          <a:xfrm>
            <a:off x="3657600" y="1691640"/>
            <a:ext cx="5029200" cy="1069848"/>
          </a:xfrm>
          <a:prstGeom prst="rect">
            <a:avLst/>
          </a:prstGeom>
          <a:solidFill>
            <a:srgbClr val="F9F9F9"/>
          </a:solidFill>
          <a:ln w="6350">
            <a:solidFill>
              <a:srgbClr val="E5E5E5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3657600" y="1691640"/>
            <a:ext cx="5029200" cy="292608"/>
          </a:xfrm>
          <a:prstGeom prst="rect">
            <a:avLst/>
          </a:prstGeom>
          <a:solidFill>
            <a:srgbClr val="333333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3822192" y="1691640"/>
            <a:ext cx="47548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200" kern="0" dirty="0">
                <a:solidFill>
                  <a:srgbClr val="FFB8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01   </a:t>
            </a:r>
            <a:pPr indent="0" marL="0">
              <a:buNone/>
            </a:pPr>
            <a:r>
              <a:rPr lang="en-US" sz="1050" b="1" spc="200" kern="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STRUCTURE PREDICTION</a:t>
            </a:r>
            <a:endParaRPr lang="en-US" sz="1050" dirty="0"/>
          </a:p>
        </p:txBody>
      </p:sp>
      <p:sp>
        <p:nvSpPr>
          <p:cNvPr id="12" name="Text 10"/>
          <p:cNvSpPr/>
          <p:nvPr/>
        </p:nvSpPr>
        <p:spPr>
          <a:xfrm>
            <a:off x="3840480" y="2029968"/>
            <a:ext cx="46634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Predicting a protein's 3D shape from its amino-acid sequence was a 50-year unsolved problem. Crystallography took months per protein. Deep learning now infers structure in seconds</a:t>
            </a:r>
            <a:pPr indent="0" marL="0">
              <a:buNone/>
            </a:pPr>
            <a:r>
              <a:rPr lang="en-US" sz="650" baseline="300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1</a:t>
            </a:r>
            <a:pPr indent="0" marL="0">
              <a:buNone/>
            </a:pPr>
            <a:r>
              <a:rPr lang="en-US" sz="95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— unlocking every drug target at once.</a:t>
            </a:r>
            <a:endParaRPr lang="en-US" sz="950" dirty="0"/>
          </a:p>
        </p:txBody>
      </p:sp>
      <p:sp>
        <p:nvSpPr>
          <p:cNvPr id="13" name="Shape 11"/>
          <p:cNvSpPr/>
          <p:nvPr/>
        </p:nvSpPr>
        <p:spPr>
          <a:xfrm>
            <a:off x="3657600" y="2834640"/>
            <a:ext cx="5029200" cy="1069848"/>
          </a:xfrm>
          <a:prstGeom prst="rect">
            <a:avLst/>
          </a:prstGeom>
          <a:solidFill>
            <a:srgbClr val="F9F9F9"/>
          </a:solidFill>
          <a:ln w="6350">
            <a:solidFill>
              <a:srgbClr val="E5E5E5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3657600" y="2834640"/>
            <a:ext cx="5029200" cy="292608"/>
          </a:xfrm>
          <a:prstGeom prst="rect">
            <a:avLst/>
          </a:prstGeom>
          <a:solidFill>
            <a:srgbClr val="333333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822192" y="2834640"/>
            <a:ext cx="47548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200" kern="0" dirty="0">
                <a:solidFill>
                  <a:srgbClr val="FFB8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02   </a:t>
            </a:r>
            <a:pPr indent="0" marL="0">
              <a:buNone/>
            </a:pPr>
            <a:r>
              <a:rPr lang="en-US" sz="1050" b="1" spc="200" kern="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GENERATIVE MOLECULE DESIGN</a:t>
            </a:r>
            <a:endParaRPr lang="en-US" sz="1050" dirty="0"/>
          </a:p>
        </p:txBody>
      </p:sp>
      <p:sp>
        <p:nvSpPr>
          <p:cNvPr id="16" name="Text 14"/>
          <p:cNvSpPr/>
          <p:nvPr/>
        </p:nvSpPr>
        <p:spPr>
          <a:xfrm>
            <a:off x="3840480" y="3172968"/>
            <a:ext cx="46634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There are ~10⁶⁰ drug-like small molecules.</a:t>
            </a:r>
            <a:pPr indent="0" marL="0">
              <a:buNone/>
            </a:pPr>
            <a:r>
              <a:rPr lang="en-US" sz="650" baseline="300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2</a:t>
            </a:r>
            <a:pPr indent="0" marL="0">
              <a:buNone/>
            </a:pPr>
            <a:r>
              <a:rPr lang="en-US" sz="95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Wet labs can screen millions. Generative models search the rest — proposing novel binders optimized for selectivity, potency, and drug-like properties.</a:t>
            </a:r>
            <a:endParaRPr lang="en-US" sz="950" dirty="0"/>
          </a:p>
        </p:txBody>
      </p:sp>
      <p:sp>
        <p:nvSpPr>
          <p:cNvPr id="17" name="Shape 15"/>
          <p:cNvSpPr/>
          <p:nvPr/>
        </p:nvSpPr>
        <p:spPr>
          <a:xfrm>
            <a:off x="3657600" y="3977640"/>
            <a:ext cx="5029200" cy="1069848"/>
          </a:xfrm>
          <a:prstGeom prst="rect">
            <a:avLst/>
          </a:prstGeom>
          <a:solidFill>
            <a:srgbClr val="F9F9F9"/>
          </a:solidFill>
          <a:ln w="6350">
            <a:solidFill>
              <a:srgbClr val="E5E5E5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3657600" y="3977640"/>
            <a:ext cx="5029200" cy="292608"/>
          </a:xfrm>
          <a:prstGeom prst="rect">
            <a:avLst/>
          </a:prstGeom>
          <a:solidFill>
            <a:srgbClr val="333333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3822192" y="3977640"/>
            <a:ext cx="47548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200" kern="0" dirty="0">
                <a:solidFill>
                  <a:srgbClr val="FFB8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03   </a:t>
            </a:r>
            <a:pPr indent="0" marL="0">
              <a:buNone/>
            </a:pPr>
            <a:r>
              <a:rPr lang="en-US" sz="1050" b="1" spc="200" kern="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 SILICO VALIDATION</a:t>
            </a:r>
            <a:endParaRPr lang="en-US" sz="1050" dirty="0"/>
          </a:p>
        </p:txBody>
      </p:sp>
      <p:sp>
        <p:nvSpPr>
          <p:cNvPr id="20" name="Text 18"/>
          <p:cNvSpPr/>
          <p:nvPr/>
        </p:nvSpPr>
        <p:spPr>
          <a:xfrm>
            <a:off x="3840480" y="4315968"/>
            <a:ext cx="46634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Molecular dynamics and binding-affinity prediction filter candidates before synthesis. Weeks of bench work become hours of GPU compute. Far fewer molecules reach animal testing.</a:t>
            </a:r>
            <a:endParaRPr lang="en-US" sz="950" dirty="0"/>
          </a:p>
        </p:txBody>
      </p:sp>
      <p:sp>
        <p:nvSpPr>
          <p:cNvPr id="21" name="Shape 19"/>
          <p:cNvSpPr/>
          <p:nvPr/>
        </p:nvSpPr>
        <p:spPr>
          <a:xfrm>
            <a:off x="457200" y="5193792"/>
            <a:ext cx="8229600" cy="384048"/>
          </a:xfrm>
          <a:prstGeom prst="rect">
            <a:avLst/>
          </a:prstGeom>
          <a:solidFill>
            <a:srgbClr val="FFD100"/>
          </a:solidFill>
          <a:ln w="12700">
            <a:solidFill>
              <a:srgbClr val="FFD100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640080" y="5193792"/>
            <a:ext cx="78638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Traditional pharma: 10–15 years, ~$2.6B per approved drug, &lt;10% Phase I success.</a:t>
            </a:r>
            <a:pPr indent="0" marL="0">
              <a:buNone/>
            </a:pPr>
            <a:r>
              <a:rPr lang="en-US" sz="700" b="1" baseline="300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3</a:t>
            </a:r>
            <a:pPr indent="0" marL="0">
              <a:buNone/>
            </a:pPr>
            <a:r>
              <a:rPr lang="en-US" sz="100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AI collapses the design stage — clinical trials are still bound by biology and the FDA.</a:t>
            </a:r>
            <a:endParaRPr lang="en-US" sz="1000" dirty="0"/>
          </a:p>
        </p:txBody>
      </p:sp>
      <p:sp>
        <p:nvSpPr>
          <p:cNvPr id="23" name="Text 21"/>
          <p:cNvSpPr/>
          <p:nvPr/>
        </p:nvSpPr>
        <p:spPr>
          <a:xfrm>
            <a:off x="457200" y="5875020"/>
            <a:ext cx="8229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b="1" dirty="0">
                <a:solidFill>
                  <a:srgbClr val="99999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(1) </a:t>
            </a:r>
            <a:pPr indent="0" marL="0">
              <a:buNone/>
            </a:pPr>
            <a:r>
              <a:rPr lang="en-US" sz="700" dirty="0">
                <a:solidFill>
                  <a:srgbClr val="99999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Jumper et al., AlphaFold, Nature 2020, </a:t>
            </a:r>
            <a:pPr indent="0" marL="0">
              <a:buNone/>
            </a:pPr>
            <a:r>
              <a:rPr lang="en-US" sz="700" b="1" dirty="0">
                <a:solidFill>
                  <a:srgbClr val="99999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(2) </a:t>
            </a:r>
            <a:pPr indent="0" marL="0">
              <a:buNone/>
            </a:pPr>
            <a:r>
              <a:rPr lang="en-US" sz="700" dirty="0">
                <a:solidFill>
                  <a:srgbClr val="99999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Hughes et al., Br. J. Pharmacol. — screening scale, </a:t>
            </a:r>
            <a:pPr indent="0" marL="0">
              <a:buNone/>
            </a:pPr>
            <a:r>
              <a:rPr lang="en-US" sz="700" b="1" dirty="0">
                <a:solidFill>
                  <a:srgbClr val="99999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(3) </a:t>
            </a:r>
            <a:pPr indent="0" marL="0">
              <a:buNone/>
            </a:pPr>
            <a:r>
              <a:rPr lang="en-US" sz="700" dirty="0">
                <a:solidFill>
                  <a:srgbClr val="99999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Tufts CSDD — drug-development cost and timeline.</a:t>
            </a:r>
            <a:endParaRPr lang="en-US" sz="700" dirty="0"/>
          </a:p>
        </p:txBody>
      </p:sp>
      <p:sp>
        <p:nvSpPr>
          <p:cNvPr id="24" name="Shape 22"/>
          <p:cNvSpPr/>
          <p:nvPr/>
        </p:nvSpPr>
        <p:spPr>
          <a:xfrm>
            <a:off x="0" y="6286500"/>
            <a:ext cx="9144000" cy="571500"/>
          </a:xfrm>
          <a:prstGeom prst="rect">
            <a:avLst/>
          </a:prstGeom>
          <a:solidFill>
            <a:srgbClr val="000000"/>
          </a:solidFill>
          <a:ln w="12700">
            <a:solidFill>
              <a:srgbClr val="000000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1371600" y="6332220"/>
            <a:ext cx="6400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FOR INFORMATIONAL PURPOSES ONLY. NOT INVESTMENT ADVICE. PAST PERFORMANCE IS NOT INDICATIVE OF FUTURE RESULTS.</a:t>
            </a:r>
            <a:endParaRPr lang="en-US" sz="650" dirty="0"/>
          </a:p>
        </p:txBody>
      </p:sp>
      <p:sp>
        <p:nvSpPr>
          <p:cNvPr id="26" name="Text 24"/>
          <p:cNvSpPr/>
          <p:nvPr/>
        </p:nvSpPr>
        <p:spPr>
          <a:xfrm>
            <a:off x="8321040" y="6405372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21</a:t>
            </a:r>
            <a:endParaRPr lang="en-US" sz="900" dirty="0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182880"/>
            <a:ext cx="65836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400" b="1" dirty="0">
                <a:solidFill>
                  <a:srgbClr val="000000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Key takeaways.</a:t>
            </a:r>
            <a:endParaRPr lang="en-US" sz="2400" dirty="0"/>
          </a:p>
        </p:txBody>
      </p:sp>
      <p:sp>
        <p:nvSpPr>
          <p:cNvPr id="3" name="Text 1"/>
          <p:cNvSpPr/>
          <p:nvPr/>
        </p:nvSpPr>
        <p:spPr>
          <a:xfrm>
            <a:off x="457200" y="914400"/>
            <a:ext cx="8229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thesis, distilled. Each with the number that makes it investable.</a:t>
            </a:r>
            <a:endParaRPr lang="en-US" sz="1350" dirty="0"/>
          </a:p>
        </p:txBody>
      </p:sp>
      <p:sp>
        <p:nvSpPr>
          <p:cNvPr id="4" name="Shape 2"/>
          <p:cNvSpPr/>
          <p:nvPr/>
        </p:nvSpPr>
        <p:spPr>
          <a:xfrm>
            <a:off x="457200" y="1325880"/>
            <a:ext cx="8229600" cy="0"/>
          </a:xfrm>
          <a:prstGeom prst="line">
            <a:avLst/>
          </a:prstGeom>
          <a:noFill/>
          <a:ln w="9525">
            <a:solidFill>
              <a:srgbClr val="E5E5E5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457200" y="1554480"/>
            <a:ext cx="640080" cy="850392"/>
          </a:xfrm>
          <a:prstGeom prst="rect">
            <a:avLst/>
          </a:prstGeom>
          <a:solidFill>
            <a:srgbClr val="008B8B"/>
          </a:solidFill>
          <a:ln w="12700">
            <a:solidFill>
              <a:srgbClr val="008B8B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457200" y="1554480"/>
            <a:ext cx="640080" cy="8503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01</a:t>
            </a:r>
            <a:endParaRPr lang="en-US" sz="2000" dirty="0"/>
          </a:p>
        </p:txBody>
      </p:sp>
      <p:sp>
        <p:nvSpPr>
          <p:cNvPr id="7" name="Text 5"/>
          <p:cNvSpPr/>
          <p:nvPr/>
        </p:nvSpPr>
        <p:spPr>
          <a:xfrm>
            <a:off x="1188720" y="1554480"/>
            <a:ext cx="7498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largest capex cycle in history — and it's going on credit.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1188720" y="1828800"/>
            <a:ext cx="7498080" cy="5760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~$750B hyperscaler capex in 2026, up ~$300B YoY. Amazon FCF turns negative; Meta FCF down ~90%. ~75% of that capex is AI-specific. The story has shifted from cash flow to balance sheet.</a:t>
            </a:r>
            <a:endParaRPr lang="en-US" sz="1050" dirty="0"/>
          </a:p>
        </p:txBody>
      </p:sp>
      <p:sp>
        <p:nvSpPr>
          <p:cNvPr id="9" name="Shape 7"/>
          <p:cNvSpPr/>
          <p:nvPr/>
        </p:nvSpPr>
        <p:spPr>
          <a:xfrm>
            <a:off x="457200" y="2514600"/>
            <a:ext cx="640080" cy="850392"/>
          </a:xfrm>
          <a:prstGeom prst="rect">
            <a:avLst/>
          </a:prstGeom>
          <a:solidFill>
            <a:srgbClr val="FFB800"/>
          </a:solidFill>
          <a:ln w="12700">
            <a:solidFill>
              <a:srgbClr val="FFB800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457200" y="2514600"/>
            <a:ext cx="640080" cy="8503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02</a:t>
            </a:r>
            <a:endParaRPr lang="en-US" sz="2000" dirty="0"/>
          </a:p>
        </p:txBody>
      </p:sp>
      <p:sp>
        <p:nvSpPr>
          <p:cNvPr id="11" name="Text 9"/>
          <p:cNvSpPr/>
          <p:nvPr/>
        </p:nvSpPr>
        <p:spPr>
          <a:xfrm>
            <a:off x="1188720" y="2514600"/>
            <a:ext cx="7498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market is picking winners — the basket trade is over.</a:t>
            </a:r>
            <a:endParaRPr lang="en-US" sz="1300" dirty="0"/>
          </a:p>
        </p:txBody>
      </p:sp>
      <p:sp>
        <p:nvSpPr>
          <p:cNvPr id="12" name="Text 10"/>
          <p:cNvSpPr/>
          <p:nvPr/>
        </p:nvSpPr>
        <p:spPr>
          <a:xfrm>
            <a:off x="1188720" y="2788920"/>
            <a:ext cx="7498080" cy="5760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AI stock correlation collapsed from ~80% to ~20%. Semis +38% YTD, software –20% YTD — a 58-point spread. Memory oligopolies with pricing power outperform cloud providers burning cash.</a:t>
            </a:r>
            <a:endParaRPr lang="en-US" sz="1050" dirty="0"/>
          </a:p>
        </p:txBody>
      </p:sp>
      <p:sp>
        <p:nvSpPr>
          <p:cNvPr id="13" name="Shape 11"/>
          <p:cNvSpPr/>
          <p:nvPr/>
        </p:nvSpPr>
        <p:spPr>
          <a:xfrm>
            <a:off x="457200" y="3474720"/>
            <a:ext cx="640080" cy="850392"/>
          </a:xfrm>
          <a:prstGeom prst="rect">
            <a:avLst/>
          </a:prstGeom>
          <a:solidFill>
            <a:srgbClr val="CC0000"/>
          </a:solidFill>
          <a:ln w="12700">
            <a:solidFill>
              <a:srgbClr val="CC0000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457200" y="3474720"/>
            <a:ext cx="640080" cy="8503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03</a:t>
            </a:r>
            <a:endParaRPr lang="en-US" sz="2000" dirty="0"/>
          </a:p>
        </p:txBody>
      </p:sp>
      <p:sp>
        <p:nvSpPr>
          <p:cNvPr id="15" name="Text 13"/>
          <p:cNvSpPr/>
          <p:nvPr/>
        </p:nvSpPr>
        <p:spPr>
          <a:xfrm>
            <a:off x="1188720" y="3474720"/>
            <a:ext cx="7498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bottleneck keeps moving — and that is the opportunity.</a:t>
            </a:r>
            <a:endParaRPr lang="en-US" sz="1300" dirty="0"/>
          </a:p>
        </p:txBody>
      </p:sp>
      <p:sp>
        <p:nvSpPr>
          <p:cNvPr id="16" name="Text 14"/>
          <p:cNvSpPr/>
          <p:nvPr/>
        </p:nvSpPr>
        <p:spPr>
          <a:xfrm>
            <a:off x="1188720" y="3749040"/>
            <a:ext cx="7498080" cy="5760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CoWoS packaging (2023–24) → HBM / silicon wafer supply (now) → EUV lithography (&lt;100 machines/yr) by 2028. Each shift reprices a different part of the stack. HBM TAM on a path from $35B (2025) to $100B (2028).</a:t>
            </a:r>
            <a:endParaRPr lang="en-US" sz="1050" dirty="0"/>
          </a:p>
        </p:txBody>
      </p:sp>
      <p:sp>
        <p:nvSpPr>
          <p:cNvPr id="17" name="Shape 15"/>
          <p:cNvSpPr/>
          <p:nvPr/>
        </p:nvSpPr>
        <p:spPr>
          <a:xfrm>
            <a:off x="457200" y="4434840"/>
            <a:ext cx="640080" cy="850392"/>
          </a:xfrm>
          <a:prstGeom prst="rect">
            <a:avLst/>
          </a:prstGeom>
          <a:solidFill>
            <a:srgbClr val="6B46C1"/>
          </a:solidFill>
          <a:ln w="12700">
            <a:solidFill>
              <a:srgbClr val="6B46C1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457200" y="4434840"/>
            <a:ext cx="640080" cy="8503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04</a:t>
            </a:r>
            <a:endParaRPr lang="en-US" sz="2000" dirty="0"/>
          </a:p>
        </p:txBody>
      </p:sp>
      <p:sp>
        <p:nvSpPr>
          <p:cNvPr id="19" name="Text 17"/>
          <p:cNvSpPr/>
          <p:nvPr/>
        </p:nvSpPr>
        <p:spPr>
          <a:xfrm>
            <a:off x="1188720" y="4434840"/>
            <a:ext cx="7498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question isn't whether you have AI exposure — it's whether you chose it.</a:t>
            </a:r>
            <a:endParaRPr lang="en-US" sz="1300" dirty="0"/>
          </a:p>
        </p:txBody>
      </p:sp>
      <p:sp>
        <p:nvSpPr>
          <p:cNvPr id="20" name="Text 18"/>
          <p:cNvSpPr/>
          <p:nvPr/>
        </p:nvSpPr>
        <p:spPr>
          <a:xfrm>
            <a:off x="1188720" y="4709160"/>
            <a:ext cx="7498080" cy="5760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AI-linked stocks are ~30%+ of US large-cap benchmarks. Passive exposure to a ~$750B capex cycle is not neutral — it's a thesis. Own the layer with pricing power for today's bottleneck.</a:t>
            </a:r>
            <a:endParaRPr lang="en-US" sz="1050" dirty="0"/>
          </a:p>
        </p:txBody>
      </p:sp>
      <p:sp>
        <p:nvSpPr>
          <p:cNvPr id="21" name="Text 19"/>
          <p:cNvSpPr/>
          <p:nvPr/>
        </p:nvSpPr>
        <p:spPr>
          <a:xfrm>
            <a:off x="457200" y="5623560"/>
            <a:ext cx="8229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dirty="0">
                <a:solidFill>
                  <a:srgbClr val="99999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Sources: company filings; CreditSights / MUFG hyperscaler capex 2026 (Apr 2026); Goldman Sachs correlation data; Yahoo Finance YTD (Apr 17, 2026); SemiAnalysis; BofA HBM TAM; TrendForce.</a:t>
            </a:r>
            <a:endParaRPr lang="en-US" sz="700" dirty="0"/>
          </a:p>
        </p:txBody>
      </p:sp>
      <p:sp>
        <p:nvSpPr>
          <p:cNvPr id="22" name="Shape 20"/>
          <p:cNvSpPr/>
          <p:nvPr/>
        </p:nvSpPr>
        <p:spPr>
          <a:xfrm>
            <a:off x="0" y="6286500"/>
            <a:ext cx="9144000" cy="571500"/>
          </a:xfrm>
          <a:prstGeom prst="rect">
            <a:avLst/>
          </a:prstGeom>
          <a:solidFill>
            <a:srgbClr val="000000"/>
          </a:solidFill>
          <a:ln w="12700">
            <a:solidFill>
              <a:srgbClr val="00000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1371600" y="6332220"/>
            <a:ext cx="6400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FOR INFORMATIONAL PURPOSES ONLY. NOT INVESTMENT ADVICE. PAST PERFORMANCE IS NOT INDICATIVE OF FUTURE RESULTS.</a:t>
            </a:r>
            <a:endParaRPr lang="en-US" sz="650" dirty="0"/>
          </a:p>
        </p:txBody>
      </p:sp>
      <p:sp>
        <p:nvSpPr>
          <p:cNvPr id="24" name="Text 22"/>
          <p:cNvSpPr/>
          <p:nvPr/>
        </p:nvSpPr>
        <p:spPr>
          <a:xfrm>
            <a:off x="8321040" y="6405372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22</a:t>
            </a:r>
            <a:endParaRPr lang="en-US" sz="900" dirty="0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182880"/>
            <a:ext cx="65836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400" b="1" dirty="0">
                <a:solidFill>
                  <a:srgbClr val="000000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Appendix — sources (1 of 2).</a:t>
            </a:r>
            <a:endParaRPr lang="en-US" sz="2400" dirty="0"/>
          </a:p>
        </p:txBody>
      </p:sp>
      <p:sp>
        <p:nvSpPr>
          <p:cNvPr id="3" name="Text 1"/>
          <p:cNvSpPr/>
          <p:nvPr/>
        </p:nvSpPr>
        <p:spPr>
          <a:xfrm>
            <a:off x="457200" y="914400"/>
            <a:ext cx="8229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Every figure, where to find it. LANDSCAPE · MARKET · SHIFTS.</a:t>
            </a:r>
            <a:endParaRPr lang="en-US" sz="1350" dirty="0"/>
          </a:p>
        </p:txBody>
      </p:sp>
      <p:sp>
        <p:nvSpPr>
          <p:cNvPr id="4" name="Shape 2"/>
          <p:cNvSpPr/>
          <p:nvPr/>
        </p:nvSpPr>
        <p:spPr>
          <a:xfrm>
            <a:off x="457200" y="1325880"/>
            <a:ext cx="8229600" cy="0"/>
          </a:xfrm>
          <a:prstGeom prst="line">
            <a:avLst/>
          </a:prstGeom>
          <a:noFill/>
          <a:ln w="9525">
            <a:solidFill>
              <a:srgbClr val="E5E5E5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457200" y="1417320"/>
            <a:ext cx="8229600" cy="320040"/>
          </a:xfrm>
          <a:prstGeom prst="rect">
            <a:avLst/>
          </a:prstGeom>
          <a:solidFill>
            <a:srgbClr val="F9F9F9"/>
          </a:solidFill>
          <a:ln w="6350">
            <a:solidFill>
              <a:srgbClr val="E5E5E5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640080" y="1417320"/>
            <a:ext cx="78638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All figures retrieved as of Apr 2026 unless noted. Market caps &amp; consensus: companiesmarketcap.com · stockanalysis.com. YTD returns: Yahoo Finance (Apr 17, 2026).</a:t>
            </a:r>
            <a:endParaRPr lang="en-US" sz="850" dirty="0"/>
          </a:p>
        </p:txBody>
      </p:sp>
      <p:sp>
        <p:nvSpPr>
          <p:cNvPr id="7" name="Shape 5"/>
          <p:cNvSpPr/>
          <p:nvPr/>
        </p:nvSpPr>
        <p:spPr>
          <a:xfrm>
            <a:off x="457200" y="1874520"/>
            <a:ext cx="2624328" cy="201168"/>
          </a:xfrm>
          <a:prstGeom prst="rect">
            <a:avLst/>
          </a:prstGeom>
          <a:solidFill>
            <a:srgbClr val="008B8B"/>
          </a:solidFill>
          <a:ln w="12700">
            <a:solidFill>
              <a:srgbClr val="008B8B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457200" y="1874520"/>
            <a:ext cx="262432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200" kern="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LANDSCAPE  ·  3–6</a:t>
            </a:r>
            <a:endParaRPr lang="en-US" sz="900" dirty="0"/>
          </a:p>
        </p:txBody>
      </p:sp>
      <p:sp>
        <p:nvSpPr>
          <p:cNvPr id="9" name="Text 7"/>
          <p:cNvSpPr/>
          <p:nvPr/>
        </p:nvSpPr>
        <p:spPr>
          <a:xfrm>
            <a:off x="502920" y="2148840"/>
            <a:ext cx="2532888" cy="3566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85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Slide 3  ·  </a:t>
            </a:r>
            <a:pPr indent="0" marL="0">
              <a:spcAft>
                <a:spcPts val="200"/>
              </a:spcAft>
              <a:buNone/>
            </a:pPr>
            <a:r>
              <a:rPr lang="en-US" sz="85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"~$750B hyperscaler capex, 2026"</a:t>
            </a:r>
            <a:pPr indent="0" marL="0">
              <a:spcAft>
                <a:spcPts val="200"/>
              </a:spcAft>
              <a:buNone/>
            </a:pPr>
            <a:r>
              <a:rPr lang="en-US" sz="85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—  </a:t>
            </a:r>
            <a:pPr indent="0" marL="0">
              <a:spcAft>
                <a:spcPts val="200"/>
              </a:spcAft>
              <a:buNone/>
            </a:pPr>
            <a:r>
              <a:rPr lang="en-US" sz="850" i="1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CreditSights / MUFG estimates (Apr 2026)</a:t>
            </a:r>
            <a:endParaRPr lang="en-US" sz="85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85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Slide 3  ·  </a:t>
            </a:r>
            <a:pPr indent="0" marL="0">
              <a:spcAft>
                <a:spcPts val="200"/>
              </a:spcAft>
              <a:buNone/>
            </a:pPr>
            <a:r>
              <a:rPr lang="en-US" sz="85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Jensen Huang "most important" remarks</a:t>
            </a:r>
            <a:pPr indent="0" marL="0">
              <a:spcAft>
                <a:spcPts val="200"/>
              </a:spcAft>
              <a:buNone/>
            </a:pPr>
            <a:r>
              <a:rPr lang="en-US" sz="85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—  </a:t>
            </a:r>
            <a:pPr indent="0" marL="0">
              <a:spcAft>
                <a:spcPts val="200"/>
              </a:spcAft>
              <a:buNone/>
            </a:pPr>
            <a:r>
              <a:rPr lang="en-US" sz="850" i="1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public appearance, Sept 2025</a:t>
            </a:r>
            <a:endParaRPr lang="en-US" sz="85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85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Slide 4  ·  </a:t>
            </a:r>
            <a:pPr indent="0" marL="0">
              <a:spcAft>
                <a:spcPts val="200"/>
              </a:spcAft>
              <a:buNone/>
            </a:pPr>
            <a:r>
              <a:rPr lang="en-US" sz="85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Six-phase evolution timeline</a:t>
            </a:r>
            <a:pPr indent="0" marL="0">
              <a:spcAft>
                <a:spcPts val="200"/>
              </a:spcAft>
              <a:buNone/>
            </a:pPr>
            <a:r>
              <a:rPr lang="en-US" sz="85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—  </a:t>
            </a:r>
            <a:pPr indent="0" marL="0">
              <a:spcAft>
                <a:spcPts val="200"/>
              </a:spcAft>
              <a:buNone/>
            </a:pPr>
            <a:r>
              <a:rPr lang="en-US" sz="850" i="1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Strategy Research synthesis</a:t>
            </a:r>
            <a:endParaRPr lang="en-US" sz="85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85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Slide 5  ·  </a:t>
            </a:r>
            <a:pPr indent="0" marL="0">
              <a:spcAft>
                <a:spcPts val="200"/>
              </a:spcAft>
              <a:buNone/>
            </a:pPr>
            <a:r>
              <a:rPr lang="en-US" sz="85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11-layer AI stack</a:t>
            </a:r>
            <a:pPr indent="0" marL="0">
              <a:spcAft>
                <a:spcPts val="200"/>
              </a:spcAft>
              <a:buNone/>
            </a:pPr>
            <a:r>
              <a:rPr lang="en-US" sz="85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—  </a:t>
            </a:r>
            <a:pPr indent="0" marL="0">
              <a:spcAft>
                <a:spcPts val="200"/>
              </a:spcAft>
              <a:buNone/>
            </a:pPr>
            <a:r>
              <a:rPr lang="en-US" sz="850" i="1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Strategy Research</a:t>
            </a:r>
            <a:endParaRPr lang="en-US" sz="85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85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Slide 6  ·  </a:t>
            </a:r>
            <a:pPr indent="0" marL="0">
              <a:spcAft>
                <a:spcPts val="200"/>
              </a:spcAft>
              <a:buNone/>
            </a:pPr>
            <a:r>
              <a:rPr lang="en-US" sz="85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Internet / PC adoption curves</a:t>
            </a:r>
            <a:pPr indent="0" marL="0">
              <a:spcAft>
                <a:spcPts val="200"/>
              </a:spcAft>
              <a:buNone/>
            </a:pPr>
            <a:r>
              <a:rPr lang="en-US" sz="85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—  </a:t>
            </a:r>
            <a:pPr indent="0" marL="0">
              <a:spcAft>
                <a:spcPts val="200"/>
              </a:spcAft>
              <a:buNone/>
            </a:pPr>
            <a:r>
              <a:rPr lang="en-US" sz="850" i="1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Mary Meeker, Bond / KPCB Internet Trends 2019</a:t>
            </a:r>
            <a:endParaRPr lang="en-US" sz="85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85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Slide 6  ·  </a:t>
            </a:r>
            <a:pPr indent="0" marL="0">
              <a:spcAft>
                <a:spcPts val="200"/>
              </a:spcAft>
              <a:buNone/>
            </a:pPr>
            <a:r>
              <a:rPr lang="en-US" sz="85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AI revenue Y0–Y4 trajectory</a:t>
            </a:r>
            <a:pPr indent="0" marL="0">
              <a:spcAft>
                <a:spcPts val="200"/>
              </a:spcAft>
              <a:buNone/>
            </a:pPr>
            <a:r>
              <a:rPr lang="en-US" sz="85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—  </a:t>
            </a:r>
            <a:pPr indent="0" marL="0">
              <a:spcAft>
                <a:spcPts val="200"/>
              </a:spcAft>
              <a:buNone/>
            </a:pPr>
            <a:r>
              <a:rPr lang="en-US" sz="850" i="1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company filings and consensus estimates</a:t>
            </a:r>
            <a:endParaRPr lang="en-US" sz="850" dirty="0"/>
          </a:p>
        </p:txBody>
      </p:sp>
      <p:sp>
        <p:nvSpPr>
          <p:cNvPr id="10" name="Shape 8"/>
          <p:cNvSpPr/>
          <p:nvPr/>
        </p:nvSpPr>
        <p:spPr>
          <a:xfrm>
            <a:off x="3264408" y="1874520"/>
            <a:ext cx="2624328" cy="201168"/>
          </a:xfrm>
          <a:prstGeom prst="rect">
            <a:avLst/>
          </a:prstGeom>
          <a:solidFill>
            <a:srgbClr val="FFB800"/>
          </a:solidFill>
          <a:ln w="12700">
            <a:solidFill>
              <a:srgbClr val="FFB800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3264408" y="1874520"/>
            <a:ext cx="262432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200" kern="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MARKET  ·  7–11</a:t>
            </a:r>
            <a:endParaRPr lang="en-US" sz="900" dirty="0"/>
          </a:p>
        </p:txBody>
      </p:sp>
      <p:sp>
        <p:nvSpPr>
          <p:cNvPr id="12" name="Text 10"/>
          <p:cNvSpPr/>
          <p:nvPr/>
        </p:nvSpPr>
        <p:spPr>
          <a:xfrm>
            <a:off x="3310128" y="2148840"/>
            <a:ext cx="2532888" cy="3566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85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Slide 7  ·  </a:t>
            </a:r>
            <a:pPr indent="0" marL="0">
              <a:spcAft>
                <a:spcPts val="200"/>
              </a:spcAft>
              <a:buNone/>
            </a:pPr>
            <a:r>
              <a:rPr lang="en-US" sz="85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"$975B 2026E semi market"</a:t>
            </a:r>
            <a:pPr indent="0" marL="0">
              <a:spcAft>
                <a:spcPts val="200"/>
              </a:spcAft>
              <a:buNone/>
            </a:pPr>
            <a:r>
              <a:rPr lang="en-US" sz="85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—  </a:t>
            </a:r>
            <a:pPr indent="0" marL="0">
              <a:spcAft>
                <a:spcPts val="200"/>
              </a:spcAft>
              <a:buNone/>
            </a:pPr>
            <a:r>
              <a:rPr lang="en-US" sz="850" i="1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WSTS Fall 2025 forecast (Nov 2025 release)</a:t>
            </a:r>
            <a:endParaRPr lang="en-US" sz="85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85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Slide 7  ·  </a:t>
            </a:r>
            <a:pPr indent="0" marL="0">
              <a:spcAft>
                <a:spcPts val="200"/>
              </a:spcAft>
              <a:buNone/>
            </a:pPr>
            <a:r>
              <a:rPr lang="en-US" sz="85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Six-category chip taxonomy</a:t>
            </a:r>
            <a:pPr indent="0" marL="0">
              <a:spcAft>
                <a:spcPts val="200"/>
              </a:spcAft>
              <a:buNone/>
            </a:pPr>
            <a:r>
              <a:rPr lang="en-US" sz="85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—  </a:t>
            </a:r>
            <a:pPr indent="0" marL="0">
              <a:spcAft>
                <a:spcPts val="200"/>
              </a:spcAft>
              <a:buNone/>
            </a:pPr>
            <a:r>
              <a:rPr lang="en-US" sz="850" i="1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SIA market-structure breakdown</a:t>
            </a:r>
            <a:endParaRPr lang="en-US" sz="85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85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Slide 8  ·  </a:t>
            </a:r>
            <a:pPr indent="0" marL="0">
              <a:spcAft>
                <a:spcPts val="200"/>
              </a:spcAft>
              <a:buNone/>
            </a:pPr>
            <a:r>
              <a:rPr lang="en-US" sz="85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"~60% hyperscaler share of AI chips"</a:t>
            </a:r>
            <a:pPr indent="0" marL="0">
              <a:spcAft>
                <a:spcPts val="200"/>
              </a:spcAft>
              <a:buNone/>
            </a:pPr>
            <a:r>
              <a:rPr lang="en-US" sz="85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—  </a:t>
            </a:r>
            <a:pPr indent="0" marL="0">
              <a:spcAft>
                <a:spcPts val="200"/>
              </a:spcAft>
              <a:buNone/>
            </a:pPr>
            <a:r>
              <a:rPr lang="en-US" sz="850" i="1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SemiAnalysis / Omdia 2026E estimates</a:t>
            </a:r>
            <a:endParaRPr lang="en-US" sz="85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85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Slide 8  ·  </a:t>
            </a:r>
            <a:pPr indent="0" marL="0">
              <a:spcAft>
                <a:spcPts val="200"/>
              </a:spcAft>
              <a:buNone/>
            </a:pPr>
            <a:r>
              <a:rPr lang="en-US" sz="85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Hyperscaler 2026 capex guides</a:t>
            </a:r>
            <a:pPr indent="0" marL="0">
              <a:spcAft>
                <a:spcPts val="200"/>
              </a:spcAft>
              <a:buNone/>
            </a:pPr>
            <a:r>
              <a:rPr lang="en-US" sz="85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—  </a:t>
            </a:r>
            <a:pPr indent="0" marL="0">
              <a:spcAft>
                <a:spcPts val="200"/>
              </a:spcAft>
              <a:buNone/>
            </a:pPr>
            <a:r>
              <a:rPr lang="en-US" sz="850" i="1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AWS, MSFT, GOOGL, META, ORCL filings</a:t>
            </a:r>
            <a:endParaRPr lang="en-US" sz="85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85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Slide 9  ·  </a:t>
            </a:r>
            <a:pPr indent="0" marL="0">
              <a:spcAft>
                <a:spcPts val="200"/>
              </a:spcAft>
              <a:buNone/>
            </a:pPr>
            <a:r>
              <a:rPr lang="en-US" sz="85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"~12% US electricity by 2028"</a:t>
            </a:r>
            <a:pPr indent="0" marL="0">
              <a:spcAft>
                <a:spcPts val="200"/>
              </a:spcAft>
              <a:buNone/>
            </a:pPr>
            <a:r>
              <a:rPr lang="en-US" sz="85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—  </a:t>
            </a:r>
            <a:pPr indent="0" marL="0">
              <a:spcAft>
                <a:spcPts val="200"/>
              </a:spcAft>
              <a:buNone/>
            </a:pPr>
            <a:r>
              <a:rPr lang="en-US" sz="850" i="1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EPRI (2024) data-center load forecast</a:t>
            </a:r>
            <a:endParaRPr lang="en-US" sz="85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85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Slide 9  ·  </a:t>
            </a:r>
            <a:pPr indent="0" marL="0">
              <a:spcAft>
                <a:spcPts val="200"/>
              </a:spcAft>
              <a:buNone/>
            </a:pPr>
            <a:r>
              <a:rPr lang="en-US" sz="85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"1 GW typical AI campus"</a:t>
            </a:r>
            <a:pPr indent="0" marL="0">
              <a:spcAft>
                <a:spcPts val="200"/>
              </a:spcAft>
              <a:buNone/>
            </a:pPr>
            <a:r>
              <a:rPr lang="en-US" sz="85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—  </a:t>
            </a:r>
            <a:pPr indent="0" marL="0">
              <a:spcAft>
                <a:spcPts val="200"/>
              </a:spcAft>
              <a:buNone/>
            </a:pPr>
            <a:r>
              <a:rPr lang="en-US" sz="850" i="1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LBNL, DOE</a:t>
            </a:r>
            <a:endParaRPr lang="en-US" sz="85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85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Slide 9  ·  </a:t>
            </a:r>
            <a:pPr indent="0" marL="0">
              <a:spcAft>
                <a:spcPts val="200"/>
              </a:spcAft>
              <a:buNone/>
            </a:pPr>
            <a:r>
              <a:rPr lang="en-US" sz="85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"~5 yr interconnection wait"</a:t>
            </a:r>
            <a:pPr indent="0" marL="0">
              <a:spcAft>
                <a:spcPts val="200"/>
              </a:spcAft>
              <a:buNone/>
            </a:pPr>
            <a:r>
              <a:rPr lang="en-US" sz="85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—  </a:t>
            </a:r>
            <a:pPr indent="0" marL="0">
              <a:spcAft>
                <a:spcPts val="200"/>
              </a:spcAft>
              <a:buNone/>
            </a:pPr>
            <a:r>
              <a:rPr lang="en-US" sz="850" i="1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PJM, ERCOT interconnection queues</a:t>
            </a:r>
            <a:endParaRPr lang="en-US" sz="85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85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Slide 9  ·  </a:t>
            </a:r>
            <a:pPr indent="0" marL="0">
              <a:spcAft>
                <a:spcPts val="200"/>
              </a:spcAft>
              <a:buNone/>
            </a:pPr>
            <a:r>
              <a:rPr lang="en-US" sz="85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TMI reopening</a:t>
            </a:r>
            <a:pPr indent="0" marL="0">
              <a:spcAft>
                <a:spcPts val="200"/>
              </a:spcAft>
              <a:buNone/>
            </a:pPr>
            <a:r>
              <a:rPr lang="en-US" sz="85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—  </a:t>
            </a:r>
            <a:pPr indent="0" marL="0">
              <a:spcAft>
                <a:spcPts val="200"/>
              </a:spcAft>
              <a:buNone/>
            </a:pPr>
            <a:r>
              <a:rPr lang="en-US" sz="850" i="1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Microsoft / Constellation (Sept 2024)</a:t>
            </a:r>
            <a:endParaRPr lang="en-US" sz="85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85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Slide 10  ·  </a:t>
            </a:r>
            <a:pPr indent="0" marL="0">
              <a:spcAft>
                <a:spcPts val="200"/>
              </a:spcAft>
              <a:buNone/>
            </a:pPr>
            <a:r>
              <a:rPr lang="en-US" sz="85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OpenAI $852B @ ~35× ARR</a:t>
            </a:r>
            <a:pPr indent="0" marL="0">
              <a:spcAft>
                <a:spcPts val="200"/>
              </a:spcAft>
              <a:buNone/>
            </a:pPr>
            <a:r>
              <a:rPr lang="en-US" sz="85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—  </a:t>
            </a:r>
            <a:pPr indent="0" marL="0">
              <a:spcAft>
                <a:spcPts val="200"/>
              </a:spcAft>
              <a:buNone/>
            </a:pPr>
            <a:r>
              <a:rPr lang="en-US" sz="850" i="1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TechCrunch, Sacra ARR run-rates</a:t>
            </a:r>
            <a:endParaRPr lang="en-US" sz="85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85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Slide 10  ·  </a:t>
            </a:r>
            <a:pPr indent="0" marL="0">
              <a:spcAft>
                <a:spcPts val="200"/>
              </a:spcAft>
              <a:buNone/>
            </a:pPr>
            <a:r>
              <a:rPr lang="en-US" sz="85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Anthropic $380B</a:t>
            </a:r>
            <a:pPr indent="0" marL="0">
              <a:spcAft>
                <a:spcPts val="200"/>
              </a:spcAft>
              <a:buNone/>
            </a:pPr>
            <a:r>
              <a:rPr lang="en-US" sz="85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—  </a:t>
            </a:r>
            <a:pPr indent="0" marL="0">
              <a:spcAft>
                <a:spcPts val="200"/>
              </a:spcAft>
              <a:buNone/>
            </a:pPr>
            <a:r>
              <a:rPr lang="en-US" sz="850" i="1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TechCrunch, Bloomberg (Feb 2026)</a:t>
            </a:r>
            <a:endParaRPr lang="en-US" sz="85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85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Slide 10  ·  </a:t>
            </a:r>
            <a:pPr indent="0" marL="0">
              <a:spcAft>
                <a:spcPts val="200"/>
              </a:spcAft>
              <a:buNone/>
            </a:pPr>
            <a:r>
              <a:rPr lang="en-US" sz="85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Alphabet $2.3T / ~$85B 2026 capex</a:t>
            </a:r>
            <a:pPr indent="0" marL="0">
              <a:spcAft>
                <a:spcPts val="200"/>
              </a:spcAft>
              <a:buNone/>
            </a:pPr>
            <a:r>
              <a:rPr lang="en-US" sz="85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—  </a:t>
            </a:r>
            <a:pPr indent="0" marL="0">
              <a:spcAft>
                <a:spcPts val="200"/>
              </a:spcAft>
              <a:buNone/>
            </a:pPr>
            <a:r>
              <a:rPr lang="en-US" sz="850" i="1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Alphabet 10-K and 2026 capex guide</a:t>
            </a:r>
            <a:endParaRPr lang="en-US" sz="85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85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Slide 10  ·  </a:t>
            </a:r>
            <a:pPr indent="0" marL="0">
              <a:spcAft>
                <a:spcPts val="200"/>
              </a:spcAft>
              <a:buNone/>
            </a:pPr>
            <a:r>
              <a:rPr lang="en-US" sz="85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xAI / SpaceX $1.25T merger</a:t>
            </a:r>
            <a:pPr indent="0" marL="0">
              <a:spcAft>
                <a:spcPts val="200"/>
              </a:spcAft>
              <a:buNone/>
            </a:pPr>
            <a:r>
              <a:rPr lang="en-US" sz="85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—  </a:t>
            </a:r>
            <a:pPr indent="0" marL="0">
              <a:spcAft>
                <a:spcPts val="200"/>
              </a:spcAft>
              <a:buNone/>
            </a:pPr>
            <a:r>
              <a:rPr lang="en-US" sz="850" i="1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CNBC, TechCrunch (Feb 2, 2026)</a:t>
            </a:r>
            <a:endParaRPr lang="en-US" sz="85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85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Slide 10  ·  </a:t>
            </a:r>
            <a:pPr indent="0" marL="0">
              <a:spcAft>
                <a:spcPts val="200"/>
              </a:spcAft>
              <a:buNone/>
            </a:pPr>
            <a:r>
              <a:rPr lang="en-US" sz="85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Q1 2026 funding 2× all of 2025</a:t>
            </a:r>
            <a:pPr indent="0" marL="0">
              <a:spcAft>
                <a:spcPts val="200"/>
              </a:spcAft>
              <a:buNone/>
            </a:pPr>
            <a:r>
              <a:rPr lang="en-US" sz="85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—  </a:t>
            </a:r>
            <a:pPr indent="0" marL="0">
              <a:spcAft>
                <a:spcPts val="200"/>
              </a:spcAft>
              <a:buNone/>
            </a:pPr>
            <a:r>
              <a:rPr lang="en-US" sz="850" i="1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Crunchbase Q1 2026 VC data</a:t>
            </a:r>
            <a:endParaRPr lang="en-US" sz="85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85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Slide 11  ·  </a:t>
            </a:r>
            <a:pPr indent="0" marL="0">
              <a:spcAft>
                <a:spcPts val="200"/>
              </a:spcAft>
              <a:buNone/>
            </a:pPr>
            <a:r>
              <a:rPr lang="en-US" sz="85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Top 10 Tech vs Non-Tech metrics</a:t>
            </a:r>
            <a:pPr indent="0" marL="0">
              <a:spcAft>
                <a:spcPts val="200"/>
              </a:spcAft>
              <a:buNone/>
            </a:pPr>
            <a:r>
              <a:rPr lang="en-US" sz="85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—  </a:t>
            </a:r>
            <a:pPr indent="0" marL="0">
              <a:spcAft>
                <a:spcPts val="200"/>
              </a:spcAft>
              <a:buNone/>
            </a:pPr>
            <a:r>
              <a:rPr lang="en-US" sz="850" i="1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stockanalysis.com consensus (Apr 22, 2026)</a:t>
            </a:r>
            <a:endParaRPr lang="en-US" sz="85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85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Slide 11  ·  </a:t>
            </a:r>
            <a:pPr indent="0" marL="0">
              <a:spcAft>
                <a:spcPts val="200"/>
              </a:spcAft>
              <a:buNone/>
            </a:pPr>
            <a:r>
              <a:rPr lang="en-US" sz="85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Market caps</a:t>
            </a:r>
            <a:pPr indent="0" marL="0">
              <a:spcAft>
                <a:spcPts val="200"/>
              </a:spcAft>
              <a:buNone/>
            </a:pPr>
            <a:r>
              <a:rPr lang="en-US" sz="85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—  </a:t>
            </a:r>
            <a:pPr indent="0" marL="0">
              <a:spcAft>
                <a:spcPts val="200"/>
              </a:spcAft>
              <a:buNone/>
            </a:pPr>
            <a:r>
              <a:rPr lang="en-US" sz="850" i="1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companiesmarketcap.com (Apr 22, 2026)</a:t>
            </a:r>
            <a:endParaRPr lang="en-US" sz="850" dirty="0"/>
          </a:p>
        </p:txBody>
      </p:sp>
      <p:sp>
        <p:nvSpPr>
          <p:cNvPr id="13" name="Shape 11"/>
          <p:cNvSpPr/>
          <p:nvPr/>
        </p:nvSpPr>
        <p:spPr>
          <a:xfrm>
            <a:off x="6071616" y="1874520"/>
            <a:ext cx="2624328" cy="201168"/>
          </a:xfrm>
          <a:prstGeom prst="rect">
            <a:avLst/>
          </a:prstGeom>
          <a:solidFill>
            <a:srgbClr val="F6693D"/>
          </a:solidFill>
          <a:ln w="12700">
            <a:solidFill>
              <a:srgbClr val="F6693D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6071616" y="1874520"/>
            <a:ext cx="262432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200" kern="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SHIFTS  ·  12–13</a:t>
            </a:r>
            <a:endParaRPr lang="en-US" sz="900" dirty="0"/>
          </a:p>
        </p:txBody>
      </p:sp>
      <p:sp>
        <p:nvSpPr>
          <p:cNvPr id="15" name="Text 13"/>
          <p:cNvSpPr/>
          <p:nvPr/>
        </p:nvSpPr>
        <p:spPr>
          <a:xfrm>
            <a:off x="6117336" y="2148840"/>
            <a:ext cx="2532888" cy="3566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85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Slide 12  ·  </a:t>
            </a:r>
            <a:pPr indent="0" marL="0">
              <a:spcAft>
                <a:spcPts val="200"/>
              </a:spcAft>
              <a:buNone/>
            </a:pPr>
            <a:r>
              <a:rPr lang="en-US" sz="85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"10–100× compute per session"</a:t>
            </a:r>
            <a:pPr indent="0" marL="0">
              <a:spcAft>
                <a:spcPts val="200"/>
              </a:spcAft>
              <a:buNone/>
            </a:pPr>
            <a:r>
              <a:rPr lang="en-US" sz="85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—  </a:t>
            </a:r>
            <a:pPr indent="0" marL="0">
              <a:spcAft>
                <a:spcPts val="200"/>
              </a:spcAft>
              <a:buNone/>
            </a:pPr>
            <a:r>
              <a:rPr lang="en-US" sz="850" i="1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Anthropic, OpenAI; Morgan Stanley CIO Survey</a:t>
            </a:r>
            <a:endParaRPr lang="en-US" sz="85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85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Slide 12  ·  </a:t>
            </a:r>
            <a:pPr indent="0" marL="0">
              <a:spcAft>
                <a:spcPts val="200"/>
              </a:spcAft>
              <a:buNone/>
            </a:pPr>
            <a:r>
              <a:rPr lang="en-US" sz="85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Chatbot vs agent token counts</a:t>
            </a:r>
            <a:pPr indent="0" marL="0">
              <a:spcAft>
                <a:spcPts val="200"/>
              </a:spcAft>
              <a:buNone/>
            </a:pPr>
            <a:r>
              <a:rPr lang="en-US" sz="85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—  </a:t>
            </a:r>
            <a:pPr indent="0" marL="0">
              <a:spcAft>
                <a:spcPts val="200"/>
              </a:spcAft>
              <a:buNone/>
            </a:pPr>
            <a:r>
              <a:rPr lang="en-US" sz="850" i="1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Anthropic, OpenAI; GitHub Trending</a:t>
            </a:r>
            <a:endParaRPr lang="en-US" sz="85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85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Slide 13  ·  </a:t>
            </a:r>
            <a:pPr indent="0" marL="0">
              <a:spcAft>
                <a:spcPts val="200"/>
              </a:spcAft>
              <a:buNone/>
            </a:pPr>
            <a:r>
              <a:rPr lang="en-US" sz="85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YTD prices rebased to 100</a:t>
            </a:r>
            <a:pPr indent="0" marL="0">
              <a:spcAft>
                <a:spcPts val="200"/>
              </a:spcAft>
              <a:buNone/>
            </a:pPr>
            <a:r>
              <a:rPr lang="en-US" sz="85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—  </a:t>
            </a:r>
            <a:pPr indent="0" marL="0">
              <a:spcAft>
                <a:spcPts val="200"/>
              </a:spcAft>
              <a:buNone/>
            </a:pPr>
            <a:r>
              <a:rPr lang="en-US" sz="850" i="1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Yahoo Finance (Apr 17, 2026)</a:t>
            </a:r>
            <a:endParaRPr lang="en-US" sz="85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85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Slide 13  ·  </a:t>
            </a:r>
            <a:pPr indent="0" marL="0">
              <a:spcAft>
                <a:spcPts val="200"/>
              </a:spcAft>
              <a:buNone/>
            </a:pPr>
            <a:r>
              <a:rPr lang="en-US" sz="85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Memory supercycle single-stock YTDs</a:t>
            </a:r>
            <a:pPr indent="0" marL="0">
              <a:spcAft>
                <a:spcPts val="200"/>
              </a:spcAft>
              <a:buNone/>
            </a:pPr>
            <a:r>
              <a:rPr lang="en-US" sz="85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—  </a:t>
            </a:r>
            <a:pPr indent="0" marL="0">
              <a:spcAft>
                <a:spcPts val="200"/>
              </a:spcAft>
              <a:buNone/>
            </a:pPr>
            <a:r>
              <a:rPr lang="en-US" sz="850" i="1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Yahoo Finance; Counterpoint Research</a:t>
            </a:r>
            <a:endParaRPr lang="en-US" sz="85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85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Slide 13  ·  </a:t>
            </a:r>
            <a:pPr indent="0" marL="0">
              <a:spcAft>
                <a:spcPts val="200"/>
              </a:spcAft>
              <a:buNone/>
            </a:pPr>
            <a:r>
              <a:rPr lang="en-US" sz="85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Software single-stock YTDs</a:t>
            </a:r>
            <a:pPr indent="0" marL="0">
              <a:spcAft>
                <a:spcPts val="200"/>
              </a:spcAft>
              <a:buNone/>
            </a:pPr>
            <a:r>
              <a:rPr lang="en-US" sz="85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—  </a:t>
            </a:r>
            <a:pPr indent="0" marL="0">
              <a:spcAft>
                <a:spcPts val="200"/>
              </a:spcAft>
              <a:buNone/>
            </a:pPr>
            <a:r>
              <a:rPr lang="en-US" sz="850" i="1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Yahoo Finance; Morgan Stanley CIO Survey</a:t>
            </a:r>
            <a:endParaRPr lang="en-US" sz="85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85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Slide 13  ·  </a:t>
            </a:r>
            <a:pPr indent="0" marL="0">
              <a:spcAft>
                <a:spcPts val="200"/>
              </a:spcAft>
              <a:buNone/>
            </a:pPr>
            <a:r>
              <a:rPr lang="en-US" sz="85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BDC index / PE SaaS marks</a:t>
            </a:r>
            <a:pPr indent="0" marL="0">
              <a:spcAft>
                <a:spcPts val="200"/>
              </a:spcAft>
              <a:buNone/>
            </a:pPr>
            <a:r>
              <a:rPr lang="en-US" sz="85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—  </a:t>
            </a:r>
            <a:pPr indent="0" marL="0">
              <a:spcAft>
                <a:spcPts val="200"/>
              </a:spcAft>
              <a:buNone/>
            </a:pPr>
            <a:r>
              <a:rPr lang="en-US" sz="850" i="1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Bloomberg BDC; PitchBook secondary marks</a:t>
            </a:r>
            <a:endParaRPr lang="en-US" sz="850" dirty="0"/>
          </a:p>
        </p:txBody>
      </p:sp>
      <p:sp>
        <p:nvSpPr>
          <p:cNvPr id="16" name="Text 14"/>
          <p:cNvSpPr/>
          <p:nvPr/>
        </p:nvSpPr>
        <p:spPr>
          <a:xfrm>
            <a:off x="457200" y="5875020"/>
            <a:ext cx="8229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dirty="0">
                <a:solidFill>
                  <a:srgbClr val="99999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Appendix 1 of 2 — continues on the next page with RISKS, FRONTIER, and TAKEAWAYS.</a:t>
            </a:r>
            <a:endParaRPr lang="en-US" sz="700" dirty="0"/>
          </a:p>
        </p:txBody>
      </p:sp>
      <p:sp>
        <p:nvSpPr>
          <p:cNvPr id="17" name="Shape 15"/>
          <p:cNvSpPr/>
          <p:nvPr/>
        </p:nvSpPr>
        <p:spPr>
          <a:xfrm>
            <a:off x="0" y="6286500"/>
            <a:ext cx="9144000" cy="571500"/>
          </a:xfrm>
          <a:prstGeom prst="rect">
            <a:avLst/>
          </a:prstGeom>
          <a:solidFill>
            <a:srgbClr val="000000"/>
          </a:solidFill>
          <a:ln w="12700">
            <a:solidFill>
              <a:srgbClr val="000000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1371600" y="6332220"/>
            <a:ext cx="6400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FOR INFORMATIONAL PURPOSES ONLY. NOT INVESTMENT ADVICE. PAST PERFORMANCE IS NOT INDICATIVE OF FUTURE RESULTS.</a:t>
            </a:r>
            <a:endParaRPr lang="en-US" sz="650" dirty="0"/>
          </a:p>
        </p:txBody>
      </p:sp>
      <p:sp>
        <p:nvSpPr>
          <p:cNvPr id="19" name="Text 17"/>
          <p:cNvSpPr/>
          <p:nvPr/>
        </p:nvSpPr>
        <p:spPr>
          <a:xfrm>
            <a:off x="8321040" y="6405372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A1</a:t>
            </a:r>
            <a:endParaRPr lang="en-US" sz="900" dirty="0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182880"/>
            <a:ext cx="65836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400" b="1" dirty="0">
                <a:solidFill>
                  <a:srgbClr val="000000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Appendix — sources (2 of 2).</a:t>
            </a:r>
            <a:endParaRPr lang="en-US" sz="2400" dirty="0"/>
          </a:p>
        </p:txBody>
      </p:sp>
      <p:sp>
        <p:nvSpPr>
          <p:cNvPr id="3" name="Text 1"/>
          <p:cNvSpPr/>
          <p:nvPr/>
        </p:nvSpPr>
        <p:spPr>
          <a:xfrm>
            <a:off x="457200" y="914400"/>
            <a:ext cx="8229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Every figure, where to find it. RISKS · FRONTIER · TAKEAWAYS.</a:t>
            </a:r>
            <a:endParaRPr lang="en-US" sz="1350" dirty="0"/>
          </a:p>
        </p:txBody>
      </p:sp>
      <p:sp>
        <p:nvSpPr>
          <p:cNvPr id="4" name="Shape 2"/>
          <p:cNvSpPr/>
          <p:nvPr/>
        </p:nvSpPr>
        <p:spPr>
          <a:xfrm>
            <a:off x="457200" y="1325880"/>
            <a:ext cx="8229600" cy="0"/>
          </a:xfrm>
          <a:prstGeom prst="line">
            <a:avLst/>
          </a:prstGeom>
          <a:noFill/>
          <a:ln w="9525">
            <a:solidFill>
              <a:srgbClr val="E5E5E5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457200" y="1417320"/>
            <a:ext cx="8229600" cy="320040"/>
          </a:xfrm>
          <a:prstGeom prst="rect">
            <a:avLst/>
          </a:prstGeom>
          <a:solidFill>
            <a:srgbClr val="F9F9F9"/>
          </a:solidFill>
          <a:ln w="6350">
            <a:solidFill>
              <a:srgbClr val="E5E5E5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640080" y="1417320"/>
            <a:ext cx="78638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All figures retrieved as of Apr 2026 unless noted. Market caps &amp; consensus: companiesmarketcap.com · stockanalysis.com. YTD returns: Yahoo Finance (Apr 17, 2026).</a:t>
            </a:r>
            <a:endParaRPr lang="en-US" sz="850" dirty="0"/>
          </a:p>
        </p:txBody>
      </p:sp>
      <p:sp>
        <p:nvSpPr>
          <p:cNvPr id="7" name="Shape 5"/>
          <p:cNvSpPr/>
          <p:nvPr/>
        </p:nvSpPr>
        <p:spPr>
          <a:xfrm>
            <a:off x="457200" y="1874520"/>
            <a:ext cx="2624328" cy="201168"/>
          </a:xfrm>
          <a:prstGeom prst="rect">
            <a:avLst/>
          </a:prstGeom>
          <a:solidFill>
            <a:srgbClr val="CC0000"/>
          </a:solidFill>
          <a:ln w="12700">
            <a:solidFill>
              <a:srgbClr val="CC0000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457200" y="1874520"/>
            <a:ext cx="262432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200" kern="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RISKS  ·  14–17</a:t>
            </a:r>
            <a:endParaRPr lang="en-US" sz="900" dirty="0"/>
          </a:p>
        </p:txBody>
      </p:sp>
      <p:sp>
        <p:nvSpPr>
          <p:cNvPr id="9" name="Text 7"/>
          <p:cNvSpPr/>
          <p:nvPr/>
        </p:nvSpPr>
        <p:spPr>
          <a:xfrm>
            <a:off x="502920" y="2148840"/>
            <a:ext cx="2532888" cy="3566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85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Slide 14  ·  </a:t>
            </a:r>
            <a:pPr indent="0" marL="0">
              <a:spcAft>
                <a:spcPts val="200"/>
              </a:spcAft>
              <a:buNone/>
            </a:pPr>
            <a:r>
              <a:rPr lang="en-US" sz="85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"131× Cisco fwd P/E, Mar 2000"</a:t>
            </a:r>
            <a:pPr indent="0" marL="0">
              <a:spcAft>
                <a:spcPts val="200"/>
              </a:spcAft>
              <a:buNone/>
            </a:pPr>
            <a:r>
              <a:rPr lang="en-US" sz="85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—  </a:t>
            </a:r>
            <a:pPr indent="0" marL="0">
              <a:spcAft>
                <a:spcPts val="200"/>
              </a:spcAft>
              <a:buNone/>
            </a:pPr>
            <a:r>
              <a:rPr lang="en-US" sz="850" i="1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Harding Loevner</a:t>
            </a:r>
            <a:endParaRPr lang="en-US" sz="85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85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Slide 14  ·  </a:t>
            </a:r>
            <a:pPr indent="0" marL="0">
              <a:spcAft>
                <a:spcPts val="200"/>
              </a:spcAft>
              <a:buNone/>
            </a:pPr>
            <a:r>
              <a:rPr lang="en-US" sz="85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"~24× NVDA fwd P/E, Apr 17 2026"</a:t>
            </a:r>
            <a:pPr indent="0" marL="0">
              <a:spcAft>
                <a:spcPts val="200"/>
              </a:spcAft>
              <a:buNone/>
            </a:pPr>
            <a:r>
              <a:rPr lang="en-US" sz="85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—  </a:t>
            </a:r>
            <a:pPr indent="0" marL="0">
              <a:spcAft>
                <a:spcPts val="200"/>
              </a:spcAft>
              <a:buNone/>
            </a:pPr>
            <a:r>
              <a:rPr lang="en-US" sz="850" i="1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GuruFocus</a:t>
            </a:r>
            <a:endParaRPr lang="en-US" sz="85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85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Slide 14  ·  </a:t>
            </a:r>
            <a:pPr indent="0" marL="0">
              <a:spcAft>
                <a:spcPts val="200"/>
              </a:spcAft>
              <a:buNone/>
            </a:pPr>
            <a:r>
              <a:rPr lang="en-US" sz="85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"14% of 2000 tech IPOs profitable"</a:t>
            </a:r>
            <a:pPr indent="0" marL="0">
              <a:spcAft>
                <a:spcPts val="200"/>
              </a:spcAft>
              <a:buNone/>
            </a:pPr>
            <a:r>
              <a:rPr lang="en-US" sz="85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—  </a:t>
            </a:r>
            <a:pPr indent="0" marL="0">
              <a:spcAft>
                <a:spcPts val="200"/>
              </a:spcAft>
              <a:buNone/>
            </a:pPr>
            <a:r>
              <a:rPr lang="en-US" sz="850" i="1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Jay Ritter, University of Florida</a:t>
            </a:r>
            <a:endParaRPr lang="en-US" sz="85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85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Slide 14  ·  </a:t>
            </a:r>
            <a:pPr indent="0" marL="0">
              <a:spcAft>
                <a:spcPts val="200"/>
              </a:spcAft>
              <a:buNone/>
            </a:pPr>
            <a:r>
              <a:rPr lang="en-US" sz="85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"$500B dark fiber unused"</a:t>
            </a:r>
            <a:pPr indent="0" marL="0">
              <a:spcAft>
                <a:spcPts val="200"/>
              </a:spcAft>
              <a:buNone/>
            </a:pPr>
            <a:r>
              <a:rPr lang="en-US" sz="85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—  </a:t>
            </a:r>
            <a:pPr indent="0" marL="0">
              <a:spcAft>
                <a:spcPts val="200"/>
              </a:spcAft>
              <a:buNone/>
            </a:pPr>
            <a:r>
              <a:rPr lang="en-US" sz="850" i="1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FCC dark-fiber data</a:t>
            </a:r>
            <a:endParaRPr lang="en-US" sz="85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85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Slide 14  ·  </a:t>
            </a:r>
            <a:pPr indent="0" marL="0">
              <a:spcAft>
                <a:spcPts val="200"/>
              </a:spcAft>
              <a:buNone/>
            </a:pPr>
            <a:r>
              <a:rPr lang="en-US" sz="85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"GPU 2nd market 90–95% list"</a:t>
            </a:r>
            <a:pPr indent="0" marL="0">
              <a:spcAft>
                <a:spcPts val="200"/>
              </a:spcAft>
              <a:buNone/>
            </a:pPr>
            <a:r>
              <a:rPr lang="en-US" sz="85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—  </a:t>
            </a:r>
            <a:pPr indent="0" marL="0">
              <a:spcAft>
                <a:spcPts val="200"/>
              </a:spcAft>
              <a:buNone/>
            </a:pPr>
            <a:r>
              <a:rPr lang="en-US" sz="850" i="1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CoreWeave 2nd-market pricing</a:t>
            </a:r>
            <a:endParaRPr lang="en-US" sz="85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85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Slide 14  ·  </a:t>
            </a:r>
            <a:pPr indent="0" marL="0">
              <a:spcAft>
                <a:spcPts val="200"/>
              </a:spcAft>
              <a:buNone/>
            </a:pPr>
            <a:r>
              <a:rPr lang="en-US" sz="85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"Hyperscaler net debt/EBITDA ~48%"</a:t>
            </a:r>
            <a:pPr indent="0" marL="0">
              <a:spcAft>
                <a:spcPts val="200"/>
              </a:spcAft>
              <a:buNone/>
            </a:pPr>
            <a:r>
              <a:rPr lang="en-US" sz="85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—  </a:t>
            </a:r>
            <a:pPr indent="0" marL="0">
              <a:spcAft>
                <a:spcPts val="200"/>
              </a:spcAft>
              <a:buNone/>
            </a:pPr>
            <a:r>
              <a:rPr lang="en-US" sz="850" i="1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Bloomberg</a:t>
            </a:r>
            <a:endParaRPr lang="en-US" sz="85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85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Slide 15  ·  </a:t>
            </a:r>
            <a:pPr indent="0" marL="0">
              <a:spcAft>
                <a:spcPts val="200"/>
              </a:spcAft>
              <a:buNone/>
            </a:pPr>
            <a:r>
              <a:rPr lang="en-US" sz="85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"TSMC ~90% advanced-node share"</a:t>
            </a:r>
            <a:pPr indent="0" marL="0">
              <a:spcAft>
                <a:spcPts val="200"/>
              </a:spcAft>
              <a:buNone/>
            </a:pPr>
            <a:r>
              <a:rPr lang="en-US" sz="85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—  </a:t>
            </a:r>
            <a:pPr indent="0" marL="0">
              <a:spcAft>
                <a:spcPts val="200"/>
              </a:spcAft>
              <a:buNone/>
            </a:pPr>
            <a:r>
              <a:rPr lang="en-US" sz="850" i="1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TSMC filings; SIA</a:t>
            </a:r>
            <a:endParaRPr lang="en-US" sz="85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85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Slide 15  ·  </a:t>
            </a:r>
            <a:pPr indent="0" marL="0">
              <a:spcAft>
                <a:spcPts val="200"/>
              </a:spcAft>
              <a:buNone/>
            </a:pPr>
            <a:r>
              <a:rPr lang="en-US" sz="85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"SK Hynix + Samsung ~76% DRAM"</a:t>
            </a:r>
            <a:pPr indent="0" marL="0">
              <a:spcAft>
                <a:spcPts val="200"/>
              </a:spcAft>
              <a:buNone/>
            </a:pPr>
            <a:r>
              <a:rPr lang="en-US" sz="85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—  </a:t>
            </a:r>
            <a:pPr indent="0" marL="0">
              <a:spcAft>
                <a:spcPts val="200"/>
              </a:spcAft>
              <a:buNone/>
            </a:pPr>
            <a:r>
              <a:rPr lang="en-US" sz="850" i="1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TrendForce; SIA</a:t>
            </a:r>
            <a:endParaRPr lang="en-US" sz="85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85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Slide 15  ·  </a:t>
            </a:r>
            <a:pPr indent="0" marL="0">
              <a:spcAft>
                <a:spcPts val="200"/>
              </a:spcAft>
              <a:buNone/>
            </a:pPr>
            <a:r>
              <a:rPr lang="en-US" sz="85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"ASML &lt;100 EUV / yr"</a:t>
            </a:r>
            <a:pPr indent="0" marL="0">
              <a:spcAft>
                <a:spcPts val="200"/>
              </a:spcAft>
              <a:buNone/>
            </a:pPr>
            <a:r>
              <a:rPr lang="en-US" sz="85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—  </a:t>
            </a:r>
            <a:pPr indent="0" marL="0">
              <a:spcAft>
                <a:spcPts val="200"/>
              </a:spcAft>
              <a:buNone/>
            </a:pPr>
            <a:r>
              <a:rPr lang="en-US" sz="850" i="1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ASML filings</a:t>
            </a:r>
            <a:endParaRPr lang="en-US" sz="85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85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Slide 15  ·  </a:t>
            </a:r>
            <a:pPr indent="0" marL="0">
              <a:spcAft>
                <a:spcPts val="200"/>
              </a:spcAft>
              <a:buNone/>
            </a:pPr>
            <a:r>
              <a:rPr lang="en-US" sz="85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US reshoring fab timelines</a:t>
            </a:r>
            <a:pPr indent="0" marL="0">
              <a:spcAft>
                <a:spcPts val="200"/>
              </a:spcAft>
              <a:buNone/>
            </a:pPr>
            <a:r>
              <a:rPr lang="en-US" sz="85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—  </a:t>
            </a:r>
            <a:pPr indent="0" marL="0">
              <a:spcAft>
                <a:spcPts val="200"/>
              </a:spcAft>
              <a:buNone/>
            </a:pPr>
            <a:r>
              <a:rPr lang="en-US" sz="850" i="1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TSMC, Samsung, Micron, Intel filings</a:t>
            </a:r>
            <a:endParaRPr lang="en-US" sz="85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85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Slide 15  ·  </a:t>
            </a:r>
            <a:pPr indent="0" marL="0">
              <a:spcAft>
                <a:spcPts val="200"/>
              </a:spcAft>
              <a:buNone/>
            </a:pPr>
            <a:r>
              <a:rPr lang="en-US" sz="85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"CHIPS $36B of $52.7B committed"</a:t>
            </a:r>
            <a:pPr indent="0" marL="0">
              <a:spcAft>
                <a:spcPts val="200"/>
              </a:spcAft>
              <a:buNone/>
            </a:pPr>
            <a:r>
              <a:rPr lang="en-US" sz="85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—  </a:t>
            </a:r>
            <a:pPr indent="0" marL="0">
              <a:spcAft>
                <a:spcPts val="200"/>
              </a:spcAft>
              <a:buNone/>
            </a:pPr>
            <a:r>
              <a:rPr lang="en-US" sz="850" i="1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US Commerce Dept (Nov 2025)</a:t>
            </a:r>
            <a:endParaRPr lang="en-US" sz="85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85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Slide 16  ·  </a:t>
            </a:r>
            <a:pPr indent="0" marL="0">
              <a:spcAft>
                <a:spcPts val="200"/>
              </a:spcAft>
              <a:buNone/>
            </a:pPr>
            <a:r>
              <a:rPr lang="en-US" sz="85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H100/H200/Blackwell export ban</a:t>
            </a:r>
            <a:pPr indent="0" marL="0">
              <a:spcAft>
                <a:spcPts val="200"/>
              </a:spcAft>
              <a:buNone/>
            </a:pPr>
            <a:r>
              <a:rPr lang="en-US" sz="85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—  </a:t>
            </a:r>
            <a:pPr indent="0" marL="0">
              <a:spcAft>
                <a:spcPts val="200"/>
              </a:spcAft>
              <a:buNone/>
            </a:pPr>
            <a:r>
              <a:rPr lang="en-US" sz="850" i="1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US Bureau of Industry and Security</a:t>
            </a:r>
            <a:endParaRPr lang="en-US" sz="85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85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Slide 16  ·  </a:t>
            </a:r>
            <a:pPr indent="0" marL="0">
              <a:spcAft>
                <a:spcPts val="200"/>
              </a:spcAft>
              <a:buNone/>
            </a:pPr>
            <a:r>
              <a:rPr lang="en-US" sz="85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"NVIDIA $5.5B H20 writedown"</a:t>
            </a:r>
            <a:pPr indent="0" marL="0">
              <a:spcAft>
                <a:spcPts val="200"/>
              </a:spcAft>
              <a:buNone/>
            </a:pPr>
            <a:r>
              <a:rPr lang="en-US" sz="85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—  </a:t>
            </a:r>
            <a:pPr indent="0" marL="0">
              <a:spcAft>
                <a:spcPts val="200"/>
              </a:spcAft>
              <a:buNone/>
            </a:pPr>
            <a:r>
              <a:rPr lang="en-US" sz="850" i="1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NVIDIA 10-Q</a:t>
            </a:r>
            <a:endParaRPr lang="en-US" sz="85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85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Slide 16  ·  </a:t>
            </a:r>
            <a:pPr indent="0" marL="0">
              <a:spcAft>
                <a:spcPts val="200"/>
              </a:spcAft>
              <a:buNone/>
            </a:pPr>
            <a:r>
              <a:rPr lang="en-US" sz="85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ASML DUV ban; China ~20% revenue</a:t>
            </a:r>
            <a:pPr indent="0" marL="0">
              <a:spcAft>
                <a:spcPts val="200"/>
              </a:spcAft>
              <a:buNone/>
            </a:pPr>
            <a:r>
              <a:rPr lang="en-US" sz="85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—  </a:t>
            </a:r>
            <a:pPr indent="0" marL="0">
              <a:spcAft>
                <a:spcPts val="200"/>
              </a:spcAft>
              <a:buNone/>
            </a:pPr>
            <a:r>
              <a:rPr lang="en-US" sz="850" i="1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ASML filings</a:t>
            </a:r>
            <a:endParaRPr lang="en-US" sz="85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85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Slide 16  ·  </a:t>
            </a:r>
            <a:pPr indent="0" marL="0">
              <a:spcAft>
                <a:spcPts val="200"/>
              </a:spcAft>
              <a:buNone/>
            </a:pPr>
            <a:r>
              <a:rPr lang="en-US" sz="85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"EU AI Act Aug 2, 2026 enforcement"</a:t>
            </a:r>
            <a:pPr indent="0" marL="0">
              <a:spcAft>
                <a:spcPts val="200"/>
              </a:spcAft>
              <a:buNone/>
            </a:pPr>
            <a:r>
              <a:rPr lang="en-US" sz="85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—  </a:t>
            </a:r>
            <a:pPr indent="0" marL="0">
              <a:spcAft>
                <a:spcPts val="200"/>
              </a:spcAft>
              <a:buNone/>
            </a:pPr>
            <a:r>
              <a:rPr lang="en-US" sz="850" i="1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EU AI Act Article 99 / Chapter V</a:t>
            </a:r>
            <a:endParaRPr lang="en-US" sz="85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85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Slide 16  ·  </a:t>
            </a:r>
            <a:pPr indent="0" marL="0">
              <a:spcAft>
                <a:spcPts val="200"/>
              </a:spcAft>
              <a:buNone/>
            </a:pPr>
            <a:r>
              <a:rPr lang="en-US" sz="85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"SMIC 5nm yield ~20%"</a:t>
            </a:r>
            <a:pPr indent="0" marL="0">
              <a:spcAft>
                <a:spcPts val="200"/>
              </a:spcAft>
              <a:buNone/>
            </a:pPr>
            <a:r>
              <a:rPr lang="en-US" sz="85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—  </a:t>
            </a:r>
            <a:pPr indent="0" marL="0">
              <a:spcAft>
                <a:spcPts val="200"/>
              </a:spcAft>
              <a:buNone/>
            </a:pPr>
            <a:r>
              <a:rPr lang="en-US" sz="850" i="1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public industry reports</a:t>
            </a:r>
            <a:endParaRPr lang="en-US" sz="85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85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Slide 17  ·  </a:t>
            </a:r>
            <a:pPr indent="0" marL="0">
              <a:spcAft>
                <a:spcPts val="200"/>
              </a:spcAft>
              <a:buNone/>
            </a:pPr>
            <a:r>
              <a:rPr lang="en-US" sz="85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"$18B halted / $46B delayed"</a:t>
            </a:r>
            <a:pPr indent="0" marL="0">
              <a:spcAft>
                <a:spcPts val="200"/>
              </a:spcAft>
              <a:buNone/>
            </a:pPr>
            <a:r>
              <a:rPr lang="en-US" sz="85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—  </a:t>
            </a:r>
            <a:pPr indent="0" marL="0">
              <a:spcAft>
                <a:spcPts val="200"/>
              </a:spcAft>
              <a:buNone/>
            </a:pPr>
            <a:r>
              <a:rPr lang="en-US" sz="850" i="1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Data Center Watch</a:t>
            </a:r>
            <a:endParaRPr lang="en-US" sz="85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85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Slide 17  ·  </a:t>
            </a:r>
            <a:pPr indent="0" marL="0">
              <a:spcAft>
                <a:spcPts val="200"/>
              </a:spcAft>
              <a:buNone/>
            </a:pPr>
            <a:r>
              <a:rPr lang="en-US" sz="85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"142 activist groups, 24 states"</a:t>
            </a:r>
            <a:pPr indent="0" marL="0">
              <a:spcAft>
                <a:spcPts val="200"/>
              </a:spcAft>
              <a:buNone/>
            </a:pPr>
            <a:r>
              <a:rPr lang="en-US" sz="85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—  </a:t>
            </a:r>
            <a:pPr indent="0" marL="0">
              <a:spcAft>
                <a:spcPts val="200"/>
              </a:spcAft>
              <a:buNone/>
            </a:pPr>
            <a:r>
              <a:rPr lang="en-US" sz="850" i="1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Data Center Watch</a:t>
            </a:r>
            <a:endParaRPr lang="en-US" sz="85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85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Slide 17  ·  </a:t>
            </a:r>
            <a:pPr indent="0" marL="0">
              <a:spcAft>
                <a:spcPts val="200"/>
              </a:spcAft>
              <a:buNone/>
            </a:pPr>
            <a:r>
              <a:rPr lang="en-US" sz="85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"26% of Americans positive on AI"</a:t>
            </a:r>
            <a:pPr indent="0" marL="0">
              <a:spcAft>
                <a:spcPts val="200"/>
              </a:spcAft>
              <a:buNone/>
            </a:pPr>
            <a:r>
              <a:rPr lang="en-US" sz="85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—  </a:t>
            </a:r>
            <a:pPr indent="0" marL="0">
              <a:spcAft>
                <a:spcPts val="200"/>
              </a:spcAft>
              <a:buNone/>
            </a:pPr>
            <a:r>
              <a:rPr lang="en-US" sz="850" i="1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Echelon Insights</a:t>
            </a:r>
            <a:endParaRPr lang="en-US" sz="85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85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Slide 17  ·  </a:t>
            </a:r>
            <a:pPr indent="0" marL="0">
              <a:spcAft>
                <a:spcPts val="200"/>
              </a:spcAft>
              <a:buNone/>
            </a:pPr>
            <a:r>
              <a:rPr lang="en-US" sz="85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"Stop the AI Race" Mar 2026 protests</a:t>
            </a:r>
            <a:pPr indent="0" marL="0">
              <a:spcAft>
                <a:spcPts val="200"/>
              </a:spcAft>
              <a:buNone/>
            </a:pPr>
            <a:r>
              <a:rPr lang="en-US" sz="85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—  </a:t>
            </a:r>
            <a:pPr indent="0" marL="0">
              <a:spcAft>
                <a:spcPts val="200"/>
              </a:spcAft>
              <a:buNone/>
            </a:pPr>
            <a:r>
              <a:rPr lang="en-US" sz="850" i="1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Stop the AI Race; TIME; CNN</a:t>
            </a:r>
            <a:endParaRPr lang="en-US" sz="85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85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Slide 17  ·  </a:t>
            </a:r>
            <a:pPr indent="0" marL="0">
              <a:spcAft>
                <a:spcPts val="200"/>
              </a:spcAft>
              <a:buNone/>
            </a:pPr>
            <a:r>
              <a:rPr lang="en-US" sz="85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"~480K data-center workforce gap"</a:t>
            </a:r>
            <a:pPr indent="0" marL="0">
              <a:spcAft>
                <a:spcPts val="200"/>
              </a:spcAft>
              <a:buNone/>
            </a:pPr>
            <a:r>
              <a:rPr lang="en-US" sz="85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—  </a:t>
            </a:r>
            <a:pPr indent="0" marL="0">
              <a:spcAft>
                <a:spcPts val="200"/>
              </a:spcAft>
              <a:buNone/>
            </a:pPr>
            <a:r>
              <a:rPr lang="en-US" sz="850" i="1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Data Center Frontier</a:t>
            </a:r>
            <a:endParaRPr lang="en-US" sz="850" dirty="0"/>
          </a:p>
        </p:txBody>
      </p:sp>
      <p:sp>
        <p:nvSpPr>
          <p:cNvPr id="10" name="Shape 8"/>
          <p:cNvSpPr/>
          <p:nvPr/>
        </p:nvSpPr>
        <p:spPr>
          <a:xfrm>
            <a:off x="3264408" y="1874520"/>
            <a:ext cx="2624328" cy="201168"/>
          </a:xfrm>
          <a:prstGeom prst="rect">
            <a:avLst/>
          </a:prstGeom>
          <a:solidFill>
            <a:srgbClr val="6B46C1"/>
          </a:solidFill>
          <a:ln w="12700">
            <a:solidFill>
              <a:srgbClr val="6B46C1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3264408" y="1874520"/>
            <a:ext cx="262432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200" kern="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FRONTIER  ·  18–21</a:t>
            </a:r>
            <a:endParaRPr lang="en-US" sz="900" dirty="0"/>
          </a:p>
        </p:txBody>
      </p:sp>
      <p:sp>
        <p:nvSpPr>
          <p:cNvPr id="12" name="Text 10"/>
          <p:cNvSpPr/>
          <p:nvPr/>
        </p:nvSpPr>
        <p:spPr>
          <a:xfrm>
            <a:off x="3310128" y="2148840"/>
            <a:ext cx="2532888" cy="3566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85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Slide 18  ·  </a:t>
            </a:r>
            <a:pPr indent="0" marL="0">
              <a:spcAft>
                <a:spcPts val="200"/>
              </a:spcAft>
              <a:buNone/>
            </a:pPr>
            <a:r>
              <a:rPr lang="en-US" sz="85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"1,361 W/m² unfiltered solar"</a:t>
            </a:r>
            <a:pPr indent="0" marL="0">
              <a:spcAft>
                <a:spcPts val="200"/>
              </a:spcAft>
              <a:buNone/>
            </a:pPr>
            <a:r>
              <a:rPr lang="en-US" sz="85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—  </a:t>
            </a:r>
            <a:pPr indent="0" marL="0">
              <a:spcAft>
                <a:spcPts val="200"/>
              </a:spcAft>
              <a:buNone/>
            </a:pPr>
            <a:r>
              <a:rPr lang="en-US" sz="850" i="1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solar constant (physical)</a:t>
            </a:r>
            <a:endParaRPr lang="en-US" sz="85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85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Slide 18  ·  </a:t>
            </a:r>
            <a:pPr indent="0" marL="0">
              <a:spcAft>
                <a:spcPts val="200"/>
              </a:spcAft>
              <a:buNone/>
            </a:pPr>
            <a:r>
              <a:rPr lang="en-US" sz="85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Orbital compute players</a:t>
            </a:r>
            <a:pPr indent="0" marL="0">
              <a:spcAft>
                <a:spcPts val="200"/>
              </a:spcAft>
              <a:buNone/>
            </a:pPr>
            <a:r>
              <a:rPr lang="en-US" sz="85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—  </a:t>
            </a:r>
            <a:pPr indent="0" marL="0">
              <a:spcAft>
                <a:spcPts val="200"/>
              </a:spcAft>
              <a:buNone/>
            </a:pPr>
            <a:r>
              <a:rPr lang="en-US" sz="850" i="1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FCC filings; Starcloud, SpaceX, Google Suncatcher, Aetherflux; CNBC</a:t>
            </a:r>
            <a:endParaRPr lang="en-US" sz="85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85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Slide 19  ·  </a:t>
            </a:r>
            <a:pPr indent="0" marL="0">
              <a:spcAft>
                <a:spcPts val="200"/>
              </a:spcAft>
              <a:buNone/>
            </a:pPr>
            <a:r>
              <a:rPr lang="en-US" sz="85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Humanoid deployments in pilots</a:t>
            </a:r>
            <a:pPr indent="0" marL="0">
              <a:spcAft>
                <a:spcPts val="200"/>
              </a:spcAft>
              <a:buNone/>
            </a:pPr>
            <a:r>
              <a:rPr lang="en-US" sz="85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—  </a:t>
            </a:r>
            <a:pPr indent="0" marL="0">
              <a:spcAft>
                <a:spcPts val="200"/>
              </a:spcAft>
              <a:buNone/>
            </a:pPr>
            <a:r>
              <a:rPr lang="en-US" sz="850" i="1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Goldman Sachs humanoid research</a:t>
            </a:r>
            <a:endParaRPr lang="en-US" sz="85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85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Slide 19  ·  </a:t>
            </a:r>
            <a:pPr indent="0" marL="0">
              <a:spcAft>
                <a:spcPts val="200"/>
              </a:spcAft>
              <a:buNone/>
            </a:pPr>
            <a:r>
              <a:rPr lang="en-US" sz="85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Player list</a:t>
            </a:r>
            <a:pPr indent="0" marL="0">
              <a:spcAft>
                <a:spcPts val="200"/>
              </a:spcAft>
              <a:buNone/>
            </a:pPr>
            <a:r>
              <a:rPr lang="en-US" sz="85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—  </a:t>
            </a:r>
            <a:pPr indent="0" marL="0">
              <a:spcAft>
                <a:spcPts val="200"/>
              </a:spcAft>
              <a:buNone/>
            </a:pPr>
            <a:r>
              <a:rPr lang="en-US" sz="850" i="1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Tesla, Figure, Boston Dynamics, Unitree, Agility announcements</a:t>
            </a:r>
            <a:endParaRPr lang="en-US" sz="85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85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Slide 20  ·  </a:t>
            </a:r>
            <a:pPr indent="0" marL="0">
              <a:spcAft>
                <a:spcPts val="200"/>
              </a:spcAft>
              <a:buNone/>
            </a:pPr>
            <a:r>
              <a:rPr lang="en-US" sz="85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"~1.35M road deaths / year"</a:t>
            </a:r>
            <a:pPr indent="0" marL="0">
              <a:spcAft>
                <a:spcPts val="200"/>
              </a:spcAft>
              <a:buNone/>
            </a:pPr>
            <a:r>
              <a:rPr lang="en-US" sz="85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—  </a:t>
            </a:r>
            <a:pPr indent="0" marL="0">
              <a:spcAft>
                <a:spcPts val="200"/>
              </a:spcAft>
              <a:buNone/>
            </a:pPr>
            <a:r>
              <a:rPr lang="en-US" sz="850" i="1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WHO Global Road Safety</a:t>
            </a:r>
            <a:endParaRPr lang="en-US" sz="85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85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Slide 20  ·  </a:t>
            </a:r>
            <a:pPr indent="0" marL="0">
              <a:spcAft>
                <a:spcPts val="200"/>
              </a:spcAft>
              <a:buNone/>
            </a:pPr>
            <a:r>
              <a:rPr lang="en-US" sz="85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AV inference compute scale</a:t>
            </a:r>
            <a:pPr indent="0" marL="0">
              <a:spcAft>
                <a:spcPts val="200"/>
              </a:spcAft>
              <a:buNone/>
            </a:pPr>
            <a:r>
              <a:rPr lang="en-US" sz="85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—  </a:t>
            </a:r>
            <a:pPr indent="0" marL="0">
              <a:spcAft>
                <a:spcPts val="200"/>
              </a:spcAft>
              <a:buNone/>
            </a:pPr>
            <a:r>
              <a:rPr lang="en-US" sz="850" i="1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NVIDIA FY2026</a:t>
            </a:r>
            <a:endParaRPr lang="en-US" sz="85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85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Slide 21  ·  </a:t>
            </a:r>
            <a:pPr indent="0" marL="0">
              <a:spcAft>
                <a:spcPts val="200"/>
              </a:spcAft>
              <a:buNone/>
            </a:pPr>
            <a:r>
              <a:rPr lang="en-US" sz="85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AlphaFold structure prediction</a:t>
            </a:r>
            <a:pPr indent="0" marL="0">
              <a:spcAft>
                <a:spcPts val="200"/>
              </a:spcAft>
              <a:buNone/>
            </a:pPr>
            <a:r>
              <a:rPr lang="en-US" sz="85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—  </a:t>
            </a:r>
            <a:pPr indent="0" marL="0">
              <a:spcAft>
                <a:spcPts val="200"/>
              </a:spcAft>
              <a:buNone/>
            </a:pPr>
            <a:r>
              <a:rPr lang="en-US" sz="850" i="1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Jumper et al., Nature 2020</a:t>
            </a:r>
            <a:endParaRPr lang="en-US" sz="85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85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Slide 21  ·  </a:t>
            </a:r>
            <a:pPr indent="0" marL="0">
              <a:spcAft>
                <a:spcPts val="200"/>
              </a:spcAft>
              <a:buNone/>
            </a:pPr>
            <a:r>
              <a:rPr lang="en-US" sz="85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"~10⁶⁰ drug-like small molecules"</a:t>
            </a:r>
            <a:pPr indent="0" marL="0">
              <a:spcAft>
                <a:spcPts val="200"/>
              </a:spcAft>
              <a:buNone/>
            </a:pPr>
            <a:r>
              <a:rPr lang="en-US" sz="85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—  </a:t>
            </a:r>
            <a:pPr indent="0" marL="0">
              <a:spcAft>
                <a:spcPts val="200"/>
              </a:spcAft>
              <a:buNone/>
            </a:pPr>
            <a:r>
              <a:rPr lang="en-US" sz="850" i="1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Hughes et al., Br. J. Pharmacol.</a:t>
            </a:r>
            <a:endParaRPr lang="en-US" sz="85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85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Slide 21  ·  </a:t>
            </a:r>
            <a:pPr indent="0" marL="0">
              <a:spcAft>
                <a:spcPts val="200"/>
              </a:spcAft>
              <a:buNone/>
            </a:pPr>
            <a:r>
              <a:rPr lang="en-US" sz="85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"10–15 yrs / ~$2.6B per drug"</a:t>
            </a:r>
            <a:pPr indent="0" marL="0">
              <a:spcAft>
                <a:spcPts val="200"/>
              </a:spcAft>
              <a:buNone/>
            </a:pPr>
            <a:r>
              <a:rPr lang="en-US" sz="85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—  </a:t>
            </a:r>
            <a:pPr indent="0" marL="0">
              <a:spcAft>
                <a:spcPts val="200"/>
              </a:spcAft>
              <a:buNone/>
            </a:pPr>
            <a:r>
              <a:rPr lang="en-US" sz="850" i="1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Tufts CSDD drug-development studies</a:t>
            </a:r>
            <a:endParaRPr lang="en-US" sz="85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85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Slide 21  ·  </a:t>
            </a:r>
            <a:pPr indent="0" marL="0">
              <a:spcAft>
                <a:spcPts val="200"/>
              </a:spcAft>
              <a:buNone/>
            </a:pPr>
            <a:r>
              <a:rPr lang="en-US" sz="85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"&lt;10% Phase I success"</a:t>
            </a:r>
            <a:pPr indent="0" marL="0">
              <a:spcAft>
                <a:spcPts val="200"/>
              </a:spcAft>
              <a:buNone/>
            </a:pPr>
            <a:r>
              <a:rPr lang="en-US" sz="85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—  </a:t>
            </a:r>
            <a:pPr indent="0" marL="0">
              <a:spcAft>
                <a:spcPts val="200"/>
              </a:spcAft>
              <a:buNone/>
            </a:pPr>
            <a:r>
              <a:rPr lang="en-US" sz="850" i="1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Hughes et al., Br. J. Pharmacol.</a:t>
            </a:r>
            <a:endParaRPr lang="en-US" sz="850" dirty="0"/>
          </a:p>
        </p:txBody>
      </p:sp>
      <p:sp>
        <p:nvSpPr>
          <p:cNvPr id="13" name="Shape 11"/>
          <p:cNvSpPr/>
          <p:nvPr/>
        </p:nvSpPr>
        <p:spPr>
          <a:xfrm>
            <a:off x="6071616" y="1874520"/>
            <a:ext cx="2624328" cy="201168"/>
          </a:xfrm>
          <a:prstGeom prst="rect">
            <a:avLst/>
          </a:prstGeom>
          <a:solidFill>
            <a:srgbClr val="000000"/>
          </a:solidFill>
          <a:ln w="12700">
            <a:solidFill>
              <a:srgbClr val="000000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6071616" y="1874520"/>
            <a:ext cx="262432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200" kern="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TAKEAWAYS  ·  22</a:t>
            </a:r>
            <a:endParaRPr lang="en-US" sz="900" dirty="0"/>
          </a:p>
        </p:txBody>
      </p:sp>
      <p:sp>
        <p:nvSpPr>
          <p:cNvPr id="15" name="Text 13"/>
          <p:cNvSpPr/>
          <p:nvPr/>
        </p:nvSpPr>
        <p:spPr>
          <a:xfrm>
            <a:off x="6117336" y="2148840"/>
            <a:ext cx="2532888" cy="3566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85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Slide 22  ·  </a:t>
            </a:r>
            <a:pPr indent="0" marL="0">
              <a:spcAft>
                <a:spcPts val="200"/>
              </a:spcAft>
              <a:buNone/>
            </a:pPr>
            <a:r>
              <a:rPr lang="en-US" sz="85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"~$750B hyperscaler 2026 capex"</a:t>
            </a:r>
            <a:pPr indent="0" marL="0">
              <a:spcAft>
                <a:spcPts val="200"/>
              </a:spcAft>
              <a:buNone/>
            </a:pPr>
            <a:r>
              <a:rPr lang="en-US" sz="85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—  </a:t>
            </a:r>
            <a:pPr indent="0" marL="0">
              <a:spcAft>
                <a:spcPts val="200"/>
              </a:spcAft>
              <a:buNone/>
            </a:pPr>
            <a:r>
              <a:rPr lang="en-US" sz="850" i="1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CreditSights / MUFG (Apr 2026)</a:t>
            </a:r>
            <a:endParaRPr lang="en-US" sz="85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85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Slide 22  ·  </a:t>
            </a:r>
            <a:pPr indent="0" marL="0">
              <a:spcAft>
                <a:spcPts val="200"/>
              </a:spcAft>
              <a:buNone/>
            </a:pPr>
            <a:r>
              <a:rPr lang="en-US" sz="85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"AI correlation 80% → 20%"</a:t>
            </a:r>
            <a:pPr indent="0" marL="0">
              <a:spcAft>
                <a:spcPts val="200"/>
              </a:spcAft>
              <a:buNone/>
            </a:pPr>
            <a:r>
              <a:rPr lang="en-US" sz="85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—  </a:t>
            </a:r>
            <a:pPr indent="0" marL="0">
              <a:spcAft>
                <a:spcPts val="200"/>
              </a:spcAft>
              <a:buNone/>
            </a:pPr>
            <a:r>
              <a:rPr lang="en-US" sz="850" i="1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Goldman Sachs correlation data</a:t>
            </a:r>
            <a:endParaRPr lang="en-US" sz="85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85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Slide 22  ·  </a:t>
            </a:r>
            <a:pPr indent="0" marL="0">
              <a:spcAft>
                <a:spcPts val="200"/>
              </a:spcAft>
              <a:buNone/>
            </a:pPr>
            <a:r>
              <a:rPr lang="en-US" sz="85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"Semis +38% / software –20% YTD"</a:t>
            </a:r>
            <a:pPr indent="0" marL="0">
              <a:spcAft>
                <a:spcPts val="200"/>
              </a:spcAft>
              <a:buNone/>
            </a:pPr>
            <a:r>
              <a:rPr lang="en-US" sz="85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—  </a:t>
            </a:r>
            <a:pPr indent="0" marL="0">
              <a:spcAft>
                <a:spcPts val="200"/>
              </a:spcAft>
              <a:buNone/>
            </a:pPr>
            <a:r>
              <a:rPr lang="en-US" sz="850" i="1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Yahoo Finance (Apr 17, 2026)</a:t>
            </a:r>
            <a:endParaRPr lang="en-US" sz="85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85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Slide 22  ·  </a:t>
            </a:r>
            <a:pPr indent="0" marL="0">
              <a:spcAft>
                <a:spcPts val="200"/>
              </a:spcAft>
              <a:buNone/>
            </a:pPr>
            <a:r>
              <a:rPr lang="en-US" sz="85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"HBM TAM $35B → $100B, 2025–28"</a:t>
            </a:r>
            <a:pPr indent="0" marL="0">
              <a:spcAft>
                <a:spcPts val="200"/>
              </a:spcAft>
              <a:buNone/>
            </a:pPr>
            <a:r>
              <a:rPr lang="en-US" sz="85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—  </a:t>
            </a:r>
            <a:pPr indent="0" marL="0">
              <a:spcAft>
                <a:spcPts val="200"/>
              </a:spcAft>
              <a:buNone/>
            </a:pPr>
            <a:r>
              <a:rPr lang="en-US" sz="850" i="1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BofA HBM TAM; TrendForce</a:t>
            </a:r>
            <a:endParaRPr lang="en-US" sz="85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85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Slide 22  ·  </a:t>
            </a:r>
            <a:pPr indent="0" marL="0">
              <a:spcAft>
                <a:spcPts val="200"/>
              </a:spcAft>
              <a:buNone/>
            </a:pPr>
            <a:r>
              <a:rPr lang="en-US" sz="85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Hyperscaler FCF impact</a:t>
            </a:r>
            <a:pPr indent="0" marL="0">
              <a:spcAft>
                <a:spcPts val="200"/>
              </a:spcAft>
              <a:buNone/>
            </a:pPr>
            <a:r>
              <a:rPr lang="en-US" sz="85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—  </a:t>
            </a:r>
            <a:pPr indent="0" marL="0">
              <a:spcAft>
                <a:spcPts val="200"/>
              </a:spcAft>
              <a:buNone/>
            </a:pPr>
            <a:r>
              <a:rPr lang="en-US" sz="850" i="1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Amazon, Meta 10-Qs</a:t>
            </a:r>
            <a:endParaRPr lang="en-US" sz="850" dirty="0"/>
          </a:p>
        </p:txBody>
      </p:sp>
      <p:sp>
        <p:nvSpPr>
          <p:cNvPr id="16" name="Text 14"/>
          <p:cNvSpPr/>
          <p:nvPr/>
        </p:nvSpPr>
        <p:spPr>
          <a:xfrm>
            <a:off x="457200" y="5875020"/>
            <a:ext cx="8229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dirty="0">
                <a:solidFill>
                  <a:srgbClr val="99999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Appendix 2 of 2. End of deck.</a:t>
            </a:r>
            <a:endParaRPr lang="en-US" sz="700" dirty="0"/>
          </a:p>
        </p:txBody>
      </p:sp>
      <p:sp>
        <p:nvSpPr>
          <p:cNvPr id="17" name="Shape 15"/>
          <p:cNvSpPr/>
          <p:nvPr/>
        </p:nvSpPr>
        <p:spPr>
          <a:xfrm>
            <a:off x="0" y="6286500"/>
            <a:ext cx="9144000" cy="571500"/>
          </a:xfrm>
          <a:prstGeom prst="rect">
            <a:avLst/>
          </a:prstGeom>
          <a:solidFill>
            <a:srgbClr val="000000"/>
          </a:solidFill>
          <a:ln w="12700">
            <a:solidFill>
              <a:srgbClr val="000000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1371600" y="6332220"/>
            <a:ext cx="6400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FOR INFORMATIONAL PURPOSES ONLY. NOT INVESTMENT ADVICE. PAST PERFORMANCE IS NOT INDICATIVE OF FUTURE RESULTS.</a:t>
            </a:r>
            <a:endParaRPr lang="en-US" sz="650" dirty="0"/>
          </a:p>
        </p:txBody>
      </p:sp>
      <p:sp>
        <p:nvSpPr>
          <p:cNvPr id="19" name="Text 17"/>
          <p:cNvSpPr/>
          <p:nvPr/>
        </p:nvSpPr>
        <p:spPr>
          <a:xfrm>
            <a:off x="8321040" y="6405372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A2</a:t>
            </a:r>
            <a:endParaRPr lang="en-US" sz="9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24</Slides>
  <Notes>24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24</vt:i4>
      </vt:variant>
    </vt:vector>
  </HeadingPairs>
  <TitlesOfParts>
    <vt:vector size="27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AI Markets — May 2026</dc:title>
  <dc:subject>PptxGenJS Presentation</dc:subject>
  <dc:creator>Strategy</dc:creator>
  <cp:lastModifiedBy>Strategy</cp:lastModifiedBy>
  <cp:revision>1</cp:revision>
  <dcterms:created xsi:type="dcterms:W3CDTF">2026-04-24T22:50:24Z</dcterms:created>
  <dcterms:modified xsi:type="dcterms:W3CDTF">2026-04-24T22:50:24Z</dcterms:modified>
</cp:coreProperties>
</file>