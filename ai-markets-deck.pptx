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2026E $B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Logic</c:v>
                  </c:pt>
                  <c:pt idx="1">
                    <c:v>Memory</c:v>
                  </c:pt>
                  <c:pt idx="2">
                    <c:v>Analog</c:v>
                  </c:pt>
                  <c:pt idx="3">
                    <c:v>Micro</c:v>
                  </c:pt>
                  <c:pt idx="4">
                    <c:v>Discrete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302</c:v>
                </c:pt>
                <c:pt idx="1">
                  <c:v>295</c:v>
                </c:pt>
                <c:pt idx="2">
                  <c:v>95</c:v>
                </c:pt>
                <c:pt idx="3">
                  <c:v>85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HBM TAM $B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16</c:v>
                </c:pt>
                <c:pt idx="2">
                  <c:v>35</c:v>
                </c:pt>
                <c:pt idx="3">
                  <c:v>55</c:v>
                </c:pt>
                <c:pt idx="4">
                  <c:v>80</c:v>
                </c:pt>
                <c:pt idx="5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10 Tech</c:v>
                </c:pt>
              </c:strCache>
            </c:strRef>
          </c:tx>
          <c:spPr>
            <a:solidFill>
              <a:srgbClr val="FFFFFF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-5</c:v>
                </c:pt>
                <c:pt idx="1">
                  <c:v>0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50</c:v>
                </c:pt>
                <c:pt idx="7">
                  <c:v>60</c:v>
                </c:pt>
                <c:pt idx="8">
                  <c:v>70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28</c:v>
                </c:pt>
                <c:pt idx="1">
                  <c:v>22</c:v>
                </c:pt>
                <c:pt idx="2">
                  <c:v>28</c:v>
                </c:pt>
                <c:pt idx="3">
                  <c:v>20</c:v>
                </c:pt>
                <c:pt idx="4">
                  <c:v>28</c:v>
                </c:pt>
                <c:pt idx="5">
                  <c:v>24</c:v>
                </c:pt>
                <c:pt idx="6">
                  <c:v>19</c:v>
                </c:pt>
                <c:pt idx="7">
                  <c:v>22</c:v>
                </c:pt>
                <c:pt idx="8">
                  <c:v>10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Top 10 Non-Tech</c:v>
                </c:pt>
              </c:strCache>
            </c:strRef>
          </c:tx>
          <c:spPr>
            <a:solidFill>
              <a:srgbClr val="FFB80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FB800"/>
              </a:solidFill>
              <a:ln w="9525" cap="flat">
                <a:solidFill>
                  <a:srgbClr val="FFB800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-5</c:v>
                </c:pt>
                <c:pt idx="1">
                  <c:v>0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50</c:v>
                </c:pt>
                <c:pt idx="7">
                  <c:v>60</c:v>
                </c:pt>
                <c:pt idx="8">
                  <c:v>70</c:v>
                </c:pt>
              </c:numCache>
            </c:numRef>
          </c:xVal>
          <c:yVal>
            <c:numRef>
              <c:f>Sheet1!$C$2:$C$10</c:f>
              <c:numCache>
                <c:formatCode>General</c:formatCode>
                <c:ptCount val="9"/>
                <c:pt idx="0">
                  <c:v>34</c:v>
                </c:pt>
                <c:pt idx="1">
                  <c:v>48</c:v>
                </c:pt>
                <c:pt idx="2">
                  <c:v>32</c:v>
                </c:pt>
                <c:pt idx="3">
                  <c:v>24</c:v>
                </c:pt>
                <c:pt idx="4">
                  <c:v>15</c:v>
                </c:pt>
                <c:pt idx="5">
                  <c:v>22</c:v>
                </c:pt>
                <c:pt idx="6">
                  <c:v>18</c:v>
                </c:pt>
                <c:pt idx="7">
                  <c:v>14</c:v>
                </c:pt>
                <c:pt idx="8">
                  <c:v/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66666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66666"/>
                    </a:solidFill>
                    <a:latin typeface="Arial"/>
                  </a:rPr>
                  <a:t>Revenue growth, 2026E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66666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66666"/>
                    </a:solidFill>
                    <a:latin typeface="Arial"/>
                  </a:rPr>
                  <a:t>P/E, 2026E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 (SOXX)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 (IGV)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822960"/>
            <a:ext cx="2926080" cy="43891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943600" y="822960"/>
            <a:ext cx="27432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Hero — abstract GPU / data-center close-up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223760" y="320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685800"/>
            <a:ext cx="15544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0240"/>
            <a:ext cx="731520" cy="914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945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capex cycle repricing every layer of tech.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Note  |  Equity Research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argument, in five parts.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Landscape, Market, Shifts, Risks, Frontier. Each answers a different question about the same ~$750B capex cycle.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103120"/>
            <a:ext cx="9144000" cy="32918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240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AT A GLANCE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56616" y="2651760"/>
            <a:ext cx="1554480" cy="24231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6616" y="2651760"/>
            <a:ext cx="1554480" cy="54864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6616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" y="406908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is, where it runs, why it matters.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56616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3–6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5688" y="2651760"/>
            <a:ext cx="1554480" cy="24231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75688" y="2651760"/>
            <a:ext cx="1554480" cy="54864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75688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075688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85416" y="406908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Semis, labs, and how AI has repriced earnings.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75688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7–9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794760" y="2651760"/>
            <a:ext cx="1554480" cy="24231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94760" y="2651760"/>
            <a:ext cx="155448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794760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04488" y="406908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era and the great divergence.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10–11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13832" y="2651760"/>
            <a:ext cx="1554480" cy="24231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13832" y="2651760"/>
            <a:ext cx="155448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13832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23560" y="406908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Bubble, supply chain, policy, backlash.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513832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12–15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232904" y="2651760"/>
            <a:ext cx="1554480" cy="24231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32904" y="2651760"/>
            <a:ext cx="1554480" cy="54864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2904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7232904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42632" y="406908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Orbital, physical, autonomy, biology.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32904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16–19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20 slides, read top to bottom.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the largest capex cycle in history, it touches every layer of the economy, and it is repricing everything — in both directions.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$750B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hyperscaler capex — Big 5 combined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$4T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AI data-center spend through 2030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+38%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semiconductors (SOXX) YTD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–20%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(IGV) YTD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12064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120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~58-point spread between semis and software. The same AI wave is creating winners and losers simultaneously.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Deutsche Bank; iShares SOXX &amp; IGV YTD total return as of Apr 17, 2026.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rare earths in the ground to agents that act on your behalf. Eleven layers, each investable, each with its own constraint.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137160" cy="292608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544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80" y="15544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583680" y="1591056"/>
            <a:ext cx="2057400" cy="219456"/>
          </a:xfrm>
          <a:prstGeom prst="roundRect">
            <a:avLst>
              <a:gd name="adj" fmla="val 12500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59105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FASTEST-GROWING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13716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920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97480" y="19202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13716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2860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97480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13716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651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97480" y="26517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017520"/>
            <a:ext cx="13716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017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97480" y="3017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383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97480" y="33832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749040"/>
            <a:ext cx="13716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697480" y="3749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83680" y="3785616"/>
            <a:ext cx="2057400" cy="219456"/>
          </a:xfrm>
          <a:prstGeom prst="roundRect">
            <a:avLst>
              <a:gd name="adj" fmla="val 12500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378561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BOTTLENECK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411480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1148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69748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448056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4805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97480" y="4480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4846320"/>
            <a:ext cx="13716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48463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697480" y="4846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7200" y="5212080"/>
            <a:ext cx="13716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" y="52120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97480" y="52120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Layers ordered top (closest to user) to bottom (closest to atoms).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semiconductor market.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~$975B market. Logic and memory drive the engine; HBM is the bottleneck on its way to a $100B TAM — and the HBM oligopoly is a Korean story.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 revenue by segment, 2026E ($B)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TAM ($B) — 25× growth, 2023 → 2028E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2" name="Chart 1" descr=""/>
          <p:cNvGraphicFramePr/>
          <p:nvPr/>
        </p:nvGraphicFramePr>
        <p:xfrm>
          <a:off x="4754880" y="2011680"/>
          <a:ext cx="3931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KOREAN OLIGOPOLY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" y="4864608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= ~78% of HBM, ~76% of DRAM. </a:t>
            </a:r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Hynix's 2025 operating profit hit ₩47.2T (~$33B) — an all-time record that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overtook Samsung for the first time. </a:t>
            </a:r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revenue more than doubled YoY.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$975B total, +26% YoY. Logic + memory = ~$600B, tracking hyperscaler capex almost dollar-for-dollar.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 Fall 2025 forecast; SIA; BofA 2026 HBM TAM; SK Hynix FY25 results (₩97.1T rev, ₩47.2T op profit, Jan 2026); Samsung Q4 2025 filings; TrendForce; Counterpoint Research.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frontier labs now worth ~$1.5T in aggregate private value. Q1 2026 doubled all of 2025's foundational-AI VC funding — and VCs are still chasing.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280160"/>
                <a:gridCol w="137160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event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$852B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~35× ARR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$122B round · AMZN / NVDA / SoftBank · Apr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$380B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~13× ARR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$30B Series G (Feb); VCs now offering $800B+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$230B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~77× ARR*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$20B Nvidia-led Series E · Q1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Mistral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~14× ARR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€1.7B Series C · Jun 2024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30352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303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CNBC, Tech-Insider (Apr 2026); Crunchbase Q1 2026 VC data; Sacra ARR run-rates; Bloomberg. *xAI ARR estimated.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P/E vs 2026E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3474720"/>
            <a:ext cx="1965960" cy="1463040"/>
          </a:xfrm>
          <a:prstGeom prst="rect">
            <a:avLst/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2011680"/>
            <a:ext cx="1965960" cy="1463040"/>
          </a:xfrm>
          <a:prstGeom prst="rect">
            <a:avLst/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470916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 for low growth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766560" y="205740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Inexpensive for high growth</a:t>
            </a:r>
            <a:endParaRPr lang="en-US" sz="85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754880" y="2011680"/>
          <a:ext cx="39319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0" name="Shape 37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growing ~4× faster than top 10 Non-Tech — at a cheaper multiple.</a:t>
            </a:r>
            <a:endParaRPr lang="en-US" sz="1150" dirty="0"/>
          </a:p>
        </p:txBody>
      </p:sp>
      <p:sp>
        <p:nvSpPr>
          <p:cNvPr id="42" name="Text 3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Bloomberg consensus estimates (2026E); company filings. Top 10 defined by 2026E revenue within each group. Individual P/E / growth points are indicative.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5" name="Text 4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50292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192024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76072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Agent UI — terminal / IDE with an AI coworker session (e.g. Claude Code)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are buying dev-tool companies (Bun, Astral) to lock the coding stack.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company announcements; TechCrunch acquisition reporting.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are up, software is down — a ~58-point YTD spread inside one theme.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2011680"/>
            <a:ext cx="3931920" cy="292608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2011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5488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0" y="2377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capacity +50% in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75488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669280" y="27432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+68%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9224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out; $8B run-rate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754880" y="310896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0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+62%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9224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HBM share; HBM4 ramp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754880" y="3566160"/>
            <a:ext cx="393192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54880" y="3566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diSAAS-ter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75488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–22%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92240" y="3931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model under agent threat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54880" y="429768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0" y="4297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–24%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92240" y="4297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Gen-AI erodes content moat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54880" y="466344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–19%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92240" y="4663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disrupted by agents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iShares SOXX / IGV / QQQ YTD total return, Apr 17, 2026; Yahoo Finance; Counterpoint Research; Morgan Stanley CIO Survey. Single-stock YTDs indicative.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5" name="Text 3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2026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103120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P/E, Mar 2000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fwd P/E, Apr 17, 2026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61488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tech IPOs were profitable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(2× S&amp;P)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3419856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 market 90–95% of list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78224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telcos went bankrupt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(vs ~80% S&amp;P)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Harding Loevner (Cisco); GuruFocus (NVDA fwd P/E Apr 17, 2026); Jay Ritter / UF; Bloomberg; CoreWeave 2nd market; FCC dark fiber data.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combined DRAM share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&lt;100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EUV machines ASML builds per year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 committed (of $52.7B)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online ~2026–27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3746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8318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58318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1772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ground; online ~2028–30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60654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226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5226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 under build; online ~2027–28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5440680"/>
            <a:ext cx="822960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440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$5.5B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4864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H20 writedown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banned from China.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share ~20%.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38328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fine cap (of global revenue) — Aug 2 enforcement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47472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 of enterprises feel prepared.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~$36B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21792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 committed (of $52.7B authorized)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0936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$64B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data-center projects blocked or delayed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Americans view AI positively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~480K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workforce gap (US)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is the epicenter with 42 groups.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9184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3756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21, 2026 "Stop the AI Race" protests targeted Anthropic, OpenAI, xAI HQs. 56% of Americans are anxious about AI.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7220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ops roles short 467K–498K workers. 400+ data centers under construction; talent, not capital, is binding.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orbital data-center satellite (solar wings, Earth below)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82880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01752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062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humanoid robot on a factory / warehouse floor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AV sensor-visualization or fleet photo (Waymo / Tesla FSD)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solved protein folding. AI-designed drugs are in Phase 1/2 trials. The pharma R&amp;D cycle is compressing from a decade to under two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Protein structure render / AI drug-design visual (AlphaFold-style ribbon diagram)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006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240M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structures in AlphaFold DB (nearly all known)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6898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6898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Isomorphic Labs' combined deals with Lilly + Novartis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5790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60PB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05790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Recursion's proprietary biological data (post-Exscientia merger)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FOLDING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50-year structure-prediction problem, solved. 3M+ researchers across 190 countries use the DB.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PHARMA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Isomorphic, Recursion + Exscientia, Insitro. AI-designed small molecules already in Phase 1/2 trials.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2648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R&amp;D COMPRESSION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→ IND shrinking from ~10 years to ~18 months on the fastest platforms.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5532120"/>
            <a:ext cx="822960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532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DeepMind / Isomorphic Labs · Recursion + Exscientia · Insitro · Generate Biomedicines · Moderna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DeepMind AlphaFold DB (Feb 2026 — 240M structures, 3M researchers); Isomorphic Labs / Fierce Biotech (Jan 2024, Feb 2025 partnerships); Recursion FY25 filings (Exscientia merger Jul 2025); CNBC; Nature.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(SOXX) +38% YTD, software (IGV)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iShares SOXX / IGV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2026-04-23T03:29:46Z</dcterms:created>
  <dcterms:modified xsi:type="dcterms:W3CDTF">2026-04-23T03:29:46Z</dcterms:modified>
</cp:coreProperties>
</file>