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8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Compute demanded</c:v>
                </c:pt>
              </c:strCache>
            </c:strRef>
          </c:tx>
          <c:spPr>
            <a:solidFill>
              <a:srgbClr val="008B8B">
                <a:alpha val="3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25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50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>75</c:v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100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</c:v>
                </c:pt>
                <c:pt idx="1">
                  <c:v>0.8213410245942243</c:v>
                </c:pt>
                <c:pt idx="2">
                  <c:v>1.8522653968754919</c:v>
                </c:pt>
                <c:pt idx="3">
                  <c:v>3.1462529483783452</c:v>
                </c:pt>
                <c:pt idx="4">
                  <c:v>4.7704300737470735</c:v>
                </c:pt>
                <c:pt idx="5">
                  <c:v>6.80905195346089</c:v>
                </c:pt>
                <c:pt idx="6">
                  <c:v>9.367873342787117</c:v>
                </c:pt>
                <c:pt idx="7">
                  <c:v>12.57963466430917</c:v>
                </c:pt>
                <c:pt idx="8">
                  <c:v>16.61094799843026</c:v>
                </c:pt>
                <c:pt idx="9">
                  <c:v>21.67094018681646</c:v>
                </c:pt>
                <c:pt idx="10">
                  <c:v>28.022101415049644</c:v>
                </c:pt>
                <c:pt idx="11">
                  <c:v>35.99390205134219</c:v>
                </c:pt>
                <c:pt idx="12">
                  <c:v>45.999884123139324</c:v>
                </c:pt>
                <c:pt idx="13">
                  <c:v>58.559114062397896</c:v>
                </c:pt>
                <c:pt idx="14">
                  <c:v>74.32310959380688</c:v>
                </c:pt>
                <c:pt idx="15">
                  <c:v>94.10963761472414</c:v>
                </c:pt>
                <c:pt idx="16">
                  <c:v>118.94513635249562</c:v>
                </c:pt>
                <c:pt idx="17">
                  <c:v>150.11796247448132</c:v>
                </c:pt>
                <c:pt idx="18">
                  <c:v>189.24522537714472</c:v>
                </c:pt>
                <c:pt idx="19">
                  <c:v>238.35667572377835</c:v>
                </c:pt>
                <c:pt idx="20">
                  <c:v>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A9AA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2A2A3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2026E capex ($B)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Amazon</c:v>
                  </c:pt>
                  <c:pt idx="1">
                    <c:v>Microsoft</c:v>
                  </c:pt>
                  <c:pt idx="2">
                    <c:v>Alphabet</c:v>
                  </c:pt>
                  <c:pt idx="3">
                    <c:v>Meta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200</c:v>
                </c:pt>
                <c:pt idx="1">
                  <c:v>190</c:v>
                </c:pt>
                <c:pt idx="2">
                  <c:v>180</c:v>
                </c:pt>
                <c:pt idx="3">
                  <c:v>135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Combined capex ($B)</c:v>
                </c:pt>
              </c:strCache>
            </c:strRef>
          </c:tx>
          <c:spPr>
            <a:solidFill>
              <a:srgbClr val="E5E5E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6693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2026E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410</c:v>
                </c:pt>
                <c:pt idx="1">
                  <c:v>705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TWh</c:v>
                </c:pt>
              </c:strCache>
            </c:strRef>
          </c:tx>
          <c:spPr>
            <a:solidFill>
              <a:srgbClr val="E5E5E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8B8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485</c:v>
                </c:pt>
                <c:pt idx="1">
                  <c:v>950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Run rate ($B)</c:v>
                </c:pt>
              </c:strCache>
            </c:strRef>
          </c:tx>
          <c:spPr>
            <a:solidFill>
              <a:srgbClr val="E5E5E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B80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</c:v>
                </c:pt>
                <c:pt idx="1">
                  <c:v>47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Top-10 share (%)</c:v>
                </c:pt>
              </c:strCache>
            </c:strRef>
          </c:tx>
          <c:spPr>
            <a:solidFill>
              <a:srgbClr val="E5E5E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B8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6693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2015</c:v>
                  </c:pt>
                  <c:pt idx="2">
                    <c:v>2025 peak</c:v>
                  </c:pt>
                  <c:pt idx="3">
                    <c:v>Jun 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</c:v>
                </c:pt>
                <c:pt idx="1">
                  <c:v>18</c:v>
                </c:pt>
                <c:pt idx="2">
                  <c:v>40.7</c:v>
                </c:pt>
                <c:pt idx="3">
                  <c:v>37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YTD total return (%)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66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8B8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6666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B80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C0000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Semis (SOXX)</c:v>
                  </c:pt>
                  <c:pt idx="1">
                    <c:v>Equal-weight (RSP)</c:v>
                  </c:pt>
                  <c:pt idx="2">
                    <c:v>S&amp;P 500</c:v>
                  </c:pt>
                  <c:pt idx="3">
                    <c:v>Mag 7 (MAGS)</c:v>
                  </c:pt>
                  <c:pt idx="4">
                    <c:v>Software (IGV)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79.5</c:v>
                </c:pt>
                <c:pt idx="1">
                  <c:v>14.3</c:v>
                </c:pt>
                <c:pt idx="2">
                  <c:v>11.3</c:v>
                </c:pt>
                <c:pt idx="3">
                  <c:v>5.9</c:v>
                </c:pt>
                <c:pt idx="4">
                  <c:v>-9.5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20"/>
        </c:scaling>
        <c:delete val="1"/>
        <c:axPos val="l"/>
        <c:majorGridlines>
          <c:spPr>
            <a:ln w="635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Forward P/E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66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B8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8B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S&amp;P 500</c:v>
                  </c:pt>
                  <c:pt idx="1">
                    <c:v>10-yr avg</c:v>
                  </c:pt>
                  <c:pt idx="2">
                    <c:v>S&amp;P Tech</c:v>
                  </c:pt>
                  <c:pt idx="3">
                    <c:v>Nvidia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21.1</c:v>
                </c:pt>
                <c:pt idx="1">
                  <c:v>19</c:v>
                </c:pt>
                <c:pt idx="2">
                  <c:v>24.4</c:v>
                </c:pt>
                <c:pt idx="3">
                  <c:v>22.5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6693D"/>
              </a:solidFill>
              <a:effectLst/>
            </c:spPr>
          </c:dPt>
          <c:dPt>
            <c:idx val="1"/>
            <c:bubble3D val="0"/>
            <c:spPr>
              <a:solidFill>
                <a:srgbClr val="FFB800"/>
              </a:solidFill>
              <a:effectLst/>
            </c:spPr>
          </c:dPt>
          <c:dPt>
            <c:idx val="2"/>
            <c:bubble3D val="0"/>
            <c:spPr>
              <a:solidFill>
                <a:srgbClr val="E5E5E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Top 3 (Nvidia, Apple, Microsoft) — $18</c:v>
                </c:pt>
                <c:pt idx="1">
                  <c:v>Rest of top 10 — $19</c:v>
                </c:pt>
                <c:pt idx="2">
                  <c:v>Other 490 stocks — $63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</c:v>
                </c:pt>
                <c:pt idx="1">
                  <c:v>19</c:v>
                </c:pt>
                <c:pt idx="2">
                  <c:v>63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version of the deck is built as a show: what just changed (slides 2–3), why the agentic shift matters (Act 1), the physical and financial machinery behind it (Acts 2–3), the political stakes (Act 4), and where it's heading — orbit, embodiment, biology, even talking to animals (Act 5). Every stop returns to one question: what does this do to equity markets and portfolios.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show opener. Walk the line left to right: February the money (capex guidance + Oracle's mega-print), spring the capability (functional SOTA sweep — the 'step change'), April the market reaction (chips +35% in a month), then scarcity priced in public ($920M/month rental), policy waking up, and June's demand proof ($47B run rate, memory shortages in the real economy). Items without hard dates in the source review are labeled 'spring' — don't overclaim precision. The punchline: these aren't six stories, they're one story arriving on every channel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slide — and the reason this isn't 2023's hype cycle: three independent systems shifting in the same direction at once. Capability: models stopped being chat products and became loop-running systems (Act 1). Economics: the financial viability of massive compute is now demonstrated, not assumed — 18-month paybacks, nine-figure monthly rentals (Act 2–3). Policy: when governments discuss taking equity, the asset class has changed category (Act 4). The black banner is the line to read aloud: the chatbot era's economics are exhausted; the agentic era's economics are just starting to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 One. Two proofs that the shift is real, not narrative: corporates are writing token budgets (you don't ration what's abundant), and the benchmark regime changed — models are now judged on functional reliability in high-consequence domains, not conversational quality. Both come from the strategic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why-it-matters slide for the whole deck. Left: the unit of work changed — from one-shot prompting to loops that try, fail, fix, and ship without a human in each cycle. Boris Cherny's line — 'my job is to write loops' — is the cleanest articulation. Right: three consequences — individual output compounding (the advantage gap), the reliability threshold being crossed (Karpathy's tap), and deployment into critical infrastructure (Glasswing: 150 orgs, 15 countries — this is production, not demo). Bottom line connects to economics: loops are token furnaces, which is why demand goes exponential (next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message slide — give it time. The Jevons paradox (coal, 1865): efficiency gains in using a resource increase total consumption of it. Applied here: as agents make software effectively free to produce, we don't write the same software cheaper — we write categorically more of it: PDF summaries become dashboards become disposable single-use apps become giant custom research projects. OpenAI's Codex Sites ('disposable software') is this curve productized. Investment translation: efficiency improvements in models do NOT cap compute demand — they expand it. That's why the capex sprint (Act 2) keeps accelerating even as cost-per-token falls.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data points, one message: enterprises now treat tokens as a metered input with a budget line. Uber: $1,500/month per employee. Walmart: killed unlimited access for Code Puppy, moved to budgets plus efficiency training. The 20–25% coordination-time figure is the demand side — the pool of working hours agents are bought to recover. The READ box carries the investability point: token budgets are the cleanest demand gauge the market has for agentic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 Two. Two proofs again: the supply side (SK Hynix's own guidance says the HBM shortage outlasts the decade even after doubling capacity — structural, not cyclical) and the price side (nine-figure monthly rentals and 18-month paybacks are what a genuine shortage looks like in market terms).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Guided, not projected — publicly committed numbers. Midpoints: MSFT $190B, AMZN $200B, GOOGL $180B, META $135B → ~$705B, +72% on 2025's record $410B; range-tops push toward $725B and Morgan Stanley's five-platform figure is ~$805B. Read it through the scarcity lens from the divider: when the binding input is scarce, overpaying for capacity is rational — underbuilding costs share. The point card replaces the old big-number callout: the story isn't the percentage, it's that guidance went UP into record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slide of physics, by design. IEA: data-center electricity roughly doubles to ~950 TWh by 2030. Three bottlenecks, point-first: memory (structural to ~2030 per SK Hynix), silicon (Vera Rubin pivoting CPU-centric for agentic tool calls — the hardware is literally being redesigned around Act One's workload), and grid (85 GW requested vs ~100 GW needed). Investor takeaway: when the constraint is physical, moats shift to whoever controls memory supply, power, and interconnection. Keep this slide in mind for Act 5 — orbit is the escape hatch from exactly these constraints.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scarcity market in three tiers, claims first. SpaceX as neocloud king: if the 18-month payback holds, the bear case that capex can't earn a return weakens badly. Google's $920M/month (~$11B/yr run rate) is the other side: the cost of NOT owning capacity. RTX Spark pushes inference to the edge — the prosumer release valve. Together: compute is priced like a scarce commodity at every layer, from supercluster to desktop. Note for Act 5: SpaceX owning both the rockets and the clusters is the setup for orbital datacenters.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 Three. The bridge from scarcity to securities. Proof one is the revenue inflection ($3B→$47B — that's what agentic demand looks like monetized). Proof two is dispersion: the market is no longer trading 'AI yes/no', it's trading position-in-the-chain — and the financing moved to credit markets, which gives equity investors a new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supply side of the equity story. Anthropic $3B→$47B on usage-based pricing — enterprise agentic demand monetizing. OpenAI playing the consumer super-app game. Microsoft's Frontier Tuning is the margin threat: ~10x cheaper for company-specific agents, even if its agentic benchmarks (Terminal Bench 2.0) trail. For allocators the IPO race matters twice: as issuance supply, and as price discovery — public lab marks will reprice everything currently valued by proxy through Nvidia and the hyperscalers.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Structural point: 18–23% top-10 share was the norm for 25 years; it's ~37% now, off the 40.7% 2025 peak. Two readings, both fair: concentration reflects genuine earnings concentration — or it leaves index returns hostage to a handful of AI-linked business models. We quantify rather than adjudicate; slide 20 shows what it does to a passive allocation. Nvidia ~$5T: first company ever through that mark — and the purest large-cap expression of the scarcity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dispersion slide. SOXX +80% YTD (memory and custom silicon — Micron, AMD, Marvell are its biggest weights now), best run since 2000; chips added ~$5.7T of market value this rally. MAGS +6% LAGS equal-weight +14% — platforms are the contested middle: record revenues, but the market charges them for capex and debt. Software −10%: priced for disruption. The three buckets on the right are the chain map: value accrues where AI spend is revenue, erodes where AI is a competitive threat. Buckets rotated once already this cycle — map, not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multiples on this slide are forward — consistent basis. Nvidia at 22.5x forward is cheaper than the tech sector average because its E exploded; the multiple is unremarkable, the earnings durability is the entire question — and that durability now rests on token-scarcity economics holding. Semis: price ran ahead of even record earnings, so forward multiples sit elevated vs history. Software's de-rate is the mirror image: an uncertainty discount for whoever is on the wrong side of agents. Index 21x vs 19x 10-yr avg: elevated, not extreme.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stories, one slide, because they're one mechanism: capex ate the cash (top band — cash cover gone at ~94%, Big-4 FCF at a decade low, Amazon negative, Alphabet −90%, Microsoft down roughly 28%), so the buildout moved into the bond market (timeline — Oracle Sep '25 through Oracle again Feb '26, $105B+ across five prints, Meta's $30B the largest non-M&amp;A IG deal ever). The 'unspoken contract' of self-funding megacaps broke. Balance sheets are still lightly levered vs IG norms — this is not 2008 telecom — but Oracle's CDS shows credit discriminates by funding capacity. For equity holders: spreads reprice before earnings revisions. Watch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 Four. Two exposures nobody sized deliberately: Washington's claim on AI economics (the 50% equity-tax proposal — anchored by who backs it: when Sanders proposes and Trump echoes, the Overton window has genuinely moved), and the index's claim on AI risk (37% in ten names). Both are about ownership, not regulation.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policy slide stays neutral by quoting all sides. EO: voluntary 30-day NSA review, cyber-focused, no licensing — lighter than feared, and a calendar item before every frontier release. SWF: 50% one-time equity tax to fund AI Dividends — dilution risk that no equity model currently carries. Sacks' critique is the third leg: nationalization as a threat to the property rights underpinning lab valuations. The investable point isn't picking a side — it's that public-ownership tail risk now belongs in any model of lab equity, IPO pricing, and by extension the hyperscalers that own lab stakes.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hidden-active-risk slide. Nobody in this room would deliberately put 37% of an equity sleeve in ten correlated names — but a benchmark allocation does precisely that. Honest caveat on point two: equal-weight won 2026, lost 2024–25; the point is 'size the bet on purpose,' not 'sell megacaps.' Point four: with Washington debating equity taxes and ownership, policy risk is no longer exogenous to a passive allocation — it's embedded in the top ten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Risks and takeaways share a slide because they're mirror images. New gauge this quarter: enterprise token budgets (slide 7) as a demand indicator — the new same-store sales. Most likely stress path: financing stress and the demand air pocket are the same risk at different speeds — credit reprices faster than earnings revisions. Takeaways map back: #1 concentration (14, 20), #2 dispersion (15), #3 financing (17), #4 breadth (15). Closing line is the deck's thesis in one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 Five — the dessert course, and the reason this deck is a show. Everything so far is in guidance and prices; this act is the option value sitting behind the multiples. The humanoid in a warehouse is the right image: not concept art — agentic loops in a body, walking a shift. Frame for the room: none of Act 5 is in 2026 numbers, all of it bears on what the 2030s demand curve looks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sci-fi slide with the most near-term logic. Walk it from Act 2: the binding constraints are power and cooling (slide 10) — orbit removes both. The kicker is who's positioned: SpaceX is simultaneously the neocloud king (550k GPUs, 18-month paybacks) and the launch monopolist — if orbital compute happens, it's not a startup story, it's an extension of the most vertically integrated player in the stack. Then the discipline: this is 2030s option value, explicitly flagged speculative. Gauges, not guidance: launch cadence, vacuum-rated prototype performance, offtake agreements.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closer before sources — keep it fun but disciplined. Robotaxis: autonomy is agentic loops with wheels; every mile is metered inference. Biology: frontier models now lead biology/health benchmarks (the review's SOTA table) — protein design makes drug discovery a compute-bound industry. And the showstopper: interspecies communication. Whale and dolphin vocalization models are real research programs; the market relevance is indirect but powerful — it's the demo that proves 'language models' generalize beyond language, and it's the kind of result that moves public sentiment and policy overnight. End the section on the Jevons callback: every frontier item is new compute demand.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matter. Canonical stamp: data as of June 2026; returns through Jun 5–9 closes. The AI Frontier review column covers everything review-sourced (run rates, neocloud economics, policy provisions, Glasswing) — flag those as review-sourced rather than exchange-verified. Two explicit honesty notes new this version: the Jevons curve is illustrative (it's a concept chart, not measured data), and all Act 05 items are speculative, in no guidance.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2743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spc="2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280160" cy="64008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in the Market.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D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chatbots to agentic loops.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this spring, why it's the most exciting stretch of the cycle — and how markets are repricing around it.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 |  Institutional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4526280"/>
            <a:ext cx="9144000" cy="0"/>
          </a:xfrm>
          <a:prstGeom prst="line">
            <a:avLst/>
          </a:prstGeom>
          <a:noFill/>
          <a:ln w="6350">
            <a:solidFill>
              <a:srgbClr val="2A2A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spring of 2026 changed the story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developments in four months moved AI from a chat product to a market regime — capability, infrastructure, and policy all at once.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2542032"/>
            <a:ext cx="7863840" cy="0"/>
          </a:xfrm>
          <a:prstGeom prst="line">
            <a:avLst/>
          </a:prstGeom>
          <a:noFill/>
          <a:ln w="19050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0704" y="2478024"/>
            <a:ext cx="128016" cy="128016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481328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1335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goes vertical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Big-4 2026 guidance lands at ~$705B (+72%); Oracle prints a $25B, eight-tranche bond deal.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50592" y="2478024"/>
            <a:ext cx="128016" cy="128016"/>
          </a:xfrm>
          <a:prstGeom prst="ellipse">
            <a:avLst/>
          </a:prstGeom>
          <a:solidFill>
            <a:srgbClr val="008B8B"/>
          </a:solidFill>
          <a:ln/>
        </p:spPr>
      </p:sp>
      <p:sp>
        <p:nvSpPr>
          <p:cNvPr id="9" name="Text 7"/>
          <p:cNvSpPr/>
          <p:nvPr/>
        </p:nvSpPr>
        <p:spPr>
          <a:xfrm>
            <a:off x="1847088" y="2724912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847088" y="2907792"/>
            <a:ext cx="1335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“step change”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Mythos/Fable 5-class models sweep functional SOTA — agentic coding, legal, cyber, biology (Karpathy).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840480" y="2478024"/>
            <a:ext cx="128016" cy="12801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12" name="Text 10"/>
          <p:cNvSpPr/>
          <p:nvPr/>
        </p:nvSpPr>
        <p:spPr>
          <a:xfrm>
            <a:off x="3236976" y="1481328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36976" y="1664208"/>
            <a:ext cx="1335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rip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chip index jumps +35% in a single month; ~$5.7T of market value added this rally (WSJ).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230368" y="2478024"/>
            <a:ext cx="128016" cy="128016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15" name="Text 13"/>
          <p:cNvSpPr/>
          <p:nvPr/>
        </p:nvSpPr>
        <p:spPr>
          <a:xfrm>
            <a:off x="4626864" y="2724912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26864" y="2907792"/>
            <a:ext cx="1335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Scarcity gets a price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rents 110k Nvidia GPUs from SpaceX at $920M/month while its own silicon catches up.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20256" y="2478024"/>
            <a:ext cx="128016" cy="128016"/>
          </a:xfrm>
          <a:prstGeom prst="ellipse">
            <a:avLst/>
          </a:prstGeom>
          <a:solidFill>
            <a:srgbClr val="6B46C1"/>
          </a:solidFill>
          <a:ln/>
        </p:spPr>
      </p:sp>
      <p:sp>
        <p:nvSpPr>
          <p:cNvPr id="18" name="Text 16"/>
          <p:cNvSpPr/>
          <p:nvPr/>
        </p:nvSpPr>
        <p:spPr>
          <a:xfrm>
            <a:off x="6016752" y="1481328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016752" y="1664208"/>
            <a:ext cx="1335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Washington moves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Order: 30-day pre-release reviews; the sovereign-wealth-fund debate goes mainstream.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010144" y="2478024"/>
            <a:ext cx="128016" cy="128016"/>
          </a:xfrm>
          <a:prstGeom prst="ellipse">
            <a:avLst/>
          </a:prstGeom>
          <a:solidFill>
            <a:srgbClr val="008B8B"/>
          </a:solidFill>
          <a:ln/>
        </p:spPr>
      </p:sp>
      <p:sp>
        <p:nvSpPr>
          <p:cNvPr id="21" name="Text 19"/>
          <p:cNvSpPr/>
          <p:nvPr/>
        </p:nvSpPr>
        <p:spPr>
          <a:xfrm>
            <a:off x="7406640" y="2724912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06640" y="2907792"/>
            <a:ext cx="1335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shows up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Anthropic's run rate hits $47B; memory shortages spill into autos and consumer goods.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3767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one of these is a story. Together they're a regime change 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 they're moving in unison (next slide).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206240"/>
            <a:ext cx="109728" cy="109728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" y="4142232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THE SHIFT  </a:t>
            </a:r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4–7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139696" y="4206240"/>
            <a:ext cx="109728" cy="109728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27" name="Text 25"/>
          <p:cNvSpPr/>
          <p:nvPr/>
        </p:nvSpPr>
        <p:spPr>
          <a:xfrm>
            <a:off x="2304288" y="4142232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THE CRUNCH  </a:t>
            </a:r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8–11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22192" y="4206240"/>
            <a:ext cx="109728" cy="109728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29" name="Text 27"/>
          <p:cNvSpPr/>
          <p:nvPr/>
        </p:nvSpPr>
        <p:spPr>
          <a:xfrm>
            <a:off x="3986784" y="4142232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THE MARKET  </a:t>
            </a:r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12–17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504688" y="4206240"/>
            <a:ext cx="109728" cy="109728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0" y="4142232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THE STAKES  </a:t>
            </a:r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18–21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187184" y="4206240"/>
            <a:ext cx="109728" cy="109728"/>
          </a:xfrm>
          <a:prstGeom prst="rect">
            <a:avLst/>
          </a:prstGeom>
          <a:solidFill>
            <a:srgbClr val="E8478D"/>
          </a:solidFill>
          <a:ln/>
        </p:spPr>
      </p:sp>
      <p:sp>
        <p:nvSpPr>
          <p:cNvPr id="33" name="Text 31"/>
          <p:cNvSpPr/>
          <p:nvPr/>
        </p:nvSpPr>
        <p:spPr>
          <a:xfrm>
            <a:off x="7351776" y="4142232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THE FRONTIER  </a:t>
            </a:r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22–24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57200" y="437083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CNBC (Feb 6, 2026); WSJ (April chip rally); Internal strategic review, “The 2026 AI Frontier” (Jun 2026) — model releases, GPU rental, run rates, policy items.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6" name="Text 34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paradigms shifting in unison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Capability, economics, and policy are moving together — that's what makes this moment different from every prior AI cycle.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&amp; UX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168249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chat  </a:t>
            </a:r>
            <a:pPr algn="ctr" indent="0" marL="0">
              <a:buNone/>
            </a:pPr>
            <a:r>
              <a:rPr lang="en-US" sz="1250" b="1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loops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2697480" cy="1207008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011680"/>
            <a:ext cx="2697480" cy="4572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2121408"/>
            <a:ext cx="24414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Fable 5-class benchmarks signal a permanent shift — from prompting finite outputs to designing self-prompting, self-correcting systems.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246120" y="1481328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&amp; ECONOMICS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246120" y="168249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subsidy  </a:t>
            </a:r>
            <a:pPr algn="ctr" indent="0" marL="0">
              <a:buNone/>
            </a:pPr>
            <a:r>
              <a:rPr lang="en-US" sz="12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scarcity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46120" y="2011680"/>
            <a:ext cx="2697480" cy="1207008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2" name="Shape 10"/>
          <p:cNvSpPr/>
          <p:nvPr/>
        </p:nvSpPr>
        <p:spPr>
          <a:xfrm>
            <a:off x="3246120" y="2011680"/>
            <a:ext cx="2697480" cy="457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2121408"/>
            <a:ext cx="24414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SpaceX's 18-month datacenter payback and Google's $920M/month GPU rental prove massive compute is financially viable — and scarce.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035040" y="1481328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POLICY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035040" y="168249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tech  </a:t>
            </a:r>
            <a:pPr algn="ctr" indent="0" marL="0">
              <a:buNone/>
            </a:pPr>
            <a:r>
              <a:rPr lang="en-US" sz="1250" b="1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asset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2011680"/>
            <a:ext cx="2697480" cy="1207008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040" y="2011680"/>
            <a:ext cx="2697480" cy="45720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8" name="Text 16"/>
          <p:cNvSpPr/>
          <p:nvPr/>
        </p:nvSpPr>
        <p:spPr>
          <a:xfrm>
            <a:off x="6163056" y="2121408"/>
            <a:ext cx="24414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equity discussions and sovereign-wealth-fund proposals mean foundation models are now treated as too big to fail.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8368" y="3419856"/>
            <a:ext cx="713232" cy="27432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41985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399032" y="3557016"/>
            <a:ext cx="274320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700784" y="3419856"/>
            <a:ext cx="713232" cy="27432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3" name="Text 21"/>
          <p:cNvSpPr/>
          <p:nvPr/>
        </p:nvSpPr>
        <p:spPr>
          <a:xfrm>
            <a:off x="1700784" y="341985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542032" y="3328416"/>
            <a:ext cx="566928" cy="457200"/>
          </a:xfrm>
          <a:prstGeom prst="ellipse">
            <a:avLst/>
          </a:prstGeom>
          <a:ln w="254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42032" y="33284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11880" y="3310128"/>
            <a:ext cx="502920" cy="109728"/>
          </a:xfrm>
          <a:prstGeom prst="roundRect">
            <a:avLst>
              <a:gd name="adj" fmla="val 41667"/>
            </a:avLst>
          </a:prstGeom>
          <a:solidFill>
            <a:srgbClr val="FFB800"/>
          </a:solidFill>
          <a:ln/>
        </p:spPr>
      </p:sp>
      <p:sp>
        <p:nvSpPr>
          <p:cNvPr id="27" name="Shape 25"/>
          <p:cNvSpPr/>
          <p:nvPr/>
        </p:nvSpPr>
        <p:spPr>
          <a:xfrm>
            <a:off x="3611880" y="3456432"/>
            <a:ext cx="502920" cy="109728"/>
          </a:xfrm>
          <a:prstGeom prst="roundRect">
            <a:avLst>
              <a:gd name="adj" fmla="val 41667"/>
            </a:avLst>
          </a:prstGeom>
          <a:solidFill>
            <a:srgbClr val="FFB800"/>
          </a:solidFill>
          <a:ln/>
        </p:spPr>
      </p:sp>
      <p:sp>
        <p:nvSpPr>
          <p:cNvPr id="28" name="Shape 26"/>
          <p:cNvSpPr/>
          <p:nvPr/>
        </p:nvSpPr>
        <p:spPr>
          <a:xfrm>
            <a:off x="3611880" y="3602736"/>
            <a:ext cx="502920" cy="109728"/>
          </a:xfrm>
          <a:prstGeom prst="roundRect">
            <a:avLst>
              <a:gd name="adj" fmla="val 41667"/>
            </a:avLst>
          </a:prstGeom>
          <a:solidFill>
            <a:srgbClr val="FFB800"/>
          </a:solidFill>
          <a:ln/>
        </p:spPr>
      </p:sp>
      <p:sp>
        <p:nvSpPr>
          <p:cNvPr id="29" name="Shape 27"/>
          <p:cNvSpPr/>
          <p:nvPr/>
        </p:nvSpPr>
        <p:spPr>
          <a:xfrm>
            <a:off x="4224528" y="3557016"/>
            <a:ext cx="384048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700016" y="3346704"/>
            <a:ext cx="237744" cy="23774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31" name="Shape 29"/>
          <p:cNvSpPr/>
          <p:nvPr/>
        </p:nvSpPr>
        <p:spPr>
          <a:xfrm>
            <a:off x="4974336" y="3346704"/>
            <a:ext cx="237744" cy="23774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32" name="Shape 30"/>
          <p:cNvSpPr/>
          <p:nvPr/>
        </p:nvSpPr>
        <p:spPr>
          <a:xfrm>
            <a:off x="4700016" y="3621024"/>
            <a:ext cx="237744" cy="23774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33" name="Shape 31"/>
          <p:cNvSpPr/>
          <p:nvPr/>
        </p:nvSpPr>
        <p:spPr>
          <a:xfrm>
            <a:off x="4974336" y="3621024"/>
            <a:ext cx="237744" cy="23774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34" name="Text 32"/>
          <p:cNvSpPr/>
          <p:nvPr/>
        </p:nvSpPr>
        <p:spPr>
          <a:xfrm>
            <a:off x="3520440" y="3767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4626864" y="389534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6263640" y="3557016"/>
            <a:ext cx="411480" cy="0"/>
          </a:xfrm>
          <a:prstGeom prst="line">
            <a:avLst/>
          </a:prstGeom>
          <a:noFill/>
          <a:ln w="19050">
            <a:solidFill>
              <a:srgbClr val="6B46C1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6053328" y="3712464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GOVT EQUITY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6812280" y="3511296"/>
            <a:ext cx="822960" cy="310896"/>
          </a:xfrm>
          <a:prstGeom prst="rect">
            <a:avLst/>
          </a:prstGeom>
          <a:ln w="25400">
            <a:solidFill>
              <a:srgbClr val="6B46C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40880" y="3310128"/>
            <a:ext cx="365760" cy="256032"/>
          </a:xfrm>
          <a:prstGeom prst="ellipse">
            <a:avLst/>
          </a:prstGeom>
          <a:ln w="25400">
            <a:solidFill>
              <a:srgbClr val="6B46C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12280" y="351129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0" y="4041648"/>
            <a:ext cx="9144000" cy="484632"/>
          </a:xfrm>
          <a:prstGeom prst="rect">
            <a:avLst/>
          </a:prstGeom>
          <a:solidFill>
            <a:srgbClr val="111114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041648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industry has exhausted the economic limits of the chatbot. The entire stack is reorganizing around high-margin, token-burning agentic loops.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44" name="Text 42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0" y="9144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1E1E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01  ·  THE SHIFT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005840" cy="54864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36192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Assisted became agentic.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02920" y="230428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stopped drafting and started executing. The unit of value moved from the token to the completed task.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017520"/>
            <a:ext cx="109728" cy="109728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16936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became a budget line.  </a:t>
            </a:r>
            <a:pPr indent="0" marL="0">
              <a:buNone/>
            </a:pPr>
            <a:r>
              <a:rPr lang="en-US" sz="10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Uber caps agent spend at $1,500/month per employee; Walmart ended unlimited access. Firms meter what is scarce.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675888"/>
            <a:ext cx="109728" cy="109728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575304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 crossed the threshold.  </a:t>
            </a:r>
            <a:pPr indent="0" marL="0">
              <a:buNone/>
            </a:pPr>
            <a:r>
              <a:rPr lang="en-US" sz="10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Fable 5-class models sweep functional SOTA — agentic coding, legal, cybersecurity, biology.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526280"/>
            <a:ext cx="9144000" cy="0"/>
          </a:xfrm>
          <a:prstGeom prst="line">
            <a:avLst/>
          </a:prstGeom>
          <a:noFill/>
          <a:ln w="6350">
            <a:solidFill>
              <a:srgbClr val="2A2A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THE SHIFT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prompts to loops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“My job is to write loops.” Agents now try, fail, fix, and ship on their own — and one worker starts to output like a team.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unit of work changed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931920" cy="0"/>
          </a:xfrm>
          <a:prstGeom prst="line">
            <a:avLst/>
          </a:prstGeom>
          <a:noFill/>
          <a:ln w="12700">
            <a:solidFill>
              <a:srgbClr val="00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38528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2023–25 · ONE SHOT, THEN STOP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48640" y="2176272"/>
            <a:ext cx="1051560" cy="3474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7627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664208" y="2350008"/>
            <a:ext cx="457200" cy="0"/>
          </a:xfrm>
          <a:prstGeom prst="line">
            <a:avLst/>
          </a:prstGeom>
          <a:noFill/>
          <a:ln w="25400">
            <a:solidFill>
              <a:srgbClr val="66666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176272" y="2176272"/>
            <a:ext cx="1051560" cy="3474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3" name="Text 11"/>
          <p:cNvSpPr/>
          <p:nvPr/>
        </p:nvSpPr>
        <p:spPr>
          <a:xfrm>
            <a:off x="2176272" y="217627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272491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· RUNS UNTIL THE TASK IS DONE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548640" y="2999232"/>
            <a:ext cx="868680" cy="329184"/>
          </a:xfrm>
          <a:prstGeom prst="rect">
            <a:avLst/>
          </a:prstGeom>
          <a:ln w="22225">
            <a:solidFill>
              <a:srgbClr val="008B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99923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828800" y="2999232"/>
            <a:ext cx="868680" cy="329184"/>
          </a:xfrm>
          <a:prstGeom prst="rect">
            <a:avLst/>
          </a:prstGeom>
          <a:ln w="22225">
            <a:solidFill>
              <a:srgbClr val="008B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28800" y="299923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828800" y="3584448"/>
            <a:ext cx="868680" cy="329184"/>
          </a:xfrm>
          <a:prstGeom prst="rect">
            <a:avLst/>
          </a:prstGeom>
          <a:ln w="22225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0" y="358444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3584448"/>
            <a:ext cx="868680" cy="329184"/>
          </a:xfrm>
          <a:prstGeom prst="rect">
            <a:avLst/>
          </a:prstGeom>
          <a:ln w="22225">
            <a:solidFill>
              <a:srgbClr val="008B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58444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444752" y="3163824"/>
            <a:ext cx="356616" cy="0"/>
          </a:xfrm>
          <a:prstGeom prst="line">
            <a:avLst/>
          </a:prstGeom>
          <a:noFill/>
          <a:ln w="19050">
            <a:solidFill>
              <a:srgbClr val="008B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58568" y="3355848"/>
            <a:ext cx="0" cy="201168"/>
          </a:xfrm>
          <a:prstGeom prst="line">
            <a:avLst/>
          </a:prstGeom>
          <a:noFill/>
          <a:ln w="19050">
            <a:solidFill>
              <a:srgbClr val="008B8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1444752" y="3749040"/>
            <a:ext cx="356616" cy="0"/>
          </a:xfrm>
          <a:prstGeom prst="line">
            <a:avLst/>
          </a:prstGeom>
          <a:noFill/>
          <a:ln w="19050">
            <a:solidFill>
              <a:srgbClr val="008B8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987552" y="3355848"/>
            <a:ext cx="0" cy="201168"/>
          </a:xfrm>
          <a:prstGeom prst="line">
            <a:avLst/>
          </a:prstGeom>
          <a:noFill/>
          <a:ln w="19050">
            <a:solidFill>
              <a:srgbClr val="008B8B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2834640" y="315468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self-correct: design the loop,</a:t>
            </a:r>
            <a:endParaRPr lang="en-US" sz="750" dirty="0"/>
          </a:p>
          <a:p>
            <a:pPr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prompt (Cherny, Steinberger)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75488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54880" y="1783080"/>
            <a:ext cx="3931920" cy="0"/>
          </a:xfrm>
          <a:prstGeom prst="line">
            <a:avLst/>
          </a:prstGeom>
          <a:noFill/>
          <a:ln w="12700">
            <a:solidFill>
              <a:srgbClr val="008B8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1938528"/>
            <a:ext cx="64008" cy="64008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31" name="Text 29"/>
          <p:cNvSpPr/>
          <p:nvPr/>
        </p:nvSpPr>
        <p:spPr>
          <a:xfrm>
            <a:off x="4910328" y="1938528"/>
            <a:ext cx="3776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worker, parallel workstreams.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users run multiple research and execution loops at once — output scales like a team, and the “advantage gap” over casual users compounds.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2651760"/>
            <a:ext cx="64008" cy="64008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33" name="Text 31"/>
          <p:cNvSpPr/>
          <p:nvPr/>
        </p:nvSpPr>
        <p:spPr>
          <a:xfrm>
            <a:off x="4910328" y="2651760"/>
            <a:ext cx="3776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 is the unlock.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now “comes out on a tap” (Karpathy) — good enough that skipping review is tempting. That's a step change in what gets delegated.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54880" y="3364992"/>
            <a:ext cx="64008" cy="64008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35" name="Text 33"/>
          <p:cNvSpPr/>
          <p:nvPr/>
        </p:nvSpPr>
        <p:spPr>
          <a:xfrm>
            <a:off x="4910328" y="3364992"/>
            <a:ext cx="3776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already infrastructure.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Glasswing deploys agentic AI across 150 critical-infrastructure organizations in 15 countries — energy, water, healthcare.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0690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markets care: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loop burns orders of magnitude more tokens than a chat. The demand curve that follows is the next slide.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433425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Internal strategic review, “The 2026 AI Frontier” (Jun 2026) — Cherny/Steinberger “loops” framing, Karpathy commentary, Project Glasswing.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9" name="Text 37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THE SHIFT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Jevons paradox: demand has no ceiling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Jevons paradox: as creation friction falls, total compute demanded expands geometrically. Efficiency gains don't satisfy demand — they multiply it.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27632"/>
          <a:ext cx="594360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00507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SOFTWARE CREATION  →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 rot="16200000">
            <a:off x="-777240" y="26517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COMPUTE CONSUMED →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6693408" y="3639312"/>
            <a:ext cx="91440" cy="91440"/>
          </a:xfrm>
          <a:prstGeom prst="ellipse">
            <a:avLst/>
          </a:prstGeom>
          <a:solidFill>
            <a:srgbClr val="008B8B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0" y="35387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PDF summaries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93408" y="3209544"/>
            <a:ext cx="91440" cy="91440"/>
          </a:xfrm>
          <a:prstGeom prst="ellipse">
            <a:avLst/>
          </a:prstGeom>
          <a:solidFill>
            <a:srgbClr val="008B8B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0" y="31089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dashboards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693408" y="2752344"/>
            <a:ext cx="91440" cy="91440"/>
          </a:xfrm>
          <a:prstGeom prst="ellipse">
            <a:avLst/>
          </a:prstGeom>
          <a:solidFill>
            <a:srgbClr val="008B8B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0" y="26517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Disposable web apps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93408" y="2267712"/>
            <a:ext cx="91440" cy="91440"/>
          </a:xfrm>
          <a:prstGeom prst="ellipse">
            <a:avLst/>
          </a:prstGeom>
          <a:solidFill>
            <a:srgbClr val="008B8B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0" y="21671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Giant custom research projects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693408" y="182880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GETS BUILT AS FRICTION FALLS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6693408" y="2084832"/>
            <a:ext cx="219456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42245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core demand thesis: </a:t>
            </a:r>
            <a:pPr indent="0" marL="0">
              <a:buNone/>
            </a:pPr>
            <a:r>
              <a:rPr lang="en-US" sz="10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“disposable software” — apps built for one use — and auto-research mean demand has no natural ceiling. Token scarcity is self-reinforcing.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0" y="4526280"/>
            <a:ext cx="9144000" cy="0"/>
          </a:xfrm>
          <a:prstGeom prst="line">
            <a:avLst/>
          </a:prstGeom>
          <a:noFill/>
          <a:ln w="6350">
            <a:solidFill>
              <a:srgbClr val="2A2A3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3" name="Text 20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THE SHIFT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enterprise token bill arrived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firms are abandoning unlimited access and writing token budgets. Rationing is what demand looks like when supply is priced.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517904"/>
            <a:ext cx="5486400" cy="8229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517904"/>
            <a:ext cx="64008" cy="82296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591056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UBER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21792" y="1792224"/>
            <a:ext cx="5157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got a budget line.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hard $1,500/month token cap per employee replaced unlimited access — “eye-watering” agentic costs became a managed line item, not an experiment.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414016"/>
            <a:ext cx="5486400" cy="8229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14016"/>
            <a:ext cx="64008" cy="82296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" y="2487168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21792" y="2688336"/>
            <a:ext cx="5157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access is over.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“Code Puppy,” its agentic dev tool, moved from unlimited tokens to individual budgets plus efficiency training — absorbing the cost of the agentic shift.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310128"/>
            <a:ext cx="5486400" cy="8229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3310128"/>
            <a:ext cx="64008" cy="82296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338328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DEMAND POOL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21792" y="3584448"/>
            <a:ext cx="5157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are priced against wasted time.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lose 20–25% of the week to coordination and retrieval (OpenAI's “strange abundance”) — that's the inefficiency enterprises are buying back.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72200" y="1517904"/>
            <a:ext cx="2514600" cy="2615184"/>
          </a:xfrm>
          <a:prstGeom prst="rect">
            <a:avLst/>
          </a:prstGeom>
          <a:solidFill>
            <a:srgbClr val="1C1C20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0" y="160934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9360" y="1883664"/>
            <a:ext cx="224028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caps are demand evidence, not retreat.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Firms ration what is scarce and valuable. Usage-based pricing is why lab revenue inflected (slide 13) — and why the capex sprint followed (slide 9). Watch enterprise token budgets the way retail analysts watch same-store sales.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2245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Internal strategic review, “The 2026 AI Frontier” (Jun 2026) — Uber and Walmart cost-management cases; OpenAI “strange abundance” framing.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0" y="9144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1E1E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02  ·  THE CRUNCH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005840" cy="54864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36192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Compute is the binding constraint.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02920" y="230428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demand shock from Act One meets physical supply. Whoever owns the bottleneck prices the boom.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017520"/>
            <a:ext cx="109728" cy="109728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16936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shortage is structural.  </a:t>
            </a:r>
            <a:pPr indent="0" marL="0">
              <a:buNone/>
            </a:pPr>
            <a:r>
              <a:rPr lang="en-US" sz="10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is doubling HBM capacity and still sees no relief before ~2030 — that's pricing power with a decade-long tail.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675888"/>
            <a:ext cx="109728" cy="109728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575304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Scarcity already has a market price.  </a:t>
            </a:r>
            <a:pPr indent="0" marL="0">
              <a:buNone/>
            </a:pPr>
            <a:r>
              <a:rPr lang="en-US" sz="10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pays $920M/month to rent GPUs it doesn't own; SpaceX datacenters pay back in ~18 months.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526280"/>
            <a:ext cx="9144000" cy="0"/>
          </a:xfrm>
          <a:prstGeom prst="line">
            <a:avLst/>
          </a:prstGeom>
          <a:noFill/>
          <a:ln w="6350">
            <a:solidFill>
              <a:srgbClr val="2A2A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THE CRUNCH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~$705B sprint, guided in public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Big-4 2026 capex guidance is up ~72% year over year — the rational response to scarcity. Morgan Stanley's five-platform total (incl. Oracle) is near $805B.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capex guidance, $B (midpoints)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931920" cy="0"/>
          </a:xfrm>
          <a:prstGeom prst="line">
            <a:avLst/>
          </a:prstGeom>
          <a:noFill/>
          <a:ln w="12700">
            <a:solidFill>
              <a:srgbClr val="F6693D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874520"/>
          <a:ext cx="39319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754880" y="14813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Big-4 combined capex, $B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54880" y="1783080"/>
            <a:ext cx="2286000" cy="0"/>
          </a:xfrm>
          <a:prstGeom prst="line">
            <a:avLst/>
          </a:prstGeom>
          <a:noFill/>
          <a:ln w="12700">
            <a:solidFill>
              <a:srgbClr val="F6693D"/>
            </a:solidFill>
            <a:prstDash val="solid"/>
          </a:ln>
        </p:spPr>
      </p:sp>
      <p:graphicFrame>
        <p:nvGraphicFramePr>
          <p:cNvPr id="11" name="Chart 1" descr=""/>
          <p:cNvGraphicFramePr/>
          <p:nvPr/>
        </p:nvGraphicFramePr>
        <p:xfrm>
          <a:off x="4754880" y="1874520"/>
          <a:ext cx="228600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7223760" y="1874520"/>
            <a:ext cx="1554480" cy="205740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3" name="Shape 9"/>
          <p:cNvSpPr/>
          <p:nvPr/>
        </p:nvSpPr>
        <p:spPr>
          <a:xfrm>
            <a:off x="7223760" y="1874520"/>
            <a:ext cx="1554480" cy="457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4" name="Text 10"/>
          <p:cNvSpPr/>
          <p:nvPr/>
        </p:nvSpPr>
        <p:spPr>
          <a:xfrm>
            <a:off x="7315200" y="1965960"/>
            <a:ext cx="1371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accelerated — nobody flinched.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spend is up +72% YoY. Three of four raised guidance in the latest round; memory and component costs pushed the numbers higher, not lower.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Company guidance: Microsoft $190B (CY26), Amazon $200B, Alphabet $175–185B, Meta $125–145B — via CNBC (Feb 6, 2026), Tom's Hardware, Statista. Midpoints sum to ~$705B; tops of ranges imply up to ~$725B. Morgan Stanley five-platform estimate via beincrypto.</a:t>
            </a:r>
            <a:endParaRPr lang="en-US" sz="700" dirty="0"/>
          </a:p>
        </p:txBody>
      </p:sp>
      <p:sp>
        <p:nvSpPr>
          <p:cNvPr id="16" name="Shape 12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7" name="Text 13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8" name="Text 14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THE CRUNCH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physical squeeze: memory and power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scarcity is hardware scarcity. The constraint decides who captures the spend — a market question.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data-center electricity, TWh (IEA)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931920" cy="0"/>
          </a:xfrm>
          <a:prstGeom prst="line">
            <a:avLst/>
          </a:prstGeom>
          <a:noFill/>
          <a:ln w="12700">
            <a:solidFill>
              <a:srgbClr val="F6693D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874520"/>
          <a:ext cx="39319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754880" y="1536192"/>
            <a:ext cx="3931920" cy="768096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0" name="Shape 7"/>
          <p:cNvSpPr/>
          <p:nvPr/>
        </p:nvSpPr>
        <p:spPr>
          <a:xfrm>
            <a:off x="4754880" y="1536192"/>
            <a:ext cx="64008" cy="768096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1" name="Text 8"/>
          <p:cNvSpPr/>
          <p:nvPr/>
        </p:nvSpPr>
        <p:spPr>
          <a:xfrm>
            <a:off x="4919472" y="16093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4919472" y="1810512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is the pinch point.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is doubling capacity, yet relief isn't expected before ~2030 — shortage warnings and price hikes are spilling into autos and consumer goods (Reuters).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754880" y="2377440"/>
            <a:ext cx="3931920" cy="768096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4" name="Shape 11"/>
          <p:cNvSpPr/>
          <p:nvPr/>
        </p:nvSpPr>
        <p:spPr>
          <a:xfrm>
            <a:off x="4754880" y="2377440"/>
            <a:ext cx="64008" cy="768096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5" name="Text 12"/>
          <p:cNvSpPr/>
          <p:nvPr/>
        </p:nvSpPr>
        <p:spPr>
          <a:xfrm>
            <a:off x="4919472" y="24505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4919472" y="265176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hardware is being redesigned for agents.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Nvidia's Vera Rubin architecture, now in production, pivots CPU-centric — engineered for the tool-calling workloads driving the crunch.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754880" y="3218688"/>
            <a:ext cx="3931920" cy="768096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8" name="Shape 15"/>
          <p:cNvSpPr/>
          <p:nvPr/>
        </p:nvSpPr>
        <p:spPr>
          <a:xfrm>
            <a:off x="4754880" y="3218688"/>
            <a:ext cx="64008" cy="768096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19" name="Text 16"/>
          <p:cNvSpPr/>
          <p:nvPr/>
        </p:nvSpPr>
        <p:spPr>
          <a:xfrm>
            <a:off x="4919472" y="32918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4919472" y="3493008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is the slowest input.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GW of new US data-center capacity requested by 2030; ~100 GW of grid capacity needed to serve it reliably (S&amp;P Global).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IEA Energy &amp; AI (2026); S&amp;P Global data-center power research; Reuters (Jun 3, 2026); SK Hynix &amp; Nvidia Vera Rubin: Internal strategic review, “The 2026 AI Frontier” (Jun 2026).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0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1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THE CRUNCH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neocloud hierarchy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Scarcity created a new infrastructure market — and the rental price of compute is now a market-clearing signal.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517904"/>
            <a:ext cx="5486400" cy="8229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517904"/>
            <a:ext cx="64008" cy="82296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591056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SPACEX — THE NEOCLOUD KING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21792" y="1792224"/>
            <a:ext cx="5157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buildout pays for itself.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Colossus superclusters run 550k GPUs; the $40B datacenter investment paid back in ~18 months. These are the unit economics that validate the entire capex sprint.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414016"/>
            <a:ext cx="5486400" cy="8229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14016"/>
            <a:ext cx="64008" cy="82296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" y="2487168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— THE BRIDGE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21792" y="2688336"/>
            <a:ext cx="5157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Scarcity rents for nine figures a month.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110,000 Nvidia GPUs rented from SpaceX at $920M/month to serve Gemini Enterprise demand while in-house silicon catches up — the cost of not owning capacity.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310128"/>
            <a:ext cx="5486400" cy="82296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3310128"/>
            <a:ext cx="64008" cy="822960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338328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— THE EDGE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21792" y="3584448"/>
            <a:ext cx="5157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is going local.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RTX Spark — the “M1 moment for Windows” — brings high-performance inference to the desk, challenging Apple's M5 in the personal-AI segment.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72200" y="1517904"/>
            <a:ext cx="2514600" cy="2615184"/>
          </a:xfrm>
          <a:prstGeom prst="rect">
            <a:avLst/>
          </a:prstGeom>
          <a:solidFill>
            <a:srgbClr val="1C1C20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0" y="160934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9360" y="1883664"/>
            <a:ext cx="224028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Rental prices are the market-clearing price of scarcity.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18-month payback on $40B validates the capex math better than any analyst model — and a $920M/month rental bill shows what the constraint costs when you don't own capacity. Both argue the spend (slide 9) is rational.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2245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Internal strategic review, “The 2026 AI Frontier” (Jun 2026) — SpaceX Colossus economics, Google GPU rental, Nvidia RTX Spark.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0" y="9144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1E1E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03  ·  THE MARKET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005840" cy="54864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36192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equities priced it.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02920" y="230428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Concentration, rotation, a new debt complex — and the labs racing to the public 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017520"/>
            <a:ext cx="109728" cy="109728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16936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made it real.  </a:t>
            </a:r>
            <a:pPr indent="0" marL="0">
              <a:buNone/>
            </a:pPr>
            <a:r>
              <a:rPr lang="en-US" sz="10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Anthropic's run rate went $3B → $47B in a year on usage-based pricing — the token-scarcity era in income-statement form.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675888"/>
            <a:ext cx="109728" cy="109728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575304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trade split.  </a:t>
            </a:r>
            <a:pPr indent="0" marL="0">
              <a:buNone/>
            </a:pPr>
            <a:r>
              <a:rPr lang="en-US" sz="10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+80% while software fell 10% — and the buildout's bill moved into the bond market.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526280"/>
            <a:ext cx="9144000" cy="0"/>
          </a:xfrm>
          <a:prstGeom prst="line">
            <a:avLst/>
          </a:prstGeom>
          <a:noFill/>
          <a:ln w="6350">
            <a:solidFill>
              <a:srgbClr val="2A2A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THE MARKET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 race goes public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and Anthropic are converging on public listings with opposite narratives — and Microsoft is selling the budget alternative.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annualized run rate, $B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65176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874520"/>
          <a:ext cx="265176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474720" y="148132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strategies, one market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74720" y="1783080"/>
            <a:ext cx="521208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0" y="1920240"/>
          <a:ext cx="5212080" cy="1920240"/>
        </p:xfrm>
        <a:graphic>
          <a:graphicData uri="http://schemas.openxmlformats.org/drawingml/2006/table">
            <a:tbl>
              <a:tblPr/>
              <a:tblGrid>
                <a:gridCol w="868680"/>
                <a:gridCol w="2743200"/>
                <a:gridCol w="1600200"/>
              </a:tblGrid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Player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read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“Swing for the fences” — consumer super-app, gateway to high-value products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 first, monetize the funnel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“Make money first” — enterprise focus, usage-based pricing; run rate $3B → $47B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Cleanest read on agentic enterprise demand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“Frontier Tuning” — MAI Thinking One; custom enterprise agents at ~10x lower cost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pragmatic choice — at a benchmark discount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it's a markets story: 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IPOs would hand public markets their first direct claim on AI-lab economics — a supply event, and a new venue for repricing the entire theme.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457200" y="43159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Internal strategic review, “The 2026 AI Frontier” (Jun 2026); lab strategies &amp; run rates per Jenny Shia, Leona's Capital, as cited therein.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5" name="Text 1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6" name="Text 1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THE MARKET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Ten stocks are ~37% of the index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has eased from the 2025 record but remains roughly double its 1990–2015 range. The top of the index is the scarcity trade in benchmark form.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share of S&amp;P 500 market cap, %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93192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874520"/>
          <a:ext cx="39319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75488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largest, June 2026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54880" y="1783080"/>
            <a:ext cx="393192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920240"/>
          <a:ext cx="3931920" cy="132588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1188720"/>
              </a:tblGrid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Mkt cap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 weight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~$5.0T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~$4.6T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~$3.3T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4754880" y="33832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~18% of the S&amp;P 500 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in these three names — more than most full sectors. Nvidia alone outweighs energy or utilities.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S&amp;P Dow Jones Indices; MacroMicro; finhacker.cz top-10 history; companiesmarketcap.com &amp; Motley Fool market caps (Jun 2026); RBC Wealth Management on the 2026 “great narrowing.”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5" name="Text 1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6" name="Text 1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THE MARKET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trade rotated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+80% vs software −10% — a 90-point spread inside one theme. Leadership migrated from the platforms to their suppliers.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return, YTD 2026 (%)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502920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874520"/>
          <a:ext cx="502920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669280" y="1828800"/>
            <a:ext cx="3017520" cy="676656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0" y="1828800"/>
            <a:ext cx="3017520" cy="45720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1" name="Text 8"/>
          <p:cNvSpPr/>
          <p:nvPr/>
        </p:nvSpPr>
        <p:spPr>
          <a:xfrm>
            <a:off x="5779008" y="1883664"/>
            <a:ext cx="2798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ACCRUING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supply — memory, custom silicon, networking; power &amp; grid infrastructure behind it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0" y="2578608"/>
            <a:ext cx="3017520" cy="676656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3" name="Shape 10"/>
          <p:cNvSpPr/>
          <p:nvPr/>
        </p:nvSpPr>
        <p:spPr>
          <a:xfrm>
            <a:off x="5669280" y="2578608"/>
            <a:ext cx="301752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4" name="Text 11"/>
          <p:cNvSpPr/>
          <p:nvPr/>
        </p:nvSpPr>
        <p:spPr>
          <a:xfrm>
            <a:off x="5779008" y="2633472"/>
            <a:ext cx="2798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CONTESTED MIDDLE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Platforms: record revenues, but capex + debt now weigh on the equity story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669280" y="3328416"/>
            <a:ext cx="3017520" cy="676656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6" name="Shape 13"/>
          <p:cNvSpPr/>
          <p:nvPr/>
        </p:nvSpPr>
        <p:spPr>
          <a:xfrm>
            <a:off x="5669280" y="3328416"/>
            <a:ext cx="3017520" cy="4572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779008" y="3383280"/>
            <a:ext cx="2798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ERODING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software priced for disruption; adopters without pricing power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YTD total returns through early Jun 2026: stockanalysis.com (SOXX, IGV); slickcharts (S&amp;P 500); Morningstar/Yahoo (RSP, MAGS); WSJ ($5.7T chip rally); CNBC. Segment framing: deck analysis.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7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8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THE MARKET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Rich index, uneven expectations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paying up for visible AI earnings and de-rating uncertain ones. The spread is the signal, not the average.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(next 12 months)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93192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874520"/>
          <a:ext cx="39319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75488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dispersion underneath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54880" y="1783080"/>
            <a:ext cx="393192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920240"/>
          <a:ext cx="3931920" cy="1554480"/>
        </p:xfrm>
        <a:graphic>
          <a:graphicData uri="http://schemas.openxmlformats.org/drawingml/2006/table">
            <a:tbl>
              <a:tblPr/>
              <a:tblGrid>
                <a:gridCol w="1371600"/>
                <a:gridCol w="2560320"/>
              </a:tblGrid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What's priced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Semis (SOXX)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 multiples elevated vs history — price ran ahead of even record earnings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22.5x forward — megacap multiple, hyperscaler-dependent earnings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Software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De-rated to pre-AI-boom levels (Apollo) — disruption discount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4754880" y="36118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 read: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here screams 1999 in aggregate — but the index premium assumes the AI earnings stream keeps compounding.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FactSet Earnings Insight (fwd P/E 21.1 vs 19.0 10-yr avg); MacroMicro (tech sector 24.4, May 29); GuruFocus/stockanalysis.com (NVDA fwd 22.5x); Apollo Daily Spark (software de-rating).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5" name="Text 1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6" name="Text 1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THE MARKET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Capex outgrew cash flow. Bonds stepped in.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buildout was self-funded until it wasn't. 2026 opened the gap; nine months of mega-deals built a new IG supply complex to fill it.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126187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36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CASH MATH, 2026E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773936"/>
            <a:ext cx="1828800" cy="859536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773936"/>
            <a:ext cx="1828800" cy="45720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47088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cover is gone.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139696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~94% of operating cash flow consumed by capex + dividends + buybacks (BofA)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633472" y="1773936"/>
            <a:ext cx="1828800" cy="859536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13" name="Shape 11"/>
          <p:cNvSpPr/>
          <p:nvPr/>
        </p:nvSpPr>
        <p:spPr>
          <a:xfrm>
            <a:off x="2633472" y="1773936"/>
            <a:ext cx="182880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4" name="Text 12"/>
          <p:cNvSpPr/>
          <p:nvPr/>
        </p:nvSpPr>
        <p:spPr>
          <a:xfrm>
            <a:off x="2706624" y="1847088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Leanest since 2014.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06624" y="2139696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Big-4 free cash flow at a decade low — at far larger revenue (CNBC)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626864" y="1773936"/>
            <a:ext cx="1828800" cy="859536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1773936"/>
            <a:ext cx="1828800" cy="4572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4700016" y="1847088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goes negative.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00016" y="2139696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2026E: $200B capex vs ~$140B operating cash flow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6620256" y="1773936"/>
            <a:ext cx="1828800" cy="859536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21" name="Shape 19"/>
          <p:cNvSpPr/>
          <p:nvPr/>
        </p:nvSpPr>
        <p:spPr>
          <a:xfrm>
            <a:off x="6620256" y="1773936"/>
            <a:ext cx="1828800" cy="45720"/>
          </a:xfrm>
          <a:prstGeom prst="rect">
            <a:avLst/>
          </a:prstGeom>
          <a:solidFill>
            <a:srgbClr val="E8478D"/>
          </a:solidFill>
          <a:ln/>
        </p:spPr>
      </p:sp>
      <p:sp>
        <p:nvSpPr>
          <p:cNvPr id="22" name="Text 20"/>
          <p:cNvSpPr/>
          <p:nvPr/>
        </p:nvSpPr>
        <p:spPr>
          <a:xfrm>
            <a:off x="6693408" y="1847088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drops −90%.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93408" y="2139696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FCF falls to ~$8B; Microsoft −~28% (2026E)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57200" y="28163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issuance ledger — five mega-deals, nine months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118104"/>
            <a:ext cx="8229600" cy="0"/>
          </a:xfrm>
          <a:prstGeom prst="line">
            <a:avLst/>
          </a:prstGeom>
          <a:noFill/>
          <a:ln w="12700">
            <a:solidFill>
              <a:srgbClr val="FFB8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3611880"/>
            <a:ext cx="7863840" cy="0"/>
          </a:xfrm>
          <a:prstGeom prst="line">
            <a:avLst/>
          </a:prstGeom>
          <a:noFill/>
          <a:ln w="1905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61872" y="3557016"/>
            <a:ext cx="109728" cy="109728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2186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$18B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71246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</a:t>
            </a:r>
            <a:endParaRPr lang="en-US" sz="8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25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871216" y="3557016"/>
            <a:ext cx="109728" cy="109728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31" name="Text 29"/>
          <p:cNvSpPr/>
          <p:nvPr/>
        </p:nvSpPr>
        <p:spPr>
          <a:xfrm>
            <a:off x="2157984" y="32186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$30B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2157984" y="371246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— record non-M&amp;A IG</a:t>
            </a:r>
            <a:endParaRPr lang="en-US" sz="8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25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480560" y="3557016"/>
            <a:ext cx="109728" cy="109728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34" name="Text 32"/>
          <p:cNvSpPr/>
          <p:nvPr/>
        </p:nvSpPr>
        <p:spPr>
          <a:xfrm>
            <a:off x="3767328" y="32186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$17.5B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3767328" y="371246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8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25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089904" y="3557016"/>
            <a:ext cx="109728" cy="109728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37" name="Text 35"/>
          <p:cNvSpPr/>
          <p:nvPr/>
        </p:nvSpPr>
        <p:spPr>
          <a:xfrm>
            <a:off x="5376672" y="32186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$15B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5376672" y="371246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8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25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699248" y="3557016"/>
            <a:ext cx="109728" cy="109728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40" name="Text 38"/>
          <p:cNvSpPr/>
          <p:nvPr/>
        </p:nvSpPr>
        <p:spPr>
          <a:xfrm>
            <a:off x="6986016" y="32186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$25B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986016" y="371246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— 8 tranches</a:t>
            </a:r>
            <a:endParaRPr lang="en-US" sz="8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26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57200" y="40782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signals: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~$300B of AI-linked IG supply expected in 2026; Oracle's 5-yr CDS above ~125bp despite light leverage — credit spreads are now a live early-warning gauge for AI equities.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57200" y="433425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BofA via Breckinridge; CNBC (Feb 6, 2026); techtimes/beincrypto FCF estimates; deal record: Mawer, M&amp;G, Fortune, CNBC; CDS: MUFG via CNBC; supply forecasts: UBS &amp; Barclays via Reuters.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45" name="Text 43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0" y="9144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1E1E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04  ·  THE STAKES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005840" cy="54864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36192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and portfolios.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02920" y="230428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debate moved from how to regulate AI to who owns it. Your benchmark already answered for you.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017520"/>
            <a:ext cx="109728" cy="109728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16936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Washington wants equity.  </a:t>
            </a:r>
            <a:pPr indent="0" marL="0">
              <a:buNone/>
            </a:pPr>
            <a:r>
              <a:rPr lang="en-US" sz="10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one-time 50% tax on AI-lab equity is on the table — proposed by Sanders, echoed by Trump. That pair agreeing is the tell.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675888"/>
            <a:ext cx="109728" cy="109728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575304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benchmark already voted.  </a:t>
            </a:r>
            <a:pPr indent="0" marL="0">
              <a:buNone/>
            </a:pPr>
            <a:r>
              <a:rPr lang="en-US" sz="10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stocks are ~37% of the S&amp;P 500, sharing one earnings driver — an AI position nobody sized deliberately.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526280"/>
            <a:ext cx="9144000" cy="0"/>
          </a:xfrm>
          <a:prstGeom prst="line">
            <a:avLst/>
          </a:prstGeom>
          <a:noFill/>
          <a:ln w="6350">
            <a:solidFill>
              <a:srgbClr val="2A2A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THE STAKES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Washington enters the trade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strange convergence — Trump, Bannon, and Sanders aligned on oversight and public participation in the AI upside.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517904"/>
            <a:ext cx="2697480" cy="2212848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517904"/>
            <a:ext cx="2697480" cy="45720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6459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EXECUTIVE ORDER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5216" y="192024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Voluntary but high-pressure 30-day pre-release review (down from 90) for models that are a “meaningful step change” in cyber capability. The NSA is the testing body; the focus is cybersecurity, not general safety. Mandatory licensing expressly forbidden — “mission creep” avoided, for now.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3246120" y="1517904"/>
            <a:ext cx="2697480" cy="2212848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1" name="Shape 9"/>
          <p:cNvSpPr/>
          <p:nvPr/>
        </p:nvSpPr>
        <p:spPr>
          <a:xfrm>
            <a:off x="3246120" y="1517904"/>
            <a:ext cx="269748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2" name="Text 10"/>
          <p:cNvSpPr/>
          <p:nvPr/>
        </p:nvSpPr>
        <p:spPr>
          <a:xfrm>
            <a:off x="3374136" y="16459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SOVEREIGN WEALTH FUND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74136" y="192024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Sanders' proposal, echoed by Trump as “a concept of a plan”: a one-time 50% tax on AI-lab equity (not profits) seeds a public fund paying “AI Dividends” to citizens — potentially via “Trump Accounts for Children.”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6035040" y="1517904"/>
            <a:ext cx="2697480" cy="2212848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5" name="Shape 13"/>
          <p:cNvSpPr/>
          <p:nvPr/>
        </p:nvSpPr>
        <p:spPr>
          <a:xfrm>
            <a:off x="6035040" y="1517904"/>
            <a:ext cx="2697480" cy="4572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163056" y="16459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CRITIQUE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163056" y="192024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Sacks: government equity means “corporate-government fusion” and CCP-style social-credit risk; nationalization talk is a “stupidity tax” on the job-apocalypse narrative the labs themselves stoked.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457200" y="38221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read: 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central debate of 2026 is no longer whether AI should be regulated, but whether the means of AI production should be publicly owned — a direct tail risk to lab equity and the IPO pipeline (slide 13).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42611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Internal strategic review, “The 2026 AI Frontier” (Jun 2026) — Executive Order provisions, sovereign wealth fund proposals, Sacks critique.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1" name="Text 19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THE STAKES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index fund is an AI fund now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passive S&amp;P 500 allocation carries an embedded, undiversified AI position that no one sized deliberately.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$100 of S&amp;P 500 exposure sits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931920" cy="0"/>
          </a:xfrm>
          <a:prstGeom prst="line">
            <a:avLst/>
          </a:prstGeom>
          <a:noFill/>
          <a:ln w="12700">
            <a:solidFill>
              <a:srgbClr val="6B46C1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457200" y="1828800"/>
          <a:ext cx="393192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75488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54880" y="1783080"/>
            <a:ext cx="3931920" cy="0"/>
          </a:xfrm>
          <a:prstGeom prst="line">
            <a:avLst/>
          </a:prstGeom>
          <a:noFill/>
          <a:ln w="12700">
            <a:solidFill>
              <a:srgbClr val="6B46C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0" y="1874520"/>
            <a:ext cx="64008" cy="475488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2" name="Text 9"/>
          <p:cNvSpPr/>
          <p:nvPr/>
        </p:nvSpPr>
        <p:spPr>
          <a:xfrm>
            <a:off x="4910328" y="1874520"/>
            <a:ext cx="3776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an active bet you didn't make.  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~37% in ten names, benchmark exposure embeds a view on one theme's earnings durability.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754880" y="2423160"/>
            <a:ext cx="64008" cy="475488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4" name="Text 11"/>
          <p:cNvSpPr/>
          <p:nvPr/>
        </p:nvSpPr>
        <p:spPr>
          <a:xfrm>
            <a:off x="4910328" y="2423160"/>
            <a:ext cx="3776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made the cost visible — both directions.  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Equal-weight (+14%) beat cap-weight (+11%) YTD as megacaps lagged; in 2024–25 the same gap ran the other way.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754880" y="2971800"/>
            <a:ext cx="64008" cy="475488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6" name="Text 13"/>
          <p:cNvSpPr/>
          <p:nvPr/>
        </p:nvSpPr>
        <p:spPr>
          <a:xfrm>
            <a:off x="4910328" y="2971800"/>
            <a:ext cx="3776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Correlation is the multiplier.  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 names share one earnings driver — AI infrastructure economics — so the position behaves like a single factor, not ten stocks.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754880" y="3520440"/>
            <a:ext cx="64008" cy="475488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8" name="Text 15"/>
          <p:cNvSpPr/>
          <p:nvPr/>
        </p:nvSpPr>
        <p:spPr>
          <a:xfrm>
            <a:off x="4910328" y="3520440"/>
            <a:ext cx="3776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risk now sits inside the benchmark.  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equity taxes to pre-release reviews, Washington's AI debate is a direct input to ten names' earnings power.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Index weights: S&amp;P Dow Jones Indices, slickcharts (Jun 2026); YTD returns: Morningstar (RSP), slickcharts (S&amp;P 500).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1" name="Text 1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THE STAKES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breaks it — and what to do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watchpoints, each with a visible gauge — paired with four takeaways that survive whichever way the AI debate resolves.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Watchpoints &amp; gauges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0"/>
          </a:xfrm>
          <a:prstGeom prst="line">
            <a:avLst/>
          </a:prstGeom>
          <a:noFill/>
          <a:ln w="12700">
            <a:solidFill>
              <a:srgbClr val="6B46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01952"/>
            <a:ext cx="64008" cy="493776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190195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air pocket  </a:t>
            </a:r>
            <a:pPr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(capex guidance · token budgets)</a:t>
            </a:r>
            <a:endParaRPr lang="en-US" sz="900" dirty="0"/>
          </a:p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~94% of op cash flow is committed; enterprise token budgets are the new same-store sales. Semis at +80% have the most altitude to lose.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64008" cy="493776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246888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Financing stress  </a:t>
            </a:r>
            <a:pPr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(CDS · new-issue spreads)</a:t>
            </a:r>
            <a:endParaRPr lang="en-US" sz="900" dirty="0"/>
          </a:p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Oracle's CDS above ~125bp shows credit already discriminates. A failed mega-deal would reprice AI equities within days.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64008" cy="493776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" y="3035808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sensitivity  </a:t>
            </a:r>
            <a:pPr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(10-yr UST (~4.5%))</a:t>
            </a:r>
            <a:endParaRPr lang="en-US" sz="900" dirty="0"/>
          </a:p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Long-duration AI cash flows and record IG supply both lean on rates staying contained.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602736"/>
            <a:ext cx="64008" cy="493776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3602736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unwind  </a:t>
            </a:r>
            <a:pPr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(top-10 share (~37%))</a:t>
            </a:r>
            <a:endParaRPr lang="en-US" sz="900" dirty="0"/>
          </a:p>
          <a:p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 7 lagging equal-weight previewed it; the disorderly version is passive outflows meeting thin breadth.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54880" y="1481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 with it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1783080"/>
            <a:ext cx="3931920" cy="0"/>
          </a:xfrm>
          <a:prstGeom prst="line">
            <a:avLst/>
          </a:prstGeom>
          <a:noFill/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90195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Know your AI beta.  </a:t>
            </a:r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~37% of benchmark sits in ten names with one earnings driver. Size it deliberately — even if the answer is “keep it.”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54880" y="24688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Trade the chain, not the theme.  </a:t>
            </a:r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90-point intra-theme spread says segment selection — silicon, power, platforms, adopters — dominates the yes/no call.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303580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Watch credit as the early warning.  </a:t>
            </a:r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CDS and new-issue spreads reprice before equity revisions arrive. Put them on the dashboard.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360273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Respect the breadth shift.  </a:t>
            </a:r>
            <a:pPr indent="0" marL="0"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Equal-weight beating cap-weight while semis compound at a +80% pace: 2026 rewards structure, not just direction.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need a view on AGI to manage this — you need to know what your portfolio already believes.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2080" y="4572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1E1E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05  ·  THE FRONTIER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1005840" cy="54864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70432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Where this is heading.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is getting hands, wheels, wings — and ears. Orbit, embodiment, biology, and the sci-fi tail that markets quietly pay for.</a:t>
            </a:r>
            <a:endParaRPr lang="en-US" sz="1200" dirty="0"/>
          </a:p>
        </p:txBody>
      </p:sp>
      <p:pic>
        <p:nvPicPr>
          <p:cNvPr id="7" name="Image 0" descr="slides-images/web/humanoi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2514600"/>
            <a:ext cx="9144000" cy="2011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0" y="4526280"/>
            <a:ext cx="9144000" cy="0"/>
          </a:xfrm>
          <a:prstGeom prst="line">
            <a:avLst/>
          </a:prstGeom>
          <a:noFill/>
          <a:ln w="6350">
            <a:solidFill>
              <a:srgbClr val="2A2A3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1" name="Text 8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-images/web/orbit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0"/>
            <a:ext cx="356616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E8478D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THE FRONTIER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155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WATCH — SPECULATIVE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43891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Compute leaves the grid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102412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 solves the exact constraint that defines Act 02: continuous solar power, radiative cooling, no interconnection queue.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1883664"/>
            <a:ext cx="109728" cy="109728"/>
          </a:xfrm>
          <a:prstGeom prst="rect">
            <a:avLst/>
          </a:prstGeom>
          <a:solidFill>
            <a:srgbClr val="E8478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10512"/>
            <a:ext cx="4709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physics flips in orbit's favor.  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Sunlight 24/7 with no weather or night; waste heat radiates straight to space. Power and cooling — the two costs that dominate terrestrial datacenters — get structurally cheaper.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2688336"/>
            <a:ext cx="109728" cy="109728"/>
          </a:xfrm>
          <a:prstGeom prst="rect">
            <a:avLst/>
          </a:prstGeom>
          <a:solidFill>
            <a:srgbClr val="E8478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615184"/>
            <a:ext cx="4709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company owns the whole stack.  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SpaceX already runs 550k-GPU clusters and the rockets that launch them. Falling $/kg to orbit plus neocloud economics is vertical integration no terrestrial operator can match.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" y="3493008"/>
            <a:ext cx="109728" cy="109728"/>
          </a:xfrm>
          <a:prstGeom prst="rect">
            <a:avLst/>
          </a:prstGeom>
          <a:solidFill>
            <a:srgbClr val="E8478D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3419856"/>
            <a:ext cx="4709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like a market, not a meme.  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orbital compute as 2030s option value. The gauges: launch cadence, prototype performance in vacuum, and whether anyone signs an orbital-capacity offtake.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42245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deck analysis building on Internal strategic review, “The 2026 AI Frontier” (Jun 2026) (SpaceX Colossus economics). Orbital deployment is speculative — not in any company guidance.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0" y="4526280"/>
            <a:ext cx="9144000" cy="0"/>
          </a:xfrm>
          <a:prstGeom prst="line">
            <a:avLst/>
          </a:prstGeom>
          <a:noFill/>
          <a:ln w="6350">
            <a:solidFill>
              <a:srgbClr val="2A2A3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74320" cy="45720"/>
          </a:xfrm>
          <a:prstGeom prst="rect">
            <a:avLst/>
          </a:prstGeom>
          <a:solidFill>
            <a:srgbClr val="E8478D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155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THE FRONTIER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loop gets wheels, proteins — and ears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this is in 2026 guidance. All of it is in the option value markets are paying for.</a:t>
            </a:r>
            <a:endParaRPr lang="en-US" sz="1250" dirty="0"/>
          </a:p>
        </p:txBody>
      </p:sp>
      <p:pic>
        <p:nvPicPr>
          <p:cNvPr id="6" name="Image 0" descr="slides-images/web/robotax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17904"/>
            <a:ext cx="2651760" cy="1417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2935224"/>
            <a:ext cx="2651760" cy="96012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3017520"/>
            <a:ext cx="24323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Autonomy at fleet scale.  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Robotaxis are inference on wheels — per-mile token economics, city-scale loops, and a physical-world demand pool for compute.</a:t>
            </a:r>
            <a:endParaRPr lang="en-US" sz="950" dirty="0"/>
          </a:p>
        </p:txBody>
      </p:sp>
      <p:pic>
        <p:nvPicPr>
          <p:cNvPr id="9" name="Image 1" descr="slides-images/web/protei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46120" y="1517904"/>
            <a:ext cx="265176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46120" y="2935224"/>
            <a:ext cx="2651760" cy="960120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11" name="Text 7"/>
          <p:cNvSpPr/>
          <p:nvPr/>
        </p:nvSpPr>
        <p:spPr>
          <a:xfrm>
            <a:off x="3355848" y="3017520"/>
            <a:ext cx="24323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becomes a compute story.  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models now lead biology benchmarks; AI-designed proteins compress discovery pipelines — biotech R&amp;D starts to look like chip capex.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035040" y="1517904"/>
            <a:ext cx="2651760" cy="2377440"/>
          </a:xfrm>
          <a:prstGeom prst="rect">
            <a:avLst/>
          </a:prstGeom>
          <a:solidFill>
            <a:srgbClr val="111114"/>
          </a:solidFill>
          <a:ln/>
        </p:spPr>
      </p:sp>
      <p:sp>
        <p:nvSpPr>
          <p:cNvPr id="13" name="Shape 9"/>
          <p:cNvSpPr/>
          <p:nvPr/>
        </p:nvSpPr>
        <p:spPr>
          <a:xfrm>
            <a:off x="6035040" y="1517904"/>
            <a:ext cx="2651760" cy="45720"/>
          </a:xfrm>
          <a:prstGeom prst="rect">
            <a:avLst/>
          </a:prstGeom>
          <a:solidFill>
            <a:srgbClr val="E8478D"/>
          </a:solidFill>
          <a:ln/>
        </p:spPr>
      </p:sp>
      <p:sp>
        <p:nvSpPr>
          <p:cNvPr id="14" name="Text 10"/>
          <p:cNvSpPr/>
          <p:nvPr/>
        </p:nvSpPr>
        <p:spPr>
          <a:xfrm>
            <a:off x="6199632" y="162763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WATCH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263640" y="2157984"/>
            <a:ext cx="82296" cy="109728"/>
          </a:xfrm>
          <a:prstGeom prst="roundRect">
            <a:avLst>
              <a:gd name="adj" fmla="val 44444"/>
            </a:avLst>
          </a:prstGeom>
          <a:solidFill>
            <a:srgbClr val="E8478D"/>
          </a:solidFill>
          <a:ln/>
        </p:spPr>
      </p:sp>
      <p:sp>
        <p:nvSpPr>
          <p:cNvPr id="16" name="Shape 12"/>
          <p:cNvSpPr/>
          <p:nvPr/>
        </p:nvSpPr>
        <p:spPr>
          <a:xfrm>
            <a:off x="6446520" y="2084832"/>
            <a:ext cx="82296" cy="256032"/>
          </a:xfrm>
          <a:prstGeom prst="roundRect">
            <a:avLst>
              <a:gd name="adj" fmla="val 44444"/>
            </a:avLst>
          </a:prstGeom>
          <a:solidFill>
            <a:srgbClr val="E8478D"/>
          </a:solidFill>
          <a:ln/>
        </p:spPr>
      </p:sp>
      <p:sp>
        <p:nvSpPr>
          <p:cNvPr id="17" name="Shape 13"/>
          <p:cNvSpPr/>
          <p:nvPr/>
        </p:nvSpPr>
        <p:spPr>
          <a:xfrm>
            <a:off x="6629400" y="1984248"/>
            <a:ext cx="82296" cy="457200"/>
          </a:xfrm>
          <a:prstGeom prst="roundRect">
            <a:avLst>
              <a:gd name="adj" fmla="val 44444"/>
            </a:avLst>
          </a:prstGeom>
          <a:solidFill>
            <a:srgbClr val="E8478D"/>
          </a:solidFill>
          <a:ln/>
        </p:spPr>
      </p:sp>
      <p:sp>
        <p:nvSpPr>
          <p:cNvPr id="18" name="Shape 14"/>
          <p:cNvSpPr/>
          <p:nvPr/>
        </p:nvSpPr>
        <p:spPr>
          <a:xfrm>
            <a:off x="6812280" y="2057400"/>
            <a:ext cx="82296" cy="310896"/>
          </a:xfrm>
          <a:prstGeom prst="roundRect">
            <a:avLst>
              <a:gd name="adj" fmla="val 44444"/>
            </a:avLst>
          </a:prstGeom>
          <a:solidFill>
            <a:srgbClr val="E8478D"/>
          </a:solidFill>
          <a:ln/>
        </p:spPr>
      </p:sp>
      <p:sp>
        <p:nvSpPr>
          <p:cNvPr id="19" name="Shape 15"/>
          <p:cNvSpPr/>
          <p:nvPr/>
        </p:nvSpPr>
        <p:spPr>
          <a:xfrm>
            <a:off x="6995160" y="1929384"/>
            <a:ext cx="82296" cy="566928"/>
          </a:xfrm>
          <a:prstGeom prst="roundRect">
            <a:avLst>
              <a:gd name="adj" fmla="val 44444"/>
            </a:avLst>
          </a:prstGeom>
          <a:solidFill>
            <a:srgbClr val="E8478D"/>
          </a:solidFill>
          <a:ln/>
        </p:spPr>
      </p:sp>
      <p:sp>
        <p:nvSpPr>
          <p:cNvPr id="20" name="Shape 16"/>
          <p:cNvSpPr/>
          <p:nvPr/>
        </p:nvSpPr>
        <p:spPr>
          <a:xfrm>
            <a:off x="7178040" y="2029968"/>
            <a:ext cx="82296" cy="365760"/>
          </a:xfrm>
          <a:prstGeom prst="roundRect">
            <a:avLst>
              <a:gd name="adj" fmla="val 44444"/>
            </a:avLst>
          </a:prstGeom>
          <a:solidFill>
            <a:srgbClr val="E8478D"/>
          </a:solidFill>
          <a:ln/>
        </p:spPr>
      </p:sp>
      <p:sp>
        <p:nvSpPr>
          <p:cNvPr id="21" name="Shape 17"/>
          <p:cNvSpPr/>
          <p:nvPr/>
        </p:nvSpPr>
        <p:spPr>
          <a:xfrm>
            <a:off x="7360920" y="2112264"/>
            <a:ext cx="82296" cy="201168"/>
          </a:xfrm>
          <a:prstGeom prst="roundRect">
            <a:avLst>
              <a:gd name="adj" fmla="val 44444"/>
            </a:avLst>
          </a:prstGeom>
          <a:solidFill>
            <a:srgbClr val="E8478D"/>
          </a:solidFill>
          <a:ln/>
        </p:spPr>
      </p:sp>
      <p:sp>
        <p:nvSpPr>
          <p:cNvPr id="22" name="Shape 18"/>
          <p:cNvSpPr/>
          <p:nvPr/>
        </p:nvSpPr>
        <p:spPr>
          <a:xfrm>
            <a:off x="7543800" y="2002536"/>
            <a:ext cx="82296" cy="420624"/>
          </a:xfrm>
          <a:prstGeom prst="roundRect">
            <a:avLst>
              <a:gd name="adj" fmla="val 44444"/>
            </a:avLst>
          </a:prstGeom>
          <a:solidFill>
            <a:srgbClr val="E8478D"/>
          </a:solidFill>
          <a:ln/>
        </p:spPr>
      </p:sp>
      <p:sp>
        <p:nvSpPr>
          <p:cNvPr id="23" name="Shape 19"/>
          <p:cNvSpPr/>
          <p:nvPr/>
        </p:nvSpPr>
        <p:spPr>
          <a:xfrm>
            <a:off x="7726680" y="2075688"/>
            <a:ext cx="82296" cy="274320"/>
          </a:xfrm>
          <a:prstGeom prst="roundRect">
            <a:avLst>
              <a:gd name="adj" fmla="val 44444"/>
            </a:avLst>
          </a:prstGeom>
          <a:solidFill>
            <a:srgbClr val="E8478D"/>
          </a:solidFill>
          <a:ln/>
        </p:spPr>
      </p:sp>
      <p:sp>
        <p:nvSpPr>
          <p:cNvPr id="24" name="Shape 20"/>
          <p:cNvSpPr/>
          <p:nvPr/>
        </p:nvSpPr>
        <p:spPr>
          <a:xfrm>
            <a:off x="7909560" y="2148840"/>
            <a:ext cx="82296" cy="128016"/>
          </a:xfrm>
          <a:prstGeom prst="roundRect">
            <a:avLst>
              <a:gd name="adj" fmla="val 44444"/>
            </a:avLst>
          </a:prstGeom>
          <a:solidFill>
            <a:srgbClr val="E8478D"/>
          </a:solidFill>
          <a:ln/>
        </p:spPr>
      </p:sp>
      <p:sp>
        <p:nvSpPr>
          <p:cNvPr id="25" name="Shape 21"/>
          <p:cNvSpPr/>
          <p:nvPr/>
        </p:nvSpPr>
        <p:spPr>
          <a:xfrm>
            <a:off x="8092440" y="2048256"/>
            <a:ext cx="82296" cy="329184"/>
          </a:xfrm>
          <a:prstGeom prst="roundRect">
            <a:avLst>
              <a:gd name="adj" fmla="val 44444"/>
            </a:avLst>
          </a:prstGeom>
          <a:solidFill>
            <a:srgbClr val="E8478D"/>
          </a:solidFill>
          <a:ln/>
        </p:spPr>
      </p:sp>
      <p:sp>
        <p:nvSpPr>
          <p:cNvPr id="26" name="Shape 22"/>
          <p:cNvSpPr/>
          <p:nvPr/>
        </p:nvSpPr>
        <p:spPr>
          <a:xfrm>
            <a:off x="8275320" y="2121408"/>
            <a:ext cx="82296" cy="182880"/>
          </a:xfrm>
          <a:prstGeom prst="roundRect">
            <a:avLst>
              <a:gd name="adj" fmla="val 44444"/>
            </a:avLst>
          </a:prstGeom>
          <a:solidFill>
            <a:srgbClr val="E8478D"/>
          </a:solidFill>
          <a:ln/>
        </p:spPr>
      </p:sp>
      <p:sp>
        <p:nvSpPr>
          <p:cNvPr id="27" name="Text 23"/>
          <p:cNvSpPr/>
          <p:nvPr/>
        </p:nvSpPr>
        <p:spPr>
          <a:xfrm>
            <a:off x="6199632" y="2578608"/>
            <a:ext cx="23408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Talking to animals.  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models trained on whale and dolphin vocalizations are the cleanest demo that these systems generalize beyond human language — the kind of result that resets public imagination (and policy attention) overnight.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457200" y="40233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it's in a markets deck: 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of these converts compute into a new revenue pool — extending the Jevons demand curve (slide 6) by another decade.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457200" y="429768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Deck analysis; biology benchmark leadership: Internal strategic review, “The 2026 AI Frontier” (Jun 2026). Frontier-watch items are speculative and not in company guidance.</a:t>
            </a:r>
            <a:endParaRPr lang="en-US" sz="700" dirty="0"/>
          </a:p>
        </p:txBody>
      </p:sp>
      <p:sp>
        <p:nvSpPr>
          <p:cNvPr id="30" name="Shape 26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1" name="Text 27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2" name="Text 28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Sources &amp; methodology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2377440" cy="347472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8686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AS OF JUNE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17520" y="86868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are total returns YTD through the most recent available close (Jun 5–9, 2026, unless noted). Index and market-cap figures as of early June 2026.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057400" cy="219456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1732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DATA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93776" y="1709928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ETF returns &amp; stats: stockanalysis.com (SOXX, IGV); Morningstar / Yahoo Finance (RSP, MAGS)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returns &amp; weights: slickcharts.com; S&amp;P Dow Jones Indices; MacroMicro; finhacker.cz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caps: companiesmarketcap.com; Motley Fool research (Jun 2026)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Valuations: FactSet Earnings Insight; GuruFocus; Apollo Daily Spark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Rates: US Treasury / FRED; CNBC (Jun 5, 2026)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2583180" y="1417320"/>
            <a:ext cx="2057400" cy="219456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10" name="Text 8"/>
          <p:cNvSpPr/>
          <p:nvPr/>
        </p:nvSpPr>
        <p:spPr>
          <a:xfrm>
            <a:off x="2583180" y="141732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&amp; FINANCING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619756" y="1709928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guidance: company reports via CNBC (Feb 6, 2026); Tom's Hardware; Statista; Morgan Stanley est.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Cash-flow math: BofA via Breckinridge; CNBC; techtimes / beincrypto FCF estimates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 issuance: Mawer; M&amp;G Investments; Fortune (Mar 2026); CNBC (Feb 2026)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forecasts: UBS &amp; Barclays via Reuters (Jan 2026); credit signals: MUFG CDS via CNBC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4709160" y="1417320"/>
            <a:ext cx="2057400" cy="219456"/>
          </a:xfrm>
          <a:prstGeom prst="rect">
            <a:avLst/>
          </a:prstGeom>
          <a:solidFill>
            <a:srgbClr val="008B8B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141732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CONTEXT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745736" y="1709928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demand: IEA, Energy &amp; AI (485→950 TWh, 2025–2030)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constraint: S&amp;P Global (85 GW US pipeline)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Silicon: Reuters (memory shortage, Jun 3, 2026); WSJ ($5.7T chip rally)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ETF tickers referenced: SOXX, IGV, RSP, MAGS; iShares funds preferred as primary ETF sources per house data policy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6835140" y="1417320"/>
            <a:ext cx="2057400" cy="219456"/>
          </a:xfrm>
          <a:prstGeom prst="rect">
            <a:avLst/>
          </a:prstGeom>
          <a:solidFill>
            <a:srgbClr val="6B46C1"/>
          </a:solidFill>
          <a:ln/>
        </p:spPr>
      </p:sp>
      <p:sp>
        <p:nvSpPr>
          <p:cNvPr id="16" name="Text 14"/>
          <p:cNvSpPr/>
          <p:nvPr/>
        </p:nvSpPr>
        <p:spPr>
          <a:xfrm>
            <a:off x="6835140" y="141732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FRONTIER REVIEW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871716" y="1709928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strategic review: “The 2026 AI Frontier” (Jun 2026)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shift, loops &amp; token economics; enterprise caps (Uber, Walmart); Karpathy, Cherny commentary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Compute: SK Hynix HBM outlook; Nvidia Vera Rubin &amp; RTX Spark; SpaceX Colossus; Google GPU rental</a:t>
            </a:r>
            <a:endParaRPr lang="en-US" sz="720" dirty="0"/>
          </a:p>
          <a:p>
            <a:pPr marL="88900" indent="-88900">
              <a:spcAft>
                <a:spcPts val="400"/>
              </a:spcAft>
              <a:buSzPct val="100000"/>
              <a:buChar char="•"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 &amp; policy: run rates via Leona's Capital; Executive Order provisions; sovereign wealth fund proposals; Project Glasswing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457200" y="400507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Methodology: figures verified against at least one primary or institutional source; where sources disagreed, the more conservative figure was used. Chart labels are rounded to whole numbers; exact plotted values: SOXX +79.5%, IGV −9.5% YTD. Act 05 frontier-watch items (orbital compute, embodied agents, interspecies communication) are speculative and flagged as such — they appear in no company guidance. The Jevons chart (slide 6) is illustrative, not measured data. End of deck.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the Market — From Chatbots to Agentic Loops — June 2026</dc:title>
  <dc:subject>PptxGenJS Presentation</dc:subject>
  <dc:creator>Strategy</dc:creator>
  <cp:lastModifiedBy>Strategy</cp:lastModifiedBy>
  <cp:revision>1</cp:revision>
  <dcterms:created xsi:type="dcterms:W3CDTF">2026-06-10T05:36:23Z</dcterms:created>
  <dcterms:modified xsi:type="dcterms:W3CDTF">2026-06-10T05:36:23Z</dcterms:modified>
</cp:coreProperties>
</file>