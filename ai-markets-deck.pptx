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6693D"/>
            </a:solidFill>
            <a:ln w="38100" cap="flat">
              <a:solidFill>
                <a:srgbClr val="F6693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6693D"/>
              </a:solidFill>
              <a:ln w="9525" cap="flat">
                <a:solidFill>
                  <a:srgbClr val="F669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</c:v>
                  </c:pt>
                  <c:pt idx="5">
                    <c:v>Y5</c:v>
                  </c:pt>
                  <c:pt idx="6">
                    <c:v>Y6</c:v>
                  </c:pt>
                  <c:pt idx="7">
                    <c:v>Y7</c:v>
                  </c:pt>
                  <c:pt idx="8">
                    <c:v>Y8</c:v>
                  </c:pt>
                  <c:pt idx="9">
                    <c:v>Y9</c:v>
                  </c:pt>
                  <c:pt idx="10">
                    <c:v>Y10</c:v>
                  </c:pt>
                  <c:pt idx="11">
                    <c:v>Y11</c:v>
                  </c:pt>
                  <c:pt idx="12">
                    <c:v>Y12</c:v>
                  </c:pt>
                  <c:pt idx="13">
                    <c:v>Y13</c:v>
                  </c:pt>
                  <c:pt idx="14">
                    <c:v>Y14</c:v>
                  </c:pt>
                  <c:pt idx="15">
                    <c:v>Y15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0</c:v>
                </c:pt>
                <c:pt idx="1">
                  <c:v>18</c:v>
                </c:pt>
                <c:pt idx="2">
                  <c:v>38</c:v>
                </c:pt>
                <c:pt idx="3">
                  <c:v>56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Internet</c:v>
                </c:pt>
              </c:strCache>
            </c:strRef>
          </c:tx>
          <c:spPr>
            <a:solidFill>
              <a:srgbClr val="008B8B"/>
            </a:solidFill>
            <a:ln w="38100" cap="flat">
              <a:solidFill>
                <a:srgbClr val="008B8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8B8B"/>
              </a:solidFill>
              <a:ln w="9525" cap="flat">
                <a:solidFill>
                  <a:srgbClr val="008B8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</c:v>
                  </c:pt>
                  <c:pt idx="5">
                    <c:v>Y5</c:v>
                  </c:pt>
                  <c:pt idx="6">
                    <c:v>Y6</c:v>
                  </c:pt>
                  <c:pt idx="7">
                    <c:v>Y7</c:v>
                  </c:pt>
                  <c:pt idx="8">
                    <c:v>Y8</c:v>
                  </c:pt>
                  <c:pt idx="9">
                    <c:v>Y9</c:v>
                  </c:pt>
                  <c:pt idx="10">
                    <c:v>Y10</c:v>
                  </c:pt>
                  <c:pt idx="11">
                    <c:v>Y11</c:v>
                  </c:pt>
                  <c:pt idx="12">
                    <c:v>Y12</c:v>
                  </c:pt>
                  <c:pt idx="13">
                    <c:v>Y13</c:v>
                  </c:pt>
                  <c:pt idx="14">
                    <c:v>Y14</c:v>
                  </c:pt>
                  <c:pt idx="15">
                    <c:v>Y15</c:v>
                  </c:pt>
                </c:lvl>
              </c:multiLvlStrCache>
            </c:multiLvl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0</c:v>
                </c:pt>
                <c:pt idx="1">
                  <c:v>2</c:v>
                </c:pt>
                <c:pt idx="2">
                  <c:v>5</c:v>
                </c:pt>
                <c:pt idx="3">
                  <c:v>10</c:v>
                </c:pt>
                <c:pt idx="4">
                  <c:v>16</c:v>
                </c:pt>
                <c:pt idx="5">
                  <c:v>24</c:v>
                </c:pt>
                <c:pt idx="6">
                  <c:v>32</c:v>
                </c:pt>
                <c:pt idx="7">
                  <c:v>40</c:v>
                </c:pt>
                <c:pt idx="8">
                  <c:v>47</c:v>
                </c:pt>
                <c:pt idx="9">
                  <c:v>53</c:v>
                </c:pt>
                <c:pt idx="10">
                  <c:v>58</c:v>
                </c:pt>
                <c:pt idx="11">
                  <c:v>62</c:v>
                </c:pt>
                <c:pt idx="12">
                  <c:v>64</c:v>
                </c:pt>
                <c:pt idx="13">
                  <c:v>66</c:v>
                </c:pt>
                <c:pt idx="14">
                  <c:v>67</c:v>
                </c:pt>
                <c:pt idx="15">
                  <c:v>68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PC</c:v>
                </c:pt>
              </c:strCache>
            </c:strRef>
          </c:tx>
          <c:spPr>
            <a:solidFill>
              <a:srgbClr val="666666"/>
            </a:solidFill>
            <a:ln w="38100" cap="flat">
              <a:solidFill>
                <a:srgbClr val="6666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66666"/>
              </a:solidFill>
              <a:ln w="9525" cap="flat">
                <a:solidFill>
                  <a:srgbClr val="6666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</c:v>
                  </c:pt>
                  <c:pt idx="5">
                    <c:v>Y5</c:v>
                  </c:pt>
                  <c:pt idx="6">
                    <c:v>Y6</c:v>
                  </c:pt>
                  <c:pt idx="7">
                    <c:v>Y7</c:v>
                  </c:pt>
                  <c:pt idx="8">
                    <c:v>Y8</c:v>
                  </c:pt>
                  <c:pt idx="9">
                    <c:v>Y9</c:v>
                  </c:pt>
                  <c:pt idx="10">
                    <c:v>Y10</c:v>
                  </c:pt>
                  <c:pt idx="11">
                    <c:v>Y11</c:v>
                  </c:pt>
                  <c:pt idx="12">
                    <c:v>Y12</c:v>
                  </c:pt>
                  <c:pt idx="13">
                    <c:v>Y13</c:v>
                  </c:pt>
                  <c:pt idx="14">
                    <c:v>Y14</c:v>
                  </c:pt>
                  <c:pt idx="15">
                    <c:v>Y15</c:v>
                  </c:pt>
                </c:lvl>
              </c:multiLvlStrCache>
            </c:multiLvlStrRef>
          </c:cat>
          <c:val>
            <c:numRef>
              <c:f>Sheet1!$D$2:$D$17</c:f>
              <c:numCache>
                <c:formatCode>General</c:formatCode>
                <c:ptCount val="16"/>
                <c:pt idx="0">
                  <c:v>0</c:v>
                </c:pt>
                <c:pt idx="1">
                  <c:v>1</c:v>
                </c:pt>
                <c:pt idx="2">
                  <c:v>3</c:v>
                </c:pt>
                <c:pt idx="3">
                  <c:v>6</c:v>
                </c:pt>
                <c:pt idx="4">
                  <c:v>9</c:v>
                </c:pt>
                <c:pt idx="5">
                  <c:v>13</c:v>
                </c:pt>
                <c:pt idx="6">
                  <c:v>18</c:v>
                </c:pt>
                <c:pt idx="7">
                  <c:v>23</c:v>
                </c:pt>
                <c:pt idx="8">
                  <c:v>28</c:v>
                </c:pt>
                <c:pt idx="9">
                  <c:v>32</c:v>
                </c:pt>
                <c:pt idx="10">
                  <c:v>36</c:v>
                </c:pt>
                <c:pt idx="11">
                  <c:v>40</c:v>
                </c:pt>
                <c:pt idx="12">
                  <c:v>43</c:v>
                </c:pt>
                <c:pt idx="13">
                  <c:v>46</c:v>
                </c:pt>
                <c:pt idx="14">
                  <c:v>48</c:v>
                </c:pt>
                <c:pt idx="15">
                  <c:v>49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669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 (2026E)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5</c:v>
                </c:pt>
                <c:pt idx="2">
                  <c:v>16</c:v>
                </c:pt>
                <c:pt idx="3">
                  <c:v>42</c:v>
                </c:pt>
                <c:pt idx="4">
                  <c:v>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Cloud</c:v>
                </c:pt>
              </c:strCache>
            </c:strRef>
          </c:tx>
          <c:spPr>
            <a:solidFill>
              <a:srgbClr val="FFB8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 (2026E)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7</c:v>
                </c:pt>
                <c:pt idx="4">
                  <c:v>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Internet</c:v>
                </c:pt>
              </c:strCache>
            </c:strRef>
          </c:tx>
          <c:spPr>
            <a:solidFill>
              <a:srgbClr val="008B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 (2026E)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  <c:pt idx="4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Semis</c:v>
                </c:pt>
              </c:strCache>
            </c:strRef>
          </c:tx>
          <c:spPr>
            <a:solidFill>
              <a:srgbClr val="F6693D"/>
            </a:solidFill>
            <a:ln w="38100" cap="flat">
              <a:solidFill>
                <a:srgbClr val="F6693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6693D"/>
              </a:solidFill>
              <a:ln w="9525" cap="flat">
                <a:solidFill>
                  <a:srgbClr val="F669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 1</c:v>
                  </c:pt>
                  <c:pt idx="1">
                    <c:v>Jan 31</c:v>
                  </c:pt>
                  <c:pt idx="2">
                    <c:v>Feb 28</c:v>
                  </c:pt>
                  <c:pt idx="3">
                    <c:v>Mar 31</c:v>
                  </c:pt>
                  <c:pt idx="4">
                    <c:v>Apr 17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110</c:v>
                </c:pt>
                <c:pt idx="2">
                  <c:v>118</c:v>
                </c:pt>
                <c:pt idx="3">
                  <c:v>128</c:v>
                </c:pt>
                <c:pt idx="4">
                  <c:v>138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Nasdaq</c:v>
                </c:pt>
              </c:strCache>
            </c:strRef>
          </c:tx>
          <c:spPr>
            <a:solidFill>
              <a:srgbClr val="333333"/>
            </a:solidFill>
            <a:ln w="38100" cap="flat">
              <a:solidFill>
                <a:srgbClr val="33333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33333"/>
              </a:solidFill>
              <a:ln w="9525" cap="flat">
                <a:solidFill>
                  <a:srgbClr val="33333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 1</c:v>
                  </c:pt>
                  <c:pt idx="1">
                    <c:v>Jan 31</c:v>
                  </c:pt>
                  <c:pt idx="2">
                    <c:v>Feb 28</c:v>
                  </c:pt>
                  <c:pt idx="3">
                    <c:v>Mar 31</c:v>
                  </c:pt>
                  <c:pt idx="4">
                    <c:v>Apr 17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100</c:v>
                </c:pt>
                <c:pt idx="1">
                  <c:v>98</c:v>
                </c:pt>
                <c:pt idx="2">
                  <c:v>96</c:v>
                </c:pt>
                <c:pt idx="3">
                  <c:v>99</c:v>
                </c:pt>
                <c:pt idx="4">
                  <c:v>104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Software</c:v>
                </c:pt>
              </c:strCache>
            </c:strRef>
          </c:tx>
          <c:spPr>
            <a:solidFill>
              <a:srgbClr val="CC0000"/>
            </a:solidFill>
            <a:ln w="38100" cap="flat">
              <a:solidFill>
                <a:srgbClr val="CC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C0000"/>
              </a:solidFill>
              <a:ln w="9525" cap="flat">
                <a:solidFill>
                  <a:srgbClr val="CC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 1</c:v>
                  </c:pt>
                  <c:pt idx="1">
                    <c:v>Jan 31</c:v>
                  </c:pt>
                  <c:pt idx="2">
                    <c:v>Feb 28</c:v>
                  </c:pt>
                  <c:pt idx="3">
                    <c:v>Mar 31</c:v>
                  </c:pt>
                  <c:pt idx="4">
                    <c:v>Apr 17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100</c:v>
                </c:pt>
                <c:pt idx="1">
                  <c:v>88</c:v>
                </c:pt>
                <c:pt idx="2">
                  <c:v>78</c:v>
                </c:pt>
                <c:pt idx="3">
                  <c:v>76</c:v>
                </c:pt>
                <c:pt idx="4">
                  <c:v>80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D1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88920"/>
            <a:ext cx="1005840" cy="128016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0632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Markets</a:t>
            </a:r>
            <a:endParaRPr lang="en-US" sz="8800" dirty="0"/>
          </a:p>
        </p:txBody>
      </p:sp>
      <p:sp>
        <p:nvSpPr>
          <p:cNvPr id="4" name="Text 2"/>
          <p:cNvSpPr/>
          <p:nvPr/>
        </p:nvSpPr>
        <p:spPr>
          <a:xfrm>
            <a:off x="457200" y="4434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 2026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Contents.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737360"/>
            <a:ext cx="109728" cy="585216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737360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8B8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0" y="1737360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LANDSCAPE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0" y="1737360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– 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359152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395728"/>
            <a:ext cx="109728" cy="585216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395728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645920" y="2395728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MARKET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315200" y="2395728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– 10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017520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3054096"/>
            <a:ext cx="109728" cy="585216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054096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645920" y="3054096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SHIFTS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7315200" y="3054096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– 12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1520" y="3675888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712464"/>
            <a:ext cx="109728" cy="585216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712464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645920" y="3712464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RISKS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315200" y="3712464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– 16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31520" y="4334256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" y="4370832"/>
            <a:ext cx="109728" cy="585216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437083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46C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645920" y="4370832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FRONTIER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315200" y="4370832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– 20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31520" y="4992624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7200" y="5029200"/>
            <a:ext cx="109728" cy="585216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5029200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645920" y="5029200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TAKEAWAYS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315200" y="5029200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Strategy Research. 21 slides, read top to bottom.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AI matters to markets.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783080"/>
            <a:ext cx="1097280" cy="114300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1783080" y="1828800"/>
            <a:ext cx="6903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largest capex cycle in history.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783080" y="2286000"/>
            <a:ext cx="6903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 5 hyperscalers are pouring roughly $750B into AI infrastructure in 2026 alone — more than the entire US energy buildout at its peak.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108960"/>
            <a:ext cx="1097280" cy="114300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10896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1783080" y="3154680"/>
            <a:ext cx="6903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It touches every layer of the economy.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783080" y="3611880"/>
            <a:ext cx="6903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raw silicon and power generation through data centers, models, and the apps on your phone — AI is now the connective tissue of modern business.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4434840"/>
            <a:ext cx="1097280" cy="114300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443484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1783080" y="4480560"/>
            <a:ext cx="6903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It is repricing everything — in both directions.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783080" y="4937760"/>
            <a:ext cx="6903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wave that lifts semis, memory, and power is cracking software seat models, content moats, and legacy services. Winners and losers, inside one theme.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CreditSights / MUFG hyperscaler capex 2026 estimates; Jensen Huang (Sept 2025); Strategy Research.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evolution from chatbots to agents.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that learns from data, reasons through problems, and — increasingly — takes action without human direction.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2011680"/>
            <a:ext cx="7863840" cy="0"/>
          </a:xfrm>
          <a:prstGeom prst="line">
            <a:avLst/>
          </a:prstGeom>
          <a:noFill/>
          <a:ln w="31750">
            <a:solidFill>
              <a:srgbClr val="66666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6528" y="1892808"/>
            <a:ext cx="237744" cy="237744"/>
          </a:xfrm>
          <a:prstGeom prst="ellipse">
            <a:avLst/>
          </a:prstGeom>
          <a:solidFill>
            <a:srgbClr val="66666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6629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6293" y="2212848"/>
            <a:ext cx="54864" cy="329184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430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1950s–80s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9430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Symbolic AI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9430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Hand-coded rules. Expert systems with narrow recall.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487168" y="1892808"/>
            <a:ext cx="237744" cy="237744"/>
          </a:xfrm>
          <a:prstGeom prst="ellipse">
            <a:avLst/>
          </a:prstGeom>
          <a:solidFill>
            <a:srgbClr val="008B8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7693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76933" y="2212848"/>
            <a:ext cx="54864" cy="329184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0494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1990s–2000s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10494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 Learning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10494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Systems learn patterns from data, not rules.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797808" y="1892808"/>
            <a:ext cx="237744" cy="237744"/>
          </a:xfrm>
          <a:prstGeom prst="ellipse">
            <a:avLst/>
          </a:prstGeom>
          <a:solidFill>
            <a:srgbClr val="FFB8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8757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87573" y="2212848"/>
            <a:ext cx="54864" cy="329184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1558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41558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Learning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41558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Neural networks go deep. AlexNet, the first breakthrough.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108448" y="1892808"/>
            <a:ext cx="237744" cy="237744"/>
          </a:xfrm>
          <a:prstGeom prst="ellipse">
            <a:avLst/>
          </a:prstGeom>
          <a:solidFill>
            <a:srgbClr val="F669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98213" y="2212848"/>
            <a:ext cx="1258214" cy="3291840"/>
          </a:xfrm>
          <a:prstGeom prst="rect">
            <a:avLst/>
          </a:prstGeom>
          <a:solidFill>
            <a:srgbClr val="FFF8F3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98213" y="2212848"/>
            <a:ext cx="54864" cy="329184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2622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2022–24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72622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chatbots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72622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hits 100M users in 2 months. Claude, Gemini follow.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419088" y="1892808"/>
            <a:ext cx="237744" cy="237744"/>
          </a:xfrm>
          <a:prstGeom prst="ellipse">
            <a:avLst/>
          </a:prstGeom>
          <a:solidFill>
            <a:srgbClr val="E8478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0885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08853" y="2212848"/>
            <a:ext cx="54864" cy="329184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3686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2023–24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03686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Reasoning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03686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Multi-step logic, chain-of-thought. o1, DeepSeek R1.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7729728" y="1892808"/>
            <a:ext cx="237744" cy="237744"/>
          </a:xfrm>
          <a:prstGeom prst="ellipse">
            <a:avLst/>
          </a:prstGeom>
          <a:solidFill>
            <a:srgbClr val="CC00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219493" y="2212848"/>
            <a:ext cx="1258214" cy="3291840"/>
          </a:xfrm>
          <a:prstGeom prst="rect">
            <a:avLst/>
          </a:prstGeom>
          <a:solidFill>
            <a:srgbClr val="FFF8F3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219493" y="2212848"/>
            <a:ext cx="54864" cy="32918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4750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2025+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34750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AI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734750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that uses tools and acts autonomously. Claude Code, agents.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Strategy Research.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7" name="Text 45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AI stack.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600200"/>
            <a:ext cx="256032" cy="109728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00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743200"/>
            <a:ext cx="256032" cy="109728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3886200"/>
            <a:ext cx="256032" cy="109728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886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SILICON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5029200"/>
            <a:ext cx="256032" cy="73152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502920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103120" y="164592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40280" y="1737360"/>
            <a:ext cx="137160" cy="13716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68880" y="1645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0" y="1645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AI that acts on your behalf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103120" y="201168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40280" y="2103120"/>
            <a:ext cx="137160" cy="13716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68880" y="2011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0" y="2011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 built on foundation models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103120" y="237744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40280" y="2468880"/>
            <a:ext cx="137160" cy="13716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468880" y="23774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0" y="2377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intelligence layer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103120" y="278892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40280" y="2880360"/>
            <a:ext cx="137160" cy="137160"/>
          </a:xfrm>
          <a:prstGeom prst="ellipse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468880" y="2788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72000" y="2788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Warehouses of compute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103120" y="315468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40280" y="3246120"/>
            <a:ext cx="137160" cy="137160"/>
          </a:xfrm>
          <a:prstGeom prst="ellipse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468880" y="3154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572000" y="3154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hidden constraint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103120" y="352044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240280" y="3611880"/>
            <a:ext cx="137160" cy="137160"/>
          </a:xfrm>
          <a:prstGeom prst="ellipse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468880" y="35204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Networking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572000" y="3520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 data at terabit speed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103120" y="393192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40280" y="4023360"/>
            <a:ext cx="137160" cy="137160"/>
          </a:xfrm>
          <a:prstGeom prst="ellipse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468880" y="3931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Packaging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4572000" y="3931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Stacking chiplets (CoWoS, HBM)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2103120" y="429768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240280" y="4389120"/>
            <a:ext cx="137160" cy="137160"/>
          </a:xfrm>
          <a:prstGeom prst="ellipse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468880" y="4297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design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4572000" y="4297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GPUs, TPUs, ASICs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2103120" y="466344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240280" y="4754880"/>
            <a:ext cx="137160" cy="137160"/>
          </a:xfrm>
          <a:prstGeom prst="ellipse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68880" y="46634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Foundry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572000" y="4663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Fabricating at nanometer scale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2103120" y="507492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240280" y="5166360"/>
            <a:ext cx="137160" cy="137160"/>
          </a:xfrm>
          <a:prstGeom prst="ellipse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468880" y="5074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4572000" y="5074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Machines that make machines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2103120" y="544068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240280" y="5532120"/>
            <a:ext cx="137160" cy="137160"/>
          </a:xfrm>
          <a:prstGeom prst="ellipse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468880" y="5440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materials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4572000" y="5440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Silicon, neon, rare earths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Strategy Research. Ordered top (closest to user) to bottom (closest to atoms).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61" name="Text 59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growth rates are unprecedented.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adoption and revenue growth for AI far eclipse prior technologies — a once-in-a-generation S-curve, compressed into a handful of years.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adoption after first mass-market launch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457200" y="2011680"/>
          <a:ext cx="39319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457200" y="1920240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of US population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475488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after first $1B year ($B)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75488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13" name="Chart 1" descr=""/>
          <p:cNvGraphicFramePr/>
          <p:nvPr/>
        </p:nvGraphicFramePr>
        <p:xfrm>
          <a:off x="4754880" y="2011680"/>
          <a:ext cx="39319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Text 10"/>
          <p:cNvSpPr/>
          <p:nvPr/>
        </p:nvSpPr>
        <p:spPr>
          <a:xfrm>
            <a:off x="4754880" y="1920240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($B)</a:t>
            </a:r>
            <a:endParaRPr lang="en-US" sz="800" dirty="0"/>
          </a:p>
        </p:txBody>
      </p:sp>
      <p:sp>
        <p:nvSpPr>
          <p:cNvPr id="15" name="Shape 11"/>
          <p:cNvSpPr/>
          <p:nvPr/>
        </p:nvSpPr>
        <p:spPr>
          <a:xfrm>
            <a:off x="457200" y="5394960"/>
            <a:ext cx="8229600" cy="21945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40080" y="5394960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· Anthropic    </a:t>
            </a:r>
            <a:pPr indent="0" marL="0">
              <a:buNone/>
            </a:pPr>
            <a:r>
              <a:rPr lang="en-US" sz="8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· Azure · Google Cloud    </a:t>
            </a:r>
            <a:pPr indent="0" marL="0">
              <a:buNone/>
            </a:pPr>
            <a:r>
              <a:rPr lang="en-US" sz="850" b="1" spc="200" kern="0" dirty="0">
                <a:solidFill>
                  <a:srgbClr val="00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INTERNET 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· Google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457200" y="5650992"/>
            <a:ext cx="8229600" cy="201168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40080" y="5650992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adoption and revenue growth for AI far eclipse prior technologies.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Mary Meeker (Bond Capital / KPCB Internet Trends 2019); company filings and consensus estimates. Cloud and Internet trajectories are illustrative. 2026E shown for AI.</a:t>
            </a:r>
            <a:endParaRPr lang="en-US" sz="700" dirty="0"/>
          </a:p>
        </p:txBody>
      </p:sp>
      <p:sp>
        <p:nvSpPr>
          <p:cNvPr id="20" name="Shape 16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2" name="Text 18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Inside the $975B chip market.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categories of silicon. Memory and logic take 68% of the market — and virtually all of the AI capex. Logic isn't just CPUs: GPUs, AI accelerators, ASICs, FPGAs, and networking chips all live here.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3127248" cy="41148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691640"/>
            <a:ext cx="3127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84448" y="1691640"/>
            <a:ext cx="2468880" cy="41148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84448" y="169164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53328" y="1691640"/>
            <a:ext cx="905256" cy="41148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53328" y="1691640"/>
            <a:ext cx="9052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MPU/MCU 11%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958584" y="1691640"/>
            <a:ext cx="822960" cy="411480"/>
          </a:xfrm>
          <a:prstGeom prst="rect">
            <a:avLst/>
          </a:prstGeom>
          <a:solidFill>
            <a:srgbClr val="051A3D"/>
          </a:solidFill>
          <a:ln w="12700">
            <a:solidFill>
              <a:srgbClr val="051A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58584" y="169164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ANALOG 10%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781544" y="1691640"/>
            <a:ext cx="493776" cy="411480"/>
          </a:xfrm>
          <a:prstGeom prst="rect">
            <a:avLst/>
          </a:prstGeom>
          <a:solidFill>
            <a:srgbClr val="00A854"/>
          </a:solidFill>
          <a:ln w="12700">
            <a:solidFill>
              <a:srgbClr val="00A85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1691640"/>
            <a:ext cx="411480" cy="41148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212140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$975B total semiconductor market, 2026E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7200" y="2423160"/>
            <a:ext cx="2651760" cy="1316736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2423160"/>
            <a:ext cx="2651760" cy="27432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24231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277063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$295B</a:t>
            </a:r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30%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85216" y="3136392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GPUs, AI accelerators, ASICs, FPGAs, networking ICs — where computation happens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40080" y="3483864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3502152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· AMD · Broadcom · TSMC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3246120" y="2423160"/>
            <a:ext cx="2651760" cy="1316736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46120" y="2423160"/>
            <a:ext cx="2651760" cy="27432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46120" y="24231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246120" y="277063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$371B</a:t>
            </a:r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38%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3374136" y="3136392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DRAM, HBM, NAND, NOR — stores data and feeds logic at terabit speeds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429000" y="3483864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46120" y="3502152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 Hynix · Samsung · Micron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6035040" y="2423160"/>
            <a:ext cx="2651760" cy="1316736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35040" y="2423160"/>
            <a:ext cx="2651760" cy="27432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035040" y="24231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PROCESSORS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035040" y="277063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$107B</a:t>
            </a:r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11%</a:t>
            </a:r>
            <a:endParaRPr lang="en-US" sz="1700" dirty="0"/>
          </a:p>
        </p:txBody>
      </p:sp>
      <p:sp>
        <p:nvSpPr>
          <p:cNvPr id="36" name="Text 34"/>
          <p:cNvSpPr/>
          <p:nvPr/>
        </p:nvSpPr>
        <p:spPr>
          <a:xfrm>
            <a:off x="6163056" y="3136392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CPUs and application processors — general-purpose silicon in phones and PCs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217920" y="3483864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035040" y="3502152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 · AMD · Apple · Qualcomm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457200" y="3831336"/>
            <a:ext cx="2651760" cy="1316736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57200" y="3831336"/>
            <a:ext cx="2651760" cy="274320"/>
          </a:xfrm>
          <a:prstGeom prst="rect">
            <a:avLst/>
          </a:prstGeom>
          <a:solidFill>
            <a:srgbClr val="051A3D"/>
          </a:solidFill>
          <a:ln w="12700">
            <a:solidFill>
              <a:srgbClr val="051A3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7200" y="38313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ANALOG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57200" y="417880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$98B</a:t>
            </a:r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10%</a:t>
            </a:r>
            <a:endParaRPr lang="en-US" sz="1700" dirty="0"/>
          </a:p>
        </p:txBody>
      </p:sp>
      <p:sp>
        <p:nvSpPr>
          <p:cNvPr id="43" name="Text 41"/>
          <p:cNvSpPr/>
          <p:nvPr/>
        </p:nvSpPr>
        <p:spPr>
          <a:xfrm>
            <a:off x="585216" y="4544568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management, RF, data converters — the bridge between silicon and the real world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080" y="4892040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7200" y="491032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 · Analog Devices · Infineon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3246120" y="3831336"/>
            <a:ext cx="2651760" cy="1316736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246120" y="3831336"/>
            <a:ext cx="2651760" cy="274320"/>
          </a:xfrm>
          <a:prstGeom prst="rect">
            <a:avLst/>
          </a:prstGeom>
          <a:solidFill>
            <a:srgbClr val="00A854"/>
          </a:solidFill>
          <a:ln w="12700">
            <a:solidFill>
              <a:srgbClr val="00A85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246120" y="38313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SENSORS + OPTO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3246120" y="417880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$58B</a:t>
            </a:r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6%</a:t>
            </a:r>
            <a:endParaRPr lang="en-US" sz="1700" dirty="0"/>
          </a:p>
        </p:txBody>
      </p:sp>
      <p:sp>
        <p:nvSpPr>
          <p:cNvPr id="50" name="Text 48"/>
          <p:cNvSpPr/>
          <p:nvPr/>
        </p:nvSpPr>
        <p:spPr>
          <a:xfrm>
            <a:off x="3374136" y="4544568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CMOS image sensors, MEMS, LEDs, photonics — how chips see, hear, and communicate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429000" y="4892040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246120" y="491032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Sony · Samsung · STMicro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6035040" y="3831336"/>
            <a:ext cx="2651760" cy="1316736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035040" y="3831336"/>
            <a:ext cx="2651760" cy="27432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035040" y="38313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DISCRETE + POWER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6035040" y="417880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$48B</a:t>
            </a:r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5%</a:t>
            </a:r>
            <a:endParaRPr lang="en-US" sz="1700" dirty="0"/>
          </a:p>
        </p:txBody>
      </p:sp>
      <p:sp>
        <p:nvSpPr>
          <p:cNvPr id="57" name="Text 55"/>
          <p:cNvSpPr/>
          <p:nvPr/>
        </p:nvSpPr>
        <p:spPr>
          <a:xfrm>
            <a:off x="6163056" y="4544568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SiC, GaN, power transistors — heavy-current switching for EVs, grids, and industrial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217920" y="4892040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035040" y="491032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Infineon · ON Semi · Wolfspeed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457200" y="5257800"/>
            <a:ext cx="8229600" cy="41148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40080" y="52578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+ logic = ~$666B, or 68% of the market — and where virtually every dollar of AI capex lands.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WSTS Fall 2025 forecast ($975B 2026E); SIA market-structure breakdown; company 10-Ks; TrendForce memory data. Segment shares rounded.</a:t>
            </a:r>
            <a:endParaRPr lang="en-US" sz="700" dirty="0"/>
          </a:p>
        </p:txBody>
      </p:sp>
      <p:sp>
        <p:nvSpPr>
          <p:cNvPr id="63" name="Shape 61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65" name="Text 63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Power is the new bottleneck.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hyperscale AI campus now draws as much electricity as a mid-sized city. The grid, not the chip, is starting to set the pace of buildouts.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0060" y="1920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~12%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80060" y="26517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US electricity demand will go to data centers by 2028 — up from ~4% in 2023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68980" y="1920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 GW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268980" y="26517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 new AI campus — the draw of ~750K US homes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057900" y="1920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~5 yr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057900" y="26517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wait for a new grid interconnection in PJM &amp; ERCOT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474720"/>
            <a:ext cx="2697480" cy="36576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4747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840480"/>
            <a:ext cx="2697480" cy="14173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3931920"/>
            <a:ext cx="2423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Fastest to build, dispatchable. New CCGT contracts up sharply; GE Vernova backlog at record highs.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4360" y="4919472"/>
            <a:ext cx="24231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498348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 Vernova · Siemens Energy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291840" y="3474720"/>
            <a:ext cx="2697480" cy="36576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34747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NUCLEAR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91840" y="3840480"/>
            <a:ext cx="2697480" cy="14173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29000" y="3931920"/>
            <a:ext cx="2423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Mile Island reopening for Microsoft. SMRs (Oklo, X-Energy) signed to hyperscaler PPAs.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429000" y="4919472"/>
            <a:ext cx="24231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29000" y="498348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Constellation · Oklo · NuScale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126480" y="3474720"/>
            <a:ext cx="2697480" cy="365760"/>
          </a:xfrm>
          <a:prstGeom prst="rect">
            <a:avLst/>
          </a:prstGeom>
          <a:solidFill>
            <a:srgbClr val="00A854"/>
          </a:solidFill>
          <a:ln w="12700">
            <a:solidFill>
              <a:srgbClr val="00A85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26480" y="34747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RENEWABLES + STORAGE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126480" y="3840480"/>
            <a:ext cx="2697480" cy="14173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63640" y="3931920"/>
            <a:ext cx="2423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Solar + battery hybrids now the cheapest new capacity. Hyperscalers signing 24/7 PPAs.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63640" y="4919472"/>
            <a:ext cx="24231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63640" y="498348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NextEra · AES · Fluence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57200" y="5394960"/>
            <a:ext cx="8229600" cy="41148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53949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GPUs are useless without electrons. Power names are trading like semis.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EPRI (US data-center load forecast, 2024); DOE; Lawrence Berkeley National Lab; Microsoft / Constellation TMI announcement (Sep 2024); PJM, ERCOT interconnection queues.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labs.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independent private labs, one public giant, and xAI — now inside SpaceX after February's $1.25T all-stock merger.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8229600" cy="758952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8" name="Image 0" descr="logos/opena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819656"/>
            <a:ext cx="502920" cy="5029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25880" y="1691640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0" y="1691640"/>
            <a:ext cx="1280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$852B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4480560" y="1691640"/>
            <a:ext cx="1188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~35× ARR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760720" y="1691640"/>
            <a:ext cx="2834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$122B round · AMZN / NVDA / SoftBank · Apr 2026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96312"/>
            <a:ext cx="8229600" cy="758952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14" name="Image 1" descr="logos/anthropi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0080" y="2624328"/>
            <a:ext cx="502920" cy="50292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325880" y="2496312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3200400" y="2496312"/>
            <a:ext cx="1280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$380B</a:t>
            </a:r>
            <a:endParaRPr lang="en-US" sz="2000" dirty="0"/>
          </a:p>
        </p:txBody>
      </p:sp>
      <p:sp>
        <p:nvSpPr>
          <p:cNvPr id="17" name="Text 13"/>
          <p:cNvSpPr/>
          <p:nvPr/>
        </p:nvSpPr>
        <p:spPr>
          <a:xfrm>
            <a:off x="4480560" y="2496312"/>
            <a:ext cx="1188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~13× ARR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5760720" y="2496312"/>
            <a:ext cx="2834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$30B Series G (Feb); VCs now offering $800B+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457200" y="3300984"/>
            <a:ext cx="8229600" cy="758952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20" name="Image 2" descr="logos/googl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" y="3429000"/>
            <a:ext cx="502920" cy="50292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325880" y="3300984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3200400" y="3300984"/>
            <a:ext cx="1280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$2.3T</a:t>
            </a:r>
            <a:endParaRPr lang="en-US" sz="2000" dirty="0"/>
          </a:p>
        </p:txBody>
      </p:sp>
      <p:sp>
        <p:nvSpPr>
          <p:cNvPr id="23" name="Text 18"/>
          <p:cNvSpPr/>
          <p:nvPr/>
        </p:nvSpPr>
        <p:spPr>
          <a:xfrm>
            <a:off x="4480560" y="3300984"/>
            <a:ext cx="1188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~20× P/E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5760720" y="3300984"/>
            <a:ext cx="2834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 (public) · Gemini 3 / DeepMind · ~$85B 2026 capex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57200" y="4105656"/>
            <a:ext cx="8229600" cy="758952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26" name="Image 3" descr="logos/xai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40080" y="4233672"/>
            <a:ext cx="502920" cy="50292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325880" y="4105656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xAI / SpaceX</a:t>
            </a:r>
            <a:endParaRPr lang="en-US" sz="1500" dirty="0"/>
          </a:p>
        </p:txBody>
      </p:sp>
      <p:sp>
        <p:nvSpPr>
          <p:cNvPr id="28" name="Text 22"/>
          <p:cNvSpPr/>
          <p:nvPr/>
        </p:nvSpPr>
        <p:spPr>
          <a:xfrm>
            <a:off x="3200400" y="4105656"/>
            <a:ext cx="1280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$1.25T</a:t>
            </a:r>
            <a:endParaRPr lang="en-US" sz="2000" dirty="0"/>
          </a:p>
        </p:txBody>
      </p:sp>
      <p:sp>
        <p:nvSpPr>
          <p:cNvPr id="29" name="Text 23"/>
          <p:cNvSpPr/>
          <p:nvPr/>
        </p:nvSpPr>
        <p:spPr>
          <a:xfrm>
            <a:off x="4480560" y="4105656"/>
            <a:ext cx="1188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5760720" y="4105656"/>
            <a:ext cx="2834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All-stock merger closed Feb 2, 2026 — xAI now a SpaceX subsidiary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57200" y="5166360"/>
            <a:ext cx="8229600" cy="54864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640080" y="51663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2026 funding to foundational AI startups was 2× all of 2025.</a:t>
            </a:r>
            <a:endParaRPr lang="en-US" sz="1400" dirty="0"/>
          </a:p>
        </p:txBody>
      </p:sp>
      <p:sp>
        <p:nvSpPr>
          <p:cNvPr id="33" name="Text 27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TechCrunch, CNBC (Feb 2, 2026 xAI/SpaceX merger); Crunchbase Q1 2026 VC data; Sacra ARR run-rates; Bloomberg; Alphabet 10-K &amp; 2026 capex guide.</a:t>
            </a:r>
            <a:endParaRPr lang="en-US" sz="700" dirty="0"/>
          </a:p>
        </p:txBody>
      </p:sp>
      <p:sp>
        <p:nvSpPr>
          <p:cNvPr id="34" name="Shape 28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6" name="Text 30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Earnings &amp; valuations.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 firms are growing 4× faster than the top 10 Non-Tech — at a lower multiple. The divergence in fundamentals has not been priced into valuations.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 vs Top 10 Non-Tech — 2026E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011680"/>
            <a:ext cx="393192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" y="3401568"/>
            <a:ext cx="512064" cy="804672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3504" y="3127248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22%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170432" y="4023360"/>
            <a:ext cx="51206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70432" y="3749040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5%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85216" y="4206240"/>
            <a:ext cx="1115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43159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Growth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883664" y="2706624"/>
            <a:ext cx="512064" cy="1499616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883664" y="2432304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41%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450592" y="3474720"/>
            <a:ext cx="512064" cy="73152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450592" y="3200400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20%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865376" y="4206240"/>
            <a:ext cx="1115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28800" y="43159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Margin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163824" y="3004457"/>
            <a:ext cx="512064" cy="1201783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63824" y="2730137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23x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730752" y="2795451"/>
            <a:ext cx="512064" cy="1410789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30752" y="2521131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27x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145536" y="4206240"/>
            <a:ext cx="1115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08960" y="43159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P/E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14400" y="5074920"/>
            <a:ext cx="164592" cy="109728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15568" y="5038344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468880" y="5074920"/>
            <a:ext cx="164592" cy="109728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70048" y="503834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Non-Tech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75488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US — P/E vs revenue growth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75488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54880" y="2011680"/>
            <a:ext cx="393192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74920" y="4151376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74920" y="3639312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74920" y="3127248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074920" y="2615184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74920" y="4663440"/>
            <a:ext cx="3520440" cy="0"/>
          </a:xfrm>
          <a:prstGeom prst="line">
            <a:avLst/>
          </a:prstGeom>
          <a:noFill/>
          <a:ln w="9525">
            <a:solidFill>
              <a:srgbClr val="66666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74920" y="2103120"/>
            <a:ext cx="0" cy="2560320"/>
          </a:xfrm>
          <a:prstGeom prst="line">
            <a:avLst/>
          </a:prstGeom>
          <a:noFill/>
          <a:ln w="9525">
            <a:solidFill>
              <a:srgbClr val="66666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7375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-5%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519379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583387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+10%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47395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+20%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711403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+30%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775411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+40%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839419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+50%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4727448" y="4599432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0×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4727448" y="4087368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10×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4727448" y="3575304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20×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4727448" y="3063240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30×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4727448" y="2551176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40×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4727448" y="2039112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50×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5074920" y="4791456"/>
            <a:ext cx="3520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revenue growth, 2026E → 2027E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754880" y="1801368"/>
            <a:ext cx="3931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P/E (2026E)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8535924" y="3375050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308130" y="3134380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780211" y="2991002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329081" y="3293120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090850" y="2960279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535924" y="2724729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515279" y="3467222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71844" y="2043684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721547" y="2340681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544246" y="3497946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625007" y="3871752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338059" y="3252155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131785" y="3641324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892115" y="3390412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936992" y="3370478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6440718" y="3056656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5455599" y="2986430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6461669" y="3407420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6223438" y="2955707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7845552" y="2720157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Broadcom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6208955" y="3462650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</a:t>
            </a:r>
            <a:endParaRPr lang="en-US" sz="700" dirty="0"/>
          </a:p>
        </p:txBody>
      </p:sp>
      <p:sp>
        <p:nvSpPr>
          <p:cNvPr id="77" name="Text 75"/>
          <p:cNvSpPr/>
          <p:nvPr/>
        </p:nvSpPr>
        <p:spPr>
          <a:xfrm>
            <a:off x="6504432" y="2139696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5854135" y="2454981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Walmart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5676834" y="3612246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Berkshire</a:t>
            </a:r>
            <a:endParaRPr lang="en-US" sz="700" dirty="0"/>
          </a:p>
        </p:txBody>
      </p:sp>
      <p:sp>
        <p:nvSpPr>
          <p:cNvPr id="80" name="Text 78"/>
          <p:cNvSpPr/>
          <p:nvPr/>
        </p:nvSpPr>
        <p:spPr>
          <a:xfrm>
            <a:off x="5757595" y="3867180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JPMorgan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5922007" y="3357311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 Lilly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4825461" y="3636752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Exxon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6024703" y="3504712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Visa</a:t>
            </a:r>
            <a:endParaRPr lang="en-US" sz="700" dirty="0"/>
          </a:p>
        </p:txBody>
      </p:sp>
      <p:sp>
        <p:nvSpPr>
          <p:cNvPr id="84" name="Shape 82"/>
          <p:cNvSpPr/>
          <p:nvPr/>
        </p:nvSpPr>
        <p:spPr>
          <a:xfrm>
            <a:off x="7818120" y="2157984"/>
            <a:ext cx="91440" cy="91440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7936992" y="2130552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7818120" y="2322576"/>
            <a:ext cx="91440" cy="91440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7936992" y="2295144"/>
            <a:ext cx="777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Non-Tech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457200" y="5394960"/>
            <a:ext cx="8229600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40080" y="53949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median: ~26× fwd P/E on ~17% forward revenue growth. Non-Tech: ~23× on ~5%. The divergence is in the engine, not the multiple.</a:t>
            </a:r>
            <a:endParaRPr lang="en-US" sz="1100" dirty="0"/>
          </a:p>
        </p:txBody>
      </p:sp>
      <p:sp>
        <p:nvSpPr>
          <p:cNvPr id="90" name="Text 88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stockanalysis.com analyst consensus (AAPL/MSFT/GOOGL/AMZN/NVDA/META/AVGO/TSLA/LLY/JPM/V/XOM/BRK.B/WMT, as of Apr 22, 2026); companiesmarketcap.com (mkt caps, Apr 22, 2026). NVDA, AVGO clipped at +50% growth; TSLA at 50× fwd P/E.</a:t>
            </a:r>
            <a:endParaRPr lang="en-US" sz="700" dirty="0"/>
          </a:p>
        </p:txBody>
      </p:sp>
      <p:sp>
        <p:nvSpPr>
          <p:cNvPr id="91" name="Shape 89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93" name="Text 91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is agentic AI?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set goals, use tools, and complete tasks end-to-end. Each session uses 10–100× the compute of a chatbot query.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3017520" cy="297180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691640"/>
            <a:ext cx="28346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Screenshot — dark-themed IDE with AI coworker editing code, orange accents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11880" y="1691640"/>
          <a:ext cx="507492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874520"/>
                <a:gridCol w="1874520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Chatbot (2023–24)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 (2025+)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Interaction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 ask, it answers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66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Sets goals, executes autonomously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Tokens per session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1K – 5K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50K – 500K+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Compute per user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– 100×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Code, APIs, browsers, databases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5349240"/>
            <a:ext cx="8229600" cy="45720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53492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10–100× compute step-up per session is what every AI capex forecast is pricing in.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Anthropic, OpenAI, GitHub Trending; Morgan Stanley CIO Survey; Strategy Research.</a:t>
            </a:r>
            <a:endParaRPr lang="en-US" sz="700" dirty="0"/>
          </a:p>
        </p:txBody>
      </p:sp>
      <p:sp>
        <p:nvSpPr>
          <p:cNvPr id="13" name="Shape 10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5" name="Text 12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divergence.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Semis are up, software is down — a ~58-point spread inside one theme. Private credit and PE-owned software names are now selling off in sympathy.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price return, rebased to 100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457200" y="1737360"/>
          <a:ext cx="393192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4754880" y="1737360"/>
            <a:ext cx="393192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754880" y="1737360"/>
            <a:ext cx="3931920" cy="274320"/>
          </a:xfrm>
          <a:prstGeom prst="rect">
            <a:avLst/>
          </a:prstGeom>
          <a:solidFill>
            <a:srgbClr val="00A854"/>
          </a:solidFill>
          <a:ln w="12700">
            <a:solidFill>
              <a:srgbClr val="00A85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754880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SUPERCYCLE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919472" y="204825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108192" y="204825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A85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+72%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67728" y="2048256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HBM capacity +50% in 2026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919472" y="2318004"/>
            <a:ext cx="3602736" cy="0"/>
          </a:xfrm>
          <a:prstGeom prst="line">
            <a:avLst/>
          </a:prstGeom>
          <a:noFill/>
          <a:ln w="5080">
            <a:solidFill>
              <a:srgbClr val="E5E5E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919472" y="232257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Micron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108192" y="232257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A85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+68%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967728" y="2322576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HBM sold out; $8B run-rate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4919472" y="2592324"/>
            <a:ext cx="3602736" cy="0"/>
          </a:xfrm>
          <a:prstGeom prst="line">
            <a:avLst/>
          </a:prstGeom>
          <a:noFill/>
          <a:ln w="5080">
            <a:solidFill>
              <a:srgbClr val="E5E5E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919472" y="259689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 Hynix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108192" y="259689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A85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+62%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967728" y="2596896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 HBM share; HBM4 ramp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4754880" y="2971800"/>
            <a:ext cx="393192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754880" y="2971800"/>
            <a:ext cx="3931920" cy="2743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754880" y="29718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UNDER PRESSURE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4919472" y="328269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6108192" y="328269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–22%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967728" y="3282696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Seat model under agent threat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4919472" y="3552444"/>
            <a:ext cx="3602736" cy="0"/>
          </a:xfrm>
          <a:prstGeom prst="line">
            <a:avLst/>
          </a:prstGeom>
          <a:noFill/>
          <a:ln w="5080">
            <a:solidFill>
              <a:srgbClr val="E5E5E5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919472" y="355701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Adobe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6108192" y="355701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–24%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6967728" y="3557016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Gen-AI erodes content moat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4919472" y="3826764"/>
            <a:ext cx="3602736" cy="0"/>
          </a:xfrm>
          <a:prstGeom prst="line">
            <a:avLst/>
          </a:prstGeom>
          <a:noFill/>
          <a:ln w="5080">
            <a:solidFill>
              <a:srgbClr val="E5E5E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919472" y="38313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ServiceNow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108192" y="383133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–19%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6967728" y="3831336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Workflows disrupted by agents</a:t>
            </a:r>
            <a:endParaRPr lang="en-US" sz="850" dirty="0"/>
          </a:p>
        </p:txBody>
      </p:sp>
      <p:sp>
        <p:nvSpPr>
          <p:cNvPr id="38" name="Shape 35"/>
          <p:cNvSpPr/>
          <p:nvPr/>
        </p:nvSpPr>
        <p:spPr>
          <a:xfrm>
            <a:off x="4754880" y="4206240"/>
            <a:ext cx="393192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754880" y="4206240"/>
            <a:ext cx="3931920" cy="27432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4754880" y="42062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CREDIT &amp; PE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4919472" y="45171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BDC index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6108192" y="451713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–11%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6967728" y="4517136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loan books re-marked</a:t>
            </a:r>
            <a:endParaRPr lang="en-US" sz="850" dirty="0"/>
          </a:p>
        </p:txBody>
      </p:sp>
      <p:sp>
        <p:nvSpPr>
          <p:cNvPr id="44" name="Shape 41"/>
          <p:cNvSpPr/>
          <p:nvPr/>
        </p:nvSpPr>
        <p:spPr>
          <a:xfrm>
            <a:off x="4919472" y="4786884"/>
            <a:ext cx="3602736" cy="0"/>
          </a:xfrm>
          <a:prstGeom prst="line">
            <a:avLst/>
          </a:prstGeom>
          <a:noFill/>
          <a:ln w="5080">
            <a:solidFill>
              <a:srgbClr val="E5E5E5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4919472" y="479145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 SaaS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6108192" y="479145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–15%</a:t>
            </a:r>
            <a:endParaRPr lang="en-US" sz="1200" dirty="0"/>
          </a:p>
        </p:txBody>
      </p:sp>
      <p:sp>
        <p:nvSpPr>
          <p:cNvPr id="47" name="Text 44"/>
          <p:cNvSpPr/>
          <p:nvPr/>
        </p:nvSpPr>
        <p:spPr>
          <a:xfrm>
            <a:off x="6967728" y="4791456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2021 marks written down in Q1</a:t>
            </a:r>
            <a:endParaRPr lang="en-US" sz="850" dirty="0"/>
          </a:p>
        </p:txBody>
      </p:sp>
      <p:sp>
        <p:nvSpPr>
          <p:cNvPr id="48" name="Shape 45"/>
          <p:cNvSpPr/>
          <p:nvPr/>
        </p:nvSpPr>
        <p:spPr>
          <a:xfrm>
            <a:off x="457200" y="5285232"/>
            <a:ext cx="8229600" cy="384048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640080" y="528523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software sell-off is now a private-credit problem — PE shops are writing down 2021-marked SaaS.</a:t>
            </a:r>
            <a:endParaRPr lang="en-US" sz="1100" dirty="0"/>
          </a:p>
        </p:txBody>
      </p:sp>
      <p:sp>
        <p:nvSpPr>
          <p:cNvPr id="50" name="Text 47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Yahoo Finance YTD total returns (Apr 17, 2026); Counterpoint Research; Morgan Stanley CIO Survey; Bloomberg BDC and PE secondary marks; PitchBook. Single-stock YTDs indicative.</a:t>
            </a:r>
            <a:endParaRPr lang="en-US" sz="700" dirty="0"/>
          </a:p>
        </p:txBody>
      </p:sp>
      <p:sp>
        <p:nvSpPr>
          <p:cNvPr id="51" name="Shape 48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53" name="Text 50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bubble question.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tests. Same questions investors asked about Cisco and the dotcoms. Different answers today.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737360"/>
            <a:ext cx="31089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611880" y="1737360"/>
            <a:ext cx="2468880" cy="3200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17373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DOTCOM 2000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26480" y="1737360"/>
            <a:ext cx="2560320" cy="320040"/>
          </a:xfrm>
          <a:prstGeom prst="rect">
            <a:avLst/>
          </a:prstGeom>
          <a:solidFill>
            <a:srgbClr val="00A854"/>
          </a:solidFill>
          <a:ln w="12700">
            <a:solidFill>
              <a:srgbClr val="00A8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0" y="17373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AI 2026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2249424"/>
            <a:ext cx="365760" cy="36576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2494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51560" y="2103120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PER DOLLAR OF EARNINGS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11880" y="2103120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131×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Cisco fwd P/E, Mar 2000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126480" y="2103120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~24×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fwd P/E, Apr 17, 2026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57200" y="2761488"/>
            <a:ext cx="8229600" cy="65836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907792"/>
            <a:ext cx="365760" cy="36576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2907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%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2761488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 PROFITABILITY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611880" y="2761488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14%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tech IPOs were profitable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126480" y="2761488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26%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 7 avg net margin (2× S&amp;P)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94360" y="3566160"/>
            <a:ext cx="365760" cy="36576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" y="3566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⇅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51560" y="3419856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VS. DEMAND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611880" y="3419856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Oversupply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$500B dark fiber unused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126480" y="3419856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Sold out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2nd market 90–95% of list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57200" y="4078224"/>
            <a:ext cx="8229600" cy="65836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4224528"/>
            <a:ext cx="365760" cy="36576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" y="4224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◨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51560" y="4078224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BUYER BALANCE SHEETS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611880" y="4078224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20+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major telcos went bankrupt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126480" y="4078224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~48%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 net debt/EBITDA (vs ~80% S&amp;P)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7200" y="5349240"/>
            <a:ext cx="8229600" cy="45720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53492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Corrections happen. Bubbles require stretched valuations AND supply exceeding demand. </a:t>
            </a:r>
            <a:pPr indent="0" marL="0">
              <a:buNone/>
            </a:pPr>
            <a:r>
              <a:rPr lang="en-US" sz="12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Neither condition holds today.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Harding Loevner (Cisco); GuruFocus (NVDA fwd P/E Apr 17, 2026); Jay Ritter / UF; Bloomberg; CoreWeave 2nd market; FCC dark fiber data.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Supply chain fragility.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countries control the advanced semiconductor stack. US reshoring is real but slow — most leading-edge fabs come online 2027+.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3200400" cy="301752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691640"/>
            <a:ext cx="3017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Cinematic — bunny-suited techs on fab floor, orange photolith glow, tall aspect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86200" y="17830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~90%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886200" y="25146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share of advanced-node chips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46520" y="17830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76%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46520" y="25146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 Hynix + Samsung DRAM share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886200" y="3383280"/>
            <a:ext cx="4800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leading-edge chip crosses 70+ borders and six countries before reaching a data center. ASML builds fewer than 100 EUV machines a year.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4800600"/>
            <a:ext cx="82296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4800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RESHORING — ACTUAL STATUS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2920" y="5120640"/>
            <a:ext cx="1943100" cy="68580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5138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Arizona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48640" y="53949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 1 at 4nm; Fab 2 ~2026–27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537460" y="5120640"/>
            <a:ext cx="1943100" cy="68580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83180" y="5138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 Taylor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583180" y="53949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2nm fab, pushed to 2026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0" y="5120640"/>
            <a:ext cx="1943100" cy="68580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17720" y="5138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Micron Clay NY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617720" y="53949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 broken; online ~2028–30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606540" y="5120640"/>
            <a:ext cx="1943100" cy="68580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52260" y="5138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 Ohio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652260" y="53949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fabs; online ~2027–28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TSMC, Samsung, Micron, Intel filings; US Commerce Dept CHIPS Program Office (Nov 2025 — $36B+ committed of $52.7B); SIA.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Policy &amp; regulation.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controls, EU compliance, and reshoring subsidies now decide who can sell what, to whom, from where.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783080"/>
            <a:ext cx="2560320" cy="41148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CONTROLS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2560320" cy="3474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3317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▣</a:t>
            </a:r>
            <a:endParaRPr lang="en-US" sz="4800" dirty="0"/>
          </a:p>
        </p:txBody>
      </p:sp>
      <p:sp>
        <p:nvSpPr>
          <p:cNvPr id="11" name="Shape 9"/>
          <p:cNvSpPr/>
          <p:nvPr/>
        </p:nvSpPr>
        <p:spPr>
          <a:xfrm>
            <a:off x="822960" y="3291840"/>
            <a:ext cx="1828800" cy="0"/>
          </a:xfrm>
          <a:prstGeom prst="line">
            <a:avLst/>
          </a:prstGeom>
          <a:noFill/>
          <a:ln w="19050">
            <a:solidFill>
              <a:srgbClr val="CC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429000"/>
            <a:ext cx="224028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H100 / H200 / Blackwell banned from China.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H20 reinstated with a 15% Treasury fee.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$5.5B NVIDIA H20 writedown.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DUV banned; China ~20% of revenue.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1840" y="1783080"/>
            <a:ext cx="2560320" cy="41148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REGULATION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291840" y="2194560"/>
            <a:ext cx="2560320" cy="3474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91840" y="23317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§</a:t>
            </a:r>
            <a:endParaRPr lang="en-US" sz="4800" dirty="0"/>
          </a:p>
        </p:txBody>
      </p:sp>
      <p:sp>
        <p:nvSpPr>
          <p:cNvPr id="17" name="Shape 15"/>
          <p:cNvSpPr/>
          <p:nvPr/>
        </p:nvSpPr>
        <p:spPr>
          <a:xfrm>
            <a:off x="3657600" y="3291840"/>
            <a:ext cx="1828800" cy="0"/>
          </a:xfrm>
          <a:prstGeom prst="line">
            <a:avLst/>
          </a:prstGeom>
          <a:noFill/>
          <a:ln w="19050">
            <a:solidFill>
              <a:srgbClr val="F669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74720" y="3429000"/>
            <a:ext cx="224028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AI Act enforcement: Aug 2, 2026.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Fines up to €35M or 7% of global revenue.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compliance: $8–15M per system.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36% of enterprises feel prepared.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26480" y="1783080"/>
            <a:ext cx="2560320" cy="41148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2648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 &amp; RESHORING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126480" y="2194560"/>
            <a:ext cx="2560320" cy="3474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26480" y="23317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⚒</a:t>
            </a:r>
            <a:endParaRPr lang="en-US" sz="4800" dirty="0"/>
          </a:p>
        </p:txBody>
      </p:sp>
      <p:sp>
        <p:nvSpPr>
          <p:cNvPr id="23" name="Shape 21"/>
          <p:cNvSpPr/>
          <p:nvPr/>
        </p:nvSpPr>
        <p:spPr>
          <a:xfrm>
            <a:off x="6492240" y="3291840"/>
            <a:ext cx="1828800" cy="0"/>
          </a:xfrm>
          <a:prstGeom prst="line">
            <a:avLst/>
          </a:prstGeom>
          <a:noFill/>
          <a:ln w="19050">
            <a:solidFill>
              <a:srgbClr val="FFB8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09360" y="3429000"/>
            <a:ext cx="224028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CHIPS Act: ~$36B committed of $52.7B.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China controls ~90% of rare-earth processing.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Gallium / germanium controls since Jul 2023.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SMIC 5nm yield ~20% vs &gt;70% threshold.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NVIDIA 10-Q; ASML filings; EU AI Act Article 99 / Chapter V (Aug 2, 2026 enforcement); US Bureau of Industry and Security; Commerce Dept (Nov 2025).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backlash.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NIMBY revolt, anti-AI sentiment, and a labor shortage are each capable of pricing the infrastructure bet lower.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3200400" cy="301752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691640"/>
            <a:ext cx="3017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Photojournalism — 'STOP THE AI RACE' hand-lettered signs at a dusk rally, tall aspect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86200" y="178308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$64B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886200" y="251460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data-center projects blocked or delayed across 24 states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886200" y="3246120"/>
            <a:ext cx="4800600" cy="2743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86200" y="3246120"/>
            <a:ext cx="4800600" cy="27432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NIMBY REVOLT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931920" y="353872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$18B halted, $46B delayed. 142 activist groups across 24 states — Virginia leads with 42.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886200" y="3867912"/>
            <a:ext cx="4800600" cy="2743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86200" y="3867912"/>
            <a:ext cx="4800600" cy="27432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ANTI-AI SENTIMENT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931920" y="41605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26% of Americans view AI positively. Mar 21, 2026 "Stop the AI Race" protests hit lab HQs.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886200" y="4489704"/>
            <a:ext cx="4800600" cy="2743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86200" y="4489704"/>
            <a:ext cx="4800600" cy="27432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LABOR SHORTAGE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931920" y="47823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~480K data-center workforce gap. 400+ sites under build — talent is now binding, not capital.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" y="5394960"/>
            <a:ext cx="8229600" cy="36576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53949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permitting layer is the new supply-chain layer — and it is politically, not technically, constrained.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Data Center Watch ($18B halted, $46B delayed, 142 groups); Echelon Insights; Stop the AI Race; Fortune; TIME; CNN; NBC News; Data Center Frontier.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Beyond the grid.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interconnection queue. No permits. No water. 1,361 W/m² of unfiltered solar, 24/7. Orbital compute sidesteps Earth's bottlenecks.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349240" y="1463040"/>
            <a:ext cx="3337560" cy="347472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40680" y="1463040"/>
            <a:ext cx="31546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Render — orbital data-center satellite with solar wings above Earth's limb at dawn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47091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463040"/>
            <a:ext cx="470916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GRID QUEUE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470916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1828800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Earth's interconnection backlogs, zoning battles, and cooling constraints don't exist in orbit.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47091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651760"/>
            <a:ext cx="470916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UNLIMITED SOLAR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971800"/>
            <a:ext cx="470916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3017520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1,361 W/m² of unfiltered sunlight, 24/7 — no intermittency, no capacity-factor limits.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840480"/>
            <a:ext cx="47091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840480"/>
            <a:ext cx="470916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BORDERS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160520"/>
            <a:ext cx="470916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4206240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Sidesteps data-localization laws, export controls, and the jurisdictional patchwork.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349240"/>
            <a:ext cx="8229600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349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Starcloud · SpaceX · Google Suncatcher · Aetherflux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FCC filings; Starcloud, Google, SpaceX announcements; CNBC.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Physical AI.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Humanoids enter manufacturing, logistics, and healthcare at pilot scale. Every robot is a walking inference endpoint.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71600" y="1463040"/>
            <a:ext cx="6400800" cy="201168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1463040" y="1463040"/>
            <a:ext cx="6217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Photo — humanoid robot mid-stride on a factory floor, warm work-light, motion blur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269748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6576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WORK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977640"/>
            <a:ext cx="2697480" cy="1188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40690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Manufacturing, logistics, warehousing, agriculture, healthcare — pilots are underway.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1840" y="3657600"/>
            <a:ext cx="269748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36576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TIRELESS COWORKERS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91840" y="3977640"/>
            <a:ext cx="2697480" cy="1188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29000" y="40690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Humanoids take hazardous and ergonomically punishing tasks. Humans keep judgment.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26480" y="3657600"/>
            <a:ext cx="269748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36576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 AT THE EDGE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26480" y="3977640"/>
            <a:ext cx="2697480" cy="1188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63640" y="40690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robot runs foundation models in real time. At scale, rivals LLM compute.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349240"/>
            <a:ext cx="8229600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349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 Optimus · Figure · Boston Dynamics · Unitree · Agility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Goldman Sachs; Figure AI, Tesla, Hyundai, NVIDIA; company announcements.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Autonomous mobility.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miles → better models → more deployments. Every vehicle is a rolling inference machine consuming frontier-scale compute.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463040"/>
            <a:ext cx="2560320" cy="379476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463040"/>
            <a:ext cx="2377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Photo — Waymo robotaxi on a rainy city street at dusk, sensor pod lit, long exposure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0" y="1463040"/>
            <a:ext cx="54864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0" y="1463040"/>
            <a:ext cx="548640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SAFETY CASE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0" y="1783080"/>
            <a:ext cx="5486400" cy="8229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37560" y="182880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drivers cause ~1.35M deaths a year. Autonomous systems don't tire or lose focus.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00400" y="2743200"/>
            <a:ext cx="54864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0" y="2743200"/>
            <a:ext cx="548640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FLYWHEEL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0" y="3063240"/>
            <a:ext cx="5486400" cy="8229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37560" y="310896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mile generates training data. Better models unlock more cities. Flywheel self-reinforces.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0" y="4023360"/>
            <a:ext cx="54864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0" y="4023360"/>
            <a:ext cx="548640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INFERENCE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00400" y="4343400"/>
            <a:ext cx="5486400" cy="8229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37560" y="438912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AV runs thousands of AI ops / second across cameras, lidar, radar — frontier-scale compute.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5394960"/>
            <a:ext cx="82296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394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Waymo · Tesla FSD · Baidu Apollo · Aurora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Waymo, Tesla, Baidu, Aurora; WHO Global Road Safety; NVIDIA FY2026.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is rewriting drug discovery.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mechanisms compress the R&amp;D cycle's earliest stages from years to hours. Clinical trials still take years — AI collapses the design stage, not the regulatory one.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3017520" cy="3355848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691640"/>
            <a:ext cx="2834640" cy="3355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Render — ribbon-diagram protein structure against graphite black, shallow DOF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0" y="1691640"/>
            <a:ext cx="5029200" cy="1069848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1691640"/>
            <a:ext cx="5029200" cy="292608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22192" y="16916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 </a:t>
            </a:r>
            <a:pPr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 PREDICTION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840480" y="202996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Predicting a protein's 3D shape from its amino-acid sequence was a 50-year unsolved problem. Crystallography took months per protein. Deep learning now infers structure in seconds — unlocking every drug target at once.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657600" y="2834640"/>
            <a:ext cx="5029200" cy="1069848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2834640"/>
            <a:ext cx="5029200" cy="292608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22192" y="28346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 </a:t>
            </a:r>
            <a:pPr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GENERATIVE MOLECULE DESIGN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840480" y="317296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 are ~10⁶⁰ drug-like small molecules. Wet labs can screen millions. Generative models search the rest — proposing novel binders optimized for selectivity, potency, and drug-like properties.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657600" y="3977640"/>
            <a:ext cx="5029200" cy="1069848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0" y="3977640"/>
            <a:ext cx="5029200" cy="292608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22192" y="39776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 </a:t>
            </a:r>
            <a:pPr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SILICO VALIDATION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840480" y="431596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Molecular dynamics and binding-affinity prediction filter candidates before synthesis. Weeks of bench work become hours of GPU compute. Far fewer molecules reach animal testing.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5193792"/>
            <a:ext cx="8229600" cy="384048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19379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pharma: 10–15 years, ~$2.6B per approved drug, &lt;10% Phase I success. AI collapses the design stage — clinical trials are still bound by biology and the FDA.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Jumper et al. (AlphaFold, Nature 2020); Tufts CSDD drug-development cost and timeline studies; Hughes et al., Br. J. Pharmacol. on screening scale; Strategy Research.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Key takeaways.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thesis, distilled. Each with the number that makes it investable.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640080" cy="850392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5448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188720" y="155448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largest capex cycle in history — and it's going on credit.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82880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~$750B hyperscaler capex in 2026, up ~$300B YoY. Amazon FCF turns negative; Meta FCF down ~90%. ~75% of that capex is AI-specific. The story has shifted from cash flow to balance sheet.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2514600"/>
            <a:ext cx="640080" cy="850392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51460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88720" y="251460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market is picking winners — the basket trade is over.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88720" y="278892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stock correlation collapsed from ~80% to ~20%. Semis +38% YTD, software –20% YTD — a 58-point spread. Memory oligopolies with pricing power outperform cloud providers burning cash.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3474720"/>
            <a:ext cx="640080" cy="85039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47472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188720" y="34747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bottleneck keeps moving — and that is the opportunity.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88720" y="374904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CoWoS packaging (2023–24) → HBM / silicon wafer supply (now) → EUV lithography (&lt;100 machines/yr) by 2028. Each shift reprices a different part of the stack. HBM TAM on a path from $35B (2025) to $100B (2028).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4434840"/>
            <a:ext cx="640080" cy="850392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43484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188720" y="443484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question isn't whether you have AI exposure — it's whether you chose it.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470916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AI-linked stocks are ~30%+ of US large-cap benchmarks. Passive exposure to a ~$750B capex cycle is not neutral — it's a thesis. Own the layer with pricing power for today's bottleneck.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57200" y="5623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company filings; CreditSights / MUFG hyperscaler capex 2026 (Apr 2026); Goldman Sachs correlation data; Yahoo Finance YTD (Apr 17, 2026); SemiAnalysis; BofA HBM TAM; TrendForce.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Markets — May 2026</dc:title>
  <dc:subject>PptxGenJS Presentation</dc:subject>
  <dc:creator>Strategy</dc:creator>
  <cp:lastModifiedBy>Strategy</cp:lastModifiedBy>
  <cp:revision>1</cp:revision>
  <dcterms:created xsi:type="dcterms:W3CDTF">2026-04-23T16:11:21Z</dcterms:created>
  <dcterms:modified xsi:type="dcterms:W3CDTF">2026-04-23T16:11:21Z</dcterms:modified>
</cp:coreProperties>
</file>