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22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explained.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pass through four making stages before reaching six product markets. AI capex piles into just two categories — but flows through bottlenecks at every stage.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92224"/>
            <a:ext cx="128016" cy="128016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the chip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Apple · AMD · Broadcom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591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97480" y="1792224"/>
            <a:ext cx="128016" cy="128016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tools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157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165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754880" y="1792224"/>
            <a:ext cx="128016" cy="128016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the wafer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731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 Foundry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739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812280" y="1792224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 the dies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305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4612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8328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2900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4612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03504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1792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5720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9436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4612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38328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38328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4612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03504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7220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17220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21792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285232"/>
            <a:ext cx="8229600" cy="402336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285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absorb the AI capex — but every chip flows through ASML tools, TSMC fabs, and advanced packaging, where bottlenecks decide who ships.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2025; SEMI World Fab Forecast; TrendForce; company disclosures. Category descriptions are plain-English simplifications.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Who's buying the chips.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 (Feb 2, 2026 xAI/SpaceX merger); Crunchbase Q1 2026 VC data; Sacra ARR run-rates; Bloomberg; Alphabet 10-K &amp; 2026 capex guide.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wide spread inside one theme. The sell-off is starting to bleed into private credit and PE-held SaaS.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8745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SPREAD — SOX vs IGV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754880" y="2103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+58 pts</a:t>
            </a:r>
            <a:endParaRPr lang="en-US" sz="5200" dirty="0"/>
          </a:p>
        </p:txBody>
      </p:sp>
      <p:sp>
        <p:nvSpPr>
          <p:cNvPr id="13" name="Text 10"/>
          <p:cNvSpPr/>
          <p:nvPr/>
        </p:nvSpPr>
        <p:spPr>
          <a:xfrm>
            <a:off x="4754880" y="27614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+38% vs software −20%, through Apr 17, 2026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54880" y="3200400"/>
            <a:ext cx="19202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54880" y="3200400"/>
            <a:ext cx="192024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3284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SEMIS ARE UP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754880" y="36027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+47%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4846320" y="41879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HBM capacity lift in 2026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864608" y="451713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 through 2026 as hyperscalers lock in every GB of AI memory.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766560" y="3200400"/>
            <a:ext cx="19202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3200400"/>
            <a:ext cx="192024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33284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SOFTWARE IS DOWN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766560" y="36027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−21%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6858000" y="41879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SaaS EV/Revenue, Q4'25 → Q1'26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876288" y="451713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threatens seat pricing; 2026 CIO surveys flag displacement risk.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" y="5349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credit indices down ~5% YTD — early signs the sell-off is bleeding into private credit and PE-held SaaS.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Yahoo Finance YTD returns (Apr 17, 2026); TrendForce / DCD on HBM capacity; multiples.vc public software multiples (Apr 2026); VanEck BIZD; Morgan Stanley CIO Survey; PitchBook PE marks.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074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532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 131× (Mar 2000) — Harding Loevner retrospective.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NVDA fwd P/E ~24× (Apr 17, 2026) — GuruFocus.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of tech IPOs profitable (2000) — Jay Ritter, Univ. of Florida IPO data.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26% (2× S&amp;P) — Bloomberg / company filings, 2025 TTM.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663440" y="5532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 (2000 era) — FCC / industry retrospectives.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2nd-market 90–95% of list — CoreWeave / 2nd-market trackers, 2026.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major telcos bankrupt (2001–02) — public filings / press retrospectives.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~48% vs ~80% S&amp;P — Bloomberg, 2025 YE.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two bunny-suited technicians in front of an EUV lithography tool, warm amber photolith glow, shallow DOF on a gloved hand at a control, stainless-steel cleanroom, near-square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 ASML builds fewer than 100 EUV machines a year.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 of Americans view AI positively. March 2026 "Stop the AI Race" protests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Jumper et al. (AlphaFold, Nature 2020); Tufts CSDD drug-development cost and timeline studies; Hughes et al., Br. J. Pharmacol. on screening scale; Strategy Research.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2026-04-24T03:50:06Z</dcterms:created>
  <dcterms:modified xsi:type="dcterms:W3CDTF">2026-04-24T03:50:06Z</dcterms:modified>
</cp:coreProperties>
</file>