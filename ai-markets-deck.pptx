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YTD total return (%)</c:v>
                </c:pt>
              </c:strCache>
            </c:strRef>
          </c:tx>
          <c:spPr>
            <a:solidFill>
              <a:srgbClr val="F6693D"/>
            </a:solidFill>
            <a:effectLst/>
          </c:spPr>
          <c:invertIfNegative val="0"/>
          <c:dLbls>
            <c:numFmt formatCode="0" sourceLinked="0"/>
            <c:txPr>
              <a:bodyPr/>
              <a:lstStyle/>
              <a:p>
                <a:pPr>
                  <a:defRPr b="1" i="0" strike="noStrike" sz="900" u="none">
                    <a:solidFill>
                      <a:srgbClr val="E8E8EA"/>
                    </a:solidFill>
                    <a:latin typeface="Arial"/>
                  </a:defRPr>
                </a:pPr>
              </a:p>
            </c:txPr>
            <c:showLegendKey val="0"/>
            <c:showVal val="1"/>
            <c:showCatName val="0"/>
            <c:showSerName val="0"/>
            <c:showPercent val="0"/>
            <c:showBubbleSize val="0"/>
            <c:showLeaderLines val="0"/>
          </c:dLbls>
          <c:dPt>
            <c:idx val="0"/>
            <c:invertIfNegative val="0"/>
            <c:bubble3D val="0"/>
            <c:spPr>
              <a:solidFill>
                <a:srgbClr val="F6693D"/>
              </a:solidFill>
              <a:effectLst/>
            </c:spPr>
          </c:dPt>
          <c:dPt>
            <c:idx val="1"/>
            <c:invertIfNegative val="0"/>
            <c:bubble3D val="0"/>
            <c:spPr>
              <a:solidFill>
                <a:srgbClr val="2BC4C4"/>
              </a:solidFill>
              <a:effectLst/>
            </c:spPr>
          </c:dPt>
          <c:dPt>
            <c:idx val="2"/>
            <c:invertIfNegative val="0"/>
            <c:bubble3D val="0"/>
            <c:spPr>
              <a:solidFill>
                <a:srgbClr val="3E3E46"/>
              </a:solidFill>
              <a:effectLst/>
            </c:spPr>
          </c:dPt>
          <c:dPt>
            <c:idx val="3"/>
            <c:invertIfNegative val="0"/>
            <c:bubble3D val="0"/>
            <c:spPr>
              <a:solidFill>
                <a:srgbClr val="FFB800"/>
              </a:solidFill>
              <a:effectLst/>
            </c:spPr>
          </c:dPt>
          <c:dPt>
            <c:idx val="4"/>
            <c:invertIfNegative val="0"/>
            <c:bubble3D val="0"/>
            <c:spPr>
              <a:solidFill>
                <a:srgbClr val="E5484D"/>
              </a:solidFill>
              <a:effectLst/>
            </c:spPr>
          </c:dPt>
          <c:cat>
            <c:multiLvlStrRef>
              <c:f>Sheet1!$A$2:$A$6</c:f>
              <c:multiLvlStrCache>
                <c:ptCount val="5"/>
                <c:lvl>
                  <c:pt idx="0">
                    <c:v>Semis (SOXX)</c:v>
                  </c:pt>
                  <c:pt idx="1">
                    <c:v>Equal-weight (RSP)</c:v>
                  </c:pt>
                  <c:pt idx="2">
                    <c:v>S&amp;P 500</c:v>
                  </c:pt>
                  <c:pt idx="3">
                    <c:v>Mag 7 (MAGS)</c:v>
                  </c:pt>
                  <c:pt idx="4">
                    <c:v>Software (IGV)</c:v>
                  </c:pt>
                </c:lvl>
              </c:multiLvlStrCache>
            </c:multiLvlStrRef>
          </c:cat>
          <c:val>
            <c:numRef>
              <c:f>Sheet1!$B$2:$B$6</c:f>
              <c:numCache>
                <c:formatCode>General</c:formatCode>
                <c:ptCount val="5"/>
                <c:pt idx="0">
                  <c:v>79.5</c:v>
                </c:pt>
                <c:pt idx="1">
                  <c:v>14.3</c:v>
                </c:pt>
                <c:pt idx="2">
                  <c:v>11.3</c:v>
                </c:pt>
                <c:pt idx="3">
                  <c:v>5.9</c:v>
                </c:pt>
                <c:pt idx="4">
                  <c:v>-9.5</c:v>
                </c:pt>
              </c:numCache>
            </c:numRef>
          </c:val>
        </c:ser>
        <c:dLbls>
          <c:numFmt formatCode="0" sourceLinked="0"/>
          <c:txPr>
            <a:bodyPr/>
            <a:lstStyle/>
            <a:p>
              <a:pPr>
                <a:defRPr b="1" i="0" strike="noStrike" sz="900" u="none">
                  <a:solidFill>
                    <a:srgbClr val="E8E8EA"/>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9A9AA0"/>
                </a:solidFill>
                <a:latin typeface="Arial"/>
              </a:defRPr>
            </a:pPr>
            <a:endParaRPr lang="en-US"/>
          </a:p>
        </c:txPr>
        <c:crossAx val="2094734552"/>
        <c:crosses val="autoZero"/>
        <c:auto val="1"/>
        <c:lblAlgn val="ctr"/>
        <c:noMultiLvlLbl val="1"/>
      </c:catAx>
      <c:valAx>
        <c:axId val="2094734552"/>
        <c:scaling>
          <c:orientation val="minMax"/>
          <c:min val="-20"/>
        </c:scaling>
        <c:delete val="1"/>
        <c:axPos val="l"/>
        <c:majorGridlines>
          <c:spPr>
            <a:ln w="6350" cap="flat">
              <a:solidFill>
                <a:srgbClr val="2A2A3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here. The deck in one breath: the AI trade is evolving and we are still in the early stages of this transformation. Part one is what’s shifted so far: models became loop-running agents, tokens became a rationed input, and governments moved from regulating AI to debating who owns it. Part two is how markets are beginning to reprice: equities split the trade, the labor data started moving, and financing moved into the bond market. Eleven slides, two parts, one question throughout: what does this do to portfolios. Keep the framing simple up top; the detail comes slide by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thesis, and why this isn’t 2023’s hype cycle: three independent systems shifting in the same direction at once. CAPABILITY: Fable 5-class models swept functional SOTA; the unit of work moved from prompting outputs to designing self-correcting loops that run until done. Proof point: Anthropic’s run rate went from about $3B in 2025 to about $47B in 2026. ECONOMICS: labs stopped subsidizing tokens and enterprises started rationing them; compute is now priced like a scarce commodity at every layer. Proof point: Google pays SpaceX about $920M a month to rent 110k GPUs, the market-clearing price of scarcity. POLICY: equity-tax proposals and pre-release reviews mean foundation models are treated as sovereign assets. Proof point: a floated one-time 50% tax on AI-lab equity to seed a public ‘AI Dividends’ fund. The banner is the line to read aloud: the chatbot’s economics are exhausted, and the stack is reorganizing around token-burning agentic loops — and the repricing has only begun.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Framework slide: four dimensions where the assisted-to-agentic transition shows up, and each reprices differently. Interface shifted from chat bubbles to background loops and parallel agents. Cost moved from flat seats to metered, usage-based token budgets. Output evolved from text and code snippets to disposable apps and whole software architectures. The bottleneck moved from human attention and typing speed to token limits and compute allocation. Most enterprises are between columns, not at the destination — the transition is still unfolding. Use this as the map: every market-signal slide that follows is one of these four dimensions showing up in the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core slide of part one. The unit of work changed: from one-shot prompting to loops that try, fail, fix, and ship without a human in each cycle. Boris Cherny’s line, ‘my job is to write loops,’ is the cleanest articulation. Then the Jevons paradox, coal in 1865 applied to compute: as agents make software effectively free to produce, we don’t write the same software cheaper, we write categorically more of it: internal PDF summaries become dashboards become disposable single-use apps become giant research projects. The investment translation: efficiency improvements do not cap compute demand, they expand it. That is the demand engine behind everything in part two. Flag the curve as illustrative, not measured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data points, one message: enterprises now treat tokens as a metered input with a budget line. Uber put a hard $1,500-per-month per-employee cap in place, replacing unlimited access. Walmart killed unlimited access for its ‘Code Puppy’ agentic dev tool and moved to per-seat budgets plus efficiency training. The third point is the supply side: SK Hynix sees no HBM relief before about 2030 even after doubling capacity, and Google’s roughly $920M-a-month GPU rental is what scarcity costs when you don’t own the capacity. The read is the investability point: token rationing is the first real demand signal, and enterprise adoption is still in the early innings — watch token budgets the way retail analysts watch foot traffic.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policy slide, now global, and the KOSPI number lives here in the talk track rather than on the slide. United States: a voluntary 30-day NSA pre-release review (a calendar item before every frontier release), plus a floated one-time 50% tax on AI-lab equity to seed a public ‘AI Dividends’ fund, proposed by Sanders and echoed by Trump, which tells you the Overton window moved. South Korea: a presidential policy adviser, Kim Yong-beom, floated a ‘citizen dividend’ from AI and chip tax windfalls on May 12; the KOSPI dropped about 5.1% intraday before President Lee Jae-myung walked it back, and Samsung’s union had already demanded 15% of chip-division profit in April. Sacks completes the triangle, warning government equity risks corporate-government fusion. The investable point: public-ownership is now a dilution tail risk that belongs in any model of lab equity, the IPO pipeline, and the hyperscalers holding lab stakes.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two opens with the equity scoreboard. Semis (SOXX) up about 80% year to date, the best run since 2000; equal-weight (RSP) up about 14%, beating cap-weight at about 11%; Mag-7 (MAGS) up about 6%, lagging; software (IGV) down about 10%, priced for disruption. That is roughly a 90-point spread inside one theme. The market is no longer trading ‘AI yes or no’; it is trading position in the chain. The right rail is the concentration story: 37% of the index sits in ten names, double the 25-year norm; the forward multiple at 21.1x is elevated but not extreme, provided the AI earnings stream keeps compounding. Takeaway: value accrues where AI spend is revenue and erodes where AI is the threat — and the reallocation is still underway.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labor slide, with verified June 2026 data. The structural story: a job stops being task execution and becomes orchestration of parallel agent loops; one person now outputs like a team. The data: Challenger’s May report made AI the number-one stated reason for layoffs for the first time, cited in about 40% of announced cuts, with 87.7k AI-attributed cuts year to date versus 54.8k in all of 2025, with the honest caveat that this is self-reported and some firms may be scapegoating AI. The entry level is where it bites: recent-grad unemployment at 5.6% versus 4.2% overall, per the NY Fed, with declining payrolls for the youngest AI-exposed cohort. Markets price labor twice: as a cost line agents deflate, and as the political trigger for the slide-6 ownership debate.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Bonds, the whole arc on one slide. First the gap: Big-4 capex went from $410B to about $705B guided, up 72%, and that consumes roughly 94% of operating cash flow once you add dividends and buybacks; Big-4 free cash flow is at a decade low, Amazon goes outright negative ($200B capex versus about $140B operating cash flow), and Alphabet’s FCF falls about 90% to roughly $8B. The self-funding megacap contract broke in 2026. Then the wave that filled the gap: Oracle $18B (Sep ’25), Meta $30B (Oct ’25, the largest non-M&amp;A IG deal on record), Alphabet $17.5B and Amazon $15B (Nov ’25), and Oracle again $25B across eight tranches (Feb ’26), totaling $105B-plus in six months, with Street consensus around $300B of AI-linked IG supply for full-year 2026. The signal layer: Oracle’s 5-year CDS above about 125bp despite light leverage, so credit is already discriminating by funding capacity. The read for equity holders: credit reprices before equity, spreads move before earnings revisions. Four gauges to watch: demand (capex + token budgets), financing (CDS and new-issue spreads), rates (~4.5% 10-year), concentration (top-10 share vs equal-weight spread). A failed mega-deal would reprice AI equities within days. Balance sheets are still lightly levered versus IG norms, so this is not 2008 telecom, but the funding model changed permanently.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closer: the option value sitting behind the multiples, kept disciplined and flagged speculative. Embodiment: agentic loops in a body, walking a warehouse shift, so physical labor enters the token economy. Wheels: every robotaxi mile is metered inference and a city-scale demand pool for compute. Orbit: orbital compute removes the exact power-and-cooling constraints behind token rationing, and SpaceX is simultaneously the neocloud king and the launch monopolist, so if it happens it extends the most vertically integrated player in the stack. Proteins: frontier models lead biology benchmarks and AI-designed proteins make discovery compute-bound, so R&amp;D starts to look like capex. Every card is new compute demand: the Jevons curve extended a decade. These are not 2026 revenue items — they are the next decade’s demand curve, extending the early-stage thesis. Watch them like markets, not memes: launch cadence, fleet miles, design wins; gauges, not guidance.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 matter. Canonical stamp: data as of June 2026, returns through the Jun 5–9 closes. Four source columns: market data, capex and financing, labor and policy, and the internal frontier review. Honesty notes to say out loud if asked: the Jevons relationship is illustrative, not measured; AI layoff attributions are self-reported by employers and may overstate causation; and the frontier items are speculative and appear in no company guidance. Where sources disagreed, the more conservative figure was used. End of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11114"/>
        </a:solidFill>
      </p:bgPr>
    </p:bg>
    <p:spTree>
      <p:nvGrpSpPr>
        <p:cNvPr id="1" name=""/>
        <p:cNvGrpSpPr/>
        <p:nvPr/>
      </p:nvGrpSpPr>
      <p:grpSpPr>
        <a:xfrm>
          <a:off x="0" y="0"/>
          <a:ext cx="0" cy="0"/>
          <a:chOff x="0" y="0"/>
          <a:chExt cx="0" cy="0"/>
        </a:xfrm>
      </p:grpSpPr>
      <p:sp>
        <p:nvSpPr>
          <p:cNvPr id="2" name="Text 0"/>
          <p:cNvSpPr/>
          <p:nvPr/>
        </p:nvSpPr>
        <p:spPr>
          <a:xfrm>
            <a:off x="6400800" y="320040"/>
            <a:ext cx="2286000" cy="320040"/>
          </a:xfrm>
          <a:prstGeom prst="rect">
            <a:avLst/>
          </a:prstGeom>
          <a:noFill/>
          <a:ln/>
        </p:spPr>
        <p:txBody>
          <a:bodyPr wrap="square" lIns="0" tIns="0" rIns="0" bIns="0" rtlCol="0" anchor="ctr"/>
          <a:lstStyle/>
          <a:p>
            <a:pPr algn="r" indent="0" marL="0">
              <a:buNone/>
            </a:pPr>
            <a:r>
              <a:rPr lang="en-US" sz="1300" spc="200" kern="0" dirty="0">
                <a:solidFill>
                  <a:srgbClr val="9A9AA0"/>
                </a:solidFill>
                <a:latin typeface="Arial" pitchFamily="34" charset="0"/>
                <a:ea typeface="Arial" pitchFamily="34" charset="-122"/>
                <a:cs typeface="Arial" pitchFamily="34" charset="-120"/>
              </a:rPr>
              <a:t>JUNE 2026</a:t>
            </a:r>
            <a:endParaRPr lang="en-US" sz="1300" dirty="0"/>
          </a:p>
        </p:txBody>
      </p:sp>
      <p:sp>
        <p:nvSpPr>
          <p:cNvPr id="3" name="Shape 1"/>
          <p:cNvSpPr/>
          <p:nvPr/>
        </p:nvSpPr>
        <p:spPr>
          <a:xfrm>
            <a:off x="457200" y="1234440"/>
            <a:ext cx="1280160" cy="64008"/>
          </a:xfrm>
          <a:prstGeom prst="rect">
            <a:avLst/>
          </a:prstGeom>
          <a:solidFill>
            <a:srgbClr val="FFD100"/>
          </a:solidFill>
          <a:ln/>
        </p:spPr>
      </p:sp>
      <p:sp>
        <p:nvSpPr>
          <p:cNvPr id="4" name="Text 2"/>
          <p:cNvSpPr/>
          <p:nvPr/>
        </p:nvSpPr>
        <p:spPr>
          <a:xfrm>
            <a:off x="457200" y="1463040"/>
            <a:ext cx="4937760" cy="1005840"/>
          </a:xfrm>
          <a:prstGeom prst="rect">
            <a:avLst/>
          </a:prstGeom>
          <a:noFill/>
          <a:ln/>
        </p:spPr>
        <p:txBody>
          <a:bodyPr wrap="square" lIns="0" tIns="0" rIns="0" bIns="0" rtlCol="0" anchor="ctr"/>
          <a:lstStyle/>
          <a:p>
            <a:pPr indent="0" marL="0">
              <a:buNone/>
            </a:pPr>
            <a:r>
              <a:rPr lang="en-US" sz="4000" b="1" dirty="0">
                <a:solidFill>
                  <a:srgbClr val="FFFFFF"/>
                </a:solidFill>
                <a:latin typeface="Arial Black" pitchFamily="34" charset="0"/>
                <a:ea typeface="Arial Black" pitchFamily="34" charset="-122"/>
                <a:cs typeface="Arial Black" pitchFamily="34" charset="-120"/>
              </a:rPr>
              <a:t>AI in the markets.</a:t>
            </a:r>
            <a:endParaRPr lang="en-US" sz="4000" dirty="0"/>
          </a:p>
        </p:txBody>
      </p:sp>
      <p:sp>
        <p:nvSpPr>
          <p:cNvPr id="5" name="Text 3"/>
          <p:cNvSpPr/>
          <p:nvPr/>
        </p:nvSpPr>
        <p:spPr>
          <a:xfrm>
            <a:off x="457200" y="2697480"/>
            <a:ext cx="4572000" cy="822960"/>
          </a:xfrm>
          <a:prstGeom prst="rect">
            <a:avLst/>
          </a:prstGeom>
          <a:noFill/>
          <a:ln/>
        </p:spPr>
        <p:txBody>
          <a:bodyPr wrap="square" lIns="0" tIns="0" rIns="0" bIns="0" rtlCol="0" anchor="ctr"/>
          <a:lstStyle/>
          <a:p>
            <a:pPr indent="0" marL="0">
              <a:buNone/>
            </a:pPr>
            <a:r>
              <a:rPr lang="en-US" sz="1800" b="1" dirty="0">
                <a:solidFill>
                  <a:srgbClr val="FFD100"/>
                </a:solidFill>
                <a:latin typeface="Arial Black" pitchFamily="34" charset="0"/>
                <a:ea typeface="Arial Black" pitchFamily="34" charset="-122"/>
                <a:cs typeface="Arial Black" pitchFamily="34" charset="-120"/>
              </a:rPr>
              <a:t>The AI trade is evolving. We are still in the early stages.</a:t>
            </a:r>
            <a:endParaRPr lang="en-US" sz="1800" dirty="0"/>
          </a:p>
        </p:txBody>
      </p:sp>
      <p:sp>
        <p:nvSpPr>
          <p:cNvPr id="6" name="Text 4"/>
          <p:cNvSpPr/>
          <p:nvPr/>
        </p:nvSpPr>
        <p:spPr>
          <a:xfrm>
            <a:off x="457200" y="3886200"/>
            <a:ext cx="4572000" cy="320040"/>
          </a:xfrm>
          <a:prstGeom prst="rect">
            <a:avLst/>
          </a:prstGeom>
          <a:noFill/>
          <a:ln/>
        </p:spPr>
        <p:txBody>
          <a:bodyPr wrap="square" lIns="0" tIns="0" rIns="0" bIns="0" rtlCol="0" anchor="ctr"/>
          <a:lstStyle/>
          <a:p>
            <a:pPr indent="0" marL="0">
              <a:buNone/>
            </a:pPr>
            <a:r>
              <a:rPr lang="en-US" sz="1200" b="1" dirty="0">
                <a:solidFill>
                  <a:srgbClr val="9A9AA0"/>
                </a:solidFill>
                <a:latin typeface="Arial" pitchFamily="34" charset="0"/>
                <a:ea typeface="Arial" pitchFamily="34" charset="-122"/>
                <a:cs typeface="Arial" pitchFamily="34" charset="-120"/>
              </a:rPr>
              <a:t>Strategy  |  Institutional</a:t>
            </a:r>
            <a:endParaRPr lang="en-US" sz="1200" dirty="0"/>
          </a:p>
        </p:txBody>
      </p:sp>
      <p:sp>
        <p:nvSpPr>
          <p:cNvPr id="7" name="Shape 5"/>
          <p:cNvSpPr/>
          <p:nvPr/>
        </p:nvSpPr>
        <p:spPr>
          <a:xfrm>
            <a:off x="5486400" y="1005840"/>
            <a:ext cx="3200400" cy="3108960"/>
          </a:xfrm>
          <a:prstGeom prst="rect">
            <a:avLst/>
          </a:prstGeom>
          <a:solidFill>
            <a:srgbClr val="1E1E24"/>
          </a:solidFill>
          <a:ln w="12700">
            <a:solidFill>
              <a:srgbClr val="2A2A30"/>
            </a:solidFill>
            <a:prstDash val="dash"/>
          </a:ln>
        </p:spPr>
      </p:sp>
      <p:sp>
        <p:nvSpPr>
          <p:cNvPr id="8" name="Shape 6"/>
          <p:cNvSpPr/>
          <p:nvPr/>
        </p:nvSpPr>
        <p:spPr>
          <a:xfrm>
            <a:off x="5486400" y="1005840"/>
            <a:ext cx="310896" cy="36576"/>
          </a:xfrm>
          <a:prstGeom prst="rect">
            <a:avLst/>
          </a:prstGeom>
          <a:solidFill>
            <a:srgbClr val="FFD100"/>
          </a:solidFill>
          <a:ln/>
        </p:spPr>
      </p:sp>
      <p:sp>
        <p:nvSpPr>
          <p:cNvPr id="9" name="Shape 7"/>
          <p:cNvSpPr/>
          <p:nvPr/>
        </p:nvSpPr>
        <p:spPr>
          <a:xfrm>
            <a:off x="5486400" y="1005840"/>
            <a:ext cx="36576" cy="310896"/>
          </a:xfrm>
          <a:prstGeom prst="rect">
            <a:avLst/>
          </a:prstGeom>
          <a:solidFill>
            <a:srgbClr val="FFD100"/>
          </a:solidFill>
          <a:ln/>
        </p:spPr>
      </p:sp>
      <p:sp>
        <p:nvSpPr>
          <p:cNvPr id="10" name="Shape 8"/>
          <p:cNvSpPr/>
          <p:nvPr/>
        </p:nvSpPr>
        <p:spPr>
          <a:xfrm>
            <a:off x="8375904" y="4078224"/>
            <a:ext cx="310896" cy="36576"/>
          </a:xfrm>
          <a:prstGeom prst="rect">
            <a:avLst/>
          </a:prstGeom>
          <a:solidFill>
            <a:srgbClr val="FFD100"/>
          </a:solidFill>
          <a:ln/>
        </p:spPr>
      </p:sp>
      <p:sp>
        <p:nvSpPr>
          <p:cNvPr id="11" name="Shape 9"/>
          <p:cNvSpPr/>
          <p:nvPr/>
        </p:nvSpPr>
        <p:spPr>
          <a:xfrm>
            <a:off x="8650224" y="3803904"/>
            <a:ext cx="36576" cy="310896"/>
          </a:xfrm>
          <a:prstGeom prst="rect">
            <a:avLst/>
          </a:prstGeom>
          <a:solidFill>
            <a:srgbClr val="FFD100"/>
          </a:solidFill>
          <a:ln/>
        </p:spPr>
      </p:sp>
      <p:sp>
        <p:nvSpPr>
          <p:cNvPr id="12" name="Text 10"/>
          <p:cNvSpPr/>
          <p:nvPr/>
        </p:nvSpPr>
        <p:spPr>
          <a:xfrm>
            <a:off x="5669280" y="1152144"/>
            <a:ext cx="2834640" cy="219456"/>
          </a:xfrm>
          <a:prstGeom prst="rect">
            <a:avLst/>
          </a:prstGeom>
          <a:noFill/>
          <a:ln/>
        </p:spPr>
        <p:txBody>
          <a:bodyPr wrap="square" lIns="0" tIns="0" rIns="0" bIns="0" rtlCol="0" anchor="ctr"/>
          <a:lstStyle/>
          <a:p>
            <a:pPr indent="0" marL="0">
              <a:buNone/>
            </a:pPr>
            <a:r>
              <a:rPr lang="en-US" sz="900" b="1" spc="200" kern="0" dirty="0">
                <a:solidFill>
                  <a:srgbClr val="FFD100"/>
                </a:solidFill>
                <a:latin typeface="Arial" pitchFamily="34" charset="0"/>
                <a:ea typeface="Arial" pitchFamily="34" charset="-122"/>
                <a:cs typeface="Arial" pitchFamily="34" charset="-120"/>
              </a:rPr>
              <a:t>IMAGE  ·  cover art</a:t>
            </a:r>
            <a:endParaRPr lang="en-US" sz="900" dirty="0"/>
          </a:p>
        </p:txBody>
      </p:sp>
      <p:sp>
        <p:nvSpPr>
          <p:cNvPr id="13" name="Text 11"/>
          <p:cNvSpPr/>
          <p:nvPr/>
        </p:nvSpPr>
        <p:spPr>
          <a:xfrm>
            <a:off x="5669280" y="1426464"/>
            <a:ext cx="2834640" cy="2505456"/>
          </a:xfrm>
          <a:prstGeom prst="rect">
            <a:avLst/>
          </a:prstGeom>
          <a:noFill/>
          <a:ln/>
        </p:spPr>
        <p:txBody>
          <a:bodyPr wrap="square" lIns="0" tIns="0" rIns="0" bIns="0" rtlCol="0" anchor="t"/>
          <a:lstStyle/>
          <a:p>
            <a:pPr indent="0" marL="0">
              <a:buNone/>
            </a:pPr>
            <a:r>
              <a:rPr lang="en-US" sz="700" i="1" dirty="0">
                <a:solidFill>
                  <a:srgbClr val="8A8A90"/>
                </a:solidFill>
                <a:latin typeface="Arial" pitchFamily="34" charset="0"/>
                <a:ea typeface="Arial" pitchFamily="34" charset="-122"/>
                <a:cs typeface="Arial" pitchFamily="34" charset="-120"/>
              </a:rPr>
              <a:t>IMAGE PROMPT → save as cover.png</a:t>
            </a:r>
            <a:endParaRPr lang="en-US" sz="700" dirty="0"/>
          </a:p>
          <a:p>
            <a:pPr indent="0" marL="0">
              <a:buNone/>
            </a:pPr>
            <a:r>
              <a:rPr lang="en-US" sz="850" dirty="0">
                <a:solidFill>
                  <a:srgbClr val="C9C9CE"/>
                </a:solidFill>
                <a:latin typeface="Arial" pitchFamily="34" charset="0"/>
                <a:ea typeface="Arial" pitchFamily="34" charset="-122"/>
                <a:cs typeface="Arial" pitchFamily="34" charset="-120"/>
              </a:rPr>
              <a:t>Clean flat infographic illustration, data-visualization aesthetic, modern and informational: three large circular icons in a gentle arc across the composition: a chip/neural-network icon in teal (#2BC4C4) for CAPABILITY, a metered-gauge icon in orange (#F6693D) for ECONOMICS, a governance-shield icon in gold (#FFB800) for POLICY; thin flowing connector lines in muted gray (#2A2A30) converge from all three into a single bright diamond convergence point at bottom-center; each icon sits inside a soft circular glow of its accent color; generous negative space. Deep near-black (#111114) background; clean vector-style shapes with soft gradients; muted institutional palette with selective bright accents; generous whitespace; organized layout with clear visual hierarchy; no photorealism, no dramatic lighting, no 3D renders; no text, no words, no logos, no watermark.</a:t>
            </a:r>
            <a:endParaRPr lang="en-US" sz="700" dirty="0"/>
          </a:p>
        </p:txBody>
      </p:sp>
      <p:sp>
        <p:nvSpPr>
          <p:cNvPr id="14" name="Shape 12"/>
          <p:cNvSpPr/>
          <p:nvPr/>
        </p:nvSpPr>
        <p:spPr>
          <a:xfrm>
            <a:off x="0" y="4526280"/>
            <a:ext cx="9144000" cy="617220"/>
          </a:xfrm>
          <a:prstGeom prst="rect">
            <a:avLst/>
          </a:prstGeom>
          <a:solidFill>
            <a:srgbClr val="000000"/>
          </a:solidFill>
          <a:ln/>
        </p:spPr>
      </p:sp>
      <p:sp>
        <p:nvSpPr>
          <p:cNvPr id="15" name="Shape 13"/>
          <p:cNvSpPr/>
          <p:nvPr/>
        </p:nvSpPr>
        <p:spPr>
          <a:xfrm>
            <a:off x="0" y="4526280"/>
            <a:ext cx="9144000" cy="0"/>
          </a:xfrm>
          <a:prstGeom prst="line">
            <a:avLst/>
          </a:prstGeom>
          <a:noFill/>
          <a:ln w="6350">
            <a:solidFill>
              <a:srgbClr val="2A2A30"/>
            </a:solidFill>
            <a:prstDash val="solid"/>
          </a:ln>
        </p:spPr>
      </p:sp>
      <p:sp>
        <p:nvSpPr>
          <p:cNvPr id="16" name="Text 14"/>
          <p:cNvSpPr/>
          <p:nvPr/>
        </p:nvSpPr>
        <p:spPr>
          <a:xfrm>
            <a:off x="1371600" y="4572000"/>
            <a:ext cx="6583680" cy="502920"/>
          </a:xfrm>
          <a:prstGeom prst="rect">
            <a:avLst/>
          </a:prstGeom>
          <a:noFill/>
          <a:ln/>
        </p:spPr>
        <p:txBody>
          <a:bodyPr wrap="square" rtlCol="0" anchor="ctr"/>
          <a:lstStyle/>
          <a:p>
            <a:pPr algn="ctr" indent="0" marL="0">
              <a:buNone/>
            </a:pPr>
            <a:r>
              <a:rPr lang="en-US" sz="650" b="1" dirty="0">
                <a:solidFill>
                  <a:srgbClr val="9A9AA0"/>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11114"/>
        </a:solidFill>
      </p:bgPr>
    </p:bg>
    <p:spTree>
      <p:nvGrpSpPr>
        <p:cNvPr id="1" name=""/>
        <p:cNvGrpSpPr/>
        <p:nvPr/>
      </p:nvGrpSpPr>
      <p:grpSpPr>
        <a:xfrm>
          <a:off x="0" y="0"/>
          <a:ext cx="0" cy="0"/>
          <a:chOff x="0" y="0"/>
          <a:chExt cx="0" cy="0"/>
        </a:xfrm>
      </p:grpSpPr>
      <p:sp>
        <p:nvSpPr>
          <p:cNvPr id="2" name="Text 0"/>
          <p:cNvSpPr/>
          <p:nvPr/>
        </p:nvSpPr>
        <p:spPr>
          <a:xfrm>
            <a:off x="457200" y="320040"/>
            <a:ext cx="8229600" cy="640080"/>
          </a:xfrm>
          <a:prstGeom prst="rect">
            <a:avLst/>
          </a:prstGeom>
          <a:noFill/>
          <a:ln/>
        </p:spPr>
        <p:txBody>
          <a:bodyPr wrap="square" lIns="0" tIns="0" rIns="0" bIns="0" rtlCol="0" anchor="t"/>
          <a:lstStyle/>
          <a:p>
            <a:pPr indent="0" marL="0">
              <a:buNone/>
            </a:pPr>
            <a:r>
              <a:rPr lang="en-US" sz="3000" b="1" dirty="0">
                <a:solidFill>
                  <a:srgbClr val="FFFFFF"/>
                </a:solidFill>
                <a:latin typeface="Arial Black" pitchFamily="34" charset="0"/>
                <a:ea typeface="Arial Black" pitchFamily="34" charset="-122"/>
                <a:cs typeface="Arial Black" pitchFamily="34" charset="-120"/>
              </a:rPr>
              <a:t>Three shifts, happening now</a:t>
            </a:r>
            <a:endParaRPr lang="en-US" sz="3000" dirty="0"/>
          </a:p>
        </p:txBody>
      </p:sp>
      <p:sp>
        <p:nvSpPr>
          <p:cNvPr id="3" name="Text 1"/>
          <p:cNvSpPr/>
          <p:nvPr/>
        </p:nvSpPr>
        <p:spPr>
          <a:xfrm>
            <a:off x="457200" y="914400"/>
            <a:ext cx="8229600" cy="457200"/>
          </a:xfrm>
          <a:prstGeom prst="rect">
            <a:avLst/>
          </a:prstGeom>
          <a:noFill/>
          <a:ln/>
        </p:spPr>
        <p:txBody>
          <a:bodyPr wrap="square" lIns="0" tIns="0" rIns="0" bIns="0" rtlCol="0" anchor="t"/>
          <a:lstStyle/>
          <a:p>
            <a:pPr indent="0" marL="0">
              <a:buNone/>
            </a:pPr>
            <a:r>
              <a:rPr lang="en-US" sz="1300" dirty="0">
                <a:solidFill>
                  <a:srgbClr val="9A9AA0"/>
                </a:solidFill>
                <a:latin typeface="Arial" pitchFamily="34" charset="0"/>
                <a:ea typeface="Arial" pitchFamily="34" charset="-122"/>
                <a:cs typeface="Arial" pitchFamily="34" charset="-120"/>
              </a:rPr>
              <a:t>Capability, economics, and policy are all moving at once — the reason this isn’t 2023’s hype cycle.</a:t>
            </a:r>
            <a:endParaRPr lang="en-US" sz="1300" dirty="0"/>
          </a:p>
        </p:txBody>
      </p:sp>
      <p:sp>
        <p:nvSpPr>
          <p:cNvPr id="4" name="Shape 2"/>
          <p:cNvSpPr/>
          <p:nvPr/>
        </p:nvSpPr>
        <p:spPr>
          <a:xfrm>
            <a:off x="457200" y="1481328"/>
            <a:ext cx="8229600" cy="2468880"/>
          </a:xfrm>
          <a:prstGeom prst="rect">
            <a:avLst/>
          </a:prstGeom>
          <a:solidFill>
            <a:srgbClr val="1E1E24"/>
          </a:solidFill>
          <a:ln w="12700">
            <a:solidFill>
              <a:srgbClr val="2A2A30"/>
            </a:solidFill>
            <a:prstDash val="dash"/>
          </a:ln>
        </p:spPr>
      </p:sp>
      <p:sp>
        <p:nvSpPr>
          <p:cNvPr id="5" name="Shape 3"/>
          <p:cNvSpPr/>
          <p:nvPr/>
        </p:nvSpPr>
        <p:spPr>
          <a:xfrm>
            <a:off x="457200" y="1481328"/>
            <a:ext cx="310896" cy="36576"/>
          </a:xfrm>
          <a:prstGeom prst="rect">
            <a:avLst/>
          </a:prstGeom>
          <a:solidFill>
            <a:srgbClr val="FFD100"/>
          </a:solidFill>
          <a:ln/>
        </p:spPr>
      </p:sp>
      <p:sp>
        <p:nvSpPr>
          <p:cNvPr id="6" name="Shape 4"/>
          <p:cNvSpPr/>
          <p:nvPr/>
        </p:nvSpPr>
        <p:spPr>
          <a:xfrm>
            <a:off x="457200" y="1481328"/>
            <a:ext cx="36576" cy="310896"/>
          </a:xfrm>
          <a:prstGeom prst="rect">
            <a:avLst/>
          </a:prstGeom>
          <a:solidFill>
            <a:srgbClr val="FFD100"/>
          </a:solidFill>
          <a:ln/>
        </p:spPr>
      </p:sp>
      <p:sp>
        <p:nvSpPr>
          <p:cNvPr id="7" name="Shape 5"/>
          <p:cNvSpPr/>
          <p:nvPr/>
        </p:nvSpPr>
        <p:spPr>
          <a:xfrm>
            <a:off x="8375904" y="3913632"/>
            <a:ext cx="310896" cy="36576"/>
          </a:xfrm>
          <a:prstGeom prst="rect">
            <a:avLst/>
          </a:prstGeom>
          <a:solidFill>
            <a:srgbClr val="FFD100"/>
          </a:solidFill>
          <a:ln/>
        </p:spPr>
      </p:sp>
      <p:sp>
        <p:nvSpPr>
          <p:cNvPr id="8" name="Shape 6"/>
          <p:cNvSpPr/>
          <p:nvPr/>
        </p:nvSpPr>
        <p:spPr>
          <a:xfrm>
            <a:off x="8650224" y="3639312"/>
            <a:ext cx="36576" cy="310896"/>
          </a:xfrm>
          <a:prstGeom prst="rect">
            <a:avLst/>
          </a:prstGeom>
          <a:solidFill>
            <a:srgbClr val="FFD100"/>
          </a:solidFill>
          <a:ln/>
        </p:spPr>
      </p:sp>
      <p:sp>
        <p:nvSpPr>
          <p:cNvPr id="9" name="Text 7"/>
          <p:cNvSpPr/>
          <p:nvPr/>
        </p:nvSpPr>
        <p:spPr>
          <a:xfrm>
            <a:off x="640080" y="1627632"/>
            <a:ext cx="7863840" cy="219456"/>
          </a:xfrm>
          <a:prstGeom prst="rect">
            <a:avLst/>
          </a:prstGeom>
          <a:noFill/>
          <a:ln/>
        </p:spPr>
        <p:txBody>
          <a:bodyPr wrap="square" lIns="0" tIns="0" rIns="0" bIns="0" rtlCol="0" anchor="ctr"/>
          <a:lstStyle/>
          <a:p>
            <a:pPr indent="0" marL="0">
              <a:buNone/>
            </a:pPr>
            <a:r>
              <a:rPr lang="en-US" sz="900" b="1" spc="200" kern="0" dirty="0">
                <a:solidFill>
                  <a:srgbClr val="FFD100"/>
                </a:solidFill>
                <a:latin typeface="Arial" pitchFamily="34" charset="0"/>
                <a:ea typeface="Arial" pitchFamily="34" charset="-122"/>
                <a:cs typeface="Arial" pitchFamily="34" charset="-120"/>
              </a:rPr>
              <a:t>IMAGE  ·  three shifts</a:t>
            </a:r>
            <a:endParaRPr lang="en-US" sz="900" dirty="0"/>
          </a:p>
        </p:txBody>
      </p:sp>
      <p:sp>
        <p:nvSpPr>
          <p:cNvPr id="10" name="Text 8"/>
          <p:cNvSpPr/>
          <p:nvPr/>
        </p:nvSpPr>
        <p:spPr>
          <a:xfrm>
            <a:off x="640080" y="1901952"/>
            <a:ext cx="7863840" cy="1865376"/>
          </a:xfrm>
          <a:prstGeom prst="rect">
            <a:avLst/>
          </a:prstGeom>
          <a:noFill/>
          <a:ln/>
        </p:spPr>
        <p:txBody>
          <a:bodyPr wrap="square" lIns="0" tIns="0" rIns="0" bIns="0" rtlCol="0" anchor="t"/>
          <a:lstStyle/>
          <a:p>
            <a:pPr indent="0" marL="0">
              <a:buNone/>
            </a:pPr>
            <a:r>
              <a:rPr lang="en-US" sz="700" i="1" dirty="0">
                <a:solidFill>
                  <a:srgbClr val="8A8A90"/>
                </a:solidFill>
                <a:latin typeface="Arial" pitchFamily="34" charset="0"/>
                <a:ea typeface="Arial" pitchFamily="34" charset="-122"/>
                <a:cs typeface="Arial" pitchFamily="34" charset="-120"/>
              </a:rPr>
              <a:t>IMAGE PROMPT → save as three-shifts.png</a:t>
            </a:r>
            <a:endParaRPr lang="en-US" sz="700" dirty="0"/>
          </a:p>
          <a:p>
            <a:pPr indent="0" marL="0">
              <a:buNone/>
            </a:pPr>
            <a:r>
              <a:rPr lang="en-US" sz="850" dirty="0">
                <a:solidFill>
                  <a:srgbClr val="C9C9CE"/>
                </a:solidFill>
                <a:latin typeface="Arial" pitchFamily="34" charset="0"/>
                <a:ea typeface="Arial" pitchFamily="34" charset="-122"/>
                <a:cs typeface="Arial" pitchFamily="34" charset="-120"/>
              </a:rPr>
              <a:t>Clean flat infographic illustration, data-visualization aesthetic, modern and informational: three equal vertical columns arranged horizontally, each showing a transformation. LEFT COLUMN (teal #2BC4C4 accent): a chat-bubble icon at top in muted gray, a downward arrow in teal, a circular loop/cycle icon at bottom in bright teal. CENTER COLUMN (orange #F6693D accent): a coin/token icon with infinity symbol at top in muted gray, a downward arrow in orange, a metered gauge showing limited supply at bottom in bright orange. RIGHT COLUMN (gold #FFB800 accent): a small building/company icon at top in muted gray, a downward arrow in gold, a government dome + shield icon at bottom in bright gold. Thin vertical divider lines (#2A2A30) separate the columns; each column has a subtle rounded-rectangle background panel (#1C1C20); generous spacing. Deep near-black (#111114) background; clean vector-style shapes with soft gradients; muted institutional palette with selective bright accents; generous whitespace; organized layout with clear visual hierarchy; no photorealism, no dramatic lighting, no 3D renders; no text, no words, no logos, no watermark.</a:t>
            </a:r>
            <a:endParaRPr lang="en-US" sz="700" dirty="0"/>
          </a:p>
        </p:txBody>
      </p:sp>
      <p:sp>
        <p:nvSpPr>
          <p:cNvPr id="11" name="Shape 9"/>
          <p:cNvSpPr/>
          <p:nvPr/>
        </p:nvSpPr>
        <p:spPr>
          <a:xfrm>
            <a:off x="0" y="4041648"/>
            <a:ext cx="9144000" cy="457200"/>
          </a:xfrm>
          <a:prstGeom prst="rect">
            <a:avLst/>
          </a:prstGeom>
          <a:solidFill>
            <a:srgbClr val="1C1C20"/>
          </a:solidFill>
          <a:ln/>
        </p:spPr>
      </p:sp>
      <p:sp>
        <p:nvSpPr>
          <p:cNvPr id="12" name="Shape 10"/>
          <p:cNvSpPr/>
          <p:nvPr/>
        </p:nvSpPr>
        <p:spPr>
          <a:xfrm>
            <a:off x="0" y="4041648"/>
            <a:ext cx="64008" cy="457200"/>
          </a:xfrm>
          <a:prstGeom prst="rect">
            <a:avLst/>
          </a:prstGeom>
          <a:solidFill>
            <a:srgbClr val="FFD100"/>
          </a:solidFill>
          <a:ln/>
        </p:spPr>
      </p:sp>
      <p:sp>
        <p:nvSpPr>
          <p:cNvPr id="13" name="Text 11"/>
          <p:cNvSpPr/>
          <p:nvPr/>
        </p:nvSpPr>
        <p:spPr>
          <a:xfrm>
            <a:off x="457200" y="4041648"/>
            <a:ext cx="8229600" cy="45720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The chatbot’s economics are exhausted. The stack is reorganizing around token-burning agentic loops — and the repricing has only begun.</a:t>
            </a:r>
            <a:endParaRPr lang="en-US" sz="1100" dirty="0"/>
          </a:p>
        </p:txBody>
      </p:sp>
      <p:sp>
        <p:nvSpPr>
          <p:cNvPr id="14" name="Shape 12"/>
          <p:cNvSpPr/>
          <p:nvPr/>
        </p:nvSpPr>
        <p:spPr>
          <a:xfrm>
            <a:off x="0" y="4526280"/>
            <a:ext cx="9144000" cy="617220"/>
          </a:xfrm>
          <a:prstGeom prst="rect">
            <a:avLst/>
          </a:prstGeom>
          <a:solidFill>
            <a:srgbClr val="000000"/>
          </a:solidFill>
          <a:ln/>
        </p:spPr>
      </p:sp>
      <p:sp>
        <p:nvSpPr>
          <p:cNvPr id="15" name="Shape 13"/>
          <p:cNvSpPr/>
          <p:nvPr/>
        </p:nvSpPr>
        <p:spPr>
          <a:xfrm>
            <a:off x="0" y="4526280"/>
            <a:ext cx="9144000" cy="0"/>
          </a:xfrm>
          <a:prstGeom prst="line">
            <a:avLst/>
          </a:prstGeom>
          <a:noFill/>
          <a:ln w="6350">
            <a:solidFill>
              <a:srgbClr val="2A2A30"/>
            </a:solidFill>
            <a:prstDash val="solid"/>
          </a:ln>
        </p:spPr>
      </p:sp>
      <p:sp>
        <p:nvSpPr>
          <p:cNvPr id="16" name="Text 14"/>
          <p:cNvSpPr/>
          <p:nvPr/>
        </p:nvSpPr>
        <p:spPr>
          <a:xfrm>
            <a:off x="1371600" y="4572000"/>
            <a:ext cx="6583680" cy="502920"/>
          </a:xfrm>
          <a:prstGeom prst="rect">
            <a:avLst/>
          </a:prstGeom>
          <a:noFill/>
          <a:ln/>
        </p:spPr>
        <p:txBody>
          <a:bodyPr wrap="square" rtlCol="0" anchor="ctr"/>
          <a:lstStyle/>
          <a:p>
            <a:pPr algn="ctr" indent="0" marL="0">
              <a:buNone/>
            </a:pPr>
            <a:r>
              <a:rPr lang="en-US" sz="650" b="1" dirty="0">
                <a:solidFill>
                  <a:srgbClr val="9A9AA0"/>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17" name="Text 15"/>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9A9AA0"/>
                </a:solidFill>
                <a:latin typeface="Arial" pitchFamily="34" charset="0"/>
                <a:ea typeface="Arial" pitchFamily="34" charset="-122"/>
                <a:cs typeface="Arial"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11114"/>
        </a:solidFill>
      </p:bgPr>
    </p:bg>
    <p:spTree>
      <p:nvGrpSpPr>
        <p:cNvPr id="1" name=""/>
        <p:cNvGrpSpPr/>
        <p:nvPr/>
      </p:nvGrpSpPr>
      <p:grpSpPr>
        <a:xfrm>
          <a:off x="0" y="0"/>
          <a:ext cx="0" cy="0"/>
          <a:chOff x="0" y="0"/>
          <a:chExt cx="0" cy="0"/>
        </a:xfrm>
      </p:grpSpPr>
      <p:sp>
        <p:nvSpPr>
          <p:cNvPr id="2" name="Shape 0"/>
          <p:cNvSpPr/>
          <p:nvPr/>
        </p:nvSpPr>
        <p:spPr>
          <a:xfrm>
            <a:off x="457200" y="274320"/>
            <a:ext cx="274320" cy="45720"/>
          </a:xfrm>
          <a:prstGeom prst="rect">
            <a:avLst/>
          </a:prstGeom>
          <a:solidFill>
            <a:srgbClr val="2BC4C4"/>
          </a:solidFill>
          <a:ln/>
        </p:spPr>
      </p:sp>
      <p:sp>
        <p:nvSpPr>
          <p:cNvPr id="3" name="Text 1"/>
          <p:cNvSpPr/>
          <p:nvPr/>
        </p:nvSpPr>
        <p:spPr>
          <a:xfrm>
            <a:off x="841248" y="155448"/>
            <a:ext cx="5943600" cy="274320"/>
          </a:xfrm>
          <a:prstGeom prst="rect">
            <a:avLst/>
          </a:prstGeom>
          <a:noFill/>
          <a:ln/>
        </p:spPr>
        <p:txBody>
          <a:bodyPr wrap="square" lIns="0" tIns="0" rIns="0" bIns="0" rtlCol="0" anchor="ctr"/>
          <a:lstStyle/>
          <a:p>
            <a:pPr indent="0" marL="0">
              <a:buNone/>
            </a:pPr>
            <a:r>
              <a:rPr lang="en-US" sz="900" b="1" spc="300" kern="0" dirty="0">
                <a:solidFill>
                  <a:srgbClr val="2BC4C4"/>
                </a:solidFill>
                <a:latin typeface="Arial" pitchFamily="34" charset="0"/>
                <a:ea typeface="Arial" pitchFamily="34" charset="-122"/>
                <a:cs typeface="Arial" pitchFamily="34" charset="-120"/>
              </a:rPr>
              <a:t>01  ·  THE SHIFT SO FAR  ·  DIAGNOSTIC MATRIX</a:t>
            </a:r>
            <a:endParaRPr lang="en-US" sz="900" dirty="0"/>
          </a:p>
        </p:txBody>
      </p:sp>
      <p:sp>
        <p:nvSpPr>
          <p:cNvPr id="4" name="Text 2"/>
          <p:cNvSpPr/>
          <p:nvPr/>
        </p:nvSpPr>
        <p:spPr>
          <a:xfrm>
            <a:off x="457200" y="438912"/>
            <a:ext cx="8229600" cy="640080"/>
          </a:xfrm>
          <a:prstGeom prst="rect">
            <a:avLst/>
          </a:prstGeom>
          <a:noFill/>
          <a:ln/>
        </p:spPr>
        <p:txBody>
          <a:bodyPr wrap="square" lIns="0" tIns="0" rIns="0" bIns="0" rtlCol="0" anchor="t"/>
          <a:lstStyle/>
          <a:p>
            <a:pPr indent="0" marL="0">
              <a:buNone/>
            </a:pPr>
            <a:r>
              <a:rPr lang="en-US" sz="2700" b="1" dirty="0">
                <a:solidFill>
                  <a:srgbClr val="FFFFFF"/>
                </a:solidFill>
                <a:latin typeface="Arial Black" pitchFamily="34" charset="0"/>
                <a:ea typeface="Arial Black" pitchFamily="34" charset="-122"/>
                <a:cs typeface="Arial Black" pitchFamily="34" charset="-120"/>
              </a:rPr>
              <a:t>The AI Era Diagnostic Matrix</a:t>
            </a:r>
            <a:endParaRPr lang="en-US" sz="2700" dirty="0"/>
          </a:p>
        </p:txBody>
      </p:sp>
      <p:sp>
        <p:nvSpPr>
          <p:cNvPr id="5" name="Text 3"/>
          <p:cNvSpPr/>
          <p:nvPr/>
        </p:nvSpPr>
        <p:spPr>
          <a:xfrm>
            <a:off x="457200" y="1078992"/>
            <a:ext cx="8229600" cy="457200"/>
          </a:xfrm>
          <a:prstGeom prst="rect">
            <a:avLst/>
          </a:prstGeom>
          <a:noFill/>
          <a:ln/>
        </p:spPr>
        <p:txBody>
          <a:bodyPr wrap="square" lIns="0" tIns="0" rIns="0" bIns="0" rtlCol="0" anchor="t"/>
          <a:lstStyle/>
          <a:p>
            <a:pPr indent="0" marL="0">
              <a:buNone/>
            </a:pPr>
            <a:r>
              <a:rPr lang="en-US" sz="1300" dirty="0">
                <a:solidFill>
                  <a:srgbClr val="9A9AA0"/>
                </a:solidFill>
                <a:latin typeface="Arial" pitchFamily="34" charset="0"/>
                <a:ea typeface="Arial" pitchFamily="34" charset="-122"/>
                <a:cs typeface="Arial" pitchFamily="34" charset="-120"/>
              </a:rPr>
              <a:t>Four dimensions where the shift from assisted to agentic shows up — most enterprises are still between columns.</a:t>
            </a:r>
            <a:endParaRPr lang="en-US" sz="1300" dirty="0"/>
          </a:p>
        </p:txBody>
      </p:sp>
      <p:sp>
        <p:nvSpPr>
          <p:cNvPr id="6" name="Shape 4"/>
          <p:cNvSpPr/>
          <p:nvPr/>
        </p:nvSpPr>
        <p:spPr>
          <a:xfrm>
            <a:off x="1737360" y="1691640"/>
            <a:ext cx="3291840" cy="384048"/>
          </a:xfrm>
          <a:prstGeom prst="rect">
            <a:avLst/>
          </a:prstGeom>
          <a:solidFill>
            <a:srgbClr val="1C1C20"/>
          </a:solidFill>
          <a:ln w="9525">
            <a:solidFill>
              <a:srgbClr val="2A2A30"/>
            </a:solidFill>
            <a:prstDash val="solid"/>
          </a:ln>
        </p:spPr>
      </p:sp>
      <p:sp>
        <p:nvSpPr>
          <p:cNvPr id="7" name="Text 5"/>
          <p:cNvSpPr/>
          <p:nvPr/>
        </p:nvSpPr>
        <p:spPr>
          <a:xfrm>
            <a:off x="1737360" y="1691640"/>
            <a:ext cx="3291840" cy="384048"/>
          </a:xfrm>
          <a:prstGeom prst="rect">
            <a:avLst/>
          </a:prstGeom>
          <a:noFill/>
          <a:ln/>
        </p:spPr>
        <p:txBody>
          <a:bodyPr wrap="square" lIns="0" tIns="0" rIns="0" bIns="0" rtlCol="0" anchor="ctr"/>
          <a:lstStyle/>
          <a:p>
            <a:pPr algn="ctr" indent="0" marL="0">
              <a:buNone/>
            </a:pPr>
            <a:r>
              <a:rPr lang="en-US" sz="1200" b="1" dirty="0">
                <a:solidFill>
                  <a:srgbClr val="9A9AA0"/>
                </a:solidFill>
                <a:latin typeface="Arial" pitchFamily="34" charset="0"/>
                <a:ea typeface="Arial" pitchFamily="34" charset="-122"/>
                <a:cs typeface="Arial" pitchFamily="34" charset="-120"/>
              </a:rPr>
              <a:t>The Assisted Era (fading)</a:t>
            </a:r>
            <a:endParaRPr lang="en-US" sz="1200" dirty="0"/>
          </a:p>
        </p:txBody>
      </p:sp>
      <p:sp>
        <p:nvSpPr>
          <p:cNvPr id="8" name="Shape 6"/>
          <p:cNvSpPr/>
          <p:nvPr/>
        </p:nvSpPr>
        <p:spPr>
          <a:xfrm>
            <a:off x="5486400" y="1691640"/>
            <a:ext cx="3291840" cy="384048"/>
          </a:xfrm>
          <a:prstGeom prst="rect">
            <a:avLst/>
          </a:prstGeom>
          <a:solidFill>
            <a:srgbClr val="1C1C20"/>
          </a:solidFill>
          <a:ln w="19050">
            <a:solidFill>
              <a:srgbClr val="2BC4C4"/>
            </a:solidFill>
            <a:prstDash val="solid"/>
          </a:ln>
        </p:spPr>
      </p:sp>
      <p:sp>
        <p:nvSpPr>
          <p:cNvPr id="9" name="Text 7"/>
          <p:cNvSpPr/>
          <p:nvPr/>
        </p:nvSpPr>
        <p:spPr>
          <a:xfrm>
            <a:off x="5486400" y="1691640"/>
            <a:ext cx="3291840" cy="384048"/>
          </a:xfrm>
          <a:prstGeom prst="rect">
            <a:avLst/>
          </a:prstGeom>
          <a:noFill/>
          <a:ln/>
        </p:spPr>
        <p:txBody>
          <a:bodyPr wrap="square" lIns="0" tIns="0" rIns="0" bIns="0" rtlCol="0" anchor="ctr"/>
          <a:lstStyle/>
          <a:p>
            <a:pPr algn="ctr" indent="0" marL="0">
              <a:buNone/>
            </a:pPr>
            <a:r>
              <a:rPr lang="en-US" sz="1200" b="1" dirty="0">
                <a:solidFill>
                  <a:srgbClr val="2BC4C4"/>
                </a:solidFill>
                <a:latin typeface="Arial" pitchFamily="34" charset="0"/>
                <a:ea typeface="Arial" pitchFamily="34" charset="-122"/>
                <a:cs typeface="Arial" pitchFamily="34" charset="-120"/>
              </a:rPr>
              <a:t>The Agentic Era (emerging)</a:t>
            </a:r>
            <a:endParaRPr lang="en-US" sz="1200" dirty="0"/>
          </a:p>
        </p:txBody>
      </p:sp>
      <p:sp>
        <p:nvSpPr>
          <p:cNvPr id="10" name="Text 8"/>
          <p:cNvSpPr/>
          <p:nvPr/>
        </p:nvSpPr>
        <p:spPr>
          <a:xfrm>
            <a:off x="457200" y="2167128"/>
            <a:ext cx="1188720" cy="566928"/>
          </a:xfrm>
          <a:prstGeom prst="rect">
            <a:avLst/>
          </a:prstGeom>
          <a:noFill/>
          <a:ln/>
        </p:spPr>
        <p:txBody>
          <a:bodyPr wrap="square" lIns="0" tIns="0" rIns="0" bIns="0" rtlCol="0" anchor="ctr"/>
          <a:lstStyle/>
          <a:p>
            <a:pPr indent="0" marL="0">
              <a:buNone/>
            </a:pPr>
            <a:r>
              <a:rPr lang="en-US" sz="1050" b="1" dirty="0">
                <a:solidFill>
                  <a:srgbClr val="FFFFFF"/>
                </a:solidFill>
                <a:latin typeface="Arial" pitchFamily="34" charset="0"/>
                <a:ea typeface="Arial" pitchFamily="34" charset="-122"/>
                <a:cs typeface="Arial" pitchFamily="34" charset="-120"/>
              </a:rPr>
              <a:t>Interface</a:t>
            </a:r>
            <a:endParaRPr lang="en-US" sz="1050" dirty="0"/>
          </a:p>
        </p:txBody>
      </p:sp>
      <p:sp>
        <p:nvSpPr>
          <p:cNvPr id="11" name="Shape 9"/>
          <p:cNvSpPr/>
          <p:nvPr/>
        </p:nvSpPr>
        <p:spPr>
          <a:xfrm>
            <a:off x="1737360" y="2167128"/>
            <a:ext cx="3291840" cy="566928"/>
          </a:xfrm>
          <a:prstGeom prst="rect">
            <a:avLst/>
          </a:prstGeom>
          <a:solidFill>
            <a:srgbClr val="1C1C20"/>
          </a:solidFill>
          <a:ln w="9525">
            <a:solidFill>
              <a:srgbClr val="2A2A30"/>
            </a:solidFill>
            <a:prstDash val="solid"/>
          </a:ln>
        </p:spPr>
      </p:sp>
      <p:sp>
        <p:nvSpPr>
          <p:cNvPr id="12" name="Text 10"/>
          <p:cNvSpPr/>
          <p:nvPr/>
        </p:nvSpPr>
        <p:spPr>
          <a:xfrm>
            <a:off x="1901952" y="2167128"/>
            <a:ext cx="2962656" cy="566928"/>
          </a:xfrm>
          <a:prstGeom prst="rect">
            <a:avLst/>
          </a:prstGeom>
          <a:noFill/>
          <a:ln/>
        </p:spPr>
        <p:txBody>
          <a:bodyPr wrap="square" lIns="0" tIns="0" rIns="0" bIns="0" rtlCol="0" anchor="ctr"/>
          <a:lstStyle/>
          <a:p>
            <a:pPr indent="0" marL="0">
              <a:buNone/>
            </a:pPr>
            <a:r>
              <a:rPr lang="en-US" sz="1050" dirty="0">
                <a:solidFill>
                  <a:srgbClr val="C9C9CE"/>
                </a:solidFill>
                <a:latin typeface="Arial" pitchFamily="34" charset="0"/>
                <a:ea typeface="Arial" pitchFamily="34" charset="-122"/>
                <a:cs typeface="Arial" pitchFamily="34" charset="-120"/>
              </a:rPr>
              <a:t>Chat bubbles &amp; sequential prompts</a:t>
            </a:r>
            <a:endParaRPr lang="en-US" sz="1050" dirty="0"/>
          </a:p>
        </p:txBody>
      </p:sp>
      <p:sp>
        <p:nvSpPr>
          <p:cNvPr id="13" name="Text 11"/>
          <p:cNvSpPr/>
          <p:nvPr/>
        </p:nvSpPr>
        <p:spPr>
          <a:xfrm>
            <a:off x="5029200" y="2167128"/>
            <a:ext cx="457200" cy="566928"/>
          </a:xfrm>
          <a:prstGeom prst="rect">
            <a:avLst/>
          </a:prstGeom>
          <a:noFill/>
          <a:ln/>
        </p:spPr>
        <p:txBody>
          <a:bodyPr wrap="square" lIns="0" tIns="0" rIns="0" bIns="0" rtlCol="0" anchor="ctr"/>
          <a:lstStyle/>
          <a:p>
            <a:pPr algn="ctr" indent="0" marL="0">
              <a:buNone/>
            </a:pPr>
            <a:r>
              <a:rPr lang="en-US" sz="1300" dirty="0">
                <a:solidFill>
                  <a:srgbClr val="9A9AA0"/>
                </a:solidFill>
                <a:latin typeface="Arial" pitchFamily="34" charset="0"/>
                <a:ea typeface="Arial" pitchFamily="34" charset="-122"/>
                <a:cs typeface="Arial" pitchFamily="34" charset="-120"/>
              </a:rPr>
              <a:t>→</a:t>
            </a:r>
            <a:endParaRPr lang="en-US" sz="1300" dirty="0"/>
          </a:p>
        </p:txBody>
      </p:sp>
      <p:sp>
        <p:nvSpPr>
          <p:cNvPr id="14" name="Shape 12"/>
          <p:cNvSpPr/>
          <p:nvPr/>
        </p:nvSpPr>
        <p:spPr>
          <a:xfrm>
            <a:off x="5486400" y="2167128"/>
            <a:ext cx="3291840" cy="566928"/>
          </a:xfrm>
          <a:prstGeom prst="rect">
            <a:avLst/>
          </a:prstGeom>
          <a:solidFill>
            <a:srgbClr val="1C1C20"/>
          </a:solidFill>
          <a:ln w="19050">
            <a:solidFill>
              <a:srgbClr val="2BC4C4"/>
            </a:solidFill>
            <a:prstDash val="solid"/>
          </a:ln>
        </p:spPr>
      </p:sp>
      <p:sp>
        <p:nvSpPr>
          <p:cNvPr id="15" name="Text 13"/>
          <p:cNvSpPr/>
          <p:nvPr/>
        </p:nvSpPr>
        <p:spPr>
          <a:xfrm>
            <a:off x="5650992" y="2167128"/>
            <a:ext cx="2962656" cy="566928"/>
          </a:xfrm>
          <a:prstGeom prst="rect">
            <a:avLst/>
          </a:prstGeom>
          <a:noFill/>
          <a:ln/>
        </p:spPr>
        <p:txBody>
          <a:bodyPr wrap="square" lIns="0" tIns="0" rIns="0" bIns="0" rtlCol="0" anchor="ctr"/>
          <a:lstStyle/>
          <a:p>
            <a:pPr indent="0" marL="0">
              <a:buNone/>
            </a:pPr>
            <a:r>
              <a:rPr lang="en-US" sz="1050" b="1" dirty="0">
                <a:solidFill>
                  <a:srgbClr val="FFFFFF"/>
                </a:solidFill>
                <a:latin typeface="Arial" pitchFamily="34" charset="0"/>
                <a:ea typeface="Arial" pitchFamily="34" charset="-122"/>
                <a:cs typeface="Arial" pitchFamily="34" charset="-120"/>
              </a:rPr>
              <a:t>Background loops &amp; parallel agents</a:t>
            </a:r>
            <a:endParaRPr lang="en-US" sz="1050" dirty="0"/>
          </a:p>
        </p:txBody>
      </p:sp>
      <p:sp>
        <p:nvSpPr>
          <p:cNvPr id="16" name="Text 14"/>
          <p:cNvSpPr/>
          <p:nvPr/>
        </p:nvSpPr>
        <p:spPr>
          <a:xfrm>
            <a:off x="457200" y="2825496"/>
            <a:ext cx="1188720" cy="566928"/>
          </a:xfrm>
          <a:prstGeom prst="rect">
            <a:avLst/>
          </a:prstGeom>
          <a:noFill/>
          <a:ln/>
        </p:spPr>
        <p:txBody>
          <a:bodyPr wrap="square" lIns="0" tIns="0" rIns="0" bIns="0" rtlCol="0" anchor="ctr"/>
          <a:lstStyle/>
          <a:p>
            <a:pPr indent="0" marL="0">
              <a:buNone/>
            </a:pPr>
            <a:r>
              <a:rPr lang="en-US" sz="1050" b="1" dirty="0">
                <a:solidFill>
                  <a:srgbClr val="FFFFFF"/>
                </a:solidFill>
                <a:latin typeface="Arial" pitchFamily="34" charset="0"/>
                <a:ea typeface="Arial" pitchFamily="34" charset="-122"/>
                <a:cs typeface="Arial" pitchFamily="34" charset="-120"/>
              </a:rPr>
              <a:t>Cost</a:t>
            </a:r>
            <a:endParaRPr lang="en-US" sz="1050" dirty="0"/>
          </a:p>
          <a:p>
            <a:pPr indent="0" marL="0">
              <a:buNone/>
            </a:pPr>
            <a:r>
              <a:rPr lang="en-US" sz="1050" b="1" dirty="0">
                <a:solidFill>
                  <a:srgbClr val="FFFFFF"/>
                </a:solidFill>
                <a:latin typeface="Arial" pitchFamily="34" charset="0"/>
                <a:ea typeface="Arial" pitchFamily="34" charset="-122"/>
                <a:cs typeface="Arial" pitchFamily="34" charset="-120"/>
              </a:rPr>
              <a:t>structure</a:t>
            </a:r>
            <a:endParaRPr lang="en-US" sz="1050" dirty="0"/>
          </a:p>
        </p:txBody>
      </p:sp>
      <p:sp>
        <p:nvSpPr>
          <p:cNvPr id="17" name="Shape 15"/>
          <p:cNvSpPr/>
          <p:nvPr/>
        </p:nvSpPr>
        <p:spPr>
          <a:xfrm>
            <a:off x="1737360" y="2825496"/>
            <a:ext cx="3291840" cy="566928"/>
          </a:xfrm>
          <a:prstGeom prst="rect">
            <a:avLst/>
          </a:prstGeom>
          <a:solidFill>
            <a:srgbClr val="1C1C20"/>
          </a:solidFill>
          <a:ln w="9525">
            <a:solidFill>
              <a:srgbClr val="2A2A30"/>
            </a:solidFill>
            <a:prstDash val="solid"/>
          </a:ln>
        </p:spPr>
      </p:sp>
      <p:sp>
        <p:nvSpPr>
          <p:cNvPr id="18" name="Text 16"/>
          <p:cNvSpPr/>
          <p:nvPr/>
        </p:nvSpPr>
        <p:spPr>
          <a:xfrm>
            <a:off x="1901952" y="2825496"/>
            <a:ext cx="2962656" cy="566928"/>
          </a:xfrm>
          <a:prstGeom prst="rect">
            <a:avLst/>
          </a:prstGeom>
          <a:noFill/>
          <a:ln/>
        </p:spPr>
        <p:txBody>
          <a:bodyPr wrap="square" lIns="0" tIns="0" rIns="0" bIns="0" rtlCol="0" anchor="ctr"/>
          <a:lstStyle/>
          <a:p>
            <a:pPr indent="0" marL="0">
              <a:buNone/>
            </a:pPr>
            <a:r>
              <a:rPr lang="en-US" sz="1050" dirty="0">
                <a:solidFill>
                  <a:srgbClr val="C9C9CE"/>
                </a:solidFill>
                <a:latin typeface="Arial" pitchFamily="34" charset="0"/>
                <a:ea typeface="Arial" pitchFamily="34" charset="-122"/>
                <a:cs typeface="Arial" pitchFamily="34" charset="-120"/>
              </a:rPr>
              <a:t>Flat seat-based subscriptions</a:t>
            </a:r>
            <a:endParaRPr lang="en-US" sz="1050" dirty="0"/>
          </a:p>
        </p:txBody>
      </p:sp>
      <p:sp>
        <p:nvSpPr>
          <p:cNvPr id="19" name="Text 17"/>
          <p:cNvSpPr/>
          <p:nvPr/>
        </p:nvSpPr>
        <p:spPr>
          <a:xfrm>
            <a:off x="5029200" y="2825496"/>
            <a:ext cx="457200" cy="566928"/>
          </a:xfrm>
          <a:prstGeom prst="rect">
            <a:avLst/>
          </a:prstGeom>
          <a:noFill/>
          <a:ln/>
        </p:spPr>
        <p:txBody>
          <a:bodyPr wrap="square" lIns="0" tIns="0" rIns="0" bIns="0" rtlCol="0" anchor="ctr"/>
          <a:lstStyle/>
          <a:p>
            <a:pPr algn="ctr" indent="0" marL="0">
              <a:buNone/>
            </a:pPr>
            <a:r>
              <a:rPr lang="en-US" sz="1300" dirty="0">
                <a:solidFill>
                  <a:srgbClr val="9A9AA0"/>
                </a:solidFill>
                <a:latin typeface="Arial" pitchFamily="34" charset="0"/>
                <a:ea typeface="Arial" pitchFamily="34" charset="-122"/>
                <a:cs typeface="Arial" pitchFamily="34" charset="-120"/>
              </a:rPr>
              <a:t>→</a:t>
            </a:r>
            <a:endParaRPr lang="en-US" sz="1300" dirty="0"/>
          </a:p>
        </p:txBody>
      </p:sp>
      <p:sp>
        <p:nvSpPr>
          <p:cNvPr id="20" name="Shape 18"/>
          <p:cNvSpPr/>
          <p:nvPr/>
        </p:nvSpPr>
        <p:spPr>
          <a:xfrm>
            <a:off x="5486400" y="2825496"/>
            <a:ext cx="3291840" cy="566928"/>
          </a:xfrm>
          <a:prstGeom prst="rect">
            <a:avLst/>
          </a:prstGeom>
          <a:solidFill>
            <a:srgbClr val="1C1C20"/>
          </a:solidFill>
          <a:ln w="19050">
            <a:solidFill>
              <a:srgbClr val="2BC4C4"/>
            </a:solidFill>
            <a:prstDash val="solid"/>
          </a:ln>
        </p:spPr>
      </p:sp>
      <p:sp>
        <p:nvSpPr>
          <p:cNvPr id="21" name="Text 19"/>
          <p:cNvSpPr/>
          <p:nvPr/>
        </p:nvSpPr>
        <p:spPr>
          <a:xfrm>
            <a:off x="5650992" y="2825496"/>
            <a:ext cx="2962656" cy="566928"/>
          </a:xfrm>
          <a:prstGeom prst="rect">
            <a:avLst/>
          </a:prstGeom>
          <a:noFill/>
          <a:ln/>
        </p:spPr>
        <p:txBody>
          <a:bodyPr wrap="square" lIns="0" tIns="0" rIns="0" bIns="0" rtlCol="0" anchor="ctr"/>
          <a:lstStyle/>
          <a:p>
            <a:pPr indent="0" marL="0">
              <a:buNone/>
            </a:pPr>
            <a:r>
              <a:rPr lang="en-US" sz="1050" b="1" dirty="0">
                <a:solidFill>
                  <a:srgbClr val="FFFFFF"/>
                </a:solidFill>
                <a:latin typeface="Arial" pitchFamily="34" charset="0"/>
                <a:ea typeface="Arial" pitchFamily="34" charset="-122"/>
                <a:cs typeface="Arial" pitchFamily="34" charset="-120"/>
              </a:rPr>
              <a:t>Metered, usage-based token budgets</a:t>
            </a:r>
            <a:endParaRPr lang="en-US" sz="1050" dirty="0"/>
          </a:p>
        </p:txBody>
      </p:sp>
      <p:sp>
        <p:nvSpPr>
          <p:cNvPr id="22" name="Text 20"/>
          <p:cNvSpPr/>
          <p:nvPr/>
        </p:nvSpPr>
        <p:spPr>
          <a:xfrm>
            <a:off x="457200" y="3483864"/>
            <a:ext cx="1188720" cy="566928"/>
          </a:xfrm>
          <a:prstGeom prst="rect">
            <a:avLst/>
          </a:prstGeom>
          <a:noFill/>
          <a:ln/>
        </p:spPr>
        <p:txBody>
          <a:bodyPr wrap="square" lIns="0" tIns="0" rIns="0" bIns="0" rtlCol="0" anchor="ctr"/>
          <a:lstStyle/>
          <a:p>
            <a:pPr indent="0" marL="0">
              <a:buNone/>
            </a:pPr>
            <a:r>
              <a:rPr lang="en-US" sz="1050" b="1" dirty="0">
                <a:solidFill>
                  <a:srgbClr val="FFFFFF"/>
                </a:solidFill>
                <a:latin typeface="Arial" pitchFamily="34" charset="0"/>
                <a:ea typeface="Arial" pitchFamily="34" charset="-122"/>
                <a:cs typeface="Arial" pitchFamily="34" charset="-120"/>
              </a:rPr>
              <a:t>Primary</a:t>
            </a:r>
            <a:endParaRPr lang="en-US" sz="1050" dirty="0"/>
          </a:p>
          <a:p>
            <a:pPr indent="0" marL="0">
              <a:buNone/>
            </a:pPr>
            <a:r>
              <a:rPr lang="en-US" sz="1050" b="1" dirty="0">
                <a:solidFill>
                  <a:srgbClr val="FFFFFF"/>
                </a:solidFill>
                <a:latin typeface="Arial" pitchFamily="34" charset="0"/>
                <a:ea typeface="Arial" pitchFamily="34" charset="-122"/>
                <a:cs typeface="Arial" pitchFamily="34" charset="-120"/>
              </a:rPr>
              <a:t>output</a:t>
            </a:r>
            <a:endParaRPr lang="en-US" sz="1050" dirty="0"/>
          </a:p>
        </p:txBody>
      </p:sp>
      <p:sp>
        <p:nvSpPr>
          <p:cNvPr id="23" name="Shape 21"/>
          <p:cNvSpPr/>
          <p:nvPr/>
        </p:nvSpPr>
        <p:spPr>
          <a:xfrm>
            <a:off x="1737360" y="3483864"/>
            <a:ext cx="3291840" cy="566928"/>
          </a:xfrm>
          <a:prstGeom prst="rect">
            <a:avLst/>
          </a:prstGeom>
          <a:solidFill>
            <a:srgbClr val="1C1C20"/>
          </a:solidFill>
          <a:ln w="9525">
            <a:solidFill>
              <a:srgbClr val="2A2A30"/>
            </a:solidFill>
            <a:prstDash val="solid"/>
          </a:ln>
        </p:spPr>
      </p:sp>
      <p:sp>
        <p:nvSpPr>
          <p:cNvPr id="24" name="Text 22"/>
          <p:cNvSpPr/>
          <p:nvPr/>
        </p:nvSpPr>
        <p:spPr>
          <a:xfrm>
            <a:off x="1901952" y="3483864"/>
            <a:ext cx="2962656" cy="566928"/>
          </a:xfrm>
          <a:prstGeom prst="rect">
            <a:avLst/>
          </a:prstGeom>
          <a:noFill/>
          <a:ln/>
        </p:spPr>
        <p:txBody>
          <a:bodyPr wrap="square" lIns="0" tIns="0" rIns="0" bIns="0" rtlCol="0" anchor="ctr"/>
          <a:lstStyle/>
          <a:p>
            <a:pPr indent="0" marL="0">
              <a:buNone/>
            </a:pPr>
            <a:r>
              <a:rPr lang="en-US" sz="1050" dirty="0">
                <a:solidFill>
                  <a:srgbClr val="C9C9CE"/>
                </a:solidFill>
                <a:latin typeface="Arial" pitchFamily="34" charset="0"/>
                <a:ea typeface="Arial" pitchFamily="34" charset="-122"/>
                <a:cs typeface="Arial" pitchFamily="34" charset="-120"/>
              </a:rPr>
              <a:t>Text and code snippets</a:t>
            </a:r>
            <a:endParaRPr lang="en-US" sz="1050" dirty="0"/>
          </a:p>
        </p:txBody>
      </p:sp>
      <p:sp>
        <p:nvSpPr>
          <p:cNvPr id="25" name="Text 23"/>
          <p:cNvSpPr/>
          <p:nvPr/>
        </p:nvSpPr>
        <p:spPr>
          <a:xfrm>
            <a:off x="5029200" y="3483864"/>
            <a:ext cx="457200" cy="566928"/>
          </a:xfrm>
          <a:prstGeom prst="rect">
            <a:avLst/>
          </a:prstGeom>
          <a:noFill/>
          <a:ln/>
        </p:spPr>
        <p:txBody>
          <a:bodyPr wrap="square" lIns="0" tIns="0" rIns="0" bIns="0" rtlCol="0" anchor="ctr"/>
          <a:lstStyle/>
          <a:p>
            <a:pPr algn="ctr" indent="0" marL="0">
              <a:buNone/>
            </a:pPr>
            <a:r>
              <a:rPr lang="en-US" sz="1300" dirty="0">
                <a:solidFill>
                  <a:srgbClr val="9A9AA0"/>
                </a:solidFill>
                <a:latin typeface="Arial" pitchFamily="34" charset="0"/>
                <a:ea typeface="Arial" pitchFamily="34" charset="-122"/>
                <a:cs typeface="Arial" pitchFamily="34" charset="-120"/>
              </a:rPr>
              <a:t>→</a:t>
            </a:r>
            <a:endParaRPr lang="en-US" sz="1300" dirty="0"/>
          </a:p>
        </p:txBody>
      </p:sp>
      <p:sp>
        <p:nvSpPr>
          <p:cNvPr id="26" name="Shape 24"/>
          <p:cNvSpPr/>
          <p:nvPr/>
        </p:nvSpPr>
        <p:spPr>
          <a:xfrm>
            <a:off x="5486400" y="3483864"/>
            <a:ext cx="3291840" cy="566928"/>
          </a:xfrm>
          <a:prstGeom prst="rect">
            <a:avLst/>
          </a:prstGeom>
          <a:solidFill>
            <a:srgbClr val="1C1C20"/>
          </a:solidFill>
          <a:ln w="19050">
            <a:solidFill>
              <a:srgbClr val="2BC4C4"/>
            </a:solidFill>
            <a:prstDash val="solid"/>
          </a:ln>
        </p:spPr>
      </p:sp>
      <p:sp>
        <p:nvSpPr>
          <p:cNvPr id="27" name="Text 25"/>
          <p:cNvSpPr/>
          <p:nvPr/>
        </p:nvSpPr>
        <p:spPr>
          <a:xfrm>
            <a:off x="5650992" y="3483864"/>
            <a:ext cx="2962656" cy="566928"/>
          </a:xfrm>
          <a:prstGeom prst="rect">
            <a:avLst/>
          </a:prstGeom>
          <a:noFill/>
          <a:ln/>
        </p:spPr>
        <p:txBody>
          <a:bodyPr wrap="square" lIns="0" tIns="0" rIns="0" bIns="0" rtlCol="0" anchor="ctr"/>
          <a:lstStyle/>
          <a:p>
            <a:pPr indent="0" marL="0">
              <a:buNone/>
            </a:pPr>
            <a:r>
              <a:rPr lang="en-US" sz="1050" b="1" dirty="0">
                <a:solidFill>
                  <a:srgbClr val="FFFFFF"/>
                </a:solidFill>
                <a:latin typeface="Arial" pitchFamily="34" charset="0"/>
                <a:ea typeface="Arial" pitchFamily="34" charset="-122"/>
                <a:cs typeface="Arial" pitchFamily="34" charset="-120"/>
              </a:rPr>
              <a:t>Disposable apps &amp; whole architectures</a:t>
            </a:r>
            <a:endParaRPr lang="en-US" sz="1050" dirty="0"/>
          </a:p>
        </p:txBody>
      </p:sp>
      <p:sp>
        <p:nvSpPr>
          <p:cNvPr id="28" name="Text 26"/>
          <p:cNvSpPr/>
          <p:nvPr/>
        </p:nvSpPr>
        <p:spPr>
          <a:xfrm>
            <a:off x="457200" y="4142232"/>
            <a:ext cx="1188720" cy="566928"/>
          </a:xfrm>
          <a:prstGeom prst="rect">
            <a:avLst/>
          </a:prstGeom>
          <a:noFill/>
          <a:ln/>
        </p:spPr>
        <p:txBody>
          <a:bodyPr wrap="square" lIns="0" tIns="0" rIns="0" bIns="0" rtlCol="0" anchor="ctr"/>
          <a:lstStyle/>
          <a:p>
            <a:pPr indent="0" marL="0">
              <a:buNone/>
            </a:pPr>
            <a:r>
              <a:rPr lang="en-US" sz="1050" b="1" dirty="0">
                <a:solidFill>
                  <a:srgbClr val="FFFFFF"/>
                </a:solidFill>
                <a:latin typeface="Arial" pitchFamily="34" charset="0"/>
                <a:ea typeface="Arial" pitchFamily="34" charset="-122"/>
                <a:cs typeface="Arial" pitchFamily="34" charset="-120"/>
              </a:rPr>
              <a:t>Bottleneck</a:t>
            </a:r>
            <a:endParaRPr lang="en-US" sz="1050" dirty="0"/>
          </a:p>
        </p:txBody>
      </p:sp>
      <p:sp>
        <p:nvSpPr>
          <p:cNvPr id="29" name="Shape 27"/>
          <p:cNvSpPr/>
          <p:nvPr/>
        </p:nvSpPr>
        <p:spPr>
          <a:xfrm>
            <a:off x="1737360" y="4142232"/>
            <a:ext cx="3291840" cy="566928"/>
          </a:xfrm>
          <a:prstGeom prst="rect">
            <a:avLst/>
          </a:prstGeom>
          <a:solidFill>
            <a:srgbClr val="1C1C20"/>
          </a:solidFill>
          <a:ln w="9525">
            <a:solidFill>
              <a:srgbClr val="2A2A30"/>
            </a:solidFill>
            <a:prstDash val="solid"/>
          </a:ln>
        </p:spPr>
      </p:sp>
      <p:sp>
        <p:nvSpPr>
          <p:cNvPr id="30" name="Text 28"/>
          <p:cNvSpPr/>
          <p:nvPr/>
        </p:nvSpPr>
        <p:spPr>
          <a:xfrm>
            <a:off x="1901952" y="4142232"/>
            <a:ext cx="2962656" cy="566928"/>
          </a:xfrm>
          <a:prstGeom prst="rect">
            <a:avLst/>
          </a:prstGeom>
          <a:noFill/>
          <a:ln/>
        </p:spPr>
        <p:txBody>
          <a:bodyPr wrap="square" lIns="0" tIns="0" rIns="0" bIns="0" rtlCol="0" anchor="ctr"/>
          <a:lstStyle/>
          <a:p>
            <a:pPr indent="0" marL="0">
              <a:buNone/>
            </a:pPr>
            <a:r>
              <a:rPr lang="en-US" sz="1050" dirty="0">
                <a:solidFill>
                  <a:srgbClr val="C9C9CE"/>
                </a:solidFill>
                <a:latin typeface="Arial" pitchFamily="34" charset="0"/>
                <a:ea typeface="Arial" pitchFamily="34" charset="-122"/>
                <a:cs typeface="Arial" pitchFamily="34" charset="-120"/>
              </a:rPr>
              <a:t>Human attention &amp; typing speed</a:t>
            </a:r>
            <a:endParaRPr lang="en-US" sz="1050" dirty="0"/>
          </a:p>
        </p:txBody>
      </p:sp>
      <p:sp>
        <p:nvSpPr>
          <p:cNvPr id="31" name="Text 29"/>
          <p:cNvSpPr/>
          <p:nvPr/>
        </p:nvSpPr>
        <p:spPr>
          <a:xfrm>
            <a:off x="5029200" y="4142232"/>
            <a:ext cx="457200" cy="566928"/>
          </a:xfrm>
          <a:prstGeom prst="rect">
            <a:avLst/>
          </a:prstGeom>
          <a:noFill/>
          <a:ln/>
        </p:spPr>
        <p:txBody>
          <a:bodyPr wrap="square" lIns="0" tIns="0" rIns="0" bIns="0" rtlCol="0" anchor="ctr"/>
          <a:lstStyle/>
          <a:p>
            <a:pPr algn="ctr" indent="0" marL="0">
              <a:buNone/>
            </a:pPr>
            <a:r>
              <a:rPr lang="en-US" sz="1300" dirty="0">
                <a:solidFill>
                  <a:srgbClr val="9A9AA0"/>
                </a:solidFill>
                <a:latin typeface="Arial" pitchFamily="34" charset="0"/>
                <a:ea typeface="Arial" pitchFamily="34" charset="-122"/>
                <a:cs typeface="Arial" pitchFamily="34" charset="-120"/>
              </a:rPr>
              <a:t>→</a:t>
            </a:r>
            <a:endParaRPr lang="en-US" sz="1300" dirty="0"/>
          </a:p>
        </p:txBody>
      </p:sp>
      <p:sp>
        <p:nvSpPr>
          <p:cNvPr id="32" name="Shape 30"/>
          <p:cNvSpPr/>
          <p:nvPr/>
        </p:nvSpPr>
        <p:spPr>
          <a:xfrm>
            <a:off x="5486400" y="4142232"/>
            <a:ext cx="3291840" cy="566928"/>
          </a:xfrm>
          <a:prstGeom prst="rect">
            <a:avLst/>
          </a:prstGeom>
          <a:solidFill>
            <a:srgbClr val="1C1C20"/>
          </a:solidFill>
          <a:ln w="19050">
            <a:solidFill>
              <a:srgbClr val="2BC4C4"/>
            </a:solidFill>
            <a:prstDash val="solid"/>
          </a:ln>
        </p:spPr>
      </p:sp>
      <p:sp>
        <p:nvSpPr>
          <p:cNvPr id="33" name="Text 31"/>
          <p:cNvSpPr/>
          <p:nvPr/>
        </p:nvSpPr>
        <p:spPr>
          <a:xfrm>
            <a:off x="5650992" y="4142232"/>
            <a:ext cx="2962656" cy="566928"/>
          </a:xfrm>
          <a:prstGeom prst="rect">
            <a:avLst/>
          </a:prstGeom>
          <a:noFill/>
          <a:ln/>
        </p:spPr>
        <p:txBody>
          <a:bodyPr wrap="square" lIns="0" tIns="0" rIns="0" bIns="0" rtlCol="0" anchor="ctr"/>
          <a:lstStyle/>
          <a:p>
            <a:pPr indent="0" marL="0">
              <a:buNone/>
            </a:pPr>
            <a:r>
              <a:rPr lang="en-US" sz="1050" b="1" dirty="0">
                <a:solidFill>
                  <a:srgbClr val="FFFFFF"/>
                </a:solidFill>
                <a:latin typeface="Arial" pitchFamily="34" charset="0"/>
                <a:ea typeface="Arial" pitchFamily="34" charset="-122"/>
                <a:cs typeface="Arial" pitchFamily="34" charset="-120"/>
              </a:rPr>
              <a:t>Token limits &amp; compute allocation</a:t>
            </a:r>
            <a:endParaRPr lang="en-US" sz="1050" dirty="0"/>
          </a:p>
        </p:txBody>
      </p:sp>
      <p:sp>
        <p:nvSpPr>
          <p:cNvPr id="34" name="Shape 32"/>
          <p:cNvSpPr/>
          <p:nvPr/>
        </p:nvSpPr>
        <p:spPr>
          <a:xfrm>
            <a:off x="0" y="4526280"/>
            <a:ext cx="9144000" cy="617220"/>
          </a:xfrm>
          <a:prstGeom prst="rect">
            <a:avLst/>
          </a:prstGeom>
          <a:solidFill>
            <a:srgbClr val="000000"/>
          </a:solidFill>
          <a:ln/>
        </p:spPr>
      </p:sp>
      <p:sp>
        <p:nvSpPr>
          <p:cNvPr id="35" name="Shape 33"/>
          <p:cNvSpPr/>
          <p:nvPr/>
        </p:nvSpPr>
        <p:spPr>
          <a:xfrm>
            <a:off x="0" y="4526280"/>
            <a:ext cx="9144000" cy="0"/>
          </a:xfrm>
          <a:prstGeom prst="line">
            <a:avLst/>
          </a:prstGeom>
          <a:noFill/>
          <a:ln w="6350">
            <a:solidFill>
              <a:srgbClr val="2A2A30"/>
            </a:solidFill>
            <a:prstDash val="solid"/>
          </a:ln>
        </p:spPr>
      </p:sp>
      <p:sp>
        <p:nvSpPr>
          <p:cNvPr id="36" name="Text 34"/>
          <p:cNvSpPr/>
          <p:nvPr/>
        </p:nvSpPr>
        <p:spPr>
          <a:xfrm>
            <a:off x="1371600" y="4572000"/>
            <a:ext cx="6583680" cy="502920"/>
          </a:xfrm>
          <a:prstGeom prst="rect">
            <a:avLst/>
          </a:prstGeom>
          <a:noFill/>
          <a:ln/>
        </p:spPr>
        <p:txBody>
          <a:bodyPr wrap="square" rtlCol="0" anchor="ctr"/>
          <a:lstStyle/>
          <a:p>
            <a:pPr algn="ctr" indent="0" marL="0">
              <a:buNone/>
            </a:pPr>
            <a:r>
              <a:rPr lang="en-US" sz="650" b="1" dirty="0">
                <a:solidFill>
                  <a:srgbClr val="9A9AA0"/>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37" name="Text 35"/>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9A9AA0"/>
                </a:solidFill>
                <a:latin typeface="Arial" pitchFamily="34" charset="0"/>
                <a:ea typeface="Arial" pitchFamily="34" charset="-122"/>
                <a:cs typeface="Arial"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11114"/>
        </a:solidFill>
      </p:bgPr>
    </p:bg>
    <p:spTree>
      <p:nvGrpSpPr>
        <p:cNvPr id="1" name=""/>
        <p:cNvGrpSpPr/>
        <p:nvPr/>
      </p:nvGrpSpPr>
      <p:grpSpPr>
        <a:xfrm>
          <a:off x="0" y="0"/>
          <a:ext cx="0" cy="0"/>
          <a:chOff x="0" y="0"/>
          <a:chExt cx="0" cy="0"/>
        </a:xfrm>
      </p:grpSpPr>
      <p:sp>
        <p:nvSpPr>
          <p:cNvPr id="2" name="Shape 0"/>
          <p:cNvSpPr/>
          <p:nvPr/>
        </p:nvSpPr>
        <p:spPr>
          <a:xfrm>
            <a:off x="457200" y="274320"/>
            <a:ext cx="274320" cy="45720"/>
          </a:xfrm>
          <a:prstGeom prst="rect">
            <a:avLst/>
          </a:prstGeom>
          <a:solidFill>
            <a:srgbClr val="2BC4C4"/>
          </a:solidFill>
          <a:ln/>
        </p:spPr>
      </p:sp>
      <p:sp>
        <p:nvSpPr>
          <p:cNvPr id="3" name="Text 1"/>
          <p:cNvSpPr/>
          <p:nvPr/>
        </p:nvSpPr>
        <p:spPr>
          <a:xfrm>
            <a:off x="841248" y="155448"/>
            <a:ext cx="5943600" cy="274320"/>
          </a:xfrm>
          <a:prstGeom prst="rect">
            <a:avLst/>
          </a:prstGeom>
          <a:noFill/>
          <a:ln/>
        </p:spPr>
        <p:txBody>
          <a:bodyPr wrap="square" lIns="0" tIns="0" rIns="0" bIns="0" rtlCol="0" anchor="ctr"/>
          <a:lstStyle/>
          <a:p>
            <a:pPr indent="0" marL="0">
              <a:buNone/>
            </a:pPr>
            <a:r>
              <a:rPr lang="en-US" sz="900" b="1" spc="300" kern="0" dirty="0">
                <a:solidFill>
                  <a:srgbClr val="2BC4C4"/>
                </a:solidFill>
                <a:latin typeface="Arial" pitchFamily="34" charset="0"/>
                <a:ea typeface="Arial" pitchFamily="34" charset="-122"/>
                <a:cs typeface="Arial" pitchFamily="34" charset="-120"/>
              </a:rPr>
              <a:t>01  ·  THE SHIFT SO FAR  ·  AGENTIC LOOPS</a:t>
            </a:r>
            <a:endParaRPr lang="en-US" sz="900" dirty="0"/>
          </a:p>
        </p:txBody>
      </p:sp>
      <p:sp>
        <p:nvSpPr>
          <p:cNvPr id="4" name="Text 2"/>
          <p:cNvSpPr/>
          <p:nvPr/>
        </p:nvSpPr>
        <p:spPr>
          <a:xfrm>
            <a:off x="457200" y="438912"/>
            <a:ext cx="8229600" cy="640080"/>
          </a:xfrm>
          <a:prstGeom prst="rect">
            <a:avLst/>
          </a:prstGeom>
          <a:noFill/>
          <a:ln/>
        </p:spPr>
        <p:txBody>
          <a:bodyPr wrap="square" lIns="0" tIns="0" rIns="0" bIns="0" rtlCol="0" anchor="t"/>
          <a:lstStyle/>
          <a:p>
            <a:pPr indent="0" marL="0">
              <a:buNone/>
            </a:pPr>
            <a:r>
              <a:rPr lang="en-US" sz="2600" b="1" dirty="0">
                <a:solidFill>
                  <a:srgbClr val="FFFFFF"/>
                </a:solidFill>
                <a:latin typeface="Arial Black" pitchFamily="34" charset="0"/>
                <a:ea typeface="Arial Black" pitchFamily="34" charset="-122"/>
                <a:cs typeface="Arial Black" pitchFamily="34" charset="-120"/>
              </a:rPr>
              <a:t>From prompts to loops: demand has no ceiling</a:t>
            </a:r>
            <a:endParaRPr lang="en-US" sz="2600" dirty="0"/>
          </a:p>
        </p:txBody>
      </p:sp>
      <p:sp>
        <p:nvSpPr>
          <p:cNvPr id="5" name="Text 3"/>
          <p:cNvSpPr/>
          <p:nvPr/>
        </p:nvSpPr>
        <p:spPr>
          <a:xfrm>
            <a:off x="457200" y="1078992"/>
            <a:ext cx="8229600" cy="457200"/>
          </a:xfrm>
          <a:prstGeom prst="rect">
            <a:avLst/>
          </a:prstGeom>
          <a:noFill/>
          <a:ln/>
        </p:spPr>
        <p:txBody>
          <a:bodyPr wrap="square" lIns="0" tIns="0" rIns="0" bIns="0" rtlCol="0" anchor="t"/>
          <a:lstStyle/>
          <a:p>
            <a:pPr indent="0" marL="0">
              <a:buNone/>
            </a:pPr>
            <a:r>
              <a:rPr lang="en-US" sz="1300" dirty="0">
                <a:solidFill>
                  <a:srgbClr val="9A9AA0"/>
                </a:solidFill>
                <a:latin typeface="Arial" pitchFamily="34" charset="0"/>
                <a:ea typeface="Arial" pitchFamily="34" charset="-122"/>
                <a:cs typeface="Arial" pitchFamily="34" charset="-120"/>
              </a:rPr>
              <a:t>Agents try, fail, fix, and ship on their own — and a loop burns orders of magnitude more tokens than a chat.</a:t>
            </a:r>
            <a:endParaRPr lang="en-US" sz="1300" dirty="0"/>
          </a:p>
        </p:txBody>
      </p:sp>
      <p:sp>
        <p:nvSpPr>
          <p:cNvPr id="6" name="Shape 4"/>
          <p:cNvSpPr/>
          <p:nvPr/>
        </p:nvSpPr>
        <p:spPr>
          <a:xfrm>
            <a:off x="457200" y="1508760"/>
            <a:ext cx="5029200" cy="2514600"/>
          </a:xfrm>
          <a:prstGeom prst="rect">
            <a:avLst/>
          </a:prstGeom>
          <a:solidFill>
            <a:srgbClr val="1E1E24"/>
          </a:solidFill>
          <a:ln w="12700">
            <a:solidFill>
              <a:srgbClr val="2A2A30"/>
            </a:solidFill>
            <a:prstDash val="dash"/>
          </a:ln>
        </p:spPr>
      </p:sp>
      <p:sp>
        <p:nvSpPr>
          <p:cNvPr id="7" name="Shape 5"/>
          <p:cNvSpPr/>
          <p:nvPr/>
        </p:nvSpPr>
        <p:spPr>
          <a:xfrm>
            <a:off x="457200" y="1508760"/>
            <a:ext cx="310896" cy="36576"/>
          </a:xfrm>
          <a:prstGeom prst="rect">
            <a:avLst/>
          </a:prstGeom>
          <a:solidFill>
            <a:srgbClr val="2BC4C4"/>
          </a:solidFill>
          <a:ln/>
        </p:spPr>
      </p:sp>
      <p:sp>
        <p:nvSpPr>
          <p:cNvPr id="8" name="Shape 6"/>
          <p:cNvSpPr/>
          <p:nvPr/>
        </p:nvSpPr>
        <p:spPr>
          <a:xfrm>
            <a:off x="457200" y="1508760"/>
            <a:ext cx="36576" cy="310896"/>
          </a:xfrm>
          <a:prstGeom prst="rect">
            <a:avLst/>
          </a:prstGeom>
          <a:solidFill>
            <a:srgbClr val="2BC4C4"/>
          </a:solidFill>
          <a:ln/>
        </p:spPr>
      </p:sp>
      <p:sp>
        <p:nvSpPr>
          <p:cNvPr id="9" name="Shape 7"/>
          <p:cNvSpPr/>
          <p:nvPr/>
        </p:nvSpPr>
        <p:spPr>
          <a:xfrm>
            <a:off x="5175504" y="3986784"/>
            <a:ext cx="310896" cy="36576"/>
          </a:xfrm>
          <a:prstGeom prst="rect">
            <a:avLst/>
          </a:prstGeom>
          <a:solidFill>
            <a:srgbClr val="2BC4C4"/>
          </a:solidFill>
          <a:ln/>
        </p:spPr>
      </p:sp>
      <p:sp>
        <p:nvSpPr>
          <p:cNvPr id="10" name="Shape 8"/>
          <p:cNvSpPr/>
          <p:nvPr/>
        </p:nvSpPr>
        <p:spPr>
          <a:xfrm>
            <a:off x="5449824" y="3712464"/>
            <a:ext cx="36576" cy="310896"/>
          </a:xfrm>
          <a:prstGeom prst="rect">
            <a:avLst/>
          </a:prstGeom>
          <a:solidFill>
            <a:srgbClr val="2BC4C4"/>
          </a:solidFill>
          <a:ln/>
        </p:spPr>
      </p:sp>
      <p:sp>
        <p:nvSpPr>
          <p:cNvPr id="11" name="Text 9"/>
          <p:cNvSpPr/>
          <p:nvPr/>
        </p:nvSpPr>
        <p:spPr>
          <a:xfrm>
            <a:off x="640080" y="1655064"/>
            <a:ext cx="4663440" cy="219456"/>
          </a:xfrm>
          <a:prstGeom prst="rect">
            <a:avLst/>
          </a:prstGeom>
          <a:noFill/>
          <a:ln/>
        </p:spPr>
        <p:txBody>
          <a:bodyPr wrap="square" lIns="0" tIns="0" rIns="0" bIns="0" rtlCol="0" anchor="ctr"/>
          <a:lstStyle/>
          <a:p>
            <a:pPr indent="0" marL="0">
              <a:buNone/>
            </a:pPr>
            <a:r>
              <a:rPr lang="en-US" sz="900" b="1" spc="200" kern="0" dirty="0">
                <a:solidFill>
                  <a:srgbClr val="2BC4C4"/>
                </a:solidFill>
                <a:latin typeface="Arial" pitchFamily="34" charset="0"/>
                <a:ea typeface="Arial" pitchFamily="34" charset="-122"/>
                <a:cs typeface="Arial" pitchFamily="34" charset="-120"/>
              </a:rPr>
              <a:t>IMAGE  ·  agentic loop + jevons</a:t>
            </a:r>
            <a:endParaRPr lang="en-US" sz="900" dirty="0"/>
          </a:p>
        </p:txBody>
      </p:sp>
      <p:sp>
        <p:nvSpPr>
          <p:cNvPr id="12" name="Text 10"/>
          <p:cNvSpPr/>
          <p:nvPr/>
        </p:nvSpPr>
        <p:spPr>
          <a:xfrm>
            <a:off x="640080" y="1929384"/>
            <a:ext cx="4663440" cy="1911096"/>
          </a:xfrm>
          <a:prstGeom prst="rect">
            <a:avLst/>
          </a:prstGeom>
          <a:noFill/>
          <a:ln/>
        </p:spPr>
        <p:txBody>
          <a:bodyPr wrap="square" lIns="0" tIns="0" rIns="0" bIns="0" rtlCol="0" anchor="t"/>
          <a:lstStyle/>
          <a:p>
            <a:pPr indent="0" marL="0">
              <a:buNone/>
            </a:pPr>
            <a:r>
              <a:rPr lang="en-US" sz="700" i="1" dirty="0">
                <a:solidFill>
                  <a:srgbClr val="8A8A90"/>
                </a:solidFill>
                <a:latin typeface="Arial" pitchFamily="34" charset="0"/>
                <a:ea typeface="Arial" pitchFamily="34" charset="-122"/>
                <a:cs typeface="Arial" pitchFamily="34" charset="-120"/>
              </a:rPr>
              <a:t>IMAGE PROMPT → save as agentic-loops.png</a:t>
            </a:r>
            <a:endParaRPr lang="en-US" sz="700" dirty="0"/>
          </a:p>
          <a:p>
            <a:pPr indent="0" marL="0">
              <a:buNone/>
            </a:pPr>
            <a:r>
              <a:rPr lang="en-US" sz="850" dirty="0">
                <a:solidFill>
                  <a:srgbClr val="C9C9CE"/>
                </a:solidFill>
                <a:latin typeface="Arial" pitchFamily="34" charset="0"/>
                <a:ea typeface="Arial" pitchFamily="34" charset="-122"/>
                <a:cs typeface="Arial" pitchFamily="34" charset="-120"/>
              </a:rPr>
              <a:t>Clean flat infographic illustration, data-visualization aesthetic, modern and informational: split into two panels side by side. LEFT PANEL: a circular workflow loop with four nodes arranged clockwise, each a clean rounded icon — a play-button icon (try), an X-mark icon (fail), a wrench icon (fix), a rocket icon (ship); smooth curved arrows in bright teal (#2BC4C4) connect them clockwise; a small infinity symbol at the center. RIGHT PANEL: four ascending bars forming a staircase from left to right, each taller than the last, in progressively brighter shades of teal from dark (#1C1C20) to bright (#2BC4C4); an upward-curving arrow in teal traces the top. A thin vertical divider line (#2A2A30) separates the panels; generous whitespace. Deep near-black (#111114) background; clean vector-style shapes with soft gradients; muted institutional palette with selective bright accents; generous whitespace; organized layout with clear visual hierarchy; no photorealism, no dramatic lighting, no 3D renders; no text, no words, no logos, no watermark.</a:t>
            </a:r>
            <a:endParaRPr lang="en-US" sz="700" dirty="0"/>
          </a:p>
        </p:txBody>
      </p:sp>
      <p:sp>
        <p:nvSpPr>
          <p:cNvPr id="13" name="Text 11"/>
          <p:cNvSpPr/>
          <p:nvPr/>
        </p:nvSpPr>
        <p:spPr>
          <a:xfrm>
            <a:off x="5760720" y="1828800"/>
            <a:ext cx="2926080" cy="292608"/>
          </a:xfrm>
          <a:prstGeom prst="rect">
            <a:avLst/>
          </a:prstGeom>
          <a:noFill/>
          <a:ln/>
        </p:spPr>
        <p:txBody>
          <a:bodyPr wrap="square" lIns="0" tIns="0" rIns="0" bIns="0" rtlCol="0" anchor="ctr"/>
          <a:lstStyle/>
          <a:p>
            <a:pPr indent="0" marL="0">
              <a:buNone/>
            </a:pPr>
            <a:r>
              <a:rPr lang="en-US" sz="1400" b="1" dirty="0">
                <a:solidFill>
                  <a:srgbClr val="FFFFFF"/>
                </a:solidFill>
                <a:latin typeface="Arial Black" pitchFamily="34" charset="0"/>
                <a:ea typeface="Arial Black" pitchFamily="34" charset="-122"/>
                <a:cs typeface="Arial Black" pitchFamily="34" charset="-120"/>
              </a:rPr>
              <a:t>“My job is to write loops.”</a:t>
            </a:r>
            <a:endParaRPr lang="en-US" sz="1400" dirty="0"/>
          </a:p>
        </p:txBody>
      </p:sp>
      <p:sp>
        <p:nvSpPr>
          <p:cNvPr id="14" name="Text 12"/>
          <p:cNvSpPr/>
          <p:nvPr/>
        </p:nvSpPr>
        <p:spPr>
          <a:xfrm>
            <a:off x="5760720" y="2148840"/>
            <a:ext cx="2926080" cy="182880"/>
          </a:xfrm>
          <a:prstGeom prst="rect">
            <a:avLst/>
          </a:prstGeom>
          <a:noFill/>
          <a:ln/>
        </p:spPr>
        <p:txBody>
          <a:bodyPr wrap="square" lIns="0" tIns="0" rIns="0" bIns="0" rtlCol="0" anchor="ctr"/>
          <a:lstStyle/>
          <a:p>
            <a:pPr indent="0" marL="0">
              <a:buNone/>
            </a:pPr>
            <a:r>
              <a:rPr lang="en-US" sz="750" dirty="0">
                <a:solidFill>
                  <a:srgbClr val="9A9AA0"/>
                </a:solidFill>
                <a:latin typeface="Arial" pitchFamily="34" charset="0"/>
                <a:ea typeface="Arial" pitchFamily="34" charset="-122"/>
                <a:cs typeface="Arial" pitchFamily="34" charset="-120"/>
              </a:rPr>
              <a:t>Boris Cherny — the agentic workflow in one sentence</a:t>
            </a:r>
            <a:endParaRPr lang="en-US" sz="750" dirty="0"/>
          </a:p>
        </p:txBody>
      </p:sp>
      <p:sp>
        <p:nvSpPr>
          <p:cNvPr id="15" name="Shape 13"/>
          <p:cNvSpPr/>
          <p:nvPr/>
        </p:nvSpPr>
        <p:spPr>
          <a:xfrm>
            <a:off x="5760720" y="2514600"/>
            <a:ext cx="2926080" cy="1371600"/>
          </a:xfrm>
          <a:prstGeom prst="rect">
            <a:avLst/>
          </a:prstGeom>
          <a:solidFill>
            <a:srgbClr val="1C1C20"/>
          </a:solidFill>
          <a:ln/>
        </p:spPr>
      </p:sp>
      <p:sp>
        <p:nvSpPr>
          <p:cNvPr id="16" name="Shape 14"/>
          <p:cNvSpPr/>
          <p:nvPr/>
        </p:nvSpPr>
        <p:spPr>
          <a:xfrm>
            <a:off x="5760720" y="2514600"/>
            <a:ext cx="64008" cy="1371600"/>
          </a:xfrm>
          <a:prstGeom prst="rect">
            <a:avLst/>
          </a:prstGeom>
          <a:solidFill>
            <a:srgbClr val="2BC4C4"/>
          </a:solidFill>
          <a:ln/>
        </p:spPr>
      </p:sp>
      <p:sp>
        <p:nvSpPr>
          <p:cNvPr id="17" name="Text 15"/>
          <p:cNvSpPr/>
          <p:nvPr/>
        </p:nvSpPr>
        <p:spPr>
          <a:xfrm>
            <a:off x="5925312" y="2606040"/>
            <a:ext cx="2670048" cy="1188720"/>
          </a:xfrm>
          <a:prstGeom prst="rect">
            <a:avLst/>
          </a:prstGeom>
          <a:noFill/>
          <a:ln/>
        </p:spPr>
        <p:txBody>
          <a:bodyPr wrap="square" lIns="0" tIns="0" rIns="0" bIns="0" rtlCol="0" anchor="t"/>
          <a:lstStyle/>
          <a:p>
            <a:pPr indent="0" marL="0">
              <a:buNone/>
            </a:pPr>
            <a:r>
              <a:rPr lang="en-US" sz="800" b="1" dirty="0">
                <a:solidFill>
                  <a:srgbClr val="2BC4C4"/>
                </a:solidFill>
                <a:latin typeface="Arial" pitchFamily="34" charset="0"/>
                <a:ea typeface="Arial" pitchFamily="34" charset="-122"/>
                <a:cs typeface="Arial" pitchFamily="34" charset="-120"/>
              </a:rPr>
              <a:t>JEVONS PARADOX</a:t>
            </a:r>
            <a:endParaRPr lang="en-US" sz="800" dirty="0"/>
          </a:p>
          <a:p>
            <a:pPr indent="0" marL="0">
              <a:buNone/>
            </a:pPr>
            <a:r>
              <a:rPr lang="en-US" sz="900" dirty="0">
                <a:solidFill>
                  <a:srgbClr val="C9C9CE"/>
                </a:solidFill>
                <a:latin typeface="Arial" pitchFamily="34" charset="0"/>
                <a:ea typeface="Arial" pitchFamily="34" charset="-122"/>
                <a:cs typeface="Arial" pitchFamily="34" charset="-120"/>
              </a:rPr>
              <a:t>As agents make software free to produce, we don’t write the same software cheaper — we write categorically more of it. Efficiency expands compute demand, it doesn’t cap it.</a:t>
            </a:r>
            <a:endParaRPr lang="en-US" sz="800" dirty="0"/>
          </a:p>
        </p:txBody>
      </p:sp>
      <p:sp>
        <p:nvSpPr>
          <p:cNvPr id="18" name="Text 16"/>
          <p:cNvSpPr/>
          <p:nvPr/>
        </p:nvSpPr>
        <p:spPr>
          <a:xfrm>
            <a:off x="457200" y="4160520"/>
            <a:ext cx="8229600" cy="384048"/>
          </a:xfrm>
          <a:prstGeom prst="rect">
            <a:avLst/>
          </a:prstGeom>
          <a:noFill/>
          <a:ln/>
        </p:spPr>
        <p:txBody>
          <a:bodyPr wrap="square" lIns="0" tIns="0" rIns="0" bIns="0" rtlCol="0" anchor="t"/>
          <a:lstStyle/>
          <a:p>
            <a:pPr indent="0" marL="0">
              <a:buNone/>
            </a:pPr>
            <a:r>
              <a:rPr lang="en-US" sz="700" dirty="0">
                <a:solidFill>
                  <a:srgbClr val="8A8A90"/>
                </a:solidFill>
                <a:latin typeface="Arial" pitchFamily="34" charset="0"/>
                <a:ea typeface="Arial" pitchFamily="34" charset="-122"/>
                <a:cs typeface="Arial" pitchFamily="34" charset="-120"/>
              </a:rPr>
              <a:t>Source: Internal strategic review, “The 2026 AI Frontier” (Jun 2026). Cherny/Steinberger loop framing; Jevons paradox illustrative, not measured data.</a:t>
            </a:r>
            <a:endParaRPr lang="en-US" sz="700" dirty="0"/>
          </a:p>
        </p:txBody>
      </p:sp>
      <p:sp>
        <p:nvSpPr>
          <p:cNvPr id="19" name="Shape 17"/>
          <p:cNvSpPr/>
          <p:nvPr/>
        </p:nvSpPr>
        <p:spPr>
          <a:xfrm>
            <a:off x="0" y="4526280"/>
            <a:ext cx="9144000" cy="617220"/>
          </a:xfrm>
          <a:prstGeom prst="rect">
            <a:avLst/>
          </a:prstGeom>
          <a:solidFill>
            <a:srgbClr val="000000"/>
          </a:solidFill>
          <a:ln/>
        </p:spPr>
      </p:sp>
      <p:sp>
        <p:nvSpPr>
          <p:cNvPr id="20" name="Shape 18"/>
          <p:cNvSpPr/>
          <p:nvPr/>
        </p:nvSpPr>
        <p:spPr>
          <a:xfrm>
            <a:off x="0" y="4526280"/>
            <a:ext cx="9144000" cy="0"/>
          </a:xfrm>
          <a:prstGeom prst="line">
            <a:avLst/>
          </a:prstGeom>
          <a:noFill/>
          <a:ln w="6350">
            <a:solidFill>
              <a:srgbClr val="2A2A30"/>
            </a:solidFill>
            <a:prstDash val="solid"/>
          </a:ln>
        </p:spPr>
      </p:sp>
      <p:sp>
        <p:nvSpPr>
          <p:cNvPr id="21" name="Text 19"/>
          <p:cNvSpPr/>
          <p:nvPr/>
        </p:nvSpPr>
        <p:spPr>
          <a:xfrm>
            <a:off x="1371600" y="4572000"/>
            <a:ext cx="6583680" cy="502920"/>
          </a:xfrm>
          <a:prstGeom prst="rect">
            <a:avLst/>
          </a:prstGeom>
          <a:noFill/>
          <a:ln/>
        </p:spPr>
        <p:txBody>
          <a:bodyPr wrap="square" rtlCol="0" anchor="ctr"/>
          <a:lstStyle/>
          <a:p>
            <a:pPr algn="ctr" indent="0" marL="0">
              <a:buNone/>
            </a:pPr>
            <a:r>
              <a:rPr lang="en-US" sz="650" b="1" dirty="0">
                <a:solidFill>
                  <a:srgbClr val="9A9AA0"/>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22" name="Text 20"/>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9A9AA0"/>
                </a:solidFill>
                <a:latin typeface="Arial" pitchFamily="34" charset="0"/>
                <a:ea typeface="Arial" pitchFamily="34" charset="-122"/>
                <a:cs typeface="Arial"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11114"/>
        </a:solidFill>
      </p:bgPr>
    </p:bg>
    <p:spTree>
      <p:nvGrpSpPr>
        <p:cNvPr id="1" name=""/>
        <p:cNvGrpSpPr/>
        <p:nvPr/>
      </p:nvGrpSpPr>
      <p:grpSpPr>
        <a:xfrm>
          <a:off x="0" y="0"/>
          <a:ext cx="0" cy="0"/>
          <a:chOff x="0" y="0"/>
          <a:chExt cx="0" cy="0"/>
        </a:xfrm>
      </p:grpSpPr>
      <p:sp>
        <p:nvSpPr>
          <p:cNvPr id="2" name="Shape 0"/>
          <p:cNvSpPr/>
          <p:nvPr/>
        </p:nvSpPr>
        <p:spPr>
          <a:xfrm>
            <a:off x="457200" y="274320"/>
            <a:ext cx="274320" cy="45720"/>
          </a:xfrm>
          <a:prstGeom prst="rect">
            <a:avLst/>
          </a:prstGeom>
          <a:solidFill>
            <a:srgbClr val="F6693D"/>
          </a:solidFill>
          <a:ln/>
        </p:spPr>
      </p:sp>
      <p:sp>
        <p:nvSpPr>
          <p:cNvPr id="3" name="Text 1"/>
          <p:cNvSpPr/>
          <p:nvPr/>
        </p:nvSpPr>
        <p:spPr>
          <a:xfrm>
            <a:off x="841248" y="155448"/>
            <a:ext cx="5943600" cy="274320"/>
          </a:xfrm>
          <a:prstGeom prst="rect">
            <a:avLst/>
          </a:prstGeom>
          <a:noFill/>
          <a:ln/>
        </p:spPr>
        <p:txBody>
          <a:bodyPr wrap="square" lIns="0" tIns="0" rIns="0" bIns="0" rtlCol="0" anchor="ctr"/>
          <a:lstStyle/>
          <a:p>
            <a:pPr indent="0" marL="0">
              <a:buNone/>
            </a:pPr>
            <a:r>
              <a:rPr lang="en-US" sz="900" b="1" spc="300" kern="0" dirty="0">
                <a:solidFill>
                  <a:srgbClr val="F6693D"/>
                </a:solidFill>
                <a:latin typeface="Arial" pitchFamily="34" charset="0"/>
                <a:ea typeface="Arial" pitchFamily="34" charset="-122"/>
                <a:cs typeface="Arial" pitchFamily="34" charset="-120"/>
              </a:rPr>
              <a:t>01  ·  THE SHIFT SO FAR  ·  TOKEN RATIONING</a:t>
            </a:r>
            <a:endParaRPr lang="en-US" sz="900" dirty="0"/>
          </a:p>
        </p:txBody>
      </p:sp>
      <p:sp>
        <p:nvSpPr>
          <p:cNvPr id="4" name="Text 2"/>
          <p:cNvSpPr/>
          <p:nvPr/>
        </p:nvSpPr>
        <p:spPr>
          <a:xfrm>
            <a:off x="457200" y="438912"/>
            <a:ext cx="8229600" cy="640080"/>
          </a:xfrm>
          <a:prstGeom prst="rect">
            <a:avLst/>
          </a:prstGeom>
          <a:noFill/>
          <a:ln/>
        </p:spPr>
        <p:txBody>
          <a:bodyPr wrap="square" lIns="0" tIns="0" rIns="0" bIns="0" rtlCol="0" anchor="t"/>
          <a:lstStyle/>
          <a:p>
            <a:pPr indent="0" marL="0">
              <a:buNone/>
            </a:pPr>
            <a:r>
              <a:rPr lang="en-US" sz="3000" b="1" dirty="0">
                <a:solidFill>
                  <a:srgbClr val="FFFFFF"/>
                </a:solidFill>
                <a:latin typeface="Arial Black" pitchFamily="34" charset="0"/>
                <a:ea typeface="Arial Black" pitchFamily="34" charset="-122"/>
                <a:cs typeface="Arial Black" pitchFamily="34" charset="-120"/>
              </a:rPr>
              <a:t>Tokens got a budget line</a:t>
            </a:r>
            <a:endParaRPr lang="en-US" sz="3000" dirty="0"/>
          </a:p>
        </p:txBody>
      </p:sp>
      <p:sp>
        <p:nvSpPr>
          <p:cNvPr id="5" name="Text 3"/>
          <p:cNvSpPr/>
          <p:nvPr/>
        </p:nvSpPr>
        <p:spPr>
          <a:xfrm>
            <a:off x="457200" y="1078992"/>
            <a:ext cx="8229600" cy="457200"/>
          </a:xfrm>
          <a:prstGeom prst="rect">
            <a:avLst/>
          </a:prstGeom>
          <a:noFill/>
          <a:ln/>
        </p:spPr>
        <p:txBody>
          <a:bodyPr wrap="square" lIns="0" tIns="0" rIns="0" bIns="0" rtlCol="0" anchor="t"/>
          <a:lstStyle/>
          <a:p>
            <a:pPr indent="0" marL="0">
              <a:buNone/>
            </a:pPr>
            <a:r>
              <a:rPr lang="en-US" sz="1300" dirty="0">
                <a:solidFill>
                  <a:srgbClr val="9A9AA0"/>
                </a:solidFill>
                <a:latin typeface="Arial" pitchFamily="34" charset="0"/>
                <a:ea typeface="Arial" pitchFamily="34" charset="-122"/>
                <a:cs typeface="Arial" pitchFamily="34" charset="-120"/>
              </a:rPr>
              <a:t>Major firms are abandoning unlimited access — rationing is what demand looks like when the input is scarce.</a:t>
            </a:r>
            <a:endParaRPr lang="en-US" sz="1300" dirty="0"/>
          </a:p>
        </p:txBody>
      </p:sp>
      <p:pic>
        <p:nvPicPr>
          <p:cNvPr id="6" name="Image 0" descr="slides-images\web\token-budget.png">    </p:cNvPr>
          <p:cNvPicPr>
            <a:picLocks noChangeAspect="1"/>
          </p:cNvPicPr>
          <p:nvPr/>
        </p:nvPicPr>
        <p:blipFill>
          <a:blip r:embed="rId1"/>
          <a:srcRect l="0" r="0" t="0" b="0"/>
          <a:stretch/>
        </p:blipFill>
        <p:spPr>
          <a:xfrm>
            <a:off x="4846320" y="1600200"/>
            <a:ext cx="3840480" cy="2423160"/>
          </a:xfrm>
          <a:prstGeom prst="rect">
            <a:avLst/>
          </a:prstGeom>
        </p:spPr>
      </p:pic>
      <p:sp>
        <p:nvSpPr>
          <p:cNvPr id="7" name="Shape 4"/>
          <p:cNvSpPr/>
          <p:nvPr/>
        </p:nvSpPr>
        <p:spPr>
          <a:xfrm>
            <a:off x="4846320" y="1600200"/>
            <a:ext cx="3840480" cy="41148"/>
          </a:xfrm>
          <a:prstGeom prst="rect">
            <a:avLst/>
          </a:prstGeom>
          <a:solidFill>
            <a:srgbClr val="F6693D"/>
          </a:solidFill>
          <a:ln/>
        </p:spPr>
      </p:sp>
      <p:sp>
        <p:nvSpPr>
          <p:cNvPr id="8" name="Shape 5"/>
          <p:cNvSpPr/>
          <p:nvPr/>
        </p:nvSpPr>
        <p:spPr>
          <a:xfrm>
            <a:off x="457200" y="1627632"/>
            <a:ext cx="64008" cy="603504"/>
          </a:xfrm>
          <a:prstGeom prst="rect">
            <a:avLst/>
          </a:prstGeom>
          <a:solidFill>
            <a:srgbClr val="2BC4C4"/>
          </a:solidFill>
          <a:ln/>
        </p:spPr>
      </p:sp>
      <p:sp>
        <p:nvSpPr>
          <p:cNvPr id="9" name="Text 6"/>
          <p:cNvSpPr/>
          <p:nvPr/>
        </p:nvSpPr>
        <p:spPr>
          <a:xfrm>
            <a:off x="612648" y="1627632"/>
            <a:ext cx="4023360" cy="603504"/>
          </a:xfrm>
          <a:prstGeom prst="rect">
            <a:avLst/>
          </a:prstGeom>
          <a:noFill/>
          <a:ln/>
        </p:spPr>
        <p:txBody>
          <a:bodyPr wrap="square" lIns="0" tIns="0" rIns="0" bIns="0" rtlCol="0" anchor="t"/>
          <a:lstStyle/>
          <a:p>
            <a:pPr indent="0" marL="0">
              <a:buNone/>
            </a:pPr>
            <a:r>
              <a:rPr lang="en-US" sz="900" b="1" dirty="0">
                <a:solidFill>
                  <a:srgbClr val="2BC4C4"/>
                </a:solidFill>
                <a:latin typeface="Arial" pitchFamily="34" charset="0"/>
                <a:ea typeface="Arial" pitchFamily="34" charset="-122"/>
                <a:cs typeface="Arial" pitchFamily="34" charset="-120"/>
              </a:rPr>
              <a:t>UBER   </a:t>
            </a:r>
            <a:endParaRPr lang="en-US" sz="900" dirty="0"/>
          </a:p>
          <a:p>
            <a:pPr indent="0" marL="0">
              <a:buNone/>
            </a:pPr>
            <a:r>
              <a:rPr lang="en-US" sz="950" dirty="0">
                <a:solidFill>
                  <a:srgbClr val="C9C9CE"/>
                </a:solidFill>
                <a:latin typeface="Arial" pitchFamily="34" charset="0"/>
                <a:ea typeface="Arial" pitchFamily="34" charset="-122"/>
                <a:cs typeface="Arial" pitchFamily="34" charset="-120"/>
              </a:rPr>
              <a:t>A hard $1,500/mo per-employee token cap replaced unlimited access.</a:t>
            </a:r>
            <a:endParaRPr lang="en-US" sz="900" dirty="0"/>
          </a:p>
        </p:txBody>
      </p:sp>
      <p:sp>
        <p:nvSpPr>
          <p:cNvPr id="10" name="Shape 7"/>
          <p:cNvSpPr/>
          <p:nvPr/>
        </p:nvSpPr>
        <p:spPr>
          <a:xfrm>
            <a:off x="457200" y="2304288"/>
            <a:ext cx="64008" cy="603504"/>
          </a:xfrm>
          <a:prstGeom prst="rect">
            <a:avLst/>
          </a:prstGeom>
          <a:solidFill>
            <a:srgbClr val="F6693D"/>
          </a:solidFill>
          <a:ln/>
        </p:spPr>
      </p:sp>
      <p:sp>
        <p:nvSpPr>
          <p:cNvPr id="11" name="Text 8"/>
          <p:cNvSpPr/>
          <p:nvPr/>
        </p:nvSpPr>
        <p:spPr>
          <a:xfrm>
            <a:off x="612648" y="2304288"/>
            <a:ext cx="4023360" cy="603504"/>
          </a:xfrm>
          <a:prstGeom prst="rect">
            <a:avLst/>
          </a:prstGeom>
          <a:noFill/>
          <a:ln/>
        </p:spPr>
        <p:txBody>
          <a:bodyPr wrap="square" lIns="0" tIns="0" rIns="0" bIns="0" rtlCol="0" anchor="t"/>
          <a:lstStyle/>
          <a:p>
            <a:pPr indent="0" marL="0">
              <a:buNone/>
            </a:pPr>
            <a:r>
              <a:rPr lang="en-US" sz="900" b="1" dirty="0">
                <a:solidFill>
                  <a:srgbClr val="F6693D"/>
                </a:solidFill>
                <a:latin typeface="Arial" pitchFamily="34" charset="0"/>
                <a:ea typeface="Arial" pitchFamily="34" charset="-122"/>
                <a:cs typeface="Arial" pitchFamily="34" charset="-120"/>
              </a:rPr>
              <a:t>WALMART   </a:t>
            </a:r>
            <a:endParaRPr lang="en-US" sz="900" dirty="0"/>
          </a:p>
          <a:p>
            <a:pPr indent="0" marL="0">
              <a:buNone/>
            </a:pPr>
            <a:r>
              <a:rPr lang="en-US" sz="950" dirty="0">
                <a:solidFill>
                  <a:srgbClr val="C9C9CE"/>
                </a:solidFill>
                <a:latin typeface="Arial" pitchFamily="34" charset="0"/>
                <a:ea typeface="Arial" pitchFamily="34" charset="-122"/>
                <a:cs typeface="Arial" pitchFamily="34" charset="-120"/>
              </a:rPr>
              <a:t>Killed unlimited “Code Puppy” access; moved to per-seat budgets.</a:t>
            </a:r>
            <a:endParaRPr lang="en-US" sz="900" dirty="0"/>
          </a:p>
        </p:txBody>
      </p:sp>
      <p:sp>
        <p:nvSpPr>
          <p:cNvPr id="12" name="Shape 9"/>
          <p:cNvSpPr/>
          <p:nvPr/>
        </p:nvSpPr>
        <p:spPr>
          <a:xfrm>
            <a:off x="457200" y="2980944"/>
            <a:ext cx="64008" cy="603504"/>
          </a:xfrm>
          <a:prstGeom prst="rect">
            <a:avLst/>
          </a:prstGeom>
          <a:solidFill>
            <a:srgbClr val="FFB800"/>
          </a:solidFill>
          <a:ln/>
        </p:spPr>
      </p:sp>
      <p:sp>
        <p:nvSpPr>
          <p:cNvPr id="13" name="Text 10"/>
          <p:cNvSpPr/>
          <p:nvPr/>
        </p:nvSpPr>
        <p:spPr>
          <a:xfrm>
            <a:off x="612648" y="2980944"/>
            <a:ext cx="4023360" cy="603504"/>
          </a:xfrm>
          <a:prstGeom prst="rect">
            <a:avLst/>
          </a:prstGeom>
          <a:noFill/>
          <a:ln/>
        </p:spPr>
        <p:txBody>
          <a:bodyPr wrap="square" lIns="0" tIns="0" rIns="0" bIns="0" rtlCol="0" anchor="t"/>
          <a:lstStyle/>
          <a:p>
            <a:pPr indent="0" marL="0">
              <a:buNone/>
            </a:pPr>
            <a:r>
              <a:rPr lang="en-US" sz="900" b="1" dirty="0">
                <a:solidFill>
                  <a:srgbClr val="FFB800"/>
                </a:solidFill>
                <a:latin typeface="Arial" pitchFamily="34" charset="0"/>
                <a:ea typeface="Arial" pitchFamily="34" charset="-122"/>
                <a:cs typeface="Arial" pitchFamily="34" charset="-120"/>
              </a:rPr>
              <a:t>THE CRUNCH   </a:t>
            </a:r>
            <a:endParaRPr lang="en-US" sz="900" dirty="0"/>
          </a:p>
          <a:p>
            <a:pPr indent="0" marL="0">
              <a:buNone/>
            </a:pPr>
            <a:r>
              <a:rPr lang="en-US" sz="950" dirty="0">
                <a:solidFill>
                  <a:srgbClr val="C9C9CE"/>
                </a:solidFill>
                <a:latin typeface="Arial" pitchFamily="34" charset="0"/>
                <a:ea typeface="Arial" pitchFamily="34" charset="-122"/>
                <a:cs typeface="Arial" pitchFamily="34" charset="-120"/>
              </a:rPr>
              <a:t>SK Hynix: no HBM relief before ~2030; Google rents GPUs at $920M/mo.</a:t>
            </a:r>
            <a:endParaRPr lang="en-US" sz="900" dirty="0"/>
          </a:p>
        </p:txBody>
      </p:sp>
      <p:sp>
        <p:nvSpPr>
          <p:cNvPr id="14" name="Shape 11"/>
          <p:cNvSpPr/>
          <p:nvPr/>
        </p:nvSpPr>
        <p:spPr>
          <a:xfrm>
            <a:off x="457200" y="3694176"/>
            <a:ext cx="4178808" cy="676656"/>
          </a:xfrm>
          <a:prstGeom prst="rect">
            <a:avLst/>
          </a:prstGeom>
          <a:solidFill>
            <a:srgbClr val="1C1C20"/>
          </a:solidFill>
          <a:ln w="9525">
            <a:solidFill>
              <a:srgbClr val="2A2A30"/>
            </a:solidFill>
            <a:prstDash val="solid"/>
          </a:ln>
        </p:spPr>
      </p:sp>
      <p:sp>
        <p:nvSpPr>
          <p:cNvPr id="15" name="Text 12"/>
          <p:cNvSpPr/>
          <p:nvPr/>
        </p:nvSpPr>
        <p:spPr>
          <a:xfrm>
            <a:off x="594360" y="3785616"/>
            <a:ext cx="3904488" cy="228600"/>
          </a:xfrm>
          <a:prstGeom prst="rect">
            <a:avLst/>
          </a:prstGeom>
          <a:noFill/>
          <a:ln/>
        </p:spPr>
        <p:txBody>
          <a:bodyPr wrap="square" lIns="0" tIns="0" rIns="0" bIns="0" rtlCol="0" anchor="ctr"/>
          <a:lstStyle/>
          <a:p>
            <a:pPr indent="0" marL="0">
              <a:buNone/>
            </a:pPr>
            <a:r>
              <a:rPr lang="en-US" sz="900" b="1" spc="200" kern="0" dirty="0">
                <a:solidFill>
                  <a:srgbClr val="FFB800"/>
                </a:solidFill>
                <a:latin typeface="Arial" pitchFamily="34" charset="0"/>
                <a:ea typeface="Arial" pitchFamily="34" charset="-122"/>
                <a:cs typeface="Arial" pitchFamily="34" charset="-120"/>
              </a:rPr>
              <a:t>READ</a:t>
            </a:r>
            <a:endParaRPr lang="en-US" sz="900" dirty="0"/>
          </a:p>
        </p:txBody>
      </p:sp>
      <p:sp>
        <p:nvSpPr>
          <p:cNvPr id="16" name="Text 13"/>
          <p:cNvSpPr/>
          <p:nvPr/>
        </p:nvSpPr>
        <p:spPr>
          <a:xfrm>
            <a:off x="594360" y="4059936"/>
            <a:ext cx="3904488" cy="219456"/>
          </a:xfrm>
          <a:prstGeom prst="rect">
            <a:avLst/>
          </a:prstGeom>
          <a:noFill/>
          <a:ln/>
        </p:spPr>
        <p:txBody>
          <a:bodyPr wrap="square" lIns="0" tIns="0" rIns="0" bIns="0" rtlCol="0" anchor="t"/>
          <a:lstStyle/>
          <a:p>
            <a:pPr indent="0" marL="0">
              <a:buNone/>
            </a:pPr>
            <a:r>
              <a:rPr lang="en-US" sz="1000" b="1" dirty="0">
                <a:solidFill>
                  <a:srgbClr val="FFFFFF"/>
                </a:solidFill>
                <a:latin typeface="Arial" pitchFamily="34" charset="0"/>
                <a:ea typeface="Arial" pitchFamily="34" charset="-122"/>
                <a:cs typeface="Arial" pitchFamily="34" charset="-120"/>
              </a:rPr>
              <a:t>Token rationing is the first real demand signal.</a:t>
            </a:r>
            <a:endParaRPr lang="en-US" sz="1000" dirty="0"/>
          </a:p>
          <a:p>
            <a:pPr indent="0" marL="0">
              <a:buNone/>
            </a:pPr>
            <a:r>
              <a:rPr lang="en-US" sz="900" dirty="0">
                <a:solidFill>
                  <a:srgbClr val="C9C9CE"/>
                </a:solidFill>
                <a:latin typeface="Arial" pitchFamily="34" charset="0"/>
                <a:ea typeface="Arial" pitchFamily="34" charset="-122"/>
                <a:cs typeface="Arial" pitchFamily="34" charset="-120"/>
              </a:rPr>
              <a:t>Enterprise adoption is still in the early innings — watch token budgets the way retail analysts watch same-store sales.</a:t>
            </a:r>
            <a:endParaRPr lang="en-US" sz="1000" dirty="0"/>
          </a:p>
        </p:txBody>
      </p:sp>
      <p:sp>
        <p:nvSpPr>
          <p:cNvPr id="17" name="Text 14"/>
          <p:cNvSpPr/>
          <p:nvPr/>
        </p:nvSpPr>
        <p:spPr>
          <a:xfrm>
            <a:off x="457200" y="4443984"/>
            <a:ext cx="8229600" cy="384048"/>
          </a:xfrm>
          <a:prstGeom prst="rect">
            <a:avLst/>
          </a:prstGeom>
          <a:noFill/>
          <a:ln/>
        </p:spPr>
        <p:txBody>
          <a:bodyPr wrap="square" lIns="0" tIns="0" rIns="0" bIns="0" rtlCol="0" anchor="t"/>
          <a:lstStyle/>
          <a:p>
            <a:pPr indent="0" marL="0">
              <a:buNone/>
            </a:pPr>
            <a:r>
              <a:rPr lang="en-US" sz="700" dirty="0">
                <a:solidFill>
                  <a:srgbClr val="8A8A90"/>
                </a:solidFill>
                <a:latin typeface="Arial" pitchFamily="34" charset="0"/>
                <a:ea typeface="Arial" pitchFamily="34" charset="-122"/>
                <a:cs typeface="Arial" pitchFamily="34" charset="-120"/>
              </a:rPr>
              <a:t>Source: Internal strategic review, “The 2026 AI Frontier” (Jun 2026). Uber &amp; Walmart cost-management cases; SK Hynix HBM outlook; Google/SpaceX GPU rental.</a:t>
            </a:r>
            <a:endParaRPr lang="en-US" sz="700" dirty="0"/>
          </a:p>
        </p:txBody>
      </p:sp>
      <p:sp>
        <p:nvSpPr>
          <p:cNvPr id="18" name="Shape 15"/>
          <p:cNvSpPr/>
          <p:nvPr/>
        </p:nvSpPr>
        <p:spPr>
          <a:xfrm>
            <a:off x="0" y="4526280"/>
            <a:ext cx="9144000" cy="617220"/>
          </a:xfrm>
          <a:prstGeom prst="rect">
            <a:avLst/>
          </a:prstGeom>
          <a:solidFill>
            <a:srgbClr val="000000"/>
          </a:solidFill>
          <a:ln/>
        </p:spPr>
      </p:sp>
      <p:sp>
        <p:nvSpPr>
          <p:cNvPr id="19" name="Shape 16"/>
          <p:cNvSpPr/>
          <p:nvPr/>
        </p:nvSpPr>
        <p:spPr>
          <a:xfrm>
            <a:off x="0" y="4526280"/>
            <a:ext cx="9144000" cy="0"/>
          </a:xfrm>
          <a:prstGeom prst="line">
            <a:avLst/>
          </a:prstGeom>
          <a:noFill/>
          <a:ln w="6350">
            <a:solidFill>
              <a:srgbClr val="2A2A30"/>
            </a:solidFill>
            <a:prstDash val="solid"/>
          </a:ln>
        </p:spPr>
      </p:sp>
      <p:sp>
        <p:nvSpPr>
          <p:cNvPr id="20" name="Text 17"/>
          <p:cNvSpPr/>
          <p:nvPr/>
        </p:nvSpPr>
        <p:spPr>
          <a:xfrm>
            <a:off x="1371600" y="4572000"/>
            <a:ext cx="6583680" cy="502920"/>
          </a:xfrm>
          <a:prstGeom prst="rect">
            <a:avLst/>
          </a:prstGeom>
          <a:noFill/>
          <a:ln/>
        </p:spPr>
        <p:txBody>
          <a:bodyPr wrap="square" rtlCol="0" anchor="ctr"/>
          <a:lstStyle/>
          <a:p>
            <a:pPr algn="ctr" indent="0" marL="0">
              <a:buNone/>
            </a:pPr>
            <a:r>
              <a:rPr lang="en-US" sz="650" b="1" dirty="0">
                <a:solidFill>
                  <a:srgbClr val="9A9AA0"/>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21" name="Text 18"/>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9A9AA0"/>
                </a:solidFill>
                <a:latin typeface="Arial" pitchFamily="34" charset="0"/>
                <a:ea typeface="Arial" pitchFamily="34" charset="-122"/>
                <a:cs typeface="Arial"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11114"/>
        </a:solidFill>
      </p:bgPr>
    </p:bg>
    <p:spTree>
      <p:nvGrpSpPr>
        <p:cNvPr id="1" name=""/>
        <p:cNvGrpSpPr/>
        <p:nvPr/>
      </p:nvGrpSpPr>
      <p:grpSpPr>
        <a:xfrm>
          <a:off x="0" y="0"/>
          <a:ext cx="0" cy="0"/>
          <a:chOff x="0" y="0"/>
          <a:chExt cx="0" cy="0"/>
        </a:xfrm>
      </p:grpSpPr>
      <p:sp>
        <p:nvSpPr>
          <p:cNvPr id="2" name="Shape 0"/>
          <p:cNvSpPr/>
          <p:nvPr/>
        </p:nvSpPr>
        <p:spPr>
          <a:xfrm>
            <a:off x="457200" y="274320"/>
            <a:ext cx="274320" cy="45720"/>
          </a:xfrm>
          <a:prstGeom prst="rect">
            <a:avLst/>
          </a:prstGeom>
          <a:solidFill>
            <a:srgbClr val="9B7BE0"/>
          </a:solidFill>
          <a:ln/>
        </p:spPr>
      </p:sp>
      <p:sp>
        <p:nvSpPr>
          <p:cNvPr id="3" name="Text 1"/>
          <p:cNvSpPr/>
          <p:nvPr/>
        </p:nvSpPr>
        <p:spPr>
          <a:xfrm>
            <a:off x="841248" y="155448"/>
            <a:ext cx="5943600" cy="274320"/>
          </a:xfrm>
          <a:prstGeom prst="rect">
            <a:avLst/>
          </a:prstGeom>
          <a:noFill/>
          <a:ln/>
        </p:spPr>
        <p:txBody>
          <a:bodyPr wrap="square" lIns="0" tIns="0" rIns="0" bIns="0" rtlCol="0" anchor="ctr"/>
          <a:lstStyle/>
          <a:p>
            <a:pPr indent="0" marL="0">
              <a:buNone/>
            </a:pPr>
            <a:r>
              <a:rPr lang="en-US" sz="900" b="1" spc="300" kern="0" dirty="0">
                <a:solidFill>
                  <a:srgbClr val="9B7BE0"/>
                </a:solidFill>
                <a:latin typeface="Arial" pitchFamily="34" charset="0"/>
                <a:ea typeface="Arial" pitchFamily="34" charset="-122"/>
                <a:cs typeface="Arial" pitchFamily="34" charset="-120"/>
              </a:rPr>
              <a:t>01  ·  THE SHIFT SO FAR  ·  POLICY</a:t>
            </a:r>
            <a:endParaRPr lang="en-US" sz="900" dirty="0"/>
          </a:p>
        </p:txBody>
      </p:sp>
      <p:sp>
        <p:nvSpPr>
          <p:cNvPr id="4" name="Text 2"/>
          <p:cNvSpPr/>
          <p:nvPr/>
        </p:nvSpPr>
        <p:spPr>
          <a:xfrm>
            <a:off x="457200" y="438912"/>
            <a:ext cx="8229600" cy="640080"/>
          </a:xfrm>
          <a:prstGeom prst="rect">
            <a:avLst/>
          </a:prstGeom>
          <a:noFill/>
          <a:ln/>
        </p:spPr>
        <p:txBody>
          <a:bodyPr wrap="square" lIns="0" tIns="0" rIns="0" bIns="0" rtlCol="0" anchor="t"/>
          <a:lstStyle/>
          <a:p>
            <a:pPr indent="0" marL="0">
              <a:buNone/>
            </a:pPr>
            <a:r>
              <a:rPr lang="en-US" sz="3000" b="1" dirty="0">
                <a:solidFill>
                  <a:srgbClr val="FFFFFF"/>
                </a:solidFill>
                <a:latin typeface="Arial Black" pitchFamily="34" charset="0"/>
                <a:ea typeface="Arial Black" pitchFamily="34" charset="-122"/>
                <a:cs typeface="Arial Black" pitchFamily="34" charset="-120"/>
              </a:rPr>
              <a:t>Governments want a stake</a:t>
            </a:r>
            <a:endParaRPr lang="en-US" sz="3000" dirty="0"/>
          </a:p>
        </p:txBody>
      </p:sp>
      <p:sp>
        <p:nvSpPr>
          <p:cNvPr id="5" name="Text 3"/>
          <p:cNvSpPr/>
          <p:nvPr/>
        </p:nvSpPr>
        <p:spPr>
          <a:xfrm>
            <a:off x="457200" y="1078992"/>
            <a:ext cx="8229600" cy="457200"/>
          </a:xfrm>
          <a:prstGeom prst="rect">
            <a:avLst/>
          </a:prstGeom>
          <a:noFill/>
          <a:ln/>
        </p:spPr>
        <p:txBody>
          <a:bodyPr wrap="square" lIns="0" tIns="0" rIns="0" bIns="0" rtlCol="0" anchor="t"/>
          <a:lstStyle/>
          <a:p>
            <a:pPr indent="0" marL="0">
              <a:buNone/>
            </a:pPr>
            <a:r>
              <a:rPr lang="en-US" sz="1300" dirty="0">
                <a:solidFill>
                  <a:srgbClr val="9A9AA0"/>
                </a:solidFill>
                <a:latin typeface="Arial" pitchFamily="34" charset="0"/>
                <a:ea typeface="Arial" pitchFamily="34" charset="-122"/>
                <a:cs typeface="Arial" pitchFamily="34" charset="-120"/>
              </a:rPr>
              <a:t>From Washington to Seoul, the debate shifted from regulating AI to owning a piece of it.</a:t>
            </a:r>
            <a:endParaRPr lang="en-US" sz="1300" dirty="0"/>
          </a:p>
        </p:txBody>
      </p:sp>
      <p:pic>
        <p:nvPicPr>
          <p:cNvPr id="6" name="Image 0" descr="slides-images\web\gov-stake.png">    </p:cNvPr>
          <p:cNvPicPr>
            <a:picLocks noChangeAspect="1"/>
          </p:cNvPicPr>
          <p:nvPr/>
        </p:nvPicPr>
        <p:blipFill>
          <a:blip r:embed="rId1"/>
          <a:srcRect l="0" r="0" t="0" b="0"/>
          <a:stretch/>
        </p:blipFill>
        <p:spPr>
          <a:xfrm>
            <a:off x="4846320" y="1600200"/>
            <a:ext cx="3840480" cy="2423160"/>
          </a:xfrm>
          <a:prstGeom prst="rect">
            <a:avLst/>
          </a:prstGeom>
        </p:spPr>
      </p:pic>
      <p:sp>
        <p:nvSpPr>
          <p:cNvPr id="7" name="Shape 4"/>
          <p:cNvSpPr/>
          <p:nvPr/>
        </p:nvSpPr>
        <p:spPr>
          <a:xfrm>
            <a:off x="4846320" y="1600200"/>
            <a:ext cx="3840480" cy="41148"/>
          </a:xfrm>
          <a:prstGeom prst="rect">
            <a:avLst/>
          </a:prstGeom>
          <a:solidFill>
            <a:srgbClr val="9B7BE0"/>
          </a:solidFill>
          <a:ln/>
        </p:spPr>
      </p:sp>
      <p:sp>
        <p:nvSpPr>
          <p:cNvPr id="8" name="Shape 5"/>
          <p:cNvSpPr/>
          <p:nvPr/>
        </p:nvSpPr>
        <p:spPr>
          <a:xfrm>
            <a:off x="457200" y="1627632"/>
            <a:ext cx="64008" cy="749808"/>
          </a:xfrm>
          <a:prstGeom prst="rect">
            <a:avLst/>
          </a:prstGeom>
          <a:solidFill>
            <a:srgbClr val="9B7BE0"/>
          </a:solidFill>
          <a:ln/>
        </p:spPr>
      </p:sp>
      <p:sp>
        <p:nvSpPr>
          <p:cNvPr id="9" name="Text 6"/>
          <p:cNvSpPr/>
          <p:nvPr/>
        </p:nvSpPr>
        <p:spPr>
          <a:xfrm>
            <a:off x="612648" y="1627632"/>
            <a:ext cx="4023360" cy="749808"/>
          </a:xfrm>
          <a:prstGeom prst="rect">
            <a:avLst/>
          </a:prstGeom>
          <a:noFill/>
          <a:ln/>
        </p:spPr>
        <p:txBody>
          <a:bodyPr wrap="square" lIns="0" tIns="0" rIns="0" bIns="0" rtlCol="0" anchor="t"/>
          <a:lstStyle/>
          <a:p>
            <a:pPr indent="0" marL="0">
              <a:buNone/>
            </a:pPr>
            <a:r>
              <a:rPr lang="en-US" sz="850" b="1" dirty="0">
                <a:solidFill>
                  <a:srgbClr val="9B7BE0"/>
                </a:solidFill>
                <a:latin typeface="Arial" pitchFamily="34" charset="0"/>
                <a:ea typeface="Arial" pitchFamily="34" charset="-122"/>
                <a:cs typeface="Arial" pitchFamily="34" charset="-120"/>
              </a:rPr>
              <a:t>UNITED STATES   </a:t>
            </a:r>
            <a:endParaRPr lang="en-US" sz="850" dirty="0"/>
          </a:p>
          <a:p>
            <a:pPr indent="0" marL="0">
              <a:buNone/>
            </a:pPr>
            <a:r>
              <a:rPr lang="en-US" sz="900" dirty="0">
                <a:solidFill>
                  <a:srgbClr val="C9C9CE"/>
                </a:solidFill>
                <a:latin typeface="Arial" pitchFamily="34" charset="0"/>
                <a:ea typeface="Arial" pitchFamily="34" charset="-122"/>
                <a:cs typeface="Arial" pitchFamily="34" charset="-120"/>
              </a:rPr>
              <a:t>Voluntary 30-day NSA pre-release review, plus a floated 50% tax on AI-lab equity to seed a public “AI Dividends” fund.</a:t>
            </a:r>
            <a:endParaRPr lang="en-US" sz="850" dirty="0"/>
          </a:p>
        </p:txBody>
      </p:sp>
      <p:sp>
        <p:nvSpPr>
          <p:cNvPr id="10" name="Shape 7"/>
          <p:cNvSpPr/>
          <p:nvPr/>
        </p:nvSpPr>
        <p:spPr>
          <a:xfrm>
            <a:off x="457200" y="2414016"/>
            <a:ext cx="64008" cy="749808"/>
          </a:xfrm>
          <a:prstGeom prst="rect">
            <a:avLst/>
          </a:prstGeom>
          <a:solidFill>
            <a:srgbClr val="2BC4C4"/>
          </a:solidFill>
          <a:ln/>
        </p:spPr>
      </p:sp>
      <p:sp>
        <p:nvSpPr>
          <p:cNvPr id="11" name="Text 8"/>
          <p:cNvSpPr/>
          <p:nvPr/>
        </p:nvSpPr>
        <p:spPr>
          <a:xfrm>
            <a:off x="612648" y="2414016"/>
            <a:ext cx="4023360" cy="749808"/>
          </a:xfrm>
          <a:prstGeom prst="rect">
            <a:avLst/>
          </a:prstGeom>
          <a:noFill/>
          <a:ln/>
        </p:spPr>
        <p:txBody>
          <a:bodyPr wrap="square" lIns="0" tIns="0" rIns="0" bIns="0" rtlCol="0" anchor="t"/>
          <a:lstStyle/>
          <a:p>
            <a:pPr indent="0" marL="0">
              <a:buNone/>
            </a:pPr>
            <a:r>
              <a:rPr lang="en-US" sz="850" b="1" dirty="0">
                <a:solidFill>
                  <a:srgbClr val="2BC4C4"/>
                </a:solidFill>
                <a:latin typeface="Arial" pitchFamily="34" charset="0"/>
                <a:ea typeface="Arial" pitchFamily="34" charset="-122"/>
                <a:cs typeface="Arial" pitchFamily="34" charset="-120"/>
              </a:rPr>
              <a:t>SOUTH KOREA   </a:t>
            </a:r>
            <a:endParaRPr lang="en-US" sz="850" dirty="0"/>
          </a:p>
          <a:p>
            <a:pPr indent="0" marL="0">
              <a:buNone/>
            </a:pPr>
            <a:r>
              <a:rPr lang="en-US" sz="900" dirty="0">
                <a:solidFill>
                  <a:srgbClr val="C9C9CE"/>
                </a:solidFill>
                <a:latin typeface="Arial" pitchFamily="34" charset="0"/>
                <a:ea typeface="Arial" pitchFamily="34" charset="-122"/>
                <a:cs typeface="Arial" pitchFamily="34" charset="-120"/>
              </a:rPr>
              <a:t>Presidential adviser floated an AI “citizen dividend”; Samsung’s union demanded 15% of chip-division profit.</a:t>
            </a:r>
            <a:endParaRPr lang="en-US" sz="850" dirty="0"/>
          </a:p>
        </p:txBody>
      </p:sp>
      <p:sp>
        <p:nvSpPr>
          <p:cNvPr id="12" name="Shape 9"/>
          <p:cNvSpPr/>
          <p:nvPr/>
        </p:nvSpPr>
        <p:spPr>
          <a:xfrm>
            <a:off x="457200" y="3200400"/>
            <a:ext cx="64008" cy="749808"/>
          </a:xfrm>
          <a:prstGeom prst="rect">
            <a:avLst/>
          </a:prstGeom>
          <a:solidFill>
            <a:srgbClr val="E5484D"/>
          </a:solidFill>
          <a:ln/>
        </p:spPr>
      </p:sp>
      <p:sp>
        <p:nvSpPr>
          <p:cNvPr id="13" name="Text 10"/>
          <p:cNvSpPr/>
          <p:nvPr/>
        </p:nvSpPr>
        <p:spPr>
          <a:xfrm>
            <a:off x="612648" y="3200400"/>
            <a:ext cx="4023360" cy="749808"/>
          </a:xfrm>
          <a:prstGeom prst="rect">
            <a:avLst/>
          </a:prstGeom>
          <a:noFill/>
          <a:ln/>
        </p:spPr>
        <p:txBody>
          <a:bodyPr wrap="square" lIns="0" tIns="0" rIns="0" bIns="0" rtlCol="0" anchor="t"/>
          <a:lstStyle/>
          <a:p>
            <a:pPr indent="0" marL="0">
              <a:buNone/>
            </a:pPr>
            <a:r>
              <a:rPr lang="en-US" sz="850" b="1" dirty="0">
                <a:solidFill>
                  <a:srgbClr val="E5484D"/>
                </a:solidFill>
                <a:latin typeface="Arial" pitchFamily="34" charset="0"/>
                <a:ea typeface="Arial" pitchFamily="34" charset="-122"/>
                <a:cs typeface="Arial" pitchFamily="34" charset="-120"/>
              </a:rPr>
              <a:t>THE CRITIQUE   </a:t>
            </a:r>
            <a:endParaRPr lang="en-US" sz="850" dirty="0"/>
          </a:p>
          <a:p>
            <a:pPr indent="0" marL="0">
              <a:buNone/>
            </a:pPr>
            <a:r>
              <a:rPr lang="en-US" sz="900" dirty="0">
                <a:solidFill>
                  <a:srgbClr val="C9C9CE"/>
                </a:solidFill>
                <a:latin typeface="Arial" pitchFamily="34" charset="0"/>
                <a:ea typeface="Arial" pitchFamily="34" charset="-122"/>
                <a:cs typeface="Arial" pitchFamily="34" charset="-120"/>
              </a:rPr>
              <a:t>Sacks: government equity risks “corporate-government fusion.” The debate is now ownership, not regulation.</a:t>
            </a:r>
            <a:endParaRPr lang="en-US" sz="850" dirty="0"/>
          </a:p>
        </p:txBody>
      </p:sp>
      <p:sp>
        <p:nvSpPr>
          <p:cNvPr id="14" name="Text 11"/>
          <p:cNvSpPr/>
          <p:nvPr/>
        </p:nvSpPr>
        <p:spPr>
          <a:xfrm>
            <a:off x="457200" y="4005072"/>
            <a:ext cx="4206240" cy="329184"/>
          </a:xfrm>
          <a:prstGeom prst="rect">
            <a:avLst/>
          </a:prstGeom>
          <a:noFill/>
          <a:ln/>
        </p:spPr>
        <p:txBody>
          <a:bodyPr wrap="square" lIns="0" tIns="0" rIns="0" bIns="0" rtlCol="0" anchor="t"/>
          <a:lstStyle/>
          <a:p>
            <a:pPr indent="0" marL="0">
              <a:buNone/>
            </a:pPr>
            <a:r>
              <a:rPr lang="en-US" sz="950" b="1" dirty="0">
                <a:solidFill>
                  <a:srgbClr val="FFFFFF"/>
                </a:solidFill>
                <a:latin typeface="Arial" pitchFamily="34" charset="0"/>
                <a:ea typeface="Arial" pitchFamily="34" charset="-122"/>
                <a:cs typeface="Arial" pitchFamily="34" charset="-120"/>
              </a:rPr>
              <a:t>Investor read: </a:t>
            </a:r>
            <a:pPr indent="0" marL="0">
              <a:buNone/>
            </a:pPr>
            <a:r>
              <a:rPr lang="en-US" sz="950" dirty="0">
                <a:solidFill>
                  <a:srgbClr val="C9C9CE"/>
                </a:solidFill>
                <a:latin typeface="Arial" pitchFamily="34" charset="0"/>
                <a:ea typeface="Arial" pitchFamily="34" charset="-122"/>
                <a:cs typeface="Arial" pitchFamily="34" charset="-120"/>
              </a:rPr>
              <a:t>public-ownership is a dilution tail risk no equity model currently carries.</a:t>
            </a:r>
            <a:endParaRPr lang="en-US" sz="950" dirty="0"/>
          </a:p>
        </p:txBody>
      </p:sp>
      <p:sp>
        <p:nvSpPr>
          <p:cNvPr id="15" name="Text 12"/>
          <p:cNvSpPr/>
          <p:nvPr/>
        </p:nvSpPr>
        <p:spPr>
          <a:xfrm>
            <a:off x="457200" y="4315968"/>
            <a:ext cx="8229600" cy="384048"/>
          </a:xfrm>
          <a:prstGeom prst="rect">
            <a:avLst/>
          </a:prstGeom>
          <a:noFill/>
          <a:ln/>
        </p:spPr>
        <p:txBody>
          <a:bodyPr wrap="square" lIns="0" tIns="0" rIns="0" bIns="0" rtlCol="0" anchor="t"/>
          <a:lstStyle/>
          <a:p>
            <a:pPr indent="0" marL="0">
              <a:buNone/>
            </a:pPr>
            <a:r>
              <a:rPr lang="en-US" sz="700" dirty="0">
                <a:solidFill>
                  <a:srgbClr val="8A8A90"/>
                </a:solidFill>
                <a:latin typeface="Arial" pitchFamily="34" charset="0"/>
                <a:ea typeface="Arial" pitchFamily="34" charset="-122"/>
                <a:cs typeface="Arial" pitchFamily="34" charset="-120"/>
              </a:rPr>
              <a:t>Source: Internal strategic review, “The 2026 AI Frontier” (Jun 2026); Korea Herald, Bloomberg, Nikkei Asia (May 2026); Executive Order provisions; Sacks critique.</a:t>
            </a:r>
            <a:endParaRPr lang="en-US" sz="700" dirty="0"/>
          </a:p>
        </p:txBody>
      </p:sp>
      <p:sp>
        <p:nvSpPr>
          <p:cNvPr id="16" name="Shape 13"/>
          <p:cNvSpPr/>
          <p:nvPr/>
        </p:nvSpPr>
        <p:spPr>
          <a:xfrm>
            <a:off x="0" y="4526280"/>
            <a:ext cx="9144000" cy="617220"/>
          </a:xfrm>
          <a:prstGeom prst="rect">
            <a:avLst/>
          </a:prstGeom>
          <a:solidFill>
            <a:srgbClr val="000000"/>
          </a:solidFill>
          <a:ln/>
        </p:spPr>
      </p:sp>
      <p:sp>
        <p:nvSpPr>
          <p:cNvPr id="17" name="Shape 14"/>
          <p:cNvSpPr/>
          <p:nvPr/>
        </p:nvSpPr>
        <p:spPr>
          <a:xfrm>
            <a:off x="0" y="4526280"/>
            <a:ext cx="9144000" cy="0"/>
          </a:xfrm>
          <a:prstGeom prst="line">
            <a:avLst/>
          </a:prstGeom>
          <a:noFill/>
          <a:ln w="6350">
            <a:solidFill>
              <a:srgbClr val="2A2A30"/>
            </a:solidFill>
            <a:prstDash val="solid"/>
          </a:ln>
        </p:spPr>
      </p:sp>
      <p:sp>
        <p:nvSpPr>
          <p:cNvPr id="18" name="Text 15"/>
          <p:cNvSpPr/>
          <p:nvPr/>
        </p:nvSpPr>
        <p:spPr>
          <a:xfrm>
            <a:off x="1371600" y="4572000"/>
            <a:ext cx="6583680" cy="502920"/>
          </a:xfrm>
          <a:prstGeom prst="rect">
            <a:avLst/>
          </a:prstGeom>
          <a:noFill/>
          <a:ln/>
        </p:spPr>
        <p:txBody>
          <a:bodyPr wrap="square" rtlCol="0" anchor="ctr"/>
          <a:lstStyle/>
          <a:p>
            <a:pPr algn="ctr" indent="0" marL="0">
              <a:buNone/>
            </a:pPr>
            <a:r>
              <a:rPr lang="en-US" sz="650" b="1" dirty="0">
                <a:solidFill>
                  <a:srgbClr val="9A9AA0"/>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19" name="Text 16"/>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9A9AA0"/>
                </a:solidFill>
                <a:latin typeface="Arial" pitchFamily="34" charset="0"/>
                <a:ea typeface="Arial" pitchFamily="34" charset="-122"/>
                <a:cs typeface="Arial"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11114"/>
        </a:solidFill>
      </p:bgPr>
    </p:bg>
    <p:spTree>
      <p:nvGrpSpPr>
        <p:cNvPr id="1" name=""/>
        <p:cNvGrpSpPr/>
        <p:nvPr/>
      </p:nvGrpSpPr>
      <p:grpSpPr>
        <a:xfrm>
          <a:off x="0" y="0"/>
          <a:ext cx="0" cy="0"/>
          <a:chOff x="0" y="0"/>
          <a:chExt cx="0" cy="0"/>
        </a:xfrm>
      </p:grpSpPr>
      <p:sp>
        <p:nvSpPr>
          <p:cNvPr id="2" name="Shape 0"/>
          <p:cNvSpPr/>
          <p:nvPr/>
        </p:nvSpPr>
        <p:spPr>
          <a:xfrm>
            <a:off x="457200" y="274320"/>
            <a:ext cx="274320" cy="45720"/>
          </a:xfrm>
          <a:prstGeom prst="rect">
            <a:avLst/>
          </a:prstGeom>
          <a:solidFill>
            <a:srgbClr val="FFB800"/>
          </a:solidFill>
          <a:ln/>
        </p:spPr>
      </p:sp>
      <p:sp>
        <p:nvSpPr>
          <p:cNvPr id="3" name="Text 1"/>
          <p:cNvSpPr/>
          <p:nvPr/>
        </p:nvSpPr>
        <p:spPr>
          <a:xfrm>
            <a:off x="841248" y="155448"/>
            <a:ext cx="5943600" cy="274320"/>
          </a:xfrm>
          <a:prstGeom prst="rect">
            <a:avLst/>
          </a:prstGeom>
          <a:noFill/>
          <a:ln/>
        </p:spPr>
        <p:txBody>
          <a:bodyPr wrap="square" lIns="0" tIns="0" rIns="0" bIns="0" rtlCol="0" anchor="ctr"/>
          <a:lstStyle/>
          <a:p>
            <a:pPr indent="0" marL="0">
              <a:buNone/>
            </a:pPr>
            <a:r>
              <a:rPr lang="en-US" sz="900" b="1" spc="300" kern="0" dirty="0">
                <a:solidFill>
                  <a:srgbClr val="FFB800"/>
                </a:solidFill>
                <a:latin typeface="Arial" pitchFamily="34" charset="0"/>
                <a:ea typeface="Arial" pitchFamily="34" charset="-122"/>
                <a:cs typeface="Arial" pitchFamily="34" charset="-120"/>
              </a:rPr>
              <a:t>02  ·  EARLY MARKET SIGNALS  ·  EQUITIES</a:t>
            </a:r>
            <a:endParaRPr lang="en-US" sz="900" dirty="0"/>
          </a:p>
        </p:txBody>
      </p:sp>
      <p:sp>
        <p:nvSpPr>
          <p:cNvPr id="4" name="Text 2"/>
          <p:cNvSpPr/>
          <p:nvPr/>
        </p:nvSpPr>
        <p:spPr>
          <a:xfrm>
            <a:off x="457200" y="438912"/>
            <a:ext cx="8229600" cy="640080"/>
          </a:xfrm>
          <a:prstGeom prst="rect">
            <a:avLst/>
          </a:prstGeom>
          <a:noFill/>
          <a:ln/>
        </p:spPr>
        <p:txBody>
          <a:bodyPr wrap="square" lIns="0" tIns="0" rIns="0" bIns="0" rtlCol="0" anchor="t"/>
          <a:lstStyle/>
          <a:p>
            <a:pPr indent="0" marL="0">
              <a:buNone/>
            </a:pPr>
            <a:r>
              <a:rPr lang="en-US" sz="3000" b="1" dirty="0">
                <a:solidFill>
                  <a:srgbClr val="FFFFFF"/>
                </a:solidFill>
                <a:latin typeface="Arial Black" pitchFamily="34" charset="0"/>
                <a:ea typeface="Arial Black" pitchFamily="34" charset="-122"/>
                <a:cs typeface="Arial Black" pitchFamily="34" charset="-120"/>
              </a:rPr>
              <a:t>The market split the trade</a:t>
            </a:r>
            <a:endParaRPr lang="en-US" sz="3000" dirty="0"/>
          </a:p>
        </p:txBody>
      </p:sp>
      <p:sp>
        <p:nvSpPr>
          <p:cNvPr id="5" name="Text 3"/>
          <p:cNvSpPr/>
          <p:nvPr/>
        </p:nvSpPr>
        <p:spPr>
          <a:xfrm>
            <a:off x="457200" y="1078992"/>
            <a:ext cx="8229600" cy="457200"/>
          </a:xfrm>
          <a:prstGeom prst="rect">
            <a:avLst/>
          </a:prstGeom>
          <a:noFill/>
          <a:ln/>
        </p:spPr>
        <p:txBody>
          <a:bodyPr wrap="square" lIns="0" tIns="0" rIns="0" bIns="0" rtlCol="0" anchor="t"/>
          <a:lstStyle/>
          <a:p>
            <a:pPr indent="0" marL="0">
              <a:buNone/>
            </a:pPr>
            <a:r>
              <a:rPr lang="en-US" sz="1300" dirty="0">
                <a:solidFill>
                  <a:srgbClr val="9A9AA0"/>
                </a:solidFill>
                <a:latin typeface="Arial" pitchFamily="34" charset="0"/>
                <a:ea typeface="Arial" pitchFamily="34" charset="-122"/>
                <a:cs typeface="Arial" pitchFamily="34" charset="-120"/>
              </a:rPr>
              <a:t>Semis +80%, software −10%: a ~90-point spread inside one theme.</a:t>
            </a:r>
            <a:endParaRPr lang="en-US" sz="1300" dirty="0"/>
          </a:p>
        </p:txBody>
      </p:sp>
      <p:sp>
        <p:nvSpPr>
          <p:cNvPr id="6" name="Text 4"/>
          <p:cNvSpPr/>
          <p:nvPr/>
        </p:nvSpPr>
        <p:spPr>
          <a:xfrm>
            <a:off x="457200" y="1554480"/>
            <a:ext cx="5120640" cy="256032"/>
          </a:xfrm>
          <a:prstGeom prst="rect">
            <a:avLst/>
          </a:prstGeom>
          <a:noFill/>
          <a:ln/>
        </p:spPr>
        <p:txBody>
          <a:bodyPr wrap="square" lIns="0" tIns="0" rIns="0" bIns="0" rtlCol="0" anchor="b"/>
          <a:lstStyle/>
          <a:p>
            <a:pPr indent="0" marL="0">
              <a:buNone/>
            </a:pPr>
            <a:r>
              <a:rPr lang="en-US" sz="1300" b="1" dirty="0">
                <a:solidFill>
                  <a:srgbClr val="E8E8EA"/>
                </a:solidFill>
                <a:latin typeface="Arial" pitchFamily="34" charset="0"/>
                <a:ea typeface="Arial" pitchFamily="34" charset="-122"/>
                <a:cs typeface="Arial" pitchFamily="34" charset="-120"/>
              </a:rPr>
              <a:t>Total return, YTD 2026 (%)</a:t>
            </a:r>
            <a:endParaRPr lang="en-US" sz="1300" dirty="0"/>
          </a:p>
        </p:txBody>
      </p:sp>
      <p:sp>
        <p:nvSpPr>
          <p:cNvPr id="7" name="Shape 5"/>
          <p:cNvSpPr/>
          <p:nvPr/>
        </p:nvSpPr>
        <p:spPr>
          <a:xfrm>
            <a:off x="457200" y="1856232"/>
            <a:ext cx="5120640" cy="0"/>
          </a:xfrm>
          <a:prstGeom prst="line">
            <a:avLst/>
          </a:prstGeom>
          <a:noFill/>
          <a:ln w="12700">
            <a:solidFill>
              <a:srgbClr val="FFB800"/>
            </a:solidFill>
            <a:prstDash val="solid"/>
          </a:ln>
        </p:spPr>
      </p:sp>
      <p:graphicFrame>
        <p:nvGraphicFramePr>
          <p:cNvPr id="8" name="Chart 0" descr=""/>
          <p:cNvGraphicFramePr/>
          <p:nvPr/>
        </p:nvGraphicFramePr>
        <p:xfrm>
          <a:off x="457200" y="1920240"/>
          <a:ext cx="5120640" cy="2103120"/>
        </p:xfrm>
        <a:graphic xmlns:a="http://schemas.openxmlformats.org/drawingml/2006/main">
          <a:graphicData uri="http://schemas.openxmlformats.org/drawingml/2006/chart">
            <c:chart xmlns:c="http://schemas.openxmlformats.org/drawingml/2006/chart" r:id="rId1"/>
          </a:graphicData>
        </a:graphic>
      </p:graphicFrame>
      <p:sp>
        <p:nvSpPr>
          <p:cNvPr id="9" name="Text 6"/>
          <p:cNvSpPr/>
          <p:nvPr/>
        </p:nvSpPr>
        <p:spPr>
          <a:xfrm>
            <a:off x="5943600" y="1828800"/>
            <a:ext cx="2743200" cy="384048"/>
          </a:xfrm>
          <a:prstGeom prst="rect">
            <a:avLst/>
          </a:prstGeom>
          <a:noFill/>
          <a:ln/>
        </p:spPr>
        <p:txBody>
          <a:bodyPr wrap="square" lIns="0" tIns="0" rIns="0" bIns="0" rtlCol="0" anchor="ctr"/>
          <a:lstStyle/>
          <a:p>
            <a:pPr indent="0" marL="0">
              <a:buNone/>
            </a:pPr>
            <a:r>
              <a:rPr lang="en-US" sz="2200" b="1" dirty="0">
                <a:solidFill>
                  <a:srgbClr val="F6693D"/>
                </a:solidFill>
                <a:latin typeface="Arial Black" pitchFamily="34" charset="0"/>
                <a:ea typeface="Arial Black" pitchFamily="34" charset="-122"/>
                <a:cs typeface="Arial Black" pitchFamily="34" charset="-120"/>
              </a:rPr>
              <a:t>37%</a:t>
            </a:r>
            <a:endParaRPr lang="en-US" sz="2200" dirty="0"/>
          </a:p>
        </p:txBody>
      </p:sp>
      <p:sp>
        <p:nvSpPr>
          <p:cNvPr id="10" name="Text 7"/>
          <p:cNvSpPr/>
          <p:nvPr/>
        </p:nvSpPr>
        <p:spPr>
          <a:xfrm>
            <a:off x="5943600" y="2231136"/>
            <a:ext cx="2743200" cy="438912"/>
          </a:xfrm>
          <a:prstGeom prst="rect">
            <a:avLst/>
          </a:prstGeom>
          <a:noFill/>
          <a:ln/>
        </p:spPr>
        <p:txBody>
          <a:bodyPr wrap="square" lIns="0" tIns="0" rIns="0" bIns="0" rtlCol="0" anchor="t"/>
          <a:lstStyle/>
          <a:p>
            <a:pPr indent="0" marL="0">
              <a:buNone/>
            </a:pPr>
            <a:r>
              <a:rPr lang="en-US" sz="750" dirty="0">
                <a:solidFill>
                  <a:srgbClr val="9A9AA0"/>
                </a:solidFill>
                <a:latin typeface="Arial" pitchFamily="34" charset="0"/>
                <a:ea typeface="Arial" pitchFamily="34" charset="-122"/>
                <a:cs typeface="Arial" pitchFamily="34" charset="-120"/>
              </a:rPr>
              <a:t>Top-10 share of S&amp;P 500 market cap — double the 1990–2015 norm of 18–23%.</a:t>
            </a:r>
            <a:endParaRPr lang="en-US" sz="750" dirty="0"/>
          </a:p>
        </p:txBody>
      </p:sp>
      <p:sp>
        <p:nvSpPr>
          <p:cNvPr id="11" name="Text 8"/>
          <p:cNvSpPr/>
          <p:nvPr/>
        </p:nvSpPr>
        <p:spPr>
          <a:xfrm>
            <a:off x="5943600" y="2834640"/>
            <a:ext cx="2743200" cy="384048"/>
          </a:xfrm>
          <a:prstGeom prst="rect">
            <a:avLst/>
          </a:prstGeom>
          <a:noFill/>
          <a:ln/>
        </p:spPr>
        <p:txBody>
          <a:bodyPr wrap="square" lIns="0" tIns="0" rIns="0" bIns="0" rtlCol="0" anchor="ctr"/>
          <a:lstStyle/>
          <a:p>
            <a:pPr indent="0" marL="0">
              <a:buNone/>
            </a:pPr>
            <a:r>
              <a:rPr lang="en-US" sz="2200" b="1" dirty="0">
                <a:solidFill>
                  <a:srgbClr val="2BC4C4"/>
                </a:solidFill>
                <a:latin typeface="Arial Black" pitchFamily="34" charset="0"/>
                <a:ea typeface="Arial Black" pitchFamily="34" charset="-122"/>
                <a:cs typeface="Arial Black" pitchFamily="34" charset="-120"/>
              </a:rPr>
              <a:t>21.1x</a:t>
            </a:r>
            <a:endParaRPr lang="en-US" sz="2200" dirty="0"/>
          </a:p>
        </p:txBody>
      </p:sp>
      <p:sp>
        <p:nvSpPr>
          <p:cNvPr id="12" name="Text 9"/>
          <p:cNvSpPr/>
          <p:nvPr/>
        </p:nvSpPr>
        <p:spPr>
          <a:xfrm>
            <a:off x="5943600" y="3236976"/>
            <a:ext cx="2743200" cy="438912"/>
          </a:xfrm>
          <a:prstGeom prst="rect">
            <a:avLst/>
          </a:prstGeom>
          <a:noFill/>
          <a:ln/>
        </p:spPr>
        <p:txBody>
          <a:bodyPr wrap="square" lIns="0" tIns="0" rIns="0" bIns="0" rtlCol="0" anchor="t"/>
          <a:lstStyle/>
          <a:p>
            <a:pPr indent="0" marL="0">
              <a:buNone/>
            </a:pPr>
            <a:r>
              <a:rPr lang="en-US" sz="750" dirty="0">
                <a:solidFill>
                  <a:srgbClr val="9A9AA0"/>
                </a:solidFill>
                <a:latin typeface="Arial" pitchFamily="34" charset="0"/>
                <a:ea typeface="Arial" pitchFamily="34" charset="-122"/>
                <a:cs typeface="Arial" pitchFamily="34" charset="-120"/>
              </a:rPr>
              <a:t>S&amp;P 500 forward P/E vs a 19.0x 10-yr average: elevated, not extreme.</a:t>
            </a:r>
            <a:endParaRPr lang="en-US" sz="750" dirty="0"/>
          </a:p>
        </p:txBody>
      </p:sp>
      <p:sp>
        <p:nvSpPr>
          <p:cNvPr id="13" name="Text 10"/>
          <p:cNvSpPr/>
          <p:nvPr/>
        </p:nvSpPr>
        <p:spPr>
          <a:xfrm>
            <a:off x="457200" y="4078224"/>
            <a:ext cx="8229600" cy="237744"/>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Leadership is migrating from the platforms to their suppliers — and the reallocation is still underway. </a:t>
            </a:r>
            <a:pPr indent="0" marL="0">
              <a:buNone/>
            </a:pPr>
            <a:r>
              <a:rPr lang="en-US" sz="1000" dirty="0">
                <a:solidFill>
                  <a:srgbClr val="C9C9CE"/>
                </a:solidFill>
                <a:latin typeface="Arial" pitchFamily="34" charset="0"/>
                <a:ea typeface="Arial" pitchFamily="34" charset="-122"/>
                <a:cs typeface="Arial" pitchFamily="34" charset="-120"/>
              </a:rPr>
              <a:t>Value accrues where AI spend is revenue; it erodes where AI is the threat.</a:t>
            </a:r>
            <a:endParaRPr lang="en-US" sz="1000" dirty="0"/>
          </a:p>
        </p:txBody>
      </p:sp>
      <p:sp>
        <p:nvSpPr>
          <p:cNvPr id="14" name="Text 11"/>
          <p:cNvSpPr/>
          <p:nvPr/>
        </p:nvSpPr>
        <p:spPr>
          <a:xfrm>
            <a:off x="457200" y="4334256"/>
            <a:ext cx="8229600" cy="384048"/>
          </a:xfrm>
          <a:prstGeom prst="rect">
            <a:avLst/>
          </a:prstGeom>
          <a:noFill/>
          <a:ln/>
        </p:spPr>
        <p:txBody>
          <a:bodyPr wrap="square" lIns="0" tIns="0" rIns="0" bIns="0" rtlCol="0" anchor="t"/>
          <a:lstStyle/>
          <a:p>
            <a:pPr indent="0" marL="0">
              <a:buNone/>
            </a:pPr>
            <a:r>
              <a:rPr lang="en-US" sz="700" dirty="0">
                <a:solidFill>
                  <a:srgbClr val="8A8A90"/>
                </a:solidFill>
                <a:latin typeface="Arial" pitchFamily="34" charset="0"/>
                <a:ea typeface="Arial" pitchFamily="34" charset="-122"/>
                <a:cs typeface="Arial" pitchFamily="34" charset="-120"/>
              </a:rPr>
              <a:t>Source: YTD total returns through early Jun 2026: stockanalysis.com (SOXX, IGV); slickcharts (S&amp;P 500); Morningstar/Yahoo (RSP, MAGS). Weights: S&amp;P DJI. Fwd P/E: FactSet.</a:t>
            </a:r>
            <a:endParaRPr lang="en-US" sz="700" dirty="0"/>
          </a:p>
        </p:txBody>
      </p:sp>
      <p:sp>
        <p:nvSpPr>
          <p:cNvPr id="15" name="Shape 12"/>
          <p:cNvSpPr/>
          <p:nvPr/>
        </p:nvSpPr>
        <p:spPr>
          <a:xfrm>
            <a:off x="0" y="4526280"/>
            <a:ext cx="9144000" cy="617220"/>
          </a:xfrm>
          <a:prstGeom prst="rect">
            <a:avLst/>
          </a:prstGeom>
          <a:solidFill>
            <a:srgbClr val="000000"/>
          </a:solidFill>
          <a:ln/>
        </p:spPr>
      </p:sp>
      <p:sp>
        <p:nvSpPr>
          <p:cNvPr id="16" name="Shape 13"/>
          <p:cNvSpPr/>
          <p:nvPr/>
        </p:nvSpPr>
        <p:spPr>
          <a:xfrm>
            <a:off x="0" y="4526280"/>
            <a:ext cx="9144000" cy="0"/>
          </a:xfrm>
          <a:prstGeom prst="line">
            <a:avLst/>
          </a:prstGeom>
          <a:noFill/>
          <a:ln w="6350">
            <a:solidFill>
              <a:srgbClr val="2A2A30"/>
            </a:solidFill>
            <a:prstDash val="solid"/>
          </a:ln>
        </p:spPr>
      </p:sp>
      <p:sp>
        <p:nvSpPr>
          <p:cNvPr id="17" name="Text 14"/>
          <p:cNvSpPr/>
          <p:nvPr/>
        </p:nvSpPr>
        <p:spPr>
          <a:xfrm>
            <a:off x="1371600" y="4572000"/>
            <a:ext cx="6583680" cy="502920"/>
          </a:xfrm>
          <a:prstGeom prst="rect">
            <a:avLst/>
          </a:prstGeom>
          <a:noFill/>
          <a:ln/>
        </p:spPr>
        <p:txBody>
          <a:bodyPr wrap="square" rtlCol="0" anchor="ctr"/>
          <a:lstStyle/>
          <a:p>
            <a:pPr algn="ctr" indent="0" marL="0">
              <a:buNone/>
            </a:pPr>
            <a:r>
              <a:rPr lang="en-US" sz="650" b="1" dirty="0">
                <a:solidFill>
                  <a:srgbClr val="9A9AA0"/>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18" name="Text 15"/>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9A9AA0"/>
                </a:solidFill>
                <a:latin typeface="Arial" pitchFamily="34" charset="0"/>
                <a:ea typeface="Arial" pitchFamily="34" charset="-122"/>
                <a:cs typeface="Arial"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11114"/>
        </a:solidFill>
      </p:bgPr>
    </p:bg>
    <p:spTree>
      <p:nvGrpSpPr>
        <p:cNvPr id="1" name=""/>
        <p:cNvGrpSpPr/>
        <p:nvPr/>
      </p:nvGrpSpPr>
      <p:grpSpPr>
        <a:xfrm>
          <a:off x="0" y="0"/>
          <a:ext cx="0" cy="0"/>
          <a:chOff x="0" y="0"/>
          <a:chExt cx="0" cy="0"/>
        </a:xfrm>
      </p:grpSpPr>
      <p:sp>
        <p:nvSpPr>
          <p:cNvPr id="2" name="Shape 0"/>
          <p:cNvSpPr/>
          <p:nvPr/>
        </p:nvSpPr>
        <p:spPr>
          <a:xfrm>
            <a:off x="457200" y="274320"/>
            <a:ext cx="274320" cy="45720"/>
          </a:xfrm>
          <a:prstGeom prst="rect">
            <a:avLst/>
          </a:prstGeom>
          <a:solidFill>
            <a:srgbClr val="2BC4C4"/>
          </a:solidFill>
          <a:ln/>
        </p:spPr>
      </p:sp>
      <p:sp>
        <p:nvSpPr>
          <p:cNvPr id="3" name="Text 1"/>
          <p:cNvSpPr/>
          <p:nvPr/>
        </p:nvSpPr>
        <p:spPr>
          <a:xfrm>
            <a:off x="841248" y="155448"/>
            <a:ext cx="5943600" cy="274320"/>
          </a:xfrm>
          <a:prstGeom prst="rect">
            <a:avLst/>
          </a:prstGeom>
          <a:noFill/>
          <a:ln/>
        </p:spPr>
        <p:txBody>
          <a:bodyPr wrap="square" lIns="0" tIns="0" rIns="0" bIns="0" rtlCol="0" anchor="ctr"/>
          <a:lstStyle/>
          <a:p>
            <a:pPr indent="0" marL="0">
              <a:buNone/>
            </a:pPr>
            <a:r>
              <a:rPr lang="en-US" sz="900" b="1" spc="300" kern="0" dirty="0">
                <a:solidFill>
                  <a:srgbClr val="2BC4C4"/>
                </a:solidFill>
                <a:latin typeface="Arial" pitchFamily="34" charset="0"/>
                <a:ea typeface="Arial" pitchFamily="34" charset="-122"/>
                <a:cs typeface="Arial" pitchFamily="34" charset="-120"/>
              </a:rPr>
              <a:t>02  ·  EARLY MARKET SIGNALS  ·  LABOR</a:t>
            </a:r>
            <a:endParaRPr lang="en-US" sz="900" dirty="0"/>
          </a:p>
        </p:txBody>
      </p:sp>
      <p:sp>
        <p:nvSpPr>
          <p:cNvPr id="4" name="Text 2"/>
          <p:cNvSpPr/>
          <p:nvPr/>
        </p:nvSpPr>
        <p:spPr>
          <a:xfrm>
            <a:off x="457200" y="438912"/>
            <a:ext cx="8229600" cy="640080"/>
          </a:xfrm>
          <a:prstGeom prst="rect">
            <a:avLst/>
          </a:prstGeom>
          <a:noFill/>
          <a:ln/>
        </p:spPr>
        <p:txBody>
          <a:bodyPr wrap="square" lIns="0" tIns="0" rIns="0" bIns="0" rtlCol="0" anchor="t"/>
          <a:lstStyle/>
          <a:p>
            <a:pPr indent="0" marL="0">
              <a:buNone/>
            </a:pPr>
            <a:r>
              <a:rPr lang="en-US" sz="3000" b="1" dirty="0">
                <a:solidFill>
                  <a:srgbClr val="FFFFFF"/>
                </a:solidFill>
                <a:latin typeface="Arial Black" pitchFamily="34" charset="0"/>
                <a:ea typeface="Arial Black" pitchFamily="34" charset="-122"/>
                <a:cs typeface="Arial Black" pitchFamily="34" charset="-120"/>
              </a:rPr>
              <a:t>One worker now outputs like a team</a:t>
            </a:r>
            <a:endParaRPr lang="en-US" sz="3000" dirty="0"/>
          </a:p>
        </p:txBody>
      </p:sp>
      <p:sp>
        <p:nvSpPr>
          <p:cNvPr id="5" name="Text 3"/>
          <p:cNvSpPr/>
          <p:nvPr/>
        </p:nvSpPr>
        <p:spPr>
          <a:xfrm>
            <a:off x="457200" y="1078992"/>
            <a:ext cx="8229600" cy="457200"/>
          </a:xfrm>
          <a:prstGeom prst="rect">
            <a:avLst/>
          </a:prstGeom>
          <a:noFill/>
          <a:ln/>
        </p:spPr>
        <p:txBody>
          <a:bodyPr wrap="square" lIns="0" tIns="0" rIns="0" bIns="0" rtlCol="0" anchor="t"/>
          <a:lstStyle/>
          <a:p>
            <a:pPr indent="0" marL="0">
              <a:buNone/>
            </a:pPr>
            <a:r>
              <a:rPr lang="en-US" sz="1300" dirty="0">
                <a:solidFill>
                  <a:srgbClr val="9A9AA0"/>
                </a:solidFill>
                <a:latin typeface="Arial" pitchFamily="34" charset="0"/>
                <a:ea typeface="Arial" pitchFamily="34" charset="-122"/>
                <a:cs typeface="Arial" pitchFamily="34" charset="-120"/>
              </a:rPr>
              <a:t>Agents change what a job is — and in 2026 the labor data started moving.</a:t>
            </a:r>
            <a:endParaRPr lang="en-US" sz="1300" dirty="0"/>
          </a:p>
        </p:txBody>
      </p:sp>
      <p:sp>
        <p:nvSpPr>
          <p:cNvPr id="6" name="Shape 4"/>
          <p:cNvSpPr/>
          <p:nvPr/>
        </p:nvSpPr>
        <p:spPr>
          <a:xfrm>
            <a:off x="457200" y="1508760"/>
            <a:ext cx="3931920" cy="2514600"/>
          </a:xfrm>
          <a:prstGeom prst="rect">
            <a:avLst/>
          </a:prstGeom>
          <a:solidFill>
            <a:srgbClr val="1E1E24"/>
          </a:solidFill>
          <a:ln w="12700">
            <a:solidFill>
              <a:srgbClr val="2A2A30"/>
            </a:solidFill>
            <a:prstDash val="dash"/>
          </a:ln>
        </p:spPr>
      </p:sp>
      <p:sp>
        <p:nvSpPr>
          <p:cNvPr id="7" name="Shape 5"/>
          <p:cNvSpPr/>
          <p:nvPr/>
        </p:nvSpPr>
        <p:spPr>
          <a:xfrm>
            <a:off x="457200" y="1508760"/>
            <a:ext cx="310896" cy="36576"/>
          </a:xfrm>
          <a:prstGeom prst="rect">
            <a:avLst/>
          </a:prstGeom>
          <a:solidFill>
            <a:srgbClr val="2BC4C4"/>
          </a:solidFill>
          <a:ln/>
        </p:spPr>
      </p:sp>
      <p:sp>
        <p:nvSpPr>
          <p:cNvPr id="8" name="Shape 6"/>
          <p:cNvSpPr/>
          <p:nvPr/>
        </p:nvSpPr>
        <p:spPr>
          <a:xfrm>
            <a:off x="457200" y="1508760"/>
            <a:ext cx="36576" cy="310896"/>
          </a:xfrm>
          <a:prstGeom prst="rect">
            <a:avLst/>
          </a:prstGeom>
          <a:solidFill>
            <a:srgbClr val="2BC4C4"/>
          </a:solidFill>
          <a:ln/>
        </p:spPr>
      </p:sp>
      <p:sp>
        <p:nvSpPr>
          <p:cNvPr id="9" name="Shape 7"/>
          <p:cNvSpPr/>
          <p:nvPr/>
        </p:nvSpPr>
        <p:spPr>
          <a:xfrm>
            <a:off x="4078224" y="3986784"/>
            <a:ext cx="310896" cy="36576"/>
          </a:xfrm>
          <a:prstGeom prst="rect">
            <a:avLst/>
          </a:prstGeom>
          <a:solidFill>
            <a:srgbClr val="2BC4C4"/>
          </a:solidFill>
          <a:ln/>
        </p:spPr>
      </p:sp>
      <p:sp>
        <p:nvSpPr>
          <p:cNvPr id="10" name="Shape 8"/>
          <p:cNvSpPr/>
          <p:nvPr/>
        </p:nvSpPr>
        <p:spPr>
          <a:xfrm>
            <a:off x="4352544" y="3712464"/>
            <a:ext cx="36576" cy="310896"/>
          </a:xfrm>
          <a:prstGeom prst="rect">
            <a:avLst/>
          </a:prstGeom>
          <a:solidFill>
            <a:srgbClr val="2BC4C4"/>
          </a:solidFill>
          <a:ln/>
        </p:spPr>
      </p:sp>
      <p:sp>
        <p:nvSpPr>
          <p:cNvPr id="11" name="Text 9"/>
          <p:cNvSpPr/>
          <p:nvPr/>
        </p:nvSpPr>
        <p:spPr>
          <a:xfrm>
            <a:off x="640080" y="1655064"/>
            <a:ext cx="3566160" cy="219456"/>
          </a:xfrm>
          <a:prstGeom prst="rect">
            <a:avLst/>
          </a:prstGeom>
          <a:noFill/>
          <a:ln/>
        </p:spPr>
        <p:txBody>
          <a:bodyPr wrap="square" lIns="0" tIns="0" rIns="0" bIns="0" rtlCol="0" anchor="ctr"/>
          <a:lstStyle/>
          <a:p>
            <a:pPr indent="0" marL="0">
              <a:buNone/>
            </a:pPr>
            <a:r>
              <a:rPr lang="en-US" sz="900" b="1" spc="200" kern="0" dirty="0">
                <a:solidFill>
                  <a:srgbClr val="2BC4C4"/>
                </a:solidFill>
                <a:latin typeface="Arial" pitchFamily="34" charset="0"/>
                <a:ea typeface="Arial" pitchFamily="34" charset="-122"/>
                <a:cs typeface="Arial" pitchFamily="34" charset="-120"/>
              </a:rPr>
              <a:t>IMAGE  ·  orchestrator fanout</a:t>
            </a:r>
            <a:endParaRPr lang="en-US" sz="900" dirty="0"/>
          </a:p>
        </p:txBody>
      </p:sp>
      <p:sp>
        <p:nvSpPr>
          <p:cNvPr id="12" name="Text 10"/>
          <p:cNvSpPr/>
          <p:nvPr/>
        </p:nvSpPr>
        <p:spPr>
          <a:xfrm>
            <a:off x="640080" y="1929384"/>
            <a:ext cx="3566160" cy="1911096"/>
          </a:xfrm>
          <a:prstGeom prst="rect">
            <a:avLst/>
          </a:prstGeom>
          <a:noFill/>
          <a:ln/>
        </p:spPr>
        <p:txBody>
          <a:bodyPr wrap="square" lIns="0" tIns="0" rIns="0" bIns="0" rtlCol="0" anchor="t"/>
          <a:lstStyle/>
          <a:p>
            <a:pPr indent="0" marL="0">
              <a:buNone/>
            </a:pPr>
            <a:r>
              <a:rPr lang="en-US" sz="700" i="1" dirty="0">
                <a:solidFill>
                  <a:srgbClr val="8A8A90"/>
                </a:solidFill>
                <a:latin typeface="Arial" pitchFamily="34" charset="0"/>
                <a:ea typeface="Arial" pitchFamily="34" charset="-122"/>
                <a:cs typeface="Arial" pitchFamily="34" charset="-120"/>
              </a:rPr>
              <a:t>IMAGE PROMPT → save as orchestrator-fanout.png</a:t>
            </a:r>
            <a:endParaRPr lang="en-US" sz="700" dirty="0"/>
          </a:p>
          <a:p>
            <a:pPr indent="0" marL="0">
              <a:buNone/>
            </a:pPr>
            <a:r>
              <a:rPr lang="en-US" sz="850" dirty="0">
                <a:solidFill>
                  <a:srgbClr val="C9C9CE"/>
                </a:solidFill>
                <a:latin typeface="Arial" pitchFamily="34" charset="0"/>
                <a:ea typeface="Arial" pitchFamily="34" charset="-122"/>
                <a:cs typeface="Arial" pitchFamily="34" charset="-120"/>
              </a:rPr>
              <a:t>Clean flat infographic illustration, data-visualization aesthetic, modern and informational: a single stylized human-silhouette icon inside a bright teal (#2BC4C4) circle on the left; from it, four smooth curved lines fan out to the right, each ending at a smaller circular icon: a magnifying glass (research), a gear/cog (build), a checkmark in a shield (test), a paper airplane (ship); each smaller icon outlined in teal with dark fill (#1C1C20); subtle concentric rings emanate from the central icon; generous spacing. Deep near-black (#111114) background; clean vector-style shapes with soft gradients; muted institutional palette with selective bright accents; generous whitespace; organized layout with clear visual hierarchy; no photorealism, no dramatic lighting, no 3D renders; no text, no words, no logos, no watermark.</a:t>
            </a:r>
            <a:endParaRPr lang="en-US" sz="700" dirty="0"/>
          </a:p>
        </p:txBody>
      </p:sp>
      <p:sp>
        <p:nvSpPr>
          <p:cNvPr id="13" name="Shape 11"/>
          <p:cNvSpPr/>
          <p:nvPr/>
        </p:nvSpPr>
        <p:spPr>
          <a:xfrm>
            <a:off x="4572000" y="1645920"/>
            <a:ext cx="64008" cy="731520"/>
          </a:xfrm>
          <a:prstGeom prst="rect">
            <a:avLst/>
          </a:prstGeom>
          <a:solidFill>
            <a:srgbClr val="E5484D"/>
          </a:solidFill>
          <a:ln/>
        </p:spPr>
      </p:sp>
      <p:sp>
        <p:nvSpPr>
          <p:cNvPr id="14" name="Text 12"/>
          <p:cNvSpPr/>
          <p:nvPr/>
        </p:nvSpPr>
        <p:spPr>
          <a:xfrm>
            <a:off x="4727448" y="1645920"/>
            <a:ext cx="3959352" cy="749808"/>
          </a:xfrm>
          <a:prstGeom prst="rect">
            <a:avLst/>
          </a:prstGeom>
          <a:noFill/>
          <a:ln/>
        </p:spPr>
        <p:txBody>
          <a:bodyPr wrap="square" lIns="0" tIns="0" rIns="0" bIns="0" rtlCol="0" anchor="t"/>
          <a:lstStyle/>
          <a:p>
            <a:pPr indent="0" marL="0">
              <a:buNone/>
            </a:pPr>
            <a:r>
              <a:rPr lang="en-US" sz="950" b="1" dirty="0">
                <a:solidFill>
                  <a:srgbClr val="FFFFFF"/>
                </a:solidFill>
                <a:latin typeface="Arial" pitchFamily="34" charset="0"/>
                <a:ea typeface="Arial" pitchFamily="34" charset="-122"/>
                <a:cs typeface="Arial" pitchFamily="34" charset="-120"/>
              </a:rPr>
              <a:t>AI is now the #1 stated reason for layoffs.  </a:t>
            </a:r>
            <a:endParaRPr lang="en-US" sz="950" dirty="0"/>
          </a:p>
          <a:p>
            <a:pPr indent="0" marL="0">
              <a:buNone/>
            </a:pPr>
            <a:r>
              <a:rPr lang="en-US" sz="850" dirty="0">
                <a:solidFill>
                  <a:srgbClr val="C9C9CE"/>
                </a:solidFill>
                <a:latin typeface="Arial" pitchFamily="34" charset="0"/>
                <a:ea typeface="Arial" pitchFamily="34" charset="-122"/>
                <a:cs typeface="Arial" pitchFamily="34" charset="-120"/>
              </a:rPr>
              <a:t>Cited in ~40% of May’s announced US cuts; 87.7k AI-attributed YTD vs 54.8k in all of 2025 (Challenger; self-reported).</a:t>
            </a:r>
            <a:endParaRPr lang="en-US" sz="950" dirty="0"/>
          </a:p>
        </p:txBody>
      </p:sp>
      <p:sp>
        <p:nvSpPr>
          <p:cNvPr id="15" name="Shape 13"/>
          <p:cNvSpPr/>
          <p:nvPr/>
        </p:nvSpPr>
        <p:spPr>
          <a:xfrm>
            <a:off x="4572000" y="2450592"/>
            <a:ext cx="64008" cy="731520"/>
          </a:xfrm>
          <a:prstGeom prst="rect">
            <a:avLst/>
          </a:prstGeom>
          <a:solidFill>
            <a:srgbClr val="F6693D"/>
          </a:solidFill>
          <a:ln/>
        </p:spPr>
      </p:sp>
      <p:sp>
        <p:nvSpPr>
          <p:cNvPr id="16" name="Text 14"/>
          <p:cNvSpPr/>
          <p:nvPr/>
        </p:nvSpPr>
        <p:spPr>
          <a:xfrm>
            <a:off x="4727448" y="2450592"/>
            <a:ext cx="3959352" cy="749808"/>
          </a:xfrm>
          <a:prstGeom prst="rect">
            <a:avLst/>
          </a:prstGeom>
          <a:noFill/>
          <a:ln/>
        </p:spPr>
        <p:txBody>
          <a:bodyPr wrap="square" lIns="0" tIns="0" rIns="0" bIns="0" rtlCol="0" anchor="t"/>
          <a:lstStyle/>
          <a:p>
            <a:pPr indent="0" marL="0">
              <a:buNone/>
            </a:pPr>
            <a:r>
              <a:rPr lang="en-US" sz="950" b="1" dirty="0">
                <a:solidFill>
                  <a:srgbClr val="FFFFFF"/>
                </a:solidFill>
                <a:latin typeface="Arial" pitchFamily="34" charset="0"/>
                <a:ea typeface="Arial" pitchFamily="34" charset="-122"/>
                <a:cs typeface="Arial" pitchFamily="34" charset="-120"/>
              </a:rPr>
              <a:t>The entry level takes the hit.  </a:t>
            </a:r>
            <a:endParaRPr lang="en-US" sz="950" dirty="0"/>
          </a:p>
          <a:p>
            <a:pPr indent="0" marL="0">
              <a:buNone/>
            </a:pPr>
            <a:r>
              <a:rPr lang="en-US" sz="850" dirty="0">
                <a:solidFill>
                  <a:srgbClr val="C9C9CE"/>
                </a:solidFill>
                <a:latin typeface="Arial" pitchFamily="34" charset="0"/>
                <a:ea typeface="Arial" pitchFamily="34" charset="-122"/>
                <a:cs typeface="Arial" pitchFamily="34" charset="-120"/>
              </a:rPr>
              <a:t>Recent-grad unemployment 5.6% vs 4.2% overall (NY Fed); the youngest AI-exposed cohort’s payrolls are declining.</a:t>
            </a:r>
            <a:endParaRPr lang="en-US" sz="950" dirty="0"/>
          </a:p>
        </p:txBody>
      </p:sp>
      <p:sp>
        <p:nvSpPr>
          <p:cNvPr id="17" name="Shape 15"/>
          <p:cNvSpPr/>
          <p:nvPr/>
        </p:nvSpPr>
        <p:spPr>
          <a:xfrm>
            <a:off x="4572000" y="3255264"/>
            <a:ext cx="64008" cy="731520"/>
          </a:xfrm>
          <a:prstGeom prst="rect">
            <a:avLst/>
          </a:prstGeom>
          <a:solidFill>
            <a:srgbClr val="FFB800"/>
          </a:solidFill>
          <a:ln/>
        </p:spPr>
      </p:sp>
      <p:sp>
        <p:nvSpPr>
          <p:cNvPr id="18" name="Text 16"/>
          <p:cNvSpPr/>
          <p:nvPr/>
        </p:nvSpPr>
        <p:spPr>
          <a:xfrm>
            <a:off x="4727448" y="3255264"/>
            <a:ext cx="3959352" cy="749808"/>
          </a:xfrm>
          <a:prstGeom prst="rect">
            <a:avLst/>
          </a:prstGeom>
          <a:noFill/>
          <a:ln/>
        </p:spPr>
        <p:txBody>
          <a:bodyPr wrap="square" lIns="0" tIns="0" rIns="0" bIns="0" rtlCol="0" anchor="t"/>
          <a:lstStyle/>
          <a:p>
            <a:pPr indent="0" marL="0">
              <a:buNone/>
            </a:pPr>
            <a:r>
              <a:rPr lang="en-US" sz="950" b="1" dirty="0">
                <a:solidFill>
                  <a:srgbClr val="FFFFFF"/>
                </a:solidFill>
                <a:latin typeface="Arial" pitchFamily="34" charset="0"/>
                <a:ea typeface="Arial" pitchFamily="34" charset="-122"/>
                <a:cs typeface="Arial" pitchFamily="34" charset="-120"/>
              </a:rPr>
              <a:t>The job that remains is orchestration.  </a:t>
            </a:r>
            <a:endParaRPr lang="en-US" sz="950" dirty="0"/>
          </a:p>
          <a:p>
            <a:pPr indent="0" marL="0">
              <a:buNone/>
            </a:pPr>
            <a:r>
              <a:rPr lang="en-US" sz="850" dirty="0">
                <a:solidFill>
                  <a:srgbClr val="C9C9CE"/>
                </a:solidFill>
                <a:latin typeface="Arial" pitchFamily="34" charset="0"/>
                <a:ea typeface="Arial" pitchFamily="34" charset="-122"/>
                <a:cs typeface="Arial" pitchFamily="34" charset="-120"/>
              </a:rPr>
              <a:t>Comp follows loop design, not task execution — and displacement fear fuels the slide-6 ownership debate.</a:t>
            </a:r>
            <a:endParaRPr lang="en-US" sz="950" dirty="0"/>
          </a:p>
        </p:txBody>
      </p:sp>
      <p:sp>
        <p:nvSpPr>
          <p:cNvPr id="19" name="Text 17"/>
          <p:cNvSpPr/>
          <p:nvPr/>
        </p:nvSpPr>
        <p:spPr>
          <a:xfrm>
            <a:off x="457200" y="4160520"/>
            <a:ext cx="8229600" cy="384048"/>
          </a:xfrm>
          <a:prstGeom prst="rect">
            <a:avLst/>
          </a:prstGeom>
          <a:noFill/>
          <a:ln/>
        </p:spPr>
        <p:txBody>
          <a:bodyPr wrap="square" lIns="0" tIns="0" rIns="0" bIns="0" rtlCol="0" anchor="t"/>
          <a:lstStyle/>
          <a:p>
            <a:pPr indent="0" marL="0">
              <a:buNone/>
            </a:pPr>
            <a:r>
              <a:rPr lang="en-US" sz="700" dirty="0">
                <a:solidFill>
                  <a:srgbClr val="8A8A90"/>
                </a:solidFill>
                <a:latin typeface="Arial" pitchFamily="34" charset="0"/>
                <a:ea typeface="Arial" pitchFamily="34" charset="-122"/>
                <a:cs typeface="Arial" pitchFamily="34" charset="-120"/>
              </a:rPr>
              <a:t>Source: Challenger, Gray &amp; Christmas via CNBC (Jun 5, 2026) &amp; CBS News; NY Fed via CNBC; framing: internal strategic review (Jun 2026).</a:t>
            </a:r>
            <a:endParaRPr lang="en-US" sz="700" dirty="0"/>
          </a:p>
        </p:txBody>
      </p:sp>
      <p:sp>
        <p:nvSpPr>
          <p:cNvPr id="20" name="Shape 18"/>
          <p:cNvSpPr/>
          <p:nvPr/>
        </p:nvSpPr>
        <p:spPr>
          <a:xfrm>
            <a:off x="0" y="4526280"/>
            <a:ext cx="9144000" cy="617220"/>
          </a:xfrm>
          <a:prstGeom prst="rect">
            <a:avLst/>
          </a:prstGeom>
          <a:solidFill>
            <a:srgbClr val="000000"/>
          </a:solidFill>
          <a:ln/>
        </p:spPr>
      </p:sp>
      <p:sp>
        <p:nvSpPr>
          <p:cNvPr id="21" name="Shape 19"/>
          <p:cNvSpPr/>
          <p:nvPr/>
        </p:nvSpPr>
        <p:spPr>
          <a:xfrm>
            <a:off x="0" y="4526280"/>
            <a:ext cx="9144000" cy="0"/>
          </a:xfrm>
          <a:prstGeom prst="line">
            <a:avLst/>
          </a:prstGeom>
          <a:noFill/>
          <a:ln w="6350">
            <a:solidFill>
              <a:srgbClr val="2A2A30"/>
            </a:solidFill>
            <a:prstDash val="solid"/>
          </a:ln>
        </p:spPr>
      </p:sp>
      <p:sp>
        <p:nvSpPr>
          <p:cNvPr id="22" name="Text 20"/>
          <p:cNvSpPr/>
          <p:nvPr/>
        </p:nvSpPr>
        <p:spPr>
          <a:xfrm>
            <a:off x="1371600" y="4572000"/>
            <a:ext cx="6583680" cy="502920"/>
          </a:xfrm>
          <a:prstGeom prst="rect">
            <a:avLst/>
          </a:prstGeom>
          <a:noFill/>
          <a:ln/>
        </p:spPr>
        <p:txBody>
          <a:bodyPr wrap="square" rtlCol="0" anchor="ctr"/>
          <a:lstStyle/>
          <a:p>
            <a:pPr algn="ctr" indent="0" marL="0">
              <a:buNone/>
            </a:pPr>
            <a:r>
              <a:rPr lang="en-US" sz="650" b="1" dirty="0">
                <a:solidFill>
                  <a:srgbClr val="9A9AA0"/>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23" name="Text 21"/>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9A9AA0"/>
                </a:solidFill>
                <a:latin typeface="Arial" pitchFamily="34" charset="0"/>
                <a:ea typeface="Arial" pitchFamily="34" charset="-122"/>
                <a:cs typeface="Arial"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11114"/>
        </a:solidFill>
      </p:bgPr>
    </p:bg>
    <p:spTree>
      <p:nvGrpSpPr>
        <p:cNvPr id="1" name=""/>
        <p:cNvGrpSpPr/>
        <p:nvPr/>
      </p:nvGrpSpPr>
      <p:grpSpPr>
        <a:xfrm>
          <a:off x="0" y="0"/>
          <a:ext cx="0" cy="0"/>
          <a:chOff x="0" y="0"/>
          <a:chExt cx="0" cy="0"/>
        </a:xfrm>
      </p:grpSpPr>
      <p:sp>
        <p:nvSpPr>
          <p:cNvPr id="2" name="Shape 0"/>
          <p:cNvSpPr/>
          <p:nvPr/>
        </p:nvSpPr>
        <p:spPr>
          <a:xfrm>
            <a:off x="457200" y="274320"/>
            <a:ext cx="274320" cy="45720"/>
          </a:xfrm>
          <a:prstGeom prst="rect">
            <a:avLst/>
          </a:prstGeom>
          <a:solidFill>
            <a:srgbClr val="F6693D"/>
          </a:solidFill>
          <a:ln/>
        </p:spPr>
      </p:sp>
      <p:sp>
        <p:nvSpPr>
          <p:cNvPr id="3" name="Text 1"/>
          <p:cNvSpPr/>
          <p:nvPr/>
        </p:nvSpPr>
        <p:spPr>
          <a:xfrm>
            <a:off x="841248" y="155448"/>
            <a:ext cx="5943600" cy="274320"/>
          </a:xfrm>
          <a:prstGeom prst="rect">
            <a:avLst/>
          </a:prstGeom>
          <a:noFill/>
          <a:ln/>
        </p:spPr>
        <p:txBody>
          <a:bodyPr wrap="square" lIns="0" tIns="0" rIns="0" bIns="0" rtlCol="0" anchor="ctr"/>
          <a:lstStyle/>
          <a:p>
            <a:pPr indent="0" marL="0">
              <a:buNone/>
            </a:pPr>
            <a:r>
              <a:rPr lang="en-US" sz="900" b="1" spc="300" kern="0" dirty="0">
                <a:solidFill>
                  <a:srgbClr val="F6693D"/>
                </a:solidFill>
                <a:latin typeface="Arial" pitchFamily="34" charset="0"/>
                <a:ea typeface="Arial" pitchFamily="34" charset="-122"/>
                <a:cs typeface="Arial" pitchFamily="34" charset="-120"/>
              </a:rPr>
              <a:t>02  ·  EARLY MARKET SIGNALS  ·  FINANCING</a:t>
            </a:r>
            <a:endParaRPr lang="en-US" sz="900" dirty="0"/>
          </a:p>
        </p:txBody>
      </p:sp>
      <p:sp>
        <p:nvSpPr>
          <p:cNvPr id="4" name="Text 2"/>
          <p:cNvSpPr/>
          <p:nvPr/>
        </p:nvSpPr>
        <p:spPr>
          <a:xfrm>
            <a:off x="457200" y="438912"/>
            <a:ext cx="8229600" cy="640080"/>
          </a:xfrm>
          <a:prstGeom prst="rect">
            <a:avLst/>
          </a:prstGeom>
          <a:noFill/>
          <a:ln/>
        </p:spPr>
        <p:txBody>
          <a:bodyPr wrap="square" lIns="0" tIns="0" rIns="0" bIns="0" rtlCol="0" anchor="t"/>
          <a:lstStyle/>
          <a:p>
            <a:pPr indent="0" marL="0">
              <a:buNone/>
            </a:pPr>
            <a:r>
              <a:rPr lang="en-US" sz="3000" b="1" dirty="0">
                <a:solidFill>
                  <a:srgbClr val="FFFFFF"/>
                </a:solidFill>
                <a:latin typeface="Arial Black" pitchFamily="34" charset="0"/>
                <a:ea typeface="Arial Black" pitchFamily="34" charset="-122"/>
                <a:cs typeface="Arial Black" pitchFamily="34" charset="-120"/>
              </a:rPr>
              <a:t>The buildout moved to the bond market</a:t>
            </a:r>
            <a:endParaRPr lang="en-US" sz="3000" dirty="0"/>
          </a:p>
        </p:txBody>
      </p:sp>
      <p:sp>
        <p:nvSpPr>
          <p:cNvPr id="5" name="Text 3"/>
          <p:cNvSpPr/>
          <p:nvPr/>
        </p:nvSpPr>
        <p:spPr>
          <a:xfrm>
            <a:off x="457200" y="1078992"/>
            <a:ext cx="8229600" cy="457200"/>
          </a:xfrm>
          <a:prstGeom prst="rect">
            <a:avLst/>
          </a:prstGeom>
          <a:noFill/>
          <a:ln/>
        </p:spPr>
        <p:txBody>
          <a:bodyPr wrap="square" lIns="0" tIns="0" rIns="0" bIns="0" rtlCol="0" anchor="t"/>
          <a:lstStyle/>
          <a:p>
            <a:pPr indent="0" marL="0">
              <a:buNone/>
            </a:pPr>
            <a:r>
              <a:rPr lang="en-US" sz="1300" dirty="0">
                <a:solidFill>
                  <a:srgbClr val="9A9AA0"/>
                </a:solidFill>
                <a:latin typeface="Arial" pitchFamily="34" charset="0"/>
                <a:ea typeface="Arial" pitchFamily="34" charset="-122"/>
                <a:cs typeface="Arial" pitchFamily="34" charset="-120"/>
              </a:rPr>
              <a:t>Capex outgrew cash flow — so $105B+ of IG mega-deals filled the gap in six months.</a:t>
            </a:r>
            <a:endParaRPr lang="en-US" sz="1300" dirty="0"/>
          </a:p>
        </p:txBody>
      </p:sp>
      <p:sp>
        <p:nvSpPr>
          <p:cNvPr id="6" name="Text 4"/>
          <p:cNvSpPr/>
          <p:nvPr/>
        </p:nvSpPr>
        <p:spPr>
          <a:xfrm>
            <a:off x="457200" y="1627632"/>
            <a:ext cx="2194560" cy="182880"/>
          </a:xfrm>
          <a:prstGeom prst="rect">
            <a:avLst/>
          </a:prstGeom>
          <a:noFill/>
          <a:ln/>
        </p:spPr>
        <p:txBody>
          <a:bodyPr wrap="square" lIns="0" tIns="0" rIns="0" bIns="0" rtlCol="0" anchor="ctr"/>
          <a:lstStyle/>
          <a:p>
            <a:pPr indent="0" marL="0">
              <a:buNone/>
            </a:pPr>
            <a:r>
              <a:rPr lang="en-US" sz="800" b="1" spc="200" kern="0" dirty="0">
                <a:solidFill>
                  <a:srgbClr val="F6693D"/>
                </a:solidFill>
                <a:latin typeface="Arial" pitchFamily="34" charset="0"/>
                <a:ea typeface="Arial" pitchFamily="34" charset="-122"/>
                <a:cs typeface="Arial" pitchFamily="34" charset="-120"/>
              </a:rPr>
              <a:t>THE GAP</a:t>
            </a:r>
            <a:endParaRPr lang="en-US" sz="800" dirty="0"/>
          </a:p>
        </p:txBody>
      </p:sp>
      <p:sp>
        <p:nvSpPr>
          <p:cNvPr id="7" name="Text 5"/>
          <p:cNvSpPr/>
          <p:nvPr/>
        </p:nvSpPr>
        <p:spPr>
          <a:xfrm>
            <a:off x="457200" y="1865376"/>
            <a:ext cx="2286000" cy="384048"/>
          </a:xfrm>
          <a:prstGeom prst="rect">
            <a:avLst/>
          </a:prstGeom>
          <a:noFill/>
          <a:ln/>
        </p:spPr>
        <p:txBody>
          <a:bodyPr wrap="square" lIns="0" tIns="0" rIns="0" bIns="0" rtlCol="0" anchor="ctr"/>
          <a:lstStyle/>
          <a:p>
            <a:pPr indent="0" marL="0">
              <a:buNone/>
            </a:pPr>
            <a:r>
              <a:rPr lang="en-US" sz="2400" b="1" dirty="0">
                <a:solidFill>
                  <a:srgbClr val="F6693D"/>
                </a:solidFill>
                <a:latin typeface="Arial Black" pitchFamily="34" charset="0"/>
                <a:ea typeface="Arial Black" pitchFamily="34" charset="-122"/>
                <a:cs typeface="Arial Black" pitchFamily="34" charset="-120"/>
              </a:rPr>
              <a:t>~$705B</a:t>
            </a:r>
            <a:endParaRPr lang="en-US" sz="2400" dirty="0"/>
          </a:p>
        </p:txBody>
      </p:sp>
      <p:sp>
        <p:nvSpPr>
          <p:cNvPr id="8" name="Text 6"/>
          <p:cNvSpPr/>
          <p:nvPr/>
        </p:nvSpPr>
        <p:spPr>
          <a:xfrm>
            <a:off x="457200" y="2267712"/>
            <a:ext cx="2286000" cy="438912"/>
          </a:xfrm>
          <a:prstGeom prst="rect">
            <a:avLst/>
          </a:prstGeom>
          <a:noFill/>
          <a:ln/>
        </p:spPr>
        <p:txBody>
          <a:bodyPr wrap="square" lIns="0" tIns="0" rIns="0" bIns="0" rtlCol="0" anchor="t"/>
          <a:lstStyle/>
          <a:p>
            <a:pPr indent="0" marL="0">
              <a:buNone/>
            </a:pPr>
            <a:r>
              <a:rPr lang="en-US" sz="750" dirty="0">
                <a:solidFill>
                  <a:srgbClr val="9A9AA0"/>
                </a:solidFill>
                <a:latin typeface="Arial" pitchFamily="34" charset="0"/>
                <a:ea typeface="Arial" pitchFamily="34" charset="-122"/>
                <a:cs typeface="Arial" pitchFamily="34" charset="-120"/>
              </a:rPr>
              <a:t>Big-4 guided 2026 capex, +72% YoY — it consumes ~94% of operating cash flow.</a:t>
            </a:r>
            <a:endParaRPr lang="en-US" sz="750" dirty="0"/>
          </a:p>
        </p:txBody>
      </p:sp>
      <p:sp>
        <p:nvSpPr>
          <p:cNvPr id="9" name="Text 7"/>
          <p:cNvSpPr/>
          <p:nvPr/>
        </p:nvSpPr>
        <p:spPr>
          <a:xfrm>
            <a:off x="457200" y="2743200"/>
            <a:ext cx="2377440" cy="640080"/>
          </a:xfrm>
          <a:prstGeom prst="rect">
            <a:avLst/>
          </a:prstGeom>
          <a:noFill/>
          <a:ln/>
        </p:spPr>
        <p:txBody>
          <a:bodyPr wrap="square" lIns="0" tIns="0" rIns="0" bIns="0" rtlCol="0" anchor="t"/>
          <a:lstStyle/>
          <a:p>
            <a:pPr indent="0" marL="0">
              <a:buNone/>
            </a:pPr>
            <a:r>
              <a:rPr lang="en-US" sz="850" dirty="0">
                <a:solidFill>
                  <a:srgbClr val="9A9AA0"/>
                </a:solidFill>
                <a:latin typeface="Arial" pitchFamily="34" charset="0"/>
                <a:ea typeface="Arial" pitchFamily="34" charset="-122"/>
                <a:cs typeface="Arial" pitchFamily="34" charset="-120"/>
              </a:rPr>
              <a:t>Big-4 FCF at a decade low; Amazon goes negative; Alphabet FCF ~−90%.</a:t>
            </a:r>
            <a:endParaRPr lang="en-US" sz="850" dirty="0"/>
          </a:p>
        </p:txBody>
      </p:sp>
      <p:sp>
        <p:nvSpPr>
          <p:cNvPr id="10" name="Text 8"/>
          <p:cNvSpPr/>
          <p:nvPr/>
        </p:nvSpPr>
        <p:spPr>
          <a:xfrm>
            <a:off x="3063240" y="1627632"/>
            <a:ext cx="3246120" cy="256032"/>
          </a:xfrm>
          <a:prstGeom prst="rect">
            <a:avLst/>
          </a:prstGeom>
          <a:noFill/>
          <a:ln/>
        </p:spPr>
        <p:txBody>
          <a:bodyPr wrap="square" lIns="0" tIns="0" rIns="0" bIns="0" rtlCol="0" anchor="b"/>
          <a:lstStyle/>
          <a:p>
            <a:pPr indent="0" marL="0">
              <a:buNone/>
            </a:pPr>
            <a:r>
              <a:rPr lang="en-US" sz="1300" b="1" dirty="0">
                <a:solidFill>
                  <a:srgbClr val="E8E8EA"/>
                </a:solidFill>
                <a:latin typeface="Arial" pitchFamily="34" charset="0"/>
                <a:ea typeface="Arial" pitchFamily="34" charset="-122"/>
                <a:cs typeface="Arial" pitchFamily="34" charset="-120"/>
              </a:rPr>
              <a:t>The issuance wave — $105B+ in six months</a:t>
            </a:r>
            <a:endParaRPr lang="en-US" sz="1300" dirty="0"/>
          </a:p>
        </p:txBody>
      </p:sp>
      <p:sp>
        <p:nvSpPr>
          <p:cNvPr id="11" name="Shape 9"/>
          <p:cNvSpPr/>
          <p:nvPr/>
        </p:nvSpPr>
        <p:spPr>
          <a:xfrm>
            <a:off x="3063240" y="1929384"/>
            <a:ext cx="3246120" cy="0"/>
          </a:xfrm>
          <a:prstGeom prst="line">
            <a:avLst/>
          </a:prstGeom>
          <a:noFill/>
          <a:ln w="12700">
            <a:solidFill>
              <a:srgbClr val="F6693D"/>
            </a:solidFill>
            <a:prstDash val="solid"/>
          </a:ln>
        </p:spPr>
      </p:sp>
      <p:sp>
        <p:nvSpPr>
          <p:cNvPr id="12" name="Shape 10"/>
          <p:cNvSpPr/>
          <p:nvPr/>
        </p:nvSpPr>
        <p:spPr>
          <a:xfrm>
            <a:off x="3200400" y="2697480"/>
            <a:ext cx="2697480" cy="0"/>
          </a:xfrm>
          <a:prstGeom prst="line">
            <a:avLst/>
          </a:prstGeom>
          <a:noFill/>
          <a:ln w="19050">
            <a:solidFill>
              <a:srgbClr val="2A2A30"/>
            </a:solidFill>
            <a:prstDash val="solid"/>
          </a:ln>
        </p:spPr>
      </p:sp>
      <p:sp>
        <p:nvSpPr>
          <p:cNvPr id="13" name="Shape 11"/>
          <p:cNvSpPr/>
          <p:nvPr/>
        </p:nvSpPr>
        <p:spPr>
          <a:xfrm>
            <a:off x="3282696" y="2642616"/>
            <a:ext cx="109728" cy="109728"/>
          </a:xfrm>
          <a:prstGeom prst="ellipse">
            <a:avLst/>
          </a:prstGeom>
          <a:solidFill>
            <a:srgbClr val="F6693D"/>
          </a:solidFill>
          <a:ln/>
        </p:spPr>
      </p:sp>
      <p:sp>
        <p:nvSpPr>
          <p:cNvPr id="14" name="Text 12"/>
          <p:cNvSpPr/>
          <p:nvPr/>
        </p:nvSpPr>
        <p:spPr>
          <a:xfrm>
            <a:off x="3017520" y="2249424"/>
            <a:ext cx="640080" cy="310896"/>
          </a:xfrm>
          <a:prstGeom prst="rect">
            <a:avLst/>
          </a:prstGeom>
          <a:noFill/>
          <a:ln/>
        </p:spPr>
        <p:txBody>
          <a:bodyPr wrap="square" lIns="0" tIns="0" rIns="0" bIns="0" rtlCol="0" anchor="ctr"/>
          <a:lstStyle/>
          <a:p>
            <a:pPr algn="ctr" indent="0" marL="0">
              <a:buNone/>
            </a:pPr>
            <a:r>
              <a:rPr lang="en-US" sz="1150" b="1" dirty="0">
                <a:solidFill>
                  <a:srgbClr val="F6693D"/>
                </a:solidFill>
                <a:latin typeface="Arial Black" pitchFamily="34" charset="0"/>
                <a:ea typeface="Arial Black" pitchFamily="34" charset="-122"/>
                <a:cs typeface="Arial Black" pitchFamily="34" charset="-120"/>
              </a:rPr>
              <a:t>$18B</a:t>
            </a:r>
            <a:endParaRPr lang="en-US" sz="1150" dirty="0"/>
          </a:p>
        </p:txBody>
      </p:sp>
      <p:sp>
        <p:nvSpPr>
          <p:cNvPr id="15" name="Text 13"/>
          <p:cNvSpPr/>
          <p:nvPr/>
        </p:nvSpPr>
        <p:spPr>
          <a:xfrm>
            <a:off x="3017520" y="2834640"/>
            <a:ext cx="640080" cy="457200"/>
          </a:xfrm>
          <a:prstGeom prst="rect">
            <a:avLst/>
          </a:prstGeom>
          <a:noFill/>
          <a:ln/>
        </p:spPr>
        <p:txBody>
          <a:bodyPr wrap="square" lIns="0" tIns="0" rIns="0" bIns="0" rtlCol="0" anchor="t"/>
          <a:lstStyle/>
          <a:p>
            <a:pPr algn="ctr" indent="0" marL="0">
              <a:buNone/>
            </a:pPr>
            <a:r>
              <a:rPr lang="en-US" sz="750" b="1" dirty="0">
                <a:solidFill>
                  <a:srgbClr val="FFFFFF"/>
                </a:solidFill>
                <a:latin typeface="Arial" pitchFamily="34" charset="0"/>
                <a:ea typeface="Arial" pitchFamily="34" charset="-122"/>
                <a:cs typeface="Arial" pitchFamily="34" charset="-120"/>
              </a:rPr>
              <a:t>Oracle</a:t>
            </a:r>
            <a:endParaRPr lang="en-US" sz="750" dirty="0"/>
          </a:p>
          <a:p>
            <a:pPr algn="ctr" indent="0" marL="0">
              <a:buNone/>
            </a:pPr>
            <a:r>
              <a:rPr lang="en-US" sz="700" dirty="0">
                <a:solidFill>
                  <a:srgbClr val="9A9AA0"/>
                </a:solidFill>
                <a:latin typeface="Arial" pitchFamily="34" charset="0"/>
                <a:ea typeface="Arial" pitchFamily="34" charset="-122"/>
                <a:cs typeface="Arial" pitchFamily="34" charset="-120"/>
              </a:rPr>
              <a:t>Sep ’25</a:t>
            </a:r>
            <a:endParaRPr lang="en-US" sz="750" dirty="0"/>
          </a:p>
        </p:txBody>
      </p:sp>
      <p:sp>
        <p:nvSpPr>
          <p:cNvPr id="16" name="Shape 14"/>
          <p:cNvSpPr/>
          <p:nvPr/>
        </p:nvSpPr>
        <p:spPr>
          <a:xfrm>
            <a:off x="3858768" y="2642616"/>
            <a:ext cx="109728" cy="109728"/>
          </a:xfrm>
          <a:prstGeom prst="ellipse">
            <a:avLst/>
          </a:prstGeom>
          <a:solidFill>
            <a:srgbClr val="F6693D"/>
          </a:solidFill>
          <a:ln/>
        </p:spPr>
      </p:sp>
      <p:sp>
        <p:nvSpPr>
          <p:cNvPr id="17" name="Text 15"/>
          <p:cNvSpPr/>
          <p:nvPr/>
        </p:nvSpPr>
        <p:spPr>
          <a:xfrm>
            <a:off x="3593592" y="2249424"/>
            <a:ext cx="640080" cy="310896"/>
          </a:xfrm>
          <a:prstGeom prst="rect">
            <a:avLst/>
          </a:prstGeom>
          <a:noFill/>
          <a:ln/>
        </p:spPr>
        <p:txBody>
          <a:bodyPr wrap="square" lIns="0" tIns="0" rIns="0" bIns="0" rtlCol="0" anchor="ctr"/>
          <a:lstStyle/>
          <a:p>
            <a:pPr algn="ctr" indent="0" marL="0">
              <a:buNone/>
            </a:pPr>
            <a:r>
              <a:rPr lang="en-US" sz="1150" b="1" dirty="0">
                <a:solidFill>
                  <a:srgbClr val="F6693D"/>
                </a:solidFill>
                <a:latin typeface="Arial Black" pitchFamily="34" charset="0"/>
                <a:ea typeface="Arial Black" pitchFamily="34" charset="-122"/>
                <a:cs typeface="Arial Black" pitchFamily="34" charset="-120"/>
              </a:rPr>
              <a:t>$30B</a:t>
            </a:r>
            <a:endParaRPr lang="en-US" sz="1150" dirty="0"/>
          </a:p>
        </p:txBody>
      </p:sp>
      <p:sp>
        <p:nvSpPr>
          <p:cNvPr id="18" name="Text 16"/>
          <p:cNvSpPr/>
          <p:nvPr/>
        </p:nvSpPr>
        <p:spPr>
          <a:xfrm>
            <a:off x="3593592" y="2834640"/>
            <a:ext cx="640080" cy="457200"/>
          </a:xfrm>
          <a:prstGeom prst="rect">
            <a:avLst/>
          </a:prstGeom>
          <a:noFill/>
          <a:ln/>
        </p:spPr>
        <p:txBody>
          <a:bodyPr wrap="square" lIns="0" tIns="0" rIns="0" bIns="0" rtlCol="0" anchor="t"/>
          <a:lstStyle/>
          <a:p>
            <a:pPr algn="ctr" indent="0" marL="0">
              <a:buNone/>
            </a:pPr>
            <a:r>
              <a:rPr lang="en-US" sz="750" b="1" dirty="0">
                <a:solidFill>
                  <a:srgbClr val="FFFFFF"/>
                </a:solidFill>
                <a:latin typeface="Arial" pitchFamily="34" charset="0"/>
                <a:ea typeface="Arial" pitchFamily="34" charset="-122"/>
                <a:cs typeface="Arial" pitchFamily="34" charset="-120"/>
              </a:rPr>
              <a:t>Meta</a:t>
            </a:r>
            <a:endParaRPr lang="en-US" sz="750" dirty="0"/>
          </a:p>
          <a:p>
            <a:pPr algn="ctr" indent="0" marL="0">
              <a:buNone/>
            </a:pPr>
            <a:r>
              <a:rPr lang="en-US" sz="700" dirty="0">
                <a:solidFill>
                  <a:srgbClr val="9A9AA0"/>
                </a:solidFill>
                <a:latin typeface="Arial" pitchFamily="34" charset="0"/>
                <a:ea typeface="Arial" pitchFamily="34" charset="-122"/>
                <a:cs typeface="Arial" pitchFamily="34" charset="-120"/>
              </a:rPr>
              <a:t>Oct ’25</a:t>
            </a:r>
            <a:endParaRPr lang="en-US" sz="750" dirty="0"/>
          </a:p>
        </p:txBody>
      </p:sp>
      <p:sp>
        <p:nvSpPr>
          <p:cNvPr id="19" name="Shape 17"/>
          <p:cNvSpPr/>
          <p:nvPr/>
        </p:nvSpPr>
        <p:spPr>
          <a:xfrm>
            <a:off x="4434840" y="2642616"/>
            <a:ext cx="109728" cy="109728"/>
          </a:xfrm>
          <a:prstGeom prst="ellipse">
            <a:avLst/>
          </a:prstGeom>
          <a:solidFill>
            <a:srgbClr val="F6693D"/>
          </a:solidFill>
          <a:ln/>
        </p:spPr>
      </p:sp>
      <p:sp>
        <p:nvSpPr>
          <p:cNvPr id="20" name="Text 18"/>
          <p:cNvSpPr/>
          <p:nvPr/>
        </p:nvSpPr>
        <p:spPr>
          <a:xfrm>
            <a:off x="4169664" y="2249424"/>
            <a:ext cx="640080" cy="310896"/>
          </a:xfrm>
          <a:prstGeom prst="rect">
            <a:avLst/>
          </a:prstGeom>
          <a:noFill/>
          <a:ln/>
        </p:spPr>
        <p:txBody>
          <a:bodyPr wrap="square" lIns="0" tIns="0" rIns="0" bIns="0" rtlCol="0" anchor="ctr"/>
          <a:lstStyle/>
          <a:p>
            <a:pPr algn="ctr" indent="0" marL="0">
              <a:buNone/>
            </a:pPr>
            <a:r>
              <a:rPr lang="en-US" sz="1150" b="1" dirty="0">
                <a:solidFill>
                  <a:srgbClr val="F6693D"/>
                </a:solidFill>
                <a:latin typeface="Arial Black" pitchFamily="34" charset="0"/>
                <a:ea typeface="Arial Black" pitchFamily="34" charset="-122"/>
                <a:cs typeface="Arial Black" pitchFamily="34" charset="-120"/>
              </a:rPr>
              <a:t>$17.5B</a:t>
            </a:r>
            <a:endParaRPr lang="en-US" sz="1150" dirty="0"/>
          </a:p>
        </p:txBody>
      </p:sp>
      <p:sp>
        <p:nvSpPr>
          <p:cNvPr id="21" name="Text 19"/>
          <p:cNvSpPr/>
          <p:nvPr/>
        </p:nvSpPr>
        <p:spPr>
          <a:xfrm>
            <a:off x="4169664" y="2834640"/>
            <a:ext cx="640080" cy="457200"/>
          </a:xfrm>
          <a:prstGeom prst="rect">
            <a:avLst/>
          </a:prstGeom>
          <a:noFill/>
          <a:ln/>
        </p:spPr>
        <p:txBody>
          <a:bodyPr wrap="square" lIns="0" tIns="0" rIns="0" bIns="0" rtlCol="0" anchor="t"/>
          <a:lstStyle/>
          <a:p>
            <a:pPr algn="ctr" indent="0" marL="0">
              <a:buNone/>
            </a:pPr>
            <a:r>
              <a:rPr lang="en-US" sz="750" b="1" dirty="0">
                <a:solidFill>
                  <a:srgbClr val="FFFFFF"/>
                </a:solidFill>
                <a:latin typeface="Arial" pitchFamily="34" charset="0"/>
                <a:ea typeface="Arial" pitchFamily="34" charset="-122"/>
                <a:cs typeface="Arial" pitchFamily="34" charset="-120"/>
              </a:rPr>
              <a:t>Alphabet</a:t>
            </a:r>
            <a:endParaRPr lang="en-US" sz="750" dirty="0"/>
          </a:p>
          <a:p>
            <a:pPr algn="ctr" indent="0" marL="0">
              <a:buNone/>
            </a:pPr>
            <a:r>
              <a:rPr lang="en-US" sz="700" dirty="0">
                <a:solidFill>
                  <a:srgbClr val="9A9AA0"/>
                </a:solidFill>
                <a:latin typeface="Arial" pitchFamily="34" charset="0"/>
                <a:ea typeface="Arial" pitchFamily="34" charset="-122"/>
                <a:cs typeface="Arial" pitchFamily="34" charset="-120"/>
              </a:rPr>
              <a:t>Nov ’25</a:t>
            </a:r>
            <a:endParaRPr lang="en-US" sz="750" dirty="0"/>
          </a:p>
        </p:txBody>
      </p:sp>
      <p:sp>
        <p:nvSpPr>
          <p:cNvPr id="22" name="Shape 20"/>
          <p:cNvSpPr/>
          <p:nvPr/>
        </p:nvSpPr>
        <p:spPr>
          <a:xfrm>
            <a:off x="5010912" y="2642616"/>
            <a:ext cx="109728" cy="109728"/>
          </a:xfrm>
          <a:prstGeom prst="ellipse">
            <a:avLst/>
          </a:prstGeom>
          <a:solidFill>
            <a:srgbClr val="F6693D"/>
          </a:solidFill>
          <a:ln/>
        </p:spPr>
      </p:sp>
      <p:sp>
        <p:nvSpPr>
          <p:cNvPr id="23" name="Text 21"/>
          <p:cNvSpPr/>
          <p:nvPr/>
        </p:nvSpPr>
        <p:spPr>
          <a:xfrm>
            <a:off x="4745736" y="2249424"/>
            <a:ext cx="640080" cy="310896"/>
          </a:xfrm>
          <a:prstGeom prst="rect">
            <a:avLst/>
          </a:prstGeom>
          <a:noFill/>
          <a:ln/>
        </p:spPr>
        <p:txBody>
          <a:bodyPr wrap="square" lIns="0" tIns="0" rIns="0" bIns="0" rtlCol="0" anchor="ctr"/>
          <a:lstStyle/>
          <a:p>
            <a:pPr algn="ctr" indent="0" marL="0">
              <a:buNone/>
            </a:pPr>
            <a:r>
              <a:rPr lang="en-US" sz="1150" b="1" dirty="0">
                <a:solidFill>
                  <a:srgbClr val="F6693D"/>
                </a:solidFill>
                <a:latin typeface="Arial Black" pitchFamily="34" charset="0"/>
                <a:ea typeface="Arial Black" pitchFamily="34" charset="-122"/>
                <a:cs typeface="Arial Black" pitchFamily="34" charset="-120"/>
              </a:rPr>
              <a:t>$15B</a:t>
            </a:r>
            <a:endParaRPr lang="en-US" sz="1150" dirty="0"/>
          </a:p>
        </p:txBody>
      </p:sp>
      <p:sp>
        <p:nvSpPr>
          <p:cNvPr id="24" name="Text 22"/>
          <p:cNvSpPr/>
          <p:nvPr/>
        </p:nvSpPr>
        <p:spPr>
          <a:xfrm>
            <a:off x="4745736" y="2834640"/>
            <a:ext cx="640080" cy="457200"/>
          </a:xfrm>
          <a:prstGeom prst="rect">
            <a:avLst/>
          </a:prstGeom>
          <a:noFill/>
          <a:ln/>
        </p:spPr>
        <p:txBody>
          <a:bodyPr wrap="square" lIns="0" tIns="0" rIns="0" bIns="0" rtlCol="0" anchor="t"/>
          <a:lstStyle/>
          <a:p>
            <a:pPr algn="ctr" indent="0" marL="0">
              <a:buNone/>
            </a:pPr>
            <a:r>
              <a:rPr lang="en-US" sz="750" b="1" dirty="0">
                <a:solidFill>
                  <a:srgbClr val="FFFFFF"/>
                </a:solidFill>
                <a:latin typeface="Arial" pitchFamily="34" charset="0"/>
                <a:ea typeface="Arial" pitchFamily="34" charset="-122"/>
                <a:cs typeface="Arial" pitchFamily="34" charset="-120"/>
              </a:rPr>
              <a:t>Amazon</a:t>
            </a:r>
            <a:endParaRPr lang="en-US" sz="750" dirty="0"/>
          </a:p>
          <a:p>
            <a:pPr algn="ctr" indent="0" marL="0">
              <a:buNone/>
            </a:pPr>
            <a:r>
              <a:rPr lang="en-US" sz="700" dirty="0">
                <a:solidFill>
                  <a:srgbClr val="9A9AA0"/>
                </a:solidFill>
                <a:latin typeface="Arial" pitchFamily="34" charset="0"/>
                <a:ea typeface="Arial" pitchFamily="34" charset="-122"/>
                <a:cs typeface="Arial" pitchFamily="34" charset="-120"/>
              </a:rPr>
              <a:t>Nov ’25</a:t>
            </a:r>
            <a:endParaRPr lang="en-US" sz="750" dirty="0"/>
          </a:p>
        </p:txBody>
      </p:sp>
      <p:sp>
        <p:nvSpPr>
          <p:cNvPr id="25" name="Shape 23"/>
          <p:cNvSpPr/>
          <p:nvPr/>
        </p:nvSpPr>
        <p:spPr>
          <a:xfrm>
            <a:off x="5586984" y="2642616"/>
            <a:ext cx="109728" cy="109728"/>
          </a:xfrm>
          <a:prstGeom prst="ellipse">
            <a:avLst/>
          </a:prstGeom>
          <a:solidFill>
            <a:srgbClr val="F6693D"/>
          </a:solidFill>
          <a:ln/>
        </p:spPr>
      </p:sp>
      <p:sp>
        <p:nvSpPr>
          <p:cNvPr id="26" name="Text 24"/>
          <p:cNvSpPr/>
          <p:nvPr/>
        </p:nvSpPr>
        <p:spPr>
          <a:xfrm>
            <a:off x="5321808" y="2249424"/>
            <a:ext cx="640080" cy="310896"/>
          </a:xfrm>
          <a:prstGeom prst="rect">
            <a:avLst/>
          </a:prstGeom>
          <a:noFill/>
          <a:ln/>
        </p:spPr>
        <p:txBody>
          <a:bodyPr wrap="square" lIns="0" tIns="0" rIns="0" bIns="0" rtlCol="0" anchor="ctr"/>
          <a:lstStyle/>
          <a:p>
            <a:pPr algn="ctr" indent="0" marL="0">
              <a:buNone/>
            </a:pPr>
            <a:r>
              <a:rPr lang="en-US" sz="1150" b="1" dirty="0">
                <a:solidFill>
                  <a:srgbClr val="F6693D"/>
                </a:solidFill>
                <a:latin typeface="Arial Black" pitchFamily="34" charset="0"/>
                <a:ea typeface="Arial Black" pitchFamily="34" charset="-122"/>
                <a:cs typeface="Arial Black" pitchFamily="34" charset="-120"/>
              </a:rPr>
              <a:t>$25B</a:t>
            </a:r>
            <a:endParaRPr lang="en-US" sz="1150" dirty="0"/>
          </a:p>
        </p:txBody>
      </p:sp>
      <p:sp>
        <p:nvSpPr>
          <p:cNvPr id="27" name="Text 25"/>
          <p:cNvSpPr/>
          <p:nvPr/>
        </p:nvSpPr>
        <p:spPr>
          <a:xfrm>
            <a:off x="5321808" y="2834640"/>
            <a:ext cx="640080" cy="457200"/>
          </a:xfrm>
          <a:prstGeom prst="rect">
            <a:avLst/>
          </a:prstGeom>
          <a:noFill/>
          <a:ln/>
        </p:spPr>
        <p:txBody>
          <a:bodyPr wrap="square" lIns="0" tIns="0" rIns="0" bIns="0" rtlCol="0" anchor="t"/>
          <a:lstStyle/>
          <a:p>
            <a:pPr algn="ctr" indent="0" marL="0">
              <a:buNone/>
            </a:pPr>
            <a:r>
              <a:rPr lang="en-US" sz="750" b="1" dirty="0">
                <a:solidFill>
                  <a:srgbClr val="FFFFFF"/>
                </a:solidFill>
                <a:latin typeface="Arial" pitchFamily="34" charset="0"/>
                <a:ea typeface="Arial" pitchFamily="34" charset="-122"/>
                <a:cs typeface="Arial" pitchFamily="34" charset="-120"/>
              </a:rPr>
              <a:t>Oracle</a:t>
            </a:r>
            <a:endParaRPr lang="en-US" sz="750" dirty="0"/>
          </a:p>
          <a:p>
            <a:pPr algn="ctr" indent="0" marL="0">
              <a:buNone/>
            </a:pPr>
            <a:r>
              <a:rPr lang="en-US" sz="700" dirty="0">
                <a:solidFill>
                  <a:srgbClr val="9A9AA0"/>
                </a:solidFill>
                <a:latin typeface="Arial" pitchFamily="34" charset="0"/>
                <a:ea typeface="Arial" pitchFamily="34" charset="-122"/>
                <a:cs typeface="Arial" pitchFamily="34" charset="-120"/>
              </a:rPr>
              <a:t>Feb ’26</a:t>
            </a:r>
            <a:endParaRPr lang="en-US" sz="750" dirty="0"/>
          </a:p>
        </p:txBody>
      </p:sp>
      <p:sp>
        <p:nvSpPr>
          <p:cNvPr id="28" name="Text 26"/>
          <p:cNvSpPr/>
          <p:nvPr/>
        </p:nvSpPr>
        <p:spPr>
          <a:xfrm>
            <a:off x="6126480" y="1783080"/>
            <a:ext cx="2560320" cy="384048"/>
          </a:xfrm>
          <a:prstGeom prst="rect">
            <a:avLst/>
          </a:prstGeom>
          <a:noFill/>
          <a:ln/>
        </p:spPr>
        <p:txBody>
          <a:bodyPr wrap="square" lIns="0" tIns="0" rIns="0" bIns="0" rtlCol="0" anchor="ctr"/>
          <a:lstStyle/>
          <a:p>
            <a:pPr indent="0" marL="0">
              <a:buNone/>
            </a:pPr>
            <a:r>
              <a:rPr lang="en-US" sz="2200" b="1" dirty="0">
                <a:solidFill>
                  <a:srgbClr val="FFB800"/>
                </a:solidFill>
                <a:latin typeface="Arial Black" pitchFamily="34" charset="0"/>
                <a:ea typeface="Arial Black" pitchFamily="34" charset="-122"/>
                <a:cs typeface="Arial Black" pitchFamily="34" charset="-120"/>
              </a:rPr>
              <a:t>~$300B</a:t>
            </a:r>
            <a:endParaRPr lang="en-US" sz="2200" dirty="0"/>
          </a:p>
        </p:txBody>
      </p:sp>
      <p:sp>
        <p:nvSpPr>
          <p:cNvPr id="29" name="Text 27"/>
          <p:cNvSpPr/>
          <p:nvPr/>
        </p:nvSpPr>
        <p:spPr>
          <a:xfrm>
            <a:off x="6126480" y="2185416"/>
            <a:ext cx="2560320" cy="438912"/>
          </a:xfrm>
          <a:prstGeom prst="rect">
            <a:avLst/>
          </a:prstGeom>
          <a:noFill/>
          <a:ln/>
        </p:spPr>
        <p:txBody>
          <a:bodyPr wrap="square" lIns="0" tIns="0" rIns="0" bIns="0" rtlCol="0" anchor="t"/>
          <a:lstStyle/>
          <a:p>
            <a:pPr indent="0" marL="0">
              <a:buNone/>
            </a:pPr>
            <a:r>
              <a:rPr lang="en-US" sz="750" dirty="0">
                <a:solidFill>
                  <a:srgbClr val="9A9AA0"/>
                </a:solidFill>
                <a:latin typeface="Arial" pitchFamily="34" charset="0"/>
                <a:ea typeface="Arial" pitchFamily="34" charset="-122"/>
                <a:cs typeface="Arial" pitchFamily="34" charset="-120"/>
              </a:rPr>
              <a:t>AI-linked IG supply expected for full-year 2026 (UBS, Barclays via Reuters).</a:t>
            </a:r>
            <a:endParaRPr lang="en-US" sz="750" dirty="0"/>
          </a:p>
        </p:txBody>
      </p:sp>
      <p:sp>
        <p:nvSpPr>
          <p:cNvPr id="30" name="Text 28"/>
          <p:cNvSpPr/>
          <p:nvPr/>
        </p:nvSpPr>
        <p:spPr>
          <a:xfrm>
            <a:off x="6126480" y="2651760"/>
            <a:ext cx="2560320" cy="384048"/>
          </a:xfrm>
          <a:prstGeom prst="rect">
            <a:avLst/>
          </a:prstGeom>
          <a:noFill/>
          <a:ln/>
        </p:spPr>
        <p:txBody>
          <a:bodyPr wrap="square" lIns="0" tIns="0" rIns="0" bIns="0" rtlCol="0" anchor="ctr"/>
          <a:lstStyle/>
          <a:p>
            <a:pPr indent="0" marL="0">
              <a:buNone/>
            </a:pPr>
            <a:r>
              <a:rPr lang="en-US" sz="2200" b="1" dirty="0">
                <a:solidFill>
                  <a:srgbClr val="2BC4C4"/>
                </a:solidFill>
                <a:latin typeface="Arial Black" pitchFamily="34" charset="0"/>
                <a:ea typeface="Arial Black" pitchFamily="34" charset="-122"/>
                <a:cs typeface="Arial Black" pitchFamily="34" charset="-120"/>
              </a:rPr>
              <a:t>&gt;125bp</a:t>
            </a:r>
            <a:endParaRPr lang="en-US" sz="2200" dirty="0"/>
          </a:p>
        </p:txBody>
      </p:sp>
      <p:sp>
        <p:nvSpPr>
          <p:cNvPr id="31" name="Text 29"/>
          <p:cNvSpPr/>
          <p:nvPr/>
        </p:nvSpPr>
        <p:spPr>
          <a:xfrm>
            <a:off x="6126480" y="3054096"/>
            <a:ext cx="2560320" cy="438912"/>
          </a:xfrm>
          <a:prstGeom prst="rect">
            <a:avLst/>
          </a:prstGeom>
          <a:noFill/>
          <a:ln/>
        </p:spPr>
        <p:txBody>
          <a:bodyPr wrap="square" lIns="0" tIns="0" rIns="0" bIns="0" rtlCol="0" anchor="t"/>
          <a:lstStyle/>
          <a:p>
            <a:pPr indent="0" marL="0">
              <a:buNone/>
            </a:pPr>
            <a:r>
              <a:rPr lang="en-US" sz="750" dirty="0">
                <a:solidFill>
                  <a:srgbClr val="9A9AA0"/>
                </a:solidFill>
                <a:latin typeface="Arial" pitchFamily="34" charset="0"/>
                <a:ea typeface="Arial" pitchFamily="34" charset="-122"/>
                <a:cs typeface="Arial" pitchFamily="34" charset="-120"/>
              </a:rPr>
              <a:t>Oracle 5-yr CDS despite light leverage — credit already discriminates by funding capacity.</a:t>
            </a:r>
            <a:endParaRPr lang="en-US" sz="750" dirty="0"/>
          </a:p>
        </p:txBody>
      </p:sp>
      <p:sp>
        <p:nvSpPr>
          <p:cNvPr id="32" name="Shape 30"/>
          <p:cNvSpPr/>
          <p:nvPr/>
        </p:nvSpPr>
        <p:spPr>
          <a:xfrm>
            <a:off x="457200" y="3529584"/>
            <a:ext cx="8229600" cy="822960"/>
          </a:xfrm>
          <a:prstGeom prst="rect">
            <a:avLst/>
          </a:prstGeom>
          <a:solidFill>
            <a:srgbClr val="1C1C20"/>
          </a:solidFill>
          <a:ln w="9525">
            <a:solidFill>
              <a:srgbClr val="2A2A30"/>
            </a:solidFill>
            <a:prstDash val="solid"/>
          </a:ln>
        </p:spPr>
      </p:sp>
      <p:sp>
        <p:nvSpPr>
          <p:cNvPr id="33" name="Text 31"/>
          <p:cNvSpPr/>
          <p:nvPr/>
        </p:nvSpPr>
        <p:spPr>
          <a:xfrm>
            <a:off x="594360" y="3621024"/>
            <a:ext cx="7955280" cy="228600"/>
          </a:xfrm>
          <a:prstGeom prst="rect">
            <a:avLst/>
          </a:prstGeom>
          <a:noFill/>
          <a:ln/>
        </p:spPr>
        <p:txBody>
          <a:bodyPr wrap="square" lIns="0" tIns="0" rIns="0" bIns="0" rtlCol="0" anchor="ctr"/>
          <a:lstStyle/>
          <a:p>
            <a:pPr indent="0" marL="0">
              <a:buNone/>
            </a:pPr>
            <a:r>
              <a:rPr lang="en-US" sz="900" b="1" spc="200" kern="0" dirty="0">
                <a:solidFill>
                  <a:srgbClr val="FFB800"/>
                </a:solidFill>
                <a:latin typeface="Arial" pitchFamily="34" charset="0"/>
                <a:ea typeface="Arial" pitchFamily="34" charset="-122"/>
                <a:cs typeface="Arial" pitchFamily="34" charset="-120"/>
              </a:rPr>
              <a:t>READ</a:t>
            </a:r>
            <a:endParaRPr lang="en-US" sz="900" dirty="0"/>
          </a:p>
        </p:txBody>
      </p:sp>
      <p:sp>
        <p:nvSpPr>
          <p:cNvPr id="34" name="Text 32"/>
          <p:cNvSpPr/>
          <p:nvPr/>
        </p:nvSpPr>
        <p:spPr>
          <a:xfrm>
            <a:off x="594360" y="3895344"/>
            <a:ext cx="7955280" cy="365760"/>
          </a:xfrm>
          <a:prstGeom prst="rect">
            <a:avLst/>
          </a:prstGeom>
          <a:noFill/>
          <a:ln/>
        </p:spPr>
        <p:txBody>
          <a:bodyPr wrap="square" lIns="0" tIns="0" rIns="0" bIns="0" rtlCol="0" anchor="t"/>
          <a:lstStyle/>
          <a:p>
            <a:pPr indent="0" marL="0">
              <a:buNone/>
            </a:pPr>
            <a:r>
              <a:rPr lang="en-US" sz="1000" b="1" dirty="0">
                <a:solidFill>
                  <a:srgbClr val="FFFFFF"/>
                </a:solidFill>
                <a:latin typeface="Arial" pitchFamily="34" charset="0"/>
                <a:ea typeface="Arial" pitchFamily="34" charset="-122"/>
                <a:cs typeface="Arial" pitchFamily="34" charset="-120"/>
              </a:rPr>
              <a:t>Credit reprices before equity. The financing infrastructure is being built in real time.</a:t>
            </a:r>
            <a:endParaRPr lang="en-US" sz="1000" dirty="0"/>
          </a:p>
          <a:p>
            <a:pPr indent="0" marL="0">
              <a:buNone/>
            </a:pPr>
            <a:r>
              <a:rPr lang="en-US" sz="900" dirty="0">
                <a:solidFill>
                  <a:srgbClr val="C9C9CE"/>
                </a:solidFill>
                <a:latin typeface="Arial" pitchFamily="34" charset="0"/>
                <a:ea typeface="Arial" pitchFamily="34" charset="-122"/>
                <a:cs typeface="Arial" pitchFamily="34" charset="-120"/>
              </a:rPr>
              <a:t>Watch four gauges: demand (capex + token budgets), financing (CDS spreads), rates (~4.5% 10-yr), concentration (top-10 share). A failed mega-deal reprices AI equities in days.</a:t>
            </a:r>
            <a:endParaRPr lang="en-US" sz="1000" dirty="0"/>
          </a:p>
        </p:txBody>
      </p:sp>
      <p:sp>
        <p:nvSpPr>
          <p:cNvPr id="35" name="Text 33"/>
          <p:cNvSpPr/>
          <p:nvPr/>
        </p:nvSpPr>
        <p:spPr>
          <a:xfrm>
            <a:off x="457200" y="4425696"/>
            <a:ext cx="8229600" cy="384048"/>
          </a:xfrm>
          <a:prstGeom prst="rect">
            <a:avLst/>
          </a:prstGeom>
          <a:noFill/>
          <a:ln/>
        </p:spPr>
        <p:txBody>
          <a:bodyPr wrap="square" lIns="0" tIns="0" rIns="0" bIns="0" rtlCol="0" anchor="t"/>
          <a:lstStyle/>
          <a:p>
            <a:pPr indent="0" marL="0">
              <a:buNone/>
            </a:pPr>
            <a:r>
              <a:rPr lang="en-US" sz="700" dirty="0">
                <a:solidFill>
                  <a:srgbClr val="8A8A90"/>
                </a:solidFill>
                <a:latin typeface="Arial" pitchFamily="34" charset="0"/>
                <a:ea typeface="Arial" pitchFamily="34" charset="-122"/>
                <a:cs typeface="Arial" pitchFamily="34" charset="-120"/>
              </a:rPr>
              <a:t>Source: Capex: company reports via CNBC (Feb 6, 2026). Cash math: BofA via Breckinridge. Deals: Mawer, M&amp;G, Fortune, CNBC. Supply: UBS &amp; Barclays via Reuters. CDS: MUFG via CNBC.</a:t>
            </a:r>
            <a:endParaRPr lang="en-US" sz="700" dirty="0"/>
          </a:p>
        </p:txBody>
      </p:sp>
      <p:sp>
        <p:nvSpPr>
          <p:cNvPr id="36" name="Shape 34"/>
          <p:cNvSpPr/>
          <p:nvPr/>
        </p:nvSpPr>
        <p:spPr>
          <a:xfrm>
            <a:off x="0" y="4526280"/>
            <a:ext cx="9144000" cy="617220"/>
          </a:xfrm>
          <a:prstGeom prst="rect">
            <a:avLst/>
          </a:prstGeom>
          <a:solidFill>
            <a:srgbClr val="000000"/>
          </a:solidFill>
          <a:ln/>
        </p:spPr>
      </p:sp>
      <p:sp>
        <p:nvSpPr>
          <p:cNvPr id="37" name="Shape 35"/>
          <p:cNvSpPr/>
          <p:nvPr/>
        </p:nvSpPr>
        <p:spPr>
          <a:xfrm>
            <a:off x="0" y="4526280"/>
            <a:ext cx="9144000" cy="0"/>
          </a:xfrm>
          <a:prstGeom prst="line">
            <a:avLst/>
          </a:prstGeom>
          <a:noFill/>
          <a:ln w="6350">
            <a:solidFill>
              <a:srgbClr val="2A2A30"/>
            </a:solidFill>
            <a:prstDash val="solid"/>
          </a:ln>
        </p:spPr>
      </p:sp>
      <p:sp>
        <p:nvSpPr>
          <p:cNvPr id="38" name="Text 36"/>
          <p:cNvSpPr/>
          <p:nvPr/>
        </p:nvSpPr>
        <p:spPr>
          <a:xfrm>
            <a:off x="1371600" y="4572000"/>
            <a:ext cx="6583680" cy="502920"/>
          </a:xfrm>
          <a:prstGeom prst="rect">
            <a:avLst/>
          </a:prstGeom>
          <a:noFill/>
          <a:ln/>
        </p:spPr>
        <p:txBody>
          <a:bodyPr wrap="square" rtlCol="0" anchor="ctr"/>
          <a:lstStyle/>
          <a:p>
            <a:pPr algn="ctr" indent="0" marL="0">
              <a:buNone/>
            </a:pPr>
            <a:r>
              <a:rPr lang="en-US" sz="650" b="1" dirty="0">
                <a:solidFill>
                  <a:srgbClr val="9A9AA0"/>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39" name="Text 37"/>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9A9AA0"/>
                </a:solidFill>
                <a:latin typeface="Arial" pitchFamily="34" charset="0"/>
                <a:ea typeface="Arial" pitchFamily="34" charset="-122"/>
                <a:cs typeface="Arial"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11114"/>
        </a:solidFill>
      </p:bgPr>
    </p:bg>
    <p:spTree>
      <p:nvGrpSpPr>
        <p:cNvPr id="1" name=""/>
        <p:cNvGrpSpPr/>
        <p:nvPr/>
      </p:nvGrpSpPr>
      <p:grpSpPr>
        <a:xfrm>
          <a:off x="0" y="0"/>
          <a:ext cx="0" cy="0"/>
          <a:chOff x="0" y="0"/>
          <a:chExt cx="0" cy="0"/>
        </a:xfrm>
      </p:grpSpPr>
      <p:sp>
        <p:nvSpPr>
          <p:cNvPr id="2" name="Shape 0"/>
          <p:cNvSpPr/>
          <p:nvPr/>
        </p:nvSpPr>
        <p:spPr>
          <a:xfrm>
            <a:off x="457200" y="274320"/>
            <a:ext cx="274320" cy="45720"/>
          </a:xfrm>
          <a:prstGeom prst="rect">
            <a:avLst/>
          </a:prstGeom>
          <a:solidFill>
            <a:srgbClr val="E8478D"/>
          </a:solidFill>
          <a:ln/>
        </p:spPr>
      </p:sp>
      <p:sp>
        <p:nvSpPr>
          <p:cNvPr id="3" name="Text 1"/>
          <p:cNvSpPr/>
          <p:nvPr/>
        </p:nvSpPr>
        <p:spPr>
          <a:xfrm>
            <a:off x="841248" y="155448"/>
            <a:ext cx="3931920" cy="274320"/>
          </a:xfrm>
          <a:prstGeom prst="rect">
            <a:avLst/>
          </a:prstGeom>
          <a:noFill/>
          <a:ln/>
        </p:spPr>
        <p:txBody>
          <a:bodyPr wrap="square" lIns="0" tIns="0" rIns="0" bIns="0" rtlCol="0" anchor="ctr"/>
          <a:lstStyle/>
          <a:p>
            <a:pPr indent="0" marL="0">
              <a:buNone/>
            </a:pPr>
            <a:r>
              <a:rPr lang="en-US" sz="900" b="1" spc="300" kern="0" dirty="0">
                <a:solidFill>
                  <a:srgbClr val="E8478D"/>
                </a:solidFill>
                <a:latin typeface="Arial" pitchFamily="34" charset="0"/>
                <a:ea typeface="Arial" pitchFamily="34" charset="-122"/>
                <a:cs typeface="Arial" pitchFamily="34" charset="-120"/>
              </a:rPr>
              <a:t>02  ·  EARLY MARKET SIGNALS  ·  THE FRONTIER</a:t>
            </a:r>
            <a:endParaRPr lang="en-US" sz="900" dirty="0"/>
          </a:p>
        </p:txBody>
      </p:sp>
      <p:sp>
        <p:nvSpPr>
          <p:cNvPr id="4" name="Text 2"/>
          <p:cNvSpPr/>
          <p:nvPr/>
        </p:nvSpPr>
        <p:spPr>
          <a:xfrm>
            <a:off x="4937760" y="155448"/>
            <a:ext cx="3749040" cy="274320"/>
          </a:xfrm>
          <a:prstGeom prst="rect">
            <a:avLst/>
          </a:prstGeom>
          <a:noFill/>
          <a:ln/>
        </p:spPr>
        <p:txBody>
          <a:bodyPr wrap="square" lIns="0" tIns="0" rIns="0" bIns="0" rtlCol="0" anchor="ctr"/>
          <a:lstStyle/>
          <a:p>
            <a:pPr algn="r" indent="0" marL="0">
              <a:buNone/>
            </a:pPr>
            <a:r>
              <a:rPr lang="en-US" sz="800" b="1" spc="200" kern="0" dirty="0">
                <a:solidFill>
                  <a:srgbClr val="9A9AA0"/>
                </a:solidFill>
                <a:latin typeface="Arial" pitchFamily="34" charset="0"/>
                <a:ea typeface="Arial" pitchFamily="34" charset="-122"/>
                <a:cs typeface="Arial" pitchFamily="34" charset="-120"/>
              </a:rPr>
              <a:t>FRONTIER WATCH · SPECULATIVE</a:t>
            </a:r>
            <a:endParaRPr lang="en-US" sz="800" dirty="0"/>
          </a:p>
        </p:txBody>
      </p:sp>
      <p:sp>
        <p:nvSpPr>
          <p:cNvPr id="5" name="Text 3"/>
          <p:cNvSpPr/>
          <p:nvPr/>
        </p:nvSpPr>
        <p:spPr>
          <a:xfrm>
            <a:off x="457200" y="438912"/>
            <a:ext cx="8229600" cy="640080"/>
          </a:xfrm>
          <a:prstGeom prst="rect">
            <a:avLst/>
          </a:prstGeom>
          <a:noFill/>
          <a:ln/>
        </p:spPr>
        <p:txBody>
          <a:bodyPr wrap="square" lIns="0" tIns="0" rIns="0" bIns="0" rtlCol="0" anchor="t"/>
          <a:lstStyle/>
          <a:p>
            <a:pPr indent="0" marL="0">
              <a:buNone/>
            </a:pPr>
            <a:r>
              <a:rPr lang="en-US" sz="2400" b="1" dirty="0">
                <a:solidFill>
                  <a:srgbClr val="FFFFFF"/>
                </a:solidFill>
                <a:latin typeface="Arial Black" pitchFamily="34" charset="0"/>
                <a:ea typeface="Arial Black" pitchFamily="34" charset="-122"/>
                <a:cs typeface="Arial Black" pitchFamily="34" charset="-120"/>
              </a:rPr>
              <a:t>Where the next decade of demand lives</a:t>
            </a:r>
            <a:endParaRPr lang="en-US" sz="2400" dirty="0"/>
          </a:p>
        </p:txBody>
      </p:sp>
      <p:sp>
        <p:nvSpPr>
          <p:cNvPr id="6" name="Text 4"/>
          <p:cNvSpPr/>
          <p:nvPr/>
        </p:nvSpPr>
        <p:spPr>
          <a:xfrm>
            <a:off x="457200" y="1078992"/>
            <a:ext cx="8229600" cy="457200"/>
          </a:xfrm>
          <a:prstGeom prst="rect">
            <a:avLst/>
          </a:prstGeom>
          <a:noFill/>
          <a:ln/>
        </p:spPr>
        <p:txBody>
          <a:bodyPr wrap="square" lIns="0" tIns="0" rIns="0" bIns="0" rtlCol="0" anchor="t"/>
          <a:lstStyle/>
          <a:p>
            <a:pPr indent="0" marL="0">
              <a:buNone/>
            </a:pPr>
            <a:r>
              <a:rPr lang="en-US" sz="1300" dirty="0">
                <a:solidFill>
                  <a:srgbClr val="9A9AA0"/>
                </a:solidFill>
                <a:latin typeface="Arial" pitchFamily="34" charset="0"/>
                <a:ea typeface="Arial" pitchFamily="34" charset="-122"/>
                <a:cs typeface="Arial" pitchFamily="34" charset="-120"/>
              </a:rPr>
              <a:t>None of this is in 2026 guidance — all of it extends the Jevons demand curve by another decade.</a:t>
            </a:r>
            <a:endParaRPr lang="en-US" sz="1300" dirty="0"/>
          </a:p>
        </p:txBody>
      </p:sp>
      <p:sp>
        <p:nvSpPr>
          <p:cNvPr id="7" name="Shape 5"/>
          <p:cNvSpPr/>
          <p:nvPr/>
        </p:nvSpPr>
        <p:spPr>
          <a:xfrm>
            <a:off x="457200" y="1554480"/>
            <a:ext cx="1920240" cy="1234440"/>
          </a:xfrm>
          <a:prstGeom prst="rect">
            <a:avLst/>
          </a:prstGeom>
          <a:solidFill>
            <a:srgbClr val="1E1E24"/>
          </a:solidFill>
          <a:ln w="12700">
            <a:solidFill>
              <a:srgbClr val="2A2A30"/>
            </a:solidFill>
            <a:prstDash val="dash"/>
          </a:ln>
        </p:spPr>
      </p:sp>
      <p:sp>
        <p:nvSpPr>
          <p:cNvPr id="8" name="Shape 6"/>
          <p:cNvSpPr/>
          <p:nvPr/>
        </p:nvSpPr>
        <p:spPr>
          <a:xfrm>
            <a:off x="457200" y="1554480"/>
            <a:ext cx="310896" cy="36576"/>
          </a:xfrm>
          <a:prstGeom prst="rect">
            <a:avLst/>
          </a:prstGeom>
          <a:solidFill>
            <a:srgbClr val="E8478D"/>
          </a:solidFill>
          <a:ln/>
        </p:spPr>
      </p:sp>
      <p:sp>
        <p:nvSpPr>
          <p:cNvPr id="9" name="Shape 7"/>
          <p:cNvSpPr/>
          <p:nvPr/>
        </p:nvSpPr>
        <p:spPr>
          <a:xfrm>
            <a:off x="457200" y="1554480"/>
            <a:ext cx="36576" cy="310896"/>
          </a:xfrm>
          <a:prstGeom prst="rect">
            <a:avLst/>
          </a:prstGeom>
          <a:solidFill>
            <a:srgbClr val="E8478D"/>
          </a:solidFill>
          <a:ln/>
        </p:spPr>
      </p:sp>
      <p:sp>
        <p:nvSpPr>
          <p:cNvPr id="10" name="Shape 8"/>
          <p:cNvSpPr/>
          <p:nvPr/>
        </p:nvSpPr>
        <p:spPr>
          <a:xfrm>
            <a:off x="2066544" y="2752344"/>
            <a:ext cx="310896" cy="36576"/>
          </a:xfrm>
          <a:prstGeom prst="rect">
            <a:avLst/>
          </a:prstGeom>
          <a:solidFill>
            <a:srgbClr val="E8478D"/>
          </a:solidFill>
          <a:ln/>
        </p:spPr>
      </p:sp>
      <p:sp>
        <p:nvSpPr>
          <p:cNvPr id="11" name="Shape 9"/>
          <p:cNvSpPr/>
          <p:nvPr/>
        </p:nvSpPr>
        <p:spPr>
          <a:xfrm>
            <a:off x="2340864" y="2478024"/>
            <a:ext cx="36576" cy="310896"/>
          </a:xfrm>
          <a:prstGeom prst="rect">
            <a:avLst/>
          </a:prstGeom>
          <a:solidFill>
            <a:srgbClr val="E8478D"/>
          </a:solidFill>
          <a:ln/>
        </p:spPr>
      </p:sp>
      <p:sp>
        <p:nvSpPr>
          <p:cNvPr id="12" name="Text 10"/>
          <p:cNvSpPr/>
          <p:nvPr/>
        </p:nvSpPr>
        <p:spPr>
          <a:xfrm>
            <a:off x="640080" y="1700784"/>
            <a:ext cx="1554480" cy="219456"/>
          </a:xfrm>
          <a:prstGeom prst="rect">
            <a:avLst/>
          </a:prstGeom>
          <a:noFill/>
          <a:ln/>
        </p:spPr>
        <p:txBody>
          <a:bodyPr wrap="square" lIns="0" tIns="0" rIns="0" bIns="0" rtlCol="0" anchor="ctr"/>
          <a:lstStyle/>
          <a:p>
            <a:pPr indent="0" marL="0">
              <a:buNone/>
            </a:pPr>
            <a:r>
              <a:rPr lang="en-US" sz="900" b="1" spc="200" kern="0" dirty="0">
                <a:solidFill>
                  <a:srgbClr val="E8478D"/>
                </a:solidFill>
                <a:latin typeface="Arial" pitchFamily="34" charset="0"/>
                <a:ea typeface="Arial" pitchFamily="34" charset="-122"/>
                <a:cs typeface="Arial" pitchFamily="34" charset="-120"/>
              </a:rPr>
              <a:t>IMAGE  ·  embodiment</a:t>
            </a:r>
            <a:endParaRPr lang="en-US" sz="900" dirty="0"/>
          </a:p>
        </p:txBody>
      </p:sp>
      <p:sp>
        <p:nvSpPr>
          <p:cNvPr id="13" name="Text 11"/>
          <p:cNvSpPr/>
          <p:nvPr/>
        </p:nvSpPr>
        <p:spPr>
          <a:xfrm>
            <a:off x="640080" y="1975104"/>
            <a:ext cx="1554480" cy="630936"/>
          </a:xfrm>
          <a:prstGeom prst="rect">
            <a:avLst/>
          </a:prstGeom>
          <a:noFill/>
          <a:ln/>
        </p:spPr>
        <p:txBody>
          <a:bodyPr wrap="square" lIns="0" tIns="0" rIns="0" bIns="0" rtlCol="0" anchor="t"/>
          <a:lstStyle/>
          <a:p>
            <a:pPr indent="0" marL="0">
              <a:buNone/>
            </a:pPr>
            <a:r>
              <a:rPr lang="en-US" sz="700" i="1" dirty="0">
                <a:solidFill>
                  <a:srgbClr val="8A8A90"/>
                </a:solidFill>
                <a:latin typeface="Arial" pitchFamily="34" charset="0"/>
                <a:ea typeface="Arial" pitchFamily="34" charset="-122"/>
                <a:cs typeface="Arial" pitchFamily="34" charset="-120"/>
              </a:rPr>
              <a:t>IMAGE PROMPT → save as frontier-embodiment.png</a:t>
            </a:r>
            <a:endParaRPr lang="en-US" sz="700" dirty="0"/>
          </a:p>
          <a:p>
            <a:pPr indent="0" marL="0">
              <a:buNone/>
            </a:pPr>
            <a:r>
              <a:rPr lang="en-US" sz="850" dirty="0">
                <a:solidFill>
                  <a:srgbClr val="C9C9CE"/>
                </a:solidFill>
                <a:latin typeface="Arial" pitchFamily="34" charset="0"/>
                <a:ea typeface="Arial" pitchFamily="34" charset="-122"/>
                <a:cs typeface="Arial" pitchFamily="34" charset="-120"/>
              </a:rPr>
              <a:t>Clean flat infographic illustration, data-visualization aesthetic, modern and informational: a simple robotic-arm icon in magenta-pink (#E8478D) connected by a curved arrow to a circular loop symbol; a small warehouse/factory icon in muted gray (#3E3E46) in the background; abstract and diagrammatic; generous spacing. Deep near-black (#111114) background; clean vector-style shapes with soft gradients; muted institutional palette with selective bright accents; generous whitespace; organized layout with clear visual hierarchy; no photorealism, no dramatic lighting, no 3D renders; no text, no words, no logos, no watermark.</a:t>
            </a:r>
            <a:endParaRPr lang="en-US" sz="700" dirty="0"/>
          </a:p>
        </p:txBody>
      </p:sp>
      <p:sp>
        <p:nvSpPr>
          <p:cNvPr id="14" name="Shape 12"/>
          <p:cNvSpPr/>
          <p:nvPr/>
        </p:nvSpPr>
        <p:spPr>
          <a:xfrm>
            <a:off x="457200" y="2852928"/>
            <a:ext cx="1920240" cy="1170432"/>
          </a:xfrm>
          <a:prstGeom prst="rect">
            <a:avLst/>
          </a:prstGeom>
          <a:solidFill>
            <a:srgbClr val="1C1C20"/>
          </a:solidFill>
          <a:ln/>
        </p:spPr>
      </p:sp>
      <p:sp>
        <p:nvSpPr>
          <p:cNvPr id="15" name="Shape 13"/>
          <p:cNvSpPr/>
          <p:nvPr/>
        </p:nvSpPr>
        <p:spPr>
          <a:xfrm>
            <a:off x="457200" y="2852928"/>
            <a:ext cx="1920240" cy="36576"/>
          </a:xfrm>
          <a:prstGeom prst="rect">
            <a:avLst/>
          </a:prstGeom>
          <a:solidFill>
            <a:srgbClr val="E8478D"/>
          </a:solidFill>
          <a:ln/>
        </p:spPr>
      </p:sp>
      <p:sp>
        <p:nvSpPr>
          <p:cNvPr id="16" name="Text 14"/>
          <p:cNvSpPr/>
          <p:nvPr/>
        </p:nvSpPr>
        <p:spPr>
          <a:xfrm>
            <a:off x="566928" y="2962656"/>
            <a:ext cx="1700784" cy="987552"/>
          </a:xfrm>
          <a:prstGeom prst="rect">
            <a:avLst/>
          </a:prstGeom>
          <a:noFill/>
          <a:ln/>
        </p:spPr>
        <p:txBody>
          <a:bodyPr wrap="square" lIns="0" tIns="0" rIns="0" bIns="0" rtlCol="0" anchor="t"/>
          <a:lstStyle/>
          <a:p>
            <a:pPr indent="0" marL="0">
              <a:buNone/>
            </a:pPr>
            <a:r>
              <a:rPr lang="en-US" sz="950" b="1" dirty="0">
                <a:solidFill>
                  <a:srgbClr val="FFFFFF"/>
                </a:solidFill>
                <a:latin typeface="Arial" pitchFamily="34" charset="0"/>
                <a:ea typeface="Arial" pitchFamily="34" charset="-122"/>
                <a:cs typeface="Arial" pitchFamily="34" charset="-120"/>
              </a:rPr>
              <a:t>Embodiment.  </a:t>
            </a:r>
            <a:endParaRPr lang="en-US" sz="950" dirty="0"/>
          </a:p>
          <a:p>
            <a:pPr indent="0" marL="0">
              <a:buNone/>
            </a:pPr>
            <a:r>
              <a:rPr lang="en-US" sz="800" dirty="0">
                <a:solidFill>
                  <a:srgbClr val="C9C9CE"/>
                </a:solidFill>
                <a:latin typeface="Arial" pitchFamily="34" charset="0"/>
                <a:ea typeface="Arial" pitchFamily="34" charset="-122"/>
                <a:cs typeface="Arial" pitchFamily="34" charset="-120"/>
              </a:rPr>
              <a:t>Agentic loops in a body — physical labor enters the token economy.</a:t>
            </a:r>
            <a:endParaRPr lang="en-US" sz="950" dirty="0"/>
          </a:p>
        </p:txBody>
      </p:sp>
      <p:sp>
        <p:nvSpPr>
          <p:cNvPr id="17" name="Shape 15"/>
          <p:cNvSpPr/>
          <p:nvPr/>
        </p:nvSpPr>
        <p:spPr>
          <a:xfrm>
            <a:off x="2514600" y="1554480"/>
            <a:ext cx="1920240" cy="1234440"/>
          </a:xfrm>
          <a:prstGeom prst="rect">
            <a:avLst/>
          </a:prstGeom>
          <a:solidFill>
            <a:srgbClr val="1E1E24"/>
          </a:solidFill>
          <a:ln w="12700">
            <a:solidFill>
              <a:srgbClr val="2A2A30"/>
            </a:solidFill>
            <a:prstDash val="dash"/>
          </a:ln>
        </p:spPr>
      </p:sp>
      <p:sp>
        <p:nvSpPr>
          <p:cNvPr id="18" name="Shape 16"/>
          <p:cNvSpPr/>
          <p:nvPr/>
        </p:nvSpPr>
        <p:spPr>
          <a:xfrm>
            <a:off x="2514600" y="1554480"/>
            <a:ext cx="310896" cy="36576"/>
          </a:xfrm>
          <a:prstGeom prst="rect">
            <a:avLst/>
          </a:prstGeom>
          <a:solidFill>
            <a:srgbClr val="E8478D"/>
          </a:solidFill>
          <a:ln/>
        </p:spPr>
      </p:sp>
      <p:sp>
        <p:nvSpPr>
          <p:cNvPr id="19" name="Shape 17"/>
          <p:cNvSpPr/>
          <p:nvPr/>
        </p:nvSpPr>
        <p:spPr>
          <a:xfrm>
            <a:off x="2514600" y="1554480"/>
            <a:ext cx="36576" cy="310896"/>
          </a:xfrm>
          <a:prstGeom prst="rect">
            <a:avLst/>
          </a:prstGeom>
          <a:solidFill>
            <a:srgbClr val="E8478D"/>
          </a:solidFill>
          <a:ln/>
        </p:spPr>
      </p:sp>
      <p:sp>
        <p:nvSpPr>
          <p:cNvPr id="20" name="Shape 18"/>
          <p:cNvSpPr/>
          <p:nvPr/>
        </p:nvSpPr>
        <p:spPr>
          <a:xfrm>
            <a:off x="4123944" y="2752344"/>
            <a:ext cx="310896" cy="36576"/>
          </a:xfrm>
          <a:prstGeom prst="rect">
            <a:avLst/>
          </a:prstGeom>
          <a:solidFill>
            <a:srgbClr val="E8478D"/>
          </a:solidFill>
          <a:ln/>
        </p:spPr>
      </p:sp>
      <p:sp>
        <p:nvSpPr>
          <p:cNvPr id="21" name="Shape 19"/>
          <p:cNvSpPr/>
          <p:nvPr/>
        </p:nvSpPr>
        <p:spPr>
          <a:xfrm>
            <a:off x="4398264" y="2478024"/>
            <a:ext cx="36576" cy="310896"/>
          </a:xfrm>
          <a:prstGeom prst="rect">
            <a:avLst/>
          </a:prstGeom>
          <a:solidFill>
            <a:srgbClr val="E8478D"/>
          </a:solidFill>
          <a:ln/>
        </p:spPr>
      </p:sp>
      <p:sp>
        <p:nvSpPr>
          <p:cNvPr id="22" name="Text 20"/>
          <p:cNvSpPr/>
          <p:nvPr/>
        </p:nvSpPr>
        <p:spPr>
          <a:xfrm>
            <a:off x="2697480" y="1700784"/>
            <a:ext cx="1554480" cy="219456"/>
          </a:xfrm>
          <a:prstGeom prst="rect">
            <a:avLst/>
          </a:prstGeom>
          <a:noFill/>
          <a:ln/>
        </p:spPr>
        <p:txBody>
          <a:bodyPr wrap="square" lIns="0" tIns="0" rIns="0" bIns="0" rtlCol="0" anchor="ctr"/>
          <a:lstStyle/>
          <a:p>
            <a:pPr indent="0" marL="0">
              <a:buNone/>
            </a:pPr>
            <a:r>
              <a:rPr lang="en-US" sz="900" b="1" spc="200" kern="0" dirty="0">
                <a:solidFill>
                  <a:srgbClr val="E8478D"/>
                </a:solidFill>
                <a:latin typeface="Arial" pitchFamily="34" charset="0"/>
                <a:ea typeface="Arial" pitchFamily="34" charset="-122"/>
                <a:cs typeface="Arial" pitchFamily="34" charset="-120"/>
              </a:rPr>
              <a:t>IMAGE  ·  wheels</a:t>
            </a:r>
            <a:endParaRPr lang="en-US" sz="900" dirty="0"/>
          </a:p>
        </p:txBody>
      </p:sp>
      <p:sp>
        <p:nvSpPr>
          <p:cNvPr id="23" name="Text 21"/>
          <p:cNvSpPr/>
          <p:nvPr/>
        </p:nvSpPr>
        <p:spPr>
          <a:xfrm>
            <a:off x="2697480" y="1975104"/>
            <a:ext cx="1554480" cy="630936"/>
          </a:xfrm>
          <a:prstGeom prst="rect">
            <a:avLst/>
          </a:prstGeom>
          <a:noFill/>
          <a:ln/>
        </p:spPr>
        <p:txBody>
          <a:bodyPr wrap="square" lIns="0" tIns="0" rIns="0" bIns="0" rtlCol="0" anchor="t"/>
          <a:lstStyle/>
          <a:p>
            <a:pPr indent="0" marL="0">
              <a:buNone/>
            </a:pPr>
            <a:r>
              <a:rPr lang="en-US" sz="700" i="1" dirty="0">
                <a:solidFill>
                  <a:srgbClr val="8A8A90"/>
                </a:solidFill>
                <a:latin typeface="Arial" pitchFamily="34" charset="0"/>
                <a:ea typeface="Arial" pitchFamily="34" charset="-122"/>
                <a:cs typeface="Arial" pitchFamily="34" charset="-120"/>
              </a:rPr>
              <a:t>IMAGE PROMPT → save as frontier-wheels.png</a:t>
            </a:r>
            <a:endParaRPr lang="en-US" sz="700" dirty="0"/>
          </a:p>
          <a:p>
            <a:pPr indent="0" marL="0">
              <a:buNone/>
            </a:pPr>
            <a:r>
              <a:rPr lang="en-US" sz="850" dirty="0">
                <a:solidFill>
                  <a:srgbClr val="C9C9CE"/>
                </a:solidFill>
                <a:latin typeface="Arial" pitchFamily="34" charset="0"/>
                <a:ea typeface="Arial" pitchFamily="34" charset="-122"/>
                <a:cs typeface="Arial" pitchFamily="34" charset="-120"/>
              </a:rPr>
              <a:t>Clean flat infographic illustration, data-visualization aesthetic, modern and informational: a minimal car silhouette icon in magenta-pink (#E8478D) with small radiating sensor-cone lines; thin data-stream lines flow from a cloud/server icon above into the car; a subtle road grid in muted gray (#2A2A30) beneath; abstract and diagrammatic. Deep near-black (#111114) background; clean vector-style shapes with soft gradients; muted institutional palette with selective bright accents; generous whitespace; organized layout with clear visual hierarchy; no photorealism, no dramatic lighting, no 3D renders; no text, no words, no logos, no watermark.</a:t>
            </a:r>
            <a:endParaRPr lang="en-US" sz="700" dirty="0"/>
          </a:p>
        </p:txBody>
      </p:sp>
      <p:sp>
        <p:nvSpPr>
          <p:cNvPr id="24" name="Shape 22"/>
          <p:cNvSpPr/>
          <p:nvPr/>
        </p:nvSpPr>
        <p:spPr>
          <a:xfrm>
            <a:off x="2514600" y="2852928"/>
            <a:ext cx="1920240" cy="1170432"/>
          </a:xfrm>
          <a:prstGeom prst="rect">
            <a:avLst/>
          </a:prstGeom>
          <a:solidFill>
            <a:srgbClr val="1C1C20"/>
          </a:solidFill>
          <a:ln/>
        </p:spPr>
      </p:sp>
      <p:sp>
        <p:nvSpPr>
          <p:cNvPr id="25" name="Shape 23"/>
          <p:cNvSpPr/>
          <p:nvPr/>
        </p:nvSpPr>
        <p:spPr>
          <a:xfrm>
            <a:off x="2514600" y="2852928"/>
            <a:ext cx="1920240" cy="36576"/>
          </a:xfrm>
          <a:prstGeom prst="rect">
            <a:avLst/>
          </a:prstGeom>
          <a:solidFill>
            <a:srgbClr val="E8478D"/>
          </a:solidFill>
          <a:ln/>
        </p:spPr>
      </p:sp>
      <p:sp>
        <p:nvSpPr>
          <p:cNvPr id="26" name="Text 24"/>
          <p:cNvSpPr/>
          <p:nvPr/>
        </p:nvSpPr>
        <p:spPr>
          <a:xfrm>
            <a:off x="2624328" y="2962656"/>
            <a:ext cx="1700784" cy="987552"/>
          </a:xfrm>
          <a:prstGeom prst="rect">
            <a:avLst/>
          </a:prstGeom>
          <a:noFill/>
          <a:ln/>
        </p:spPr>
        <p:txBody>
          <a:bodyPr wrap="square" lIns="0" tIns="0" rIns="0" bIns="0" rtlCol="0" anchor="t"/>
          <a:lstStyle/>
          <a:p>
            <a:pPr indent="0" marL="0">
              <a:buNone/>
            </a:pPr>
            <a:r>
              <a:rPr lang="en-US" sz="950" b="1" dirty="0">
                <a:solidFill>
                  <a:srgbClr val="FFFFFF"/>
                </a:solidFill>
                <a:latin typeface="Arial" pitchFamily="34" charset="0"/>
                <a:ea typeface="Arial" pitchFamily="34" charset="-122"/>
                <a:cs typeface="Arial" pitchFamily="34" charset="-120"/>
              </a:rPr>
              <a:t>Wheels.  </a:t>
            </a:r>
            <a:endParaRPr lang="en-US" sz="950" dirty="0"/>
          </a:p>
          <a:p>
            <a:pPr indent="0" marL="0">
              <a:buNone/>
            </a:pPr>
            <a:r>
              <a:rPr lang="en-US" sz="800" dirty="0">
                <a:solidFill>
                  <a:srgbClr val="C9C9CE"/>
                </a:solidFill>
                <a:latin typeface="Arial" pitchFamily="34" charset="0"/>
                <a:ea typeface="Arial" pitchFamily="34" charset="-122"/>
                <a:cs typeface="Arial" pitchFamily="34" charset="-120"/>
              </a:rPr>
              <a:t>Robotaxis are inference on wheels — per-mile token economics.</a:t>
            </a:r>
            <a:endParaRPr lang="en-US" sz="950" dirty="0"/>
          </a:p>
        </p:txBody>
      </p:sp>
      <p:sp>
        <p:nvSpPr>
          <p:cNvPr id="27" name="Shape 25"/>
          <p:cNvSpPr/>
          <p:nvPr/>
        </p:nvSpPr>
        <p:spPr>
          <a:xfrm>
            <a:off x="4572000" y="1554480"/>
            <a:ext cx="1920240" cy="1234440"/>
          </a:xfrm>
          <a:prstGeom prst="rect">
            <a:avLst/>
          </a:prstGeom>
          <a:solidFill>
            <a:srgbClr val="1E1E24"/>
          </a:solidFill>
          <a:ln w="12700">
            <a:solidFill>
              <a:srgbClr val="2A2A30"/>
            </a:solidFill>
            <a:prstDash val="dash"/>
          </a:ln>
        </p:spPr>
      </p:sp>
      <p:sp>
        <p:nvSpPr>
          <p:cNvPr id="28" name="Shape 26"/>
          <p:cNvSpPr/>
          <p:nvPr/>
        </p:nvSpPr>
        <p:spPr>
          <a:xfrm>
            <a:off x="4572000" y="1554480"/>
            <a:ext cx="310896" cy="36576"/>
          </a:xfrm>
          <a:prstGeom prst="rect">
            <a:avLst/>
          </a:prstGeom>
          <a:solidFill>
            <a:srgbClr val="E8478D"/>
          </a:solidFill>
          <a:ln/>
        </p:spPr>
      </p:sp>
      <p:sp>
        <p:nvSpPr>
          <p:cNvPr id="29" name="Shape 27"/>
          <p:cNvSpPr/>
          <p:nvPr/>
        </p:nvSpPr>
        <p:spPr>
          <a:xfrm>
            <a:off x="4572000" y="1554480"/>
            <a:ext cx="36576" cy="310896"/>
          </a:xfrm>
          <a:prstGeom prst="rect">
            <a:avLst/>
          </a:prstGeom>
          <a:solidFill>
            <a:srgbClr val="E8478D"/>
          </a:solidFill>
          <a:ln/>
        </p:spPr>
      </p:sp>
      <p:sp>
        <p:nvSpPr>
          <p:cNvPr id="30" name="Shape 28"/>
          <p:cNvSpPr/>
          <p:nvPr/>
        </p:nvSpPr>
        <p:spPr>
          <a:xfrm>
            <a:off x="6181344" y="2752344"/>
            <a:ext cx="310896" cy="36576"/>
          </a:xfrm>
          <a:prstGeom prst="rect">
            <a:avLst/>
          </a:prstGeom>
          <a:solidFill>
            <a:srgbClr val="E8478D"/>
          </a:solidFill>
          <a:ln/>
        </p:spPr>
      </p:sp>
      <p:sp>
        <p:nvSpPr>
          <p:cNvPr id="31" name="Shape 29"/>
          <p:cNvSpPr/>
          <p:nvPr/>
        </p:nvSpPr>
        <p:spPr>
          <a:xfrm>
            <a:off x="6455664" y="2478024"/>
            <a:ext cx="36576" cy="310896"/>
          </a:xfrm>
          <a:prstGeom prst="rect">
            <a:avLst/>
          </a:prstGeom>
          <a:solidFill>
            <a:srgbClr val="E8478D"/>
          </a:solidFill>
          <a:ln/>
        </p:spPr>
      </p:sp>
      <p:sp>
        <p:nvSpPr>
          <p:cNvPr id="32" name="Text 30"/>
          <p:cNvSpPr/>
          <p:nvPr/>
        </p:nvSpPr>
        <p:spPr>
          <a:xfrm>
            <a:off x="4754880" y="1700784"/>
            <a:ext cx="1554480" cy="219456"/>
          </a:xfrm>
          <a:prstGeom prst="rect">
            <a:avLst/>
          </a:prstGeom>
          <a:noFill/>
          <a:ln/>
        </p:spPr>
        <p:txBody>
          <a:bodyPr wrap="square" lIns="0" tIns="0" rIns="0" bIns="0" rtlCol="0" anchor="ctr"/>
          <a:lstStyle/>
          <a:p>
            <a:pPr indent="0" marL="0">
              <a:buNone/>
            </a:pPr>
            <a:r>
              <a:rPr lang="en-US" sz="900" b="1" spc="200" kern="0" dirty="0">
                <a:solidFill>
                  <a:srgbClr val="E8478D"/>
                </a:solidFill>
                <a:latin typeface="Arial" pitchFamily="34" charset="0"/>
                <a:ea typeface="Arial" pitchFamily="34" charset="-122"/>
                <a:cs typeface="Arial" pitchFamily="34" charset="-120"/>
              </a:rPr>
              <a:t>IMAGE  ·  orbit</a:t>
            </a:r>
            <a:endParaRPr lang="en-US" sz="900" dirty="0"/>
          </a:p>
        </p:txBody>
      </p:sp>
      <p:sp>
        <p:nvSpPr>
          <p:cNvPr id="33" name="Text 31"/>
          <p:cNvSpPr/>
          <p:nvPr/>
        </p:nvSpPr>
        <p:spPr>
          <a:xfrm>
            <a:off x="4754880" y="1975104"/>
            <a:ext cx="1554480" cy="630936"/>
          </a:xfrm>
          <a:prstGeom prst="rect">
            <a:avLst/>
          </a:prstGeom>
          <a:noFill/>
          <a:ln/>
        </p:spPr>
        <p:txBody>
          <a:bodyPr wrap="square" lIns="0" tIns="0" rIns="0" bIns="0" rtlCol="0" anchor="t"/>
          <a:lstStyle/>
          <a:p>
            <a:pPr indent="0" marL="0">
              <a:buNone/>
            </a:pPr>
            <a:r>
              <a:rPr lang="en-US" sz="700" i="1" dirty="0">
                <a:solidFill>
                  <a:srgbClr val="8A8A90"/>
                </a:solidFill>
                <a:latin typeface="Arial" pitchFamily="34" charset="0"/>
                <a:ea typeface="Arial" pitchFamily="34" charset="-122"/>
                <a:cs typeface="Arial" pitchFamily="34" charset="-120"/>
              </a:rPr>
              <a:t>IMAGE PROMPT → save as frontier-orbit.png</a:t>
            </a:r>
            <a:endParaRPr lang="en-US" sz="700" dirty="0"/>
          </a:p>
          <a:p>
            <a:pPr indent="0" marL="0">
              <a:buNone/>
            </a:pPr>
            <a:r>
              <a:rPr lang="en-US" sz="850" dirty="0">
                <a:solidFill>
                  <a:srgbClr val="C9C9CE"/>
                </a:solidFill>
                <a:latin typeface="Arial" pitchFamily="34" charset="0"/>
                <a:ea typeface="Arial" pitchFamily="34" charset="-122"/>
                <a:cs typeface="Arial" pitchFamily="34" charset="-120"/>
              </a:rPr>
              <a:t>Clean flat infographic illustration, data-visualization aesthetic, modern and informational: a simple ring/torus shape in magenta-pink (#E8478D) with small rectangular modules around its rim, floating above a gentle curved line representing Earth’s horizon in muted gray; small solar-panel wing shapes extend from the ring; abstract and diagrammatic. Deep near-black (#111114) background; clean vector-style shapes with soft gradients; muted institutional palette with selective bright accents; generous whitespace; organized layout with clear visual hierarchy; no photorealism, no dramatic lighting, no 3D renders; no text, no words, no logos, no watermark.</a:t>
            </a:r>
            <a:endParaRPr lang="en-US" sz="700" dirty="0"/>
          </a:p>
        </p:txBody>
      </p:sp>
      <p:sp>
        <p:nvSpPr>
          <p:cNvPr id="34" name="Shape 32"/>
          <p:cNvSpPr/>
          <p:nvPr/>
        </p:nvSpPr>
        <p:spPr>
          <a:xfrm>
            <a:off x="4572000" y="2852928"/>
            <a:ext cx="1920240" cy="1170432"/>
          </a:xfrm>
          <a:prstGeom prst="rect">
            <a:avLst/>
          </a:prstGeom>
          <a:solidFill>
            <a:srgbClr val="1C1C20"/>
          </a:solidFill>
          <a:ln/>
        </p:spPr>
      </p:sp>
      <p:sp>
        <p:nvSpPr>
          <p:cNvPr id="35" name="Shape 33"/>
          <p:cNvSpPr/>
          <p:nvPr/>
        </p:nvSpPr>
        <p:spPr>
          <a:xfrm>
            <a:off x="4572000" y="2852928"/>
            <a:ext cx="1920240" cy="36576"/>
          </a:xfrm>
          <a:prstGeom prst="rect">
            <a:avLst/>
          </a:prstGeom>
          <a:solidFill>
            <a:srgbClr val="E8478D"/>
          </a:solidFill>
          <a:ln/>
        </p:spPr>
      </p:sp>
      <p:sp>
        <p:nvSpPr>
          <p:cNvPr id="36" name="Text 34"/>
          <p:cNvSpPr/>
          <p:nvPr/>
        </p:nvSpPr>
        <p:spPr>
          <a:xfrm>
            <a:off x="4681728" y="2962656"/>
            <a:ext cx="1700784" cy="987552"/>
          </a:xfrm>
          <a:prstGeom prst="rect">
            <a:avLst/>
          </a:prstGeom>
          <a:noFill/>
          <a:ln/>
        </p:spPr>
        <p:txBody>
          <a:bodyPr wrap="square" lIns="0" tIns="0" rIns="0" bIns="0" rtlCol="0" anchor="t"/>
          <a:lstStyle/>
          <a:p>
            <a:pPr indent="0" marL="0">
              <a:buNone/>
            </a:pPr>
            <a:r>
              <a:rPr lang="en-US" sz="950" b="1" dirty="0">
                <a:solidFill>
                  <a:srgbClr val="FFFFFF"/>
                </a:solidFill>
                <a:latin typeface="Arial" pitchFamily="34" charset="0"/>
                <a:ea typeface="Arial" pitchFamily="34" charset="-122"/>
                <a:cs typeface="Arial" pitchFamily="34" charset="-120"/>
              </a:rPr>
              <a:t>Orbit.  </a:t>
            </a:r>
            <a:endParaRPr lang="en-US" sz="950" dirty="0"/>
          </a:p>
          <a:p>
            <a:pPr indent="0" marL="0">
              <a:buNone/>
            </a:pPr>
            <a:r>
              <a:rPr lang="en-US" sz="800" dirty="0">
                <a:solidFill>
                  <a:srgbClr val="C9C9CE"/>
                </a:solidFill>
                <a:latin typeface="Arial" pitchFamily="34" charset="0"/>
                <a:ea typeface="Arial" pitchFamily="34" charset="-122"/>
                <a:cs typeface="Arial" pitchFamily="34" charset="-120"/>
              </a:rPr>
              <a:t>Orbital compute escapes the grid constraint behind token rationing.</a:t>
            </a:r>
            <a:endParaRPr lang="en-US" sz="950" dirty="0"/>
          </a:p>
        </p:txBody>
      </p:sp>
      <p:sp>
        <p:nvSpPr>
          <p:cNvPr id="37" name="Shape 35"/>
          <p:cNvSpPr/>
          <p:nvPr/>
        </p:nvSpPr>
        <p:spPr>
          <a:xfrm>
            <a:off x="6629400" y="1554480"/>
            <a:ext cx="1920240" cy="1234440"/>
          </a:xfrm>
          <a:prstGeom prst="rect">
            <a:avLst/>
          </a:prstGeom>
          <a:solidFill>
            <a:srgbClr val="1E1E24"/>
          </a:solidFill>
          <a:ln w="12700">
            <a:solidFill>
              <a:srgbClr val="2A2A30"/>
            </a:solidFill>
            <a:prstDash val="dash"/>
          </a:ln>
        </p:spPr>
      </p:sp>
      <p:sp>
        <p:nvSpPr>
          <p:cNvPr id="38" name="Shape 36"/>
          <p:cNvSpPr/>
          <p:nvPr/>
        </p:nvSpPr>
        <p:spPr>
          <a:xfrm>
            <a:off x="6629400" y="1554480"/>
            <a:ext cx="310896" cy="36576"/>
          </a:xfrm>
          <a:prstGeom prst="rect">
            <a:avLst/>
          </a:prstGeom>
          <a:solidFill>
            <a:srgbClr val="E8478D"/>
          </a:solidFill>
          <a:ln/>
        </p:spPr>
      </p:sp>
      <p:sp>
        <p:nvSpPr>
          <p:cNvPr id="39" name="Shape 37"/>
          <p:cNvSpPr/>
          <p:nvPr/>
        </p:nvSpPr>
        <p:spPr>
          <a:xfrm>
            <a:off x="6629400" y="1554480"/>
            <a:ext cx="36576" cy="310896"/>
          </a:xfrm>
          <a:prstGeom prst="rect">
            <a:avLst/>
          </a:prstGeom>
          <a:solidFill>
            <a:srgbClr val="E8478D"/>
          </a:solidFill>
          <a:ln/>
        </p:spPr>
      </p:sp>
      <p:sp>
        <p:nvSpPr>
          <p:cNvPr id="40" name="Shape 38"/>
          <p:cNvSpPr/>
          <p:nvPr/>
        </p:nvSpPr>
        <p:spPr>
          <a:xfrm>
            <a:off x="8238744" y="2752344"/>
            <a:ext cx="310896" cy="36576"/>
          </a:xfrm>
          <a:prstGeom prst="rect">
            <a:avLst/>
          </a:prstGeom>
          <a:solidFill>
            <a:srgbClr val="E8478D"/>
          </a:solidFill>
          <a:ln/>
        </p:spPr>
      </p:sp>
      <p:sp>
        <p:nvSpPr>
          <p:cNvPr id="41" name="Shape 39"/>
          <p:cNvSpPr/>
          <p:nvPr/>
        </p:nvSpPr>
        <p:spPr>
          <a:xfrm>
            <a:off x="8513064" y="2478024"/>
            <a:ext cx="36576" cy="310896"/>
          </a:xfrm>
          <a:prstGeom prst="rect">
            <a:avLst/>
          </a:prstGeom>
          <a:solidFill>
            <a:srgbClr val="E8478D"/>
          </a:solidFill>
          <a:ln/>
        </p:spPr>
      </p:sp>
      <p:sp>
        <p:nvSpPr>
          <p:cNvPr id="42" name="Text 40"/>
          <p:cNvSpPr/>
          <p:nvPr/>
        </p:nvSpPr>
        <p:spPr>
          <a:xfrm>
            <a:off x="6812280" y="1700784"/>
            <a:ext cx="1554480" cy="219456"/>
          </a:xfrm>
          <a:prstGeom prst="rect">
            <a:avLst/>
          </a:prstGeom>
          <a:noFill/>
          <a:ln/>
        </p:spPr>
        <p:txBody>
          <a:bodyPr wrap="square" lIns="0" tIns="0" rIns="0" bIns="0" rtlCol="0" anchor="ctr"/>
          <a:lstStyle/>
          <a:p>
            <a:pPr indent="0" marL="0">
              <a:buNone/>
            </a:pPr>
            <a:r>
              <a:rPr lang="en-US" sz="900" b="1" spc="200" kern="0" dirty="0">
                <a:solidFill>
                  <a:srgbClr val="E8478D"/>
                </a:solidFill>
                <a:latin typeface="Arial" pitchFamily="34" charset="0"/>
                <a:ea typeface="Arial" pitchFamily="34" charset="-122"/>
                <a:cs typeface="Arial" pitchFamily="34" charset="-120"/>
              </a:rPr>
              <a:t>IMAGE  ·  proteins</a:t>
            </a:r>
            <a:endParaRPr lang="en-US" sz="900" dirty="0"/>
          </a:p>
        </p:txBody>
      </p:sp>
      <p:sp>
        <p:nvSpPr>
          <p:cNvPr id="43" name="Text 41"/>
          <p:cNvSpPr/>
          <p:nvPr/>
        </p:nvSpPr>
        <p:spPr>
          <a:xfrm>
            <a:off x="6812280" y="1975104"/>
            <a:ext cx="1554480" cy="630936"/>
          </a:xfrm>
          <a:prstGeom prst="rect">
            <a:avLst/>
          </a:prstGeom>
          <a:noFill/>
          <a:ln/>
        </p:spPr>
        <p:txBody>
          <a:bodyPr wrap="square" lIns="0" tIns="0" rIns="0" bIns="0" rtlCol="0" anchor="t"/>
          <a:lstStyle/>
          <a:p>
            <a:pPr indent="0" marL="0">
              <a:buNone/>
            </a:pPr>
            <a:r>
              <a:rPr lang="en-US" sz="700" i="1" dirty="0">
                <a:solidFill>
                  <a:srgbClr val="8A8A90"/>
                </a:solidFill>
                <a:latin typeface="Arial" pitchFamily="34" charset="0"/>
                <a:ea typeface="Arial" pitchFamily="34" charset="-122"/>
                <a:cs typeface="Arial" pitchFamily="34" charset="-120"/>
              </a:rPr>
              <a:t>IMAGE PROMPT → save as frontier-proteins.png</a:t>
            </a:r>
            <a:endParaRPr lang="en-US" sz="700" dirty="0"/>
          </a:p>
          <a:p>
            <a:pPr indent="0" marL="0">
              <a:buNone/>
            </a:pPr>
            <a:r>
              <a:rPr lang="en-US" sz="850" dirty="0">
                <a:solidFill>
                  <a:srgbClr val="C9C9CE"/>
                </a:solidFill>
                <a:latin typeface="Arial" pitchFamily="34" charset="0"/>
                <a:ea typeface="Arial" pitchFamily="34" charset="-122"/>
                <a:cs typeface="Arial" pitchFamily="34" charset="-120"/>
              </a:rPr>
              <a:t>Clean flat infographic illustration, data-visualization aesthetic, modern and informational: a stylized folded-protein ribbon shape in magenta-pink (#E8478D) and warm orange (#F6693D) with a small DNA helix icon nearby; a subtle connection line leads to a compute/chip icon; clean abstract molecular-diagram aesthetic. Deep near-black (#111114) background; clean vector-style shapes with soft gradients; muted institutional palette with selective bright accents; generous whitespace; organized layout with clear visual hierarchy; no photorealism, no dramatic lighting, no 3D renders; no text, no words, no logos, no watermark.</a:t>
            </a:r>
            <a:endParaRPr lang="en-US" sz="700" dirty="0"/>
          </a:p>
        </p:txBody>
      </p:sp>
      <p:sp>
        <p:nvSpPr>
          <p:cNvPr id="44" name="Shape 42"/>
          <p:cNvSpPr/>
          <p:nvPr/>
        </p:nvSpPr>
        <p:spPr>
          <a:xfrm>
            <a:off x="6629400" y="2852928"/>
            <a:ext cx="1920240" cy="1170432"/>
          </a:xfrm>
          <a:prstGeom prst="rect">
            <a:avLst/>
          </a:prstGeom>
          <a:solidFill>
            <a:srgbClr val="1C1C20"/>
          </a:solidFill>
          <a:ln/>
        </p:spPr>
      </p:sp>
      <p:sp>
        <p:nvSpPr>
          <p:cNvPr id="45" name="Shape 43"/>
          <p:cNvSpPr/>
          <p:nvPr/>
        </p:nvSpPr>
        <p:spPr>
          <a:xfrm>
            <a:off x="6629400" y="2852928"/>
            <a:ext cx="1920240" cy="36576"/>
          </a:xfrm>
          <a:prstGeom prst="rect">
            <a:avLst/>
          </a:prstGeom>
          <a:solidFill>
            <a:srgbClr val="E8478D"/>
          </a:solidFill>
          <a:ln/>
        </p:spPr>
      </p:sp>
      <p:sp>
        <p:nvSpPr>
          <p:cNvPr id="46" name="Text 44"/>
          <p:cNvSpPr/>
          <p:nvPr/>
        </p:nvSpPr>
        <p:spPr>
          <a:xfrm>
            <a:off x="6739128" y="2962656"/>
            <a:ext cx="1700784" cy="987552"/>
          </a:xfrm>
          <a:prstGeom prst="rect">
            <a:avLst/>
          </a:prstGeom>
          <a:noFill/>
          <a:ln/>
        </p:spPr>
        <p:txBody>
          <a:bodyPr wrap="square" lIns="0" tIns="0" rIns="0" bIns="0" rtlCol="0" anchor="t"/>
          <a:lstStyle/>
          <a:p>
            <a:pPr indent="0" marL="0">
              <a:buNone/>
            </a:pPr>
            <a:r>
              <a:rPr lang="en-US" sz="950" b="1" dirty="0">
                <a:solidFill>
                  <a:srgbClr val="FFFFFF"/>
                </a:solidFill>
                <a:latin typeface="Arial" pitchFamily="34" charset="0"/>
                <a:ea typeface="Arial" pitchFamily="34" charset="-122"/>
                <a:cs typeface="Arial" pitchFamily="34" charset="-120"/>
              </a:rPr>
              <a:t>Proteins.  </a:t>
            </a:r>
            <a:endParaRPr lang="en-US" sz="950" dirty="0"/>
          </a:p>
          <a:p>
            <a:pPr indent="0" marL="0">
              <a:buNone/>
            </a:pPr>
            <a:r>
              <a:rPr lang="en-US" sz="800" dirty="0">
                <a:solidFill>
                  <a:srgbClr val="C9C9CE"/>
                </a:solidFill>
                <a:latin typeface="Arial" pitchFamily="34" charset="0"/>
                <a:ea typeface="Arial" pitchFamily="34" charset="-122"/>
                <a:cs typeface="Arial" pitchFamily="34" charset="-120"/>
              </a:rPr>
              <a:t>AI-designed proteins make discovery compute-bound; R&amp;D looks like capex.</a:t>
            </a:r>
            <a:endParaRPr lang="en-US" sz="950" dirty="0"/>
          </a:p>
        </p:txBody>
      </p:sp>
      <p:sp>
        <p:nvSpPr>
          <p:cNvPr id="47" name="Text 45"/>
          <p:cNvSpPr/>
          <p:nvPr/>
        </p:nvSpPr>
        <p:spPr>
          <a:xfrm>
            <a:off x="457200" y="4114800"/>
            <a:ext cx="8229600" cy="237744"/>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These are not 2026 revenue items — they are the next decade’s demand curve, extending the early-stage thesis. </a:t>
            </a:r>
            <a:pPr indent="0" marL="0">
              <a:buNone/>
            </a:pPr>
            <a:r>
              <a:rPr lang="en-US" sz="1000" dirty="0">
                <a:solidFill>
                  <a:srgbClr val="C9C9CE"/>
                </a:solidFill>
                <a:latin typeface="Arial" pitchFamily="34" charset="0"/>
                <a:ea typeface="Arial" pitchFamily="34" charset="-122"/>
                <a:cs typeface="Arial" pitchFamily="34" charset="-120"/>
              </a:rPr>
              <a:t>Watch them like markets, not memes: launch cadence, fleet miles, design wins.</a:t>
            </a:r>
            <a:endParaRPr lang="en-US" sz="1000" dirty="0"/>
          </a:p>
        </p:txBody>
      </p:sp>
      <p:sp>
        <p:nvSpPr>
          <p:cNvPr id="48" name="Text 46"/>
          <p:cNvSpPr/>
          <p:nvPr/>
        </p:nvSpPr>
        <p:spPr>
          <a:xfrm>
            <a:off x="457200" y="4334256"/>
            <a:ext cx="8229600" cy="384048"/>
          </a:xfrm>
          <a:prstGeom prst="rect">
            <a:avLst/>
          </a:prstGeom>
          <a:noFill/>
          <a:ln/>
        </p:spPr>
        <p:txBody>
          <a:bodyPr wrap="square" lIns="0" tIns="0" rIns="0" bIns="0" rtlCol="0" anchor="t"/>
          <a:lstStyle/>
          <a:p>
            <a:pPr indent="0" marL="0">
              <a:buNone/>
            </a:pPr>
            <a:r>
              <a:rPr lang="en-US" sz="700" dirty="0">
                <a:solidFill>
                  <a:srgbClr val="8A8A90"/>
                </a:solidFill>
                <a:latin typeface="Arial" pitchFamily="34" charset="0"/>
                <a:ea typeface="Arial" pitchFamily="34" charset="-122"/>
                <a:cs typeface="Arial" pitchFamily="34" charset="-120"/>
              </a:rPr>
              <a:t>Source: Deck analysis building on Internal strategic review, “The 2026 AI Frontier” (Jun 2026). All frontier-watch items are speculative and appear in no company guidance.</a:t>
            </a:r>
            <a:endParaRPr lang="en-US" sz="700" dirty="0"/>
          </a:p>
        </p:txBody>
      </p:sp>
      <p:sp>
        <p:nvSpPr>
          <p:cNvPr id="49" name="Shape 47"/>
          <p:cNvSpPr/>
          <p:nvPr/>
        </p:nvSpPr>
        <p:spPr>
          <a:xfrm>
            <a:off x="0" y="4526280"/>
            <a:ext cx="9144000" cy="617220"/>
          </a:xfrm>
          <a:prstGeom prst="rect">
            <a:avLst/>
          </a:prstGeom>
          <a:solidFill>
            <a:srgbClr val="000000"/>
          </a:solidFill>
          <a:ln/>
        </p:spPr>
      </p:sp>
      <p:sp>
        <p:nvSpPr>
          <p:cNvPr id="50" name="Shape 48"/>
          <p:cNvSpPr/>
          <p:nvPr/>
        </p:nvSpPr>
        <p:spPr>
          <a:xfrm>
            <a:off x="0" y="4526280"/>
            <a:ext cx="9144000" cy="0"/>
          </a:xfrm>
          <a:prstGeom prst="line">
            <a:avLst/>
          </a:prstGeom>
          <a:noFill/>
          <a:ln w="6350">
            <a:solidFill>
              <a:srgbClr val="2A2A30"/>
            </a:solidFill>
            <a:prstDash val="solid"/>
          </a:ln>
        </p:spPr>
      </p:sp>
      <p:sp>
        <p:nvSpPr>
          <p:cNvPr id="51" name="Text 49"/>
          <p:cNvSpPr/>
          <p:nvPr/>
        </p:nvSpPr>
        <p:spPr>
          <a:xfrm>
            <a:off x="1371600" y="4572000"/>
            <a:ext cx="6583680" cy="502920"/>
          </a:xfrm>
          <a:prstGeom prst="rect">
            <a:avLst/>
          </a:prstGeom>
          <a:noFill/>
          <a:ln/>
        </p:spPr>
        <p:txBody>
          <a:bodyPr wrap="square" rtlCol="0" anchor="ctr"/>
          <a:lstStyle/>
          <a:p>
            <a:pPr algn="ctr" indent="0" marL="0">
              <a:buNone/>
            </a:pPr>
            <a:r>
              <a:rPr lang="en-US" sz="650" b="1" dirty="0">
                <a:solidFill>
                  <a:srgbClr val="9A9AA0"/>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52" name="Text 50"/>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9A9AA0"/>
                </a:solidFill>
                <a:latin typeface="Arial" pitchFamily="34" charset="0"/>
                <a:ea typeface="Arial" pitchFamily="34" charset="-122"/>
                <a:cs typeface="Arial"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11114"/>
        </a:solidFill>
      </p:bgPr>
    </p:bg>
    <p:spTree>
      <p:nvGrpSpPr>
        <p:cNvPr id="1" name=""/>
        <p:cNvGrpSpPr/>
        <p:nvPr/>
      </p:nvGrpSpPr>
      <p:grpSpPr>
        <a:xfrm>
          <a:off x="0" y="0"/>
          <a:ext cx="0" cy="0"/>
          <a:chOff x="0" y="0"/>
          <a:chExt cx="0" cy="0"/>
        </a:xfrm>
      </p:grpSpPr>
      <p:sp>
        <p:nvSpPr>
          <p:cNvPr id="2" name="Text 0"/>
          <p:cNvSpPr/>
          <p:nvPr/>
        </p:nvSpPr>
        <p:spPr>
          <a:xfrm>
            <a:off x="457200" y="320040"/>
            <a:ext cx="8229600" cy="640080"/>
          </a:xfrm>
          <a:prstGeom prst="rect">
            <a:avLst/>
          </a:prstGeom>
          <a:noFill/>
          <a:ln/>
        </p:spPr>
        <p:txBody>
          <a:bodyPr wrap="square" lIns="0" tIns="0" rIns="0" bIns="0" rtlCol="0" anchor="t"/>
          <a:lstStyle/>
          <a:p>
            <a:pPr indent="0" marL="0">
              <a:buNone/>
            </a:pPr>
            <a:r>
              <a:rPr lang="en-US" sz="2200" b="1" dirty="0">
                <a:solidFill>
                  <a:srgbClr val="FFFFFF"/>
                </a:solidFill>
                <a:latin typeface="Arial Black" pitchFamily="34" charset="0"/>
                <a:ea typeface="Arial Black" pitchFamily="34" charset="-122"/>
                <a:cs typeface="Arial Black" pitchFamily="34" charset="-120"/>
              </a:rPr>
              <a:t>Sources &amp; methodology</a:t>
            </a:r>
            <a:endParaRPr lang="en-US" sz="2200" dirty="0"/>
          </a:p>
        </p:txBody>
      </p:sp>
      <p:sp>
        <p:nvSpPr>
          <p:cNvPr id="3" name="Shape 1"/>
          <p:cNvSpPr/>
          <p:nvPr/>
        </p:nvSpPr>
        <p:spPr>
          <a:xfrm>
            <a:off x="457200" y="896112"/>
            <a:ext cx="2377440" cy="347472"/>
          </a:xfrm>
          <a:prstGeom prst="rect">
            <a:avLst/>
          </a:prstGeom>
          <a:solidFill>
            <a:srgbClr val="F6693D"/>
          </a:solidFill>
          <a:ln/>
        </p:spPr>
      </p:sp>
      <p:sp>
        <p:nvSpPr>
          <p:cNvPr id="4" name="Text 2"/>
          <p:cNvSpPr/>
          <p:nvPr/>
        </p:nvSpPr>
        <p:spPr>
          <a:xfrm>
            <a:off x="457200" y="896112"/>
            <a:ext cx="2377440" cy="347472"/>
          </a:xfrm>
          <a:prstGeom prst="rect">
            <a:avLst/>
          </a:prstGeom>
          <a:noFill/>
          <a:ln/>
        </p:spPr>
        <p:txBody>
          <a:bodyPr wrap="square" lIns="0" tIns="0" rIns="0" bIns="0" rtlCol="0" anchor="ctr"/>
          <a:lstStyle/>
          <a:p>
            <a:pPr algn="ctr" indent="0" marL="0">
              <a:buNone/>
            </a:pPr>
            <a:r>
              <a:rPr lang="en-US" sz="1050" b="1" spc="100" kern="0" dirty="0">
                <a:solidFill>
                  <a:srgbClr val="000000"/>
                </a:solidFill>
                <a:latin typeface="Arial" pitchFamily="34" charset="0"/>
                <a:ea typeface="Arial" pitchFamily="34" charset="-122"/>
                <a:cs typeface="Arial" pitchFamily="34" charset="-120"/>
              </a:rPr>
              <a:t>DATA AS OF JUNE 2026</a:t>
            </a:r>
            <a:endParaRPr lang="en-US" sz="1050" dirty="0"/>
          </a:p>
        </p:txBody>
      </p:sp>
      <p:sp>
        <p:nvSpPr>
          <p:cNvPr id="5" name="Text 3"/>
          <p:cNvSpPr/>
          <p:nvPr/>
        </p:nvSpPr>
        <p:spPr>
          <a:xfrm>
            <a:off x="3017520" y="896112"/>
            <a:ext cx="5669280" cy="384048"/>
          </a:xfrm>
          <a:prstGeom prst="rect">
            <a:avLst/>
          </a:prstGeom>
          <a:noFill/>
          <a:ln/>
        </p:spPr>
        <p:txBody>
          <a:bodyPr wrap="square" lIns="0" tIns="0" rIns="0" bIns="0" rtlCol="0" anchor="ctr"/>
          <a:lstStyle/>
          <a:p>
            <a:pPr indent="0" marL="0">
              <a:buNone/>
            </a:pPr>
            <a:r>
              <a:rPr lang="en-US" sz="850" dirty="0">
                <a:solidFill>
                  <a:srgbClr val="9A9AA0"/>
                </a:solidFill>
                <a:latin typeface="Arial" pitchFamily="34" charset="0"/>
                <a:ea typeface="Arial" pitchFamily="34" charset="-122"/>
                <a:cs typeface="Arial" pitchFamily="34" charset="-120"/>
              </a:rPr>
              <a:t>All return figures are YTD total returns through the most recent available close (Jun 5–9, 2026, unless noted). Index and market-cap figures as of early June 2026.</a:t>
            </a:r>
            <a:endParaRPr lang="en-US" sz="850" dirty="0"/>
          </a:p>
        </p:txBody>
      </p:sp>
      <p:sp>
        <p:nvSpPr>
          <p:cNvPr id="6" name="Shape 4"/>
          <p:cNvSpPr/>
          <p:nvPr/>
        </p:nvSpPr>
        <p:spPr>
          <a:xfrm>
            <a:off x="457200" y="1444752"/>
            <a:ext cx="2057400" cy="219456"/>
          </a:xfrm>
          <a:prstGeom prst="rect">
            <a:avLst/>
          </a:prstGeom>
          <a:solidFill>
            <a:srgbClr val="FFB800"/>
          </a:solidFill>
          <a:ln/>
        </p:spPr>
      </p:sp>
      <p:sp>
        <p:nvSpPr>
          <p:cNvPr id="7" name="Text 5"/>
          <p:cNvSpPr/>
          <p:nvPr/>
        </p:nvSpPr>
        <p:spPr>
          <a:xfrm>
            <a:off x="457200" y="1444752"/>
            <a:ext cx="2057400" cy="219456"/>
          </a:xfrm>
          <a:prstGeom prst="rect">
            <a:avLst/>
          </a:prstGeom>
          <a:noFill/>
          <a:ln/>
        </p:spPr>
        <p:txBody>
          <a:bodyPr wrap="square" lIns="0" tIns="0" rIns="0" bIns="0" rtlCol="0" anchor="ctr"/>
          <a:lstStyle/>
          <a:p>
            <a:pPr algn="ctr" indent="0" marL="0">
              <a:buNone/>
            </a:pPr>
            <a:r>
              <a:rPr lang="en-US" sz="750" b="1" spc="100" kern="0" dirty="0">
                <a:solidFill>
                  <a:srgbClr val="000000"/>
                </a:solidFill>
                <a:latin typeface="Arial" pitchFamily="34" charset="0"/>
                <a:ea typeface="Arial" pitchFamily="34" charset="-122"/>
                <a:cs typeface="Arial" pitchFamily="34" charset="-120"/>
              </a:rPr>
              <a:t>MARKET DATA</a:t>
            </a:r>
            <a:endParaRPr lang="en-US" sz="750" dirty="0"/>
          </a:p>
        </p:txBody>
      </p:sp>
      <p:sp>
        <p:nvSpPr>
          <p:cNvPr id="8" name="Text 6"/>
          <p:cNvSpPr/>
          <p:nvPr/>
        </p:nvSpPr>
        <p:spPr>
          <a:xfrm>
            <a:off x="493776" y="1737360"/>
            <a:ext cx="1993392" cy="2194560"/>
          </a:xfrm>
          <a:prstGeom prst="rect">
            <a:avLst/>
          </a:prstGeom>
          <a:noFill/>
          <a:ln/>
        </p:spPr>
        <p:txBody>
          <a:bodyPr wrap="square" lIns="0" tIns="0" rIns="0" bIns="0" rtlCol="0" anchor="t"/>
          <a:lstStyle/>
          <a:p>
            <a:pPr marL="88900" indent="-88900">
              <a:spcAft>
                <a:spcPts val="400"/>
              </a:spcAft>
              <a:buSzPct val="100000"/>
              <a:buChar char="•"/>
            </a:pPr>
            <a:r>
              <a:rPr lang="en-US" sz="720" dirty="0">
                <a:solidFill>
                  <a:srgbClr val="C9C9CE"/>
                </a:solidFill>
                <a:latin typeface="Arial" pitchFamily="34" charset="0"/>
                <a:ea typeface="Arial" pitchFamily="34" charset="-122"/>
                <a:cs typeface="Arial" pitchFamily="34" charset="-120"/>
              </a:rPr>
              <a:t>ETF returns &amp; stats: stockanalysis.com (SOXX, IGV); Morningstar / Yahoo Finance (RSP, MAGS)</a:t>
            </a:r>
            <a:endParaRPr lang="en-US" sz="720" dirty="0"/>
          </a:p>
          <a:p>
            <a:pPr marL="88900" indent="-88900">
              <a:spcAft>
                <a:spcPts val="400"/>
              </a:spcAft>
              <a:buSzPct val="100000"/>
              <a:buChar char="•"/>
            </a:pPr>
            <a:r>
              <a:rPr lang="en-US" sz="720" dirty="0">
                <a:solidFill>
                  <a:srgbClr val="C9C9CE"/>
                </a:solidFill>
                <a:latin typeface="Arial" pitchFamily="34" charset="0"/>
                <a:ea typeface="Arial" pitchFamily="34" charset="-122"/>
                <a:cs typeface="Arial" pitchFamily="34" charset="-120"/>
              </a:rPr>
              <a:t>Index returns &amp; weights: slickcharts.com; S&amp;P Dow Jones Indices; MacroMicro</a:t>
            </a:r>
            <a:endParaRPr lang="en-US" sz="720" dirty="0"/>
          </a:p>
          <a:p>
            <a:pPr marL="88900" indent="-88900">
              <a:spcAft>
                <a:spcPts val="400"/>
              </a:spcAft>
              <a:buSzPct val="100000"/>
              <a:buChar char="•"/>
            </a:pPr>
            <a:r>
              <a:rPr lang="en-US" sz="720" dirty="0">
                <a:solidFill>
                  <a:srgbClr val="C9C9CE"/>
                </a:solidFill>
                <a:latin typeface="Arial" pitchFamily="34" charset="0"/>
                <a:ea typeface="Arial" pitchFamily="34" charset="-122"/>
                <a:cs typeface="Arial" pitchFamily="34" charset="-120"/>
              </a:rPr>
              <a:t>Market caps: companiesmarketcap.com; Motley Fool research (Jun 2026)</a:t>
            </a:r>
            <a:endParaRPr lang="en-US" sz="720" dirty="0"/>
          </a:p>
          <a:p>
            <a:pPr marL="88900" indent="-88900">
              <a:spcAft>
                <a:spcPts val="400"/>
              </a:spcAft>
              <a:buSzPct val="100000"/>
              <a:buChar char="•"/>
            </a:pPr>
            <a:r>
              <a:rPr lang="en-US" sz="720" dirty="0">
                <a:solidFill>
                  <a:srgbClr val="C9C9CE"/>
                </a:solidFill>
                <a:latin typeface="Arial" pitchFamily="34" charset="0"/>
                <a:ea typeface="Arial" pitchFamily="34" charset="-122"/>
                <a:cs typeface="Arial" pitchFamily="34" charset="-120"/>
              </a:rPr>
              <a:t>Valuations: FactSet Earnings Insight; rates: US Treasury / FRED; CNBC (Jun 5, 2026)</a:t>
            </a:r>
            <a:endParaRPr lang="en-US" sz="720" dirty="0"/>
          </a:p>
        </p:txBody>
      </p:sp>
      <p:sp>
        <p:nvSpPr>
          <p:cNvPr id="9" name="Shape 7"/>
          <p:cNvSpPr/>
          <p:nvPr/>
        </p:nvSpPr>
        <p:spPr>
          <a:xfrm>
            <a:off x="2583180" y="1444752"/>
            <a:ext cx="2057400" cy="219456"/>
          </a:xfrm>
          <a:prstGeom prst="rect">
            <a:avLst/>
          </a:prstGeom>
          <a:solidFill>
            <a:srgbClr val="F6693D"/>
          </a:solidFill>
          <a:ln/>
        </p:spPr>
      </p:sp>
      <p:sp>
        <p:nvSpPr>
          <p:cNvPr id="10" name="Text 8"/>
          <p:cNvSpPr/>
          <p:nvPr/>
        </p:nvSpPr>
        <p:spPr>
          <a:xfrm>
            <a:off x="2583180" y="1444752"/>
            <a:ext cx="2057400" cy="219456"/>
          </a:xfrm>
          <a:prstGeom prst="rect">
            <a:avLst/>
          </a:prstGeom>
          <a:noFill/>
          <a:ln/>
        </p:spPr>
        <p:txBody>
          <a:bodyPr wrap="square" lIns="0" tIns="0" rIns="0" bIns="0" rtlCol="0" anchor="ctr"/>
          <a:lstStyle/>
          <a:p>
            <a:pPr algn="ctr" indent="0" marL="0">
              <a:buNone/>
            </a:pPr>
            <a:r>
              <a:rPr lang="en-US" sz="750" b="1" spc="100" kern="0" dirty="0">
                <a:solidFill>
                  <a:srgbClr val="000000"/>
                </a:solidFill>
                <a:latin typeface="Arial" pitchFamily="34" charset="0"/>
                <a:ea typeface="Arial" pitchFamily="34" charset="-122"/>
                <a:cs typeface="Arial" pitchFamily="34" charset="-120"/>
              </a:rPr>
              <a:t>CAPEX &amp; FINANCING</a:t>
            </a:r>
            <a:endParaRPr lang="en-US" sz="750" dirty="0"/>
          </a:p>
        </p:txBody>
      </p:sp>
      <p:sp>
        <p:nvSpPr>
          <p:cNvPr id="11" name="Text 9"/>
          <p:cNvSpPr/>
          <p:nvPr/>
        </p:nvSpPr>
        <p:spPr>
          <a:xfrm>
            <a:off x="2619756" y="1737360"/>
            <a:ext cx="1993392" cy="2194560"/>
          </a:xfrm>
          <a:prstGeom prst="rect">
            <a:avLst/>
          </a:prstGeom>
          <a:noFill/>
          <a:ln/>
        </p:spPr>
        <p:txBody>
          <a:bodyPr wrap="square" lIns="0" tIns="0" rIns="0" bIns="0" rtlCol="0" anchor="t"/>
          <a:lstStyle/>
          <a:p>
            <a:pPr marL="88900" indent="-88900">
              <a:spcAft>
                <a:spcPts val="400"/>
              </a:spcAft>
              <a:buSzPct val="100000"/>
              <a:buChar char="•"/>
            </a:pPr>
            <a:r>
              <a:rPr lang="en-US" sz="720" dirty="0">
                <a:solidFill>
                  <a:srgbClr val="C9C9CE"/>
                </a:solidFill>
                <a:latin typeface="Arial" pitchFamily="34" charset="0"/>
                <a:ea typeface="Arial" pitchFamily="34" charset="-122"/>
                <a:cs typeface="Arial" pitchFamily="34" charset="-120"/>
              </a:rPr>
              <a:t>Capex guidance: company reports via CNBC (Feb 6, 2026); Tom’s Hardware; Statista (midpoints)</a:t>
            </a:r>
            <a:endParaRPr lang="en-US" sz="720" dirty="0"/>
          </a:p>
          <a:p>
            <a:pPr marL="88900" indent="-88900">
              <a:spcAft>
                <a:spcPts val="400"/>
              </a:spcAft>
              <a:buSzPct val="100000"/>
              <a:buChar char="•"/>
            </a:pPr>
            <a:r>
              <a:rPr lang="en-US" sz="720" dirty="0">
                <a:solidFill>
                  <a:srgbClr val="C9C9CE"/>
                </a:solidFill>
                <a:latin typeface="Arial" pitchFamily="34" charset="0"/>
                <a:ea typeface="Arial" pitchFamily="34" charset="-122"/>
                <a:cs typeface="Arial" pitchFamily="34" charset="-120"/>
              </a:rPr>
              <a:t>Cash-flow math: BofA via Breckinridge; CNBC; techtimes / beincrypto FCF estimates</a:t>
            </a:r>
            <a:endParaRPr lang="en-US" sz="720" dirty="0"/>
          </a:p>
          <a:p>
            <a:pPr marL="88900" indent="-88900">
              <a:spcAft>
                <a:spcPts val="400"/>
              </a:spcAft>
              <a:buSzPct val="100000"/>
              <a:buChar char="•"/>
            </a:pPr>
            <a:r>
              <a:rPr lang="en-US" sz="720" dirty="0">
                <a:solidFill>
                  <a:srgbClr val="C9C9CE"/>
                </a:solidFill>
                <a:latin typeface="Arial" pitchFamily="34" charset="0"/>
                <a:ea typeface="Arial" pitchFamily="34" charset="-122"/>
                <a:cs typeface="Arial" pitchFamily="34" charset="-120"/>
              </a:rPr>
              <a:t>Bond issuance: Mawer; M&amp;G Investments; Fortune (Mar 2026); CNBC (Feb 2026)</a:t>
            </a:r>
            <a:endParaRPr lang="en-US" sz="720" dirty="0"/>
          </a:p>
          <a:p>
            <a:pPr marL="88900" indent="-88900">
              <a:spcAft>
                <a:spcPts val="400"/>
              </a:spcAft>
              <a:buSzPct val="100000"/>
              <a:buChar char="•"/>
            </a:pPr>
            <a:r>
              <a:rPr lang="en-US" sz="720" dirty="0">
                <a:solidFill>
                  <a:srgbClr val="C9C9CE"/>
                </a:solidFill>
                <a:latin typeface="Arial" pitchFamily="34" charset="0"/>
                <a:ea typeface="Arial" pitchFamily="34" charset="-122"/>
                <a:cs typeface="Arial" pitchFamily="34" charset="-120"/>
              </a:rPr>
              <a:t>Supply forecasts: UBS &amp; Barclays via Reuters (Jan 2026); credit signals: MUFG CDS via CNBC</a:t>
            </a:r>
            <a:endParaRPr lang="en-US" sz="720" dirty="0"/>
          </a:p>
        </p:txBody>
      </p:sp>
      <p:sp>
        <p:nvSpPr>
          <p:cNvPr id="12" name="Shape 10"/>
          <p:cNvSpPr/>
          <p:nvPr/>
        </p:nvSpPr>
        <p:spPr>
          <a:xfrm>
            <a:off x="4709160" y="1444752"/>
            <a:ext cx="2057400" cy="219456"/>
          </a:xfrm>
          <a:prstGeom prst="rect">
            <a:avLst/>
          </a:prstGeom>
          <a:solidFill>
            <a:srgbClr val="2BC4C4"/>
          </a:solidFill>
          <a:ln/>
        </p:spPr>
      </p:sp>
      <p:sp>
        <p:nvSpPr>
          <p:cNvPr id="13" name="Text 11"/>
          <p:cNvSpPr/>
          <p:nvPr/>
        </p:nvSpPr>
        <p:spPr>
          <a:xfrm>
            <a:off x="4709160" y="1444752"/>
            <a:ext cx="2057400" cy="219456"/>
          </a:xfrm>
          <a:prstGeom prst="rect">
            <a:avLst/>
          </a:prstGeom>
          <a:noFill/>
          <a:ln/>
        </p:spPr>
        <p:txBody>
          <a:bodyPr wrap="square" lIns="0" tIns="0" rIns="0" bIns="0" rtlCol="0" anchor="ctr"/>
          <a:lstStyle/>
          <a:p>
            <a:pPr algn="ctr" indent="0" marL="0">
              <a:buNone/>
            </a:pPr>
            <a:r>
              <a:rPr lang="en-US" sz="750" b="1" spc="100" kern="0" dirty="0">
                <a:solidFill>
                  <a:srgbClr val="000000"/>
                </a:solidFill>
                <a:latin typeface="Arial" pitchFamily="34" charset="0"/>
                <a:ea typeface="Arial" pitchFamily="34" charset="-122"/>
                <a:cs typeface="Arial" pitchFamily="34" charset="-120"/>
              </a:rPr>
              <a:t>LABOR &amp; POLICY</a:t>
            </a:r>
            <a:endParaRPr lang="en-US" sz="750" dirty="0"/>
          </a:p>
        </p:txBody>
      </p:sp>
      <p:sp>
        <p:nvSpPr>
          <p:cNvPr id="14" name="Text 12"/>
          <p:cNvSpPr/>
          <p:nvPr/>
        </p:nvSpPr>
        <p:spPr>
          <a:xfrm>
            <a:off x="4745736" y="1737360"/>
            <a:ext cx="1993392" cy="2194560"/>
          </a:xfrm>
          <a:prstGeom prst="rect">
            <a:avLst/>
          </a:prstGeom>
          <a:noFill/>
          <a:ln/>
        </p:spPr>
        <p:txBody>
          <a:bodyPr wrap="square" lIns="0" tIns="0" rIns="0" bIns="0" rtlCol="0" anchor="t"/>
          <a:lstStyle/>
          <a:p>
            <a:pPr marL="88900" indent="-88900">
              <a:spcAft>
                <a:spcPts val="400"/>
              </a:spcAft>
              <a:buSzPct val="100000"/>
              <a:buChar char="•"/>
            </a:pPr>
            <a:r>
              <a:rPr lang="en-US" sz="720" dirty="0">
                <a:solidFill>
                  <a:srgbClr val="C9C9CE"/>
                </a:solidFill>
                <a:latin typeface="Arial" pitchFamily="34" charset="0"/>
                <a:ea typeface="Arial" pitchFamily="34" charset="-122"/>
                <a:cs typeface="Arial" pitchFamily="34" charset="-120"/>
              </a:rPr>
              <a:t>Layoffs: Challenger, Gray &amp; Christmas via CNBC (Jun 5, 2026) &amp; CBS News; AI cited in ~40% of May cuts</a:t>
            </a:r>
            <a:endParaRPr lang="en-US" sz="720" dirty="0"/>
          </a:p>
          <a:p>
            <a:pPr marL="88900" indent="-88900">
              <a:spcAft>
                <a:spcPts val="400"/>
              </a:spcAft>
              <a:buSzPct val="100000"/>
              <a:buChar char="•"/>
            </a:pPr>
            <a:r>
              <a:rPr lang="en-US" sz="720" dirty="0">
                <a:solidFill>
                  <a:srgbClr val="C9C9CE"/>
                </a:solidFill>
                <a:latin typeface="Arial" pitchFamily="34" charset="0"/>
                <a:ea typeface="Arial" pitchFamily="34" charset="-122"/>
                <a:cs typeface="Arial" pitchFamily="34" charset="-120"/>
              </a:rPr>
              <a:t>Graduate unemployment: NY Fed recent-grad series (5.6% vs 4.2% overall) via CNBC</a:t>
            </a:r>
            <a:endParaRPr lang="en-US" sz="720" dirty="0"/>
          </a:p>
          <a:p>
            <a:pPr marL="88900" indent="-88900">
              <a:spcAft>
                <a:spcPts val="400"/>
              </a:spcAft>
              <a:buSzPct val="100000"/>
              <a:buChar char="•"/>
            </a:pPr>
            <a:r>
              <a:rPr lang="en-US" sz="720" dirty="0">
                <a:solidFill>
                  <a:srgbClr val="C9C9CE"/>
                </a:solidFill>
                <a:latin typeface="Arial" pitchFamily="34" charset="0"/>
                <a:ea typeface="Arial" pitchFamily="34" charset="-122"/>
                <a:cs typeface="Arial" pitchFamily="34" charset="-120"/>
              </a:rPr>
              <a:t>Entry-level payrolls: academic working papers on AI-exposed occupations (22–25 cohort)</a:t>
            </a:r>
            <a:endParaRPr lang="en-US" sz="720" dirty="0"/>
          </a:p>
          <a:p>
            <a:pPr marL="88900" indent="-88900">
              <a:spcAft>
                <a:spcPts val="400"/>
              </a:spcAft>
              <a:buSzPct val="100000"/>
              <a:buChar char="•"/>
            </a:pPr>
            <a:r>
              <a:rPr lang="en-US" sz="720" dirty="0">
                <a:solidFill>
                  <a:srgbClr val="C9C9CE"/>
                </a:solidFill>
                <a:latin typeface="Arial" pitchFamily="34" charset="0"/>
                <a:ea typeface="Arial" pitchFamily="34" charset="-122"/>
                <a:cs typeface="Arial" pitchFamily="34" charset="-120"/>
              </a:rPr>
              <a:t>Policy: Executive Order provisions, sovereign-wealth-fund proposals, Sacks critique</a:t>
            </a:r>
            <a:endParaRPr lang="en-US" sz="720" dirty="0"/>
          </a:p>
        </p:txBody>
      </p:sp>
      <p:sp>
        <p:nvSpPr>
          <p:cNvPr id="15" name="Shape 13"/>
          <p:cNvSpPr/>
          <p:nvPr/>
        </p:nvSpPr>
        <p:spPr>
          <a:xfrm>
            <a:off x="6835140" y="1444752"/>
            <a:ext cx="2057400" cy="219456"/>
          </a:xfrm>
          <a:prstGeom prst="rect">
            <a:avLst/>
          </a:prstGeom>
          <a:solidFill>
            <a:srgbClr val="9B7BE0"/>
          </a:solidFill>
          <a:ln/>
        </p:spPr>
      </p:sp>
      <p:sp>
        <p:nvSpPr>
          <p:cNvPr id="16" name="Text 14"/>
          <p:cNvSpPr/>
          <p:nvPr/>
        </p:nvSpPr>
        <p:spPr>
          <a:xfrm>
            <a:off x="6835140" y="1444752"/>
            <a:ext cx="2057400" cy="219456"/>
          </a:xfrm>
          <a:prstGeom prst="rect">
            <a:avLst/>
          </a:prstGeom>
          <a:noFill/>
          <a:ln/>
        </p:spPr>
        <p:txBody>
          <a:bodyPr wrap="square" lIns="0" tIns="0" rIns="0" bIns="0" rtlCol="0" anchor="ctr"/>
          <a:lstStyle/>
          <a:p>
            <a:pPr algn="ctr" indent="0" marL="0">
              <a:buNone/>
            </a:pPr>
            <a:r>
              <a:rPr lang="en-US" sz="750" b="1" spc="100" kern="0" dirty="0">
                <a:solidFill>
                  <a:srgbClr val="000000"/>
                </a:solidFill>
                <a:latin typeface="Arial" pitchFamily="34" charset="0"/>
                <a:ea typeface="Arial" pitchFamily="34" charset="-122"/>
                <a:cs typeface="Arial" pitchFamily="34" charset="-120"/>
              </a:rPr>
              <a:t>AI FRONTIER REVIEW</a:t>
            </a:r>
            <a:endParaRPr lang="en-US" sz="750" dirty="0"/>
          </a:p>
        </p:txBody>
      </p:sp>
      <p:sp>
        <p:nvSpPr>
          <p:cNvPr id="17" name="Text 15"/>
          <p:cNvSpPr/>
          <p:nvPr/>
        </p:nvSpPr>
        <p:spPr>
          <a:xfrm>
            <a:off x="6871716" y="1737360"/>
            <a:ext cx="1993392" cy="2194560"/>
          </a:xfrm>
          <a:prstGeom prst="rect">
            <a:avLst/>
          </a:prstGeom>
          <a:noFill/>
          <a:ln/>
        </p:spPr>
        <p:txBody>
          <a:bodyPr wrap="square" lIns="0" tIns="0" rIns="0" bIns="0" rtlCol="0" anchor="t"/>
          <a:lstStyle/>
          <a:p>
            <a:pPr marL="88900" indent="-88900">
              <a:spcAft>
                <a:spcPts val="400"/>
              </a:spcAft>
              <a:buSzPct val="100000"/>
              <a:buChar char="•"/>
            </a:pPr>
            <a:r>
              <a:rPr lang="en-US" sz="720" dirty="0">
                <a:solidFill>
                  <a:srgbClr val="C9C9CE"/>
                </a:solidFill>
                <a:latin typeface="Arial" pitchFamily="34" charset="0"/>
                <a:ea typeface="Arial" pitchFamily="34" charset="-122"/>
                <a:cs typeface="Arial" pitchFamily="34" charset="-120"/>
              </a:rPr>
              <a:t>Internal strategic review: “The 2026 AI Frontier” (Jun 2026)</a:t>
            </a:r>
            <a:endParaRPr lang="en-US" sz="720" dirty="0"/>
          </a:p>
          <a:p>
            <a:pPr marL="88900" indent="-88900">
              <a:spcAft>
                <a:spcPts val="400"/>
              </a:spcAft>
              <a:buSzPct val="100000"/>
              <a:buChar char="•"/>
            </a:pPr>
            <a:r>
              <a:rPr lang="en-US" sz="720" dirty="0">
                <a:solidFill>
                  <a:srgbClr val="C9C9CE"/>
                </a:solidFill>
                <a:latin typeface="Arial" pitchFamily="34" charset="0"/>
                <a:ea typeface="Arial" pitchFamily="34" charset="-122"/>
                <a:cs typeface="Arial" pitchFamily="34" charset="-120"/>
              </a:rPr>
              <a:t>Agentic loops &amp; token economics; enterprise caps (Uber, Walmart); Karpathy &amp; Cherny commentary</a:t>
            </a:r>
            <a:endParaRPr lang="en-US" sz="720" dirty="0"/>
          </a:p>
          <a:p>
            <a:pPr marL="88900" indent="-88900">
              <a:spcAft>
                <a:spcPts val="400"/>
              </a:spcAft>
              <a:buSzPct val="100000"/>
              <a:buChar char="•"/>
            </a:pPr>
            <a:r>
              <a:rPr lang="en-US" sz="720" dirty="0">
                <a:solidFill>
                  <a:srgbClr val="C9C9CE"/>
                </a:solidFill>
                <a:latin typeface="Arial" pitchFamily="34" charset="0"/>
                <a:ea typeface="Arial" pitchFamily="34" charset="-122"/>
                <a:cs typeface="Arial" pitchFamily="34" charset="-120"/>
              </a:rPr>
              <a:t>Compute: SK Hynix HBM outlook; SpaceX Colossus; Google GPU rental</a:t>
            </a:r>
            <a:endParaRPr lang="en-US" sz="720" dirty="0"/>
          </a:p>
          <a:p>
            <a:pPr marL="88900" indent="-88900">
              <a:spcAft>
                <a:spcPts val="400"/>
              </a:spcAft>
              <a:buSzPct val="100000"/>
              <a:buChar char="•"/>
            </a:pPr>
            <a:r>
              <a:rPr lang="en-US" sz="720" dirty="0">
                <a:solidFill>
                  <a:srgbClr val="C9C9CE"/>
                </a:solidFill>
                <a:latin typeface="Arial" pitchFamily="34" charset="0"/>
                <a:ea typeface="Arial" pitchFamily="34" charset="-122"/>
                <a:cs typeface="Arial" pitchFamily="34" charset="-120"/>
              </a:rPr>
              <a:t>Frontier watch: embodiment, orbital compute, robotaxis, AI biology; speculative</a:t>
            </a:r>
            <a:endParaRPr lang="en-US" sz="720" dirty="0"/>
          </a:p>
        </p:txBody>
      </p:sp>
      <p:sp>
        <p:nvSpPr>
          <p:cNvPr id="18" name="Text 16"/>
          <p:cNvSpPr/>
          <p:nvPr/>
        </p:nvSpPr>
        <p:spPr>
          <a:xfrm>
            <a:off x="457200" y="3968496"/>
            <a:ext cx="8229600" cy="512064"/>
          </a:xfrm>
          <a:prstGeom prst="rect">
            <a:avLst/>
          </a:prstGeom>
          <a:noFill/>
          <a:ln/>
        </p:spPr>
        <p:txBody>
          <a:bodyPr wrap="square" lIns="0" tIns="0" rIns="0" bIns="0" rtlCol="0" anchor="ctr"/>
          <a:lstStyle/>
          <a:p>
            <a:pPr indent="0" marL="0">
              <a:buNone/>
            </a:pPr>
            <a:r>
              <a:rPr lang="en-US" sz="750" i="1" dirty="0">
                <a:solidFill>
                  <a:srgbClr val="8A8A90"/>
                </a:solidFill>
                <a:latin typeface="Arial" pitchFamily="34" charset="0"/>
                <a:ea typeface="Arial" pitchFamily="34" charset="-122"/>
                <a:cs typeface="Arial" pitchFamily="34" charset="-120"/>
              </a:rPr>
              <a:t>Methodology: figures verified against at least one primary or institutional source; where sources disagreed, the more conservative figure was used. The Jevons relationship (slide 4) is illustrative, not measured data. Layoff attributions to AI are self-reported by employers (Challenger) and may overstate causation. Frontier items (slide 10) are speculative and appear in no company guidance. End of deck.</a:t>
            </a:r>
            <a:endParaRPr lang="en-US" sz="750" dirty="0"/>
          </a:p>
        </p:txBody>
      </p:sp>
      <p:sp>
        <p:nvSpPr>
          <p:cNvPr id="19" name="Shape 17"/>
          <p:cNvSpPr/>
          <p:nvPr/>
        </p:nvSpPr>
        <p:spPr>
          <a:xfrm>
            <a:off x="0" y="4526280"/>
            <a:ext cx="9144000" cy="617220"/>
          </a:xfrm>
          <a:prstGeom prst="rect">
            <a:avLst/>
          </a:prstGeom>
          <a:solidFill>
            <a:srgbClr val="000000"/>
          </a:solidFill>
          <a:ln/>
        </p:spPr>
      </p:sp>
      <p:sp>
        <p:nvSpPr>
          <p:cNvPr id="20" name="Shape 18"/>
          <p:cNvSpPr/>
          <p:nvPr/>
        </p:nvSpPr>
        <p:spPr>
          <a:xfrm>
            <a:off x="0" y="4526280"/>
            <a:ext cx="9144000" cy="0"/>
          </a:xfrm>
          <a:prstGeom prst="line">
            <a:avLst/>
          </a:prstGeom>
          <a:noFill/>
          <a:ln w="6350">
            <a:solidFill>
              <a:srgbClr val="2A2A30"/>
            </a:solidFill>
            <a:prstDash val="solid"/>
          </a:ln>
        </p:spPr>
      </p:sp>
      <p:sp>
        <p:nvSpPr>
          <p:cNvPr id="21" name="Text 19"/>
          <p:cNvSpPr/>
          <p:nvPr/>
        </p:nvSpPr>
        <p:spPr>
          <a:xfrm>
            <a:off x="1371600" y="4572000"/>
            <a:ext cx="6583680" cy="502920"/>
          </a:xfrm>
          <a:prstGeom prst="rect">
            <a:avLst/>
          </a:prstGeom>
          <a:noFill/>
          <a:ln/>
        </p:spPr>
        <p:txBody>
          <a:bodyPr wrap="square" rtlCol="0" anchor="ctr"/>
          <a:lstStyle/>
          <a:p>
            <a:pPr algn="ctr" indent="0" marL="0">
              <a:buNone/>
            </a:pPr>
            <a:r>
              <a:rPr lang="en-US" sz="650" b="1" dirty="0">
                <a:solidFill>
                  <a:srgbClr val="9A9AA0"/>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22" name="Text 20"/>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9A9AA0"/>
                </a:solidFill>
                <a:latin typeface="Arial" pitchFamily="34" charset="0"/>
                <a:ea typeface="Arial" pitchFamily="34" charset="-122"/>
                <a:cs typeface="Arial" pitchFamily="34" charset="-120"/>
              </a:rPr>
              <a:t>11</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in the markets: June 2026</dc:title>
  <dc:subject>PptxGenJS Presentation</dc:subject>
  <dc:creator>Strategy</dc:creator>
  <cp:lastModifiedBy>Strategy</cp:lastModifiedBy>
  <cp:revision>1</cp:revision>
  <dcterms:created xsi:type="dcterms:W3CDTF">2026-06-14T17:49:53Z</dcterms:created>
  <dcterms:modified xsi:type="dcterms:W3CDTF">2026-06-14T17:49:53Z</dcterms:modified>
</cp:coreProperties>
</file>