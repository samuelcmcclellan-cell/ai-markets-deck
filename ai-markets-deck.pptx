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2026E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Logic</c:v>
                  </c:pt>
                  <c:pt idx="1">
                    <c:v>Memory</c:v>
                  </c:pt>
                  <c:pt idx="2">
                    <c:v>Analog</c:v>
                  </c:pt>
                  <c:pt idx="3">
                    <c:v>Micro</c:v>
                  </c:pt>
                  <c:pt idx="4">
                    <c:v>Discrete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302</c:v>
                </c:pt>
                <c:pt idx="1">
                  <c:v>295</c:v>
                </c:pt>
                <c:pt idx="2">
                  <c:v>95</c:v>
                </c:pt>
                <c:pt idx="3">
                  <c:v>85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HBM TAM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16</c:v>
                </c:pt>
                <c:pt idx="2">
                  <c:v>35</c:v>
                </c:pt>
                <c:pt idx="3">
                  <c:v>55</c:v>
                </c:pt>
                <c:pt idx="4">
                  <c:v>80</c:v>
                </c:pt>
                <c:pt idx="5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 (SOXX)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 (IGV)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1463040"/>
            <a:ext cx="301752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852160" y="146304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Hero — macro GPU silicon die, warm orange rim light on graphite black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223760" y="548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914400"/>
            <a:ext cx="1554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0240"/>
            <a:ext cx="731520" cy="914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457200" y="34290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capex cycle repricing every layer of tech.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Note  |  Equity Research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argument, in five parts.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Landscape, Market, Shifts, Risks, Frontier. Each answers a different question about the same ~$750B capex cycle.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691640"/>
            <a:ext cx="9144000" cy="3749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AT A GLANCE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56616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" y="2240280"/>
            <a:ext cx="1554480" cy="54864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6616" y="3063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" y="338328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is, where it runs, why it matters.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8056" y="4160520"/>
            <a:ext cx="1371600" cy="502920"/>
          </a:xfrm>
          <a:prstGeom prst="rect">
            <a:avLst/>
          </a:prstGeom>
          <a:solidFill>
            <a:srgbClr val="555555"/>
          </a:solidFill>
          <a:ln w="6350">
            <a:solidFill>
              <a:srgbClr val="666666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48056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IMG: server rack glow, teal tint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6616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3–6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075688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5688" y="2240280"/>
            <a:ext cx="1554480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75688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075688" y="3063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85416" y="338328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Semis, labs, and how AI has repriced earnings.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167128" y="4160520"/>
            <a:ext cx="1371600" cy="502920"/>
          </a:xfrm>
          <a:prstGeom prst="rect">
            <a:avLst/>
          </a:prstGeom>
          <a:solidFill>
            <a:srgbClr val="555555"/>
          </a:solidFill>
          <a:ln w="6350">
            <a:solidFill>
              <a:srgbClr val="66666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2167128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IMG: ticker wall at dusk, gold tint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075688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7–9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794760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94760" y="2240280"/>
            <a:ext cx="155448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3794760" y="3063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04488" y="338328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era and the great divergence.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886200" y="4160520"/>
            <a:ext cx="1371600" cy="502920"/>
          </a:xfrm>
          <a:prstGeom prst="rect">
            <a:avLst/>
          </a:prstGeom>
          <a:solidFill>
            <a:srgbClr val="555555"/>
          </a:solidFill>
          <a:ln w="6350">
            <a:solidFill>
              <a:srgbClr val="66666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3886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IMG: cursor on dark IDE, orange tint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794760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10–11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13832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13832" y="2240280"/>
            <a:ext cx="155448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13832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5513832" y="3063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23560" y="338328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Bubble, supply chain, policy, backlash.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05272" y="4160520"/>
            <a:ext cx="1371600" cy="502920"/>
          </a:xfrm>
          <a:prstGeom prst="rect">
            <a:avLst/>
          </a:prstGeom>
          <a:solidFill>
            <a:srgbClr val="555555"/>
          </a:solidFill>
          <a:ln w="6350">
            <a:solidFill>
              <a:srgbClr val="666666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5605272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IMG: cracked circuit macro, red tint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513832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12–15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32904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32904" y="2240280"/>
            <a:ext cx="1554480" cy="54864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32904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232904" y="3063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42632" y="338328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Orbital, physical, autonomy, biology.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24344" y="4160520"/>
            <a:ext cx="1371600" cy="502920"/>
          </a:xfrm>
          <a:prstGeom prst="rect">
            <a:avLst/>
          </a:prstGeom>
          <a:solidFill>
            <a:srgbClr val="555555"/>
          </a:solidFill>
          <a:ln w="6350">
            <a:solidFill>
              <a:srgbClr val="66666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7324344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IMG: satellite over Earth's limb, pink tint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232904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16–19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20 slides, read top to bottom.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the largest capex cycle in history, it touches every layer of the economy, and it is repricing everything — in both directions.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$750B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hyperscaler capex — Big 5 combined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$4T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AI data-center spend through 2030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+38%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semiconductors (SOXX) YTD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–20%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(IGV) YTD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12064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120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~58-point spread between semis and software. The same AI wave is creating winners and losers simultaneously.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Deutsche Bank; iShares SOXX &amp; IGV YTD total return as of Apr 17, 2026.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rare earths in the ground to agents that act on your behalf. Eleven layers, each investable, each with its own constraint.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137160" cy="292608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544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80" y="15544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83680" y="1591056"/>
            <a:ext cx="2057400" cy="219456"/>
          </a:xfrm>
          <a:prstGeom prst="roundRect">
            <a:avLst>
              <a:gd name="adj" fmla="val 12500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59105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FASTEST-GROWING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3716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97480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13716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2860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97480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13716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651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97480" y="26517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017520"/>
            <a:ext cx="13716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017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97480" y="3017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383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97480" y="3383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13716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697480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83680" y="3785616"/>
            <a:ext cx="2057400" cy="219456"/>
          </a:xfrm>
          <a:prstGeom prst="roundRect">
            <a:avLst>
              <a:gd name="adj" fmla="val 12500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378561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BOTTLENECK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114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69748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448056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4805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97480" y="4480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4846320"/>
            <a:ext cx="13716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8463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697480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5212080"/>
            <a:ext cx="13716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" y="52120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97480" y="5212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Layers ordered top (closest to user) to bottom (closest to atoms).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semiconductor market.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~$975B market. Logic and memory drive the engine; HBM is the bottleneck on its way to a $100B TAM — and the HBM oligopoly is a Korean story.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 revenue by segment, 2026E ($B)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TAM ($B) — 25× growth, 2023 → 2028E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2" name="Chart 1" descr=""/>
          <p:cNvGraphicFramePr/>
          <p:nvPr/>
        </p:nvGraphicFramePr>
        <p:xfrm>
          <a:off x="4754880" y="2011680"/>
          <a:ext cx="3931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KOREAN OLIGOPOLY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" y="4864608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= ~78% of HBM, ~76% of DRAM. </a:t>
            </a:r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Hynix's 2025 operating profit hit ₩47.2T (~$33B) — an all-time record that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overtook Samsung for the first time. </a:t>
            </a:r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revenue more than doubled YoY.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$975B total, +26% YoY. Logic + memory = ~$600B, tracking hyperscaler capex almost dollar-for-dollar.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 Fall 2025 forecast; SIA; BofA 2026 HBM TAM; SK Hynix FY25 results (₩97.1T rev, ₩47.2T op profit, Jan 2026); Samsung Q4 2025 filings; TrendForce; Counterpoint Research.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private labs worth ~$1.5T combined, plus Google inside Alphabet's $2.3T public market cap. Q1 2026 doubled all of 2025's foundational-AI VC funding.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1188720"/>
                <a:gridCol w="1280160"/>
                <a:gridCol w="4023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event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$852B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$122B round · AMZN / NVDA / SoftBank · Apr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~13×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$30B Series G (Feb); VCs now offering $800B+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$2.3T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~20× P/E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Alphabet (public) · Gemini 3 / DeepMind · ~$85B 2026 capex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$230B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~77× ARR*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$20B Nvidia-led Series E · Q1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2308860"/>
            <a:ext cx="365760" cy="365760"/>
          </a:xfrm>
          <a:prstGeom prst="rect">
            <a:avLst/>
          </a:prstGeom>
        </p:spPr>
      </p:pic>
      <p:pic>
        <p:nvPicPr>
          <p:cNvPr id="9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" y="2811780"/>
            <a:ext cx="365760" cy="365760"/>
          </a:xfrm>
          <a:prstGeom prst="rect">
            <a:avLst/>
          </a:prstGeom>
        </p:spPr>
      </p:pic>
      <p:pic>
        <p:nvPicPr>
          <p:cNvPr id="1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4360" y="3314700"/>
            <a:ext cx="365760" cy="365760"/>
          </a:xfrm>
          <a:prstGeom prst="rect">
            <a:avLst/>
          </a:prstGeom>
        </p:spPr>
      </p:pic>
      <p:pic>
        <p:nvPicPr>
          <p:cNvPr id="11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94360" y="3817620"/>
            <a:ext cx="365760" cy="36576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57200" y="530352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3" name="Text 6"/>
          <p:cNvSpPr/>
          <p:nvPr/>
        </p:nvSpPr>
        <p:spPr>
          <a:xfrm>
            <a:off x="640080" y="5303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350" dirty="0"/>
          </a:p>
        </p:txBody>
      </p:sp>
      <p:sp>
        <p:nvSpPr>
          <p:cNvPr id="14" name="Text 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CNBC, Tech-Insider (Apr 2026); Crunchbase Q1 2026 VC data; Sacra ARR run-rates; Bloomberg; Alphabet 10-K &amp; 2026 capex guide. *xAI ARR estimated.</a:t>
            </a:r>
            <a:endParaRPr lang="en-US" sz="700" dirty="0"/>
          </a:p>
        </p:txBody>
      </p:sp>
      <p:sp>
        <p:nvSpPr>
          <p:cNvPr id="15" name="Shape 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7" name="Text 1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20 global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2103120"/>
            <a:ext cx="1280160" cy="1280160"/>
          </a:xfrm>
          <a:prstGeom prst="rect">
            <a:avLst/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11496" y="2139696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 for low growth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506663" y="3345790"/>
            <a:ext cx="177394" cy="177394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88614" y="3114864"/>
            <a:ext cx="157905" cy="157905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761510" y="2972302"/>
            <a:ext cx="156273" cy="156273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19682" y="3283721"/>
            <a:ext cx="137671" cy="137671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086940" y="2956369"/>
            <a:ext cx="126691" cy="126691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31683" y="3251715"/>
            <a:ext cx="109510" cy="10951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40675" y="2729480"/>
            <a:ext cx="109371" cy="109371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381767" y="3741102"/>
            <a:ext cx="103659" cy="103659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23422" y="3475364"/>
            <a:ext cx="102587" cy="102587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82994" y="2054834"/>
            <a:ext cx="96573" cy="96573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737569" y="2356703"/>
            <a:ext cx="86828" cy="86828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560652" y="3514352"/>
            <a:ext cx="86059" cy="86059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852296" y="3596586"/>
            <a:ext cx="85453" cy="85453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643267" y="3890012"/>
            <a:ext cx="82352" cy="8235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356540" y="3270636"/>
            <a:ext cx="81910" cy="8191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152644" y="3662183"/>
            <a:ext cx="77154" cy="77154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913219" y="3411516"/>
            <a:ext cx="76664" cy="76664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24735" y="3898175"/>
            <a:ext cx="76268" cy="76268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957131" y="4369379"/>
            <a:ext cx="76058" cy="76058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05949" y="2536271"/>
            <a:ext cx="75895" cy="75895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046720" y="3370478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NVDA +73%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431574" y="3056656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537895" y="2986430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AAPL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6452525" y="34165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MSFT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6214294" y="2955707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AMZN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850446" y="3242462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8046720" y="2720157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AVGO +54%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5497605" y="3728923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ARAMCO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6254675" y="3462650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6495288" y="2176272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TSLA 190×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5844991" y="2464125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WMT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5667690" y="3621390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BRK.B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5437822" y="3675888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SMSNG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5748451" y="3995196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6104887" y="3375599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LLY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4862037" y="3636752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XOM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6015559" y="3513856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6126878" y="3808293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TCNT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7059168" y="4343400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HYNIX</a:t>
            </a:r>
            <a:endParaRPr lang="en-US" sz="700" dirty="0"/>
          </a:p>
        </p:txBody>
      </p:sp>
      <p:sp>
        <p:nvSpPr>
          <p:cNvPr id="97" name="Text 95"/>
          <p:cNvSpPr/>
          <p:nvPr/>
        </p:nvSpPr>
        <p:spPr>
          <a:xfrm>
            <a:off x="6707905" y="2510211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7269480" y="4498848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 size ∝ market cap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(AAPL/MSFT/GOOGL/AMZN/NVDA/META/AVGO/TSM/TSLA/LLY/JPM/V/XOM/BRK.B/WMT/ASML, as of Apr 22, 2026); companiesmarketcap.com (mkt caps, Apr 22, 2026); Zacks Research (TSM); Simply Wall St + gurufocus (SK Hynix, Samsung, Tencent); Saudi Aramco 2026 company guidance. Non-USD figures converted at Apr 2026 spot rates. NVDA, AVGO clipped at +50% growth; TSLA at 50× fwd P/E.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0292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192024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76072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dark-themed IDE with AI coworker editing code, orange accents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are buying dev-tool companies (Bun, Astral) to lock the coding stack.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company announcements; TechCrunch acquisition reporting.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are up, software is down — a ~58-point YTD spread inside one theme.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2011680"/>
            <a:ext cx="3931920" cy="292608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2011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5488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0" y="2377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75488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69280" y="2743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9224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754880" y="310896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0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922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754880" y="3566160"/>
            <a:ext cx="393192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3566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diSAAS-ter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7548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92240" y="3931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5488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0" y="4297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92240" y="4297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54880" y="466344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92240" y="4663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iShares SOXX / IGV / QQQ YTD total return, Apr 17, 2026; Yahoo Finance; Counterpoint Research; Morgan Stanley CIO Survey. Single-stock YTDs indicative.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5" name="Text 3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2026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103120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61488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419856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78224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combined DRAM share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&lt;100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machines ASML builds per year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48640" y="33375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wide fab cleanroom panorama, bunny-suited techs, orange photolith glow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online ~2026–27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53746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318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8318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61772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ground; online ~2028–30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60654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226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522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 under build; online ~2027–28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822960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440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$5.5B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4864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H20 writedown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banned from China.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share ~20%.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3832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fine cap (of global revenue) — Aug 2 enforcement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7472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of enterprises feel prepared.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21792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 authorized)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0936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$64B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data-center projects blocked or delayed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Americans view AI positively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~480K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workforce gap (US)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48640" y="3291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hand-lettered 'STOP THE AI RACE' signs at a dusk rally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is the epicenter with 42 groups.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9184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33756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21, 2026 "Stop the AI Race" protests targeted Anthropic, OpenAI, xAI HQs. 56% of Americans are anxious about AI.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ops roles short 467K–498K workers. 400+ data centers under construction; talent, not capital, is binding.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orbital data-center satellite with solar wings above Earth's limb at dawn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062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humanoid robot mid-stride on a factory floor, warm work-light, motion blur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Waymo robotaxi on a rainy city street at dusk, sensor pod lit, long exposure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solved protein folding. AI-designed drugs are in Phase 1/2 trials. The pharma R&amp;D cycle is compressing from a decade to under two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ribbon-diagram protein structure in orange against graphite black, shallow DOF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06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240M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structures in AlphaFold DB (nearly all known)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6898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6898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 Labs' combined deals with Lilly + Novartis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5790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60PB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05790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Recursion's proprietary biological data (post-Exscientia merger)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FOLDING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50-year structure-prediction problem, solved. 3M+ researchers across 190 countries use the DB.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PHARMA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Isomorphic, Recursion + Exscientia, Insitro. AI-designed small molecules already in Phase 1/2 trials.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2648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R&amp;D COMPRESSION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IND shrinking from ~10 years to ~18 months on the fastest platforms.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822960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532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DeepMind / Isomorphic Labs · Recursion + Exscientia · Insitro · Generate Biomedicines · Moderna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DeepMind AlphaFold DB (Feb 2026 — 240M structures, 3M researchers); Isomorphic Labs / Fierce Biotech (Jan 2024, Feb 2025 partnerships); Recursion FY25 filings (Exscientia merger Jul 2025); CNBC; Nature.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(SOXX) +38% YTD, software (IGV)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iShares SOXX / IGV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2026-04-23T04:25:34Z</dcterms:created>
  <dcterms:modified xsi:type="dcterms:W3CDTF">2026-04-23T04:25:34Z</dcterms:modified>
</cp:coreProperties>
</file>