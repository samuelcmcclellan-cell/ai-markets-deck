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 basket</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Sheet1!$A$2:$A$4</c:f>
              <c:multiLvlStrCache>
                <c:ptCount val="3"/>
                <c:lvl>
                  <c:pt idx="0">
                    <c:v>Jan</c:v>
                  </c:pt>
                  <c:pt idx="1">
                    <c:v>Feb</c:v>
                  </c:pt>
                  <c:pt idx="2">
                    <c:v>Mar</c:v>
                  </c:pt>
                </c:lvl>
              </c:multiLvlStrCache>
            </c:multiLvlStrRef>
          </c:cat>
          <c:val>
            <c:numRef>
              <c:f>Sheet1!$B$2:$B$4</c:f>
              <c:numCache>
                <c:formatCode>General</c:formatCode>
                <c:ptCount val="3"/>
                <c:pt idx="0">
                  <c:v>100</c:v>
                </c:pt>
                <c:pt idx="1">
                  <c:v>118</c:v>
                </c:pt>
                <c:pt idx="2">
                  <c:v>134</c:v>
                </c:pt>
              </c:numCache>
            </c:numRef>
          </c:val>
          <c:smooth val="0"/>
        </c:ser>
        <c:ser>
          <c:idx val="1"/>
          <c:order val="1"/>
          <c:tx>
            <c:strRef>
              <c:f>Sheet1!$C$1</c:f>
              <c:strCache>
                <c:ptCount val="1"/>
                <c:pt idx="0">
                  <c:v>S&amp;P 500</c:v>
                </c:pt>
              </c:strCache>
            </c:strRef>
          </c:tx>
          <c:spPr>
            <a:solidFill>
              <a:srgbClr val="333333"/>
            </a:solidFill>
            <a:ln w="38100" cap="flat">
              <a:solidFill>
                <a:srgbClr val="3333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3333"/>
              </a:solidFill>
              <a:ln w="9525" cap="flat">
                <a:solidFill>
                  <a:srgbClr val="333333"/>
                </a:solidFill>
                <a:prstDash val="solid"/>
                <a:round/>
              </a:ln>
              <a:effectLst/>
            </c:spPr>
          </c:marker>
          <c:cat>
            <c:multiLvlStrRef>
              <c:f>Sheet1!$A$2:$A$4</c:f>
              <c:multiLvlStrCache>
                <c:ptCount val="3"/>
                <c:lvl>
                  <c:pt idx="0">
                    <c:v>Jan</c:v>
                  </c:pt>
                  <c:pt idx="1">
                    <c:v>Feb</c:v>
                  </c:pt>
                  <c:pt idx="2">
                    <c:v>Mar</c:v>
                  </c:pt>
                </c:lvl>
              </c:multiLvlStrCache>
            </c:multiLvlStrRef>
          </c:cat>
          <c:val>
            <c:numRef>
              <c:f>Sheet1!$C$2:$C$4</c:f>
              <c:numCache>
                <c:formatCode>General</c:formatCode>
                <c:ptCount val="3"/>
                <c:pt idx="0">
                  <c:v>100</c:v>
                </c:pt>
                <c:pt idx="1">
                  <c:v>104</c:v>
                </c:pt>
                <c:pt idx="2">
                  <c:v>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c:v>
                </c:pt>
              </c:strCache>
            </c:strRef>
          </c:tx>
          <c:spPr>
            <a:solidFill>
              <a:srgbClr val="F6693D"/>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cat>
            <c:multiLvlStrRef>
              <c:f>Sheet1!$A$2:$A$9</c:f>
              <c:multiLvlStrCache>
                <c:ptCount val="8"/>
                <c:lvl>
                  <c:pt idx="0">
                    <c:v>Tech</c:v>
                  </c:pt>
                  <c:pt idx="1">
                    <c:v>Comms</c:v>
                  </c:pt>
                  <c:pt idx="2">
                    <c:v>Cons Disc</c:v>
                  </c:pt>
                  <c:pt idx="3">
                    <c:v>Industrials</c:v>
                  </c:pt>
                  <c:pt idx="4">
                    <c:v>Energy</c:v>
                  </c:pt>
                  <c:pt idx="5">
                    <c:v>Utilities</c:v>
                  </c:pt>
                  <c:pt idx="6">
                    <c:v>Financials</c:v>
                  </c:pt>
                  <c:pt idx="7">
                    <c:v>Staples</c:v>
                  </c:pt>
                </c:lvl>
              </c:multiLvlStrCache>
            </c:multiLvlStrRef>
          </c:cat>
          <c:val>
            <c:numRef>
              <c:f>Sheet1!$B$2:$B$9</c:f>
              <c:numCache>
                <c:formatCode>General</c:formatCode>
                <c:ptCount val="8"/>
                <c:pt idx="0">
                  <c:v>22</c:v>
                </c:pt>
                <c:pt idx="1">
                  <c:v>17</c:v>
                </c:pt>
                <c:pt idx="2">
                  <c:v>11</c:v>
                </c:pt>
                <c:pt idx="3">
                  <c:v>7</c:v>
                </c:pt>
                <c:pt idx="4">
                  <c:v>4</c:v>
                </c:pt>
                <c:pt idx="5">
                  <c:v>3</c:v>
                </c:pt>
                <c:pt idx="6">
                  <c:v>2</c:v>
                </c:pt>
                <c:pt idx="7">
                  <c:v>-1</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Top-5 %</c:v>
                </c:pt>
              </c:strCache>
            </c:strRef>
          </c:tx>
          <c:spPr>
            <a:solidFill>
              <a:srgbClr val="CC0000"/>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1972</c:v>
                  </c:pt>
                  <c:pt idx="1">
                    <c:v>1999</c:v>
                  </c:pt>
                  <c:pt idx="2">
                    <c:v>2020</c:v>
                  </c:pt>
                  <c:pt idx="3">
                    <c:v>2024</c:v>
                  </c:pt>
                  <c:pt idx="4">
                    <c:v>2026</c:v>
                  </c:pt>
                </c:lvl>
              </c:multiLvlStrCache>
            </c:multiLvlStrRef>
          </c:cat>
          <c:val>
            <c:numRef>
              <c:f>Sheet1!$B$2:$B$6</c:f>
              <c:numCache>
                <c:formatCode>General</c:formatCode>
                <c:ptCount val="5"/>
                <c:pt idx="0">
                  <c:v>24</c:v>
                </c:pt>
                <c:pt idx="1">
                  <c:v>18</c:v>
                </c:pt>
                <c:pt idx="2">
                  <c:v>22</c:v>
                </c:pt>
                <c:pt idx="3">
                  <c:v>26</c:v>
                </c:pt>
                <c:pt idx="4">
                  <c:v>29</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c:v>
                </c:pt>
              </c:strCache>
            </c:strRef>
          </c:tx>
          <c:spPr>
            <a:solidFill>
              <a:srgbClr val="F6693D"/>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cat>
            <c:multiLvlStrRef>
              <c:f>Sheet1!$A$2:$A$3</c:f>
              <c:multiLvlStrCache>
                <c:ptCount val="2"/>
                <c:lvl>
                  <c:pt idx="0">
                    <c:v>Cap-weight</c:v>
                  </c:pt>
                  <c:pt idx="1">
                    <c:v>Equal-weight</c:v>
                  </c:pt>
                </c:lvl>
              </c:multiLvlStrCache>
            </c:multiLvlStrRef>
          </c:cat>
          <c:val>
            <c:numRef>
              <c:f>Sheet1!$B$2:$B$3</c:f>
              <c:numCache>
                <c:formatCode>General</c:formatCode>
                <c:ptCount val="2"/>
                <c:pt idx="0">
                  <c:v>9</c:v>
                </c:pt>
                <c:pt idx="1">
                  <c:v>2</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Text 0"/>
          <p:cNvSpPr/>
          <p:nvPr/>
        </p:nvSpPr>
        <p:spPr>
          <a:xfrm>
            <a:off x="7223760" y="320040"/>
            <a:ext cx="1554480" cy="32004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March 2026</a:t>
            </a:r>
            <a:endParaRPr lang="en-US" sz="1400" dirty="0"/>
          </a:p>
        </p:txBody>
      </p:sp>
      <p:sp>
        <p:nvSpPr>
          <p:cNvPr id="3" name="Shape 1"/>
          <p:cNvSpPr/>
          <p:nvPr/>
        </p:nvSpPr>
        <p:spPr>
          <a:xfrm>
            <a:off x="7223760" y="685800"/>
            <a:ext cx="1554480" cy="0"/>
          </a:xfrm>
          <a:prstGeom prst="line">
            <a:avLst/>
          </a:prstGeom>
          <a:noFill/>
          <a:ln w="12700">
            <a:solidFill>
              <a:srgbClr val="000000"/>
            </a:solidFill>
            <a:prstDash val="solid"/>
          </a:ln>
        </p:spPr>
      </p:sp>
      <p:sp>
        <p:nvSpPr>
          <p:cNvPr id="4" name="Text 2"/>
          <p:cNvSpPr/>
          <p:nvPr/>
        </p:nvSpPr>
        <p:spPr>
          <a:xfrm>
            <a:off x="457200" y="1463040"/>
            <a:ext cx="8229600" cy="1097280"/>
          </a:xfrm>
          <a:prstGeom prst="rect">
            <a:avLst/>
          </a:prstGeom>
          <a:noFill/>
          <a:ln/>
        </p:spPr>
        <p:txBody>
          <a:bodyPr wrap="square" lIns="0" tIns="0" rIns="0" bIns="0" rtlCol="0" anchor="t"/>
          <a:lstStyle/>
          <a:p>
            <a:pPr indent="0" marL="0">
              <a:buNone/>
            </a:pPr>
            <a:r>
              <a:rPr lang="en-US" sz="7200" b="1" dirty="0">
                <a:solidFill>
                  <a:srgbClr val="000000"/>
                </a:solidFill>
                <a:latin typeface="Arial Black" pitchFamily="34" charset="0"/>
                <a:ea typeface="Arial Black" pitchFamily="34" charset="-122"/>
                <a:cs typeface="Arial Black" pitchFamily="34" charset="-120"/>
              </a:rPr>
              <a:t>AI Markets</a:t>
            </a:r>
            <a:endParaRPr lang="en-US" sz="7200" dirty="0"/>
          </a:p>
        </p:txBody>
      </p:sp>
      <p:sp>
        <p:nvSpPr>
          <p:cNvPr id="5" name="Text 3"/>
          <p:cNvSpPr/>
          <p:nvPr/>
        </p:nvSpPr>
        <p:spPr>
          <a:xfrm>
            <a:off x="457200" y="2514600"/>
            <a:ext cx="8229600" cy="54864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Concentration, capex, and the frontier ahead.</a:t>
            </a:r>
            <a:endParaRPr lang="en-US" sz="2400" dirty="0"/>
          </a:p>
        </p:txBody>
      </p:sp>
      <p:sp>
        <p:nvSpPr>
          <p:cNvPr id="6" name="Text 4"/>
          <p:cNvSpPr/>
          <p:nvPr/>
        </p:nvSpPr>
        <p:spPr>
          <a:xfrm>
            <a:off x="457200" y="3154680"/>
            <a:ext cx="7680960" cy="822960"/>
          </a:xfrm>
          <a:prstGeom prst="rect">
            <a:avLst/>
          </a:prstGeom>
          <a:noFill/>
          <a:ln/>
        </p:spPr>
        <p:txBody>
          <a:bodyPr wrap="square" lIns="0" tIns="0" rIns="0" bIns="0" rtlCol="0" anchor="t"/>
          <a:lstStyle/>
          <a:p>
            <a:pPr indent="0" marL="0">
              <a:buNone/>
            </a:pPr>
            <a:r>
              <a:rPr lang="en-US" sz="1300" dirty="0">
                <a:solidFill>
                  <a:srgbClr val="333333"/>
                </a:solidFill>
                <a:latin typeface="Arial" pitchFamily="34" charset="0"/>
                <a:ea typeface="Arial" pitchFamily="34" charset="-122"/>
                <a:cs typeface="Arial" pitchFamily="34" charset="-120"/>
              </a:rPr>
              <a:t>A data-driven read of the four currents shaping equity markets in 2026: the landscape, the shifts, the risks, and what sits on the frontier.</a:t>
            </a:r>
            <a:endParaRPr lang="en-US" sz="1300" dirty="0"/>
          </a:p>
        </p:txBody>
      </p:sp>
      <p:sp>
        <p:nvSpPr>
          <p:cNvPr id="7" name="Text 5"/>
          <p:cNvSpPr/>
          <p:nvPr/>
        </p:nvSpPr>
        <p:spPr>
          <a:xfrm>
            <a:off x="457200" y="3977640"/>
            <a:ext cx="5486400" cy="320040"/>
          </a:xfrm>
          <a:prstGeom prst="rect">
            <a:avLst/>
          </a:prstGeom>
          <a:noFill/>
          <a:ln/>
        </p:spPr>
        <p:txBody>
          <a:bodyPr wrap="square" lIns="0" tIns="0" rIns="0" bIns="0" rtlCol="0" anchor="t"/>
          <a:lstStyle/>
          <a:p>
            <a:pPr indent="0" marL="0">
              <a:buNone/>
            </a:pPr>
            <a:r>
              <a:rPr lang="en-US" sz="1100" b="1" dirty="0">
                <a:solidFill>
                  <a:srgbClr val="000000"/>
                </a:solidFill>
                <a:latin typeface="Arial" pitchFamily="34" charset="0"/>
                <a:ea typeface="Arial" pitchFamily="34" charset="-122"/>
                <a:cs typeface="Arial" pitchFamily="34" charset="-120"/>
              </a:rPr>
              <a:t>Strategy Note  |  Equity Research</a:t>
            </a:r>
            <a:endParaRPr lang="en-US" sz="1100" dirty="0"/>
          </a:p>
        </p:txBody>
      </p:sp>
      <p:sp>
        <p:nvSpPr>
          <p:cNvPr id="8" name="Shape 6"/>
          <p:cNvSpPr/>
          <p:nvPr/>
        </p:nvSpPr>
        <p:spPr>
          <a:xfrm>
            <a:off x="0" y="4526280"/>
            <a:ext cx="9144000" cy="617220"/>
          </a:xfrm>
          <a:prstGeom prst="rect">
            <a:avLst/>
          </a:prstGeom>
          <a:solidFill>
            <a:srgbClr val="333333"/>
          </a:solidFill>
          <a:ln w="12700">
            <a:solidFill>
              <a:srgbClr val="333333"/>
            </a:solidFill>
            <a:prstDash val="solid"/>
          </a:ln>
        </p:spPr>
      </p:sp>
      <p:sp>
        <p:nvSpPr>
          <p:cNvPr id="9" name="Text 7"/>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Four currents shaping the market</a:t>
            </a:r>
            <a:endParaRPr lang="en-US" sz="2700" dirty="0"/>
          </a:p>
        </p:txBody>
      </p:sp>
      <p:sp>
        <p:nvSpPr>
          <p:cNvPr id="3" name="Text 1"/>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The story of AI in equities, told in four parts — with the data that underpins each.</a:t>
            </a:r>
            <a:endParaRPr lang="en-US" sz="1350" dirty="0"/>
          </a:p>
        </p:txBody>
      </p:sp>
      <p:sp>
        <p:nvSpPr>
          <p:cNvPr id="4" name="Shape 2"/>
          <p:cNvSpPr/>
          <p:nvPr/>
        </p:nvSpPr>
        <p:spPr>
          <a:xfrm>
            <a:off x="0" y="1874520"/>
            <a:ext cx="9144000" cy="2148840"/>
          </a:xfrm>
          <a:prstGeom prst="rect">
            <a:avLst/>
          </a:prstGeom>
          <a:solidFill>
            <a:srgbClr val="333333"/>
          </a:solidFill>
          <a:ln w="12700">
            <a:solidFill>
              <a:srgbClr val="333333"/>
            </a:solidFill>
            <a:prstDash val="solid"/>
          </a:ln>
        </p:spPr>
      </p:sp>
      <p:sp>
        <p:nvSpPr>
          <p:cNvPr id="5" name="Text 3"/>
          <p:cNvSpPr/>
          <p:nvPr/>
        </p:nvSpPr>
        <p:spPr>
          <a:xfrm>
            <a:off x="457200" y="2011680"/>
            <a:ext cx="8229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THE DECK AT A GLANCE</a:t>
            </a:r>
            <a:endParaRPr lang="en-US" sz="900" dirty="0"/>
          </a:p>
        </p:txBody>
      </p:sp>
      <p:sp>
        <p:nvSpPr>
          <p:cNvPr id="6" name="Shape 4"/>
          <p:cNvSpPr/>
          <p:nvPr/>
        </p:nvSpPr>
        <p:spPr>
          <a:xfrm>
            <a:off x="434340" y="2423160"/>
            <a:ext cx="1965960" cy="1417320"/>
          </a:xfrm>
          <a:prstGeom prst="rect">
            <a:avLst/>
          </a:prstGeom>
          <a:solidFill>
            <a:srgbClr val="444444"/>
          </a:solidFill>
          <a:ln w="12700">
            <a:solidFill>
              <a:srgbClr val="444444"/>
            </a:solidFill>
            <a:prstDash val="solid"/>
          </a:ln>
        </p:spPr>
      </p:sp>
      <p:sp>
        <p:nvSpPr>
          <p:cNvPr id="7" name="Shape 5"/>
          <p:cNvSpPr/>
          <p:nvPr/>
        </p:nvSpPr>
        <p:spPr>
          <a:xfrm>
            <a:off x="434340" y="2423160"/>
            <a:ext cx="1965960" cy="54864"/>
          </a:xfrm>
          <a:prstGeom prst="rect">
            <a:avLst/>
          </a:prstGeom>
          <a:solidFill>
            <a:srgbClr val="008B8B"/>
          </a:solidFill>
          <a:ln w="12700">
            <a:solidFill>
              <a:srgbClr val="008B8B"/>
            </a:solidFill>
            <a:prstDash val="solid"/>
          </a:ln>
        </p:spPr>
      </p:sp>
      <p:sp>
        <p:nvSpPr>
          <p:cNvPr id="8" name="Text 6"/>
          <p:cNvSpPr/>
          <p:nvPr/>
        </p:nvSpPr>
        <p:spPr>
          <a:xfrm>
            <a:off x="434340" y="2560320"/>
            <a:ext cx="1965960" cy="457200"/>
          </a:xfrm>
          <a:prstGeom prst="rect">
            <a:avLst/>
          </a:prstGeom>
          <a:noFill/>
          <a:ln/>
        </p:spPr>
        <p:txBody>
          <a:bodyPr wrap="square" lIns="0" tIns="0" rIns="0" bIns="0" rtlCol="0" anchor="ctr"/>
          <a:lstStyle/>
          <a:p>
            <a:pPr algn="ctr" indent="0" marL="0">
              <a:buNone/>
            </a:pPr>
            <a:r>
              <a:rPr lang="en-US" sz="2600" b="1" dirty="0">
                <a:solidFill>
                  <a:srgbClr val="008B8B"/>
                </a:solidFill>
                <a:latin typeface="Arial Black" pitchFamily="34" charset="0"/>
                <a:ea typeface="Arial Black" pitchFamily="34" charset="-122"/>
                <a:cs typeface="Arial Black" pitchFamily="34" charset="-120"/>
              </a:rPr>
              <a:t>01</a:t>
            </a:r>
            <a:endParaRPr lang="en-US" sz="2600" dirty="0"/>
          </a:p>
        </p:txBody>
      </p:sp>
      <p:sp>
        <p:nvSpPr>
          <p:cNvPr id="9" name="Text 7"/>
          <p:cNvSpPr/>
          <p:nvPr/>
        </p:nvSpPr>
        <p:spPr>
          <a:xfrm>
            <a:off x="434340" y="3017520"/>
            <a:ext cx="1965960" cy="27432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LANDSCAPE</a:t>
            </a:r>
            <a:endParaRPr lang="en-US" sz="1100" dirty="0"/>
          </a:p>
        </p:txBody>
      </p:sp>
      <p:sp>
        <p:nvSpPr>
          <p:cNvPr id="10" name="Text 8"/>
          <p:cNvSpPr/>
          <p:nvPr/>
        </p:nvSpPr>
        <p:spPr>
          <a:xfrm>
            <a:off x="544068" y="3291840"/>
            <a:ext cx="1746504" cy="411480"/>
          </a:xfrm>
          <a:prstGeom prst="rect">
            <a:avLst/>
          </a:prstGeom>
          <a:noFill/>
          <a:ln/>
        </p:spPr>
        <p:txBody>
          <a:bodyPr wrap="square" lIns="0" tIns="0" rIns="0" bIns="0" rtlCol="0" anchor="ctr"/>
          <a:lstStyle/>
          <a:p>
            <a:pPr algn="ctr" indent="0" marL="0">
              <a:buNone/>
            </a:pPr>
            <a:r>
              <a:rPr lang="en-US" sz="850" dirty="0">
                <a:solidFill>
                  <a:srgbClr val="CCCCCC"/>
                </a:solidFill>
                <a:latin typeface="Arial" pitchFamily="34" charset="0"/>
                <a:ea typeface="Arial" pitchFamily="34" charset="-122"/>
                <a:cs typeface="Arial" pitchFamily="34" charset="-120"/>
              </a:rPr>
              <a:t>The size, shape, and leaders of the AI complex.</a:t>
            </a:r>
            <a:endParaRPr lang="en-US" sz="850" dirty="0"/>
          </a:p>
        </p:txBody>
      </p:sp>
      <p:sp>
        <p:nvSpPr>
          <p:cNvPr id="11" name="Text 9"/>
          <p:cNvSpPr/>
          <p:nvPr/>
        </p:nvSpPr>
        <p:spPr>
          <a:xfrm>
            <a:off x="434340" y="3630168"/>
            <a:ext cx="1965960" cy="182880"/>
          </a:xfrm>
          <a:prstGeom prst="rect">
            <a:avLst/>
          </a:prstGeom>
          <a:noFill/>
          <a:ln/>
        </p:spPr>
        <p:txBody>
          <a:bodyPr wrap="square" lIns="0" tIns="0" rIns="0" bIns="0" rtlCol="0" anchor="ctr"/>
          <a:lstStyle/>
          <a:p>
            <a:pPr algn="ctr" indent="0" marL="0">
              <a:buNone/>
            </a:pPr>
            <a:r>
              <a:rPr lang="en-US" sz="800" i="1" dirty="0">
                <a:solidFill>
                  <a:srgbClr val="AAAAAA"/>
                </a:solidFill>
                <a:latin typeface="Arial" pitchFamily="34" charset="0"/>
                <a:ea typeface="Arial" pitchFamily="34" charset="-122"/>
                <a:cs typeface="Arial" pitchFamily="34" charset="-120"/>
              </a:rPr>
              <a:t>Slides 3–7</a:t>
            </a:r>
            <a:endParaRPr lang="en-US" sz="800" dirty="0"/>
          </a:p>
        </p:txBody>
      </p:sp>
      <p:sp>
        <p:nvSpPr>
          <p:cNvPr id="12" name="Shape 10"/>
          <p:cNvSpPr/>
          <p:nvPr/>
        </p:nvSpPr>
        <p:spPr>
          <a:xfrm>
            <a:off x="2537460" y="2423160"/>
            <a:ext cx="1965960" cy="1417320"/>
          </a:xfrm>
          <a:prstGeom prst="rect">
            <a:avLst/>
          </a:prstGeom>
          <a:solidFill>
            <a:srgbClr val="444444"/>
          </a:solidFill>
          <a:ln w="12700">
            <a:solidFill>
              <a:srgbClr val="444444"/>
            </a:solidFill>
            <a:prstDash val="solid"/>
          </a:ln>
        </p:spPr>
      </p:sp>
      <p:sp>
        <p:nvSpPr>
          <p:cNvPr id="13" name="Shape 11"/>
          <p:cNvSpPr/>
          <p:nvPr/>
        </p:nvSpPr>
        <p:spPr>
          <a:xfrm>
            <a:off x="2537460" y="2423160"/>
            <a:ext cx="1965960" cy="54864"/>
          </a:xfrm>
          <a:prstGeom prst="rect">
            <a:avLst/>
          </a:prstGeom>
          <a:solidFill>
            <a:srgbClr val="F6693D"/>
          </a:solidFill>
          <a:ln w="12700">
            <a:solidFill>
              <a:srgbClr val="F6693D"/>
            </a:solidFill>
            <a:prstDash val="solid"/>
          </a:ln>
        </p:spPr>
      </p:sp>
      <p:sp>
        <p:nvSpPr>
          <p:cNvPr id="14" name="Text 12"/>
          <p:cNvSpPr/>
          <p:nvPr/>
        </p:nvSpPr>
        <p:spPr>
          <a:xfrm>
            <a:off x="2537460" y="2560320"/>
            <a:ext cx="1965960" cy="457200"/>
          </a:xfrm>
          <a:prstGeom prst="rect">
            <a:avLst/>
          </a:prstGeom>
          <a:noFill/>
          <a:ln/>
        </p:spPr>
        <p:txBody>
          <a:bodyPr wrap="square" lIns="0" tIns="0" rIns="0" bIns="0" rtlCol="0" anchor="ctr"/>
          <a:lstStyle/>
          <a:p>
            <a:pPr algn="ctr" indent="0" marL="0">
              <a:buNone/>
            </a:pPr>
            <a:r>
              <a:rPr lang="en-US" sz="2600" b="1" dirty="0">
                <a:solidFill>
                  <a:srgbClr val="F6693D"/>
                </a:solidFill>
                <a:latin typeface="Arial Black" pitchFamily="34" charset="0"/>
                <a:ea typeface="Arial Black" pitchFamily="34" charset="-122"/>
                <a:cs typeface="Arial Black" pitchFamily="34" charset="-120"/>
              </a:rPr>
              <a:t>02</a:t>
            </a:r>
            <a:endParaRPr lang="en-US" sz="2600" dirty="0"/>
          </a:p>
        </p:txBody>
      </p:sp>
      <p:sp>
        <p:nvSpPr>
          <p:cNvPr id="15" name="Text 13"/>
          <p:cNvSpPr/>
          <p:nvPr/>
        </p:nvSpPr>
        <p:spPr>
          <a:xfrm>
            <a:off x="2537460" y="3017520"/>
            <a:ext cx="1965960" cy="27432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MARKET SHIFTS</a:t>
            </a:r>
            <a:endParaRPr lang="en-US" sz="1100" dirty="0"/>
          </a:p>
        </p:txBody>
      </p:sp>
      <p:sp>
        <p:nvSpPr>
          <p:cNvPr id="16" name="Text 14"/>
          <p:cNvSpPr/>
          <p:nvPr/>
        </p:nvSpPr>
        <p:spPr>
          <a:xfrm>
            <a:off x="2647188" y="3291840"/>
            <a:ext cx="1746504" cy="411480"/>
          </a:xfrm>
          <a:prstGeom prst="rect">
            <a:avLst/>
          </a:prstGeom>
          <a:noFill/>
          <a:ln/>
        </p:spPr>
        <p:txBody>
          <a:bodyPr wrap="square" lIns="0" tIns="0" rIns="0" bIns="0" rtlCol="0" anchor="ctr"/>
          <a:lstStyle/>
          <a:p>
            <a:pPr algn="ctr" indent="0" marL="0">
              <a:buNone/>
            </a:pPr>
            <a:r>
              <a:rPr lang="en-US" sz="850" dirty="0">
                <a:solidFill>
                  <a:srgbClr val="CCCCCC"/>
                </a:solidFill>
                <a:latin typeface="Arial" pitchFamily="34" charset="0"/>
                <a:ea typeface="Arial" pitchFamily="34" charset="-122"/>
                <a:cs typeface="Arial" pitchFamily="34" charset="-120"/>
              </a:rPr>
              <a:t>Capex, concentration, and valuations in 2026.</a:t>
            </a:r>
            <a:endParaRPr lang="en-US" sz="850" dirty="0"/>
          </a:p>
        </p:txBody>
      </p:sp>
      <p:sp>
        <p:nvSpPr>
          <p:cNvPr id="17" name="Text 15"/>
          <p:cNvSpPr/>
          <p:nvPr/>
        </p:nvSpPr>
        <p:spPr>
          <a:xfrm>
            <a:off x="2537460" y="3630168"/>
            <a:ext cx="1965960" cy="182880"/>
          </a:xfrm>
          <a:prstGeom prst="rect">
            <a:avLst/>
          </a:prstGeom>
          <a:noFill/>
          <a:ln/>
        </p:spPr>
        <p:txBody>
          <a:bodyPr wrap="square" lIns="0" tIns="0" rIns="0" bIns="0" rtlCol="0" anchor="ctr"/>
          <a:lstStyle/>
          <a:p>
            <a:pPr algn="ctr" indent="0" marL="0">
              <a:buNone/>
            </a:pPr>
            <a:r>
              <a:rPr lang="en-US" sz="800" i="1" dirty="0">
                <a:solidFill>
                  <a:srgbClr val="AAAAAA"/>
                </a:solidFill>
                <a:latin typeface="Arial" pitchFamily="34" charset="0"/>
                <a:ea typeface="Arial" pitchFamily="34" charset="-122"/>
                <a:cs typeface="Arial" pitchFamily="34" charset="-120"/>
              </a:rPr>
              <a:t>Slides 8–12</a:t>
            </a:r>
            <a:endParaRPr lang="en-US" sz="800" dirty="0"/>
          </a:p>
        </p:txBody>
      </p:sp>
      <p:sp>
        <p:nvSpPr>
          <p:cNvPr id="18" name="Shape 16"/>
          <p:cNvSpPr/>
          <p:nvPr/>
        </p:nvSpPr>
        <p:spPr>
          <a:xfrm>
            <a:off x="4640580" y="2423160"/>
            <a:ext cx="1965960" cy="1417320"/>
          </a:xfrm>
          <a:prstGeom prst="rect">
            <a:avLst/>
          </a:prstGeom>
          <a:solidFill>
            <a:srgbClr val="444444"/>
          </a:solidFill>
          <a:ln w="12700">
            <a:solidFill>
              <a:srgbClr val="444444"/>
            </a:solidFill>
            <a:prstDash val="solid"/>
          </a:ln>
        </p:spPr>
      </p:sp>
      <p:sp>
        <p:nvSpPr>
          <p:cNvPr id="19" name="Shape 17"/>
          <p:cNvSpPr/>
          <p:nvPr/>
        </p:nvSpPr>
        <p:spPr>
          <a:xfrm>
            <a:off x="4640580" y="2423160"/>
            <a:ext cx="1965960" cy="54864"/>
          </a:xfrm>
          <a:prstGeom prst="rect">
            <a:avLst/>
          </a:prstGeom>
          <a:solidFill>
            <a:srgbClr val="CC0000"/>
          </a:solidFill>
          <a:ln w="12700">
            <a:solidFill>
              <a:srgbClr val="CC0000"/>
            </a:solidFill>
            <a:prstDash val="solid"/>
          </a:ln>
        </p:spPr>
      </p:sp>
      <p:sp>
        <p:nvSpPr>
          <p:cNvPr id="20" name="Text 18"/>
          <p:cNvSpPr/>
          <p:nvPr/>
        </p:nvSpPr>
        <p:spPr>
          <a:xfrm>
            <a:off x="4640580" y="2560320"/>
            <a:ext cx="1965960" cy="457200"/>
          </a:xfrm>
          <a:prstGeom prst="rect">
            <a:avLst/>
          </a:prstGeom>
          <a:noFill/>
          <a:ln/>
        </p:spPr>
        <p:txBody>
          <a:bodyPr wrap="square" lIns="0" tIns="0" rIns="0" bIns="0" rtlCol="0" anchor="ctr"/>
          <a:lstStyle/>
          <a:p>
            <a:pPr algn="ctr" indent="0" marL="0">
              <a:buNone/>
            </a:pPr>
            <a:r>
              <a:rPr lang="en-US" sz="2600" b="1" dirty="0">
                <a:solidFill>
                  <a:srgbClr val="CC0000"/>
                </a:solidFill>
                <a:latin typeface="Arial Black" pitchFamily="34" charset="0"/>
                <a:ea typeface="Arial Black" pitchFamily="34" charset="-122"/>
                <a:cs typeface="Arial Black" pitchFamily="34" charset="-120"/>
              </a:rPr>
              <a:t>03</a:t>
            </a:r>
            <a:endParaRPr lang="en-US" sz="2600" dirty="0"/>
          </a:p>
        </p:txBody>
      </p:sp>
      <p:sp>
        <p:nvSpPr>
          <p:cNvPr id="21" name="Text 19"/>
          <p:cNvSpPr/>
          <p:nvPr/>
        </p:nvSpPr>
        <p:spPr>
          <a:xfrm>
            <a:off x="4640580" y="3017520"/>
            <a:ext cx="1965960" cy="27432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RISKS</a:t>
            </a:r>
            <a:endParaRPr lang="en-US" sz="1100" dirty="0"/>
          </a:p>
        </p:txBody>
      </p:sp>
      <p:sp>
        <p:nvSpPr>
          <p:cNvPr id="22" name="Text 20"/>
          <p:cNvSpPr/>
          <p:nvPr/>
        </p:nvSpPr>
        <p:spPr>
          <a:xfrm>
            <a:off x="4750308" y="3291840"/>
            <a:ext cx="1746504" cy="411480"/>
          </a:xfrm>
          <a:prstGeom prst="rect">
            <a:avLst/>
          </a:prstGeom>
          <a:noFill/>
          <a:ln/>
        </p:spPr>
        <p:txBody>
          <a:bodyPr wrap="square" lIns="0" tIns="0" rIns="0" bIns="0" rtlCol="0" anchor="ctr"/>
          <a:lstStyle/>
          <a:p>
            <a:pPr algn="ctr" indent="0" marL="0">
              <a:buNone/>
            </a:pPr>
            <a:r>
              <a:rPr lang="en-US" sz="850" dirty="0">
                <a:solidFill>
                  <a:srgbClr val="CCCCCC"/>
                </a:solidFill>
                <a:latin typeface="Arial" pitchFamily="34" charset="0"/>
                <a:ea typeface="Arial" pitchFamily="34" charset="-122"/>
                <a:cs typeface="Arial" pitchFamily="34" charset="-120"/>
              </a:rPr>
              <a:t>Bull vs. bear, scenarios, and structural cautions.</a:t>
            </a:r>
            <a:endParaRPr lang="en-US" sz="850" dirty="0"/>
          </a:p>
        </p:txBody>
      </p:sp>
      <p:sp>
        <p:nvSpPr>
          <p:cNvPr id="23" name="Text 21"/>
          <p:cNvSpPr/>
          <p:nvPr/>
        </p:nvSpPr>
        <p:spPr>
          <a:xfrm>
            <a:off x="4640580" y="3630168"/>
            <a:ext cx="1965960" cy="182880"/>
          </a:xfrm>
          <a:prstGeom prst="rect">
            <a:avLst/>
          </a:prstGeom>
          <a:noFill/>
          <a:ln/>
        </p:spPr>
        <p:txBody>
          <a:bodyPr wrap="square" lIns="0" tIns="0" rIns="0" bIns="0" rtlCol="0" anchor="ctr"/>
          <a:lstStyle/>
          <a:p>
            <a:pPr algn="ctr" indent="0" marL="0">
              <a:buNone/>
            </a:pPr>
            <a:r>
              <a:rPr lang="en-US" sz="800" i="1" dirty="0">
                <a:solidFill>
                  <a:srgbClr val="AAAAAA"/>
                </a:solidFill>
                <a:latin typeface="Arial" pitchFamily="34" charset="0"/>
                <a:ea typeface="Arial" pitchFamily="34" charset="-122"/>
                <a:cs typeface="Arial" pitchFamily="34" charset="-120"/>
              </a:rPr>
              <a:t>Slides 13–17</a:t>
            </a:r>
            <a:endParaRPr lang="en-US" sz="800" dirty="0"/>
          </a:p>
        </p:txBody>
      </p:sp>
      <p:sp>
        <p:nvSpPr>
          <p:cNvPr id="24" name="Shape 22"/>
          <p:cNvSpPr/>
          <p:nvPr/>
        </p:nvSpPr>
        <p:spPr>
          <a:xfrm>
            <a:off x="6743700" y="2423160"/>
            <a:ext cx="1965960" cy="1417320"/>
          </a:xfrm>
          <a:prstGeom prst="rect">
            <a:avLst/>
          </a:prstGeom>
          <a:solidFill>
            <a:srgbClr val="444444"/>
          </a:solidFill>
          <a:ln w="12700">
            <a:solidFill>
              <a:srgbClr val="444444"/>
            </a:solidFill>
            <a:prstDash val="solid"/>
          </a:ln>
        </p:spPr>
      </p:sp>
      <p:sp>
        <p:nvSpPr>
          <p:cNvPr id="25" name="Shape 23"/>
          <p:cNvSpPr/>
          <p:nvPr/>
        </p:nvSpPr>
        <p:spPr>
          <a:xfrm>
            <a:off x="6743700" y="2423160"/>
            <a:ext cx="1965960" cy="54864"/>
          </a:xfrm>
          <a:prstGeom prst="rect">
            <a:avLst/>
          </a:prstGeom>
          <a:solidFill>
            <a:srgbClr val="E8478D"/>
          </a:solidFill>
          <a:ln w="12700">
            <a:solidFill>
              <a:srgbClr val="E8478D"/>
            </a:solidFill>
            <a:prstDash val="solid"/>
          </a:ln>
        </p:spPr>
      </p:sp>
      <p:sp>
        <p:nvSpPr>
          <p:cNvPr id="26" name="Text 24"/>
          <p:cNvSpPr/>
          <p:nvPr/>
        </p:nvSpPr>
        <p:spPr>
          <a:xfrm>
            <a:off x="6743700" y="2560320"/>
            <a:ext cx="1965960" cy="457200"/>
          </a:xfrm>
          <a:prstGeom prst="rect">
            <a:avLst/>
          </a:prstGeom>
          <a:noFill/>
          <a:ln/>
        </p:spPr>
        <p:txBody>
          <a:bodyPr wrap="square" lIns="0" tIns="0" rIns="0" bIns="0" rtlCol="0" anchor="ctr"/>
          <a:lstStyle/>
          <a:p>
            <a:pPr algn="ctr" indent="0" marL="0">
              <a:buNone/>
            </a:pPr>
            <a:r>
              <a:rPr lang="en-US" sz="2600" b="1" dirty="0">
                <a:solidFill>
                  <a:srgbClr val="E8478D"/>
                </a:solidFill>
                <a:latin typeface="Arial Black" pitchFamily="34" charset="0"/>
                <a:ea typeface="Arial Black" pitchFamily="34" charset="-122"/>
                <a:cs typeface="Arial Black" pitchFamily="34" charset="-120"/>
              </a:rPr>
              <a:t>04</a:t>
            </a:r>
            <a:endParaRPr lang="en-US" sz="2600" dirty="0"/>
          </a:p>
        </p:txBody>
      </p:sp>
      <p:sp>
        <p:nvSpPr>
          <p:cNvPr id="27" name="Text 25"/>
          <p:cNvSpPr/>
          <p:nvPr/>
        </p:nvSpPr>
        <p:spPr>
          <a:xfrm>
            <a:off x="6743700" y="3017520"/>
            <a:ext cx="1965960" cy="27432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FRONTIER</a:t>
            </a:r>
            <a:endParaRPr lang="en-US" sz="1100" dirty="0"/>
          </a:p>
        </p:txBody>
      </p:sp>
      <p:sp>
        <p:nvSpPr>
          <p:cNvPr id="28" name="Text 26"/>
          <p:cNvSpPr/>
          <p:nvPr/>
        </p:nvSpPr>
        <p:spPr>
          <a:xfrm>
            <a:off x="6853428" y="3291840"/>
            <a:ext cx="1746504" cy="411480"/>
          </a:xfrm>
          <a:prstGeom prst="rect">
            <a:avLst/>
          </a:prstGeom>
          <a:noFill/>
          <a:ln/>
        </p:spPr>
        <p:txBody>
          <a:bodyPr wrap="square" lIns="0" tIns="0" rIns="0" bIns="0" rtlCol="0" anchor="ctr"/>
          <a:lstStyle/>
          <a:p>
            <a:pPr algn="ctr" indent="0" marL="0">
              <a:buNone/>
            </a:pPr>
            <a:r>
              <a:rPr lang="en-US" sz="850" dirty="0">
                <a:solidFill>
                  <a:srgbClr val="CCCCCC"/>
                </a:solidFill>
                <a:latin typeface="Arial" pitchFamily="34" charset="0"/>
                <a:ea typeface="Arial" pitchFamily="34" charset="-122"/>
                <a:cs typeface="Arial" pitchFamily="34" charset="-120"/>
              </a:rPr>
              <a:t>Agentic, physical, and scientific frontiers.</a:t>
            </a:r>
            <a:endParaRPr lang="en-US" sz="850" dirty="0"/>
          </a:p>
        </p:txBody>
      </p:sp>
      <p:sp>
        <p:nvSpPr>
          <p:cNvPr id="29" name="Text 27"/>
          <p:cNvSpPr/>
          <p:nvPr/>
        </p:nvSpPr>
        <p:spPr>
          <a:xfrm>
            <a:off x="6743700" y="3630168"/>
            <a:ext cx="1965960" cy="182880"/>
          </a:xfrm>
          <a:prstGeom prst="rect">
            <a:avLst/>
          </a:prstGeom>
          <a:noFill/>
          <a:ln/>
        </p:spPr>
        <p:txBody>
          <a:bodyPr wrap="square" lIns="0" tIns="0" rIns="0" bIns="0" rtlCol="0" anchor="ctr"/>
          <a:lstStyle/>
          <a:p>
            <a:pPr algn="ctr" indent="0" marL="0">
              <a:buNone/>
            </a:pPr>
            <a:r>
              <a:rPr lang="en-US" sz="800" i="1" dirty="0">
                <a:solidFill>
                  <a:srgbClr val="AAAAAA"/>
                </a:solidFill>
                <a:latin typeface="Arial" pitchFamily="34" charset="0"/>
                <a:ea typeface="Arial" pitchFamily="34" charset="-122"/>
                <a:cs typeface="Arial" pitchFamily="34" charset="-120"/>
              </a:rPr>
              <a:t>Slides 18–21</a:t>
            </a:r>
            <a:endParaRPr lang="en-US" sz="800" dirty="0"/>
          </a:p>
        </p:txBody>
      </p:sp>
      <p:sp>
        <p:nvSpPr>
          <p:cNvPr id="30" name="Text 28"/>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  22 slides, read top to bottom.</a:t>
            </a:r>
            <a:endParaRPr lang="en-US" sz="700" dirty="0"/>
          </a:p>
        </p:txBody>
      </p:sp>
      <p:sp>
        <p:nvSpPr>
          <p:cNvPr id="31" name="Shape 29"/>
          <p:cNvSpPr/>
          <p:nvPr/>
        </p:nvSpPr>
        <p:spPr>
          <a:xfrm>
            <a:off x="0" y="4526280"/>
            <a:ext cx="9144000" cy="617220"/>
          </a:xfrm>
          <a:prstGeom prst="rect">
            <a:avLst/>
          </a:prstGeom>
          <a:solidFill>
            <a:srgbClr val="333333"/>
          </a:solidFill>
          <a:ln w="12700">
            <a:solidFill>
              <a:srgbClr val="333333"/>
            </a:solidFill>
            <a:prstDash val="solid"/>
          </a:ln>
        </p:spPr>
      </p:sp>
      <p:sp>
        <p:nvSpPr>
          <p:cNvPr id="32" name="Text 30"/>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3" name="Text 3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AI is the index now.</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Part one of four. A baseline for what investors are actually buying when they buy the index.</a:t>
            </a:r>
            <a:endParaRPr lang="en-US" sz="1350" dirty="0"/>
          </a:p>
        </p:txBody>
      </p:sp>
      <p:sp>
        <p:nvSpPr>
          <p:cNvPr id="6" name="Text 4"/>
          <p:cNvSpPr/>
          <p:nvPr/>
        </p:nvSpPr>
        <p:spPr>
          <a:xfrm>
            <a:off x="457200" y="1783080"/>
            <a:ext cx="8229600" cy="1463040"/>
          </a:xfrm>
          <a:prstGeom prst="rect">
            <a:avLst/>
          </a:prstGeom>
          <a:noFill/>
          <a:ln/>
        </p:spPr>
        <p:txBody>
          <a:bodyPr wrap="square" lIns="0" tIns="0" rIns="0" bIns="0" rtlCol="0" anchor="ctr"/>
          <a:lstStyle/>
          <a:p>
            <a:pPr algn="ctr" indent="0" marL="0">
              <a:buNone/>
            </a:pPr>
            <a:r>
              <a:rPr lang="en-US" sz="14000" b="1" dirty="0">
                <a:solidFill>
                  <a:srgbClr val="F6693D"/>
                </a:solidFill>
                <a:latin typeface="Arial Black" pitchFamily="34" charset="0"/>
                <a:ea typeface="Arial Black" pitchFamily="34" charset="-122"/>
                <a:cs typeface="Arial Black" pitchFamily="34" charset="-120"/>
              </a:rPr>
              <a:t>$4.7T</a:t>
            </a:r>
            <a:endParaRPr lang="en-US" sz="14000" dirty="0"/>
          </a:p>
        </p:txBody>
      </p:sp>
      <p:sp>
        <p:nvSpPr>
          <p:cNvPr id="7" name="Text 5"/>
          <p:cNvSpPr/>
          <p:nvPr/>
        </p:nvSpPr>
        <p:spPr>
          <a:xfrm>
            <a:off x="914400" y="3429000"/>
            <a:ext cx="7315200" cy="640080"/>
          </a:xfrm>
          <a:prstGeom prst="rect">
            <a:avLst/>
          </a:prstGeom>
          <a:noFill/>
          <a:ln/>
        </p:spPr>
        <p:txBody>
          <a:bodyPr wrap="square" lIns="0" tIns="0" rIns="0" bIns="0" rtlCol="0" anchor="t"/>
          <a:lstStyle/>
          <a:p>
            <a:pPr algn="ctr" indent="0" marL="0">
              <a:buNone/>
            </a:pPr>
            <a:r>
              <a:rPr lang="en-US" sz="1400" b="1" dirty="0">
                <a:solidFill>
                  <a:srgbClr val="333333"/>
                </a:solidFill>
                <a:latin typeface="Arial" pitchFamily="34" charset="0"/>
                <a:ea typeface="Arial" pitchFamily="34" charset="-122"/>
                <a:cs typeface="Arial" pitchFamily="34" charset="-120"/>
              </a:rPr>
              <a:t>Combined market cap of the ten largest AI-exposed equities — roughly 12× the value of the entire S&amp;P 500 energy sector.</a:t>
            </a:r>
            <a:endParaRPr lang="en-US" sz="1400" dirty="0"/>
          </a:p>
        </p:txBody>
      </p:sp>
      <p:sp>
        <p:nvSpPr>
          <p:cNvPr id="8" name="Text 6"/>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(illustrative, reconstructed figures). Data as of March 2026.</a:t>
            </a:r>
            <a:endParaRPr lang="en-US" sz="700" dirty="0"/>
          </a:p>
        </p:txBody>
      </p:sp>
      <p:sp>
        <p:nvSpPr>
          <p:cNvPr id="9" name="Shape 7"/>
          <p:cNvSpPr/>
          <p:nvPr/>
        </p:nvSpPr>
        <p:spPr>
          <a:xfrm>
            <a:off x="0" y="4526280"/>
            <a:ext cx="9144000" cy="617220"/>
          </a:xfrm>
          <a:prstGeom prst="rect">
            <a:avLst/>
          </a:prstGeom>
          <a:solidFill>
            <a:srgbClr val="333333"/>
          </a:solidFill>
          <a:ln w="12700">
            <a:solidFill>
              <a:srgbClr val="333333"/>
            </a:solidFill>
            <a:prstDash val="solid"/>
          </a:ln>
        </p:spPr>
      </p:sp>
      <p:sp>
        <p:nvSpPr>
          <p:cNvPr id="10" name="Text 8"/>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1" name="Text 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AI market, by the numbers</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Spending, index exposure, and labor — four datapoints that frame the scale of the shift.</a:t>
            </a:r>
            <a:endParaRPr lang="en-US" sz="1350" dirty="0"/>
          </a:p>
        </p:txBody>
      </p:sp>
      <p:sp>
        <p:nvSpPr>
          <p:cNvPr id="6" name="Text 4"/>
          <p:cNvSpPr/>
          <p:nvPr/>
        </p:nvSpPr>
        <p:spPr>
          <a:xfrm>
            <a:off x="480060" y="2011680"/>
            <a:ext cx="187452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$540B</a:t>
            </a:r>
            <a:endParaRPr lang="en-US" sz="4000" dirty="0"/>
          </a:p>
        </p:txBody>
      </p:sp>
      <p:sp>
        <p:nvSpPr>
          <p:cNvPr id="7" name="Text 5"/>
          <p:cNvSpPr/>
          <p:nvPr/>
        </p:nvSpPr>
        <p:spPr>
          <a:xfrm>
            <a:off x="48006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2026E global AI spend</a:t>
            </a:r>
            <a:endParaRPr lang="en-US" sz="1100" dirty="0"/>
          </a:p>
        </p:txBody>
      </p:sp>
      <p:sp>
        <p:nvSpPr>
          <p:cNvPr id="8" name="Text 6"/>
          <p:cNvSpPr/>
          <p:nvPr/>
        </p:nvSpPr>
        <p:spPr>
          <a:xfrm>
            <a:off x="2583180" y="2011680"/>
            <a:ext cx="187452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42%</a:t>
            </a:r>
            <a:endParaRPr lang="en-US" sz="4000" dirty="0"/>
          </a:p>
        </p:txBody>
      </p:sp>
      <p:sp>
        <p:nvSpPr>
          <p:cNvPr id="9" name="Text 7"/>
          <p:cNvSpPr/>
          <p:nvPr/>
        </p:nvSpPr>
        <p:spPr>
          <a:xfrm>
            <a:off x="258318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S&amp;P 500 weight in AI-exposed names</a:t>
            </a:r>
            <a:endParaRPr lang="en-US" sz="1100" dirty="0"/>
          </a:p>
        </p:txBody>
      </p:sp>
      <p:sp>
        <p:nvSpPr>
          <p:cNvPr id="10" name="Text 8"/>
          <p:cNvSpPr/>
          <p:nvPr/>
        </p:nvSpPr>
        <p:spPr>
          <a:xfrm>
            <a:off x="4686300" y="2011680"/>
            <a:ext cx="187452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$620B</a:t>
            </a:r>
            <a:endParaRPr lang="en-US" sz="4000" dirty="0"/>
          </a:p>
        </p:txBody>
      </p:sp>
      <p:sp>
        <p:nvSpPr>
          <p:cNvPr id="11" name="Text 9"/>
          <p:cNvSpPr/>
          <p:nvPr/>
        </p:nvSpPr>
        <p:spPr>
          <a:xfrm>
            <a:off x="468630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hyperscaler 2026E capex</a:t>
            </a:r>
            <a:endParaRPr lang="en-US" sz="1100" dirty="0"/>
          </a:p>
        </p:txBody>
      </p:sp>
      <p:sp>
        <p:nvSpPr>
          <p:cNvPr id="12" name="Text 10"/>
          <p:cNvSpPr/>
          <p:nvPr/>
        </p:nvSpPr>
        <p:spPr>
          <a:xfrm>
            <a:off x="6789420" y="2011680"/>
            <a:ext cx="187452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1.6M</a:t>
            </a:r>
            <a:endParaRPr lang="en-US" sz="4000" dirty="0"/>
          </a:p>
        </p:txBody>
      </p:sp>
      <p:sp>
        <p:nvSpPr>
          <p:cNvPr id="13" name="Text 11"/>
          <p:cNvSpPr/>
          <p:nvPr/>
        </p:nvSpPr>
        <p:spPr>
          <a:xfrm>
            <a:off x="678942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AI/ML roles open globally</a:t>
            </a:r>
            <a:endParaRPr lang="en-US" sz="1100" dirty="0"/>
          </a:p>
        </p:txBody>
      </p:sp>
      <p:sp>
        <p:nvSpPr>
          <p:cNvPr id="14" name="Shape 12"/>
          <p:cNvSpPr/>
          <p:nvPr/>
        </p:nvSpPr>
        <p:spPr>
          <a:xfrm>
            <a:off x="457200" y="3520440"/>
            <a:ext cx="8229600" cy="457200"/>
          </a:xfrm>
          <a:prstGeom prst="rect">
            <a:avLst/>
          </a:prstGeom>
          <a:solidFill>
            <a:srgbClr val="FFD100"/>
          </a:solidFill>
          <a:ln w="12700">
            <a:solidFill>
              <a:srgbClr val="FFD100"/>
            </a:solidFill>
            <a:prstDash val="solid"/>
          </a:ln>
        </p:spPr>
      </p:sp>
      <p:sp>
        <p:nvSpPr>
          <p:cNvPr id="15" name="Text 13"/>
          <p:cNvSpPr/>
          <p:nvPr/>
        </p:nvSpPr>
        <p:spPr>
          <a:xfrm>
            <a:off x="640080" y="3520440"/>
            <a:ext cx="7863840" cy="45720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Takeaway: AI is no longer a sector bet — it's an index exposure. Underweighting it is an active call.</a:t>
            </a:r>
            <a:endParaRPr lang="en-US" sz="1250" dirty="0"/>
          </a:p>
        </p:txBody>
      </p:sp>
      <p:sp>
        <p:nvSpPr>
          <p:cNvPr id="16" name="Text 14"/>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IDC, company filings. Reconstructed figures for illustrative purposes.</a:t>
            </a:r>
            <a:endParaRPr lang="en-US" sz="700" dirty="0"/>
          </a:p>
        </p:txBody>
      </p:sp>
      <p:sp>
        <p:nvSpPr>
          <p:cNvPr id="17" name="Shape 15"/>
          <p:cNvSpPr/>
          <p:nvPr/>
        </p:nvSpPr>
        <p:spPr>
          <a:xfrm>
            <a:off x="0" y="4526280"/>
            <a:ext cx="9144000" cy="617220"/>
          </a:xfrm>
          <a:prstGeom prst="rect">
            <a:avLst/>
          </a:prstGeom>
          <a:solidFill>
            <a:srgbClr val="333333"/>
          </a:solidFill>
          <a:ln w="12700">
            <a:solidFill>
              <a:srgbClr val="333333"/>
            </a:solidFill>
            <a:prstDash val="solid"/>
          </a:ln>
        </p:spPr>
      </p:sp>
      <p:sp>
        <p:nvSpPr>
          <p:cNvPr id="18" name="Text 16"/>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AI has carried the tape.</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The AI basket is up 34% YTD against a 9% index return — and sector dispersion is the widest since 2020.</a:t>
            </a:r>
            <a:endParaRPr lang="en-US" sz="1350" dirty="0"/>
          </a:p>
        </p:txBody>
      </p:sp>
      <p:sp>
        <p:nvSpPr>
          <p:cNvPr id="6" name="Text 4"/>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AI basket vs. S&amp;P 500, YTD (rebased to 100)</a:t>
            </a:r>
            <a:endParaRPr lang="en-US" sz="1400" dirty="0"/>
          </a:p>
        </p:txBody>
      </p:sp>
      <p:sp>
        <p:nvSpPr>
          <p:cNvPr id="7" name="Shape 5"/>
          <p:cNvSpPr/>
          <p:nvPr/>
        </p:nvSpPr>
        <p:spPr>
          <a:xfrm>
            <a:off x="457200" y="1691640"/>
            <a:ext cx="3931920" cy="0"/>
          </a:xfrm>
          <a:prstGeom prst="line">
            <a:avLst/>
          </a:prstGeom>
          <a:noFill/>
          <a:ln w="19050">
            <a:solidFill>
              <a:srgbClr val="000000"/>
            </a:solidFill>
            <a:prstDash val="solid"/>
          </a:ln>
        </p:spPr>
      </p:sp>
      <p:graphicFrame>
        <p:nvGraphicFramePr>
          <p:cNvPr id="8" name="Chart 0" descr=""/>
          <p:cNvGraphicFramePr/>
          <p:nvPr/>
        </p:nvGraphicFramePr>
        <p:xfrm>
          <a:off x="457200" y="178308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475488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S&amp;P 500 sector returns, YTD (%)</a:t>
            </a:r>
            <a:endParaRPr lang="en-US" sz="1400" dirty="0"/>
          </a:p>
        </p:txBody>
      </p:sp>
      <p:sp>
        <p:nvSpPr>
          <p:cNvPr id="10" name="Shape 7"/>
          <p:cNvSpPr/>
          <p:nvPr/>
        </p:nvSpPr>
        <p:spPr>
          <a:xfrm>
            <a:off x="4754880" y="1691640"/>
            <a:ext cx="3931920" cy="0"/>
          </a:xfrm>
          <a:prstGeom prst="line">
            <a:avLst/>
          </a:prstGeom>
          <a:noFill/>
          <a:ln w="19050">
            <a:solidFill>
              <a:srgbClr val="000000"/>
            </a:solidFill>
            <a:prstDash val="solid"/>
          </a:ln>
        </p:spPr>
      </p:sp>
      <p:graphicFrame>
        <p:nvGraphicFramePr>
          <p:cNvPr id="11" name="Chart 1" descr=""/>
          <p:cNvGraphicFramePr/>
          <p:nvPr/>
        </p:nvGraphicFramePr>
        <p:xfrm>
          <a:off x="4754880" y="1783080"/>
          <a:ext cx="3931920" cy="210312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illustrative reconstruction. Data through March 2026.</a:t>
            </a:r>
            <a:endParaRPr lang="en-US" sz="700" dirty="0"/>
          </a:p>
        </p:txBody>
      </p:sp>
      <p:sp>
        <p:nvSpPr>
          <p:cNvPr id="13" name="Shape 9"/>
          <p:cNvSpPr/>
          <p:nvPr/>
        </p:nvSpPr>
        <p:spPr>
          <a:xfrm>
            <a:off x="0" y="4526280"/>
            <a:ext cx="9144000" cy="617220"/>
          </a:xfrm>
          <a:prstGeom prst="rect">
            <a:avLst/>
          </a:prstGeom>
          <a:solidFill>
            <a:srgbClr val="333333"/>
          </a:solidFill>
          <a:ln w="12700">
            <a:solidFill>
              <a:srgbClr val="333333"/>
            </a:solidFill>
            <a:prstDash val="solid"/>
          </a:ln>
        </p:spPr>
      </p:sp>
      <p:sp>
        <p:nvSpPr>
          <p:cNvPr id="14" name="Text 10"/>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Ten names drive most of the move.</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The top-10 AI-exposed equities account for ~28% of S&amp;P 500 cap and ~55% of YTD index return contribution.</a:t>
            </a:r>
            <a:endParaRPr lang="en-US" sz="13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8229600" cy="914400"/>
        </p:xfrm>
        <a:graphic>
          <a:graphicData uri="http://schemas.openxmlformats.org/drawingml/2006/table">
            <a:tbl>
              <a:tblPr/>
              <a:tblGrid>
                <a:gridCol w="1188720"/>
                <a:gridCol w="1463040"/>
                <a:gridCol w="1645920"/>
                <a:gridCol w="1828800"/>
                <a:gridCol w="2103120"/>
              </a:tblGrid>
              <a:tr h="18288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Company</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Mkt Cap</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Rev Growth</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Forward P/E</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YTD Return</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182880">
                <a:tc>
                  <a:txBody>
                    <a:bodyPr/>
                    <a:lstStyle/>
                    <a:p>
                      <a:pPr algn="ctr" indent="0" marL="0">
                        <a:buNone/>
                      </a:pPr>
                      <a:r>
                        <a:rPr lang="en-US" sz="900" b="1" dirty="0">
                          <a:solidFill>
                            <a:srgbClr val="000000"/>
                          </a:solidFill>
                          <a:latin typeface="Arial" pitchFamily="34" charset="0"/>
                          <a:ea typeface="Arial" pitchFamily="34" charset="-122"/>
                          <a:cs typeface="Arial" pitchFamily="34" charset="-120"/>
                        </a:rPr>
                        <a:t>NVDA</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$4.2T</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0A854"/>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42x</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F6693D"/>
                          </a:solidFill>
                          <a:latin typeface="Arial" pitchFamily="34" charset="0"/>
                          <a:ea typeface="Arial" pitchFamily="34" charset="-122"/>
                          <a:cs typeface="Arial" pitchFamily="34" charset="-120"/>
                        </a:rPr>
                        <a:t>+39%</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182880">
                <a:tc>
                  <a:txBody>
                    <a:bodyPr/>
                    <a:lstStyle/>
                    <a:p>
                      <a:pPr algn="ctr" indent="0" marL="0">
                        <a:buNone/>
                      </a:pPr>
                      <a:r>
                        <a:rPr lang="en-US" sz="900" b="1" dirty="0">
                          <a:solidFill>
                            <a:srgbClr val="000000"/>
                          </a:solidFill>
                          <a:latin typeface="Arial" pitchFamily="34" charset="0"/>
                          <a:ea typeface="Arial" pitchFamily="34" charset="-122"/>
                          <a:cs typeface="Arial" pitchFamily="34" charset="-120"/>
                        </a:rPr>
                        <a:t>MSFT</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$3.9T</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b="1" dirty="0">
                          <a:solidFill>
                            <a:srgbClr val="00A854"/>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34x</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b="1" dirty="0">
                          <a:solidFill>
                            <a:srgbClr val="F6693D"/>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182880">
                <a:tc>
                  <a:txBody>
                    <a:bodyPr/>
                    <a:lstStyle/>
                    <a:p>
                      <a:pPr algn="ctr" indent="0" marL="0">
                        <a:buNone/>
                      </a:pPr>
                      <a:r>
                        <a:rPr lang="en-US" sz="900" b="1" dirty="0">
                          <a:solidFill>
                            <a:srgbClr val="000000"/>
                          </a:solidFill>
                          <a:latin typeface="Arial" pitchFamily="34" charset="0"/>
                          <a:ea typeface="Arial" pitchFamily="34" charset="-122"/>
                          <a:cs typeface="Arial" pitchFamily="34" charset="-120"/>
                        </a:rPr>
                        <a:t>GOOGL</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$2.6T</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0A854"/>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26x</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F6693D"/>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182880">
                <a:tc>
                  <a:txBody>
                    <a:bodyPr/>
                    <a:lstStyle/>
                    <a:p>
                      <a:pPr algn="ctr" indent="0" marL="0">
                        <a:buNone/>
                      </a:pPr>
                      <a:r>
                        <a:rPr lang="en-US" sz="900" b="1" dirty="0">
                          <a:solidFill>
                            <a:srgbClr val="000000"/>
                          </a:solidFill>
                          <a:latin typeface="Arial" pitchFamily="34" charset="0"/>
                          <a:ea typeface="Arial" pitchFamily="34" charset="-122"/>
                          <a:cs typeface="Arial" pitchFamily="34" charset="-120"/>
                        </a:rPr>
                        <a:t>META</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$2.1T</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b="1" dirty="0">
                          <a:solidFill>
                            <a:srgbClr val="00A854"/>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27x</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b="1" dirty="0">
                          <a:solidFill>
                            <a:srgbClr val="F6693D"/>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182880">
                <a:tc>
                  <a:txBody>
                    <a:bodyPr/>
                    <a:lstStyle/>
                    <a:p>
                      <a:pPr algn="ctr" indent="0" marL="0">
                        <a:buNone/>
                      </a:pPr>
                      <a:r>
                        <a:rPr lang="en-US" sz="900" b="1" dirty="0">
                          <a:solidFill>
                            <a:srgbClr val="000000"/>
                          </a:solidFill>
                          <a:latin typeface="Arial" pitchFamily="34" charset="0"/>
                          <a:ea typeface="Arial" pitchFamily="34" charset="-122"/>
                          <a:cs typeface="Arial" pitchFamily="34" charset="-120"/>
                        </a:rPr>
                        <a:t>AMZN</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$2.4T</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0A854"/>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38x</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F6693D"/>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182880">
                <a:tc>
                  <a:txBody>
                    <a:bodyPr/>
                    <a:lstStyle/>
                    <a:p>
                      <a:pPr algn="ctr" indent="0" marL="0">
                        <a:buNone/>
                      </a:pPr>
                      <a:r>
                        <a:rPr lang="en-US" sz="900" b="1" dirty="0">
                          <a:solidFill>
                            <a:srgbClr val="000000"/>
                          </a:solidFill>
                          <a:latin typeface="Arial" pitchFamily="34" charset="0"/>
                          <a:ea typeface="Arial" pitchFamily="34" charset="-122"/>
                          <a:cs typeface="Arial" pitchFamily="34" charset="-120"/>
                        </a:rPr>
                        <a:t>TSM</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$1.3T</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b="1" dirty="0">
                          <a:solidFill>
                            <a:srgbClr val="00A854"/>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23x</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b="1" dirty="0">
                          <a:solidFill>
                            <a:srgbClr val="F6693D"/>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182880">
                <a:tc>
                  <a:txBody>
                    <a:bodyPr/>
                    <a:lstStyle/>
                    <a:p>
                      <a:pPr algn="ctr" indent="0" marL="0">
                        <a:buNone/>
                      </a:pPr>
                      <a:r>
                        <a:rPr lang="en-US" sz="900" b="1" dirty="0">
                          <a:solidFill>
                            <a:srgbClr val="000000"/>
                          </a:solidFill>
                          <a:latin typeface="Arial" pitchFamily="34" charset="0"/>
                          <a:ea typeface="Arial" pitchFamily="34" charset="-122"/>
                          <a:cs typeface="Arial" pitchFamily="34" charset="-120"/>
                        </a:rPr>
                        <a:t>AVGO</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$1.1T</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0A854"/>
                          </a:solidFill>
                          <a:latin typeface="Arial" pitchFamily="34" charset="0"/>
                          <a:ea typeface="Arial" pitchFamily="34" charset="-122"/>
                          <a:cs typeface="Arial" pitchFamily="34" charset="-120"/>
                        </a:rPr>
                        <a:t>+44%</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32x</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F6693D"/>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182880">
                <a:tc>
                  <a:txBody>
                    <a:bodyPr/>
                    <a:lstStyle/>
                    <a:p>
                      <a:pPr algn="ctr" indent="0" marL="0">
                        <a:buNone/>
                      </a:pPr>
                      <a:r>
                        <a:rPr lang="en-US" sz="900" b="1" dirty="0">
                          <a:solidFill>
                            <a:srgbClr val="000000"/>
                          </a:solidFill>
                          <a:latin typeface="Arial" pitchFamily="34" charset="0"/>
                          <a:ea typeface="Arial" pitchFamily="34" charset="-122"/>
                          <a:cs typeface="Arial" pitchFamily="34" charset="-120"/>
                        </a:rPr>
                        <a:t>AMD</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$0.4T</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b="1" dirty="0">
                          <a:solidFill>
                            <a:srgbClr val="00A854"/>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41x</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b="1" dirty="0">
                          <a:solidFill>
                            <a:srgbClr val="F6693D"/>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182880">
                <a:tc>
                  <a:txBody>
                    <a:bodyPr/>
                    <a:lstStyle/>
                    <a:p>
                      <a:pPr algn="ctr" indent="0" marL="0">
                        <a:buNone/>
                      </a:pPr>
                      <a:r>
                        <a:rPr lang="en-US" sz="900" b="1" dirty="0">
                          <a:solidFill>
                            <a:srgbClr val="000000"/>
                          </a:solidFill>
                          <a:latin typeface="Arial" pitchFamily="34" charset="0"/>
                          <a:ea typeface="Arial" pitchFamily="34" charset="-122"/>
                          <a:cs typeface="Arial" pitchFamily="34" charset="-120"/>
                        </a:rPr>
                        <a:t>ORCL</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$0.6T</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0A854"/>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28x</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F6693D"/>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182880">
                <a:tc>
                  <a:txBody>
                    <a:bodyPr/>
                    <a:lstStyle/>
                    <a:p>
                      <a:pPr algn="ctr" indent="0" marL="0">
                        <a:buNone/>
                      </a:pPr>
                      <a:r>
                        <a:rPr lang="en-US" sz="900" b="1" dirty="0">
                          <a:solidFill>
                            <a:srgbClr val="000000"/>
                          </a:solidFill>
                          <a:latin typeface="Arial" pitchFamily="34" charset="0"/>
                          <a:ea typeface="Arial" pitchFamily="34" charset="-122"/>
                          <a:cs typeface="Arial" pitchFamily="34" charset="-120"/>
                        </a:rPr>
                        <a:t>PLTR</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$0.3T</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b="1" dirty="0">
                          <a:solidFill>
                            <a:srgbClr val="00A854"/>
                          </a:solidFill>
                          <a:latin typeface="Arial" pitchFamily="34" charset="0"/>
                          <a:ea typeface="Arial" pitchFamily="34" charset="-122"/>
                          <a:cs typeface="Arial" pitchFamily="34" charset="-120"/>
                        </a:rPr>
                        <a:t>+52%</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dirty="0">
                          <a:solidFill>
                            <a:srgbClr val="333333"/>
                          </a:solidFill>
                          <a:latin typeface="Arial" pitchFamily="34" charset="0"/>
                          <a:ea typeface="Arial" pitchFamily="34" charset="-122"/>
                          <a:cs typeface="Arial" pitchFamily="34" charset="-120"/>
                        </a:rPr>
                        <a:t>96x</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900" b="1" dirty="0">
                          <a:solidFill>
                            <a:srgbClr val="F6693D"/>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27432" marR="27432" marT="27432" marB="27432"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bl>
          </a:graphicData>
        </a:graphic>
      </p:graphicFrame>
      <p:sp>
        <p:nvSpPr>
          <p:cNvPr id="7" name="Text 4"/>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company filings. Reconstructed illustrative figures as of March 2026.</a:t>
            </a:r>
            <a:endParaRPr lang="en-US" sz="700" dirty="0"/>
          </a:p>
        </p:txBody>
      </p:sp>
      <p:sp>
        <p:nvSpPr>
          <p:cNvPr id="8" name="Shape 5"/>
          <p:cNvSpPr/>
          <p:nvPr/>
        </p:nvSpPr>
        <p:spPr>
          <a:xfrm>
            <a:off x="0" y="4526280"/>
            <a:ext cx="9144000" cy="617220"/>
          </a:xfrm>
          <a:prstGeom prst="rect">
            <a:avLst/>
          </a:prstGeom>
          <a:solidFill>
            <a:srgbClr val="333333"/>
          </a:solidFill>
          <a:ln w="12700">
            <a:solidFill>
              <a:srgbClr val="333333"/>
            </a:solidFill>
            <a:prstDash val="solid"/>
          </a:ln>
        </p:spPr>
      </p:sp>
      <p:sp>
        <p:nvSpPr>
          <p:cNvPr id="9" name="Text 6"/>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0" name="Text 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Three years. Six inflection points.</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compressed history of the AI cycle — from the first consumer moment to the agentic phase shift.</a:t>
            </a:r>
            <a:endParaRPr lang="en-US" sz="1350" dirty="0"/>
          </a:p>
        </p:txBody>
      </p:sp>
      <p:sp>
        <p:nvSpPr>
          <p:cNvPr id="6" name="Shape 4"/>
          <p:cNvSpPr/>
          <p:nvPr/>
        </p:nvSpPr>
        <p:spPr>
          <a:xfrm>
            <a:off x="640080" y="2286000"/>
            <a:ext cx="7863840" cy="0"/>
          </a:xfrm>
          <a:prstGeom prst="line">
            <a:avLst/>
          </a:prstGeom>
          <a:noFill/>
          <a:ln w="38100">
            <a:solidFill>
              <a:srgbClr val="333333"/>
            </a:solidFill>
            <a:prstDash val="solid"/>
          </a:ln>
        </p:spPr>
      </p:sp>
      <p:sp>
        <p:nvSpPr>
          <p:cNvPr id="7" name="Shape 5"/>
          <p:cNvSpPr/>
          <p:nvPr/>
        </p:nvSpPr>
        <p:spPr>
          <a:xfrm>
            <a:off x="1213104" y="2203704"/>
            <a:ext cx="164592" cy="164592"/>
          </a:xfrm>
          <a:prstGeom prst="ellipse">
            <a:avLst/>
          </a:prstGeom>
          <a:solidFill>
            <a:srgbClr val="F6693D"/>
          </a:solidFill>
          <a:ln w="12700">
            <a:solidFill>
              <a:srgbClr val="F6693D"/>
            </a:solidFill>
            <a:prstDash val="solid"/>
          </a:ln>
        </p:spPr>
      </p:sp>
      <p:sp>
        <p:nvSpPr>
          <p:cNvPr id="8" name="Shape 6"/>
          <p:cNvSpPr/>
          <p:nvPr/>
        </p:nvSpPr>
        <p:spPr>
          <a:xfrm>
            <a:off x="666293" y="2487168"/>
            <a:ext cx="1258214" cy="1371600"/>
          </a:xfrm>
          <a:prstGeom prst="rect">
            <a:avLst/>
          </a:prstGeom>
          <a:solidFill>
            <a:srgbClr val="F9F9F9"/>
          </a:solidFill>
          <a:ln w="6350">
            <a:solidFill>
              <a:srgbClr val="E5E5E5"/>
            </a:solidFill>
            <a:prstDash val="solid"/>
          </a:ln>
        </p:spPr>
      </p:sp>
      <p:sp>
        <p:nvSpPr>
          <p:cNvPr id="9" name="Shape 7"/>
          <p:cNvSpPr/>
          <p:nvPr/>
        </p:nvSpPr>
        <p:spPr>
          <a:xfrm>
            <a:off x="666293" y="2487168"/>
            <a:ext cx="54864" cy="1371600"/>
          </a:xfrm>
          <a:prstGeom prst="rect">
            <a:avLst/>
          </a:prstGeom>
          <a:solidFill>
            <a:srgbClr val="F6693D"/>
          </a:solidFill>
          <a:ln w="12700">
            <a:solidFill>
              <a:srgbClr val="F6693D"/>
            </a:solidFill>
            <a:prstDash val="solid"/>
          </a:ln>
        </p:spPr>
      </p:sp>
      <p:sp>
        <p:nvSpPr>
          <p:cNvPr id="10" name="Text 8"/>
          <p:cNvSpPr/>
          <p:nvPr/>
        </p:nvSpPr>
        <p:spPr>
          <a:xfrm>
            <a:off x="79430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Mar 2023</a:t>
            </a:r>
            <a:endParaRPr lang="en-US" sz="850" dirty="0"/>
          </a:p>
        </p:txBody>
      </p:sp>
      <p:sp>
        <p:nvSpPr>
          <p:cNvPr id="11" name="Text 9"/>
          <p:cNvSpPr/>
          <p:nvPr/>
        </p:nvSpPr>
        <p:spPr>
          <a:xfrm>
            <a:off x="79430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GPT-4</a:t>
            </a:r>
            <a:endParaRPr lang="en-US" sz="1150" dirty="0"/>
          </a:p>
        </p:txBody>
      </p:sp>
      <p:sp>
        <p:nvSpPr>
          <p:cNvPr id="12" name="Text 10"/>
          <p:cNvSpPr/>
          <p:nvPr/>
        </p:nvSpPr>
        <p:spPr>
          <a:xfrm>
            <a:off x="79430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Foundation models break benchmarks; enterprise adoption starts.</a:t>
            </a:r>
            <a:endParaRPr lang="en-US" sz="850" dirty="0"/>
          </a:p>
        </p:txBody>
      </p:sp>
      <p:sp>
        <p:nvSpPr>
          <p:cNvPr id="13" name="Shape 11"/>
          <p:cNvSpPr/>
          <p:nvPr/>
        </p:nvSpPr>
        <p:spPr>
          <a:xfrm>
            <a:off x="2523744" y="2203704"/>
            <a:ext cx="164592" cy="164592"/>
          </a:xfrm>
          <a:prstGeom prst="ellipse">
            <a:avLst/>
          </a:prstGeom>
          <a:solidFill>
            <a:srgbClr val="FFB800"/>
          </a:solidFill>
          <a:ln w="12700">
            <a:solidFill>
              <a:srgbClr val="FFB800"/>
            </a:solidFill>
            <a:prstDash val="solid"/>
          </a:ln>
        </p:spPr>
      </p:sp>
      <p:sp>
        <p:nvSpPr>
          <p:cNvPr id="14" name="Shape 12"/>
          <p:cNvSpPr/>
          <p:nvPr/>
        </p:nvSpPr>
        <p:spPr>
          <a:xfrm>
            <a:off x="1976933" y="2487168"/>
            <a:ext cx="1258214" cy="1371600"/>
          </a:xfrm>
          <a:prstGeom prst="rect">
            <a:avLst/>
          </a:prstGeom>
          <a:solidFill>
            <a:srgbClr val="F9F9F9"/>
          </a:solidFill>
          <a:ln w="6350">
            <a:solidFill>
              <a:srgbClr val="E5E5E5"/>
            </a:solidFill>
            <a:prstDash val="solid"/>
          </a:ln>
        </p:spPr>
      </p:sp>
      <p:sp>
        <p:nvSpPr>
          <p:cNvPr id="15" name="Shape 13"/>
          <p:cNvSpPr/>
          <p:nvPr/>
        </p:nvSpPr>
        <p:spPr>
          <a:xfrm>
            <a:off x="1976933" y="2487168"/>
            <a:ext cx="54864" cy="1371600"/>
          </a:xfrm>
          <a:prstGeom prst="rect">
            <a:avLst/>
          </a:prstGeom>
          <a:solidFill>
            <a:srgbClr val="FFB800"/>
          </a:solidFill>
          <a:ln w="12700">
            <a:solidFill>
              <a:srgbClr val="FFB800"/>
            </a:solidFill>
            <a:prstDash val="solid"/>
          </a:ln>
        </p:spPr>
      </p:sp>
      <p:sp>
        <p:nvSpPr>
          <p:cNvPr id="16" name="Text 14"/>
          <p:cNvSpPr/>
          <p:nvPr/>
        </p:nvSpPr>
        <p:spPr>
          <a:xfrm>
            <a:off x="210494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Feb 2024</a:t>
            </a:r>
            <a:endParaRPr lang="en-US" sz="850" dirty="0"/>
          </a:p>
        </p:txBody>
      </p:sp>
      <p:sp>
        <p:nvSpPr>
          <p:cNvPr id="17" name="Text 15"/>
          <p:cNvSpPr/>
          <p:nvPr/>
        </p:nvSpPr>
        <p:spPr>
          <a:xfrm>
            <a:off x="210494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Text-to-video</a:t>
            </a:r>
            <a:endParaRPr lang="en-US" sz="1150" dirty="0"/>
          </a:p>
        </p:txBody>
      </p:sp>
      <p:sp>
        <p:nvSpPr>
          <p:cNvPr id="18" name="Text 16"/>
          <p:cNvSpPr/>
          <p:nvPr/>
        </p:nvSpPr>
        <p:spPr>
          <a:xfrm>
            <a:off x="210494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Sora-class models land; media workflows reprice.</a:t>
            </a:r>
            <a:endParaRPr lang="en-US" sz="850" dirty="0"/>
          </a:p>
        </p:txBody>
      </p:sp>
      <p:sp>
        <p:nvSpPr>
          <p:cNvPr id="19" name="Shape 17"/>
          <p:cNvSpPr/>
          <p:nvPr/>
        </p:nvSpPr>
        <p:spPr>
          <a:xfrm>
            <a:off x="3834384" y="2203704"/>
            <a:ext cx="164592" cy="164592"/>
          </a:xfrm>
          <a:prstGeom prst="ellipse">
            <a:avLst/>
          </a:prstGeom>
          <a:solidFill>
            <a:srgbClr val="008B8B"/>
          </a:solidFill>
          <a:ln w="12700">
            <a:solidFill>
              <a:srgbClr val="008B8B"/>
            </a:solidFill>
            <a:prstDash val="solid"/>
          </a:ln>
        </p:spPr>
      </p:sp>
      <p:sp>
        <p:nvSpPr>
          <p:cNvPr id="20" name="Shape 18"/>
          <p:cNvSpPr/>
          <p:nvPr/>
        </p:nvSpPr>
        <p:spPr>
          <a:xfrm>
            <a:off x="3287573" y="2487168"/>
            <a:ext cx="1258214" cy="1371600"/>
          </a:xfrm>
          <a:prstGeom prst="rect">
            <a:avLst/>
          </a:prstGeom>
          <a:solidFill>
            <a:srgbClr val="F9F9F9"/>
          </a:solidFill>
          <a:ln w="6350">
            <a:solidFill>
              <a:srgbClr val="E5E5E5"/>
            </a:solidFill>
            <a:prstDash val="solid"/>
          </a:ln>
        </p:spPr>
      </p:sp>
      <p:sp>
        <p:nvSpPr>
          <p:cNvPr id="21" name="Shape 19"/>
          <p:cNvSpPr/>
          <p:nvPr/>
        </p:nvSpPr>
        <p:spPr>
          <a:xfrm>
            <a:off x="3287573" y="2487168"/>
            <a:ext cx="54864" cy="1371600"/>
          </a:xfrm>
          <a:prstGeom prst="rect">
            <a:avLst/>
          </a:prstGeom>
          <a:solidFill>
            <a:srgbClr val="008B8B"/>
          </a:solidFill>
          <a:ln w="12700">
            <a:solidFill>
              <a:srgbClr val="008B8B"/>
            </a:solidFill>
            <a:prstDash val="solid"/>
          </a:ln>
        </p:spPr>
      </p:sp>
      <p:sp>
        <p:nvSpPr>
          <p:cNvPr id="22" name="Text 20"/>
          <p:cNvSpPr/>
          <p:nvPr/>
        </p:nvSpPr>
        <p:spPr>
          <a:xfrm>
            <a:off x="341558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Sep 2024</a:t>
            </a:r>
            <a:endParaRPr lang="en-US" sz="850" dirty="0"/>
          </a:p>
        </p:txBody>
      </p:sp>
      <p:sp>
        <p:nvSpPr>
          <p:cNvPr id="23" name="Text 21"/>
          <p:cNvSpPr/>
          <p:nvPr/>
        </p:nvSpPr>
        <p:spPr>
          <a:xfrm>
            <a:off x="341558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Reasoning models</a:t>
            </a:r>
            <a:endParaRPr lang="en-US" sz="1150" dirty="0"/>
          </a:p>
        </p:txBody>
      </p:sp>
      <p:sp>
        <p:nvSpPr>
          <p:cNvPr id="24" name="Text 22"/>
          <p:cNvSpPr/>
          <p:nvPr/>
        </p:nvSpPr>
        <p:spPr>
          <a:xfrm>
            <a:off x="341558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o1/Claude-class reasoners shift costs toward inference.</a:t>
            </a:r>
            <a:endParaRPr lang="en-US" sz="850" dirty="0"/>
          </a:p>
        </p:txBody>
      </p:sp>
      <p:sp>
        <p:nvSpPr>
          <p:cNvPr id="25" name="Shape 23"/>
          <p:cNvSpPr/>
          <p:nvPr/>
        </p:nvSpPr>
        <p:spPr>
          <a:xfrm>
            <a:off x="5145024" y="2203704"/>
            <a:ext cx="164592" cy="164592"/>
          </a:xfrm>
          <a:prstGeom prst="ellipse">
            <a:avLst/>
          </a:prstGeom>
          <a:solidFill>
            <a:srgbClr val="E8478D"/>
          </a:solidFill>
          <a:ln w="12700">
            <a:solidFill>
              <a:srgbClr val="E8478D"/>
            </a:solidFill>
            <a:prstDash val="solid"/>
          </a:ln>
        </p:spPr>
      </p:sp>
      <p:sp>
        <p:nvSpPr>
          <p:cNvPr id="26" name="Shape 24"/>
          <p:cNvSpPr/>
          <p:nvPr/>
        </p:nvSpPr>
        <p:spPr>
          <a:xfrm>
            <a:off x="4598213" y="2487168"/>
            <a:ext cx="1258214" cy="1371600"/>
          </a:xfrm>
          <a:prstGeom prst="rect">
            <a:avLst/>
          </a:prstGeom>
          <a:solidFill>
            <a:srgbClr val="F9F9F9"/>
          </a:solidFill>
          <a:ln w="6350">
            <a:solidFill>
              <a:srgbClr val="E5E5E5"/>
            </a:solidFill>
            <a:prstDash val="solid"/>
          </a:ln>
        </p:spPr>
      </p:sp>
      <p:sp>
        <p:nvSpPr>
          <p:cNvPr id="27" name="Shape 25"/>
          <p:cNvSpPr/>
          <p:nvPr/>
        </p:nvSpPr>
        <p:spPr>
          <a:xfrm>
            <a:off x="4598213" y="2487168"/>
            <a:ext cx="54864" cy="1371600"/>
          </a:xfrm>
          <a:prstGeom prst="rect">
            <a:avLst/>
          </a:prstGeom>
          <a:solidFill>
            <a:srgbClr val="E8478D"/>
          </a:solidFill>
          <a:ln w="12700">
            <a:solidFill>
              <a:srgbClr val="E8478D"/>
            </a:solidFill>
            <a:prstDash val="solid"/>
          </a:ln>
        </p:spPr>
      </p:sp>
      <p:sp>
        <p:nvSpPr>
          <p:cNvPr id="28" name="Text 26"/>
          <p:cNvSpPr/>
          <p:nvPr/>
        </p:nvSpPr>
        <p:spPr>
          <a:xfrm>
            <a:off x="472622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Jun 2025</a:t>
            </a:r>
            <a:endParaRPr lang="en-US" sz="850" dirty="0"/>
          </a:p>
        </p:txBody>
      </p:sp>
      <p:sp>
        <p:nvSpPr>
          <p:cNvPr id="29" name="Text 27"/>
          <p:cNvSpPr/>
          <p:nvPr/>
        </p:nvSpPr>
        <p:spPr>
          <a:xfrm>
            <a:off x="472622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Agentic browsers</a:t>
            </a:r>
            <a:endParaRPr lang="en-US" sz="1150" dirty="0"/>
          </a:p>
        </p:txBody>
      </p:sp>
      <p:sp>
        <p:nvSpPr>
          <p:cNvPr id="30" name="Text 28"/>
          <p:cNvSpPr/>
          <p:nvPr/>
        </p:nvSpPr>
        <p:spPr>
          <a:xfrm>
            <a:off x="472622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Agents that act, not answer, cross the utility threshold.</a:t>
            </a:r>
            <a:endParaRPr lang="en-US" sz="850" dirty="0"/>
          </a:p>
        </p:txBody>
      </p:sp>
      <p:sp>
        <p:nvSpPr>
          <p:cNvPr id="31" name="Shape 29"/>
          <p:cNvSpPr/>
          <p:nvPr/>
        </p:nvSpPr>
        <p:spPr>
          <a:xfrm>
            <a:off x="6455664" y="2203704"/>
            <a:ext cx="164592" cy="164592"/>
          </a:xfrm>
          <a:prstGeom prst="ellipse">
            <a:avLst/>
          </a:prstGeom>
          <a:solidFill>
            <a:srgbClr val="00A854"/>
          </a:solidFill>
          <a:ln w="12700">
            <a:solidFill>
              <a:srgbClr val="00A854"/>
            </a:solidFill>
            <a:prstDash val="solid"/>
          </a:ln>
        </p:spPr>
      </p:sp>
      <p:sp>
        <p:nvSpPr>
          <p:cNvPr id="32" name="Shape 30"/>
          <p:cNvSpPr/>
          <p:nvPr/>
        </p:nvSpPr>
        <p:spPr>
          <a:xfrm>
            <a:off x="5908853" y="2487168"/>
            <a:ext cx="1258214" cy="1371600"/>
          </a:xfrm>
          <a:prstGeom prst="rect">
            <a:avLst/>
          </a:prstGeom>
          <a:solidFill>
            <a:srgbClr val="F9F9F9"/>
          </a:solidFill>
          <a:ln w="6350">
            <a:solidFill>
              <a:srgbClr val="E5E5E5"/>
            </a:solidFill>
            <a:prstDash val="solid"/>
          </a:ln>
        </p:spPr>
      </p:sp>
      <p:sp>
        <p:nvSpPr>
          <p:cNvPr id="33" name="Shape 31"/>
          <p:cNvSpPr/>
          <p:nvPr/>
        </p:nvSpPr>
        <p:spPr>
          <a:xfrm>
            <a:off x="5908853" y="2487168"/>
            <a:ext cx="54864" cy="1371600"/>
          </a:xfrm>
          <a:prstGeom prst="rect">
            <a:avLst/>
          </a:prstGeom>
          <a:solidFill>
            <a:srgbClr val="00A854"/>
          </a:solidFill>
          <a:ln w="12700">
            <a:solidFill>
              <a:srgbClr val="00A854"/>
            </a:solidFill>
            <a:prstDash val="solid"/>
          </a:ln>
        </p:spPr>
      </p:sp>
      <p:sp>
        <p:nvSpPr>
          <p:cNvPr id="34" name="Text 32"/>
          <p:cNvSpPr/>
          <p:nvPr/>
        </p:nvSpPr>
        <p:spPr>
          <a:xfrm>
            <a:off x="603686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Nov 2025</a:t>
            </a:r>
            <a:endParaRPr lang="en-US" sz="850" dirty="0"/>
          </a:p>
        </p:txBody>
      </p:sp>
      <p:sp>
        <p:nvSpPr>
          <p:cNvPr id="35" name="Text 33"/>
          <p:cNvSpPr/>
          <p:nvPr/>
        </p:nvSpPr>
        <p:spPr>
          <a:xfrm>
            <a:off x="603686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Physical AI</a:t>
            </a:r>
            <a:endParaRPr lang="en-US" sz="1150" dirty="0"/>
          </a:p>
        </p:txBody>
      </p:sp>
      <p:sp>
        <p:nvSpPr>
          <p:cNvPr id="36" name="Text 34"/>
          <p:cNvSpPr/>
          <p:nvPr/>
        </p:nvSpPr>
        <p:spPr>
          <a:xfrm>
            <a:off x="603686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Robotics/foundation-model fusion reaches pilot scale in logistics.</a:t>
            </a:r>
            <a:endParaRPr lang="en-US" sz="850" dirty="0"/>
          </a:p>
        </p:txBody>
      </p:sp>
      <p:sp>
        <p:nvSpPr>
          <p:cNvPr id="37" name="Shape 35"/>
          <p:cNvSpPr/>
          <p:nvPr/>
        </p:nvSpPr>
        <p:spPr>
          <a:xfrm>
            <a:off x="7766304" y="2203704"/>
            <a:ext cx="164592" cy="164592"/>
          </a:xfrm>
          <a:prstGeom prst="ellipse">
            <a:avLst/>
          </a:prstGeom>
          <a:solidFill>
            <a:srgbClr val="CC0000"/>
          </a:solidFill>
          <a:ln w="12700">
            <a:solidFill>
              <a:srgbClr val="CC0000"/>
            </a:solidFill>
            <a:prstDash val="solid"/>
          </a:ln>
        </p:spPr>
      </p:sp>
      <p:sp>
        <p:nvSpPr>
          <p:cNvPr id="38" name="Shape 36"/>
          <p:cNvSpPr/>
          <p:nvPr/>
        </p:nvSpPr>
        <p:spPr>
          <a:xfrm>
            <a:off x="7219493" y="2487168"/>
            <a:ext cx="1258214" cy="1371600"/>
          </a:xfrm>
          <a:prstGeom prst="rect">
            <a:avLst/>
          </a:prstGeom>
          <a:solidFill>
            <a:srgbClr val="F9F9F9"/>
          </a:solidFill>
          <a:ln w="6350">
            <a:solidFill>
              <a:srgbClr val="E5E5E5"/>
            </a:solidFill>
            <a:prstDash val="solid"/>
          </a:ln>
        </p:spPr>
      </p:sp>
      <p:sp>
        <p:nvSpPr>
          <p:cNvPr id="39" name="Shape 37"/>
          <p:cNvSpPr/>
          <p:nvPr/>
        </p:nvSpPr>
        <p:spPr>
          <a:xfrm>
            <a:off x="7219493" y="2487168"/>
            <a:ext cx="54864" cy="1371600"/>
          </a:xfrm>
          <a:prstGeom prst="rect">
            <a:avLst/>
          </a:prstGeom>
          <a:solidFill>
            <a:srgbClr val="CC0000"/>
          </a:solidFill>
          <a:ln w="12700">
            <a:solidFill>
              <a:srgbClr val="CC0000"/>
            </a:solidFill>
            <a:prstDash val="solid"/>
          </a:ln>
        </p:spPr>
      </p:sp>
      <p:sp>
        <p:nvSpPr>
          <p:cNvPr id="40" name="Text 38"/>
          <p:cNvSpPr/>
          <p:nvPr/>
        </p:nvSpPr>
        <p:spPr>
          <a:xfrm>
            <a:off x="734750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Mar 2026</a:t>
            </a:r>
            <a:endParaRPr lang="en-US" sz="850" dirty="0"/>
          </a:p>
        </p:txBody>
      </p:sp>
      <p:sp>
        <p:nvSpPr>
          <p:cNvPr id="41" name="Text 39"/>
          <p:cNvSpPr/>
          <p:nvPr/>
        </p:nvSpPr>
        <p:spPr>
          <a:xfrm>
            <a:off x="7347509" y="2788920"/>
            <a:ext cx="1075334" cy="292608"/>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Regulatory floor</a:t>
            </a:r>
            <a:endParaRPr lang="en-US" sz="1150" dirty="0"/>
          </a:p>
        </p:txBody>
      </p:sp>
      <p:sp>
        <p:nvSpPr>
          <p:cNvPr id="42" name="Text 40"/>
          <p:cNvSpPr/>
          <p:nvPr/>
        </p:nvSpPr>
        <p:spPr>
          <a:xfrm>
            <a:off x="734750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US/EU frameworks finalize — compliance becomes a moat and a tax.</a:t>
            </a:r>
            <a:endParaRPr lang="en-US" sz="850" dirty="0"/>
          </a:p>
        </p:txBody>
      </p:sp>
      <p:sp>
        <p:nvSpPr>
          <p:cNvPr id="43" name="Text 41"/>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Illustrative milestones; dates compressed for narrative.</a:t>
            </a:r>
            <a:endParaRPr lang="en-US" sz="700" dirty="0"/>
          </a:p>
        </p:txBody>
      </p:sp>
      <p:sp>
        <p:nvSpPr>
          <p:cNvPr id="44" name="Shape 42"/>
          <p:cNvSpPr/>
          <p:nvPr/>
        </p:nvSpPr>
        <p:spPr>
          <a:xfrm>
            <a:off x="0" y="4526280"/>
            <a:ext cx="9144000" cy="617220"/>
          </a:xfrm>
          <a:prstGeom prst="rect">
            <a:avLst/>
          </a:prstGeom>
          <a:solidFill>
            <a:srgbClr val="333333"/>
          </a:solidFill>
          <a:ln w="12700">
            <a:solidFill>
              <a:srgbClr val="333333"/>
            </a:solidFill>
            <a:prstDash val="solid"/>
          </a:ln>
        </p:spPr>
      </p:sp>
      <p:sp>
        <p:nvSpPr>
          <p:cNvPr id="45" name="Text 4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6" name="Text 4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 SHIFTS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What the money is doing.</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Part two of four. The capex cycle, the concentration trade, and the multiples that support both.</a:t>
            </a:r>
            <a:endParaRPr lang="en-US" sz="1350" dirty="0"/>
          </a:p>
        </p:txBody>
      </p:sp>
      <p:sp>
        <p:nvSpPr>
          <p:cNvPr id="6" name="Text 4"/>
          <p:cNvSpPr/>
          <p:nvPr/>
        </p:nvSpPr>
        <p:spPr>
          <a:xfrm>
            <a:off x="457200" y="1783080"/>
            <a:ext cx="8229600" cy="1463040"/>
          </a:xfrm>
          <a:prstGeom prst="rect">
            <a:avLst/>
          </a:prstGeom>
          <a:noFill/>
          <a:ln/>
        </p:spPr>
        <p:txBody>
          <a:bodyPr wrap="square" lIns="0" tIns="0" rIns="0" bIns="0" rtlCol="0" anchor="ctr"/>
          <a:lstStyle/>
          <a:p>
            <a:pPr algn="ctr" indent="0" marL="0">
              <a:buNone/>
            </a:pPr>
            <a:r>
              <a:rPr lang="en-US" sz="14000" b="1" dirty="0">
                <a:solidFill>
                  <a:srgbClr val="F6693D"/>
                </a:solidFill>
                <a:latin typeface="Arial Black" pitchFamily="34" charset="0"/>
                <a:ea typeface="Arial Black" pitchFamily="34" charset="-122"/>
                <a:cs typeface="Arial Black" pitchFamily="34" charset="-120"/>
              </a:rPr>
              <a:t>$620B</a:t>
            </a:r>
            <a:endParaRPr lang="en-US" sz="14000" dirty="0"/>
          </a:p>
        </p:txBody>
      </p:sp>
      <p:sp>
        <p:nvSpPr>
          <p:cNvPr id="7" name="Text 5"/>
          <p:cNvSpPr/>
          <p:nvPr/>
        </p:nvSpPr>
        <p:spPr>
          <a:xfrm>
            <a:off x="914400" y="3429000"/>
            <a:ext cx="7315200" cy="640080"/>
          </a:xfrm>
          <a:prstGeom prst="rect">
            <a:avLst/>
          </a:prstGeom>
          <a:noFill/>
          <a:ln/>
        </p:spPr>
        <p:txBody>
          <a:bodyPr wrap="square" lIns="0" tIns="0" rIns="0" bIns="0" rtlCol="0" anchor="t"/>
          <a:lstStyle/>
          <a:p>
            <a:pPr algn="ctr" indent="0" marL="0">
              <a:buNone/>
            </a:pPr>
            <a:r>
              <a:rPr lang="en-US" sz="1400" b="1" dirty="0">
                <a:solidFill>
                  <a:srgbClr val="333333"/>
                </a:solidFill>
                <a:latin typeface="Arial" pitchFamily="34" charset="0"/>
                <a:ea typeface="Arial" pitchFamily="34" charset="-122"/>
                <a:cs typeface="Arial" pitchFamily="34" charset="-120"/>
              </a:rPr>
              <a:t>Committed 2026 capex across the four largest US hyperscalers — 48% above 2024 and ~1.1% of US GDP.</a:t>
            </a:r>
            <a:endParaRPr lang="en-US" sz="1400" dirty="0"/>
          </a:p>
        </p:txBody>
      </p:sp>
      <p:sp>
        <p:nvSpPr>
          <p:cNvPr id="8" name="Text 6"/>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company guidance (illustrative, reconstructed).</a:t>
            </a:r>
            <a:endParaRPr lang="en-US" sz="700" dirty="0"/>
          </a:p>
        </p:txBody>
      </p:sp>
      <p:sp>
        <p:nvSpPr>
          <p:cNvPr id="9" name="Shape 7"/>
          <p:cNvSpPr/>
          <p:nvPr/>
        </p:nvSpPr>
        <p:spPr>
          <a:xfrm>
            <a:off x="0" y="4526280"/>
            <a:ext cx="9144000" cy="617220"/>
          </a:xfrm>
          <a:prstGeom prst="rect">
            <a:avLst/>
          </a:prstGeom>
          <a:solidFill>
            <a:srgbClr val="333333"/>
          </a:solidFill>
          <a:ln w="12700">
            <a:solidFill>
              <a:srgbClr val="333333"/>
            </a:solidFill>
            <a:prstDash val="solid"/>
          </a:ln>
        </p:spPr>
      </p:sp>
      <p:sp>
        <p:nvSpPr>
          <p:cNvPr id="10" name="Text 8"/>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1" name="Text 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 SHIFTS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Capex is eating the cash flow.</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Hyperscaler spend now rivals mid-2010s oil-major investment cycles — but with steeper depreciation and shorter payback windows.</a:t>
            </a:r>
            <a:endParaRPr lang="en-US" sz="1350" dirty="0"/>
          </a:p>
        </p:txBody>
      </p:sp>
      <p:sp>
        <p:nvSpPr>
          <p:cNvPr id="6" name="Text 4"/>
          <p:cNvSpPr/>
          <p:nvPr/>
        </p:nvSpPr>
        <p:spPr>
          <a:xfrm>
            <a:off x="480060" y="2011680"/>
            <a:ext cx="187452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$620B</a:t>
            </a:r>
            <a:endParaRPr lang="en-US" sz="4000" dirty="0"/>
          </a:p>
        </p:txBody>
      </p:sp>
      <p:sp>
        <p:nvSpPr>
          <p:cNvPr id="7" name="Text 5"/>
          <p:cNvSpPr/>
          <p:nvPr/>
        </p:nvSpPr>
        <p:spPr>
          <a:xfrm>
            <a:off x="48006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2026E hyperscaler capex</a:t>
            </a:r>
            <a:endParaRPr lang="en-US" sz="1100" dirty="0"/>
          </a:p>
        </p:txBody>
      </p:sp>
      <p:sp>
        <p:nvSpPr>
          <p:cNvPr id="8" name="Text 6"/>
          <p:cNvSpPr/>
          <p:nvPr/>
        </p:nvSpPr>
        <p:spPr>
          <a:xfrm>
            <a:off x="2583180" y="2011680"/>
            <a:ext cx="187452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+48%</a:t>
            </a:r>
            <a:endParaRPr lang="en-US" sz="4000" dirty="0"/>
          </a:p>
        </p:txBody>
      </p:sp>
      <p:sp>
        <p:nvSpPr>
          <p:cNvPr id="9" name="Text 7"/>
          <p:cNvSpPr/>
          <p:nvPr/>
        </p:nvSpPr>
        <p:spPr>
          <a:xfrm>
            <a:off x="258318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YoY growth vs. 2024 actual</a:t>
            </a:r>
            <a:endParaRPr lang="en-US" sz="1100" dirty="0"/>
          </a:p>
        </p:txBody>
      </p:sp>
      <p:sp>
        <p:nvSpPr>
          <p:cNvPr id="10" name="Text 8"/>
          <p:cNvSpPr/>
          <p:nvPr/>
        </p:nvSpPr>
        <p:spPr>
          <a:xfrm>
            <a:off x="4686300" y="2011680"/>
            <a:ext cx="1874520" cy="685800"/>
          </a:xfrm>
          <a:prstGeom prst="rect">
            <a:avLst/>
          </a:prstGeom>
          <a:noFill/>
          <a:ln/>
        </p:spPr>
        <p:txBody>
          <a:bodyPr wrap="square" lIns="0" tIns="0" rIns="0" bIns="0" rtlCol="0" anchor="ctr"/>
          <a:lstStyle/>
          <a:p>
            <a:pPr algn="ctr" indent="0" marL="0">
              <a:buNone/>
            </a:pPr>
            <a:r>
              <a:rPr lang="en-US" sz="4000" b="1" dirty="0">
                <a:solidFill>
                  <a:srgbClr val="FFB800"/>
                </a:solidFill>
                <a:latin typeface="Arial Black" pitchFamily="34" charset="0"/>
                <a:ea typeface="Arial Black" pitchFamily="34" charset="-122"/>
                <a:cs typeface="Arial Black" pitchFamily="34" charset="-120"/>
              </a:rPr>
              <a:t>1.1%</a:t>
            </a:r>
            <a:endParaRPr lang="en-US" sz="4000" dirty="0"/>
          </a:p>
        </p:txBody>
      </p:sp>
      <p:sp>
        <p:nvSpPr>
          <p:cNvPr id="11" name="Text 9"/>
          <p:cNvSpPr/>
          <p:nvPr/>
        </p:nvSpPr>
        <p:spPr>
          <a:xfrm>
            <a:off x="468630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of US GDP</a:t>
            </a:r>
            <a:endParaRPr lang="en-US" sz="1100" dirty="0"/>
          </a:p>
        </p:txBody>
      </p:sp>
      <p:sp>
        <p:nvSpPr>
          <p:cNvPr id="12" name="Text 10"/>
          <p:cNvSpPr/>
          <p:nvPr/>
        </p:nvSpPr>
        <p:spPr>
          <a:xfrm>
            <a:off x="6789420" y="2011680"/>
            <a:ext cx="187452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82 GW</a:t>
            </a:r>
            <a:endParaRPr lang="en-US" sz="4000" dirty="0"/>
          </a:p>
        </p:txBody>
      </p:sp>
      <p:sp>
        <p:nvSpPr>
          <p:cNvPr id="13" name="Text 11"/>
          <p:cNvSpPr/>
          <p:nvPr/>
        </p:nvSpPr>
        <p:spPr>
          <a:xfrm>
            <a:off x="678942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new AI data-center power by '28</a:t>
            </a:r>
            <a:endParaRPr lang="en-US" sz="1100" dirty="0"/>
          </a:p>
        </p:txBody>
      </p:sp>
      <p:sp>
        <p:nvSpPr>
          <p:cNvPr id="14" name="Shape 12"/>
          <p:cNvSpPr/>
          <p:nvPr/>
        </p:nvSpPr>
        <p:spPr>
          <a:xfrm>
            <a:off x="457200" y="3520440"/>
            <a:ext cx="8229600" cy="457200"/>
          </a:xfrm>
          <a:prstGeom prst="rect">
            <a:avLst/>
          </a:prstGeom>
          <a:solidFill>
            <a:srgbClr val="FFD100"/>
          </a:solidFill>
          <a:ln w="12700">
            <a:solidFill>
              <a:srgbClr val="FFD100"/>
            </a:solidFill>
            <a:prstDash val="solid"/>
          </a:ln>
        </p:spPr>
      </p:sp>
      <p:sp>
        <p:nvSpPr>
          <p:cNvPr id="15" name="Text 13"/>
          <p:cNvSpPr/>
          <p:nvPr/>
        </p:nvSpPr>
        <p:spPr>
          <a:xfrm>
            <a:off x="640080" y="3520440"/>
            <a:ext cx="7863840" cy="45720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Takeaway: the AI capex cycle is real cash. Whether it earns an adequate return is the central debate of 2026.</a:t>
            </a:r>
            <a:endParaRPr lang="en-US" sz="1250" dirty="0"/>
          </a:p>
        </p:txBody>
      </p:sp>
      <p:sp>
        <p:nvSpPr>
          <p:cNvPr id="16" name="Text 14"/>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hyperscaler guidance, IEA power projections. Reconstructed illustrative figures.</a:t>
            </a:r>
            <a:endParaRPr lang="en-US" sz="700" dirty="0"/>
          </a:p>
        </p:txBody>
      </p:sp>
      <p:sp>
        <p:nvSpPr>
          <p:cNvPr id="17" name="Shape 15"/>
          <p:cNvSpPr/>
          <p:nvPr/>
        </p:nvSpPr>
        <p:spPr>
          <a:xfrm>
            <a:off x="0" y="4526280"/>
            <a:ext cx="9144000" cy="617220"/>
          </a:xfrm>
          <a:prstGeom prst="rect">
            <a:avLst/>
          </a:prstGeom>
          <a:solidFill>
            <a:srgbClr val="333333"/>
          </a:solidFill>
          <a:ln w="12700">
            <a:solidFill>
              <a:srgbClr val="333333"/>
            </a:solidFill>
            <a:prstDash val="solid"/>
          </a:ln>
        </p:spPr>
      </p:sp>
      <p:sp>
        <p:nvSpPr>
          <p:cNvPr id="18" name="Text 16"/>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 SHIFTS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Concentration is extreme.</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Top-5 names are 29% of the S&amp;P 500 — wider than 1999, wider than 1972. Breadth is narrow, and narrowing.</a:t>
            </a:r>
            <a:endParaRPr lang="en-US" sz="1350" dirty="0"/>
          </a:p>
        </p:txBody>
      </p:sp>
      <p:sp>
        <p:nvSpPr>
          <p:cNvPr id="6" name="Text 4"/>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Top-5 S&amp;P 500 weight (%) — historical peaks</a:t>
            </a:r>
            <a:endParaRPr lang="en-US" sz="1400" dirty="0"/>
          </a:p>
        </p:txBody>
      </p:sp>
      <p:sp>
        <p:nvSpPr>
          <p:cNvPr id="7" name="Shape 5"/>
          <p:cNvSpPr/>
          <p:nvPr/>
        </p:nvSpPr>
        <p:spPr>
          <a:xfrm>
            <a:off x="457200" y="1691640"/>
            <a:ext cx="3931920" cy="0"/>
          </a:xfrm>
          <a:prstGeom prst="line">
            <a:avLst/>
          </a:prstGeom>
          <a:noFill/>
          <a:ln w="19050">
            <a:solidFill>
              <a:srgbClr val="000000"/>
            </a:solidFill>
            <a:prstDash val="solid"/>
          </a:ln>
        </p:spPr>
      </p:sp>
      <p:graphicFrame>
        <p:nvGraphicFramePr>
          <p:cNvPr id="8" name="Chart 0" descr=""/>
          <p:cNvGraphicFramePr/>
          <p:nvPr/>
        </p:nvGraphicFramePr>
        <p:xfrm>
          <a:off x="457200" y="178308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475488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Equal- vs. cap-weight S&amp;P 500, YTD (%)</a:t>
            </a:r>
            <a:endParaRPr lang="en-US" sz="1400" dirty="0"/>
          </a:p>
        </p:txBody>
      </p:sp>
      <p:sp>
        <p:nvSpPr>
          <p:cNvPr id="10" name="Shape 7"/>
          <p:cNvSpPr/>
          <p:nvPr/>
        </p:nvSpPr>
        <p:spPr>
          <a:xfrm>
            <a:off x="4754880" y="1691640"/>
            <a:ext cx="3931920" cy="0"/>
          </a:xfrm>
          <a:prstGeom prst="line">
            <a:avLst/>
          </a:prstGeom>
          <a:noFill/>
          <a:ln w="19050">
            <a:solidFill>
              <a:srgbClr val="000000"/>
            </a:solidFill>
            <a:prstDash val="solid"/>
          </a:ln>
        </p:spPr>
      </p:sp>
      <p:graphicFrame>
        <p:nvGraphicFramePr>
          <p:cNvPr id="11" name="Chart 1" descr=""/>
          <p:cNvGraphicFramePr/>
          <p:nvPr/>
        </p:nvGraphicFramePr>
        <p:xfrm>
          <a:off x="4754880" y="1783080"/>
          <a:ext cx="3931920" cy="210312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historical index data. Reconstructed illustrative figures.</a:t>
            </a:r>
            <a:endParaRPr lang="en-US" sz="700" dirty="0"/>
          </a:p>
        </p:txBody>
      </p:sp>
      <p:sp>
        <p:nvSpPr>
          <p:cNvPr id="13" name="Shape 9"/>
          <p:cNvSpPr/>
          <p:nvPr/>
        </p:nvSpPr>
        <p:spPr>
          <a:xfrm>
            <a:off x="0" y="4526280"/>
            <a:ext cx="9144000" cy="617220"/>
          </a:xfrm>
          <a:prstGeom prst="rect">
            <a:avLst/>
          </a:prstGeom>
          <a:solidFill>
            <a:srgbClr val="333333"/>
          </a:solidFill>
          <a:ln w="12700">
            <a:solidFill>
              <a:srgbClr val="333333"/>
            </a:solidFill>
            <a:prstDash val="solid"/>
          </a:ln>
        </p:spPr>
      </p:sp>
      <p:sp>
        <p:nvSpPr>
          <p:cNvPr id="14" name="Text 10"/>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 SHIFTS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Rich, but not 2000-rich.</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AI-complex multiples are rich versus the index, but PEG ratios remain anchored by real earnings growth.</a:t>
            </a:r>
            <a:endParaRPr lang="en-US" sz="1350" dirty="0"/>
          </a:p>
        </p:txBody>
      </p:sp>
      <p:sp>
        <p:nvSpPr>
          <p:cNvPr id="6" name="Shape 4"/>
          <p:cNvSpPr/>
          <p:nvPr/>
        </p:nvSpPr>
        <p:spPr>
          <a:xfrm>
            <a:off x="0" y="1828800"/>
            <a:ext cx="9144000" cy="2194560"/>
          </a:xfrm>
          <a:prstGeom prst="rect">
            <a:avLst/>
          </a:prstGeom>
          <a:solidFill>
            <a:srgbClr val="333333"/>
          </a:solidFill>
          <a:ln w="12700">
            <a:solidFill>
              <a:srgbClr val="333333"/>
            </a:solidFill>
            <a:prstDash val="solid"/>
          </a:ln>
        </p:spPr>
      </p:sp>
      <p:sp>
        <p:nvSpPr>
          <p:cNvPr id="7" name="Text 5"/>
          <p:cNvSpPr/>
          <p:nvPr/>
        </p:nvSpPr>
        <p:spPr>
          <a:xfrm>
            <a:off x="457200" y="1965960"/>
            <a:ext cx="8229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AI COMPLEX — KEY MULTIPLES</a:t>
            </a:r>
            <a:endParaRPr lang="en-US" sz="900" dirty="0"/>
          </a:p>
        </p:txBody>
      </p:sp>
      <p:sp>
        <p:nvSpPr>
          <p:cNvPr id="8" name="Shape 6"/>
          <p:cNvSpPr/>
          <p:nvPr/>
        </p:nvSpPr>
        <p:spPr>
          <a:xfrm>
            <a:off x="434340" y="2331720"/>
            <a:ext cx="1965960" cy="1508760"/>
          </a:xfrm>
          <a:prstGeom prst="rect">
            <a:avLst/>
          </a:prstGeom>
          <a:solidFill>
            <a:srgbClr val="444444"/>
          </a:solidFill>
          <a:ln w="12700">
            <a:solidFill>
              <a:srgbClr val="444444"/>
            </a:solidFill>
            <a:prstDash val="solid"/>
          </a:ln>
        </p:spPr>
      </p:sp>
      <p:sp>
        <p:nvSpPr>
          <p:cNvPr id="9" name="Shape 7"/>
          <p:cNvSpPr/>
          <p:nvPr/>
        </p:nvSpPr>
        <p:spPr>
          <a:xfrm>
            <a:off x="434340" y="2331720"/>
            <a:ext cx="1965960" cy="54864"/>
          </a:xfrm>
          <a:prstGeom prst="rect">
            <a:avLst/>
          </a:prstGeom>
          <a:solidFill>
            <a:srgbClr val="F6693D"/>
          </a:solidFill>
          <a:ln w="12700">
            <a:solidFill>
              <a:srgbClr val="F6693D"/>
            </a:solidFill>
            <a:prstDash val="solid"/>
          </a:ln>
        </p:spPr>
      </p:sp>
      <p:sp>
        <p:nvSpPr>
          <p:cNvPr id="10" name="Text 8"/>
          <p:cNvSpPr/>
          <p:nvPr/>
        </p:nvSpPr>
        <p:spPr>
          <a:xfrm>
            <a:off x="434340" y="2514600"/>
            <a:ext cx="1965960" cy="640080"/>
          </a:xfrm>
          <a:prstGeom prst="rect">
            <a:avLst/>
          </a:prstGeom>
          <a:noFill/>
          <a:ln/>
        </p:spPr>
        <p:txBody>
          <a:bodyPr wrap="square" lIns="0" tIns="0" rIns="0" bIns="0" rtlCol="0" anchor="ctr"/>
          <a:lstStyle/>
          <a:p>
            <a:pPr algn="ctr" indent="0" marL="0">
              <a:buNone/>
            </a:pPr>
            <a:r>
              <a:rPr lang="en-US" sz="3400" b="1" dirty="0">
                <a:solidFill>
                  <a:srgbClr val="F6693D"/>
                </a:solidFill>
                <a:latin typeface="Arial Black" pitchFamily="34" charset="0"/>
                <a:ea typeface="Arial Black" pitchFamily="34" charset="-122"/>
                <a:cs typeface="Arial Black" pitchFamily="34" charset="-120"/>
              </a:rPr>
              <a:t>32x</a:t>
            </a:r>
            <a:endParaRPr lang="en-US" sz="3400" dirty="0"/>
          </a:p>
        </p:txBody>
      </p:sp>
      <p:sp>
        <p:nvSpPr>
          <p:cNvPr id="11" name="Text 9"/>
          <p:cNvSpPr/>
          <p:nvPr/>
        </p:nvSpPr>
        <p:spPr>
          <a:xfrm>
            <a:off x="434340" y="3154680"/>
            <a:ext cx="19659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Forward P/E</a:t>
            </a:r>
            <a:endParaRPr lang="en-US" sz="1100" dirty="0"/>
          </a:p>
        </p:txBody>
      </p:sp>
      <p:sp>
        <p:nvSpPr>
          <p:cNvPr id="12" name="Text 10"/>
          <p:cNvSpPr/>
          <p:nvPr/>
        </p:nvSpPr>
        <p:spPr>
          <a:xfrm>
            <a:off x="525780" y="3447288"/>
            <a:ext cx="1783080" cy="365760"/>
          </a:xfrm>
          <a:prstGeom prst="rect">
            <a:avLst/>
          </a:prstGeom>
          <a:noFill/>
          <a:ln/>
        </p:spPr>
        <p:txBody>
          <a:bodyPr wrap="square" lIns="0" tIns="0" rIns="0" bIns="0" rtlCol="0" anchor="ctr"/>
          <a:lstStyle/>
          <a:p>
            <a:pPr algn="ctr" indent="0" marL="0">
              <a:buNone/>
            </a:pPr>
            <a:r>
              <a:rPr lang="en-US" sz="850" dirty="0">
                <a:solidFill>
                  <a:srgbClr val="AAAAAA"/>
                </a:solidFill>
                <a:latin typeface="Arial" pitchFamily="34" charset="0"/>
                <a:ea typeface="Arial" pitchFamily="34" charset="-122"/>
                <a:cs typeface="Arial" pitchFamily="34" charset="-120"/>
              </a:rPr>
              <a:t>vs. 21x for S&amp;P 500</a:t>
            </a:r>
            <a:endParaRPr lang="en-US" sz="850" dirty="0"/>
          </a:p>
        </p:txBody>
      </p:sp>
      <p:sp>
        <p:nvSpPr>
          <p:cNvPr id="13" name="Shape 11"/>
          <p:cNvSpPr/>
          <p:nvPr/>
        </p:nvSpPr>
        <p:spPr>
          <a:xfrm>
            <a:off x="2537460" y="2331720"/>
            <a:ext cx="1965960" cy="1508760"/>
          </a:xfrm>
          <a:prstGeom prst="rect">
            <a:avLst/>
          </a:prstGeom>
          <a:solidFill>
            <a:srgbClr val="444444"/>
          </a:solidFill>
          <a:ln w="12700">
            <a:solidFill>
              <a:srgbClr val="444444"/>
            </a:solidFill>
            <a:prstDash val="solid"/>
          </a:ln>
        </p:spPr>
      </p:sp>
      <p:sp>
        <p:nvSpPr>
          <p:cNvPr id="14" name="Shape 12"/>
          <p:cNvSpPr/>
          <p:nvPr/>
        </p:nvSpPr>
        <p:spPr>
          <a:xfrm>
            <a:off x="2537460" y="2331720"/>
            <a:ext cx="1965960" cy="54864"/>
          </a:xfrm>
          <a:prstGeom prst="rect">
            <a:avLst/>
          </a:prstGeom>
          <a:solidFill>
            <a:srgbClr val="00A854"/>
          </a:solidFill>
          <a:ln w="12700">
            <a:solidFill>
              <a:srgbClr val="00A854"/>
            </a:solidFill>
            <a:prstDash val="solid"/>
          </a:ln>
        </p:spPr>
      </p:sp>
      <p:sp>
        <p:nvSpPr>
          <p:cNvPr id="15" name="Text 13"/>
          <p:cNvSpPr/>
          <p:nvPr/>
        </p:nvSpPr>
        <p:spPr>
          <a:xfrm>
            <a:off x="2537460" y="2514600"/>
            <a:ext cx="1965960" cy="640080"/>
          </a:xfrm>
          <a:prstGeom prst="rect">
            <a:avLst/>
          </a:prstGeom>
          <a:noFill/>
          <a:ln/>
        </p:spPr>
        <p:txBody>
          <a:bodyPr wrap="square" lIns="0" tIns="0" rIns="0" bIns="0" rtlCol="0" anchor="ctr"/>
          <a:lstStyle/>
          <a:p>
            <a:pPr algn="ctr" indent="0" marL="0">
              <a:buNone/>
            </a:pPr>
            <a:r>
              <a:rPr lang="en-US" sz="3400" b="1" dirty="0">
                <a:solidFill>
                  <a:srgbClr val="00A854"/>
                </a:solidFill>
                <a:latin typeface="Arial Black" pitchFamily="34" charset="0"/>
                <a:ea typeface="Arial Black" pitchFamily="34" charset="-122"/>
                <a:cs typeface="Arial Black" pitchFamily="34" charset="-120"/>
              </a:rPr>
              <a:t>1.4</a:t>
            </a:r>
            <a:endParaRPr lang="en-US" sz="3400" dirty="0"/>
          </a:p>
        </p:txBody>
      </p:sp>
      <p:sp>
        <p:nvSpPr>
          <p:cNvPr id="16" name="Text 14"/>
          <p:cNvSpPr/>
          <p:nvPr/>
        </p:nvSpPr>
        <p:spPr>
          <a:xfrm>
            <a:off x="2537460" y="3154680"/>
            <a:ext cx="19659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PEG ratio</a:t>
            </a:r>
            <a:endParaRPr lang="en-US" sz="1100" dirty="0"/>
          </a:p>
        </p:txBody>
      </p:sp>
      <p:sp>
        <p:nvSpPr>
          <p:cNvPr id="17" name="Text 15"/>
          <p:cNvSpPr/>
          <p:nvPr/>
        </p:nvSpPr>
        <p:spPr>
          <a:xfrm>
            <a:off x="2628900" y="3447288"/>
            <a:ext cx="1783080" cy="365760"/>
          </a:xfrm>
          <a:prstGeom prst="rect">
            <a:avLst/>
          </a:prstGeom>
          <a:noFill/>
          <a:ln/>
        </p:spPr>
        <p:txBody>
          <a:bodyPr wrap="square" lIns="0" tIns="0" rIns="0" bIns="0" rtlCol="0" anchor="ctr"/>
          <a:lstStyle/>
          <a:p>
            <a:pPr algn="ctr" indent="0" marL="0">
              <a:buNone/>
            </a:pPr>
            <a:r>
              <a:rPr lang="en-US" sz="850" dirty="0">
                <a:solidFill>
                  <a:srgbClr val="AAAAAA"/>
                </a:solidFill>
                <a:latin typeface="Arial" pitchFamily="34" charset="0"/>
                <a:ea typeface="Arial" pitchFamily="34" charset="-122"/>
                <a:cs typeface="Arial" pitchFamily="34" charset="-120"/>
              </a:rPr>
              <a:t>in line with 10yr avg</a:t>
            </a:r>
            <a:endParaRPr lang="en-US" sz="850" dirty="0"/>
          </a:p>
        </p:txBody>
      </p:sp>
      <p:sp>
        <p:nvSpPr>
          <p:cNvPr id="18" name="Shape 16"/>
          <p:cNvSpPr/>
          <p:nvPr/>
        </p:nvSpPr>
        <p:spPr>
          <a:xfrm>
            <a:off x="4640580" y="2331720"/>
            <a:ext cx="1965960" cy="1508760"/>
          </a:xfrm>
          <a:prstGeom prst="rect">
            <a:avLst/>
          </a:prstGeom>
          <a:solidFill>
            <a:srgbClr val="444444"/>
          </a:solidFill>
          <a:ln w="12700">
            <a:solidFill>
              <a:srgbClr val="444444"/>
            </a:solidFill>
            <a:prstDash val="solid"/>
          </a:ln>
        </p:spPr>
      </p:sp>
      <p:sp>
        <p:nvSpPr>
          <p:cNvPr id="19" name="Shape 17"/>
          <p:cNvSpPr/>
          <p:nvPr/>
        </p:nvSpPr>
        <p:spPr>
          <a:xfrm>
            <a:off x="4640580" y="2331720"/>
            <a:ext cx="1965960" cy="54864"/>
          </a:xfrm>
          <a:prstGeom prst="rect">
            <a:avLst/>
          </a:prstGeom>
          <a:solidFill>
            <a:srgbClr val="FFB800"/>
          </a:solidFill>
          <a:ln w="12700">
            <a:solidFill>
              <a:srgbClr val="FFB800"/>
            </a:solidFill>
            <a:prstDash val="solid"/>
          </a:ln>
        </p:spPr>
      </p:sp>
      <p:sp>
        <p:nvSpPr>
          <p:cNvPr id="20" name="Text 18"/>
          <p:cNvSpPr/>
          <p:nvPr/>
        </p:nvSpPr>
        <p:spPr>
          <a:xfrm>
            <a:off x="4640580" y="2514600"/>
            <a:ext cx="1965960" cy="640080"/>
          </a:xfrm>
          <a:prstGeom prst="rect">
            <a:avLst/>
          </a:prstGeom>
          <a:noFill/>
          <a:ln/>
        </p:spPr>
        <p:txBody>
          <a:bodyPr wrap="square" lIns="0" tIns="0" rIns="0" bIns="0" rtlCol="0" anchor="ctr"/>
          <a:lstStyle/>
          <a:p>
            <a:pPr algn="ctr" indent="0" marL="0">
              <a:buNone/>
            </a:pPr>
            <a:r>
              <a:rPr lang="en-US" sz="3400" b="1" dirty="0">
                <a:solidFill>
                  <a:srgbClr val="FFB800"/>
                </a:solidFill>
                <a:latin typeface="Arial Black" pitchFamily="34" charset="0"/>
                <a:ea typeface="Arial Black" pitchFamily="34" charset="-122"/>
                <a:cs typeface="Arial Black" pitchFamily="34" charset="-120"/>
              </a:rPr>
              <a:t>2.6%</a:t>
            </a:r>
            <a:endParaRPr lang="en-US" sz="3400" dirty="0"/>
          </a:p>
        </p:txBody>
      </p:sp>
      <p:sp>
        <p:nvSpPr>
          <p:cNvPr id="21" name="Text 19"/>
          <p:cNvSpPr/>
          <p:nvPr/>
        </p:nvSpPr>
        <p:spPr>
          <a:xfrm>
            <a:off x="4640580" y="3154680"/>
            <a:ext cx="19659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FCF yield</a:t>
            </a:r>
            <a:endParaRPr lang="en-US" sz="1100" dirty="0"/>
          </a:p>
        </p:txBody>
      </p:sp>
      <p:sp>
        <p:nvSpPr>
          <p:cNvPr id="22" name="Text 20"/>
          <p:cNvSpPr/>
          <p:nvPr/>
        </p:nvSpPr>
        <p:spPr>
          <a:xfrm>
            <a:off x="4732020" y="3447288"/>
            <a:ext cx="1783080" cy="365760"/>
          </a:xfrm>
          <a:prstGeom prst="rect">
            <a:avLst/>
          </a:prstGeom>
          <a:noFill/>
          <a:ln/>
        </p:spPr>
        <p:txBody>
          <a:bodyPr wrap="square" lIns="0" tIns="0" rIns="0" bIns="0" rtlCol="0" anchor="ctr"/>
          <a:lstStyle/>
          <a:p>
            <a:pPr algn="ctr" indent="0" marL="0">
              <a:buNone/>
            </a:pPr>
            <a:r>
              <a:rPr lang="en-US" sz="850" dirty="0">
                <a:solidFill>
                  <a:srgbClr val="AAAAAA"/>
                </a:solidFill>
                <a:latin typeface="Arial" pitchFamily="34" charset="0"/>
                <a:ea typeface="Arial" pitchFamily="34" charset="-122"/>
                <a:cs typeface="Arial" pitchFamily="34" charset="-120"/>
              </a:rPr>
              <a:t>below 3.4% index avg</a:t>
            </a:r>
            <a:endParaRPr lang="en-US" sz="850" dirty="0"/>
          </a:p>
        </p:txBody>
      </p:sp>
      <p:sp>
        <p:nvSpPr>
          <p:cNvPr id="23" name="Shape 21"/>
          <p:cNvSpPr/>
          <p:nvPr/>
        </p:nvSpPr>
        <p:spPr>
          <a:xfrm>
            <a:off x="6743700" y="2331720"/>
            <a:ext cx="1965960" cy="1508760"/>
          </a:xfrm>
          <a:prstGeom prst="rect">
            <a:avLst/>
          </a:prstGeom>
          <a:solidFill>
            <a:srgbClr val="444444"/>
          </a:solidFill>
          <a:ln w="12700">
            <a:solidFill>
              <a:srgbClr val="444444"/>
            </a:solidFill>
            <a:prstDash val="solid"/>
          </a:ln>
        </p:spPr>
      </p:sp>
      <p:sp>
        <p:nvSpPr>
          <p:cNvPr id="24" name="Shape 22"/>
          <p:cNvSpPr/>
          <p:nvPr/>
        </p:nvSpPr>
        <p:spPr>
          <a:xfrm>
            <a:off x="6743700" y="2331720"/>
            <a:ext cx="1965960" cy="54864"/>
          </a:xfrm>
          <a:prstGeom prst="rect">
            <a:avLst/>
          </a:prstGeom>
          <a:solidFill>
            <a:srgbClr val="E8478D"/>
          </a:solidFill>
          <a:ln w="12700">
            <a:solidFill>
              <a:srgbClr val="E8478D"/>
            </a:solidFill>
            <a:prstDash val="solid"/>
          </a:ln>
        </p:spPr>
      </p:sp>
      <p:sp>
        <p:nvSpPr>
          <p:cNvPr id="25" name="Text 23"/>
          <p:cNvSpPr/>
          <p:nvPr/>
        </p:nvSpPr>
        <p:spPr>
          <a:xfrm>
            <a:off x="6743700" y="2514600"/>
            <a:ext cx="1965960" cy="640080"/>
          </a:xfrm>
          <a:prstGeom prst="rect">
            <a:avLst/>
          </a:prstGeom>
          <a:noFill/>
          <a:ln/>
        </p:spPr>
        <p:txBody>
          <a:bodyPr wrap="square" lIns="0" tIns="0" rIns="0" bIns="0" rtlCol="0" anchor="ctr"/>
          <a:lstStyle/>
          <a:p>
            <a:pPr algn="ctr" indent="0" marL="0">
              <a:buNone/>
            </a:pPr>
            <a:r>
              <a:rPr lang="en-US" sz="3400" b="1" dirty="0">
                <a:solidFill>
                  <a:srgbClr val="E8478D"/>
                </a:solidFill>
                <a:latin typeface="Arial Black" pitchFamily="34" charset="0"/>
                <a:ea typeface="Arial Black" pitchFamily="34" charset="-122"/>
                <a:cs typeface="Arial Black" pitchFamily="34" charset="-120"/>
              </a:rPr>
              <a:t>9.8x</a:t>
            </a:r>
            <a:endParaRPr lang="en-US" sz="3400" dirty="0"/>
          </a:p>
        </p:txBody>
      </p:sp>
      <p:sp>
        <p:nvSpPr>
          <p:cNvPr id="26" name="Text 24"/>
          <p:cNvSpPr/>
          <p:nvPr/>
        </p:nvSpPr>
        <p:spPr>
          <a:xfrm>
            <a:off x="6743700" y="3154680"/>
            <a:ext cx="19659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EV / NTM sales</a:t>
            </a:r>
            <a:endParaRPr lang="en-US" sz="1100" dirty="0"/>
          </a:p>
        </p:txBody>
      </p:sp>
      <p:sp>
        <p:nvSpPr>
          <p:cNvPr id="27" name="Text 25"/>
          <p:cNvSpPr/>
          <p:nvPr/>
        </p:nvSpPr>
        <p:spPr>
          <a:xfrm>
            <a:off x="6835140" y="3447288"/>
            <a:ext cx="1783080" cy="365760"/>
          </a:xfrm>
          <a:prstGeom prst="rect">
            <a:avLst/>
          </a:prstGeom>
          <a:noFill/>
          <a:ln/>
        </p:spPr>
        <p:txBody>
          <a:bodyPr wrap="square" lIns="0" tIns="0" rIns="0" bIns="0" rtlCol="0" anchor="ctr"/>
          <a:lstStyle/>
          <a:p>
            <a:pPr algn="ctr" indent="0" marL="0">
              <a:buNone/>
            </a:pPr>
            <a:r>
              <a:rPr lang="en-US" sz="850" dirty="0">
                <a:solidFill>
                  <a:srgbClr val="AAAAAA"/>
                </a:solidFill>
                <a:latin typeface="Arial" pitchFamily="34" charset="0"/>
                <a:ea typeface="Arial" pitchFamily="34" charset="-122"/>
                <a:cs typeface="Arial" pitchFamily="34" charset="-120"/>
              </a:rPr>
              <a:t>vs. 2000 peak of 22x</a:t>
            </a:r>
            <a:endParaRPr lang="en-US" sz="850" dirty="0"/>
          </a:p>
        </p:txBody>
      </p:sp>
      <p:sp>
        <p:nvSpPr>
          <p:cNvPr id="28" name="Text 26"/>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consensus estimates. Reconstructed illustrative figures.</a:t>
            </a:r>
            <a:endParaRPr lang="en-US" sz="700" dirty="0"/>
          </a:p>
        </p:txBody>
      </p:sp>
      <p:sp>
        <p:nvSpPr>
          <p:cNvPr id="29" name="Shape 27"/>
          <p:cNvSpPr/>
          <p:nvPr/>
        </p:nvSpPr>
        <p:spPr>
          <a:xfrm>
            <a:off x="0" y="4526280"/>
            <a:ext cx="9144000" cy="617220"/>
          </a:xfrm>
          <a:prstGeom prst="rect">
            <a:avLst/>
          </a:prstGeom>
          <a:solidFill>
            <a:srgbClr val="333333"/>
          </a:solidFill>
          <a:ln w="12700">
            <a:solidFill>
              <a:srgbClr val="333333"/>
            </a:solidFill>
            <a:prstDash val="solid"/>
          </a:ln>
        </p:spPr>
      </p:sp>
      <p:sp>
        <p:nvSpPr>
          <p:cNvPr id="30" name="Text 28"/>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1" name="Text 2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 SHIFTS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Where the $620B lands.</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Five companies carry the bulk of 2026 AI infrastructure spend. The revenue that offsets it is still being underwritten.</a:t>
            </a:r>
            <a:endParaRPr lang="en-US" sz="1350" dirty="0"/>
          </a:p>
        </p:txBody>
      </p:sp>
      <p:sp>
        <p:nvSpPr>
          <p:cNvPr id="6" name="Text 4"/>
          <p:cNvSpPr/>
          <p:nvPr/>
        </p:nvSpPr>
        <p:spPr>
          <a:xfrm>
            <a:off x="548640" y="1828800"/>
            <a:ext cx="1371600" cy="393192"/>
          </a:xfrm>
          <a:prstGeom prst="rect">
            <a:avLst/>
          </a:prstGeom>
          <a:noFill/>
          <a:ln/>
        </p:spPr>
        <p:txBody>
          <a:bodyPr wrap="square" lIns="0" tIns="0" rIns="0" bIns="0" rtlCol="0" anchor="ctr"/>
          <a:lstStyle/>
          <a:p>
            <a:pPr algn="r" indent="0" marL="0">
              <a:buNone/>
            </a:pPr>
            <a:r>
              <a:rPr lang="en-US" sz="2200" b="1" dirty="0">
                <a:solidFill>
                  <a:srgbClr val="F6693D"/>
                </a:solidFill>
                <a:latin typeface="Arial Black" pitchFamily="34" charset="0"/>
                <a:ea typeface="Arial Black" pitchFamily="34" charset="-122"/>
                <a:cs typeface="Arial Black" pitchFamily="34" charset="-120"/>
              </a:rPr>
              <a:t>$115B</a:t>
            </a:r>
            <a:endParaRPr lang="en-US" sz="2200" dirty="0"/>
          </a:p>
        </p:txBody>
      </p:sp>
      <p:sp>
        <p:nvSpPr>
          <p:cNvPr id="7" name="Text 5"/>
          <p:cNvSpPr/>
          <p:nvPr/>
        </p:nvSpPr>
        <p:spPr>
          <a:xfrm>
            <a:off x="2057400" y="1828800"/>
            <a:ext cx="1554480" cy="3931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Microsoft</a:t>
            </a:r>
            <a:endParaRPr lang="en-US" sz="1300" dirty="0"/>
          </a:p>
        </p:txBody>
      </p:sp>
      <p:sp>
        <p:nvSpPr>
          <p:cNvPr id="8" name="Text 6"/>
          <p:cNvSpPr/>
          <p:nvPr/>
        </p:nvSpPr>
        <p:spPr>
          <a:xfrm>
            <a:off x="3657600" y="1828800"/>
            <a:ext cx="5029200" cy="393192"/>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Azure AI capacity build; OpenAI + enterprise demand.</a:t>
            </a:r>
            <a:endParaRPr lang="en-US" sz="1050" dirty="0"/>
          </a:p>
        </p:txBody>
      </p:sp>
      <p:sp>
        <p:nvSpPr>
          <p:cNvPr id="9" name="Shape 7"/>
          <p:cNvSpPr/>
          <p:nvPr/>
        </p:nvSpPr>
        <p:spPr>
          <a:xfrm>
            <a:off x="548640" y="2231136"/>
            <a:ext cx="8138160" cy="0"/>
          </a:xfrm>
          <a:prstGeom prst="line">
            <a:avLst/>
          </a:prstGeom>
          <a:noFill/>
          <a:ln w="6350">
            <a:solidFill>
              <a:srgbClr val="E5E5E5"/>
            </a:solidFill>
            <a:prstDash val="solid"/>
          </a:ln>
        </p:spPr>
      </p:sp>
      <p:sp>
        <p:nvSpPr>
          <p:cNvPr id="10" name="Text 8"/>
          <p:cNvSpPr/>
          <p:nvPr/>
        </p:nvSpPr>
        <p:spPr>
          <a:xfrm>
            <a:off x="548640" y="2267712"/>
            <a:ext cx="1371600" cy="393192"/>
          </a:xfrm>
          <a:prstGeom prst="rect">
            <a:avLst/>
          </a:prstGeom>
          <a:noFill/>
          <a:ln/>
        </p:spPr>
        <p:txBody>
          <a:bodyPr wrap="square" lIns="0" tIns="0" rIns="0" bIns="0" rtlCol="0" anchor="ctr"/>
          <a:lstStyle/>
          <a:p>
            <a:pPr algn="r" indent="0" marL="0">
              <a:buNone/>
            </a:pPr>
            <a:r>
              <a:rPr lang="en-US" sz="2200" b="1" dirty="0">
                <a:solidFill>
                  <a:srgbClr val="F6693D"/>
                </a:solidFill>
                <a:latin typeface="Arial Black" pitchFamily="34" charset="0"/>
                <a:ea typeface="Arial Black" pitchFamily="34" charset="-122"/>
                <a:cs typeface="Arial Black" pitchFamily="34" charset="-120"/>
              </a:rPr>
              <a:t>$110B</a:t>
            </a:r>
            <a:endParaRPr lang="en-US" sz="2200" dirty="0"/>
          </a:p>
        </p:txBody>
      </p:sp>
      <p:sp>
        <p:nvSpPr>
          <p:cNvPr id="11" name="Text 9"/>
          <p:cNvSpPr/>
          <p:nvPr/>
        </p:nvSpPr>
        <p:spPr>
          <a:xfrm>
            <a:off x="2057400" y="2267712"/>
            <a:ext cx="1554480" cy="3931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Amazon</a:t>
            </a:r>
            <a:endParaRPr lang="en-US" sz="1300" dirty="0"/>
          </a:p>
        </p:txBody>
      </p:sp>
      <p:sp>
        <p:nvSpPr>
          <p:cNvPr id="12" name="Text 10"/>
          <p:cNvSpPr/>
          <p:nvPr/>
        </p:nvSpPr>
        <p:spPr>
          <a:xfrm>
            <a:off x="3657600" y="2267712"/>
            <a:ext cx="5029200" cy="393192"/>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AWS chip + rack expansion; Anthropic compute commitments.</a:t>
            </a:r>
            <a:endParaRPr lang="en-US" sz="1050" dirty="0"/>
          </a:p>
        </p:txBody>
      </p:sp>
      <p:sp>
        <p:nvSpPr>
          <p:cNvPr id="13" name="Shape 11"/>
          <p:cNvSpPr/>
          <p:nvPr/>
        </p:nvSpPr>
        <p:spPr>
          <a:xfrm>
            <a:off x="548640" y="2670048"/>
            <a:ext cx="8138160" cy="0"/>
          </a:xfrm>
          <a:prstGeom prst="line">
            <a:avLst/>
          </a:prstGeom>
          <a:noFill/>
          <a:ln w="6350">
            <a:solidFill>
              <a:srgbClr val="E5E5E5"/>
            </a:solidFill>
            <a:prstDash val="solid"/>
          </a:ln>
        </p:spPr>
      </p:sp>
      <p:sp>
        <p:nvSpPr>
          <p:cNvPr id="14" name="Text 12"/>
          <p:cNvSpPr/>
          <p:nvPr/>
        </p:nvSpPr>
        <p:spPr>
          <a:xfrm>
            <a:off x="548640" y="2706624"/>
            <a:ext cx="1371600" cy="393192"/>
          </a:xfrm>
          <a:prstGeom prst="rect">
            <a:avLst/>
          </a:prstGeom>
          <a:noFill/>
          <a:ln/>
        </p:spPr>
        <p:txBody>
          <a:bodyPr wrap="square" lIns="0" tIns="0" rIns="0" bIns="0" rtlCol="0" anchor="ctr"/>
          <a:lstStyle/>
          <a:p>
            <a:pPr algn="r" indent="0" marL="0">
              <a:buNone/>
            </a:pPr>
            <a:r>
              <a:rPr lang="en-US" sz="2200" b="1" dirty="0">
                <a:solidFill>
                  <a:srgbClr val="F6693D"/>
                </a:solidFill>
                <a:latin typeface="Arial Black" pitchFamily="34" charset="0"/>
                <a:ea typeface="Arial Black" pitchFamily="34" charset="-122"/>
                <a:cs typeface="Arial Black" pitchFamily="34" charset="-120"/>
              </a:rPr>
              <a:t>$95B</a:t>
            </a:r>
            <a:endParaRPr lang="en-US" sz="2200" dirty="0"/>
          </a:p>
        </p:txBody>
      </p:sp>
      <p:sp>
        <p:nvSpPr>
          <p:cNvPr id="15" name="Text 13"/>
          <p:cNvSpPr/>
          <p:nvPr/>
        </p:nvSpPr>
        <p:spPr>
          <a:xfrm>
            <a:off x="2057400" y="2706624"/>
            <a:ext cx="1554480" cy="3931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Meta</a:t>
            </a:r>
            <a:endParaRPr lang="en-US" sz="1300" dirty="0"/>
          </a:p>
        </p:txBody>
      </p:sp>
      <p:sp>
        <p:nvSpPr>
          <p:cNvPr id="16" name="Text 14"/>
          <p:cNvSpPr/>
          <p:nvPr/>
        </p:nvSpPr>
        <p:spPr>
          <a:xfrm>
            <a:off x="3657600" y="2706624"/>
            <a:ext cx="5029200" cy="393192"/>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Training clusters for Llama; Reality Labs compute.</a:t>
            </a:r>
            <a:endParaRPr lang="en-US" sz="1050" dirty="0"/>
          </a:p>
        </p:txBody>
      </p:sp>
      <p:sp>
        <p:nvSpPr>
          <p:cNvPr id="17" name="Shape 15"/>
          <p:cNvSpPr/>
          <p:nvPr/>
        </p:nvSpPr>
        <p:spPr>
          <a:xfrm>
            <a:off x="548640" y="3108960"/>
            <a:ext cx="8138160" cy="0"/>
          </a:xfrm>
          <a:prstGeom prst="line">
            <a:avLst/>
          </a:prstGeom>
          <a:noFill/>
          <a:ln w="6350">
            <a:solidFill>
              <a:srgbClr val="E5E5E5"/>
            </a:solidFill>
            <a:prstDash val="solid"/>
          </a:ln>
        </p:spPr>
      </p:sp>
      <p:sp>
        <p:nvSpPr>
          <p:cNvPr id="18" name="Text 16"/>
          <p:cNvSpPr/>
          <p:nvPr/>
        </p:nvSpPr>
        <p:spPr>
          <a:xfrm>
            <a:off x="548640" y="3145536"/>
            <a:ext cx="1371600" cy="393192"/>
          </a:xfrm>
          <a:prstGeom prst="rect">
            <a:avLst/>
          </a:prstGeom>
          <a:noFill/>
          <a:ln/>
        </p:spPr>
        <p:txBody>
          <a:bodyPr wrap="square" lIns="0" tIns="0" rIns="0" bIns="0" rtlCol="0" anchor="ctr"/>
          <a:lstStyle/>
          <a:p>
            <a:pPr algn="r" indent="0" marL="0">
              <a:buNone/>
            </a:pPr>
            <a:r>
              <a:rPr lang="en-US" sz="2200" b="1" dirty="0">
                <a:solidFill>
                  <a:srgbClr val="F6693D"/>
                </a:solidFill>
                <a:latin typeface="Arial Black" pitchFamily="34" charset="0"/>
                <a:ea typeface="Arial Black" pitchFamily="34" charset="-122"/>
                <a:cs typeface="Arial Black" pitchFamily="34" charset="-120"/>
              </a:rPr>
              <a:t>$85B</a:t>
            </a:r>
            <a:endParaRPr lang="en-US" sz="2200" dirty="0"/>
          </a:p>
        </p:txBody>
      </p:sp>
      <p:sp>
        <p:nvSpPr>
          <p:cNvPr id="19" name="Text 17"/>
          <p:cNvSpPr/>
          <p:nvPr/>
        </p:nvSpPr>
        <p:spPr>
          <a:xfrm>
            <a:off x="2057400" y="3145536"/>
            <a:ext cx="1554480" cy="3931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Alphabet</a:t>
            </a:r>
            <a:endParaRPr lang="en-US" sz="1300" dirty="0"/>
          </a:p>
        </p:txBody>
      </p:sp>
      <p:sp>
        <p:nvSpPr>
          <p:cNvPr id="20" name="Text 18"/>
          <p:cNvSpPr/>
          <p:nvPr/>
        </p:nvSpPr>
        <p:spPr>
          <a:xfrm>
            <a:off x="3657600" y="3145536"/>
            <a:ext cx="5029200" cy="393192"/>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TPU fleet and Google Cloud infrastructure.</a:t>
            </a:r>
            <a:endParaRPr lang="en-US" sz="1050" dirty="0"/>
          </a:p>
        </p:txBody>
      </p:sp>
      <p:sp>
        <p:nvSpPr>
          <p:cNvPr id="21" name="Shape 19"/>
          <p:cNvSpPr/>
          <p:nvPr/>
        </p:nvSpPr>
        <p:spPr>
          <a:xfrm>
            <a:off x="548640" y="3547872"/>
            <a:ext cx="8138160" cy="0"/>
          </a:xfrm>
          <a:prstGeom prst="line">
            <a:avLst/>
          </a:prstGeom>
          <a:noFill/>
          <a:ln w="6350">
            <a:solidFill>
              <a:srgbClr val="E5E5E5"/>
            </a:solidFill>
            <a:prstDash val="solid"/>
          </a:ln>
        </p:spPr>
      </p:sp>
      <p:sp>
        <p:nvSpPr>
          <p:cNvPr id="22" name="Text 20"/>
          <p:cNvSpPr/>
          <p:nvPr/>
        </p:nvSpPr>
        <p:spPr>
          <a:xfrm>
            <a:off x="548640" y="3584448"/>
            <a:ext cx="1371600" cy="393192"/>
          </a:xfrm>
          <a:prstGeom prst="rect">
            <a:avLst/>
          </a:prstGeom>
          <a:noFill/>
          <a:ln/>
        </p:spPr>
        <p:txBody>
          <a:bodyPr wrap="square" lIns="0" tIns="0" rIns="0" bIns="0" rtlCol="0" anchor="ctr"/>
          <a:lstStyle/>
          <a:p>
            <a:pPr algn="r" indent="0" marL="0">
              <a:buNone/>
            </a:pPr>
            <a:r>
              <a:rPr lang="en-US" sz="2200" b="1" dirty="0">
                <a:solidFill>
                  <a:srgbClr val="F6693D"/>
                </a:solidFill>
                <a:latin typeface="Arial Black" pitchFamily="34" charset="0"/>
                <a:ea typeface="Arial Black" pitchFamily="34" charset="-122"/>
                <a:cs typeface="Arial Black" pitchFamily="34" charset="-120"/>
              </a:rPr>
              <a:t>$55B</a:t>
            </a:r>
            <a:endParaRPr lang="en-US" sz="2200" dirty="0"/>
          </a:p>
        </p:txBody>
      </p:sp>
      <p:sp>
        <p:nvSpPr>
          <p:cNvPr id="23" name="Text 21"/>
          <p:cNvSpPr/>
          <p:nvPr/>
        </p:nvSpPr>
        <p:spPr>
          <a:xfrm>
            <a:off x="2057400" y="3584448"/>
            <a:ext cx="1554480" cy="3931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Nvidia</a:t>
            </a:r>
            <a:endParaRPr lang="en-US" sz="1300" dirty="0"/>
          </a:p>
        </p:txBody>
      </p:sp>
      <p:sp>
        <p:nvSpPr>
          <p:cNvPr id="24" name="Text 22"/>
          <p:cNvSpPr/>
          <p:nvPr/>
        </p:nvSpPr>
        <p:spPr>
          <a:xfrm>
            <a:off x="3657600" y="3584448"/>
            <a:ext cx="5029200" cy="393192"/>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Internal R&amp;D, co-investments, and dedicated supply.</a:t>
            </a:r>
            <a:endParaRPr lang="en-US" sz="1050" dirty="0"/>
          </a:p>
        </p:txBody>
      </p:sp>
      <p:sp>
        <p:nvSpPr>
          <p:cNvPr id="25" name="Text 23"/>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company capex guidance FY2026. Reconstructed illustrative figures.</a:t>
            </a:r>
            <a:endParaRPr lang="en-US" sz="700" dirty="0"/>
          </a:p>
        </p:txBody>
      </p:sp>
      <p:sp>
        <p:nvSpPr>
          <p:cNvPr id="26" name="Shape 24"/>
          <p:cNvSpPr/>
          <p:nvPr/>
        </p:nvSpPr>
        <p:spPr>
          <a:xfrm>
            <a:off x="0" y="4526280"/>
            <a:ext cx="9144000" cy="617220"/>
          </a:xfrm>
          <a:prstGeom prst="rect">
            <a:avLst/>
          </a:prstGeom>
          <a:solidFill>
            <a:srgbClr val="333333"/>
          </a:solidFill>
          <a:ln w="12700">
            <a:solidFill>
              <a:srgbClr val="333333"/>
            </a:solidFill>
            <a:prstDash val="solid"/>
          </a:ln>
        </p:spPr>
      </p:sp>
      <p:sp>
        <p:nvSpPr>
          <p:cNvPr id="27" name="Text 25"/>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6"/>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asymmetry is not free.</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Part three of four. Where the consensus could be wrong — and what the tape would look like if it is.</a:t>
            </a:r>
            <a:endParaRPr lang="en-US" sz="1350" dirty="0"/>
          </a:p>
        </p:txBody>
      </p:sp>
      <p:sp>
        <p:nvSpPr>
          <p:cNvPr id="6" name="Text 4"/>
          <p:cNvSpPr/>
          <p:nvPr/>
        </p:nvSpPr>
        <p:spPr>
          <a:xfrm>
            <a:off x="457200" y="1783080"/>
            <a:ext cx="8229600" cy="1463040"/>
          </a:xfrm>
          <a:prstGeom prst="rect">
            <a:avLst/>
          </a:prstGeom>
          <a:noFill/>
          <a:ln/>
        </p:spPr>
        <p:txBody>
          <a:bodyPr wrap="square" lIns="0" tIns="0" rIns="0" bIns="0" rtlCol="0" anchor="ctr"/>
          <a:lstStyle/>
          <a:p>
            <a:pPr algn="ctr" indent="0" marL="0">
              <a:buNone/>
            </a:pPr>
            <a:r>
              <a:rPr lang="en-US" sz="16000" b="1" dirty="0">
                <a:solidFill>
                  <a:srgbClr val="CC0000"/>
                </a:solidFill>
                <a:latin typeface="Arial Black" pitchFamily="34" charset="0"/>
                <a:ea typeface="Arial Black" pitchFamily="34" charset="-122"/>
                <a:cs typeface="Arial Black" pitchFamily="34" charset="-120"/>
              </a:rPr>
              <a:t>29%</a:t>
            </a:r>
            <a:endParaRPr lang="en-US" sz="16000" dirty="0"/>
          </a:p>
        </p:txBody>
      </p:sp>
      <p:sp>
        <p:nvSpPr>
          <p:cNvPr id="7" name="Text 5"/>
          <p:cNvSpPr/>
          <p:nvPr/>
        </p:nvSpPr>
        <p:spPr>
          <a:xfrm>
            <a:off x="914400" y="3429000"/>
            <a:ext cx="7315200" cy="640080"/>
          </a:xfrm>
          <a:prstGeom prst="rect">
            <a:avLst/>
          </a:prstGeom>
          <a:noFill/>
          <a:ln/>
        </p:spPr>
        <p:txBody>
          <a:bodyPr wrap="square" lIns="0" tIns="0" rIns="0" bIns="0" rtlCol="0" anchor="t"/>
          <a:lstStyle/>
          <a:p>
            <a:pPr algn="ctr" indent="0" marL="0">
              <a:buNone/>
            </a:pPr>
            <a:r>
              <a:rPr lang="en-US" sz="1400" b="1" dirty="0">
                <a:solidFill>
                  <a:srgbClr val="333333"/>
                </a:solidFill>
                <a:latin typeface="Arial" pitchFamily="34" charset="0"/>
                <a:ea typeface="Arial" pitchFamily="34" charset="-122"/>
                <a:cs typeface="Arial" pitchFamily="34" charset="-120"/>
              </a:rPr>
              <a:t>Share of the S&amp;P 500 in the top five names. A single drawdown in AI leadership is now a drawdown in the whole index.</a:t>
            </a:r>
            <a:endParaRPr lang="en-US" sz="1400" dirty="0"/>
          </a:p>
        </p:txBody>
      </p:sp>
      <p:sp>
        <p:nvSpPr>
          <p:cNvPr id="8" name="Text 6"/>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Reconstructed illustrative figures as of March 2026.</a:t>
            </a:r>
            <a:endParaRPr lang="en-US" sz="700" dirty="0"/>
          </a:p>
        </p:txBody>
      </p:sp>
      <p:sp>
        <p:nvSpPr>
          <p:cNvPr id="9" name="Shape 7"/>
          <p:cNvSpPr/>
          <p:nvPr/>
        </p:nvSpPr>
        <p:spPr>
          <a:xfrm>
            <a:off x="0" y="4526280"/>
            <a:ext cx="9144000" cy="617220"/>
          </a:xfrm>
          <a:prstGeom prst="rect">
            <a:avLst/>
          </a:prstGeom>
          <a:solidFill>
            <a:srgbClr val="333333"/>
          </a:solidFill>
          <a:ln w="12700">
            <a:solidFill>
              <a:srgbClr val="333333"/>
            </a:solidFill>
            <a:prstDash val="solid"/>
          </a:ln>
        </p:spPr>
      </p:sp>
      <p:sp>
        <p:nvSpPr>
          <p:cNvPr id="10" name="Text 8"/>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1" name="Text 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Both cases are honest.</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Bull vs. bear. The disagreement isn't about the technology — it's about when, and to whom, the cash flows show up.</a:t>
            </a:r>
            <a:endParaRPr lang="en-US" sz="1350" dirty="0"/>
          </a:p>
        </p:txBody>
      </p:sp>
      <p:sp>
        <p:nvSpPr>
          <p:cNvPr id="6" name="Shape 4"/>
          <p:cNvSpPr/>
          <p:nvPr/>
        </p:nvSpPr>
        <p:spPr>
          <a:xfrm>
            <a:off x="457200" y="1737360"/>
            <a:ext cx="3931920" cy="365760"/>
          </a:xfrm>
          <a:prstGeom prst="rect">
            <a:avLst/>
          </a:prstGeom>
          <a:solidFill>
            <a:srgbClr val="00A854"/>
          </a:solidFill>
          <a:ln w="12700">
            <a:solidFill>
              <a:srgbClr val="00A854"/>
            </a:solidFill>
            <a:prstDash val="solid"/>
          </a:ln>
        </p:spPr>
      </p:sp>
      <p:sp>
        <p:nvSpPr>
          <p:cNvPr id="7" name="Text 5"/>
          <p:cNvSpPr/>
          <p:nvPr/>
        </p:nvSpPr>
        <p:spPr>
          <a:xfrm>
            <a:off x="457200" y="1737360"/>
            <a:ext cx="3931920" cy="36576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pitchFamily="34" charset="0"/>
                <a:ea typeface="Arial" pitchFamily="34" charset="-122"/>
                <a:cs typeface="Arial" pitchFamily="34" charset="-120"/>
              </a:rPr>
              <a:t>BULL CASE</a:t>
            </a:r>
            <a:endParaRPr lang="en-US" sz="1200" dirty="0"/>
          </a:p>
        </p:txBody>
      </p:sp>
      <p:sp>
        <p:nvSpPr>
          <p:cNvPr id="8" name="Text 6"/>
          <p:cNvSpPr/>
          <p:nvPr/>
        </p:nvSpPr>
        <p:spPr>
          <a:xfrm>
            <a:off x="640080" y="2240280"/>
            <a:ext cx="3657600" cy="1691640"/>
          </a:xfrm>
          <a:prstGeom prst="rect">
            <a:avLst/>
          </a:prstGeom>
          <a:noFill/>
          <a:ln/>
        </p:spPr>
        <p:txBody>
          <a:bodyPr wrap="square" rtlCol="0" anchor="t"/>
          <a:lstStyle/>
          <a:p>
            <a:pPr marL="342900" indent="-342900">
              <a:spcAft>
                <a:spcPts val="400"/>
              </a:spcAft>
              <a:buSzPct val="100000"/>
              <a:buChar char="•"/>
            </a:pPr>
            <a:r>
              <a:rPr lang="en-US" sz="1150" dirty="0">
                <a:solidFill>
                  <a:srgbClr val="333333"/>
                </a:solidFill>
                <a:latin typeface="Arial" pitchFamily="34" charset="0"/>
                <a:ea typeface="Arial" pitchFamily="34" charset="-122"/>
                <a:cs typeface="Arial" pitchFamily="34" charset="-120"/>
              </a:rPr>
              <a:t>Productivity gains flow to margins (2026–28).</a:t>
            </a:r>
            <a:endParaRPr lang="en-US" sz="1150" dirty="0"/>
          </a:p>
          <a:p>
            <a:pPr marL="342900" indent="-342900">
              <a:spcAft>
                <a:spcPts val="400"/>
              </a:spcAft>
              <a:buSzPct val="100000"/>
              <a:buChar char="•"/>
            </a:pPr>
            <a:r>
              <a:rPr lang="en-US" sz="1150" dirty="0">
                <a:solidFill>
                  <a:srgbClr val="333333"/>
                </a:solidFill>
                <a:latin typeface="Arial" pitchFamily="34" charset="0"/>
                <a:ea typeface="Arial" pitchFamily="34" charset="-122"/>
                <a:cs typeface="Arial" pitchFamily="34" charset="-120"/>
              </a:rPr>
              <a:t>Inference monetization scales with agent deployments.</a:t>
            </a:r>
            <a:endParaRPr lang="en-US" sz="1150" dirty="0"/>
          </a:p>
          <a:p>
            <a:pPr marL="342900" indent="-342900">
              <a:spcAft>
                <a:spcPts val="400"/>
              </a:spcAft>
              <a:buSzPct val="100000"/>
              <a:buChar char="•"/>
            </a:pPr>
            <a:r>
              <a:rPr lang="en-US" sz="1150" dirty="0">
                <a:solidFill>
                  <a:srgbClr val="333333"/>
                </a:solidFill>
                <a:latin typeface="Arial" pitchFamily="34" charset="0"/>
                <a:ea typeface="Arial" pitchFamily="34" charset="-122"/>
                <a:cs typeface="Arial" pitchFamily="34" charset="-120"/>
              </a:rPr>
              <a:t>Compute moat compounds — incumbents capture economics.</a:t>
            </a:r>
            <a:endParaRPr lang="en-US" sz="1150" dirty="0"/>
          </a:p>
          <a:p>
            <a:pPr marL="342900" indent="-342900">
              <a:spcAft>
                <a:spcPts val="400"/>
              </a:spcAft>
              <a:buSzPct val="100000"/>
              <a:buChar char="•"/>
            </a:pPr>
            <a:r>
              <a:rPr lang="en-US" sz="1150" dirty="0">
                <a:solidFill>
                  <a:srgbClr val="333333"/>
                </a:solidFill>
                <a:latin typeface="Arial" pitchFamily="34" charset="0"/>
                <a:ea typeface="Arial" pitchFamily="34" charset="-122"/>
                <a:cs typeface="Arial" pitchFamily="34" charset="-120"/>
              </a:rPr>
              <a:t>Physical AI opens a second adoption S-curve.</a:t>
            </a:r>
            <a:endParaRPr lang="en-US" sz="1150" dirty="0"/>
          </a:p>
          <a:p>
            <a:pPr marL="342900" indent="-342900">
              <a:spcAft>
                <a:spcPts val="400"/>
              </a:spcAft>
              <a:buSzPct val="100000"/>
              <a:buChar char="•"/>
            </a:pPr>
            <a:r>
              <a:rPr lang="en-US" sz="1150" dirty="0">
                <a:solidFill>
                  <a:srgbClr val="333333"/>
                </a:solidFill>
                <a:latin typeface="Arial" pitchFamily="34" charset="0"/>
                <a:ea typeface="Arial" pitchFamily="34" charset="-122"/>
                <a:cs typeface="Arial" pitchFamily="34" charset="-120"/>
              </a:rPr>
              <a:t>EPS growth outpaces multiple compression risk.</a:t>
            </a:r>
            <a:endParaRPr lang="en-US" sz="1150" dirty="0"/>
          </a:p>
        </p:txBody>
      </p:sp>
      <p:sp>
        <p:nvSpPr>
          <p:cNvPr id="9" name="Shape 7"/>
          <p:cNvSpPr/>
          <p:nvPr/>
        </p:nvSpPr>
        <p:spPr>
          <a:xfrm>
            <a:off x="4754880" y="1737360"/>
            <a:ext cx="3931920" cy="365760"/>
          </a:xfrm>
          <a:prstGeom prst="rect">
            <a:avLst/>
          </a:prstGeom>
          <a:solidFill>
            <a:srgbClr val="CC0000"/>
          </a:solidFill>
          <a:ln w="12700">
            <a:solidFill>
              <a:srgbClr val="CC0000"/>
            </a:solidFill>
            <a:prstDash val="solid"/>
          </a:ln>
        </p:spPr>
      </p:sp>
      <p:sp>
        <p:nvSpPr>
          <p:cNvPr id="10" name="Text 8"/>
          <p:cNvSpPr/>
          <p:nvPr/>
        </p:nvSpPr>
        <p:spPr>
          <a:xfrm>
            <a:off x="4754880" y="1737360"/>
            <a:ext cx="3931920" cy="36576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pitchFamily="34" charset="0"/>
                <a:ea typeface="Arial" pitchFamily="34" charset="-122"/>
                <a:cs typeface="Arial" pitchFamily="34" charset="-120"/>
              </a:rPr>
              <a:t>BEAR CASE</a:t>
            </a:r>
            <a:endParaRPr lang="en-US" sz="1200" dirty="0"/>
          </a:p>
        </p:txBody>
      </p:sp>
      <p:sp>
        <p:nvSpPr>
          <p:cNvPr id="11" name="Text 9"/>
          <p:cNvSpPr/>
          <p:nvPr/>
        </p:nvSpPr>
        <p:spPr>
          <a:xfrm>
            <a:off x="4937760" y="2240280"/>
            <a:ext cx="3657600" cy="1691640"/>
          </a:xfrm>
          <a:prstGeom prst="rect">
            <a:avLst/>
          </a:prstGeom>
          <a:noFill/>
          <a:ln/>
        </p:spPr>
        <p:txBody>
          <a:bodyPr wrap="square" rtlCol="0" anchor="t"/>
          <a:lstStyle/>
          <a:p>
            <a:pPr marL="342900" indent="-342900">
              <a:spcAft>
                <a:spcPts val="400"/>
              </a:spcAft>
              <a:buSzPct val="100000"/>
              <a:buChar char="•"/>
            </a:pPr>
            <a:r>
              <a:rPr lang="en-US" sz="1150" dirty="0">
                <a:solidFill>
                  <a:srgbClr val="333333"/>
                </a:solidFill>
                <a:latin typeface="Arial" pitchFamily="34" charset="0"/>
                <a:ea typeface="Arial" pitchFamily="34" charset="-122"/>
                <a:cs typeface="Arial" pitchFamily="34" charset="-120"/>
              </a:rPr>
              <a:t>Capex glut — ROICs compress before revenues materialize.</a:t>
            </a:r>
            <a:endParaRPr lang="en-US" sz="1150" dirty="0"/>
          </a:p>
          <a:p>
            <a:pPr marL="342900" indent="-342900">
              <a:spcAft>
                <a:spcPts val="400"/>
              </a:spcAft>
              <a:buSzPct val="100000"/>
              <a:buChar char="•"/>
            </a:pPr>
            <a:r>
              <a:rPr lang="en-US" sz="1150" dirty="0">
                <a:solidFill>
                  <a:srgbClr val="333333"/>
                </a:solidFill>
                <a:latin typeface="Arial" pitchFamily="34" charset="0"/>
                <a:ea typeface="Arial" pitchFamily="34" charset="-122"/>
                <a:cs typeface="Arial" pitchFamily="34" charset="-120"/>
              </a:rPr>
              <a:t>Power and permitting cap effective compute growth.</a:t>
            </a:r>
            <a:endParaRPr lang="en-US" sz="1150" dirty="0"/>
          </a:p>
          <a:p>
            <a:pPr marL="342900" indent="-342900">
              <a:spcAft>
                <a:spcPts val="400"/>
              </a:spcAft>
              <a:buSzPct val="100000"/>
              <a:buChar char="•"/>
            </a:pPr>
            <a:r>
              <a:rPr lang="en-US" sz="1150" dirty="0">
                <a:solidFill>
                  <a:srgbClr val="333333"/>
                </a:solidFill>
                <a:latin typeface="Arial" pitchFamily="34" charset="0"/>
                <a:ea typeface="Arial" pitchFamily="34" charset="-122"/>
                <a:cs typeface="Arial" pitchFamily="34" charset="-120"/>
              </a:rPr>
              <a:t>Regulatory drag — US/EU frameworks slow deployment.</a:t>
            </a:r>
            <a:endParaRPr lang="en-US" sz="1150" dirty="0"/>
          </a:p>
          <a:p>
            <a:pPr marL="342900" indent="-342900">
              <a:spcAft>
                <a:spcPts val="400"/>
              </a:spcAft>
              <a:buSzPct val="100000"/>
              <a:buChar char="•"/>
            </a:pPr>
            <a:r>
              <a:rPr lang="en-US" sz="1150" dirty="0">
                <a:solidFill>
                  <a:srgbClr val="333333"/>
                </a:solidFill>
                <a:latin typeface="Arial" pitchFamily="34" charset="0"/>
                <a:ea typeface="Arial" pitchFamily="34" charset="-122"/>
                <a:cs typeface="Arial" pitchFamily="34" charset="-120"/>
              </a:rPr>
              <a:t>Circular financing unwinds (vendor → customer loops).</a:t>
            </a:r>
            <a:endParaRPr lang="en-US" sz="1150" dirty="0"/>
          </a:p>
          <a:p>
            <a:pPr marL="342900" indent="-342900">
              <a:spcAft>
                <a:spcPts val="400"/>
              </a:spcAft>
              <a:buSzPct val="100000"/>
              <a:buChar char="•"/>
            </a:pPr>
            <a:r>
              <a:rPr lang="en-US" sz="1150" dirty="0">
                <a:solidFill>
                  <a:srgbClr val="333333"/>
                </a:solidFill>
                <a:latin typeface="Arial" pitchFamily="34" charset="0"/>
                <a:ea typeface="Arial" pitchFamily="34" charset="-122"/>
                <a:cs typeface="Arial" pitchFamily="34" charset="-120"/>
              </a:rPr>
              <a:t>Concentration reverses — rotation into the other 495.</a:t>
            </a:r>
            <a:endParaRPr lang="en-US" sz="1150" dirty="0"/>
          </a:p>
        </p:txBody>
      </p:sp>
      <p:sp>
        <p:nvSpPr>
          <p:cNvPr id="12" name="Text 10"/>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synthesis. Positions adapted from sell-side and buy-side consensus ranges.</a:t>
            </a:r>
            <a:endParaRPr lang="en-US" sz="700" dirty="0"/>
          </a:p>
        </p:txBody>
      </p:sp>
      <p:sp>
        <p:nvSpPr>
          <p:cNvPr id="13" name="Shape 11"/>
          <p:cNvSpPr/>
          <p:nvPr/>
        </p:nvSpPr>
        <p:spPr>
          <a:xfrm>
            <a:off x="0" y="4526280"/>
            <a:ext cx="9144000" cy="617220"/>
          </a:xfrm>
          <a:prstGeom prst="rect">
            <a:avLst/>
          </a:prstGeom>
          <a:solidFill>
            <a:srgbClr val="333333"/>
          </a:solidFill>
          <a:ln w="12700">
            <a:solidFill>
              <a:srgbClr val="333333"/>
            </a:solidFill>
            <a:prstDash val="solid"/>
          </a:ln>
        </p:spPr>
      </p:sp>
      <p:sp>
        <p:nvSpPr>
          <p:cNvPr id="14" name="Text 12"/>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Three 2026 scenarios.</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Base case assumes consensus EPS and flat multiples. Bull/bear move EPS and multiples together.</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8229600" cy="914400"/>
        </p:xfrm>
        <a:graphic>
          <a:graphicData uri="http://schemas.openxmlformats.org/drawingml/2006/table">
            <a:tbl>
              <a:tblPr/>
              <a:tblGrid>
                <a:gridCol w="3291840"/>
                <a:gridCol w="1645920"/>
                <a:gridCol w="1645920"/>
                <a:gridCol w="1645920"/>
              </a:tblGrid>
              <a:tr h="36576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Bear</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Base</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Bull</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3657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S&amp;P 500 2026E EPS</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00" b="1" dirty="0">
                          <a:solidFill>
                            <a:srgbClr val="CC0000"/>
                          </a:solidFill>
                          <a:latin typeface="Arial" pitchFamily="34" charset="0"/>
                          <a:ea typeface="Arial" pitchFamily="34" charset="-122"/>
                          <a:cs typeface="Arial" pitchFamily="34" charset="-120"/>
                        </a:rPr>
                        <a:t>$245</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00" dirty="0">
                          <a:solidFill>
                            <a:srgbClr val="333333"/>
                          </a:solidFill>
                          <a:latin typeface="Arial" pitchFamily="34" charset="0"/>
                          <a:ea typeface="Arial" pitchFamily="34" charset="-122"/>
                          <a:cs typeface="Arial" pitchFamily="34" charset="-120"/>
                        </a:rPr>
                        <a:t>$275</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00" b="1" dirty="0">
                          <a:solidFill>
                            <a:srgbClr val="00A854"/>
                          </a:solidFill>
                          <a:latin typeface="Arial" pitchFamily="34" charset="0"/>
                          <a:ea typeface="Arial" pitchFamily="34" charset="-122"/>
                          <a:cs typeface="Arial" pitchFamily="34" charset="-120"/>
                        </a:rPr>
                        <a:t>$298</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657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Forward P/E</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ctr" indent="0" marL="0">
                        <a:buNone/>
                      </a:pPr>
                      <a:r>
                        <a:rPr lang="en-US" sz="1000" b="1" dirty="0">
                          <a:solidFill>
                            <a:srgbClr val="CC0000"/>
                          </a:solidFill>
                          <a:latin typeface="Arial" pitchFamily="34" charset="0"/>
                          <a:ea typeface="Arial" pitchFamily="34" charset="-122"/>
                          <a:cs typeface="Arial" pitchFamily="34" charset="-120"/>
                        </a:rPr>
                        <a:t>17x</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ctr" indent="0" marL="0">
                        <a:buNone/>
                      </a:pPr>
                      <a:r>
                        <a:rPr lang="en-US" sz="1000" dirty="0">
                          <a:solidFill>
                            <a:srgbClr val="333333"/>
                          </a:solidFill>
                          <a:latin typeface="Arial" pitchFamily="34" charset="0"/>
                          <a:ea typeface="Arial" pitchFamily="34" charset="-122"/>
                          <a:cs typeface="Arial" pitchFamily="34" charset="-120"/>
                        </a:rPr>
                        <a:t>21x</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ctr" indent="0" marL="0">
                        <a:buNone/>
                      </a:pPr>
                      <a:r>
                        <a:rPr lang="en-US" sz="1000" b="1" dirty="0">
                          <a:solidFill>
                            <a:srgbClr val="00A854"/>
                          </a:solidFill>
                          <a:latin typeface="Arial" pitchFamily="34" charset="0"/>
                          <a:ea typeface="Arial" pitchFamily="34" charset="-122"/>
                          <a:cs typeface="Arial" pitchFamily="34" charset="-120"/>
                        </a:rPr>
                        <a:t>24x</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3657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S&amp;P 500 YE 2026 level</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00" b="1" dirty="0">
                          <a:solidFill>
                            <a:srgbClr val="CC0000"/>
                          </a:solidFill>
                          <a:latin typeface="Arial" pitchFamily="34" charset="0"/>
                          <a:ea typeface="Arial" pitchFamily="34" charset="-122"/>
                          <a:cs typeface="Arial" pitchFamily="34" charset="-120"/>
                        </a:rPr>
                        <a:t>4,165</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00" dirty="0">
                          <a:solidFill>
                            <a:srgbClr val="333333"/>
                          </a:solidFill>
                          <a:latin typeface="Arial" pitchFamily="34" charset="0"/>
                          <a:ea typeface="Arial" pitchFamily="34" charset="-122"/>
                          <a:cs typeface="Arial" pitchFamily="34" charset="-120"/>
                        </a:rPr>
                        <a:t>5,775</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00" b="1" dirty="0">
                          <a:solidFill>
                            <a:srgbClr val="00A854"/>
                          </a:solidFill>
                          <a:latin typeface="Arial" pitchFamily="34" charset="0"/>
                          <a:ea typeface="Arial" pitchFamily="34" charset="-122"/>
                          <a:cs typeface="Arial" pitchFamily="34" charset="-120"/>
                        </a:rPr>
                        <a:t>7,150</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3657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Return from today</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ctr" indent="0" marL="0">
                        <a:buNone/>
                      </a:pPr>
                      <a:r>
                        <a:rPr lang="en-US" sz="1000" b="1" dirty="0">
                          <a:solidFill>
                            <a:srgbClr val="CC0000"/>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ctr" indent="0" marL="0">
                        <a:buNone/>
                      </a:pPr>
                      <a:r>
                        <a:rPr lang="en-US" sz="1000" dirty="0">
                          <a:solidFill>
                            <a:srgbClr val="333333"/>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ctr" indent="0" marL="0">
                        <a:buNone/>
                      </a:pPr>
                      <a:r>
                        <a:rPr lang="en-US" sz="1000" b="1" dirty="0">
                          <a:solidFill>
                            <a:srgbClr val="00A854"/>
                          </a:solidFill>
                          <a:latin typeface="Arial" pitchFamily="34" charset="0"/>
                          <a:ea typeface="Arial" pitchFamily="34" charset="-122"/>
                          <a:cs typeface="Arial" pitchFamily="34" charset="-120"/>
                        </a:rPr>
                        <a:t>+25%</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3657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AI capex 2026E</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00" b="1" dirty="0">
                          <a:solidFill>
                            <a:srgbClr val="CC0000"/>
                          </a:solidFill>
                          <a:latin typeface="Arial" pitchFamily="34" charset="0"/>
                          <a:ea typeface="Arial" pitchFamily="34" charset="-122"/>
                          <a:cs typeface="Arial" pitchFamily="34" charset="-120"/>
                        </a:rPr>
                        <a:t>$490B</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00" dirty="0">
                          <a:solidFill>
                            <a:srgbClr val="333333"/>
                          </a:solidFill>
                          <a:latin typeface="Arial" pitchFamily="34" charset="0"/>
                          <a:ea typeface="Arial" pitchFamily="34" charset="-122"/>
                          <a:cs typeface="Arial" pitchFamily="34" charset="-120"/>
                        </a:rPr>
                        <a:t>$620B</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ctr" indent="0" marL="0">
                        <a:buNone/>
                      </a:pPr>
                      <a:r>
                        <a:rPr lang="en-US" sz="1000" b="1" dirty="0">
                          <a:solidFill>
                            <a:srgbClr val="00A854"/>
                          </a:solidFill>
                          <a:latin typeface="Arial" pitchFamily="34" charset="0"/>
                          <a:ea typeface="Arial" pitchFamily="34" charset="-122"/>
                          <a:cs typeface="Arial" pitchFamily="34" charset="-120"/>
                        </a:rPr>
                        <a:t>$710B</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bl>
          </a:graphicData>
        </a:graphic>
      </p:graphicFrame>
      <p:sp>
        <p:nvSpPr>
          <p:cNvPr id="7" name="Text 4"/>
          <p:cNvSpPr/>
          <p:nvPr/>
        </p:nvSpPr>
        <p:spPr>
          <a:xfrm>
            <a:off x="457200" y="416052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scenario framework. All figures illustrative and for discussion.</a:t>
            </a:r>
            <a:endParaRPr lang="en-US" sz="700" dirty="0"/>
          </a:p>
        </p:txBody>
      </p:sp>
      <p:sp>
        <p:nvSpPr>
          <p:cNvPr id="8" name="Shape 5"/>
          <p:cNvSpPr/>
          <p:nvPr/>
        </p:nvSpPr>
        <p:spPr>
          <a:xfrm>
            <a:off x="0" y="4526280"/>
            <a:ext cx="9144000" cy="617220"/>
          </a:xfrm>
          <a:prstGeom prst="rect">
            <a:avLst/>
          </a:prstGeom>
          <a:solidFill>
            <a:srgbClr val="333333"/>
          </a:solidFill>
          <a:ln w="12700">
            <a:solidFill>
              <a:srgbClr val="333333"/>
            </a:solidFill>
            <a:prstDash val="solid"/>
          </a:ln>
        </p:spPr>
      </p:sp>
      <p:sp>
        <p:nvSpPr>
          <p:cNvPr id="9" name="Text 6"/>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0" name="Text 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Four numbers to watch.</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Specific, measurable, and — if they turn — fast-moving sources of risk in the current AI complex.</a:t>
            </a:r>
            <a:endParaRPr lang="en-US" sz="1350" dirty="0"/>
          </a:p>
        </p:txBody>
      </p:sp>
      <p:sp>
        <p:nvSpPr>
          <p:cNvPr id="6" name="Text 4"/>
          <p:cNvSpPr/>
          <p:nvPr/>
        </p:nvSpPr>
        <p:spPr>
          <a:xfrm>
            <a:off x="480060" y="2011680"/>
            <a:ext cx="187452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87%</a:t>
            </a:r>
            <a:endParaRPr lang="en-US" sz="4000" dirty="0"/>
          </a:p>
        </p:txBody>
      </p:sp>
      <p:sp>
        <p:nvSpPr>
          <p:cNvPr id="7" name="Text 5"/>
          <p:cNvSpPr/>
          <p:nvPr/>
        </p:nvSpPr>
        <p:spPr>
          <a:xfrm>
            <a:off x="48006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NVDA share of hyperscaler GPU spend</a:t>
            </a:r>
            <a:endParaRPr lang="en-US" sz="1100" dirty="0"/>
          </a:p>
        </p:txBody>
      </p:sp>
      <p:sp>
        <p:nvSpPr>
          <p:cNvPr id="8" name="Text 6"/>
          <p:cNvSpPr/>
          <p:nvPr/>
        </p:nvSpPr>
        <p:spPr>
          <a:xfrm>
            <a:off x="2583180" y="2011680"/>
            <a:ext cx="187452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$180B</a:t>
            </a:r>
            <a:endParaRPr lang="en-US" sz="4000" dirty="0"/>
          </a:p>
        </p:txBody>
      </p:sp>
      <p:sp>
        <p:nvSpPr>
          <p:cNvPr id="9" name="Text 7"/>
          <p:cNvSpPr/>
          <p:nvPr/>
        </p:nvSpPr>
        <p:spPr>
          <a:xfrm>
            <a:off x="258318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vendor-customer financing loops</a:t>
            </a:r>
            <a:endParaRPr lang="en-US" sz="1100" dirty="0"/>
          </a:p>
        </p:txBody>
      </p:sp>
      <p:sp>
        <p:nvSpPr>
          <p:cNvPr id="10" name="Text 8"/>
          <p:cNvSpPr/>
          <p:nvPr/>
        </p:nvSpPr>
        <p:spPr>
          <a:xfrm>
            <a:off x="4686300" y="2011680"/>
            <a:ext cx="1874520" cy="685800"/>
          </a:xfrm>
          <a:prstGeom prst="rect">
            <a:avLst/>
          </a:prstGeom>
          <a:noFill/>
          <a:ln/>
        </p:spPr>
        <p:txBody>
          <a:bodyPr wrap="square" lIns="0" tIns="0" rIns="0" bIns="0" rtlCol="0" anchor="ctr"/>
          <a:lstStyle/>
          <a:p>
            <a:pPr algn="ctr" indent="0" marL="0">
              <a:buNone/>
            </a:pPr>
            <a:r>
              <a:rPr lang="en-US" sz="4000" b="1" dirty="0">
                <a:solidFill>
                  <a:srgbClr val="FFB800"/>
                </a:solidFill>
                <a:latin typeface="Arial Black" pitchFamily="34" charset="0"/>
                <a:ea typeface="Arial Black" pitchFamily="34" charset="-122"/>
                <a:cs typeface="Arial Black" pitchFamily="34" charset="-120"/>
              </a:rPr>
              <a:t>$320B</a:t>
            </a:r>
            <a:endParaRPr lang="en-US" sz="4000" dirty="0"/>
          </a:p>
        </p:txBody>
      </p:sp>
      <p:sp>
        <p:nvSpPr>
          <p:cNvPr id="11" name="Text 9"/>
          <p:cNvSpPr/>
          <p:nvPr/>
        </p:nvSpPr>
        <p:spPr>
          <a:xfrm>
            <a:off x="468630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private credit AI / data-center AUM</a:t>
            </a:r>
            <a:endParaRPr lang="en-US" sz="1100" dirty="0"/>
          </a:p>
        </p:txBody>
      </p:sp>
      <p:sp>
        <p:nvSpPr>
          <p:cNvPr id="12" name="Text 10"/>
          <p:cNvSpPr/>
          <p:nvPr/>
        </p:nvSpPr>
        <p:spPr>
          <a:xfrm>
            <a:off x="6789420" y="2011680"/>
            <a:ext cx="1874520" cy="685800"/>
          </a:xfrm>
          <a:prstGeom prst="rect">
            <a:avLst/>
          </a:prstGeom>
          <a:noFill/>
          <a:ln/>
        </p:spPr>
        <p:txBody>
          <a:bodyPr wrap="square" lIns="0" tIns="0" rIns="0" bIns="0" rtlCol="0" anchor="ctr"/>
          <a:lstStyle/>
          <a:p>
            <a:pPr algn="ctr" indent="0" marL="0">
              <a:buNone/>
            </a:pPr>
            <a:r>
              <a:rPr lang="en-US" sz="4000" b="1" dirty="0">
                <a:solidFill>
                  <a:srgbClr val="FFB800"/>
                </a:solidFill>
                <a:latin typeface="Arial Black" pitchFamily="34" charset="0"/>
                <a:ea typeface="Arial Black" pitchFamily="34" charset="-122"/>
                <a:cs typeface="Arial Black" pitchFamily="34" charset="-120"/>
              </a:rPr>
              <a:t>14 mo</a:t>
            </a:r>
            <a:endParaRPr lang="en-US" sz="4000" dirty="0"/>
          </a:p>
        </p:txBody>
      </p:sp>
      <p:sp>
        <p:nvSpPr>
          <p:cNvPr id="13" name="Text 11"/>
          <p:cNvSpPr/>
          <p:nvPr/>
        </p:nvSpPr>
        <p:spPr>
          <a:xfrm>
            <a:off x="6789420" y="2743200"/>
            <a:ext cx="187452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median AI infra payback assumption</a:t>
            </a:r>
            <a:endParaRPr lang="en-US" sz="1100" dirty="0"/>
          </a:p>
        </p:txBody>
      </p:sp>
      <p:sp>
        <p:nvSpPr>
          <p:cNvPr id="14" name="Shape 12"/>
          <p:cNvSpPr/>
          <p:nvPr/>
        </p:nvSpPr>
        <p:spPr>
          <a:xfrm>
            <a:off x="457200" y="3520440"/>
            <a:ext cx="8229600" cy="457200"/>
          </a:xfrm>
          <a:prstGeom prst="rect">
            <a:avLst/>
          </a:prstGeom>
          <a:solidFill>
            <a:srgbClr val="CC0000"/>
          </a:solidFill>
          <a:ln w="12700">
            <a:solidFill>
              <a:srgbClr val="CC0000"/>
            </a:solidFill>
            <a:prstDash val="solid"/>
          </a:ln>
        </p:spPr>
      </p:sp>
      <p:sp>
        <p:nvSpPr>
          <p:cNvPr id="15" name="Text 13"/>
          <p:cNvSpPr/>
          <p:nvPr/>
        </p:nvSpPr>
        <p:spPr>
          <a:xfrm>
            <a:off x="640080" y="3520440"/>
            <a:ext cx="7863840" cy="45720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Takeaway: the tails are fatter than the headline multiples suggest. Size positions accordingly.</a:t>
            </a:r>
            <a:endParaRPr lang="en-US" sz="1250" dirty="0"/>
          </a:p>
        </p:txBody>
      </p:sp>
      <p:sp>
        <p:nvSpPr>
          <p:cNvPr id="16" name="Text 14"/>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Preqin, company filings. Reconstructed illustrative figures.</a:t>
            </a:r>
            <a:endParaRPr lang="en-US" sz="700" dirty="0"/>
          </a:p>
        </p:txBody>
      </p:sp>
      <p:sp>
        <p:nvSpPr>
          <p:cNvPr id="17" name="Shape 15"/>
          <p:cNvSpPr/>
          <p:nvPr/>
        </p:nvSpPr>
        <p:spPr>
          <a:xfrm>
            <a:off x="0" y="4526280"/>
            <a:ext cx="9144000" cy="617220"/>
          </a:xfrm>
          <a:prstGeom prst="rect">
            <a:avLst/>
          </a:prstGeom>
          <a:solidFill>
            <a:srgbClr val="333333"/>
          </a:solidFill>
          <a:ln w="12700">
            <a:solidFill>
              <a:srgbClr val="333333"/>
            </a:solidFill>
            <a:prstDash val="solid"/>
          </a:ln>
        </p:spPr>
      </p:sp>
      <p:sp>
        <p:nvSpPr>
          <p:cNvPr id="18" name="Text 16"/>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Three risk surfaces to watch.</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Each category moves through different indicators — and each has a different signal that the cycle is breaking.</a:t>
            </a:r>
            <a:endParaRPr lang="en-US" sz="1350" dirty="0"/>
          </a:p>
        </p:txBody>
      </p:sp>
      <p:sp>
        <p:nvSpPr>
          <p:cNvPr id="6" name="Shape 4"/>
          <p:cNvSpPr/>
          <p:nvPr/>
        </p:nvSpPr>
        <p:spPr>
          <a:xfrm>
            <a:off x="457200" y="1737360"/>
            <a:ext cx="2560320" cy="365760"/>
          </a:xfrm>
          <a:prstGeom prst="rect">
            <a:avLst/>
          </a:prstGeom>
          <a:solidFill>
            <a:srgbClr val="FFB800"/>
          </a:solidFill>
          <a:ln w="12700">
            <a:solidFill>
              <a:srgbClr val="FFB800"/>
            </a:solidFill>
            <a:prstDash val="solid"/>
          </a:ln>
        </p:spPr>
      </p:sp>
      <p:sp>
        <p:nvSpPr>
          <p:cNvPr id="7" name="Text 5"/>
          <p:cNvSpPr/>
          <p:nvPr/>
        </p:nvSpPr>
        <p:spPr>
          <a:xfrm>
            <a:off x="457200" y="1737360"/>
            <a:ext cx="2560320" cy="36576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pitchFamily="34" charset="0"/>
                <a:ea typeface="Arial" pitchFamily="34" charset="-122"/>
                <a:cs typeface="Arial" pitchFamily="34" charset="-120"/>
              </a:rPr>
              <a:t>MACRO</a:t>
            </a:r>
            <a:endParaRPr lang="en-US" sz="1200" dirty="0"/>
          </a:p>
        </p:txBody>
      </p:sp>
      <p:sp>
        <p:nvSpPr>
          <p:cNvPr id="8" name="Shape 6"/>
          <p:cNvSpPr/>
          <p:nvPr/>
        </p:nvSpPr>
        <p:spPr>
          <a:xfrm>
            <a:off x="457200" y="2103120"/>
            <a:ext cx="2560320" cy="1828800"/>
          </a:xfrm>
          <a:prstGeom prst="rect">
            <a:avLst/>
          </a:prstGeom>
          <a:solidFill>
            <a:srgbClr val="F9F9F9"/>
          </a:solidFill>
          <a:ln w="6350">
            <a:solidFill>
              <a:srgbClr val="E5E5E5"/>
            </a:solidFill>
            <a:prstDash val="solid"/>
          </a:ln>
        </p:spPr>
      </p:sp>
      <p:sp>
        <p:nvSpPr>
          <p:cNvPr id="9" name="Text 7"/>
          <p:cNvSpPr/>
          <p:nvPr/>
        </p:nvSpPr>
        <p:spPr>
          <a:xfrm>
            <a:off x="594360" y="2194560"/>
            <a:ext cx="2331720" cy="1691640"/>
          </a:xfrm>
          <a:prstGeom prst="rect">
            <a:avLst/>
          </a:prstGeom>
          <a:noFill/>
          <a:ln/>
        </p:spPr>
        <p:txBody>
          <a:bodyPr wrap="square" rtlCol="0" anchor="t"/>
          <a:lstStyle/>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Long-end yields above 5% reprice long-duration growth.</a:t>
            </a:r>
            <a:endParaRPr lang="en-US" sz="1000" dirty="0"/>
          </a:p>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Dollar strength compresses overseas AI revenue.</a:t>
            </a:r>
            <a:endParaRPr lang="en-US" sz="1000" dirty="0"/>
          </a:p>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Recession risk collides with capex commitments.</a:t>
            </a:r>
            <a:endParaRPr lang="en-US" sz="1000" dirty="0"/>
          </a:p>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Power availability becomes binding constraint.</a:t>
            </a:r>
            <a:endParaRPr lang="en-US" sz="1000" dirty="0"/>
          </a:p>
        </p:txBody>
      </p:sp>
      <p:sp>
        <p:nvSpPr>
          <p:cNvPr id="10" name="Shape 8"/>
          <p:cNvSpPr/>
          <p:nvPr/>
        </p:nvSpPr>
        <p:spPr>
          <a:xfrm>
            <a:off x="3291840" y="1737360"/>
            <a:ext cx="2560320" cy="365760"/>
          </a:xfrm>
          <a:prstGeom prst="rect">
            <a:avLst/>
          </a:prstGeom>
          <a:solidFill>
            <a:srgbClr val="F6693D"/>
          </a:solidFill>
          <a:ln w="12700">
            <a:solidFill>
              <a:srgbClr val="F6693D"/>
            </a:solidFill>
            <a:prstDash val="solid"/>
          </a:ln>
        </p:spPr>
      </p:sp>
      <p:sp>
        <p:nvSpPr>
          <p:cNvPr id="11" name="Text 9"/>
          <p:cNvSpPr/>
          <p:nvPr/>
        </p:nvSpPr>
        <p:spPr>
          <a:xfrm>
            <a:off x="3291840" y="1737360"/>
            <a:ext cx="2560320" cy="36576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pitchFamily="34" charset="0"/>
                <a:ea typeface="Arial" pitchFamily="34" charset="-122"/>
                <a:cs typeface="Arial" pitchFamily="34" charset="-120"/>
              </a:rPr>
              <a:t>REGULATORY</a:t>
            </a:r>
            <a:endParaRPr lang="en-US" sz="1200" dirty="0"/>
          </a:p>
        </p:txBody>
      </p:sp>
      <p:sp>
        <p:nvSpPr>
          <p:cNvPr id="12" name="Shape 10"/>
          <p:cNvSpPr/>
          <p:nvPr/>
        </p:nvSpPr>
        <p:spPr>
          <a:xfrm>
            <a:off x="3291840" y="2103120"/>
            <a:ext cx="2560320" cy="1828800"/>
          </a:xfrm>
          <a:prstGeom prst="rect">
            <a:avLst/>
          </a:prstGeom>
          <a:solidFill>
            <a:srgbClr val="F9F9F9"/>
          </a:solidFill>
          <a:ln w="6350">
            <a:solidFill>
              <a:srgbClr val="E5E5E5"/>
            </a:solidFill>
            <a:prstDash val="solid"/>
          </a:ln>
        </p:spPr>
      </p:sp>
      <p:sp>
        <p:nvSpPr>
          <p:cNvPr id="13" name="Text 11"/>
          <p:cNvSpPr/>
          <p:nvPr/>
        </p:nvSpPr>
        <p:spPr>
          <a:xfrm>
            <a:off x="3429000" y="2194560"/>
            <a:ext cx="2331720" cy="1691640"/>
          </a:xfrm>
          <a:prstGeom prst="rect">
            <a:avLst/>
          </a:prstGeom>
          <a:noFill/>
          <a:ln/>
        </p:spPr>
        <p:txBody>
          <a:bodyPr wrap="square" rtlCol="0" anchor="t"/>
          <a:lstStyle/>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US/EU AI liability frameworks shape deployment pace.</a:t>
            </a:r>
            <a:endParaRPr lang="en-US" sz="1000" dirty="0"/>
          </a:p>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Antitrust action on AI infrastructure bundling.</a:t>
            </a:r>
            <a:endParaRPr lang="en-US" sz="1000" dirty="0"/>
          </a:p>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Export controls on advanced chips tighten further.</a:t>
            </a:r>
            <a:endParaRPr lang="en-US" sz="1000" dirty="0"/>
          </a:p>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Data/copyright regimes force model retraining.</a:t>
            </a:r>
            <a:endParaRPr lang="en-US" sz="1000" dirty="0"/>
          </a:p>
        </p:txBody>
      </p:sp>
      <p:sp>
        <p:nvSpPr>
          <p:cNvPr id="14" name="Shape 12"/>
          <p:cNvSpPr/>
          <p:nvPr/>
        </p:nvSpPr>
        <p:spPr>
          <a:xfrm>
            <a:off x="6126480" y="1737360"/>
            <a:ext cx="2560320" cy="365760"/>
          </a:xfrm>
          <a:prstGeom prst="rect">
            <a:avLst/>
          </a:prstGeom>
          <a:solidFill>
            <a:srgbClr val="CC0000"/>
          </a:solidFill>
          <a:ln w="12700">
            <a:solidFill>
              <a:srgbClr val="CC0000"/>
            </a:solidFill>
            <a:prstDash val="solid"/>
          </a:ln>
        </p:spPr>
      </p:sp>
      <p:sp>
        <p:nvSpPr>
          <p:cNvPr id="15" name="Text 13"/>
          <p:cNvSpPr/>
          <p:nvPr/>
        </p:nvSpPr>
        <p:spPr>
          <a:xfrm>
            <a:off x="6126480" y="1737360"/>
            <a:ext cx="2560320" cy="36576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pitchFamily="34" charset="0"/>
                <a:ea typeface="Arial" pitchFamily="34" charset="-122"/>
                <a:cs typeface="Arial" pitchFamily="34" charset="-120"/>
              </a:rPr>
              <a:t>COMPETITIVE</a:t>
            </a:r>
            <a:endParaRPr lang="en-US" sz="1200" dirty="0"/>
          </a:p>
        </p:txBody>
      </p:sp>
      <p:sp>
        <p:nvSpPr>
          <p:cNvPr id="16" name="Shape 14"/>
          <p:cNvSpPr/>
          <p:nvPr/>
        </p:nvSpPr>
        <p:spPr>
          <a:xfrm>
            <a:off x="6126480" y="2103120"/>
            <a:ext cx="2560320" cy="1828800"/>
          </a:xfrm>
          <a:prstGeom prst="rect">
            <a:avLst/>
          </a:prstGeom>
          <a:solidFill>
            <a:srgbClr val="F9F9F9"/>
          </a:solidFill>
          <a:ln w="6350">
            <a:solidFill>
              <a:srgbClr val="E5E5E5"/>
            </a:solidFill>
            <a:prstDash val="solid"/>
          </a:ln>
        </p:spPr>
      </p:sp>
      <p:sp>
        <p:nvSpPr>
          <p:cNvPr id="17" name="Text 15"/>
          <p:cNvSpPr/>
          <p:nvPr/>
        </p:nvSpPr>
        <p:spPr>
          <a:xfrm>
            <a:off x="6263640" y="2194560"/>
            <a:ext cx="2331720" cy="1691640"/>
          </a:xfrm>
          <a:prstGeom prst="rect">
            <a:avLst/>
          </a:prstGeom>
          <a:noFill/>
          <a:ln/>
        </p:spPr>
        <p:txBody>
          <a:bodyPr wrap="square" rtlCol="0" anchor="t"/>
          <a:lstStyle/>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Open-source parity on key benchmarks erodes moats.</a:t>
            </a:r>
            <a:endParaRPr lang="en-US" sz="1000" dirty="0"/>
          </a:p>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Chinese model ecosystem undercuts on price.</a:t>
            </a:r>
            <a:endParaRPr lang="en-US" sz="1000" dirty="0"/>
          </a:p>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Vertical-specific AI rewrites enterprise software TAMs.</a:t>
            </a:r>
            <a:endParaRPr lang="en-US" sz="1000" dirty="0"/>
          </a:p>
          <a:p>
            <a:pPr marL="342900" indent="-342900">
              <a:spcAft>
                <a:spcPts val="400"/>
              </a:spcAft>
              <a:buSzPct val="100000"/>
              <a:buChar char="•"/>
            </a:pPr>
            <a:r>
              <a:rPr lang="en-US" sz="1000" dirty="0">
                <a:solidFill>
                  <a:srgbClr val="333333"/>
                </a:solidFill>
                <a:latin typeface="Arial" pitchFamily="34" charset="0"/>
                <a:ea typeface="Arial" pitchFamily="34" charset="-122"/>
                <a:cs typeface="Arial" pitchFamily="34" charset="-120"/>
              </a:rPr>
              <a:t>Agent platforms disintermediate SaaS incumbents.</a:t>
            </a:r>
            <a:endParaRPr lang="en-US" sz="1000" dirty="0"/>
          </a:p>
        </p:txBody>
      </p:sp>
      <p:sp>
        <p:nvSpPr>
          <p:cNvPr id="18" name="Text 16"/>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taxonomy. Illustrative, not exhaustive.</a:t>
            </a:r>
            <a:endParaRPr lang="en-US" sz="700" dirty="0"/>
          </a:p>
        </p:txBody>
      </p:sp>
      <p:sp>
        <p:nvSpPr>
          <p:cNvPr id="19" name="Shape 17"/>
          <p:cNvSpPr/>
          <p:nvPr/>
        </p:nvSpPr>
        <p:spPr>
          <a:xfrm>
            <a:off x="0" y="4526280"/>
            <a:ext cx="9144000" cy="617220"/>
          </a:xfrm>
          <a:prstGeom prst="rect">
            <a:avLst/>
          </a:prstGeom>
          <a:solidFill>
            <a:srgbClr val="333333"/>
          </a:solidFill>
          <a:ln w="12700">
            <a:solidFill>
              <a:srgbClr val="333333"/>
            </a:solidFill>
            <a:prstDash val="solid"/>
          </a:ln>
        </p:spPr>
      </p:sp>
      <p:sp>
        <p:nvSpPr>
          <p:cNvPr id="20" name="Text 18"/>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E8478D"/>
          </a:solidFill>
          <a:ln w="12700">
            <a:solidFill>
              <a:srgbClr val="E8478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What comes next.</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Part four of four. The categories where the next decade of compounding happens — and where the next surprises come from.</a:t>
            </a:r>
            <a:endParaRPr lang="en-US" sz="1350" dirty="0"/>
          </a:p>
        </p:txBody>
      </p:sp>
      <p:sp>
        <p:nvSpPr>
          <p:cNvPr id="6" name="Text 4"/>
          <p:cNvSpPr/>
          <p:nvPr/>
        </p:nvSpPr>
        <p:spPr>
          <a:xfrm>
            <a:off x="457200" y="1783080"/>
            <a:ext cx="8229600" cy="1463040"/>
          </a:xfrm>
          <a:prstGeom prst="rect">
            <a:avLst/>
          </a:prstGeom>
          <a:noFill/>
          <a:ln/>
        </p:spPr>
        <p:txBody>
          <a:bodyPr wrap="square" lIns="0" tIns="0" rIns="0" bIns="0" rtlCol="0" anchor="ctr"/>
          <a:lstStyle/>
          <a:p>
            <a:pPr algn="ctr" indent="0" marL="0">
              <a:buNone/>
            </a:pPr>
            <a:r>
              <a:rPr lang="en-US" sz="20000" b="1" dirty="0">
                <a:solidFill>
                  <a:srgbClr val="E8478D"/>
                </a:solidFill>
                <a:latin typeface="Arial Black" pitchFamily="34" charset="0"/>
                <a:ea typeface="Arial Black" pitchFamily="34" charset="-122"/>
                <a:cs typeface="Arial Black" pitchFamily="34" charset="-120"/>
              </a:rPr>
              <a:t>3</a:t>
            </a:r>
            <a:endParaRPr lang="en-US" sz="20000" dirty="0"/>
          </a:p>
        </p:txBody>
      </p:sp>
      <p:sp>
        <p:nvSpPr>
          <p:cNvPr id="7" name="Text 5"/>
          <p:cNvSpPr/>
          <p:nvPr/>
        </p:nvSpPr>
        <p:spPr>
          <a:xfrm>
            <a:off x="914400" y="3429000"/>
            <a:ext cx="7315200" cy="640080"/>
          </a:xfrm>
          <a:prstGeom prst="rect">
            <a:avLst/>
          </a:prstGeom>
          <a:noFill/>
          <a:ln/>
        </p:spPr>
        <p:txBody>
          <a:bodyPr wrap="square" lIns="0" tIns="0" rIns="0" bIns="0" rtlCol="0" anchor="t"/>
          <a:lstStyle/>
          <a:p>
            <a:pPr algn="ctr" indent="0" marL="0">
              <a:buNone/>
            </a:pPr>
            <a:r>
              <a:rPr lang="en-US" sz="1400" b="1" dirty="0">
                <a:solidFill>
                  <a:srgbClr val="333333"/>
                </a:solidFill>
                <a:latin typeface="Arial" pitchFamily="34" charset="0"/>
                <a:ea typeface="Arial" pitchFamily="34" charset="-122"/>
                <a:cs typeface="Arial" pitchFamily="34" charset="-120"/>
              </a:rPr>
              <a:t>Frontiers that matter: agentic, physical, and scientific AI. Each rewires a different slice of the economy.</a:t>
            </a:r>
            <a:endParaRPr lang="en-US" sz="1400" dirty="0"/>
          </a:p>
        </p:txBody>
      </p:sp>
      <p:sp>
        <p:nvSpPr>
          <p:cNvPr id="8" name="Text 6"/>
          <p:cNvSpPr/>
          <p:nvPr/>
        </p:nvSpPr>
        <p:spPr>
          <a:xfrm>
            <a:off x="457200" y="411480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framework.</a:t>
            </a:r>
            <a:endParaRPr lang="en-US" sz="700" dirty="0"/>
          </a:p>
        </p:txBody>
      </p:sp>
      <p:sp>
        <p:nvSpPr>
          <p:cNvPr id="9" name="Shape 7"/>
          <p:cNvSpPr/>
          <p:nvPr/>
        </p:nvSpPr>
        <p:spPr>
          <a:xfrm>
            <a:off x="0" y="4526280"/>
            <a:ext cx="9144000" cy="617220"/>
          </a:xfrm>
          <a:prstGeom prst="rect">
            <a:avLst/>
          </a:prstGeom>
          <a:solidFill>
            <a:srgbClr val="333333"/>
          </a:solidFill>
          <a:ln w="12700">
            <a:solidFill>
              <a:srgbClr val="333333"/>
            </a:solidFill>
            <a:prstDash val="solid"/>
          </a:ln>
        </p:spPr>
      </p:sp>
      <p:sp>
        <p:nvSpPr>
          <p:cNvPr id="10" name="Text 8"/>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1" name="Text 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E8478D"/>
          </a:solidFill>
          <a:ln w="12700">
            <a:solidFill>
              <a:srgbClr val="E8478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Three frontiers to watch.</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Agentic is scaling now. Physical is crossing from pilot to pilot-fleet. Scientific is early but compounding fast.</a:t>
            </a:r>
            <a:endParaRPr lang="en-US" sz="1350" dirty="0"/>
          </a:p>
        </p:txBody>
      </p:sp>
      <p:sp>
        <p:nvSpPr>
          <p:cNvPr id="6" name="Shape 4"/>
          <p:cNvSpPr/>
          <p:nvPr/>
        </p:nvSpPr>
        <p:spPr>
          <a:xfrm>
            <a:off x="457200" y="1737360"/>
            <a:ext cx="2560320" cy="365760"/>
          </a:xfrm>
          <a:prstGeom prst="rect">
            <a:avLst/>
          </a:prstGeom>
          <a:solidFill>
            <a:srgbClr val="F6693D"/>
          </a:solidFill>
          <a:ln w="12700">
            <a:solidFill>
              <a:srgbClr val="F6693D"/>
            </a:solidFill>
            <a:prstDash val="solid"/>
          </a:ln>
        </p:spPr>
      </p:sp>
      <p:sp>
        <p:nvSpPr>
          <p:cNvPr id="7" name="Text 5"/>
          <p:cNvSpPr/>
          <p:nvPr/>
        </p:nvSpPr>
        <p:spPr>
          <a:xfrm>
            <a:off x="457200" y="1737360"/>
            <a:ext cx="2560320" cy="36576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pitchFamily="34" charset="0"/>
                <a:ea typeface="Arial" pitchFamily="34" charset="-122"/>
                <a:cs typeface="Arial" pitchFamily="34" charset="-120"/>
              </a:rPr>
              <a:t>AGENTIC AI</a:t>
            </a:r>
            <a:endParaRPr lang="en-US" sz="1200" dirty="0"/>
          </a:p>
        </p:txBody>
      </p:sp>
      <p:sp>
        <p:nvSpPr>
          <p:cNvPr id="8" name="Shape 6"/>
          <p:cNvSpPr/>
          <p:nvPr/>
        </p:nvSpPr>
        <p:spPr>
          <a:xfrm>
            <a:off x="457200" y="2103120"/>
            <a:ext cx="2560320" cy="1828800"/>
          </a:xfrm>
          <a:prstGeom prst="rect">
            <a:avLst/>
          </a:prstGeom>
          <a:solidFill>
            <a:srgbClr val="F9F9F9"/>
          </a:solidFill>
          <a:ln w="6350">
            <a:solidFill>
              <a:srgbClr val="E5E5E5"/>
            </a:solidFill>
            <a:prstDash val="solid"/>
          </a:ln>
        </p:spPr>
      </p:sp>
      <p:sp>
        <p:nvSpPr>
          <p:cNvPr id="9" name="Text 7"/>
          <p:cNvSpPr/>
          <p:nvPr/>
        </p:nvSpPr>
        <p:spPr>
          <a:xfrm>
            <a:off x="594360" y="2176272"/>
            <a:ext cx="2331720" cy="256032"/>
          </a:xfrm>
          <a:prstGeom prst="rect">
            <a:avLst/>
          </a:prstGeom>
          <a:noFill/>
          <a:ln/>
        </p:spPr>
        <p:txBody>
          <a:bodyPr wrap="square" lIns="0" tIns="0" rIns="0" bIns="0" rtlCol="0" anchor="ctr"/>
          <a:lstStyle/>
          <a:p>
            <a:pPr indent="0" marL="0">
              <a:buNone/>
            </a:pPr>
            <a:r>
              <a:rPr lang="en-US" sz="900" b="1" spc="200" kern="0" dirty="0">
                <a:solidFill>
                  <a:srgbClr val="F6693D"/>
                </a:solidFill>
                <a:latin typeface="Arial" pitchFamily="34" charset="0"/>
                <a:ea typeface="Arial" pitchFamily="34" charset="-122"/>
                <a:cs typeface="Arial" pitchFamily="34" charset="-120"/>
              </a:rPr>
              <a:t>Now → 2027</a:t>
            </a:r>
            <a:endParaRPr lang="en-US" sz="900" dirty="0"/>
          </a:p>
        </p:txBody>
      </p:sp>
      <p:sp>
        <p:nvSpPr>
          <p:cNvPr id="10" name="Text 8"/>
          <p:cNvSpPr/>
          <p:nvPr/>
        </p:nvSpPr>
        <p:spPr>
          <a:xfrm>
            <a:off x="594360" y="2450592"/>
            <a:ext cx="2331720" cy="1005840"/>
          </a:xfrm>
          <a:prstGeom prst="rect">
            <a:avLst/>
          </a:prstGeom>
          <a:noFill/>
          <a:ln/>
        </p:spPr>
        <p:txBody>
          <a:bodyPr wrap="square" rtlCol="0" anchor="t"/>
          <a:lstStyle/>
          <a:p>
            <a:pPr marL="342900" indent="-342900">
              <a:spcAft>
                <a:spcPts val="300"/>
              </a:spcAft>
              <a:buSzPct val="100000"/>
              <a:buChar char="•"/>
            </a:pPr>
            <a:r>
              <a:rPr lang="en-US" sz="950" dirty="0">
                <a:solidFill>
                  <a:srgbClr val="333333"/>
                </a:solidFill>
                <a:latin typeface="Arial" pitchFamily="34" charset="0"/>
                <a:ea typeface="Arial" pitchFamily="34" charset="-122"/>
                <a:cs typeface="Arial" pitchFamily="34" charset="-120"/>
              </a:rPr>
              <a:t>Browser agents complete multi-step tasks end-to-end.</a:t>
            </a:r>
            <a:endParaRPr lang="en-US" sz="950" dirty="0"/>
          </a:p>
          <a:p>
            <a:pPr marL="342900" indent="-342900">
              <a:spcAft>
                <a:spcPts val="300"/>
              </a:spcAft>
              <a:buSzPct val="100000"/>
              <a:buChar char="•"/>
            </a:pPr>
            <a:r>
              <a:rPr lang="en-US" sz="950" dirty="0">
                <a:solidFill>
                  <a:srgbClr val="333333"/>
                </a:solidFill>
                <a:latin typeface="Arial" pitchFamily="34" charset="0"/>
                <a:ea typeface="Arial" pitchFamily="34" charset="-122"/>
                <a:cs typeface="Arial" pitchFamily="34" charset="-120"/>
              </a:rPr>
              <a:t>Enterprise agents replace outsourced workflows.</a:t>
            </a:r>
            <a:endParaRPr lang="en-US" sz="950" dirty="0"/>
          </a:p>
          <a:p>
            <a:pPr marL="342900" indent="-342900">
              <a:spcAft>
                <a:spcPts val="300"/>
              </a:spcAft>
              <a:buSzPct val="100000"/>
              <a:buChar char="•"/>
            </a:pPr>
            <a:r>
              <a:rPr lang="en-US" sz="950" dirty="0">
                <a:solidFill>
                  <a:srgbClr val="333333"/>
                </a:solidFill>
                <a:latin typeface="Arial" pitchFamily="34" charset="0"/>
                <a:ea typeface="Arial" pitchFamily="34" charset="-122"/>
                <a:cs typeface="Arial" pitchFamily="34" charset="-120"/>
              </a:rPr>
              <a:t>Revenue scales with inference, not seats.</a:t>
            </a:r>
            <a:endParaRPr lang="en-US" sz="950" dirty="0"/>
          </a:p>
        </p:txBody>
      </p:sp>
      <p:sp>
        <p:nvSpPr>
          <p:cNvPr id="11" name="Shape 9"/>
          <p:cNvSpPr/>
          <p:nvPr/>
        </p:nvSpPr>
        <p:spPr>
          <a:xfrm>
            <a:off x="594360" y="3520440"/>
            <a:ext cx="2286000" cy="0"/>
          </a:xfrm>
          <a:prstGeom prst="line">
            <a:avLst/>
          </a:prstGeom>
          <a:noFill/>
          <a:ln w="6350">
            <a:solidFill>
              <a:srgbClr val="E5E5E5"/>
            </a:solidFill>
            <a:prstDash val="solid"/>
          </a:ln>
        </p:spPr>
      </p:sp>
      <p:sp>
        <p:nvSpPr>
          <p:cNvPr id="12" name="Text 10"/>
          <p:cNvSpPr/>
          <p:nvPr/>
        </p:nvSpPr>
        <p:spPr>
          <a:xfrm>
            <a:off x="594360" y="3566160"/>
            <a:ext cx="1097280" cy="320040"/>
          </a:xfrm>
          <a:prstGeom prst="rect">
            <a:avLst/>
          </a:prstGeom>
          <a:noFill/>
          <a:ln/>
        </p:spPr>
        <p:txBody>
          <a:bodyPr wrap="square" lIns="0" tIns="0" rIns="0" bIns="0" rtlCol="0" anchor="ctr"/>
          <a:lstStyle/>
          <a:p>
            <a:pPr indent="0" marL="0">
              <a:buNone/>
            </a:pPr>
            <a:r>
              <a:rPr lang="en-US" sz="2000" b="1" dirty="0">
                <a:solidFill>
                  <a:srgbClr val="F6693D"/>
                </a:solidFill>
                <a:latin typeface="Arial Black" pitchFamily="34" charset="0"/>
                <a:ea typeface="Arial Black" pitchFamily="34" charset="-122"/>
                <a:cs typeface="Arial Black" pitchFamily="34" charset="-120"/>
              </a:rPr>
              <a:t>$85B</a:t>
            </a:r>
            <a:endParaRPr lang="en-US" sz="2000" dirty="0"/>
          </a:p>
        </p:txBody>
      </p:sp>
      <p:sp>
        <p:nvSpPr>
          <p:cNvPr id="13" name="Text 11"/>
          <p:cNvSpPr/>
          <p:nvPr/>
        </p:nvSpPr>
        <p:spPr>
          <a:xfrm>
            <a:off x="1691640" y="3602736"/>
            <a:ext cx="1234440"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2026E agent revenue</a:t>
            </a:r>
            <a:endParaRPr lang="en-US" sz="850" dirty="0"/>
          </a:p>
        </p:txBody>
      </p:sp>
      <p:sp>
        <p:nvSpPr>
          <p:cNvPr id="14" name="Shape 12"/>
          <p:cNvSpPr/>
          <p:nvPr/>
        </p:nvSpPr>
        <p:spPr>
          <a:xfrm>
            <a:off x="3291840" y="1737360"/>
            <a:ext cx="2560320" cy="365760"/>
          </a:xfrm>
          <a:prstGeom prst="rect">
            <a:avLst/>
          </a:prstGeom>
          <a:solidFill>
            <a:srgbClr val="00A854"/>
          </a:solidFill>
          <a:ln w="12700">
            <a:solidFill>
              <a:srgbClr val="00A854"/>
            </a:solidFill>
            <a:prstDash val="solid"/>
          </a:ln>
        </p:spPr>
      </p:sp>
      <p:sp>
        <p:nvSpPr>
          <p:cNvPr id="15" name="Text 13"/>
          <p:cNvSpPr/>
          <p:nvPr/>
        </p:nvSpPr>
        <p:spPr>
          <a:xfrm>
            <a:off x="3291840" y="1737360"/>
            <a:ext cx="2560320" cy="36576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pitchFamily="34" charset="0"/>
                <a:ea typeface="Arial" pitchFamily="34" charset="-122"/>
                <a:cs typeface="Arial" pitchFamily="34" charset="-120"/>
              </a:rPr>
              <a:t>PHYSICAL AI</a:t>
            </a:r>
            <a:endParaRPr lang="en-US" sz="1200" dirty="0"/>
          </a:p>
        </p:txBody>
      </p:sp>
      <p:sp>
        <p:nvSpPr>
          <p:cNvPr id="16" name="Shape 14"/>
          <p:cNvSpPr/>
          <p:nvPr/>
        </p:nvSpPr>
        <p:spPr>
          <a:xfrm>
            <a:off x="3291840" y="2103120"/>
            <a:ext cx="2560320" cy="1828800"/>
          </a:xfrm>
          <a:prstGeom prst="rect">
            <a:avLst/>
          </a:prstGeom>
          <a:solidFill>
            <a:srgbClr val="F9F9F9"/>
          </a:solidFill>
          <a:ln w="6350">
            <a:solidFill>
              <a:srgbClr val="E5E5E5"/>
            </a:solidFill>
            <a:prstDash val="solid"/>
          </a:ln>
        </p:spPr>
      </p:sp>
      <p:sp>
        <p:nvSpPr>
          <p:cNvPr id="17" name="Text 15"/>
          <p:cNvSpPr/>
          <p:nvPr/>
        </p:nvSpPr>
        <p:spPr>
          <a:xfrm>
            <a:off x="3429000" y="2176272"/>
            <a:ext cx="2331720" cy="256032"/>
          </a:xfrm>
          <a:prstGeom prst="rect">
            <a:avLst/>
          </a:prstGeom>
          <a:noFill/>
          <a:ln/>
        </p:spPr>
        <p:txBody>
          <a:bodyPr wrap="square" lIns="0" tIns="0" rIns="0" bIns="0" rtlCol="0" anchor="ctr"/>
          <a:lstStyle/>
          <a:p>
            <a:pPr indent="0" marL="0">
              <a:buNone/>
            </a:pPr>
            <a:r>
              <a:rPr lang="en-US" sz="900" b="1" spc="200" kern="0" dirty="0">
                <a:solidFill>
                  <a:srgbClr val="00A854"/>
                </a:solidFill>
                <a:latin typeface="Arial" pitchFamily="34" charset="0"/>
                <a:ea typeface="Arial" pitchFamily="34" charset="-122"/>
                <a:cs typeface="Arial" pitchFamily="34" charset="-120"/>
              </a:rPr>
              <a:t>2026 → 2029</a:t>
            </a:r>
            <a:endParaRPr lang="en-US" sz="900" dirty="0"/>
          </a:p>
        </p:txBody>
      </p:sp>
      <p:sp>
        <p:nvSpPr>
          <p:cNvPr id="18" name="Text 16"/>
          <p:cNvSpPr/>
          <p:nvPr/>
        </p:nvSpPr>
        <p:spPr>
          <a:xfrm>
            <a:off x="3429000" y="2450592"/>
            <a:ext cx="2331720" cy="1005840"/>
          </a:xfrm>
          <a:prstGeom prst="rect">
            <a:avLst/>
          </a:prstGeom>
          <a:noFill/>
          <a:ln/>
        </p:spPr>
        <p:txBody>
          <a:bodyPr wrap="square" rtlCol="0" anchor="t"/>
          <a:lstStyle/>
          <a:p>
            <a:pPr marL="342900" indent="-342900">
              <a:spcAft>
                <a:spcPts val="300"/>
              </a:spcAft>
              <a:buSzPct val="100000"/>
              <a:buChar char="•"/>
            </a:pPr>
            <a:r>
              <a:rPr lang="en-US" sz="950" dirty="0">
                <a:solidFill>
                  <a:srgbClr val="333333"/>
                </a:solidFill>
                <a:latin typeface="Arial" pitchFamily="34" charset="0"/>
                <a:ea typeface="Arial" pitchFamily="34" charset="-122"/>
                <a:cs typeface="Arial" pitchFamily="34" charset="-120"/>
              </a:rPr>
              <a:t>Foundation models + robotics enter logistics at scale.</a:t>
            </a:r>
            <a:endParaRPr lang="en-US" sz="950" dirty="0"/>
          </a:p>
          <a:p>
            <a:pPr marL="342900" indent="-342900">
              <a:spcAft>
                <a:spcPts val="300"/>
              </a:spcAft>
              <a:buSzPct val="100000"/>
              <a:buChar char="•"/>
            </a:pPr>
            <a:r>
              <a:rPr lang="en-US" sz="950" dirty="0">
                <a:solidFill>
                  <a:srgbClr val="333333"/>
                </a:solidFill>
                <a:latin typeface="Arial" pitchFamily="34" charset="0"/>
                <a:ea typeface="Arial" pitchFamily="34" charset="-122"/>
                <a:cs typeface="Arial" pitchFamily="34" charset="-120"/>
              </a:rPr>
              <a:t>Humanoid pilots in manufacturing, warehouse, retail.</a:t>
            </a:r>
            <a:endParaRPr lang="en-US" sz="950" dirty="0"/>
          </a:p>
          <a:p>
            <a:pPr marL="342900" indent="-342900">
              <a:spcAft>
                <a:spcPts val="300"/>
              </a:spcAft>
              <a:buSzPct val="100000"/>
              <a:buChar char="•"/>
            </a:pPr>
            <a:r>
              <a:rPr lang="en-US" sz="950" dirty="0">
                <a:solidFill>
                  <a:srgbClr val="333333"/>
                </a:solidFill>
                <a:latin typeface="Arial" pitchFamily="34" charset="0"/>
                <a:ea typeface="Arial" pitchFamily="34" charset="-122"/>
                <a:cs typeface="Arial" pitchFamily="34" charset="-120"/>
              </a:rPr>
              <a:t>New TAM — blue-collar workflows, trillion-dollar scale.</a:t>
            </a:r>
            <a:endParaRPr lang="en-US" sz="950" dirty="0"/>
          </a:p>
        </p:txBody>
      </p:sp>
      <p:sp>
        <p:nvSpPr>
          <p:cNvPr id="19" name="Shape 17"/>
          <p:cNvSpPr/>
          <p:nvPr/>
        </p:nvSpPr>
        <p:spPr>
          <a:xfrm>
            <a:off x="3429000" y="3520440"/>
            <a:ext cx="2286000" cy="0"/>
          </a:xfrm>
          <a:prstGeom prst="line">
            <a:avLst/>
          </a:prstGeom>
          <a:noFill/>
          <a:ln w="6350">
            <a:solidFill>
              <a:srgbClr val="E5E5E5"/>
            </a:solidFill>
            <a:prstDash val="solid"/>
          </a:ln>
        </p:spPr>
      </p:sp>
      <p:sp>
        <p:nvSpPr>
          <p:cNvPr id="20" name="Text 18"/>
          <p:cNvSpPr/>
          <p:nvPr/>
        </p:nvSpPr>
        <p:spPr>
          <a:xfrm>
            <a:off x="3429000" y="3566160"/>
            <a:ext cx="1097280" cy="320040"/>
          </a:xfrm>
          <a:prstGeom prst="rect">
            <a:avLst/>
          </a:prstGeom>
          <a:noFill/>
          <a:ln/>
        </p:spPr>
        <p:txBody>
          <a:bodyPr wrap="square" lIns="0" tIns="0" rIns="0" bIns="0" rtlCol="0" anchor="ctr"/>
          <a:lstStyle/>
          <a:p>
            <a:pPr indent="0" marL="0">
              <a:buNone/>
            </a:pPr>
            <a:r>
              <a:rPr lang="en-US" sz="2000" b="1" dirty="0">
                <a:solidFill>
                  <a:srgbClr val="00A854"/>
                </a:solidFill>
                <a:latin typeface="Arial Black" pitchFamily="34" charset="0"/>
                <a:ea typeface="Arial Black" pitchFamily="34" charset="-122"/>
                <a:cs typeface="Arial Black" pitchFamily="34" charset="-120"/>
              </a:rPr>
              <a:t>42k</a:t>
            </a:r>
            <a:endParaRPr lang="en-US" sz="2000" dirty="0"/>
          </a:p>
        </p:txBody>
      </p:sp>
      <p:sp>
        <p:nvSpPr>
          <p:cNvPr id="21" name="Text 19"/>
          <p:cNvSpPr/>
          <p:nvPr/>
        </p:nvSpPr>
        <p:spPr>
          <a:xfrm>
            <a:off x="4526280" y="3602736"/>
            <a:ext cx="1234440"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units deployed in pilots</a:t>
            </a:r>
            <a:endParaRPr lang="en-US" sz="850" dirty="0"/>
          </a:p>
        </p:txBody>
      </p:sp>
      <p:sp>
        <p:nvSpPr>
          <p:cNvPr id="22" name="Shape 20"/>
          <p:cNvSpPr/>
          <p:nvPr/>
        </p:nvSpPr>
        <p:spPr>
          <a:xfrm>
            <a:off x="6126480" y="1737360"/>
            <a:ext cx="2560320" cy="365760"/>
          </a:xfrm>
          <a:prstGeom prst="rect">
            <a:avLst/>
          </a:prstGeom>
          <a:solidFill>
            <a:srgbClr val="E8478D"/>
          </a:solidFill>
          <a:ln w="12700">
            <a:solidFill>
              <a:srgbClr val="E8478D"/>
            </a:solidFill>
            <a:prstDash val="solid"/>
          </a:ln>
        </p:spPr>
      </p:sp>
      <p:sp>
        <p:nvSpPr>
          <p:cNvPr id="23" name="Text 21"/>
          <p:cNvSpPr/>
          <p:nvPr/>
        </p:nvSpPr>
        <p:spPr>
          <a:xfrm>
            <a:off x="6126480" y="1737360"/>
            <a:ext cx="2560320" cy="365760"/>
          </a:xfrm>
          <a:prstGeom prst="rect">
            <a:avLst/>
          </a:prstGeom>
          <a:noFill/>
          <a:ln/>
        </p:spPr>
        <p:txBody>
          <a:bodyPr wrap="square" lIns="0" tIns="0" rIns="0" bIns="0" rtlCol="0" anchor="ctr"/>
          <a:lstStyle/>
          <a:p>
            <a:pPr algn="ctr" indent="0" marL="0">
              <a:buNone/>
            </a:pPr>
            <a:r>
              <a:rPr lang="en-US" sz="1200" b="1" spc="300" kern="0" dirty="0">
                <a:solidFill>
                  <a:srgbClr val="FFFFFF"/>
                </a:solidFill>
                <a:latin typeface="Arial" pitchFamily="34" charset="0"/>
                <a:ea typeface="Arial" pitchFamily="34" charset="-122"/>
                <a:cs typeface="Arial" pitchFamily="34" charset="-120"/>
              </a:rPr>
              <a:t>SCIENTIFIC AI</a:t>
            </a:r>
            <a:endParaRPr lang="en-US" sz="1200" dirty="0"/>
          </a:p>
        </p:txBody>
      </p:sp>
      <p:sp>
        <p:nvSpPr>
          <p:cNvPr id="24" name="Shape 22"/>
          <p:cNvSpPr/>
          <p:nvPr/>
        </p:nvSpPr>
        <p:spPr>
          <a:xfrm>
            <a:off x="6126480" y="2103120"/>
            <a:ext cx="2560320" cy="1828800"/>
          </a:xfrm>
          <a:prstGeom prst="rect">
            <a:avLst/>
          </a:prstGeom>
          <a:solidFill>
            <a:srgbClr val="F9F9F9"/>
          </a:solidFill>
          <a:ln w="6350">
            <a:solidFill>
              <a:srgbClr val="E5E5E5"/>
            </a:solidFill>
            <a:prstDash val="solid"/>
          </a:ln>
        </p:spPr>
      </p:sp>
      <p:sp>
        <p:nvSpPr>
          <p:cNvPr id="25" name="Text 23"/>
          <p:cNvSpPr/>
          <p:nvPr/>
        </p:nvSpPr>
        <p:spPr>
          <a:xfrm>
            <a:off x="6263640" y="2176272"/>
            <a:ext cx="2331720" cy="256032"/>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2027 → 2030</a:t>
            </a:r>
            <a:endParaRPr lang="en-US" sz="900" dirty="0"/>
          </a:p>
        </p:txBody>
      </p:sp>
      <p:sp>
        <p:nvSpPr>
          <p:cNvPr id="26" name="Text 24"/>
          <p:cNvSpPr/>
          <p:nvPr/>
        </p:nvSpPr>
        <p:spPr>
          <a:xfrm>
            <a:off x="6263640" y="2450592"/>
            <a:ext cx="2331720" cy="1005840"/>
          </a:xfrm>
          <a:prstGeom prst="rect">
            <a:avLst/>
          </a:prstGeom>
          <a:noFill/>
          <a:ln/>
        </p:spPr>
        <p:txBody>
          <a:bodyPr wrap="square" rtlCol="0" anchor="t"/>
          <a:lstStyle/>
          <a:p>
            <a:pPr marL="342900" indent="-342900">
              <a:spcAft>
                <a:spcPts val="300"/>
              </a:spcAft>
              <a:buSzPct val="100000"/>
              <a:buChar char="•"/>
            </a:pPr>
            <a:r>
              <a:rPr lang="en-US" sz="950" dirty="0">
                <a:solidFill>
                  <a:srgbClr val="333333"/>
                </a:solidFill>
                <a:latin typeface="Arial" pitchFamily="34" charset="0"/>
                <a:ea typeface="Arial" pitchFamily="34" charset="-122"/>
                <a:cs typeface="Arial" pitchFamily="34" charset="-120"/>
              </a:rPr>
              <a:t>AI-native drug discovery shortens development cycles.</a:t>
            </a:r>
            <a:endParaRPr lang="en-US" sz="950" dirty="0"/>
          </a:p>
          <a:p>
            <a:pPr marL="342900" indent="-342900">
              <a:spcAft>
                <a:spcPts val="300"/>
              </a:spcAft>
              <a:buSzPct val="100000"/>
              <a:buChar char="•"/>
            </a:pPr>
            <a:r>
              <a:rPr lang="en-US" sz="950" dirty="0">
                <a:solidFill>
                  <a:srgbClr val="333333"/>
                </a:solidFill>
                <a:latin typeface="Arial" pitchFamily="34" charset="0"/>
                <a:ea typeface="Arial" pitchFamily="34" charset="-122"/>
                <a:cs typeface="Arial" pitchFamily="34" charset="-120"/>
              </a:rPr>
              <a:t>Materials design + fusion modeling accelerate.</a:t>
            </a:r>
            <a:endParaRPr lang="en-US" sz="950" dirty="0"/>
          </a:p>
          <a:p>
            <a:pPr marL="342900" indent="-342900">
              <a:spcAft>
                <a:spcPts val="300"/>
              </a:spcAft>
              <a:buSzPct val="100000"/>
              <a:buChar char="•"/>
            </a:pPr>
            <a:r>
              <a:rPr lang="en-US" sz="950" dirty="0">
                <a:solidFill>
                  <a:srgbClr val="333333"/>
                </a:solidFill>
                <a:latin typeface="Arial" pitchFamily="34" charset="0"/>
                <a:ea typeface="Arial" pitchFamily="34" charset="-122"/>
                <a:cs typeface="Arial" pitchFamily="34" charset="-120"/>
              </a:rPr>
              <a:t>Compounds the returns to compute in new industries.</a:t>
            </a:r>
            <a:endParaRPr lang="en-US" sz="950" dirty="0"/>
          </a:p>
        </p:txBody>
      </p:sp>
      <p:sp>
        <p:nvSpPr>
          <p:cNvPr id="27" name="Shape 25"/>
          <p:cNvSpPr/>
          <p:nvPr/>
        </p:nvSpPr>
        <p:spPr>
          <a:xfrm>
            <a:off x="6263640" y="3520440"/>
            <a:ext cx="2286000" cy="0"/>
          </a:xfrm>
          <a:prstGeom prst="line">
            <a:avLst/>
          </a:prstGeom>
          <a:noFill/>
          <a:ln w="6350">
            <a:solidFill>
              <a:srgbClr val="E5E5E5"/>
            </a:solidFill>
            <a:prstDash val="solid"/>
          </a:ln>
        </p:spPr>
      </p:sp>
      <p:sp>
        <p:nvSpPr>
          <p:cNvPr id="28" name="Text 26"/>
          <p:cNvSpPr/>
          <p:nvPr/>
        </p:nvSpPr>
        <p:spPr>
          <a:xfrm>
            <a:off x="6263640" y="3566160"/>
            <a:ext cx="1097280" cy="320040"/>
          </a:xfrm>
          <a:prstGeom prst="rect">
            <a:avLst/>
          </a:prstGeom>
          <a:noFill/>
          <a:ln/>
        </p:spPr>
        <p:txBody>
          <a:bodyPr wrap="square" lIns="0" tIns="0" rIns="0" bIns="0" rtlCol="0" anchor="ctr"/>
          <a:lstStyle/>
          <a:p>
            <a:pPr indent="0" marL="0">
              <a:buNone/>
            </a:pPr>
            <a:r>
              <a:rPr lang="en-US" sz="2000" b="1" dirty="0">
                <a:solidFill>
                  <a:srgbClr val="E8478D"/>
                </a:solidFill>
                <a:latin typeface="Arial Black" pitchFamily="34" charset="0"/>
                <a:ea typeface="Arial Black" pitchFamily="34" charset="-122"/>
                <a:cs typeface="Arial Black" pitchFamily="34" charset="-120"/>
              </a:rPr>
              <a:t>11</a:t>
            </a:r>
            <a:endParaRPr lang="en-US" sz="2000" dirty="0"/>
          </a:p>
        </p:txBody>
      </p:sp>
      <p:sp>
        <p:nvSpPr>
          <p:cNvPr id="29" name="Text 27"/>
          <p:cNvSpPr/>
          <p:nvPr/>
        </p:nvSpPr>
        <p:spPr>
          <a:xfrm>
            <a:off x="7360920" y="3602736"/>
            <a:ext cx="1234440" cy="27432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AI-discovered Phase II drugs</a:t>
            </a:r>
            <a:endParaRPr lang="en-US" sz="850" dirty="0"/>
          </a:p>
        </p:txBody>
      </p:sp>
      <p:sp>
        <p:nvSpPr>
          <p:cNvPr id="30" name="Text 28"/>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Reconstructed illustrative figures.</a:t>
            </a:r>
            <a:endParaRPr lang="en-US" sz="700" dirty="0"/>
          </a:p>
        </p:txBody>
      </p:sp>
      <p:sp>
        <p:nvSpPr>
          <p:cNvPr id="31" name="Shape 29"/>
          <p:cNvSpPr/>
          <p:nvPr/>
        </p:nvSpPr>
        <p:spPr>
          <a:xfrm>
            <a:off x="0" y="4526280"/>
            <a:ext cx="9144000" cy="617220"/>
          </a:xfrm>
          <a:prstGeom prst="rect">
            <a:avLst/>
          </a:prstGeom>
          <a:solidFill>
            <a:srgbClr val="333333"/>
          </a:solidFill>
          <a:ln w="12700">
            <a:solidFill>
              <a:srgbClr val="333333"/>
            </a:solidFill>
            <a:prstDash val="solid"/>
          </a:ln>
        </p:spPr>
      </p:sp>
      <p:sp>
        <p:nvSpPr>
          <p:cNvPr id="32" name="Text 30"/>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3" name="Text 3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E8478D"/>
          </a:solidFill>
          <a:ln w="12700">
            <a:solidFill>
              <a:srgbClr val="E8478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What to watch, 2026–2028.</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Specific, datable catalysts. Positions should be right-sized to their asymmetry.</a:t>
            </a:r>
            <a:endParaRPr lang="en-US" sz="1350" dirty="0"/>
          </a:p>
        </p:txBody>
      </p:sp>
      <p:sp>
        <p:nvSpPr>
          <p:cNvPr id="6" name="Shape 4"/>
          <p:cNvSpPr/>
          <p:nvPr/>
        </p:nvSpPr>
        <p:spPr>
          <a:xfrm>
            <a:off x="640080" y="2286000"/>
            <a:ext cx="7863840" cy="0"/>
          </a:xfrm>
          <a:prstGeom prst="line">
            <a:avLst/>
          </a:prstGeom>
          <a:noFill/>
          <a:ln w="38100">
            <a:solidFill>
              <a:srgbClr val="333333"/>
            </a:solidFill>
            <a:prstDash val="solid"/>
          </a:ln>
        </p:spPr>
      </p:sp>
      <p:sp>
        <p:nvSpPr>
          <p:cNvPr id="7" name="Shape 5"/>
          <p:cNvSpPr/>
          <p:nvPr/>
        </p:nvSpPr>
        <p:spPr>
          <a:xfrm>
            <a:off x="1213104" y="2203704"/>
            <a:ext cx="164592" cy="164592"/>
          </a:xfrm>
          <a:prstGeom prst="ellipse">
            <a:avLst/>
          </a:prstGeom>
          <a:solidFill>
            <a:srgbClr val="F6693D"/>
          </a:solidFill>
          <a:ln w="12700">
            <a:solidFill>
              <a:srgbClr val="F6693D"/>
            </a:solidFill>
            <a:prstDash val="solid"/>
          </a:ln>
        </p:spPr>
      </p:sp>
      <p:sp>
        <p:nvSpPr>
          <p:cNvPr id="8" name="Shape 6"/>
          <p:cNvSpPr/>
          <p:nvPr/>
        </p:nvSpPr>
        <p:spPr>
          <a:xfrm>
            <a:off x="666293" y="2487168"/>
            <a:ext cx="1258214" cy="1371600"/>
          </a:xfrm>
          <a:prstGeom prst="rect">
            <a:avLst/>
          </a:prstGeom>
          <a:solidFill>
            <a:srgbClr val="F9F9F9"/>
          </a:solidFill>
          <a:ln w="6350">
            <a:solidFill>
              <a:srgbClr val="E5E5E5"/>
            </a:solidFill>
            <a:prstDash val="solid"/>
          </a:ln>
        </p:spPr>
      </p:sp>
      <p:sp>
        <p:nvSpPr>
          <p:cNvPr id="9" name="Shape 7"/>
          <p:cNvSpPr/>
          <p:nvPr/>
        </p:nvSpPr>
        <p:spPr>
          <a:xfrm>
            <a:off x="666293" y="2487168"/>
            <a:ext cx="54864" cy="1371600"/>
          </a:xfrm>
          <a:prstGeom prst="rect">
            <a:avLst/>
          </a:prstGeom>
          <a:solidFill>
            <a:srgbClr val="F6693D"/>
          </a:solidFill>
          <a:ln w="12700">
            <a:solidFill>
              <a:srgbClr val="F6693D"/>
            </a:solidFill>
            <a:prstDash val="solid"/>
          </a:ln>
        </p:spPr>
      </p:sp>
      <p:sp>
        <p:nvSpPr>
          <p:cNvPr id="10" name="Text 8"/>
          <p:cNvSpPr/>
          <p:nvPr/>
        </p:nvSpPr>
        <p:spPr>
          <a:xfrm>
            <a:off x="79430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Q2 2026</a:t>
            </a:r>
            <a:endParaRPr lang="en-US" sz="850" dirty="0"/>
          </a:p>
        </p:txBody>
      </p:sp>
      <p:sp>
        <p:nvSpPr>
          <p:cNvPr id="11" name="Text 9"/>
          <p:cNvSpPr/>
          <p:nvPr/>
        </p:nvSpPr>
        <p:spPr>
          <a:xfrm>
            <a:off x="794309" y="2788920"/>
            <a:ext cx="1075334" cy="292608"/>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Agent revenue disclosure</a:t>
            </a:r>
            <a:endParaRPr lang="en-US" sz="1100" dirty="0"/>
          </a:p>
        </p:txBody>
      </p:sp>
      <p:sp>
        <p:nvSpPr>
          <p:cNvPr id="12" name="Text 10"/>
          <p:cNvSpPr/>
          <p:nvPr/>
        </p:nvSpPr>
        <p:spPr>
          <a:xfrm>
            <a:off x="79430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Hyperscalers begin breaking out agent-related revenue lines.</a:t>
            </a:r>
            <a:endParaRPr lang="en-US" sz="850" dirty="0"/>
          </a:p>
        </p:txBody>
      </p:sp>
      <p:sp>
        <p:nvSpPr>
          <p:cNvPr id="13" name="Shape 11"/>
          <p:cNvSpPr/>
          <p:nvPr/>
        </p:nvSpPr>
        <p:spPr>
          <a:xfrm>
            <a:off x="2523744" y="2203704"/>
            <a:ext cx="164592" cy="164592"/>
          </a:xfrm>
          <a:prstGeom prst="ellipse">
            <a:avLst/>
          </a:prstGeom>
          <a:solidFill>
            <a:srgbClr val="00A854"/>
          </a:solidFill>
          <a:ln w="12700">
            <a:solidFill>
              <a:srgbClr val="00A854"/>
            </a:solidFill>
            <a:prstDash val="solid"/>
          </a:ln>
        </p:spPr>
      </p:sp>
      <p:sp>
        <p:nvSpPr>
          <p:cNvPr id="14" name="Shape 12"/>
          <p:cNvSpPr/>
          <p:nvPr/>
        </p:nvSpPr>
        <p:spPr>
          <a:xfrm>
            <a:off x="1976933" y="2487168"/>
            <a:ext cx="1258214" cy="1371600"/>
          </a:xfrm>
          <a:prstGeom prst="rect">
            <a:avLst/>
          </a:prstGeom>
          <a:solidFill>
            <a:srgbClr val="F9F9F9"/>
          </a:solidFill>
          <a:ln w="6350">
            <a:solidFill>
              <a:srgbClr val="E5E5E5"/>
            </a:solidFill>
            <a:prstDash val="solid"/>
          </a:ln>
        </p:spPr>
      </p:sp>
      <p:sp>
        <p:nvSpPr>
          <p:cNvPr id="15" name="Shape 13"/>
          <p:cNvSpPr/>
          <p:nvPr/>
        </p:nvSpPr>
        <p:spPr>
          <a:xfrm>
            <a:off x="1976933" y="2487168"/>
            <a:ext cx="54864" cy="1371600"/>
          </a:xfrm>
          <a:prstGeom prst="rect">
            <a:avLst/>
          </a:prstGeom>
          <a:solidFill>
            <a:srgbClr val="00A854"/>
          </a:solidFill>
          <a:ln w="12700">
            <a:solidFill>
              <a:srgbClr val="00A854"/>
            </a:solidFill>
            <a:prstDash val="solid"/>
          </a:ln>
        </p:spPr>
      </p:sp>
      <p:sp>
        <p:nvSpPr>
          <p:cNvPr id="16" name="Text 14"/>
          <p:cNvSpPr/>
          <p:nvPr/>
        </p:nvSpPr>
        <p:spPr>
          <a:xfrm>
            <a:off x="210494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Q4 2026</a:t>
            </a:r>
            <a:endParaRPr lang="en-US" sz="850" dirty="0"/>
          </a:p>
        </p:txBody>
      </p:sp>
      <p:sp>
        <p:nvSpPr>
          <p:cNvPr id="17" name="Text 15"/>
          <p:cNvSpPr/>
          <p:nvPr/>
        </p:nvSpPr>
        <p:spPr>
          <a:xfrm>
            <a:off x="2104949" y="2788920"/>
            <a:ext cx="1075334" cy="292608"/>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Humanoid pilot-to-fleet</a:t>
            </a:r>
            <a:endParaRPr lang="en-US" sz="1100" dirty="0"/>
          </a:p>
        </p:txBody>
      </p:sp>
      <p:sp>
        <p:nvSpPr>
          <p:cNvPr id="18" name="Text 16"/>
          <p:cNvSpPr/>
          <p:nvPr/>
        </p:nvSpPr>
        <p:spPr>
          <a:xfrm>
            <a:off x="210494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First humanoid programs cross 10k-unit deployment thresholds.</a:t>
            </a:r>
            <a:endParaRPr lang="en-US" sz="850" dirty="0"/>
          </a:p>
        </p:txBody>
      </p:sp>
      <p:sp>
        <p:nvSpPr>
          <p:cNvPr id="19" name="Shape 17"/>
          <p:cNvSpPr/>
          <p:nvPr/>
        </p:nvSpPr>
        <p:spPr>
          <a:xfrm>
            <a:off x="3834384" y="2203704"/>
            <a:ext cx="164592" cy="164592"/>
          </a:xfrm>
          <a:prstGeom prst="ellipse">
            <a:avLst/>
          </a:prstGeom>
          <a:solidFill>
            <a:srgbClr val="FFB800"/>
          </a:solidFill>
          <a:ln w="12700">
            <a:solidFill>
              <a:srgbClr val="FFB800"/>
            </a:solidFill>
            <a:prstDash val="solid"/>
          </a:ln>
        </p:spPr>
      </p:sp>
      <p:sp>
        <p:nvSpPr>
          <p:cNvPr id="20" name="Shape 18"/>
          <p:cNvSpPr/>
          <p:nvPr/>
        </p:nvSpPr>
        <p:spPr>
          <a:xfrm>
            <a:off x="3287573" y="2487168"/>
            <a:ext cx="1258214" cy="1371600"/>
          </a:xfrm>
          <a:prstGeom prst="rect">
            <a:avLst/>
          </a:prstGeom>
          <a:solidFill>
            <a:srgbClr val="F9F9F9"/>
          </a:solidFill>
          <a:ln w="6350">
            <a:solidFill>
              <a:srgbClr val="E5E5E5"/>
            </a:solidFill>
            <a:prstDash val="solid"/>
          </a:ln>
        </p:spPr>
      </p:sp>
      <p:sp>
        <p:nvSpPr>
          <p:cNvPr id="21" name="Shape 19"/>
          <p:cNvSpPr/>
          <p:nvPr/>
        </p:nvSpPr>
        <p:spPr>
          <a:xfrm>
            <a:off x="3287573" y="2487168"/>
            <a:ext cx="54864" cy="1371600"/>
          </a:xfrm>
          <a:prstGeom prst="rect">
            <a:avLst/>
          </a:prstGeom>
          <a:solidFill>
            <a:srgbClr val="FFB800"/>
          </a:solidFill>
          <a:ln w="12700">
            <a:solidFill>
              <a:srgbClr val="FFB800"/>
            </a:solidFill>
            <a:prstDash val="solid"/>
          </a:ln>
        </p:spPr>
      </p:sp>
      <p:sp>
        <p:nvSpPr>
          <p:cNvPr id="22" name="Text 20"/>
          <p:cNvSpPr/>
          <p:nvPr/>
        </p:nvSpPr>
        <p:spPr>
          <a:xfrm>
            <a:off x="341558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Q1 2027</a:t>
            </a:r>
            <a:endParaRPr lang="en-US" sz="850" dirty="0"/>
          </a:p>
        </p:txBody>
      </p:sp>
      <p:sp>
        <p:nvSpPr>
          <p:cNvPr id="23" name="Text 21"/>
          <p:cNvSpPr/>
          <p:nvPr/>
        </p:nvSpPr>
        <p:spPr>
          <a:xfrm>
            <a:off x="3415589" y="2788920"/>
            <a:ext cx="1075334" cy="292608"/>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AI capex peak watch</a:t>
            </a:r>
            <a:endParaRPr lang="en-US" sz="1100" dirty="0"/>
          </a:p>
        </p:txBody>
      </p:sp>
      <p:sp>
        <p:nvSpPr>
          <p:cNvPr id="24" name="Text 22"/>
          <p:cNvSpPr/>
          <p:nvPr/>
        </p:nvSpPr>
        <p:spPr>
          <a:xfrm>
            <a:off x="341558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First signs of capex growth moderation across the big four.</a:t>
            </a:r>
            <a:endParaRPr lang="en-US" sz="850" dirty="0"/>
          </a:p>
        </p:txBody>
      </p:sp>
      <p:sp>
        <p:nvSpPr>
          <p:cNvPr id="25" name="Shape 23"/>
          <p:cNvSpPr/>
          <p:nvPr/>
        </p:nvSpPr>
        <p:spPr>
          <a:xfrm>
            <a:off x="5145024" y="2203704"/>
            <a:ext cx="164592" cy="164592"/>
          </a:xfrm>
          <a:prstGeom prst="ellipse">
            <a:avLst/>
          </a:prstGeom>
          <a:solidFill>
            <a:srgbClr val="008B8B"/>
          </a:solidFill>
          <a:ln w="12700">
            <a:solidFill>
              <a:srgbClr val="008B8B"/>
            </a:solidFill>
            <a:prstDash val="solid"/>
          </a:ln>
        </p:spPr>
      </p:sp>
      <p:sp>
        <p:nvSpPr>
          <p:cNvPr id="26" name="Shape 24"/>
          <p:cNvSpPr/>
          <p:nvPr/>
        </p:nvSpPr>
        <p:spPr>
          <a:xfrm>
            <a:off x="4598213" y="2487168"/>
            <a:ext cx="1258214" cy="1371600"/>
          </a:xfrm>
          <a:prstGeom prst="rect">
            <a:avLst/>
          </a:prstGeom>
          <a:solidFill>
            <a:srgbClr val="F9F9F9"/>
          </a:solidFill>
          <a:ln w="6350">
            <a:solidFill>
              <a:srgbClr val="E5E5E5"/>
            </a:solidFill>
            <a:prstDash val="solid"/>
          </a:ln>
        </p:spPr>
      </p:sp>
      <p:sp>
        <p:nvSpPr>
          <p:cNvPr id="27" name="Shape 25"/>
          <p:cNvSpPr/>
          <p:nvPr/>
        </p:nvSpPr>
        <p:spPr>
          <a:xfrm>
            <a:off x="4598213" y="2487168"/>
            <a:ext cx="54864" cy="1371600"/>
          </a:xfrm>
          <a:prstGeom prst="rect">
            <a:avLst/>
          </a:prstGeom>
          <a:solidFill>
            <a:srgbClr val="008B8B"/>
          </a:solidFill>
          <a:ln w="12700">
            <a:solidFill>
              <a:srgbClr val="008B8B"/>
            </a:solidFill>
            <a:prstDash val="solid"/>
          </a:ln>
        </p:spPr>
      </p:sp>
      <p:sp>
        <p:nvSpPr>
          <p:cNvPr id="28" name="Text 26"/>
          <p:cNvSpPr/>
          <p:nvPr/>
        </p:nvSpPr>
        <p:spPr>
          <a:xfrm>
            <a:off x="472622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Q3 2027</a:t>
            </a:r>
            <a:endParaRPr lang="en-US" sz="850" dirty="0"/>
          </a:p>
        </p:txBody>
      </p:sp>
      <p:sp>
        <p:nvSpPr>
          <p:cNvPr id="29" name="Text 27"/>
          <p:cNvSpPr/>
          <p:nvPr/>
        </p:nvSpPr>
        <p:spPr>
          <a:xfrm>
            <a:off x="4726229" y="2788920"/>
            <a:ext cx="1075334" cy="292608"/>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Power build completion</a:t>
            </a:r>
            <a:endParaRPr lang="en-US" sz="1100" dirty="0"/>
          </a:p>
        </p:txBody>
      </p:sp>
      <p:sp>
        <p:nvSpPr>
          <p:cNvPr id="30" name="Text 28"/>
          <p:cNvSpPr/>
          <p:nvPr/>
        </p:nvSpPr>
        <p:spPr>
          <a:xfrm>
            <a:off x="472622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Major new data-center campuses come online; bottleneck eases.</a:t>
            </a:r>
            <a:endParaRPr lang="en-US" sz="850" dirty="0"/>
          </a:p>
        </p:txBody>
      </p:sp>
      <p:sp>
        <p:nvSpPr>
          <p:cNvPr id="31" name="Shape 29"/>
          <p:cNvSpPr/>
          <p:nvPr/>
        </p:nvSpPr>
        <p:spPr>
          <a:xfrm>
            <a:off x="6455664" y="2203704"/>
            <a:ext cx="164592" cy="164592"/>
          </a:xfrm>
          <a:prstGeom prst="ellipse">
            <a:avLst/>
          </a:prstGeom>
          <a:solidFill>
            <a:srgbClr val="CC0000"/>
          </a:solidFill>
          <a:ln w="12700">
            <a:solidFill>
              <a:srgbClr val="CC0000"/>
            </a:solidFill>
            <a:prstDash val="solid"/>
          </a:ln>
        </p:spPr>
      </p:sp>
      <p:sp>
        <p:nvSpPr>
          <p:cNvPr id="32" name="Shape 30"/>
          <p:cNvSpPr/>
          <p:nvPr/>
        </p:nvSpPr>
        <p:spPr>
          <a:xfrm>
            <a:off x="5908853" y="2487168"/>
            <a:ext cx="1258214" cy="1371600"/>
          </a:xfrm>
          <a:prstGeom prst="rect">
            <a:avLst/>
          </a:prstGeom>
          <a:solidFill>
            <a:srgbClr val="F9F9F9"/>
          </a:solidFill>
          <a:ln w="6350">
            <a:solidFill>
              <a:srgbClr val="E5E5E5"/>
            </a:solidFill>
            <a:prstDash val="solid"/>
          </a:ln>
        </p:spPr>
      </p:sp>
      <p:sp>
        <p:nvSpPr>
          <p:cNvPr id="33" name="Shape 31"/>
          <p:cNvSpPr/>
          <p:nvPr/>
        </p:nvSpPr>
        <p:spPr>
          <a:xfrm>
            <a:off x="5908853" y="2487168"/>
            <a:ext cx="54864" cy="1371600"/>
          </a:xfrm>
          <a:prstGeom prst="rect">
            <a:avLst/>
          </a:prstGeom>
          <a:solidFill>
            <a:srgbClr val="CC0000"/>
          </a:solidFill>
          <a:ln w="12700">
            <a:solidFill>
              <a:srgbClr val="CC0000"/>
            </a:solidFill>
            <a:prstDash val="solid"/>
          </a:ln>
        </p:spPr>
      </p:sp>
      <p:sp>
        <p:nvSpPr>
          <p:cNvPr id="34" name="Text 32"/>
          <p:cNvSpPr/>
          <p:nvPr/>
        </p:nvSpPr>
        <p:spPr>
          <a:xfrm>
            <a:off x="603686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Q1 2028</a:t>
            </a:r>
            <a:endParaRPr lang="en-US" sz="850" dirty="0"/>
          </a:p>
        </p:txBody>
      </p:sp>
      <p:sp>
        <p:nvSpPr>
          <p:cNvPr id="35" name="Text 33"/>
          <p:cNvSpPr/>
          <p:nvPr/>
        </p:nvSpPr>
        <p:spPr>
          <a:xfrm>
            <a:off x="6036869" y="2788920"/>
            <a:ext cx="1075334" cy="292608"/>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Frontier model regulation</a:t>
            </a:r>
            <a:endParaRPr lang="en-US" sz="1100" dirty="0"/>
          </a:p>
        </p:txBody>
      </p:sp>
      <p:sp>
        <p:nvSpPr>
          <p:cNvPr id="36" name="Text 34"/>
          <p:cNvSpPr/>
          <p:nvPr/>
        </p:nvSpPr>
        <p:spPr>
          <a:xfrm>
            <a:off x="603686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Regulatory frameworks fully in force across US/EU/UK jurisdictions.</a:t>
            </a:r>
            <a:endParaRPr lang="en-US" sz="850" dirty="0"/>
          </a:p>
        </p:txBody>
      </p:sp>
      <p:sp>
        <p:nvSpPr>
          <p:cNvPr id="37" name="Shape 35"/>
          <p:cNvSpPr/>
          <p:nvPr/>
        </p:nvSpPr>
        <p:spPr>
          <a:xfrm>
            <a:off x="7766304" y="2203704"/>
            <a:ext cx="164592" cy="164592"/>
          </a:xfrm>
          <a:prstGeom prst="ellipse">
            <a:avLst/>
          </a:prstGeom>
          <a:solidFill>
            <a:srgbClr val="E8478D"/>
          </a:solidFill>
          <a:ln w="12700">
            <a:solidFill>
              <a:srgbClr val="E8478D"/>
            </a:solidFill>
            <a:prstDash val="solid"/>
          </a:ln>
        </p:spPr>
      </p:sp>
      <p:sp>
        <p:nvSpPr>
          <p:cNvPr id="38" name="Shape 36"/>
          <p:cNvSpPr/>
          <p:nvPr/>
        </p:nvSpPr>
        <p:spPr>
          <a:xfrm>
            <a:off x="7219493" y="2487168"/>
            <a:ext cx="1258214" cy="1371600"/>
          </a:xfrm>
          <a:prstGeom prst="rect">
            <a:avLst/>
          </a:prstGeom>
          <a:solidFill>
            <a:srgbClr val="F9F9F9"/>
          </a:solidFill>
          <a:ln w="6350">
            <a:solidFill>
              <a:srgbClr val="E5E5E5"/>
            </a:solidFill>
            <a:prstDash val="solid"/>
          </a:ln>
        </p:spPr>
      </p:sp>
      <p:sp>
        <p:nvSpPr>
          <p:cNvPr id="39" name="Shape 37"/>
          <p:cNvSpPr/>
          <p:nvPr/>
        </p:nvSpPr>
        <p:spPr>
          <a:xfrm>
            <a:off x="7219493" y="2487168"/>
            <a:ext cx="54864" cy="1371600"/>
          </a:xfrm>
          <a:prstGeom prst="rect">
            <a:avLst/>
          </a:prstGeom>
          <a:solidFill>
            <a:srgbClr val="E8478D"/>
          </a:solidFill>
          <a:ln w="12700">
            <a:solidFill>
              <a:srgbClr val="E8478D"/>
            </a:solidFill>
            <a:prstDash val="solid"/>
          </a:ln>
        </p:spPr>
      </p:sp>
      <p:sp>
        <p:nvSpPr>
          <p:cNvPr id="40" name="Text 38"/>
          <p:cNvSpPr/>
          <p:nvPr/>
        </p:nvSpPr>
        <p:spPr>
          <a:xfrm>
            <a:off x="7347509" y="2560320"/>
            <a:ext cx="1075334" cy="228600"/>
          </a:xfrm>
          <a:prstGeom prst="rect">
            <a:avLst/>
          </a:prstGeom>
          <a:noFill/>
          <a:ln/>
        </p:spPr>
        <p:txBody>
          <a:bodyPr wrap="square" lIns="0" tIns="0" rIns="0" bIns="0" rtlCol="0" anchor="ctr"/>
          <a:lstStyle/>
          <a:p>
            <a:pPr indent="0" marL="0">
              <a:buNone/>
            </a:pPr>
            <a:r>
              <a:rPr lang="en-US" sz="850" dirty="0">
                <a:solidFill>
                  <a:srgbClr val="666666"/>
                </a:solidFill>
                <a:latin typeface="Arial" pitchFamily="34" charset="0"/>
                <a:ea typeface="Arial" pitchFamily="34" charset="-122"/>
                <a:cs typeface="Arial" pitchFamily="34" charset="-120"/>
              </a:rPr>
              <a:t>Q4 2028</a:t>
            </a:r>
            <a:endParaRPr lang="en-US" sz="850" dirty="0"/>
          </a:p>
        </p:txBody>
      </p:sp>
      <p:sp>
        <p:nvSpPr>
          <p:cNvPr id="41" name="Text 39"/>
          <p:cNvSpPr/>
          <p:nvPr/>
        </p:nvSpPr>
        <p:spPr>
          <a:xfrm>
            <a:off x="7347509" y="2788920"/>
            <a:ext cx="1075334" cy="292608"/>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AI-discovered drug approval</a:t>
            </a:r>
            <a:endParaRPr lang="en-US" sz="1100" dirty="0"/>
          </a:p>
        </p:txBody>
      </p:sp>
      <p:sp>
        <p:nvSpPr>
          <p:cNvPr id="42" name="Text 40"/>
          <p:cNvSpPr/>
          <p:nvPr/>
        </p:nvSpPr>
        <p:spPr>
          <a:xfrm>
            <a:off x="7347509" y="3108960"/>
            <a:ext cx="1075334" cy="74980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First fully AI-designed drug reaches regulatory approval milestone.</a:t>
            </a:r>
            <a:endParaRPr lang="en-US" sz="850" dirty="0"/>
          </a:p>
        </p:txBody>
      </p:sp>
      <p:sp>
        <p:nvSpPr>
          <p:cNvPr id="43" name="Text 41"/>
          <p:cNvSpPr/>
          <p:nvPr/>
        </p:nvSpPr>
        <p:spPr>
          <a:xfrm>
            <a:off x="457200" y="402336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watch list. Illustrative catalysts, not forecasts.</a:t>
            </a:r>
            <a:endParaRPr lang="en-US" sz="700" dirty="0"/>
          </a:p>
        </p:txBody>
      </p:sp>
      <p:sp>
        <p:nvSpPr>
          <p:cNvPr id="44" name="Shape 42"/>
          <p:cNvSpPr/>
          <p:nvPr/>
        </p:nvSpPr>
        <p:spPr>
          <a:xfrm>
            <a:off x="0" y="4526280"/>
            <a:ext cx="9144000" cy="617220"/>
          </a:xfrm>
          <a:prstGeom prst="rect">
            <a:avLst/>
          </a:prstGeom>
          <a:solidFill>
            <a:srgbClr val="333333"/>
          </a:solidFill>
          <a:ln w="12700">
            <a:solidFill>
              <a:srgbClr val="333333"/>
            </a:solidFill>
            <a:prstDash val="solid"/>
          </a:ln>
        </p:spPr>
      </p:sp>
      <p:sp>
        <p:nvSpPr>
          <p:cNvPr id="45" name="Text 4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6" name="Text 4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Four currents, four calls.</a:t>
            </a:r>
            <a:endParaRPr lang="en-US" sz="2700" dirty="0"/>
          </a:p>
        </p:txBody>
      </p:sp>
      <p:sp>
        <p:nvSpPr>
          <p:cNvPr id="3" name="Text 1"/>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What we see, and what it means for positioning in the next twelve months.</a:t>
            </a:r>
            <a:endParaRPr lang="en-US" sz="13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1645920"/>
                <a:gridCol w="3474720"/>
                <a:gridCol w="3108960"/>
              </a:tblGrid>
              <a:tr h="384048">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Theme</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What we see</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Implication</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384048">
                <a:tc>
                  <a:txBody>
                    <a:bodyPr/>
                    <a:lstStyle/>
                    <a:p>
                      <a:pPr algn="l" indent="0" marL="0">
                        <a:buNone/>
                      </a:pPr>
                      <a:r>
                        <a:rPr lang="en-US" sz="1000" b="1" spc="200" kern="0" dirty="0">
                          <a:solidFill>
                            <a:srgbClr val="008B8B"/>
                          </a:solidFill>
                          <a:latin typeface="Arial" pitchFamily="34" charset="0"/>
                          <a:ea typeface="Arial" pitchFamily="34" charset="-122"/>
                          <a:cs typeface="Arial" pitchFamily="34" charset="-120"/>
                        </a:rPr>
                        <a:t>LANDSCAPE</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E6F5F5"/>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AI is now an index exposure — ten names = 28% of cap.</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E6F5F5"/>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Underweight AI = active call; rebalance discipline matters.</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E6F5F5"/>
                    </a:solidFill>
                  </a:tcPr>
                </a:tc>
              </a:tr>
              <a:tr h="384048">
                <a:tc>
                  <a:txBody>
                    <a:bodyPr/>
                    <a:lstStyle/>
                    <a:p>
                      <a:pPr algn="l" indent="0" marL="0">
                        <a:buNone/>
                      </a:pPr>
                      <a:r>
                        <a:rPr lang="en-US" sz="1000" b="1" spc="200" kern="0" dirty="0">
                          <a:solidFill>
                            <a:srgbClr val="F6693D"/>
                          </a:solidFill>
                          <a:latin typeface="Arial" pitchFamily="34" charset="0"/>
                          <a:ea typeface="Arial" pitchFamily="34" charset="-122"/>
                          <a:cs typeface="Arial" pitchFamily="34" charset="-120"/>
                        </a:rPr>
                        <a:t>MARKET SHIFTS</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EE9E0"/>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$620B capex cycle, 29% top-5 concentration, rich multiples.</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EE9E0"/>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Barbell: own leaders, hedge with equal-weight and breadth.</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EE9E0"/>
                    </a:solidFill>
                  </a:tcPr>
                </a:tc>
              </a:tr>
              <a:tr h="384048">
                <a:tc>
                  <a:txBody>
                    <a:bodyPr/>
                    <a:lstStyle/>
                    <a:p>
                      <a:pPr algn="l" indent="0" marL="0">
                        <a:buNone/>
                      </a:pPr>
                      <a:r>
                        <a:rPr lang="en-US" sz="1000" b="1" spc="200" kern="0" dirty="0">
                          <a:solidFill>
                            <a:srgbClr val="CC0000"/>
                          </a:solidFill>
                          <a:latin typeface="Arial" pitchFamily="34" charset="0"/>
                          <a:ea typeface="Arial" pitchFamily="34" charset="-122"/>
                          <a:cs typeface="Arial" pitchFamily="34" charset="-120"/>
                        </a:rPr>
                        <a:t>RISKS</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Circular financing, power limits, regulatory drag.</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Size positions to asymmetry; price tail hedges cheaply now.</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DECEC"/>
                    </a:solidFill>
                  </a:tcPr>
                </a:tc>
              </a:tr>
              <a:tr h="384048">
                <a:tc>
                  <a:txBody>
                    <a:bodyPr/>
                    <a:lstStyle/>
                    <a:p>
                      <a:pPr algn="l" indent="0" marL="0">
                        <a:buNone/>
                      </a:pPr>
                      <a:r>
                        <a:rPr lang="en-US" sz="1000" b="1" spc="200" kern="0" dirty="0">
                          <a:solidFill>
                            <a:srgbClr val="E8478D"/>
                          </a:solidFill>
                          <a:latin typeface="Arial" pitchFamily="34" charset="0"/>
                          <a:ea typeface="Arial" pitchFamily="34" charset="-122"/>
                          <a:cs typeface="Arial" pitchFamily="34" charset="-120"/>
                        </a:rPr>
                        <a:t>FRONTIER</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CE5EE"/>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Agentic now, physical next, scientific compounds later.</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CE5EE"/>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Stage exposure by clock; don't pay for 2030 at 2026 multiples.</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CE5EE"/>
                    </a:solidFill>
                  </a:tcPr>
                </a:tc>
              </a:tr>
            </a:tbl>
          </a:graphicData>
        </a:graphic>
      </p:graphicFrame>
      <p:sp>
        <p:nvSpPr>
          <p:cNvPr id="5" name="Text 2"/>
          <p:cNvSpPr/>
          <p:nvPr/>
        </p:nvSpPr>
        <p:spPr>
          <a:xfrm>
            <a:off x="457200" y="3703320"/>
            <a:ext cx="8229600" cy="292608"/>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Base case: modest positive returns, higher dispersion, and a premium on position sizing discipline.</a:t>
            </a:r>
            <a:endParaRPr lang="en-US" sz="1200" dirty="0"/>
          </a:p>
        </p:txBody>
      </p:sp>
      <p:sp>
        <p:nvSpPr>
          <p:cNvPr id="6" name="Text 3"/>
          <p:cNvSpPr/>
          <p:nvPr/>
        </p:nvSpPr>
        <p:spPr>
          <a:xfrm>
            <a:off x="457200" y="4069080"/>
            <a:ext cx="8229600" cy="36576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synthesis. All figures illustrative.</a:t>
            </a:r>
            <a:endParaRPr lang="en-US" sz="700" dirty="0"/>
          </a:p>
        </p:txBody>
      </p:sp>
      <p:sp>
        <p:nvSpPr>
          <p:cNvPr id="7" name="Shape 4"/>
          <p:cNvSpPr/>
          <p:nvPr/>
        </p:nvSpPr>
        <p:spPr>
          <a:xfrm>
            <a:off x="0" y="4526280"/>
            <a:ext cx="9144000" cy="617220"/>
          </a:xfrm>
          <a:prstGeom prst="rect">
            <a:avLst/>
          </a:prstGeom>
          <a:solidFill>
            <a:srgbClr val="333333"/>
          </a:solidFill>
          <a:ln w="12700">
            <a:solidFill>
              <a:srgbClr val="333333"/>
            </a:solidFill>
            <a:prstDash val="solid"/>
          </a:ln>
        </p:spPr>
      </p:sp>
      <p:sp>
        <p:nvSpPr>
          <p:cNvPr id="8" name="Text 5"/>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9" name="Text 6"/>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365760"/>
            <a:ext cx="8229600" cy="502920"/>
          </a:xfrm>
          <a:prstGeom prst="rect">
            <a:avLst/>
          </a:prstGeom>
          <a:noFill/>
          <a:ln/>
        </p:spPr>
        <p:txBody>
          <a:bodyPr wrap="square" lIns="0" tIns="0" rIns="0" bIns="0" rtlCol="0" anchor="ctr"/>
          <a:lstStyle/>
          <a:p>
            <a:pPr indent="0" marL="0">
              <a:buNone/>
            </a:pPr>
            <a:r>
              <a:rPr lang="en-US" sz="2800" b="1" dirty="0">
                <a:solidFill>
                  <a:srgbClr val="000000"/>
                </a:solidFill>
                <a:latin typeface="Arial Black" pitchFamily="34" charset="0"/>
                <a:ea typeface="Arial Black" pitchFamily="34" charset="-122"/>
                <a:cs typeface="Arial Black" pitchFamily="34" charset="-120"/>
              </a:rPr>
              <a:t>Important information</a:t>
            </a:r>
            <a:endParaRPr lang="en-US" sz="2800" dirty="0"/>
          </a:p>
        </p:txBody>
      </p:sp>
      <p:sp>
        <p:nvSpPr>
          <p:cNvPr id="3" name="Text 1"/>
          <p:cNvSpPr/>
          <p:nvPr/>
        </p:nvSpPr>
        <p:spPr>
          <a:xfrm>
            <a:off x="457200" y="1005840"/>
            <a:ext cx="8229600" cy="3383280"/>
          </a:xfrm>
          <a:prstGeom prst="rect">
            <a:avLst/>
          </a:prstGeom>
          <a:noFill/>
          <a:ln/>
        </p:spPr>
        <p:txBody>
          <a:bodyPr wrap="square" rtlCol="0" anchor="t"/>
          <a:lstStyle/>
          <a:p>
            <a:pPr indent="0" marL="0">
              <a:spcAft>
                <a:spcPts val="200"/>
              </a:spcAft>
              <a:buNone/>
            </a:pPr>
            <a:r>
              <a:rPr lang="en-US" sz="1000" dirty="0">
                <a:solidFill>
                  <a:srgbClr val="666666"/>
                </a:solidFill>
                <a:latin typeface="Arial" pitchFamily="34" charset="0"/>
                <a:ea typeface="Arial" pitchFamily="34" charset="-122"/>
                <a:cs typeface="Arial" pitchFamily="34" charset="-120"/>
              </a:rPr>
              <a:t>This presentation is for informational and illustrative purposes only. It does not constitute investment advice, a recommendation, an offer, or a solicitation to buy or sell any security or financial instrument in any jurisdiction.</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Figures, charts, and company-level statistics throughout this deck are reconstructed illustrative estimates compiled for narrative purposes. They are not claimed to match any specific data source, consensus estimate, or company disclosure. Do not rely on them for investment decisions.</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Forward-looking statements involve inherent uncertainty and actual results may differ materially. Past performance is not indicative of future results. Any reference to specific securities or sectors is for illustration only and should not be construed as a recommendation.</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Investors should consult their own financial, tax, and legal advisors before making any investment decision. No representation or warranty is made as to the accuracy or completeness of the information contained herein.</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a:t>
            </a:r>
            <a:endParaRPr lang="en-US" sz="1000" dirty="0"/>
          </a:p>
          <a:p>
            <a:pPr indent="0" marL="0">
              <a:spcAft>
                <a:spcPts val="200"/>
              </a:spcAft>
              <a:buNone/>
            </a:pPr>
            <a:r>
              <a:rPr lang="en-US" sz="1000" dirty="0">
                <a:solidFill>
                  <a:srgbClr val="666666"/>
                </a:solidFill>
                <a:latin typeface="Arial" pitchFamily="34" charset="0"/>
                <a:ea typeface="Arial" pitchFamily="34" charset="-122"/>
                <a:cs typeface="Arial" pitchFamily="34" charset="-120"/>
              </a:rPr>
              <a:t>© 2026 — Prepared for internal strategy discussion.</a:t>
            </a:r>
            <a:endParaRPr lang="en-US" sz="1000" dirty="0"/>
          </a:p>
        </p:txBody>
      </p:sp>
      <p:sp>
        <p:nvSpPr>
          <p:cNvPr id="4" name="Shape 2"/>
          <p:cNvSpPr/>
          <p:nvPr/>
        </p:nvSpPr>
        <p:spPr>
          <a:xfrm>
            <a:off x="0" y="4526280"/>
            <a:ext cx="9144000" cy="617220"/>
          </a:xfrm>
          <a:prstGeom prst="rect">
            <a:avLst/>
          </a:prstGeom>
          <a:solidFill>
            <a:srgbClr val="333333"/>
          </a:solidFill>
          <a:ln w="12700">
            <a:solidFill>
              <a:srgbClr val="333333"/>
            </a:solidFill>
            <a:prstDash val="solid"/>
          </a:ln>
        </p:spPr>
      </p:sp>
      <p:sp>
        <p:nvSpPr>
          <p:cNvPr id="5" name="Text 3"/>
          <p:cNvSpPr/>
          <p:nvPr/>
        </p:nvSpPr>
        <p:spPr>
          <a:xfrm>
            <a:off x="1371600" y="4572000"/>
            <a:ext cx="6583680" cy="50292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6" name="Text 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Markets — March 2026</dc:title>
  <dc:subject>PptxGenJS Presentation</dc:subject>
  <dc:creator>Strategy</dc:creator>
  <cp:lastModifiedBy>Strategy</cp:lastModifiedBy>
  <cp:revision>1</cp:revision>
  <dcterms:created xsi:type="dcterms:W3CDTF">2026-04-20T15:47:11Z</dcterms:created>
  <dcterms:modified xsi:type="dcterms:W3CDTF">2026-04-20T15:47:12Z</dcterms:modified>
</cp:coreProperties>
</file>