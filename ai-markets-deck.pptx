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49377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6771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04288"/>
            <a:ext cx="109728" cy="49377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04288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04288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0428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871216"/>
            <a:ext cx="109728" cy="49377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871216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287121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287121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40156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38144"/>
            <a:ext cx="109728" cy="4937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438144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438144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43814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96849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005072"/>
            <a:ext cx="109728" cy="49377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005072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005072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0050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5354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572000"/>
            <a:ext cx="109728" cy="49377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4572000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457200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51023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138928"/>
            <a:ext cx="1097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138928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138928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3892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– 24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24 slides, read top to bottom.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Sixty years of AI in six steps — and we are now in step six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Eleven layers, four power blocs — your exposure depends on which layer you own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an AI chip is made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accelerator inside a data center, from training GPUs to custom inference silicon, passes through the same four stages.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4023360" cy="39319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554480"/>
            <a:ext cx="3840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Photo: AI accelerator package close-up, NVIDIA H100/H200 or Blackwell style. Large central logic die surrounded by HBM memory stacks on a CoWoS substrate, gold contact pads visible, dramatic studio lighting on dark backdrop, square framing.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5559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accelerator package: a large logic die surrounded by HBM memory stacks on a CoWoS substrate.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17720" y="155448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STAGES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17720" y="1783080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911096"/>
            <a:ext cx="384048" cy="384048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66360" y="18745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2148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blueprint the AI chip's tens of billions of transistors in software.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66360" y="2587752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Google TPU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2816352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17720" y="2871216"/>
            <a:ext cx="384048" cy="384048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28346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66360" y="3108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tools, especially EUV lithography, are built to print at atomic scale.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166360" y="3547872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17720" y="3776472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7720" y="3831336"/>
            <a:ext cx="384048" cy="384048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3831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66360" y="37947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66360" y="4069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$20B fab, silicon wafers are processed through 1,000+ steps.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4507992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17720" y="4736592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7720" y="4791456"/>
            <a:ext cx="384048" cy="384048"/>
          </a:xfrm>
          <a:prstGeom prst="ellipse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1772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66360" y="4754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166360" y="5029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dies are stacked with HBM memory using advanced packaging like CoWoS.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5468112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SIA / SEMI industry taxonomy; SEMI World Fab Forecast; TSMC, NVIDIA, ASML disclosures. Process descriptions are plain-English simplifications.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hyperscalers fund ~60% of AI chip demand — their capex IS the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 (EPRI high case, 2024)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 funding doubled all of 2025 — two giants, one public, one merger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57200" y="49194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valuations as of Apr 22, 2026.</a:t>
            </a:r>
            <a:endParaRPr lang="en-US" sz="800" dirty="0"/>
          </a:p>
        </p:txBody>
      </p:sp>
      <p:sp>
        <p:nvSpPr>
          <p:cNvPr id="32" name="Shape 26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5" name="Shape 2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7" name="Text 3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10 Tech grow 4× faster than Top 10 Non-Tech — at a similar multiple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similar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 (consensus, Apr 22, 2026).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Agentic AI uses 10–100× the compute per session — that's the capex thesis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Semis up, software down — one theme, two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50+ point spread inside a single theme — and the pain is now bleeding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83080"/>
            <a:ext cx="393192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8745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937760" y="2057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out, with demand still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937760" y="2468880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2441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2026; hyperscalers are locking in every GB of memory they can secure.</a:t>
            </a:r>
            <a:pPr algn="l" indent="0" marL="0">
              <a:buNone/>
            </a:pPr>
            <a:r>
              <a:rPr lang="en-US" sz="700" baseline="300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37760" y="2798064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303520" y="2770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power demand keeps pulling forward; each new model generation wants more silicon.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937760" y="3127248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03520" y="30998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ASPs and margins are expanding across memory and advanced-node logic.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52044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520440"/>
            <a:ext cx="393192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36118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pricing is under attack.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937760" y="4206240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377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◉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03520" y="4178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per-seat pricing; 2026 CIO surveys flag displacement risk on horizontal SaaS.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4535424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535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303520" y="45079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multiples re-rated lower as buyers underwrite slower seat growth and pricing pressure.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4864608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30352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Renewals slowing and deal cycles stretching as customers wait for vendor AI roadmaps to settle.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two outcomes — and software's pain is now bleeding into private equity and private credit, both anchored in SaaS.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single points of failure.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the four sit in Asia, and all four are single-sourced. US reshoring is real — but most leading-edge capacity doesn't ship until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Litho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firm in the world building EUV scanners — new machines ship in dozens per year, not hundreds.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▦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46888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Logic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Virtually every advanced-node chip runs through TSMC fabs in Hsinchu and Tainan — no real volume alternative exists.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☰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448056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Memory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8348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028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Korean firms supply nearly all the high-bandwidth memory AI accelerators depend on — both booked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◫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49224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Packaging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196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TSMC's CoWoS step fuses the GPU die to its HBM stack — the only volume supplier, sold out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WHEN LEADING-EDGE CAPACITY COMES ONLINE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4572000"/>
            <a:ext cx="786384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7091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3288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240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9884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9476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2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2062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6480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43076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0664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955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link is single-sourced — and there is no spare capacity in the chain to absorb a shock at any one of them.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HBM tracker; SK Hynix Q1 2026 commentary,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Q4 2025 earnings commentary.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Export controls, EU rules, and rare-earths decide who sells what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Communities, voters, and labor are pricing the AI infrastructure bet lower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(Echelon Insights, Mar 2026)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Orbital compute sidesteps Earth-bound bottlenecks — pilot stage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Humanoids hit pilot scale — every robot is a walking inference endpoint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autonomous mile compounds — every AV runs frontier edge compute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Capex on credit. Basket over. Bottleneck moves. Exposure is a thesis.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big-picture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868680" cy="8686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91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169164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is going on credit.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68680" cy="8686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51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08760" y="265176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basket trade is over. The market picks winners.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68680" cy="8686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11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08760" y="361188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moving. That is the opportunity.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4572000"/>
            <a:ext cx="868680" cy="86868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572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508760" y="457200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index, you own the thesis. Choose it deliberately.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MUFG; Goldman Sachs; SemiAnalysis; BofA; TrendForce. See appendix for figure-by-figure citations.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AI chipmaking process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/ SEMI industry taxonomy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"$20B fab" cost benchmark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World Fab Forecast; TSMC / Samsung capex disclosures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+ CoWoS advanced packaging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TSMC CoWoS capacity disclosures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2026-04-27T19:40:42Z</dcterms:created>
  <dcterms:modified xsi:type="dcterms:W3CDTF">2026-04-27T19:40:42Z</dcterms:modified>
</cp:coreProperties>
</file>