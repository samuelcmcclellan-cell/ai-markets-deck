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3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0</c:v>
                </c:pt>
                <c:pt idx="1">
                  <c:v>18</c:v>
                </c:pt>
                <c:pt idx="2">
                  <c:v>38</c:v>
                </c:pt>
                <c:pt idx="3">
                  <c:v>56</c:v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ln w="38100" cap="flat">
              <a:solidFill>
                <a:srgbClr val="008B8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8B8B"/>
              </a:solidFill>
              <a:ln w="9525" cap="flat">
                <a:solidFill>
                  <a:srgbClr val="008B8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Sheet1!$C$2:$C$17</c:f>
              <c:numCache>
                <c:formatCode>General</c:formatCode>
                <c:ptCount val="16"/>
                <c:pt idx="0">
                  <c:v>0</c:v>
                </c:pt>
                <c:pt idx="1">
                  <c:v>2</c:v>
                </c:pt>
                <c:pt idx="2">
                  <c:v>5</c:v>
                </c:pt>
                <c:pt idx="3">
                  <c:v>10</c:v>
                </c:pt>
                <c:pt idx="4">
                  <c:v>16</c:v>
                </c:pt>
                <c:pt idx="5">
                  <c:v>24</c:v>
                </c:pt>
                <c:pt idx="6">
                  <c:v>32</c:v>
                </c:pt>
                <c:pt idx="7">
                  <c:v>40</c:v>
                </c:pt>
                <c:pt idx="8">
                  <c:v>47</c:v>
                </c:pt>
                <c:pt idx="9">
                  <c:v>53</c:v>
                </c:pt>
                <c:pt idx="10">
                  <c:v>58</c:v>
                </c:pt>
                <c:pt idx="11">
                  <c:v>62</c:v>
                </c:pt>
                <c:pt idx="12">
                  <c:v>64</c:v>
                </c:pt>
                <c:pt idx="13">
                  <c:v>66</c:v>
                </c:pt>
                <c:pt idx="14">
                  <c:v>67</c:v>
                </c:pt>
                <c:pt idx="15">
                  <c:v>68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PC</c:v>
                </c:pt>
              </c:strCache>
            </c:strRef>
          </c:tx>
          <c:spPr>
            <a:solidFill>
              <a:srgbClr val="666666"/>
            </a:solidFill>
            <a:ln w="38100" cap="flat">
              <a:solidFill>
                <a:srgbClr val="6666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66666"/>
              </a:solidFill>
              <a:ln w="9525" cap="flat">
                <a:solidFill>
                  <a:srgbClr val="6666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</c:v>
                  </c:pt>
                  <c:pt idx="5">
                    <c:v>Y5</c:v>
                  </c:pt>
                  <c:pt idx="6">
                    <c:v>Y6</c:v>
                  </c:pt>
                  <c:pt idx="7">
                    <c:v>Y7</c:v>
                  </c:pt>
                  <c:pt idx="8">
                    <c:v>Y8</c:v>
                  </c:pt>
                  <c:pt idx="9">
                    <c:v>Y9</c:v>
                  </c:pt>
                  <c:pt idx="10">
                    <c:v>Y10</c:v>
                  </c:pt>
                  <c:pt idx="11">
                    <c:v>Y11</c:v>
                  </c:pt>
                  <c:pt idx="12">
                    <c:v>Y12</c:v>
                  </c:pt>
                  <c:pt idx="13">
                    <c:v>Y13</c:v>
                  </c:pt>
                  <c:pt idx="14">
                    <c:v>Y14</c:v>
                  </c:pt>
                  <c:pt idx="15">
                    <c:v>Y15</c:v>
                  </c:pt>
                </c:lvl>
              </c:multiLvlStrCache>
            </c:multiLvlStrRef>
          </c:cat>
          <c:val>
            <c:numRef>
              <c:f>Sheet1!$D$2:$D$17</c:f>
              <c:numCache>
                <c:formatCode>General</c:formatCode>
                <c:ptCount val="16"/>
                <c:pt idx="0">
                  <c:v>0</c:v>
                </c:pt>
                <c:pt idx="1">
                  <c:v>1</c:v>
                </c:pt>
                <c:pt idx="2">
                  <c:v>3</c:v>
                </c:pt>
                <c:pt idx="3">
                  <c:v>6</c:v>
                </c:pt>
                <c:pt idx="4">
                  <c:v>9</c:v>
                </c:pt>
                <c:pt idx="5">
                  <c:v>13</c:v>
                </c:pt>
                <c:pt idx="6">
                  <c:v>18</c:v>
                </c:pt>
                <c:pt idx="7">
                  <c:v>23</c:v>
                </c:pt>
                <c:pt idx="8">
                  <c:v>28</c:v>
                </c:pt>
                <c:pt idx="9">
                  <c:v>32</c:v>
                </c:pt>
                <c:pt idx="10">
                  <c:v>36</c:v>
                </c:pt>
                <c:pt idx="11">
                  <c:v>40</c:v>
                </c:pt>
                <c:pt idx="12">
                  <c:v>43</c:v>
                </c:pt>
                <c:pt idx="13">
                  <c:v>46</c:v>
                </c:pt>
                <c:pt idx="14">
                  <c:v>48</c:v>
                </c:pt>
                <c:pt idx="15">
                  <c:v>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6693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</c:v>
                </c:pt>
                <c:pt idx="1">
                  <c:v>5</c:v>
                </c:pt>
                <c:pt idx="2">
                  <c:v>16</c:v>
                </c:pt>
                <c:pt idx="3">
                  <c:v>42</c:v>
                </c:pt>
                <c:pt idx="4">
                  <c:v>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Cloud</c:v>
                </c:pt>
              </c:strCache>
            </c:strRef>
          </c:tx>
          <c:spPr>
            <a:solidFill>
              <a:srgbClr val="FFB8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7</c:v>
                </c:pt>
                <c:pt idx="4">
                  <c:v>12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Internet</c:v>
                </c:pt>
              </c:strCache>
            </c:strRef>
          </c:tx>
          <c:spPr>
            <a:solidFill>
              <a:srgbClr val="008B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3333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Y0</c:v>
                  </c:pt>
                  <c:pt idx="1">
                    <c:v>Y1</c:v>
                  </c:pt>
                  <c:pt idx="2">
                    <c:v>Y2</c:v>
                  </c:pt>
                  <c:pt idx="3">
                    <c:v>Y3</c:v>
                  </c:pt>
                  <c:pt idx="4">
                    <c:v>Y4 (2026E)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3333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Semis</c:v>
                </c:pt>
              </c:strCache>
            </c:strRef>
          </c:tx>
          <c:spPr>
            <a:solidFill>
              <a:srgbClr val="F6693D"/>
            </a:solidFill>
            <a:ln w="38100" cap="flat">
              <a:solidFill>
                <a:srgbClr val="F669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6693D"/>
              </a:solidFill>
              <a:ln w="9525" cap="flat">
                <a:solidFill>
                  <a:srgbClr val="F669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110</c:v>
                </c:pt>
                <c:pt idx="2">
                  <c:v>118</c:v>
                </c:pt>
                <c:pt idx="3">
                  <c:v>128</c:v>
                </c:pt>
                <c:pt idx="4">
                  <c:v>138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Nasdaq</c:v>
                </c:pt>
              </c:strCache>
            </c:strRef>
          </c:tx>
          <c:spPr>
            <a:solidFill>
              <a:srgbClr val="333333"/>
            </a:solidFill>
            <a:ln w="38100" cap="flat">
              <a:solidFill>
                <a:srgbClr val="33333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33333"/>
              </a:solidFill>
              <a:ln w="9525" cap="flat">
                <a:solidFill>
                  <a:srgbClr val="33333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100</c:v>
                </c:pt>
                <c:pt idx="1">
                  <c:v>98</c:v>
                </c:pt>
                <c:pt idx="2">
                  <c:v>96</c:v>
                </c:pt>
                <c:pt idx="3">
                  <c:v>99</c:v>
                </c:pt>
                <c:pt idx="4">
                  <c:v>104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Software</c:v>
                </c:pt>
              </c:strCache>
            </c:strRef>
          </c:tx>
          <c:spPr>
            <a:solidFill>
              <a:srgbClr val="CC0000"/>
            </a:solidFill>
            <a:ln w="38100" cap="flat">
              <a:solidFill>
                <a:srgbClr val="CC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C0000"/>
              </a:solidFill>
              <a:ln w="9525" cap="flat">
                <a:solidFill>
                  <a:srgbClr val="CC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Jan 1</c:v>
                  </c:pt>
                  <c:pt idx="1">
                    <c:v>Jan 31</c:v>
                  </c:pt>
                  <c:pt idx="2">
                    <c:v>Feb 28</c:v>
                  </c:pt>
                  <c:pt idx="3">
                    <c:v>Mar 31</c:v>
                  </c:pt>
                  <c:pt idx="4">
                    <c:v>Apr 17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100</c:v>
                </c:pt>
                <c:pt idx="1">
                  <c:v>88</c:v>
                </c:pt>
                <c:pt idx="2">
                  <c:v>78</c:v>
                </c:pt>
                <c:pt idx="3">
                  <c:v>76</c:v>
                </c:pt>
                <c:pt idx="4">
                  <c:v>80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999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66666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1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88920"/>
            <a:ext cx="1005840" cy="1280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0632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Markets</a:t>
            </a:r>
            <a:endParaRPr lang="en-US" sz="8800" dirty="0"/>
          </a:p>
        </p:txBody>
      </p:sp>
      <p:sp>
        <p:nvSpPr>
          <p:cNvPr id="4" name="Text 2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 2026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Contents.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737360"/>
            <a:ext cx="109728" cy="585216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73736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8B8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0" y="173736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LANDSCAPE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0" y="173736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– 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59152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395728"/>
            <a:ext cx="109728" cy="585216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2395728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645920" y="2395728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MARKET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7315200" y="2395728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– 11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31520" y="3017520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3054096"/>
            <a:ext cx="109728" cy="5852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054096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645920" y="3054096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SHIFTS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7315200" y="3054096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– 13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31520" y="3675888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7200" y="3712464"/>
            <a:ext cx="109728" cy="58521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712464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645920" y="3712464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RISKS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315200" y="3712464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– 17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334256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4370832"/>
            <a:ext cx="109728" cy="585216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437083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46C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45920" y="4370832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FRONTIER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315200" y="4370832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– 21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31520" y="4992624"/>
            <a:ext cx="795528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57200" y="5029200"/>
            <a:ext cx="109728" cy="585216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029200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645920" y="5029200"/>
            <a:ext cx="5943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TAKEAWAYS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315200" y="5029200"/>
            <a:ext cx="1371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22 slides, read top to bottom.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Why AI matters to markets.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78308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1783080" y="182880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largest capex cycle in history.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783080" y="228600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 5 hyperscalers are pouring roughly $750B into AI infrastructure in 2026 alone — more than the entire US energy buildout at its peak.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10896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1783080" y="315468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touches every layer of the economy.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783080" y="361188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raw silicon and power generation through data centers, models, and the apps on your phone — AI is now the connective tissue of modern business.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4434840"/>
            <a:ext cx="10972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783080" y="4480560"/>
            <a:ext cx="6903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It is repricing everything — in both directions.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37760"/>
            <a:ext cx="690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wave that lifts semis, memory, and power is cracking software seat models, content moats, and legacy services. Winners and losers, inside one theme.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CreditSights / MUFG hyperscaler capex 2026 estimates; Jensen Huang (Sept 2025); Strategy Research.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evolution from chatbots to agents.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that learns from data, reasons through problems, and — increasingly — takes action without human direction.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011680"/>
            <a:ext cx="7863840" cy="0"/>
          </a:xfrm>
          <a:prstGeom prst="line">
            <a:avLst/>
          </a:prstGeom>
          <a:noFill/>
          <a:ln w="317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6528" y="1892808"/>
            <a:ext cx="237744" cy="237744"/>
          </a:xfrm>
          <a:prstGeom prst="ellipse">
            <a:avLst/>
          </a:prstGeom>
          <a:solidFill>
            <a:srgbClr val="66666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629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6293" y="2212848"/>
            <a:ext cx="54864" cy="329184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43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1950s–80s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943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Symbolic AI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43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Hand-coded rules. Expert systems with narrow recall.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487168" y="1892808"/>
            <a:ext cx="237744" cy="237744"/>
          </a:xfrm>
          <a:prstGeom prst="ellipse">
            <a:avLst/>
          </a:prstGeom>
          <a:solidFill>
            <a:srgbClr val="008B8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97693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76933" y="2212848"/>
            <a:ext cx="54864" cy="329184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10494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1990s–2000s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210494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 Learning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10494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learn patterns from data, not rules.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797808" y="1892808"/>
            <a:ext cx="237744" cy="237744"/>
          </a:xfrm>
          <a:prstGeom prst="ellipse">
            <a:avLst/>
          </a:prstGeom>
          <a:solidFill>
            <a:srgbClr val="FFB8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8757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87573" y="2212848"/>
            <a:ext cx="54864" cy="329184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41558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2012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41558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Learning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41558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networks go deep. AlexNet, the first breakthrough.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108448" y="1892808"/>
            <a:ext cx="237744" cy="237744"/>
          </a:xfrm>
          <a:prstGeom prst="ellipse">
            <a:avLst/>
          </a:prstGeom>
          <a:solidFill>
            <a:srgbClr val="F669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9821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598213" y="2212848"/>
            <a:ext cx="54864" cy="329184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2622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2022–24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72622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chatbots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72622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hits 100M users in 2 months. Claude, Gemini follow.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419088" y="1892808"/>
            <a:ext cx="237744" cy="237744"/>
          </a:xfrm>
          <a:prstGeom prst="ellipse">
            <a:avLst/>
          </a:prstGeom>
          <a:solidFill>
            <a:srgbClr val="E8478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908853" y="2212848"/>
            <a:ext cx="1258214" cy="32918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908853" y="2212848"/>
            <a:ext cx="54864" cy="3291840"/>
          </a:xfrm>
          <a:prstGeom prst="rect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3686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2023–24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3686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Reasoning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03686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Multi-step logic, chain-of-thought. o1, DeepSeek R1.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7729728" y="1892808"/>
            <a:ext cx="237744" cy="237744"/>
          </a:xfrm>
          <a:prstGeom prst="ellipse">
            <a:avLst/>
          </a:prstGeom>
          <a:solidFill>
            <a:srgbClr val="CC00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19493" y="2212848"/>
            <a:ext cx="1258214" cy="3291840"/>
          </a:xfrm>
          <a:prstGeom prst="rect">
            <a:avLst/>
          </a:prstGeom>
          <a:solidFill>
            <a:srgbClr val="FFF8F3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219493" y="2212848"/>
            <a:ext cx="54864" cy="32918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47509" y="2331720"/>
            <a:ext cx="107533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2025+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47509" y="2633472"/>
            <a:ext cx="107533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7347509" y="3108960"/>
            <a:ext cx="1075334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uses tools and acts autonomously. Claude Code, agents.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7" name="Text 4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AI stack.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600200"/>
            <a:ext cx="256032" cy="10972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00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743200"/>
            <a:ext cx="256032" cy="10972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743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3886200"/>
            <a:ext cx="256032" cy="109728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86200"/>
            <a:ext cx="1280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5029200"/>
            <a:ext cx="256032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5029200"/>
            <a:ext cx="1280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103120" y="1645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40280" y="173736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68880" y="1645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0" y="1645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Autonomous AI that acts on your behalf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103120" y="2011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40280" y="210312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6888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0" y="2011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built on foundation models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103120" y="2377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0280" y="2468880"/>
            <a:ext cx="137160" cy="13716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68880" y="2377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0" y="2377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intelligence layer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103120" y="2788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0280" y="288036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68880" y="2788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572000" y="2788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Warehouses of compute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103120" y="3154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0280" y="324612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468880" y="3154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572000" y="3154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hidden constraint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03120" y="3520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0280" y="3611880"/>
            <a:ext cx="137160" cy="137160"/>
          </a:xfrm>
          <a:prstGeom prst="ellipse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468880" y="3520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Networking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572000" y="3520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data at terabit speed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103120" y="3931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40280" y="402336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68880" y="3931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4572000" y="3931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chiplets (CoWoS, HBM)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103120" y="4297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240280" y="438912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46888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design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4572000" y="4297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TPUs, ASICs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2103120" y="466344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0280" y="4754880"/>
            <a:ext cx="137160" cy="137160"/>
          </a:xfrm>
          <a:prstGeom prst="ellipse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468880" y="466344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4572000" y="46634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Fabricating at nanometer scale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2103120" y="507492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2240280" y="516636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468880" y="507492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4572000" y="50749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Machines that make machines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2103120" y="5440680"/>
            <a:ext cx="6583680" cy="320040"/>
          </a:xfrm>
          <a:prstGeom prst="rect">
            <a:avLst/>
          </a:prstGeom>
          <a:solidFill>
            <a:srgbClr val="F9F9F9"/>
          </a:solidFill>
          <a:ln w="3810">
            <a:solidFill>
              <a:srgbClr val="E5E5E5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40280" y="5532120"/>
            <a:ext cx="137160" cy="137160"/>
          </a:xfrm>
          <a:prstGeom prst="ellipse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468880" y="5440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materials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4572000" y="544068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Silicon, neon, rare earths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Strategy Research. Ordered top (closest to user) to bottom (closest to atoms).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61" name="Text 59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growth rates are unprecedented.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 — a once-in-a-generation S-curve, compressed into a handful of years.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after first mass-market launch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45720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% of US population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after first $1B year ($B)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13" name="Chart 1" descr=""/>
          <p:cNvGraphicFramePr/>
          <p:nvPr/>
        </p:nvGraphicFramePr>
        <p:xfrm>
          <a:off x="4754880" y="2011680"/>
          <a:ext cx="39319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 10"/>
          <p:cNvSpPr/>
          <p:nvPr/>
        </p:nvSpPr>
        <p:spPr>
          <a:xfrm>
            <a:off x="4754880" y="1920240"/>
            <a:ext cx="3931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($B)</a:t>
            </a:r>
            <a:endParaRPr lang="en-US" sz="800" dirty="0"/>
          </a:p>
        </p:txBody>
      </p:sp>
      <p:sp>
        <p:nvSpPr>
          <p:cNvPr id="15" name="Shape 11"/>
          <p:cNvSpPr/>
          <p:nvPr/>
        </p:nvSpPr>
        <p:spPr>
          <a:xfrm>
            <a:off x="457200" y="5394960"/>
            <a:ext cx="8229600" cy="219456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40080" y="5394960"/>
            <a:ext cx="7863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· Anthropic    </a:t>
            </a:r>
            <a:pPr indent="0" marL="0">
              <a:buNone/>
            </a:pPr>
            <a:r>
              <a:rPr lang="en-US" sz="8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Cloud    </a:t>
            </a:r>
            <a:pPr indent="0" marL="0">
              <a:buNone/>
            </a:pPr>
            <a:r>
              <a:rPr lang="en-US" sz="850" b="1" spc="200" kern="0" dirty="0">
                <a:solidFill>
                  <a:srgbClr val="008B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</a:t>
            </a:r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· Google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457200" y="5650992"/>
            <a:ext cx="8229600" cy="20116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40080" y="565099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adoption and revenue growth for AI far eclipse prior technologies.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Mary Meeker (Bond Capital / KPCB Internet Trends 2019); company filings and consensus estimates. Cloud and Internet trajectories are illustrative. 2026E shown for AI.</a:t>
            </a:r>
            <a:endParaRPr lang="en-US" sz="700" dirty="0"/>
          </a:p>
        </p:txBody>
      </p:sp>
      <p:sp>
        <p:nvSpPr>
          <p:cNvPr id="20" name="Shape 1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2" name="Text 1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Semiconductors, explained.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pass through four making stages before reaching six product markets. AI capex piles into just two categories — but flows through bottlenecks at every stage.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772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92224"/>
            <a:ext cx="128016" cy="128016"/>
          </a:xfrm>
          <a:prstGeom prst="ellipse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 the chip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583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Apple · AMD · Broadcom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23591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2697480" y="1792224"/>
            <a:ext cx="128016" cy="128016"/>
          </a:xfrm>
          <a:prstGeom prst="ellipse">
            <a:avLst/>
          </a:prstGeom>
          <a:solidFill>
            <a:srgbClr val="E8478D"/>
          </a:solidFill>
          <a:ln w="12700">
            <a:solidFill>
              <a:srgbClr val="E8478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8803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974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builds the tools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7157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974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· Applied Materials · Lam · KLA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4165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4754880" y="1792224"/>
            <a:ext cx="128016" cy="128016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377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FOUNDRY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7548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prints the wafer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731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· Samsung · Intel Foundry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473952" y="1897380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6812280" y="1792224"/>
            <a:ext cx="128016" cy="128016"/>
          </a:xfrm>
          <a:prstGeom prst="ellipse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995160" y="170992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12280" y="194767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stacks the dies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30568" y="2148840"/>
            <a:ext cx="16002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12280" y="2167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CoWoS · ASE · Amkor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9436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computation happens — the chips that run code and move data.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9436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GPUs, AI accelerators, ASICs, FPGAs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4008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720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· AMD · Broadcom · TSMC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24612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4612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38328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Stores data so logic can read it at terabit speeds.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338328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DRAM, HBM, NAND — every AI server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342900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4612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 Hynix · Samsung · Micron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035040" y="26060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035040" y="26060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PROCESSORS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29169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General-purpose silicon that runs your operating system.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6172200" y="33924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CPUs in every phone and PC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6217920" y="36484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035040" y="36667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· AMD · Apple · Qualcomm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45720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solidFill>
            <a:srgbClr val="051A3D"/>
          </a:solidFill>
          <a:ln w="12700">
            <a:solidFill>
              <a:srgbClr val="051A3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ANALOG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59436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bridge between silicon and the real world — voltages, signals, RF.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9436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management, radio, audio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4008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720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 · Analog Devices · Infineon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324612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24612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SENSORS + OPTO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38328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chips see, hear, and communicate with photons.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338328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Phone cameras, lidar, fiber optics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342900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4612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Sony · Samsung · STMicro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6035040" y="3977640"/>
            <a:ext cx="2651760" cy="12801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035040" y="397764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+ POWER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6172200" y="428853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Heavy-current switching for machines, grids, and vehicles.</a:t>
            </a:r>
            <a:endParaRPr lang="en-US" sz="950" dirty="0"/>
          </a:p>
        </p:txBody>
      </p:sp>
      <p:sp>
        <p:nvSpPr>
          <p:cNvPr id="70" name="Text 68"/>
          <p:cNvSpPr/>
          <p:nvPr/>
        </p:nvSpPr>
        <p:spPr>
          <a:xfrm>
            <a:off x="6172200" y="4764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EVs, industrial motors, chargers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217920" y="5020056"/>
            <a:ext cx="228600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035040" y="5038344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Infineon · ON Semi · Wolfspeed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457200" y="5285232"/>
            <a:ext cx="8229600" cy="402336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0080" y="5285232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 and memory absorb the AI capex — but every chip flows through ASML tools, TSMC fabs, and advanced packaging, where bottlenecks decide who ships.</a:t>
            </a:r>
            <a:endParaRPr lang="en-US" sz="1150" dirty="0"/>
          </a:p>
        </p:txBody>
      </p:sp>
      <p:sp>
        <p:nvSpPr>
          <p:cNvPr id="75" name="Text 73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SIA category taxonomy; WSTS Fall 2025; SEMI World Fab Forecast; TrendForce; company disclosures. Category descriptions are plain-English simplifications.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78" name="Text 7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Who's buying the chips.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hyperscalers fund roughly 60% of advanced-AI chip demand — sovereigns, enterprise, and edge devices split the rest.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30368" y="173736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73736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40880" y="1737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1284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share of advanced-AI chip demand, 2026E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5720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8521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frontier models and renting compute to everyone else.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21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58521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· Azure · Google · Meta · Oracle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746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53746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66547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National AI programs building sovereign access to frontier compute.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2034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547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6547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UAE G42 · Saudi HUMAIN · UK AIRR · Japan METI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61772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74573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Banks, pharma, and Fortune 500s deploying on-prem for regulated data.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80060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4573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474573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 · Novartis · Walmart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6697980" y="2560320"/>
            <a:ext cx="1988820" cy="2606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97980" y="2560320"/>
            <a:ext cx="19888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+ EDGE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825996" y="2944368"/>
            <a:ext cx="173278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inference moves into phones, PCs, cars, and factory robots.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880860" y="4434840"/>
            <a:ext cx="16230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825996" y="4507992"/>
            <a:ext cx="17327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BUYERS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825996" y="4727448"/>
            <a:ext cx="17327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· Samsung · Tesla · humanoid OEMs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57200" y="525780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080" y="52578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buyers fund most of the AI compute cycle — their capex IS the market.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SemiAnalysis and Omdia estimates of AI accelerator end-demand; TrendForce; hyperscaler 2026 capex guides (AWS, Microsoft, Google, Meta, Oracle); IDC. Shares are directional 2026E estimates.</a:t>
            </a:r>
            <a:endParaRPr lang="en-US" sz="700" dirty="0"/>
          </a:p>
        </p:txBody>
      </p:sp>
      <p:sp>
        <p:nvSpPr>
          <p:cNvPr id="47" name="Shape 4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9" name="Text 4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is the new bottleneck.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hyperscale AI campus now draws as much electricity as a mid-sized city. The grid, not the chip, is starting to set the pace of buildouts.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006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~12%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48006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US electricity demand will go to data centers by 2028 — up from ~4% in 2023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6898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GW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326898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typical new AI campus — the draw of ~750K US homes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57900" y="19202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~5 yr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057900" y="2651760"/>
            <a:ext cx="2606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wait for a new grid interconnection in PJM &amp; ERCOT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Fastest to build, dispatchable. New CCGT contracts up sharply; GE Vernova backlog at record highs.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 Vernova · Siemens Energy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NUCLEAR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9184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42900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Mile Island reopening for Microsoft. SMRs (Oklo, X-Energy) signed to hyperscaler PPAs.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2900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2900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Constellation · Oklo · NuScale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126480" y="347472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RENEWABLES + STORAGE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126480" y="3840480"/>
            <a:ext cx="2697480" cy="14173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263640" y="3931920"/>
            <a:ext cx="2423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+ battery hybrids now the cheapest new capacity. Hyperscalers signing 24/7 PPAs.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63640" y="4919472"/>
            <a:ext cx="2423160" cy="0"/>
          </a:xfrm>
          <a:prstGeom prst="line">
            <a:avLst/>
          </a:prstGeom>
          <a:noFill/>
          <a:ln w="6350">
            <a:solidFill>
              <a:srgbClr val="E5E5E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63640" y="4983480"/>
            <a:ext cx="2423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NextEra · AES · Fluence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GPUs are useless without electrons. Power names are trading like semis.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EPRI (US data-center load forecast, 2024); DOE; Lawrence Berkeley National Lab; Microsoft / Constellation TMI announcement (Sep 2024); PJM, ERCOT interconnection queues.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labs.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private labs, one public giant, and xAI — now inside SpaceX after February's $1.25T all-stock merger.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8" name="Image 0" descr="logos/opena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19656"/>
            <a:ext cx="502920" cy="5029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25880" y="1691640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0" y="1691640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$852B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1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691640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~35× ARR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760720" y="1691640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$122B round · AMZN / NVDA / SoftBank · Apr 2026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57200" y="2496312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14" name="Image 1" descr="logos/anthropic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40080" y="2624328"/>
            <a:ext cx="502920" cy="50292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325880" y="2496312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3200400" y="2496312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$380B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2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4480560" y="2496312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~13× ARR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5760720" y="2496312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$30B Series G (Feb); VCs now offering $800B+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457200" y="3300984"/>
            <a:ext cx="8229600" cy="758952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0" name="Image 2" descr="logos/goog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25880" y="3300984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</a:t>
            </a:r>
            <a:endParaRPr lang="en-US" sz="1500" dirty="0"/>
          </a:p>
        </p:txBody>
      </p:sp>
      <p:sp>
        <p:nvSpPr>
          <p:cNvPr id="22" name="Text 17"/>
          <p:cNvSpPr/>
          <p:nvPr/>
        </p:nvSpPr>
        <p:spPr>
          <a:xfrm>
            <a:off x="3200400" y="3300984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$2.3T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3</a:t>
            </a:r>
            <a:endParaRPr lang="en-US" sz="2000" dirty="0"/>
          </a:p>
        </p:txBody>
      </p:sp>
      <p:sp>
        <p:nvSpPr>
          <p:cNvPr id="23" name="Text 18"/>
          <p:cNvSpPr/>
          <p:nvPr/>
        </p:nvSpPr>
        <p:spPr>
          <a:xfrm>
            <a:off x="4480560" y="3300984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~20× P/E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760720" y="3300984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(public) · Gemini 3 / DeepMind · ~$85B 2026 capex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57200" y="4105656"/>
            <a:ext cx="8229600" cy="758952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pic>
        <p:nvPicPr>
          <p:cNvPr id="26" name="Image 3" descr="logos/xa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40080" y="4233672"/>
            <a:ext cx="502920" cy="50292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325880" y="4105656"/>
            <a:ext cx="182880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3200400" y="4105656"/>
            <a:ext cx="128016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$1.25T</a:t>
            </a:r>
            <a:pPr algn="ctr" indent="0" marL="0">
              <a:buNone/>
            </a:pPr>
            <a:r>
              <a:rPr lang="en-US" sz="1000" b="1" baseline="30000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4</a:t>
            </a:r>
            <a:endParaRPr lang="en-US" sz="2000" dirty="0"/>
          </a:p>
        </p:txBody>
      </p:sp>
      <p:sp>
        <p:nvSpPr>
          <p:cNvPr id="29" name="Text 23"/>
          <p:cNvSpPr/>
          <p:nvPr/>
        </p:nvSpPr>
        <p:spPr>
          <a:xfrm>
            <a:off x="4480560" y="4105656"/>
            <a:ext cx="1188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5760720" y="4105656"/>
            <a:ext cx="283464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All-stock merger closed Feb 2, 2026 — xAI now a SpaceX subsidiary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457200" y="5166360"/>
            <a:ext cx="8229600" cy="50292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2" name="Text 26"/>
          <p:cNvSpPr/>
          <p:nvPr/>
        </p:nvSpPr>
        <p:spPr>
          <a:xfrm>
            <a:off x="640080" y="51663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to foundational AI startups was 2× all of 2025.</a:t>
            </a:r>
            <a:pPr indent="0" marL="0">
              <a:buNone/>
            </a:pPr>
            <a:r>
              <a:rPr lang="en-US" sz="8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400" dirty="0"/>
          </a:p>
        </p:txBody>
      </p:sp>
      <p:sp>
        <p:nvSpPr>
          <p:cNvPr id="33" name="Text 27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CNBC — OpenAI $122B round, Apr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Sacra / Bloomberg — Anthropic Series G, Feb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+ 2026 capex guide,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 / CNBC — xAI-SpaceX merger, Feb 2,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data.</a:t>
            </a:r>
            <a:endParaRPr lang="en-US" sz="700" dirty="0"/>
          </a:p>
        </p:txBody>
      </p:sp>
      <p:sp>
        <p:nvSpPr>
          <p:cNvPr id="34" name="Shape 28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5" name="Text 29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36" name="Text 30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Earnings &amp; valuations.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firms are growing 4× faster than the top 10 Non-Tech — at a lower multiple. The divergence in fundamentals has not been priced into valuations.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Top 10 Non-Tech — 2026E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3504" y="3401568"/>
            <a:ext cx="512064" cy="804672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3504" y="3127248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22%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170432" y="4023360"/>
            <a:ext cx="51206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70432" y="374904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5%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521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Growth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883664" y="2706624"/>
            <a:ext cx="512064" cy="1499616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83664" y="2432304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41%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450592" y="3474720"/>
            <a:ext cx="512064" cy="731520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50592" y="3200400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20%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86537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82880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Margin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63824" y="3004457"/>
            <a:ext cx="512064" cy="1201783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163824" y="2730137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23x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730752" y="2795451"/>
            <a:ext cx="512064" cy="1410789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30752" y="2521131"/>
            <a:ext cx="51206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6666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27x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145536" y="4206240"/>
            <a:ext cx="1115568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08960" y="431596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P/E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14400" y="5074920"/>
            <a:ext cx="164592" cy="10972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15568" y="5038344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2468880" y="5074920"/>
            <a:ext cx="164592" cy="109728"/>
          </a:xfrm>
          <a:prstGeom prst="rect">
            <a:avLst/>
          </a:prstGeom>
          <a:solidFill>
            <a:srgbClr val="666666"/>
          </a:solidFill>
          <a:ln w="12700">
            <a:solidFill>
              <a:srgbClr val="6666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70048" y="5038344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Non-Tech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754880" y="15544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US — P/E vs revenue growth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4754880" y="182880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54880" y="2011680"/>
            <a:ext cx="393192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4920" y="4151376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74920" y="3639312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74920" y="3127248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074920" y="2615184"/>
            <a:ext cx="3520440" cy="0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74920" y="4663440"/>
            <a:ext cx="3520440" cy="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074920" y="2103120"/>
            <a:ext cx="0" cy="2560320"/>
          </a:xfrm>
          <a:prstGeom prst="line">
            <a:avLst/>
          </a:prstGeom>
          <a:noFill/>
          <a:ln w="9525">
            <a:solidFill>
              <a:srgbClr val="6666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8737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-5%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51937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583387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+10%</a:t>
            </a:r>
            <a:endParaRPr lang="en-US" sz="700" dirty="0"/>
          </a:p>
        </p:txBody>
      </p:sp>
      <p:sp>
        <p:nvSpPr>
          <p:cNvPr id="44" name="Text 42"/>
          <p:cNvSpPr/>
          <p:nvPr/>
        </p:nvSpPr>
        <p:spPr>
          <a:xfrm>
            <a:off x="647395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+20%</a:t>
            </a:r>
            <a:endParaRPr lang="en-US" sz="700" dirty="0"/>
          </a:p>
        </p:txBody>
      </p:sp>
      <p:sp>
        <p:nvSpPr>
          <p:cNvPr id="45" name="Text 43"/>
          <p:cNvSpPr/>
          <p:nvPr/>
        </p:nvSpPr>
        <p:spPr>
          <a:xfrm>
            <a:off x="711403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endParaRPr lang="en-US" sz="700" dirty="0"/>
          </a:p>
        </p:txBody>
      </p:sp>
      <p:sp>
        <p:nvSpPr>
          <p:cNvPr id="46" name="Text 44"/>
          <p:cNvSpPr/>
          <p:nvPr/>
        </p:nvSpPr>
        <p:spPr>
          <a:xfrm>
            <a:off x="775411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+40%</a:t>
            </a:r>
            <a:endParaRPr lang="en-US" sz="700" dirty="0"/>
          </a:p>
        </p:txBody>
      </p:sp>
      <p:sp>
        <p:nvSpPr>
          <p:cNvPr id="47" name="Text 45"/>
          <p:cNvSpPr/>
          <p:nvPr/>
        </p:nvSpPr>
        <p:spPr>
          <a:xfrm>
            <a:off x="8394192" y="4690872"/>
            <a:ext cx="4023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+50%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4727448" y="459943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0×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4727448" y="4087368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10×</a:t>
            </a:r>
            <a:endParaRPr lang="en-US" sz="700" dirty="0"/>
          </a:p>
        </p:txBody>
      </p:sp>
      <p:sp>
        <p:nvSpPr>
          <p:cNvPr id="50" name="Text 48"/>
          <p:cNvSpPr/>
          <p:nvPr/>
        </p:nvSpPr>
        <p:spPr>
          <a:xfrm>
            <a:off x="4727448" y="3575304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20×</a:t>
            </a:r>
            <a:endParaRPr lang="en-US" sz="700" dirty="0"/>
          </a:p>
        </p:txBody>
      </p:sp>
      <p:sp>
        <p:nvSpPr>
          <p:cNvPr id="51" name="Text 49"/>
          <p:cNvSpPr/>
          <p:nvPr/>
        </p:nvSpPr>
        <p:spPr>
          <a:xfrm>
            <a:off x="4727448" y="3063240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30×</a:t>
            </a:r>
            <a:endParaRPr lang="en-US" sz="700" dirty="0"/>
          </a:p>
        </p:txBody>
      </p:sp>
      <p:sp>
        <p:nvSpPr>
          <p:cNvPr id="52" name="Text 50"/>
          <p:cNvSpPr/>
          <p:nvPr/>
        </p:nvSpPr>
        <p:spPr>
          <a:xfrm>
            <a:off x="4727448" y="2551176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40×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4727448" y="2039112"/>
            <a:ext cx="30175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50×</a:t>
            </a:r>
            <a:endParaRPr lang="en-US" sz="700" dirty="0"/>
          </a:p>
        </p:txBody>
      </p:sp>
      <p:sp>
        <p:nvSpPr>
          <p:cNvPr id="54" name="Text 52"/>
          <p:cNvSpPr/>
          <p:nvPr/>
        </p:nvSpPr>
        <p:spPr>
          <a:xfrm>
            <a:off x="5074920" y="4791456"/>
            <a:ext cx="3520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revenue growth, 2026E → 2027E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4754880" y="1801368"/>
            <a:ext cx="3931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P/E (2026E)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8535924" y="337505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8130" y="313438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5780211" y="299100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329081" y="3293120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090850" y="296027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35924" y="2724729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515279" y="3467222"/>
            <a:ext cx="118872" cy="118872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71844" y="204368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5721547" y="2340681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544246" y="3497946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5625007" y="387175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338059" y="3252155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5131785" y="3641324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892115" y="3390412"/>
            <a:ext cx="118872" cy="118872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936992" y="3370478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</a:t>
            </a:r>
            <a:endParaRPr lang="en-US" sz="700" dirty="0"/>
          </a:p>
        </p:txBody>
      </p:sp>
      <p:sp>
        <p:nvSpPr>
          <p:cNvPr id="71" name="Text 69"/>
          <p:cNvSpPr/>
          <p:nvPr/>
        </p:nvSpPr>
        <p:spPr>
          <a:xfrm>
            <a:off x="6440718" y="305665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5455599" y="298643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</a:t>
            </a:r>
            <a:endParaRPr lang="en-US" sz="700" dirty="0"/>
          </a:p>
        </p:txBody>
      </p:sp>
      <p:sp>
        <p:nvSpPr>
          <p:cNvPr id="73" name="Text 71"/>
          <p:cNvSpPr/>
          <p:nvPr/>
        </p:nvSpPr>
        <p:spPr>
          <a:xfrm>
            <a:off x="6461669" y="340742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6223438" y="295570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</a:t>
            </a:r>
            <a:endParaRPr lang="en-US" sz="700" dirty="0"/>
          </a:p>
        </p:txBody>
      </p:sp>
      <p:sp>
        <p:nvSpPr>
          <p:cNvPr id="75" name="Text 73"/>
          <p:cNvSpPr/>
          <p:nvPr/>
        </p:nvSpPr>
        <p:spPr>
          <a:xfrm>
            <a:off x="7845552" y="2720157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Broadcom</a:t>
            </a:r>
            <a:endParaRPr lang="en-US" sz="700" dirty="0"/>
          </a:p>
        </p:txBody>
      </p:sp>
      <p:sp>
        <p:nvSpPr>
          <p:cNvPr id="76" name="Text 74"/>
          <p:cNvSpPr/>
          <p:nvPr/>
        </p:nvSpPr>
        <p:spPr>
          <a:xfrm>
            <a:off x="6208955" y="346265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</a:t>
            </a:r>
            <a:endParaRPr lang="en-US" sz="700" dirty="0"/>
          </a:p>
        </p:txBody>
      </p:sp>
      <p:sp>
        <p:nvSpPr>
          <p:cNvPr id="77" name="Text 75"/>
          <p:cNvSpPr/>
          <p:nvPr/>
        </p:nvSpPr>
        <p:spPr>
          <a:xfrm>
            <a:off x="6504432" y="213969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</a:t>
            </a:r>
            <a:endParaRPr lang="en-US" sz="700" dirty="0"/>
          </a:p>
        </p:txBody>
      </p:sp>
      <p:sp>
        <p:nvSpPr>
          <p:cNvPr id="78" name="Text 76"/>
          <p:cNvSpPr/>
          <p:nvPr/>
        </p:nvSpPr>
        <p:spPr>
          <a:xfrm>
            <a:off x="5854135" y="245498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Walmart</a:t>
            </a:r>
            <a:endParaRPr lang="en-US" sz="700" dirty="0"/>
          </a:p>
        </p:txBody>
      </p:sp>
      <p:sp>
        <p:nvSpPr>
          <p:cNvPr id="79" name="Text 77"/>
          <p:cNvSpPr/>
          <p:nvPr/>
        </p:nvSpPr>
        <p:spPr>
          <a:xfrm>
            <a:off x="5676834" y="3612246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Berkshire</a:t>
            </a:r>
            <a:endParaRPr lang="en-US" sz="700" dirty="0"/>
          </a:p>
        </p:txBody>
      </p:sp>
      <p:sp>
        <p:nvSpPr>
          <p:cNvPr id="80" name="Text 78"/>
          <p:cNvSpPr/>
          <p:nvPr/>
        </p:nvSpPr>
        <p:spPr>
          <a:xfrm>
            <a:off x="5757595" y="3867180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JPMorgan</a:t>
            </a:r>
            <a:endParaRPr lang="en-US" sz="700" dirty="0"/>
          </a:p>
        </p:txBody>
      </p:sp>
      <p:sp>
        <p:nvSpPr>
          <p:cNvPr id="81" name="Text 79"/>
          <p:cNvSpPr/>
          <p:nvPr/>
        </p:nvSpPr>
        <p:spPr>
          <a:xfrm>
            <a:off x="5922007" y="3357311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Lilly</a:t>
            </a:r>
            <a:endParaRPr lang="en-US" sz="700" dirty="0"/>
          </a:p>
        </p:txBody>
      </p:sp>
      <p:sp>
        <p:nvSpPr>
          <p:cNvPr id="82" name="Text 80"/>
          <p:cNvSpPr/>
          <p:nvPr/>
        </p:nvSpPr>
        <p:spPr>
          <a:xfrm>
            <a:off x="4825461" y="363675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Exxon</a:t>
            </a:r>
            <a:endParaRPr lang="en-US" sz="700" dirty="0"/>
          </a:p>
        </p:txBody>
      </p:sp>
      <p:sp>
        <p:nvSpPr>
          <p:cNvPr id="83" name="Text 81"/>
          <p:cNvSpPr/>
          <p:nvPr/>
        </p:nvSpPr>
        <p:spPr>
          <a:xfrm>
            <a:off x="6024703" y="3504712"/>
            <a:ext cx="8229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Visa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7818120" y="2157984"/>
            <a:ext cx="91440" cy="91440"/>
          </a:xfrm>
          <a:prstGeom prst="ellipse">
            <a:avLst/>
          </a:prstGeom>
          <a:solidFill>
            <a:srgbClr val="F6693D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936992" y="2130552"/>
            <a:ext cx="5486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7818120" y="2322576"/>
            <a:ext cx="91440" cy="91440"/>
          </a:xfrm>
          <a:prstGeom prst="ellipse">
            <a:avLst/>
          </a:prstGeom>
          <a:solidFill>
            <a:srgbClr val="333333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7936992" y="2295144"/>
            <a:ext cx="777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Non-Tech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457200" y="5394960"/>
            <a:ext cx="8229600" cy="4114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40080" y="539496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median: ~26× fwd P/E on ~17% forward revenue growth. Non-Tech: ~23× on ~5%. The divergence is in the engine, not the multiple.</a:t>
            </a:r>
            <a:endParaRPr lang="en-US" sz="1100" dirty="0"/>
          </a:p>
        </p:txBody>
      </p:sp>
      <p:sp>
        <p:nvSpPr>
          <p:cNvPr id="90" name="Text 88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stockanalysis.com analyst consensus (AAPL/MSFT/GOOGL/AMZN/NVDA/META/AVGO/TSLA/LLY/JPM/V/XOM/BRK.B/WMT, as of Apr 22, 2026); companiesmarketcap.com (mkt caps, Apr 22, 2026). NVDA, AVGO clipped at +50% growth; TSLA at 50× fwd P/E.</a:t>
            </a:r>
            <a:endParaRPr lang="en-US" sz="700" dirty="0"/>
          </a:p>
        </p:txBody>
      </p:sp>
      <p:sp>
        <p:nvSpPr>
          <p:cNvPr id="91" name="Shape 89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93" name="Text 91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What is agentic AI?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set goals, use tools, and complete tasks end-to-end. Each session uses 10–100× the compute of a chatbot query.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29718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Screenshot — dark-mode IDE, AI agent editing Python code live, glowing orange cursor, 'Claude is editing' pill, streaming test output in a terminal pane, square framing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11880" y="1691640"/>
          <a:ext cx="507492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1874520"/>
                <a:gridCol w="1874520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Chatbot (2023–24)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(2025+)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Interaction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You ask, it answers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F669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Sets goals, executes autonomously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Tokens per session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1K – 5K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50K – 500K+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Compute per user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– 100×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None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Code, APIs, browsers, databases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5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457200" y="5349240"/>
            <a:ext cx="8229600" cy="45720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0080" y="53492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10–100× compute step-up per session is what every AI capex forecast is pricing in.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Anthropic, OpenAI, GitHub Trending; Morgan Stanley CIO Survey; Strategy Research.</a:t>
            </a:r>
            <a:endParaRPr lang="en-US" sz="700" dirty="0"/>
          </a:p>
        </p:txBody>
      </p:sp>
      <p:sp>
        <p:nvSpPr>
          <p:cNvPr id="13" name="Shape 1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5" name="Text 1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divergence.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Semis are up, software is down — a wide spread inside one theme. The sell-off is starting to bleed into private credit and PE-held SaaS.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173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 return, rebased to 100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3931920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9" name="Chart 0" descr=""/>
          <p:cNvGraphicFramePr/>
          <p:nvPr/>
        </p:nvGraphicFramePr>
        <p:xfrm>
          <a:off x="457200" y="1783080"/>
          <a:ext cx="393192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4754880" y="178308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754880" y="1783080"/>
            <a:ext cx="3931920" cy="54864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937760" y="187452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SEMIS ARE UP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937760" y="20574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out, with demand still building.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937760" y="2468880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937760" y="24688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⚙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303520" y="244144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sold out through 2026; hyperscalers are locking in every GB of memory they can secure.</a:t>
            </a:r>
            <a:pPr algn="l" indent="0" marL="0">
              <a:buNone/>
            </a:pPr>
            <a:r>
              <a:rPr lang="en-US" sz="700" baseline="30000" dirty="0">
                <a:solidFill>
                  <a:srgbClr val="F66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37760" y="2798064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37760" y="2798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⚡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5303520" y="27706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Data-center power demand keeps pulling forward; each new model generation wants more silicon.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4937760" y="3127248"/>
            <a:ext cx="274320" cy="274320"/>
          </a:xfrm>
          <a:prstGeom prst="ellipse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937760" y="31272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↑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303520" y="309981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ASPs and margins are expanding across memory and advanced-node logic.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754880" y="3520440"/>
            <a:ext cx="393192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754880" y="3520440"/>
            <a:ext cx="3931920" cy="54864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937760" y="3611880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SOFTWARE IS DOWN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937760" y="379476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Per-seat pricing is under attack.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4937760" y="4206240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937760" y="42062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◉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303520" y="417880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threatens per-seat pricing; 2026 CIO surveys flag displacement risk on horizontal SaaS.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4937760" y="4535424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37760" y="4535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✕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303520" y="450799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SaaS multiples re-rated lower as buyers underwrite slower seat growth and pricing pressure.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4937760" y="4864608"/>
            <a:ext cx="274320" cy="27432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37760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↓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5303520" y="483717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Renewals slowing and deal cycles stretching as customers wait for vendor AI roadmaps to settle.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theme, two outcomes — and software's pain is now bleeding into private equity and private credit, both anchored in SaaS.</a:t>
            </a:r>
            <a:endParaRPr lang="en-US" sz="950" dirty="0"/>
          </a:p>
        </p:txBody>
      </p:sp>
      <p:sp>
        <p:nvSpPr>
          <p:cNvPr id="37" name="Text 34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via Data Center Dynamics,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multiples.vc public software multiples, Apr 2026.</a:t>
            </a:r>
            <a:endParaRPr lang="en-US" sz="700" dirty="0"/>
          </a:p>
        </p:txBody>
      </p:sp>
      <p:sp>
        <p:nvSpPr>
          <p:cNvPr id="38" name="Shape 3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The bubble question.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tests. Same questions investors asked about Cisco and the dotcoms. Different answers today.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373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11880" y="17373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DOTCOM 2000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solidFill>
            <a:srgbClr val="00A854"/>
          </a:solidFill>
          <a:ln w="12700">
            <a:solidFill>
              <a:srgbClr val="00A8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AI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94360" y="2249424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494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51560" y="210312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PER DOLLAR OF EARNINGS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11880" y="2103120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131×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Cisco fwd P/E, Mar 2000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126480" y="2103120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~24×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NVIDIA fwd P/E, Apr 17, 2026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2761488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907792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" y="2907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%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2761488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 PROFITABILITY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611880" y="2761488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14%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of tech IPOs were profitable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126480" y="2761488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Mag 7 avg net margin (2× S&amp;P)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94360" y="3566160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436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⇅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3419856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VS. DEMAND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11880" y="3419856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Oversupply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$500B dark fiber unused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126480" y="3419856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Sold out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GPU 2nd market 90–95% of list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57200" y="4078224"/>
            <a:ext cx="8229600" cy="65836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4224528"/>
            <a:ext cx="365760" cy="36576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4360" y="4224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◨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51560" y="40782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BUYER BALANCE SHEETS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611880" y="4078224"/>
            <a:ext cx="246888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20+</a:t>
            </a:r>
            <a:pPr indent="0" marL="0">
              <a:buNone/>
            </a:pPr>
            <a:r>
              <a:rPr lang="en-US" sz="9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major telcos went bankrupt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126480" y="4078224"/>
            <a:ext cx="2560320" cy="658368"/>
          </a:xfrm>
          <a:prstGeom prst="rect">
            <a:avLst/>
          </a:prstGeom>
          <a:noFill/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~48%</a:t>
            </a:r>
            <a:pPr indent="0" marL="0">
              <a:buNone/>
            </a:pPr>
            <a:r>
              <a:rPr lang="en-US" sz="900" baseline="30000" dirty="0">
                <a:solidFill>
                  <a:srgbClr val="00A85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hyperscaler net debt/EBITDA (vs ~80% S&amp;P)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457200" y="5074920"/>
            <a:ext cx="8229600" cy="365760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50749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happen. Bubbles require stretched valuations AND supply exceeding demand. </a:t>
            </a:r>
            <a:pPr indent="0" marL="0">
              <a:buNone/>
            </a:pPr>
            <a:r>
              <a:rPr lang="en-US" sz="115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Neither condition holds today.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 retrospective,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 (Apr 17, 2026),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Univ. of Florida IPO data,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/ company filings, 2025 TTM,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/ industry retrospectives,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/ 2nd-market trackers,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filings / press retrospectives, 2001–02,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Bloomberg, 2025 YE.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40" name="Text 38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Four single points of failure.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of the four sit in Asia, and all four are single-sourced. US reshoring is real — but most leading-edge capacity doesn't ship until 2027+.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NETHERLANDS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▲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45720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EUV Litho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firm in the world building EUV scanners — new machines ship in dozens per year, not hundreds.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6888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46888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6888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▦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246888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Leading Logic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7860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Virtually every advanced-node chip runs through TSMC fabs in Hsinchu and Tainan — no real volume alternative exists.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48056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48056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8056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☰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448056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HBM Memory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98348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028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Korean firms supply nearly all the high-bandwidth memory AI accelerators depend on — both booked through 2026.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492240" y="1783080"/>
            <a:ext cx="1920240" cy="27432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92240" y="17830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TAIWAN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492240" y="2057400"/>
            <a:ext cx="192024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210312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◫</a:t>
            </a:r>
            <a:endParaRPr lang="en-US" sz="3600" dirty="0"/>
          </a:p>
        </p:txBody>
      </p:sp>
      <p:sp>
        <p:nvSpPr>
          <p:cNvPr id="32" name="Text 30"/>
          <p:cNvSpPr/>
          <p:nvPr/>
        </p:nvSpPr>
        <p:spPr>
          <a:xfrm>
            <a:off x="6492240" y="258775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Advanced Packaging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995160" y="2907792"/>
            <a:ext cx="9144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01968" y="2999232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TSMC's CoWoS step fuses the GPU die to its HBM stack — the only volume supplier, sold out through 2026.</a:t>
            </a:r>
            <a:pPr algn="l" indent="0" marL="0">
              <a:buNone/>
            </a:pPr>
            <a:r>
              <a:rPr lang="en-US" sz="700" baseline="30000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57200" y="39319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— WHEN LEADING-EDGE CAPACITY COMES ONLINE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0080" y="4572000"/>
            <a:ext cx="7863840" cy="0"/>
          </a:xfrm>
          <a:prstGeom prst="line">
            <a:avLst/>
          </a:prstGeom>
          <a:noFill/>
          <a:ln w="1905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6692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720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AZ Fab 1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5760" y="4709160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53288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82880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Samsung Taylor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224028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9884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79476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AZ Fab 2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20624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2027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46480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760720" y="42062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 Ohio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7220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430768" y="4498848"/>
            <a:ext cx="146304" cy="146304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406640" y="42062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Micron Clay NY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7955280" y="470916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2030+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457200" y="5349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link is single-sourced — and there is no spare capacity in the chain to absorb a shock at any one of them.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/ Counterpoint,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 HBM tracker; SK Hynix Q1 2026 commentary,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Q4 2025 earnings commentary.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56" name="Text 5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Policy &amp; regulation.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controls, EU compliance, and reshoring subsidies now decide who can sell what, to whom, from where.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CONTROLS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CC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▣</a:t>
            </a:r>
            <a:endParaRPr lang="en-US" sz="4800" dirty="0"/>
          </a:p>
        </p:txBody>
      </p:sp>
      <p:sp>
        <p:nvSpPr>
          <p:cNvPr id="11" name="Shape 9"/>
          <p:cNvSpPr/>
          <p:nvPr/>
        </p:nvSpPr>
        <p:spPr>
          <a:xfrm>
            <a:off x="822960" y="3291840"/>
            <a:ext cx="1828800" cy="0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 / H200 / Blackwell banned from China.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H20 reinstated with a 15% Treasury fee.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$5.5B NVIDIA H20 writedown.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banned; China ~20% of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REGULATION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29184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29184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669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§</a:t>
            </a:r>
            <a:endParaRPr lang="en-US" sz="4800" dirty="0"/>
          </a:p>
        </p:txBody>
      </p:sp>
      <p:sp>
        <p:nvSpPr>
          <p:cNvPr id="17" name="Shape 15"/>
          <p:cNvSpPr/>
          <p:nvPr/>
        </p:nvSpPr>
        <p:spPr>
          <a:xfrm>
            <a:off x="3657600" y="3291840"/>
            <a:ext cx="1828800" cy="0"/>
          </a:xfrm>
          <a:prstGeom prst="line">
            <a:avLst/>
          </a:prstGeom>
          <a:noFill/>
          <a:ln w="19050">
            <a:solidFill>
              <a:srgbClr val="F669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7472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enforcement: Aug 2, 2026.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5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Fines up to €35M or 7% of global revenue.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6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compliance: $8–15M per system.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7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36% of enterprises feel prepared.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178308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 &amp; RESHORING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26480" y="2194560"/>
            <a:ext cx="2560320" cy="3474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26480" y="23317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8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⚒</a:t>
            </a:r>
            <a:endParaRPr lang="en-US" sz="4800" dirty="0"/>
          </a:p>
        </p:txBody>
      </p:sp>
      <p:sp>
        <p:nvSpPr>
          <p:cNvPr id="23" name="Shape 21"/>
          <p:cNvSpPr/>
          <p:nvPr/>
        </p:nvSpPr>
        <p:spPr>
          <a:xfrm>
            <a:off x="6492240" y="3291840"/>
            <a:ext cx="1828800" cy="0"/>
          </a:xfrm>
          <a:prstGeom prst="line">
            <a:avLst/>
          </a:prstGeom>
          <a:noFill/>
          <a:ln w="19050">
            <a:solidFill>
              <a:srgbClr val="FFB8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09360" y="3429000"/>
            <a:ext cx="224028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CHIPS Act: ~$36B committed of $52.7B.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controls ~90% of rare-earth processing.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Gallium / germanium controls since Jul 2023.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11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SMIC 5nm yield ~20% vs &gt;70% threshold.</a:t>
            </a:r>
            <a:pPr indent="0" marL="0">
              <a:spcAft>
                <a:spcPts val="500"/>
              </a:spcAft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BIS export rules, 2023–25,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Treasury / NVIDIA, Jul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10-Q, FY26 Q1,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2025 annual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(5)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(6)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Act, Article 99,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(7)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Commission / law firm analyses,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(8)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Gartner enterprise AI readiness, 2026,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(9)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CHIPS Office, Nov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IEA / USGS rare-earth reports, 2025,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China MOFCOM, Jul 2023,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TechInsights / trade press, 2025–26.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backlash.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revolt, anti-AI sentiment, and a labor shortage are each capable of pricing the infrastructure bet lower.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200400" cy="320040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30175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Photojournalism — 'STOP THE AI RACE' hand-lettered protest signs at a dusk rally, shoulder-height crowd POV, warm golden-hour sky, faces in shadow, signs in sharp focus, square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86200" y="1783080"/>
            <a:ext cx="4800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forces now price the AI infrastructure bet lower: communities blocking the builds, voters souring on the technology, and a shortage of the skilled workers who wire it all up.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886200" y="2514600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86200" y="2514600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NIMBY REVOLT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023360" y="2880360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$18B halted, $46B delayed. 142 activist groups across 24 states — Virginia leads with 42 chapters.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886200" y="3456432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200" y="3456432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ANTI-AI SENTIMENT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023360" y="3822192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26%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Americans view AI positively. March 2026 "Stop the AI Race" protests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hit lab HQs in SF and DC.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86200" y="4398264"/>
            <a:ext cx="4800600" cy="86868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86200" y="4398264"/>
            <a:ext cx="4800600" cy="292608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LABOR SHORTAGE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023360" y="4764024"/>
            <a:ext cx="4526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~480K data-center workforce gap against 400+ sites under construction.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Talent, not capital, is binding.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5394960"/>
            <a:ext cx="8229600" cy="36576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539496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permitting layer is the new supply-chain layer — and it is politically, not technically, constrained.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Watch, 2026 NIMBY tracker,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Insights, Mar 2026 AI sentiment poll,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Fortune / TIME / CNN / NBC News — Stop the AI Race coverage,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(4)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 — workforce gap analysis.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Beyond the grid.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interconnection queue. No permits. No water. 1,361 W/m²</a:t>
            </a:r>
            <a:pPr indent="0" marL="0">
              <a:buNone/>
            </a:pPr>
            <a:r>
              <a:rPr lang="en-US" sz="700" baseline="30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unfiltered solar, 24/7. Orbital compute sidesteps Earth's bottlenecks.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349240" y="1463040"/>
            <a:ext cx="3337560" cy="347472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40680" y="1463040"/>
            <a:ext cx="31546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modular orbital data-center satellite with 50-meter solar wings catching a violet tint, above Earth's dawn limb with atmospheric glow, deep indigo space, hyperrealistic Octane quality, slightly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6304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GRID QUEUE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78308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182880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Earth's interconnection backlogs, zoning battles, and cooling constraints don't exist in orbit.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65176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SOLAR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97180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01752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1,361 W/m² of unfiltered sunlight, 24/7 — no intermittency, no capacity-factor limits.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840480"/>
            <a:ext cx="4709160" cy="320040"/>
          </a:xfrm>
          <a:prstGeom prst="rect">
            <a:avLst/>
          </a:prstGeom>
          <a:noFill/>
          <a:ln/>
        </p:spPr>
        <p:txBody>
          <a:bodyPr wrap="square" lIns="3810" tIns="3810" rIns="3810" bIns="381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BORDERS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4160520"/>
            <a:ext cx="4709160" cy="7315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206240"/>
            <a:ext cx="4343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Sidesteps data-localization laws, export controls, and the jurisdictional patchwork.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Starcloud · SpaceX · Google Suncatcher · Aetherflux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NASA solar constant, 1,361 W/m² at 1 AU,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 announcements; CNBC.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Physical AI.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enter manufacturing, logistics, and healthcare at pilot scale. Every robot is a walking inference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1463040"/>
            <a:ext cx="6400800" cy="201168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1463040" y="1463040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Panoramic photo — humanoid robot mid-stride on a factory floor, matte-white body with violet joint accents, motion blur on limbs, amber work-lights, a blurred human worker in a safety vest in the background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Manufacturing, logistics, warehousing, agriculture, healthcare — pilots are underway.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TIRELESS COWORKERS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9184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42900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Humanoids take hazardous and ergonomically punishing tasks. Humans keep judgment.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365760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AT THE EDGE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26480" y="3977640"/>
            <a:ext cx="2697480" cy="118872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4069080"/>
            <a:ext cx="2423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robot runs foundation models in real time. At scale, rivals LLM compute.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5349240"/>
            <a:ext cx="8229600" cy="36576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492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 Optimus · Figure · Boston Dynamics · Unitree · Agility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— humanoid robotics market outlook,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robotics compute keynotes,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 AI, Hyundai/Boston Dynamics, Unitree, Agility — company announcements.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Autonomous mobility.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miles → better models → more deployments. Every vehicle is a rolling inference machine consuming frontier-scale compute.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463040"/>
            <a:ext cx="2560320" cy="3794760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463040"/>
            <a:ext cx="237744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Long-exposure photo — white minivan robotaxi with a violet-glowing roof lidar on a rainy dusk city street, red and white traffic light trails, wet asphalt reflecting neon storefronts, tall portrait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00400" y="146304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SAFETY CASE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0" y="178308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37560" y="182880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drivers cause ~1.35M deaths a year.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Autonomous systems don't tire or lose focus.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00400" y="274320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FLYWHEEL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200400" y="306324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37560" y="310896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mile generates training data. Better models unlock more cities. Flywheel self-reinforces.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00400" y="4023360"/>
            <a:ext cx="5486400" cy="320040"/>
          </a:xfrm>
          <a:prstGeom prst="rect">
            <a:avLst/>
          </a:prstGeom>
          <a:noFill/>
          <a:ln/>
        </p:spPr>
        <p:txBody>
          <a:bodyPr wrap="square" lIns="1905" tIns="1905" rIns="1905" bIns="1905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INFERENCE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200400" y="4343400"/>
            <a:ext cx="5486400" cy="82296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337560" y="4389120"/>
            <a:ext cx="5212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AV runs thousands of AI ops / second across cameras, lidar, radar — frontier-scale compute.</a:t>
            </a:r>
            <a:pPr indent="0" marL="0">
              <a:buNone/>
            </a:pPr>
            <a:r>
              <a:rPr lang="en-US" sz="70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5394960"/>
            <a:ext cx="8229600" cy="32004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39496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3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PLAYERS  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 · Tesla FSD · Baidu Apollo · Aurora</a:t>
            </a:r>
            <a:pPr indent="0" marL="0">
              <a:buNone/>
            </a:pPr>
            <a:r>
              <a:rPr lang="en-US" sz="800" baseline="30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 report,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 — automotive/DRIVE platform,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Waymo, Tesla, Baidu Apollo, Aurora — company disclosures.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164592"/>
            <a:ext cx="1737360" cy="292608"/>
          </a:xfrm>
          <a:prstGeom prst="roundRect">
            <a:avLst>
              <a:gd name="adj" fmla="val 15625"/>
            </a:avLst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132320" y="1645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 is rewriting drug discovery.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mechanisms compress the R&amp;D cycle's earliest stages from years to hours. Clinical trials still take years — AI collapses the design stage, not the regulatory one.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691640"/>
            <a:ext cx="3017520" cy="3355848"/>
          </a:xfrm>
          <a:prstGeom prst="rect">
            <a:avLst/>
          </a:prstGeom>
          <a:solidFill>
            <a:srgbClr val="EEEEEE"/>
          </a:solidFill>
          <a:ln w="9525">
            <a:solidFill>
              <a:srgbClr val="BBBBBB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548640" y="1691640"/>
            <a:ext cx="2834640" cy="3355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IMAGE: Render — protein ribbon diagram in a violet-to-magenta-to-gold gradient on graphite black, razor-sharp front with softly-blurred back, faint electron-density mesh around the structure, no labels or annotations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57600" y="1691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0" y="1691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22192" y="1691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PREDICTION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840480" y="2029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Predicting a protein's 3D shape from its amino-acid sequence was a 50-year unsolved problem. Crystallography took months per protein. Deep learning now infers structure in seconds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unlocking every drug target at once.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57600" y="2834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2834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22192" y="2834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MOLECULE DESIGN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840480" y="3172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are ~10⁶⁰ drug-like small molecules.</a:t>
            </a:r>
            <a:pPr indent="0" marL="0">
              <a:buNone/>
            </a:pPr>
            <a:r>
              <a:rPr lang="en-US" sz="650" baseline="30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</a:t>
            </a:r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Wet labs can screen millions. Generative models search the rest — proposing novel binders optimized for selectivity, potency, and drug-like properties.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657600" y="3977640"/>
            <a:ext cx="5029200" cy="1069848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0" y="3977640"/>
            <a:ext cx="5029200" cy="292608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822192" y="397764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FFB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 </a:t>
            </a:r>
            <a:pPr indent="0" marL="0">
              <a:buNone/>
            </a:pPr>
            <a:r>
              <a:rPr lang="en-US" sz="105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SILICO VALIDATION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840480" y="4315968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dynamics and binding-affinity prediction filter candidates before synthesis. Weeks of bench work become hours of GPU compute. Far fewer molecules reach animal testing.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5193792"/>
            <a:ext cx="8229600" cy="384048"/>
          </a:xfrm>
          <a:prstGeom prst="rect">
            <a:avLst/>
          </a:prstGeom>
          <a:solidFill>
            <a:srgbClr val="FFD100"/>
          </a:solidFill>
          <a:ln w="12700">
            <a:solidFill>
              <a:srgbClr val="FFD1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19379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Traditional pharma: 10–15 years, ~$2.6B per approved drug, &lt;10% Phase I success.</a:t>
            </a:r>
            <a:pPr indent="0" marL="0">
              <a:buNone/>
            </a:pPr>
            <a:r>
              <a:rPr lang="en-US" sz="700" b="1" baseline="300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</a:t>
            </a:r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collapses the design stage — clinical trials are still bound by biology and the FDA.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58750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AlphaFold, Nature 2020,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(2)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 — screening scale, </a:t>
            </a:r>
            <a:pPr indent="0" marL="0">
              <a:buNone/>
            </a:pPr>
            <a:r>
              <a:rPr lang="en-US" sz="700" b="1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(3) </a:t>
            </a:r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— drug-development cost and timeline.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takeaways.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thesis, distilled. Each with the number that makes it investable.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55448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188720" y="15544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largest capex cycle in history — and it's going on credit.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188720" y="182880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~$750B hyperscaler capex in 2026, up ~$300B YoY. Amazon FCF turns negative; Meta FCF down ~90%. ~75% of that capex is AI-specific. The story has shifted from cash flow to balance sheet.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51460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88720" y="251460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market is picking winners — the basket trade is over.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78892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stock correlation collapsed from ~80% to ~20%. Semis +38% YTD, software –20% YTD — a 58-point spread. Memory oligopolies with pricing power outperform cloud providers burning cash.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47472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1188720" y="347472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bottleneck keeps moving — and that is the opportunity.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374904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CoWoS packaging (2023–24) → HBM / silicon wafer supply (now) → EUV lithography (&lt;100 machines/yr) by 2028. Each shift reprices a different part of the stack. HBM TAM on a path from $35B (2025) to $100B (2028).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434840"/>
            <a:ext cx="640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188720" y="443484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question isn't whether you have AI exposure — it's whether you chose it.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188720" y="4709160"/>
            <a:ext cx="7498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AI-linked stocks are ~30%+ of US large-cap benchmarks. Passive exposure to a ~$750B capex cycle is not neutral — it's a thesis. Own the layer with pricing power for today's bottleneck.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7200" y="56235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company filings; CreditSights / MUFG hyperscaler capex 2026 (Apr 2026); Goldman Sachs correlation data; Yahoo Finance YTD (Apr 17, 2026); SemiAnalysis; BofA HBM TAM; TrendForce.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(1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LANDSCAPE · MARKET · SHIFTS.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008B8B"/>
          </a:solidFill>
          <a:ln w="12700">
            <a:solidFill>
              <a:srgbClr val="008B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LANDSCAPE  ·  3–6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capex,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estimates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Jensen Huang "most important" remarks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appearance, Sept 2025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Six-phase evolution timeline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 synthesis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11-layer AI stack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Internet / PC adoption curves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Mary Meeker, Bond / KPCB Internet Trends 2019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revenue Y0–Y4 trajectory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company filings and consensus estimates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FFB800"/>
          </a:solidFill>
          <a:ln w="12700">
            <a:solidFill>
              <a:srgbClr val="FFB8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 ·  7–11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"$975B 2026E semi market"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WSTS Fall 2025 forecast (Nov 2025 release)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Six-category chip taxonomy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SIA market-structure breakdown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"~60% hyperscaler share of AI chips"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SemiAnalysis / Omdia 2026E estimates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2026 capex guides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AWS, MSFT, GOOGL, META, ORCL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"~12% US electricity by 2028"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EPRI (2024) data-center load forecast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 GW typical AI campus"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LBNL, DOE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"~5 yr interconnection wait"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PJM, ERCOT interconnection queues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TMI reopening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/ Constellation (Sept 2024)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$852B @ ~35× ARR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Sacra ARR run-rates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$380B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TechCrunch, Bloomberg (Feb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$2.3T / ~$85B 2026 capex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Alphabet 10-K and 2026 capex guide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xAI / SpaceX $1.25T merger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CNBC, TechCrunch (Feb 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2026 funding 2× all of 2025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Crunchbase Q1 2026 VC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Tech vs Non-Tech metrics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stockanalysis.com consensus (Apr 22,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caps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companiesmarketcap.com (Apr 22, 2026)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F6693D"/>
          </a:solidFill>
          <a:ln w="12700">
            <a:solidFill>
              <a:srgbClr val="F6693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SHIFTS  ·  12–13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"10–100× compute per session"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vs agent token counts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Anthropic, OpenAI; GitHub Trending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YTD prices rebased to 100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supercycle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Counterpoint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single-stock YTDs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Finance; Morgan Stanley CIO Survey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 index / PE SaaS marks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 BDC; PitchBook secondary marks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1 of 2 — continues on the next page with RISKS, FRONTIER, and TAKEAWAYS.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583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Appendix — sources (2 of 2).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figure, where to find it. RISKS · FRONTIER · TAKEAWAYS.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0"/>
          </a:xfrm>
          <a:prstGeom prst="line">
            <a:avLst/>
          </a:prstGeom>
          <a:noFill/>
          <a:ln w="9525">
            <a:solidFill>
              <a:srgbClr val="E5E5E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417320"/>
            <a:ext cx="8229600" cy="320040"/>
          </a:xfrm>
          <a:prstGeom prst="rect">
            <a:avLst/>
          </a:prstGeom>
          <a:solidFill>
            <a:srgbClr val="F9F9F9"/>
          </a:solidFill>
          <a:ln w="6350">
            <a:solidFill>
              <a:srgbClr val="E5E5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figures retrieved as of Apr 2026 unless noted. Market caps &amp; consensus: companiesmarketcap.com · stockanalysis.com. YTD returns: Yahoo Finance (Apr 17, 2026).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RISKS  ·  14–17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"131× Cisco fwd P/E, Mar 2000"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Harding Loevner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"~24× NVDA fwd P/E, Apr 17 2026"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GuruFocus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"14% of 2000 tech IPOs profitable"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Ritter, University of Florida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"$500B dark fiber unused"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dark-fiber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"GPU 2nd market 90–95% list"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CoreWeave 2nd-market pricing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"Hyperscaler net debt/EBITDA ~48%"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Bloomberg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"TSMC ~90% advanced-node share"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 filings;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 Hynix + Samsung ~76% DRAM"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TrendForce; SIA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"ASML &lt;100 EUV / yr"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reshoring fab timelines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TSMC, Samsung, Micron, Intel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"CHIPS $36B of $52.7B committed"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Commerce Dept (Nov 2025)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H100/H200/Blackwell export ban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 Bureau of Industry and Security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"NVIDIA $5.5B H20 writedown"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10-Q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DUV ban; China ~20% revenue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ASML filings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"EU AI Act Aug 2, 2026 enforcement"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AI Act Article 99 / Chapter V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"SMIC 5nm yield ~20%"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industry reports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"$18B halted / $46B delayed"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"142 activist groups, 24 states"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Watch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"26% of Americans positive on AI"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Echelon Insights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"Stop the AI Race" Mar 2026 protests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the AI Race; TIME; CNN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"~480K data-center workforce gap"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Center Frontier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solidFill>
            <a:srgbClr val="6B46C1"/>
          </a:solidFill>
          <a:ln w="12700">
            <a:solidFill>
              <a:srgbClr val="6B4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FRONTIER  ·  18–21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310128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"1,361 W/m² unfiltered solar"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constant (physical)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Orbital compute players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FCC filings; Starcloud, SpaceX, Google Suncatcher, Aetherflux; CNBC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Humanoid deployments in pilots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humanoid research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Player list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Tesla, Figure, Boston Dynamics, Unitree, Agility announcements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"~1.35M road deaths / year"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Global Road Safety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 inference compute scale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NVIDIA FY2026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AlphaFold structure prediction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Jumper et al., Nature 2020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"~10⁶⁰ drug-like small molecules"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"10–15 yrs / ~$2.6B per drug"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Tufts CSDD drug-development studies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"&lt;10% Phase I success"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Hughes et al., Br. J. Pharmacol.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71616" y="1874520"/>
            <a:ext cx="2624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TAKEAWAYS  ·  22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117336" y="2148840"/>
            <a:ext cx="253288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"~$750B hyperscaler 2026 capex"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CreditSights / MUFG (Apr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"AI correlation 80% → 20%"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Goldman Sachs correlation data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"Semis +38% / software –20% YTD"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Yahoo Finance (Apr 17, 2026)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"HBM TAM $35B → $100B, 2025–28"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BofA HBM TAM; TrendForce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 · 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Hyperscaler FCF impact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</a:t>
            </a:r>
            <a:pPr indent="0" marL="0">
              <a:spcAft>
                <a:spcPts val="200"/>
              </a:spcAft>
              <a:buNone/>
            </a:pPr>
            <a:r>
              <a:rPr lang="en-US" sz="850" i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Amazon, Meta 10-Qs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457200" y="58750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2 of 2. End of deck.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286500"/>
            <a:ext cx="9144000" cy="57150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71600" y="63322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INFORMATIONAL PURPOSES ONLY. NOT INVESTMENT ADVICE. PAST PERFORMANCE IS NOT INDICATIVE OF FUTURE RESULTS.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8321040" y="640537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Markets — May 2026</dc:title>
  <dc:subject>PptxGenJS Presentation</dc:subject>
  <dc:creator>Strategy</dc:creator>
  <cp:lastModifiedBy>Strategy</cp:lastModifiedBy>
  <cp:revision>1</cp:revision>
  <dcterms:created xsi:type="dcterms:W3CDTF">2026-04-24T23:05:14Z</dcterms:created>
  <dcterms:modified xsi:type="dcterms:W3CDTF">2026-04-24T23:05:14Z</dcterms:modified>
</cp:coreProperties>
</file>