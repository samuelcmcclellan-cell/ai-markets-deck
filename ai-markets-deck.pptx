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capex ($B)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Amazon</c:v>
                  </c:pt>
                  <c:pt idx="1">
                    <c:v>Microsoft</c:v>
                  </c:pt>
                  <c:pt idx="2">
                    <c:v>Alphabet</c:v>
                  </c:pt>
                  <c:pt idx="3">
                    <c:v>Meta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</c:v>
                </c:pt>
                <c:pt idx="1">
                  <c:v>190</c:v>
                </c:pt>
                <c:pt idx="2">
                  <c:v>180</c:v>
                </c:pt>
                <c:pt idx="3">
                  <c:v>135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capex ($B)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2026E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410</c:v>
                </c:pt>
                <c:pt idx="1">
                  <c:v>705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TWh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8B8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485</c:v>
                </c:pt>
                <c:pt idx="1">
                  <c:v>950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rate ($B)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47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Top-10 share (%)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2015</c:v>
                  </c:pt>
                  <c:pt idx="2">
                    <c:v>2025 peak</c:v>
                  </c:pt>
                  <c:pt idx="3">
                    <c:v>Jun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18</c:v>
                </c:pt>
                <c:pt idx="2">
                  <c:v>40.7</c:v>
                </c:pt>
                <c:pt idx="3">
                  <c:v>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YTD total return (%)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8B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C000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Semis (SOXX)</c:v>
                  </c:pt>
                  <c:pt idx="1">
                    <c:v>Equal-weight (RSP)</c:v>
                  </c:pt>
                  <c:pt idx="2">
                    <c:v>S&amp;P 500</c:v>
                  </c:pt>
                  <c:pt idx="3">
                    <c:v>Mag 7 (MAGS)</c:v>
                  </c:pt>
                  <c:pt idx="4">
                    <c:v>Software (IGV)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79.5</c:v>
                </c:pt>
                <c:pt idx="1">
                  <c:v>14.3</c:v>
                </c:pt>
                <c:pt idx="2">
                  <c:v>11.3</c:v>
                </c:pt>
                <c:pt idx="3">
                  <c:v>5.9</c:v>
                </c:pt>
                <c:pt idx="4">
                  <c:v>-9.5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Forward P/E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8B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S&amp;P 500</c:v>
                  </c:pt>
                  <c:pt idx="1">
                    <c:v>10-yr avg</c:v>
                  </c:pt>
                  <c:pt idx="2">
                    <c:v>S&amp;P Tech</c:v>
                  </c:pt>
                  <c:pt idx="3">
                    <c:v>Nvidia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21.1</c:v>
                </c:pt>
                <c:pt idx="1">
                  <c:v>19</c:v>
                </c:pt>
                <c:pt idx="2">
                  <c:v>24.4</c:v>
                </c:pt>
                <c:pt idx="3">
                  <c:v>22.5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6693D"/>
              </a:solidFill>
              <a:effectLst/>
            </c:spPr>
          </c:dPt>
          <c:dPt>
            <c:idx val="1"/>
            <c:bubble3D val="0"/>
            <c:spPr>
              <a:solidFill>
                <a:srgbClr val="FFB800"/>
              </a:solidFill>
              <a:effectLst/>
            </c:spPr>
          </c:dPt>
          <c:dPt>
            <c:idx val="2"/>
            <c:bubble3D val="0"/>
            <c:spPr>
              <a:solidFill>
                <a:srgbClr val="E5E5E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Top 3 (Nvidia, Apple, Microsoft) — $18</c:v>
                </c:pt>
                <c:pt idx="1">
                  <c:v>Rest of top 10 — $19</c:v>
                </c:pt>
                <c:pt idx="2">
                  <c:v>Other 490 stocks — $63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</c:v>
                </c:pt>
                <c:pt idx="1">
                  <c:v>19</c:v>
                </c:pt>
                <c:pt idx="2">
                  <c:v>63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the room: this is a markets deck, not an AI explainer. The new spine: AI shifted from assisted to agentic, which ended the token-subsidy era and made compute the scarce input. Everything else — the capex sprint, semis leadership, the bond wave, the policy fight — follows from that scarcity. Four acts: the shift, the crunch, the market, the stakes.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deck in four sentences. (1) The agentic shift is the demand shock. (2) Scarcity is the supply constraint — capex is a rational response, not exuberance, and SpaceX's 18-month payback is the proof point bulls lean on. (3) The market has priced the chain unevenly: suppliers up, software down, platforms contested. (4) The tail risks are political as much as financial. Strip at the bottom replaces the old roadmap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One. The 'vibe shift': from passive drafting partners to autonomous orchestration of workstreams. The anchor stat is deliberately mundane — a corporate budget line. When a company the size of Uber writes a per-employee token cap, AI usage has become a metered utility. That's the demand signal that drives every chart in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era table is the deck's vocabulary lesson. Left column is 2023–25: subsidized tokens, seat pricing, drafting. Right column is now: metered usage, agentic loops, functional reliability as the SOTA bar. Two second-order effects to voice: the advantage gap (power users get compounding returns, casual users get linear ones — economic capture is diverging), and Jevons — cheaper software production increases total software demand, which is why scarcity persists despite capacity growth.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points, one message: enterprises now treat tokens as a metered input with a budget line. Uber: $1,500/month per employee. Walmart: killed unlimited access for Code Puppy, moved to budgets plus efficiency training. The 20–25% coordination-time figure is the demand side — that's the pool of working hours agents are being bought to recover. The READ box carries the investability point: token budgets are the cleanest demand gauge the market has for agentic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Two. The demand shock from Act One meets physical supply. SK Hynix's own guidance is the anchor: doubling HBM capacity and still not catching up before the end of the decade. 'Structural, not cyclical' is the phrase that matters for multiples — it changes how long the supply chain's pricing power lasts.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Guided, not projected — publicly committed numbers. Midpoints: MSFT $190B, AMZN $200B, GOOGL $180B, META $135B → ~$705B, +72% on 2025's record $410B; range-tops push toward $725B and Morgan Stanley's five-platform figure is ~$805B. Read it through the scarcity lens from slide 6: when the binding input is scarce, overpaying for capacity is rational — underbuilding costs share. Earnings visibility flows up the supply chain; cash-flow pressure stays with the spenders (Act Three's bridge).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of physics, by design. IEA: data-center electricity roughly doubles to ~950 TWh by 2030. The three cards are the three bottlenecks: HBM memory (structural to ~2030 per SK Hynix — that's the new piece), silicon architecture (Vera Rubin pivoting CPU-centric for agentic tool calls — the hardware is being redesigned around Act One's workload), and grid (85 GW requested vs ~100 GW needed). Investor takeaway: when the constraint is physical, moats shift to whoever controls memory supply, power, and interconnection.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scarcity market in three tiers. SpaceX as neocloud: 550k GPUs, $40B in, paid back in ~18 months — if that number holds, the bear case that capex can't earn a return weakens badly. Google paying $920M/month in rent (~$11B/yr run rate) is the other side: the cost of NOT owning capacity. RTX Spark pushes inference to the edge — the prosumer release valve. Together: compute is being priced like a scarce commodity at every layer, from supercluster to desktop.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Three. The bridge from scarcity to securities. The anchor: Anthropic's run rate went from $3B to $47B in roughly a year on usage-based pricing — that is what the token-scarcity era looks like in revenue terms, and it's the kind of number public markets will soon get to price directly via the IPO 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supply side of the equity story. Anthropic $3B→$47B on usage-based pricing — enterprise agentic demand monetizing. OpenAI playing the consumer super-app game. Microsoft's Frontier Tuning is the margin threat: ~10x cheaper for company-specific agents, even if its agentic benchmarks (Terminal Bench 2.0) trail. For allocators the IPO race matters twice: as issuance supply, and as price discovery — public lab marks will reprice everything currently valued by proxy through Nvidia and the hyperscalers.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Structural point: 18–23% top-10 share was the norm for 25 years; it's ~37% now, off the 40.7% 2025 peak. Two readings, both fair: concentration reflects genuine earnings concentration — or it leaves index returns hostage to a handful of AI-linked business models. We quantify rather than adjudicate; slide 18 shows what it does to a passive allocation. Nvidia ~$5T: first company ever through that mark — and the purest large-cap expression of the scarcity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dispersion slide. SOXX +80% YTD (memory and custom silicon — Micron, AMD, Marvell are its biggest weights now), best run since 2000; chips added ~$5.7T of market value this rally. MAGS +6% LAGS equal-weight +14% — platforms are the contested middle: record revenues, but the market charges them for capex and debt. Software −10%: priced for disruption. The three buckets on the right are the chain map: value accrues where AI spend is revenue, erodes where AI is a competitive threat. Buckets rotated once already this cycle — map, not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multiples on this slide are forward — consistent basis. Nvidia at 22.5x forward is cheaper than the tech sector average because its E exploded; the multiple is unremarkable, the earnings durability is the entire question — and that durability now rests on token-scarcity economics holding. Semis: price ran ahead of even record earnings, so forward multiples sit elevated vs history. Software's de-rate is the mirror image: an uncertainty discount for whoever is on the wrong side of agents. Index 21x vs 19x 10-yr avg: elevated, not extreme.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stories, one slide, because they're one mechanism: capex ate the cash (top band — ~94% of operating cash flow consumed, Big-4 FCF lowest since 2014, Amazon negative, Alphabet −90%, Microsoft down roughly 28%), so the buildout moved into the bond market (timeline — Oracle Sep '25 through Oracle again Feb '26, $105B+ across five prints, Meta's $30B the largest non-M&amp;A IG deal ever). The 'unspoken contract' of self-funding megacaps broke. Balance sheets are still lightly levered vs IG norms — this is not 2008 telecom — but Oracle's CDS shows credit discriminates by funding capacity. For equity holders: spreads reprice before earnings revisions. Watch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Four. Two exposures nobody sized deliberately: Washington's claim on AI economics, and the index's claim on AI risk. The 50% equity-tax proposal is the anchor because of who backs it — Sanders proposed it, Trump echoed it. When that pair agrees on anything, the Overton window has genuinely 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policy slide stays neutral by quoting all sides. EO: voluntary 30-day NSA review, cyber-focused, no licensing — lighter than feared, and a calendar item before every frontier release. SWF: 50% one-time equity tax to fund AI Dividends — dilution risk that no equity model currently carries. Sacks' critique is the third leg: nationalization as a threat to the property rights underpinning lab valuations. The investable point isn't picking a side — it's that public-ownership tail risk now belongs in any model of lab equity, IPO pricing, and by extension the hyperscalers that own lab stakes.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hidden-active-risk slide. Nobody in this room would deliberately put 37% of an equity sleeve in ten correlated names — but a benchmark allocation does precisely that. Honest caveat on point two: equal-weight won 2026, lost 2024–25; the point is 'size the bet on purpose,' not 'sell megacaps.' Point four is new this quarter: with Washington debating equity taxes and ownership, policy risk is no longer exogenous to a passive allocation — it's embedded in the top ten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Risks and takeaways share a slide because they're mirror images. New gauge this quarter: enterprise token budgets (slide 5) as a demand indicator — the new same-store sales. Most likely stress path: financing stress and the demand air pocket are the same risk at different speeds — credit reprices faster than earnings revisions. Takeaways map back: #1 concentration (12, 18), #2 dispersion (13), #3 financing (15), #4 breadth (13). Closing line is the deck's thesis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matter. Canonical stamp: data as of June 2026; returns through Jun 5–9 closes. The AI Frontier review column covers everything sourced from the internal strategic review — flag to the room that those items (run rates, neocloud economics, policy provisions) are review-sourced rather than exchange-verified market data. Rounding note covers the chart-label convention: labels are whole numbers, exact plotted values footnoted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274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280160" cy="64008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in the Market.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D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token subsidy to token scarcity.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made compute scarce. Markets are repricing around the constraint.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 |  Institutional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argument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one conclusion: the AI trade is now a market-structure story — and your benchmark is in it.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977640" cy="12801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89888"/>
            <a:ext cx="397764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6" name="Text 4"/>
          <p:cNvSpPr/>
          <p:nvPr/>
        </p:nvSpPr>
        <p:spPr>
          <a:xfrm>
            <a:off x="3474720" y="1801368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5E5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21792" y="151790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1792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Assisted became agentic. 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now executes whole workstreams, not drafts. The subsidy era of cheap unlimited tokens is over — usage is metered, and enterprises are already rationing it.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389888"/>
            <a:ext cx="3977640" cy="12801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0" name="Shape 8"/>
          <p:cNvSpPr/>
          <p:nvPr/>
        </p:nvSpPr>
        <p:spPr>
          <a:xfrm>
            <a:off x="4709160" y="1389888"/>
            <a:ext cx="397764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1" name="Text 9"/>
          <p:cNvSpPr/>
          <p:nvPr/>
        </p:nvSpPr>
        <p:spPr>
          <a:xfrm>
            <a:off x="7726680" y="1801368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5E5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873752" y="151790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CRUNCH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873752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is the binding constraint. 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and grid power are structurally scarce into ~2030. The ~$705B capex sprint is the rational response — and 18-month neocloud paybacks say it can pay.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3977640" cy="12801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2743200"/>
            <a:ext cx="397764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3154680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5E5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621792" y="287121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" y="3090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Equities already chose sides. 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stocks are ~37% of the S&amp;P 500; semis are +80% YTD while software is −10%; the buildout's bill moved into the bond market — and the labs are racing to IPO.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2743200"/>
            <a:ext cx="3977640" cy="12801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2743200"/>
            <a:ext cx="397764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3154680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5E5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5200" dirty="0"/>
          </a:p>
        </p:txBody>
      </p:sp>
      <p:sp>
        <p:nvSpPr>
          <p:cNvPr id="22" name="Text 20"/>
          <p:cNvSpPr/>
          <p:nvPr/>
        </p:nvSpPr>
        <p:spPr>
          <a:xfrm>
            <a:off x="4873752" y="287121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STAKES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73752" y="309067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and portfolios are exposed. 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 now debates public ownership of AI, and a passive index already carries an undiversified AI bet. The job is sizing what you already own — on purpose.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169664"/>
            <a:ext cx="128016" cy="128016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056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THE SHIFT   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3–5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587752" y="4169664"/>
            <a:ext cx="128016" cy="12801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7" name="Text 25"/>
          <p:cNvSpPr/>
          <p:nvPr/>
        </p:nvSpPr>
        <p:spPr>
          <a:xfrm>
            <a:off x="2788920" y="41056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THE CRUNCH   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6–9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18304" y="4169664"/>
            <a:ext cx="128016" cy="12801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29" name="Text 27"/>
          <p:cNvSpPr/>
          <p:nvPr/>
        </p:nvSpPr>
        <p:spPr>
          <a:xfrm>
            <a:off x="4919472" y="41056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THE MARKET   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10–15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848856" y="4169664"/>
            <a:ext cx="128016" cy="128016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1" name="Text 29"/>
          <p:cNvSpPr/>
          <p:nvPr/>
        </p:nvSpPr>
        <p:spPr>
          <a:xfrm>
            <a:off x="7050024" y="41056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THE STAKES   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16–19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3" name="Text 3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01  ·  THE SHIFT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Assisted became agentic.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stopped drafting and started executing. The unit of value moved from the token to the completed task.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$1,500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38221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Uber's monthly token cap per employee — rationing is the tell: firms meter what is scarce.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THE SHIFT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token subsidy to token scarcity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once burned venture capital to give tokens away. Agentic workloads ended that — usage is now priced, metered, and scarce.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3977640" cy="329184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5179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SUBSIDY ERA  ·  2023–25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3977640" cy="148132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193852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subsidize adoption with VC-funded tokens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Seat-based pricing; unlimited chat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 drafting partner — linear productivity gains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judged as general-purpose chatbots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1517904"/>
            <a:ext cx="3977640" cy="329184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1" name="Text 9"/>
          <p:cNvSpPr/>
          <p:nvPr/>
        </p:nvSpPr>
        <p:spPr>
          <a:xfrm>
            <a:off x="4837176" y="15179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SCARCITY ERA  ·  2026 →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847088"/>
            <a:ext cx="3977640" cy="148132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3" name="Text 11"/>
          <p:cNvSpPr/>
          <p:nvPr/>
        </p:nvSpPr>
        <p:spPr>
          <a:xfrm>
            <a:off x="4837176" y="193852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Usage-based pricing — tokens metered like a utility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loops orchestrate whole workstreams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users compound; the “advantage gap” widens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judged on functional reliability — coding, legal, science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493008"/>
            <a:ext cx="8229600" cy="56692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493008"/>
            <a:ext cx="64008" cy="566928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29584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Jevons paradox is the demand engine: 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software now “comes out on a tap” (Karpathy's “step change”) — and the cheaper software is to produce, the more of it we demand. Inference demand outruns supply.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2026); Karpathy commentary as cited therein.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THE SHIFT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enterprise token bill arrived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firms are abandoning unlimited access and writing token budgets. Rationing is what demand looks like when supply is priced.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17904"/>
            <a:ext cx="64008" cy="82296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51790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$1,500/mo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057400" y="1591056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 caps the agent bill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 monthly token budget per employee replaced unlimited access — agentic workloads made “eye-watering” costs a line item worth managing.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14016"/>
            <a:ext cx="64008" cy="82296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" y="2414016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057400" y="248716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 pulls unlimited “Code Puppy”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token access for its agentic dev tool is gone — individual budgets plus efficiency training, to absorb the cost of the agentic shift.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310128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310128"/>
            <a:ext cx="64008" cy="82296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" y="331012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20–25%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57400" y="338328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demand pool is coordination time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knowledge-work week lost to coordination and retrieval (OpenAI's “strange abundance”) — the inefficiency agents are priced against.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72200" y="1517904"/>
            <a:ext cx="2514600" cy="2615184"/>
          </a:xfrm>
          <a:prstGeom prst="rect">
            <a:avLst/>
          </a:prstGeom>
          <a:solidFill>
            <a:srgbClr val="1C1C20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60934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883664"/>
            <a:ext cx="22402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caps are demand evidence, not retreat.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ration what is scarce and valuable. Usage-based pricing is why lab revenue inflected (slide 11) — and why the capex sprint followed (slide 7). Watch enterprise token budgets the way retail analysts watch same-store sales.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224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Uber and Walmart cost-management cases; OpenAI “strange abundance” framing.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02  ·  THE CRUNCH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 is the binding constraint.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Memory, power, and GPUs are scarce. Whoever owns the bottleneck prices the boom.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38221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SK Hynix expects HBM supply relief, even after doubling capacity — the shortage is structural, not cyclical.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CRUNCH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~$705B sprint, guided in public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2026 capex guidance is up ~72% year over year — the rational response to scarcity. Morgan Stanley's five-platform total (incl. Oracle) is near $805B.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capex guidance, $B (midpoints)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6693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combined capex, $B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2286000" cy="0"/>
          </a:xfrm>
          <a:prstGeom prst="line">
            <a:avLst/>
          </a:prstGeom>
          <a:noFill/>
          <a:ln w="12700">
            <a:solidFill>
              <a:srgbClr val="F6693D"/>
            </a:solidFill>
            <a:prstDash val="solid"/>
          </a:ln>
        </p:spPr>
      </p:sp>
      <p:graphicFrame>
        <p:nvGraphicFramePr>
          <p:cNvPr id="11" name="Chart 1" descr=""/>
          <p:cNvGraphicFramePr/>
          <p:nvPr/>
        </p:nvGraphicFramePr>
        <p:xfrm>
          <a:off x="4754880" y="1874520"/>
          <a:ext cx="228600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223760" y="21031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223760" y="272491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growth 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spend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7223760" y="32004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four raised guidance in the most recent reporting round; memory and component costs pushed numbers higher.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Company guidance: Microsoft $190B (CY26), Amazon $200B, Alphabet $175–185B, Meta $125–145B — via CNBC (Feb 6, 2026), Tom's Hardware, Statista. Midpoints sum to ~$705B; tops of ranges imply up to ~$725B. Morgan Stanley five-platform estimate via beincrypto.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7" name="Text 13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4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CRUNCH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physical squeeze: memory and power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scarcity is hardware scarcity. The constraint decides who captures the spend — a market question.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data-center electricity, TWh (IEA)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6693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754880" y="1536192"/>
            <a:ext cx="3931920" cy="76809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0" name="Shape 7"/>
          <p:cNvSpPr/>
          <p:nvPr/>
        </p:nvSpPr>
        <p:spPr>
          <a:xfrm>
            <a:off x="4754880" y="1536192"/>
            <a:ext cx="64008" cy="76809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1" name="Text 8"/>
          <p:cNvSpPr/>
          <p:nvPr/>
        </p:nvSpPr>
        <p:spPr>
          <a:xfrm>
            <a:off x="4892040" y="1536192"/>
            <a:ext cx="1234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HBM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172200" y="1591056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pinch point: SK Hynix is doubling capacity, yet relief isn't expected before ~2030 — shortage warnings and price hikes are spilling into autos and consumer goods (Reuters)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754880" y="2377440"/>
            <a:ext cx="3931920" cy="76809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4" name="Shape 11"/>
          <p:cNvSpPr/>
          <p:nvPr/>
        </p:nvSpPr>
        <p:spPr>
          <a:xfrm>
            <a:off x="4754880" y="2377440"/>
            <a:ext cx="64008" cy="76809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92040" y="2377440"/>
            <a:ext cx="1234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Vera Rubin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172200" y="243230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Nvidia's next architecture is in production — a CPU-centric design engineered for the agentic tool-calling workloads driving the crunch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754880" y="3218688"/>
            <a:ext cx="3931920" cy="76809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8" name="Shape 15"/>
          <p:cNvSpPr/>
          <p:nvPr/>
        </p:nvSpPr>
        <p:spPr>
          <a:xfrm>
            <a:off x="4754880" y="3218688"/>
            <a:ext cx="64008" cy="768096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9" name="Text 16"/>
          <p:cNvSpPr/>
          <p:nvPr/>
        </p:nvSpPr>
        <p:spPr>
          <a:xfrm>
            <a:off x="4892040" y="3218688"/>
            <a:ext cx="1234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GW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72200" y="327355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new US data-center capacity requested by 2030; ~100 GW of grid capacity needed to serve it reliably (S&amp;P Global)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IEA Energy &amp; AI (2026); S&amp;P Global data-center power research; Reuters (Jun 3, 2026); SK Hynix &amp; Nvidia Vera Rubin: Internal strategic review, “The 2026 AI Frontier” (Jun 2026).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0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CRUNCH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neocloud hierarchy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Scarcity created a new infrastructure market — and the rental price of compute is now a market-clearing signal.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17904"/>
            <a:ext cx="64008" cy="82296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51790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 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57400" y="1591056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SpaceX Colossus — the neocloud king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550k-GPU superclusters; a $40B data-center investment paid back in ~18 months. The unit economics that validate the buildout.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14016"/>
            <a:ext cx="64008" cy="82296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" y="2414016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$920M/mo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57400" y="248716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rents the bridge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110,000 Nvidia GPUs rented from SpaceX to serve Gemini Enterprise demand while in-house hardware catches up.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310128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310128"/>
            <a:ext cx="64008" cy="82296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" y="331012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RTX Spark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57400" y="338328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goes local — the “M1 moment for Windows”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prosumer super chip brings high-performance inference to the desk, challenging Apple's M5 in the personal-AI segment.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72200" y="1517904"/>
            <a:ext cx="2514600" cy="2615184"/>
          </a:xfrm>
          <a:prstGeom prst="rect">
            <a:avLst/>
          </a:prstGeom>
          <a:solidFill>
            <a:srgbClr val="1C1C20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60934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883664"/>
            <a:ext cx="22402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prices are the market-clearing price of scarcity.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payback on $40B validates the capex math better than any analyst model — and a $920M/month rental bill shows what the constraint costs when you don't own capacity. Both argue the spend (slide 7) is rational.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224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SpaceX Colossus economics, Google GPU rental, Nvidia RTX Spark.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03  ·  THE MARKET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equities priced it.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Concentration, rotation, a new debt complex — and the labs racing to the public market.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$3B → $47B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38221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Anthropic's annualized run rate, 2025 → 2026 — the revenue inflection behind the repricing.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 race goes public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and Anthropic are converging on public listings with opposite narratives — and Microsoft is selling the budget alternative.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annualized run rate, $B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5176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2651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474720" y="14813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strategies, one market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74720" y="1783080"/>
            <a:ext cx="521208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1920240"/>
          <a:ext cx="5212080" cy="1920240"/>
        </p:xfrm>
        <a:graphic>
          <a:graphicData uri="http://schemas.openxmlformats.org/drawingml/2006/table">
            <a:tbl>
              <a:tblPr/>
              <a:tblGrid>
                <a:gridCol w="868680"/>
                <a:gridCol w="2743200"/>
                <a:gridCol w="160020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read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“Swing for the fences” — consumer super-app, gateway to high-value products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 first, monetize the funnel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“Make money first” — enterprise focus, usage-based pricing; run rate $3B → $47B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Cleanest read on agentic enterprise demand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“Frontier Tuning” — MAI Thinking One; custom enterprise agents at ~10x lower cost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pragmatic choice — at a benchmark discount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a markets story: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IPOs would hand public markets their first direct claim on AI-lab economics — a supply event, and a new venue for repricing the entire theme.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2026); lab strategies &amp; run rates per Jenny Shia, Leona's Capital, as cited therein.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Ten stocks are ~37% of the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has eased from the 2025 record but remains roughly double its 1990–2015 range. The top of the index is the scarcity trade in benchmark form.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share of S&amp;P 500 market cap, 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largest, June 2026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920240"/>
          <a:ext cx="3931920" cy="132588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</a:tblGrid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Mkt cap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weight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~$5.0T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~$4.6T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~$3.3T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754880" y="3383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~18% of the S&amp;P 500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in these three names — more than most full sectors. Nvidia alone outweighs energy or utilities.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S&amp;P Dow Jones Indices; MacroMicro; finhacker.cz top-10 history; companiesmarketcap.com &amp; Motley Fool market caps (Jun 2026); RBC Wealth Management on the 2026 “great narrowing.”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trade rotated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+80% vs software −10% — a 90-point spread inside one theme. Leadership migrated from the platforms to their suppliers.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return, YTD 2026 (%)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502920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5029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669280" y="1828800"/>
            <a:ext cx="3017520" cy="67665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0" y="1828800"/>
            <a:ext cx="3017520" cy="4572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1" name="Text 8"/>
          <p:cNvSpPr/>
          <p:nvPr/>
        </p:nvSpPr>
        <p:spPr>
          <a:xfrm>
            <a:off x="5779008" y="1883664"/>
            <a:ext cx="2798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ACCRUING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supply — memory, custom silicon, networking; power &amp; grid infrastructure behind it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0" y="2578608"/>
            <a:ext cx="3017520" cy="67665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0" y="2578608"/>
            <a:ext cx="30175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4" name="Text 11"/>
          <p:cNvSpPr/>
          <p:nvPr/>
        </p:nvSpPr>
        <p:spPr>
          <a:xfrm>
            <a:off x="5779008" y="2633472"/>
            <a:ext cx="2798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CONTESTED MIDDLE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Platforms: record revenues, but capex + debt now weigh on the equity story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669280" y="3328416"/>
            <a:ext cx="3017520" cy="67665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6" name="Shape 13"/>
          <p:cNvSpPr/>
          <p:nvPr/>
        </p:nvSpPr>
        <p:spPr>
          <a:xfrm>
            <a:off x="5669280" y="3328416"/>
            <a:ext cx="301752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779008" y="3383280"/>
            <a:ext cx="2798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ERODING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software priced for disruption; adopters without pricing power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YTD total returns through early Jun 2026: stockanalysis.com (SOXX, IGV); slickcharts (S&amp;P 500); Morningstar/Yahoo (RSP, MAGS); WSJ ($5.7T chip rally); CNBC. Segment framing: deck analysis.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Rich index, uneven expectations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paying up for visible AI earnings and de-rating uncertain ones. The spread is the signal, not the average.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(next 12 months)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dispersion underneath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920240"/>
          <a:ext cx="3931920" cy="1554480"/>
        </p:xfrm>
        <a:graphic>
          <a:graphicData uri="http://schemas.openxmlformats.org/drawingml/2006/table">
            <a:tbl>
              <a:tblPr/>
              <a:tblGrid>
                <a:gridCol w="1371600"/>
                <a:gridCol w="2560320"/>
              </a:tblGrid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priced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Semis (SOXX)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multiples elevated vs history — price ran ahead of even record earnings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22.5x forward — megacap multiple, hyperscaler-dependent earnings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De-rated to pre-AI-boom levels (Apollo) — disruption discount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75488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read: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here screams 1999 in aggregate — but the index premium assumes the AI earnings stream keeps compounding.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FactSet Earnings Insight (fwd P/E 21.1 vs 19.0 10-yr avg); MacroMicro (tech sector 24.4, May 29); GuruFocus/stockanalysis.com (NVDA fwd 22.5x); Apollo Daily Spark (software de-rating).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Capex outgrew cash flow. Bonds stepped in.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buildout was self-funded until it wasn't. 2026 opened the gap; nine months of mega-deals built a new IG supply complex to fill it.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126187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36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CASH MATH, 2026E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773936"/>
            <a:ext cx="182880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828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~94%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488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hyperscaler operating cash flow consumed by capex + dividends + buybacks (BofA)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633472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13" name="Shape 11"/>
          <p:cNvSpPr/>
          <p:nvPr/>
        </p:nvSpPr>
        <p:spPr>
          <a:xfrm>
            <a:off x="2633472" y="1773936"/>
            <a:ext cx="182880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2633472" y="1828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Lowest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06624" y="21488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free cash flow since 2014 — at far larger revenue (CNBC)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626864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1773936"/>
            <a:ext cx="182880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828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$0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700016" y="21488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2026E FCF: $200B capex vs ~$140B operating cash flow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620256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6620256" y="1773936"/>
            <a:ext cx="1828800" cy="4572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22" name="Text 20"/>
          <p:cNvSpPr/>
          <p:nvPr/>
        </p:nvSpPr>
        <p:spPr>
          <a:xfrm>
            <a:off x="6620256" y="18288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−90%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93408" y="21488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2026E FCF decline, to ~$8B; Microsoft −~28%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816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issuance ledger — five mega-deals, nine months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118104"/>
            <a:ext cx="822960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611880"/>
            <a:ext cx="7863840" cy="0"/>
          </a:xfrm>
          <a:prstGeom prst="line">
            <a:avLst/>
          </a:prstGeom>
          <a:noFill/>
          <a:ln w="1905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61872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$18B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871216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1" name="Text 29"/>
          <p:cNvSpPr/>
          <p:nvPr/>
        </p:nvSpPr>
        <p:spPr>
          <a:xfrm>
            <a:off x="2157984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$30B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157984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— record non-M&amp;A IG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25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80560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4" name="Text 32"/>
          <p:cNvSpPr/>
          <p:nvPr/>
        </p:nvSpPr>
        <p:spPr>
          <a:xfrm>
            <a:off x="3767328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$17.5B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767328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25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089904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7" name="Text 35"/>
          <p:cNvSpPr/>
          <p:nvPr/>
        </p:nvSpPr>
        <p:spPr>
          <a:xfrm>
            <a:off x="5376672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$15B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376672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699248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40" name="Text 38"/>
          <p:cNvSpPr/>
          <p:nvPr/>
        </p:nvSpPr>
        <p:spPr>
          <a:xfrm>
            <a:off x="6986016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$25B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986016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— 8 tranches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57200" y="40782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signals: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~$300B of AI-linked IG supply expected in 2026; Oracle's 5-yr CDS above ~125bp despite light leverage — credit spreads are now a live early-warning gauge for AI equities.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57200" y="433425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BofA via Breckinridge; CNBC (Feb 6, 2026); techtimes/beincrypto FCF estimates; deal record: Mawer, M&amp;G, Fortune, CNBC; CDS: MUFG via CNBC; supply forecasts: UBS &amp; Barclays via Reuters.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5" name="Text 43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04  ·  THE STAKES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and portfolios.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debate moved from how to regulate AI to who owns it. Your benchmark already answered for you.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38221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one-time tax on AI-lab equity — not profits — to seed a sovereign wealth fund paying “AI Dividends.”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THE STAKES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Washington enters the trade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strange convergence — Trump, Bannon, and Sanders aligned on oversight and public participation in the AI upside.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2697480" cy="221284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17904"/>
            <a:ext cx="269748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EXECUTIVE ORDER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" y="1920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Voluntary but high-pressure 30-day pre-release review (down from 90) for models that are a “meaningful step change” in cyber capability. The NSA is the testing body; the focus is cybersecurity, not general safety. Mandatory licensing expressly forbidden — “mission creep” avoided, for now.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246120" y="1517904"/>
            <a:ext cx="2697480" cy="221284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1517904"/>
            <a:ext cx="269748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2" name="Text 10"/>
          <p:cNvSpPr/>
          <p:nvPr/>
        </p:nvSpPr>
        <p:spPr>
          <a:xfrm>
            <a:off x="3374136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SOVEREIGN WEALTH FUND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74136" y="1920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Sanders' proposal, echoed by Trump as “a concept of a plan”: a one-time 50% tax on AI-lab equity (not profits) seeds a public fund paying “AI Dividends” to citizens — potentially via “Trump Accounts for Children.”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035040" y="1517904"/>
            <a:ext cx="2697480" cy="221284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1517904"/>
            <a:ext cx="269748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163056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CRITIQUE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63056" y="1920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Sacks: government equity means “corporate-government fusion” and CCP-style social-credit risk; nationalization talk is a “stupidity tax” on the job-apocalypse narrative the labs themselves stoked.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read: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central debate of 2026 is no longer whether AI should be regulated, but whether the means of AI production should be publicly owned — a direct tail risk to lab equity and the IPO pipeline (slide 11).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2611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Executive Order provisions, sovereign wealth fund proposals, Sacks critique.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THE STAKES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index fund is an AI fund now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passive S&amp;P 500 allocation carries an embedded, undiversified AI position that no one sized deliberately.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$100 of S&amp;P 500 exposure sits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28800"/>
          <a:ext cx="39319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87452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2" name="Text 9"/>
          <p:cNvSpPr/>
          <p:nvPr/>
        </p:nvSpPr>
        <p:spPr>
          <a:xfrm>
            <a:off x="4910328" y="187452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an active bet you didn't make.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~37% in ten names, benchmark exposure embeds a view on one theme's earnings durability.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754880" y="242316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4" name="Text 11"/>
          <p:cNvSpPr/>
          <p:nvPr/>
        </p:nvSpPr>
        <p:spPr>
          <a:xfrm>
            <a:off x="4910328" y="242316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made the cost visible — both directions.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Equal-weight (+14%) beat cap-weight (+11%) YTD as megacaps lagged; in 2024–25 the same gap ran the other way.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754880" y="297180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6" name="Text 13"/>
          <p:cNvSpPr/>
          <p:nvPr/>
        </p:nvSpPr>
        <p:spPr>
          <a:xfrm>
            <a:off x="4910328" y="297180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is the multiplier.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 names share one earnings driver — AI infrastructure economics — so the position behaves like a single factor, not ten stocks.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352044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8" name="Text 15"/>
          <p:cNvSpPr/>
          <p:nvPr/>
        </p:nvSpPr>
        <p:spPr>
          <a:xfrm>
            <a:off x="4910328" y="352044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risk now sits inside the benchmark.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equity taxes to pre-release reviews, Washington's AI debate is a direct input to ten names' earnings power.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Index weights: S&amp;P Dow Jones Indices, slickcharts (Jun 2026); YTD returns: Morningstar (RSP), slickcharts (S&amp;P 500).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THE STAKES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breaks it — and what to 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watchpoints, each with a visible gauge — paired with four takeaways that survive whichever way the AI debate resolves.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Watchpoints &amp; gauges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01952"/>
            <a:ext cx="64008" cy="493776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19019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air pocket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(capex guidance · token budgets)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~94% of op cash flow is committed; enterprise token budgets are the new same-store sales. Semis at +80% have the most altitude to lose.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64008" cy="49377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246888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stress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(CDS · new-issue spreads)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Oracle's CDS above ~125bp shows credit already discriminates. A failed mega-deal would reprice AI equities within days.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64008" cy="49377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303580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sensitivity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(10-yr UST (~4.5%))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Long-duration AI cash flows and record IG supply both lean on rates staying contained.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602736"/>
            <a:ext cx="64008" cy="493776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360273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unwind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(top-10 share (~37%))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lagging equal-weight previewed it; the disorderly version is passive outflows meeting thin breadth.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 with it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Know your AI beta.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~37% of benchmark sits in ten names with one earnings driver. Size it deliberately — even if the answer is “keep it.”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468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Trade the chain, not the theme.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90-point intra-theme spread says segment selection — silicon, power, platforms, adopters — dominates the yes/no call.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0358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Watch credit as the early warning.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CDS and new-issue spreads reprice before equity revisions arrive. Put them on the dashboard.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360273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Respect the breadth shift.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Equal-weight beating cap-weight while semis compound at a +80% pace: 2026 rewards structure, not just direction.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a view on AGI to manage this — you need to know what your portfolio already believes.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Sources &amp; methodology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2377440" cy="347472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686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OF JUNE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17520" y="8686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are total returns YTD through the most recent available close (Jun 5–9, 2026, unless noted). Index and market-cap figures as of early June 2026.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057400" cy="21945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9377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ETF returns &amp; stats: stockanalysis.com (SOXX, IGV); Morningstar / Yahoo Finance (RSP, MAGS)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returns &amp; weights: slickcharts.com; S&amp;P Dow Jones Indices; MacroMicro; finhacker.cz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caps: companiesmarketcap.com; Motley Fool research (Jun 2026)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Valuations: FactSet Earnings Insight; GuruFocus; Apollo Daily Spark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Rates: US Treasury / FRED; CNBC (Jun 5, 2026)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2583180" y="1417320"/>
            <a:ext cx="2057400" cy="21945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258318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&amp; FINANCING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61975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guidance: company reports via CNBC (Feb 6, 2026); Tom's Hardware; Statista; Morgan Stanley est.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Cash-flow math: BofA via Breckinridge; CNBC; techtimes / beincrypto FCF estimates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issuance: Mawer; M&amp;G Investments; Fortune (Mar 2026); CNBC (Feb 2026)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forecasts: UBS &amp; Barclays via Reuters (Jan 2026); credit signals: MUFG CDS via CNBC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2057400" cy="219456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CONTEXT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74573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demand: IEA, Energy &amp; AI (485→950 TWh, 2025–2030)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constraint: S&amp;P Global (85 GW US pipeline)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Silicon: Reuters (memory shortage, Jun 3, 2026); WSJ ($5.7T chip rally)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ETF tickers referenced: SOXX, IGV, RSP, MAGS; iShares funds preferred as primary ETF sources per house data policy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6835140" y="1417320"/>
            <a:ext cx="2057400" cy="219456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6" name="Text 14"/>
          <p:cNvSpPr/>
          <p:nvPr/>
        </p:nvSpPr>
        <p:spPr>
          <a:xfrm>
            <a:off x="683514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FRONTIER REVIEW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87171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strategic review: “The 2026 AI Frontier” (Jun 2026)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shift &amp; token economics; enterprise caps (Uber, Walmart); Karpathy commentary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Compute: SK Hynix HBM outlook; Nvidia Vera Rubin &amp; RTX Spark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Neoclouds: SpaceX Colossus economics; Google GPU rental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&amp; policy: run rates via Leona's Capital; Executive Order provisions; sovereign wealth fund proposals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457200" y="40416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Methodology: figures verified against at least one primary or institutional source; where sources disagreed, the more conservative figure was used. Chart labels are rounded to whole numbers; exact plotted values: SOXX +79.5%, IGV −9.5% YTD. No figures are extrapolated or modeled. End of deck.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the Market — From Token Subsidy to Token Scarcity — June 2026</dc:title>
  <dc:subject>PptxGenJS Presentation</dc:subject>
  <dc:creator>Strategy</dc:creator>
  <cp:lastModifiedBy>Strategy</cp:lastModifiedBy>
  <cp:revision>1</cp:revision>
  <dcterms:created xsi:type="dcterms:W3CDTF">2026-06-10T05:03:43Z</dcterms:created>
  <dcterms:modified xsi:type="dcterms:W3CDTF">2026-06-10T05:03:43Z</dcterms:modified>
</cp:coreProperties>
</file>