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13</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14 – 17</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18 – 21</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22</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 – 24</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24 slides, read top to bottom.</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Sixty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recall.</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Claude Code, agents.</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EEEEEE"/>
          </a:solidFill>
          <a:ln w="9525">
            <a:solidFill>
              <a:srgbClr val="BBBBBB"/>
            </a:solidFill>
            <a:prstDash val="dash"/>
          </a:ln>
        </p:spPr>
      </p:sp>
      <p:sp>
        <p:nvSpPr>
          <p:cNvPr id="8" name="Text 6"/>
          <p:cNvSpPr/>
          <p:nvPr/>
        </p:nvSpPr>
        <p:spPr>
          <a:xfrm>
            <a:off x="548640" y="1554480"/>
            <a:ext cx="3840480" cy="3931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AI accelerator package close-up, NVIDIA H100/H200 or Blackwell style. Large central logic die surrounded by HBM memory stacks on a CoWoS substrate, gold contact pads visible, dramatic studio lighting on dark backdrop, square framing.</a:t>
            </a:r>
            <a:endParaRPr lang="en-US" sz="1000" dirty="0"/>
          </a:p>
        </p:txBody>
      </p:sp>
      <p:sp>
        <p:nvSpPr>
          <p:cNvPr id="9" name="Text 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An AI accelerator package: a large processor chip surrounded by high-speed memory chips, all wired into one unit.</a:t>
            </a:r>
            <a:endParaRPr lang="en-US" sz="800" dirty="0"/>
          </a:p>
        </p:txBody>
      </p:sp>
      <p:sp>
        <p:nvSpPr>
          <p:cNvPr id="10" name="Text 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11" name="Shape 9"/>
          <p:cNvSpPr/>
          <p:nvPr/>
        </p:nvSpPr>
        <p:spPr>
          <a:xfrm>
            <a:off x="4617720" y="1783080"/>
            <a:ext cx="4069080" cy="0"/>
          </a:xfrm>
          <a:prstGeom prst="line">
            <a:avLst/>
          </a:prstGeom>
          <a:noFill/>
          <a:ln w="6350">
            <a:solidFill>
              <a:srgbClr val="E5E5E5"/>
            </a:solidFill>
            <a:prstDash val="solid"/>
          </a:ln>
        </p:spPr>
      </p:sp>
      <p:sp>
        <p:nvSpPr>
          <p:cNvPr id="12" name="Shape 10"/>
          <p:cNvSpPr/>
          <p:nvPr/>
        </p:nvSpPr>
        <p:spPr>
          <a:xfrm>
            <a:off x="4617720" y="1911096"/>
            <a:ext cx="384048" cy="384048"/>
          </a:xfrm>
          <a:prstGeom prst="ellipse">
            <a:avLst/>
          </a:prstGeom>
          <a:solidFill>
            <a:srgbClr val="6B46C1"/>
          </a:solidFill>
          <a:ln w="12700">
            <a:solidFill>
              <a:srgbClr val="6B46C1"/>
            </a:solidFill>
            <a:prstDash val="solid"/>
          </a:ln>
        </p:spPr>
      </p:sp>
      <p:sp>
        <p:nvSpPr>
          <p:cNvPr id="13" name="Text 1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14" name="Text 1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15" name="Text 1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16" name="Shape 14"/>
          <p:cNvSpPr/>
          <p:nvPr/>
        </p:nvSpPr>
        <p:spPr>
          <a:xfrm>
            <a:off x="4617720" y="2816352"/>
            <a:ext cx="4069080" cy="0"/>
          </a:xfrm>
          <a:prstGeom prst="line">
            <a:avLst/>
          </a:prstGeom>
          <a:noFill/>
          <a:ln w="6350">
            <a:solidFill>
              <a:srgbClr val="E5E5E5"/>
            </a:solidFill>
            <a:prstDash val="solid"/>
          </a:ln>
        </p:spPr>
      </p:sp>
      <p:sp>
        <p:nvSpPr>
          <p:cNvPr id="17" name="Shape 15"/>
          <p:cNvSpPr/>
          <p:nvPr/>
        </p:nvSpPr>
        <p:spPr>
          <a:xfrm>
            <a:off x="4617720" y="2871216"/>
            <a:ext cx="384048" cy="384048"/>
          </a:xfrm>
          <a:prstGeom prst="ellipse">
            <a:avLst/>
          </a:prstGeom>
          <a:solidFill>
            <a:srgbClr val="E8478D"/>
          </a:solidFill>
          <a:ln w="12700">
            <a:solidFill>
              <a:srgbClr val="E8478D"/>
            </a:solidFill>
            <a:prstDash val="solid"/>
          </a:ln>
        </p:spPr>
      </p:sp>
      <p:sp>
        <p:nvSpPr>
          <p:cNvPr id="18" name="Text 1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19" name="Text 1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20" name="Text 1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21" name="Shape 19"/>
          <p:cNvSpPr/>
          <p:nvPr/>
        </p:nvSpPr>
        <p:spPr>
          <a:xfrm>
            <a:off x="4617720" y="3776472"/>
            <a:ext cx="4069080" cy="0"/>
          </a:xfrm>
          <a:prstGeom prst="line">
            <a:avLst/>
          </a:prstGeom>
          <a:noFill/>
          <a:ln w="6350">
            <a:solidFill>
              <a:srgbClr val="E5E5E5"/>
            </a:solidFill>
            <a:prstDash val="solid"/>
          </a:ln>
        </p:spPr>
      </p:sp>
      <p:sp>
        <p:nvSpPr>
          <p:cNvPr id="22" name="Shape 20"/>
          <p:cNvSpPr/>
          <p:nvPr/>
        </p:nvSpPr>
        <p:spPr>
          <a:xfrm>
            <a:off x="4617720" y="3831336"/>
            <a:ext cx="384048" cy="384048"/>
          </a:xfrm>
          <a:prstGeom prst="ellipse">
            <a:avLst/>
          </a:prstGeom>
          <a:solidFill>
            <a:srgbClr val="008B8B"/>
          </a:solidFill>
          <a:ln w="12700">
            <a:solidFill>
              <a:srgbClr val="008B8B"/>
            </a:solidFill>
            <a:prstDash val="solid"/>
          </a:ln>
        </p:spPr>
      </p:sp>
      <p:sp>
        <p:nvSpPr>
          <p:cNvPr id="23" name="Text 2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24" name="Text 2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25" name="Text 2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26" name="Shape 24"/>
          <p:cNvSpPr/>
          <p:nvPr/>
        </p:nvSpPr>
        <p:spPr>
          <a:xfrm>
            <a:off x="4617720" y="4736592"/>
            <a:ext cx="4069080" cy="0"/>
          </a:xfrm>
          <a:prstGeom prst="line">
            <a:avLst/>
          </a:prstGeom>
          <a:noFill/>
          <a:ln w="6350">
            <a:solidFill>
              <a:srgbClr val="E5E5E5"/>
            </a:solidFill>
            <a:prstDash val="solid"/>
          </a:ln>
        </p:spPr>
      </p:sp>
      <p:sp>
        <p:nvSpPr>
          <p:cNvPr id="27" name="Shape 25"/>
          <p:cNvSpPr/>
          <p:nvPr/>
        </p:nvSpPr>
        <p:spPr>
          <a:xfrm>
            <a:off x="4617720" y="4791456"/>
            <a:ext cx="384048" cy="384048"/>
          </a:xfrm>
          <a:prstGeom prst="ellipse">
            <a:avLst/>
          </a:prstGeom>
          <a:solidFill>
            <a:srgbClr val="051A3D"/>
          </a:solidFill>
          <a:ln w="12700">
            <a:solidFill>
              <a:srgbClr val="051A3D"/>
            </a:solidFill>
            <a:prstDash val="solid"/>
          </a:ln>
        </p:spPr>
      </p:sp>
      <p:sp>
        <p:nvSpPr>
          <p:cNvPr id="28" name="Text 2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29" name="Text 2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30" name="Text 2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31" name="Text 2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32" name="Shape 30"/>
          <p:cNvSpPr/>
          <p:nvPr/>
        </p:nvSpPr>
        <p:spPr>
          <a:xfrm>
            <a:off x="0" y="6286500"/>
            <a:ext cx="9144000" cy="571500"/>
          </a:xfrm>
          <a:prstGeom prst="rect">
            <a:avLst/>
          </a:prstGeom>
          <a:solidFill>
            <a:srgbClr val="000000"/>
          </a:solidFill>
          <a:ln w="12700">
            <a:solidFill>
              <a:srgbClr val="000000"/>
            </a:solidFill>
            <a:prstDash val="solid"/>
          </a:ln>
        </p:spPr>
      </p:sp>
      <p:sp>
        <p:nvSpPr>
          <p:cNvPr id="33" name="Text 3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1000" b="1" spc="200" kern="0" dirty="0">
                <a:solidFill>
                  <a:srgbClr val="000000"/>
                </a:solidFill>
                <a:latin typeface="Arial" pitchFamily="34" charset="0"/>
                <a:ea typeface="Arial" pitchFamily="34" charset="-122"/>
                <a:cs typeface="Arial" pitchFamily="34" charset="-120"/>
              </a:rPr>
              <a:t>HYPERSCALERS</a:t>
            </a:r>
            <a:endParaRPr lang="en-US" sz="10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SOVEREIGNS</a:t>
            </a:r>
            <a:endParaRPr lang="en-US" sz="10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ENTERPRISE</a:t>
            </a:r>
            <a:endParaRPr lang="en-US" sz="10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CONSUMER + EDGE</a:t>
            </a:r>
            <a:endParaRPr lang="en-US" sz="10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hyperscale AI campus now draws as much electricity as a mid-sized city. The grid, not the chip, is starting to set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after February's $1.25T all-stock merger.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8229600" cy="758952"/>
          </a:xfrm>
          <a:prstGeom prst="rect">
            <a:avLst/>
          </a:prstGeom>
          <a:solidFill>
            <a:srgbClr val="FFFFFF"/>
          </a:solidFill>
          <a:ln w="6350">
            <a:solidFill>
              <a:srgbClr val="E5E5E5"/>
            </a:solidFill>
            <a:prstDash val="solid"/>
          </a:ln>
        </p:spPr>
      </p:sp>
      <p:pic>
        <p:nvPicPr>
          <p:cNvPr id="8"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9" name="Text 6"/>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0" name="Text 7"/>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1" name="Text 8"/>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2" name="Text 9"/>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Apr 2026</a:t>
            </a:r>
            <a:endParaRPr lang="en-US" sz="1100" dirty="0"/>
          </a:p>
        </p:txBody>
      </p:sp>
      <p:sp>
        <p:nvSpPr>
          <p:cNvPr id="13" name="Shape 10"/>
          <p:cNvSpPr/>
          <p:nvPr/>
        </p:nvSpPr>
        <p:spPr>
          <a:xfrm>
            <a:off x="457200" y="2496312"/>
            <a:ext cx="8229600" cy="758952"/>
          </a:xfrm>
          <a:prstGeom prst="rect">
            <a:avLst/>
          </a:prstGeom>
          <a:solidFill>
            <a:srgbClr val="F9F9F9"/>
          </a:solidFill>
          <a:ln w="6350">
            <a:solidFill>
              <a:srgbClr val="E5E5E5"/>
            </a:solidFill>
            <a:prstDash val="solid"/>
          </a:ln>
        </p:spPr>
      </p:sp>
      <p:pic>
        <p:nvPicPr>
          <p:cNvPr id="14"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15" name="Text 11"/>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16" name="Text 12"/>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$380B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17" name="Text 13"/>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~13× ARR</a:t>
            </a:r>
            <a:endParaRPr lang="en-US" sz="1200" dirty="0"/>
          </a:p>
        </p:txBody>
      </p:sp>
      <p:sp>
        <p:nvSpPr>
          <p:cNvPr id="18" name="Text 14"/>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VCs now offering $800B+</a:t>
            </a:r>
            <a:endParaRPr lang="en-US" sz="1100" dirty="0"/>
          </a:p>
        </p:txBody>
      </p:sp>
      <p:sp>
        <p:nvSpPr>
          <p:cNvPr id="19" name="Shape 15"/>
          <p:cNvSpPr/>
          <p:nvPr/>
        </p:nvSpPr>
        <p:spPr>
          <a:xfrm>
            <a:off x="457200" y="3300984"/>
            <a:ext cx="8229600" cy="758952"/>
          </a:xfrm>
          <a:prstGeom prst="rect">
            <a:avLst/>
          </a:prstGeom>
          <a:solidFill>
            <a:srgbClr val="FFFFFF"/>
          </a:solidFill>
          <a:ln w="6350">
            <a:solidFill>
              <a:srgbClr val="E5E5E5"/>
            </a:solidFill>
            <a:prstDash val="solid"/>
          </a:ln>
        </p:spPr>
      </p:sp>
      <p:pic>
        <p:nvPicPr>
          <p:cNvPr id="20"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1" name="Text 16"/>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2" name="Text 17"/>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$2.3T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3" name="Text 18"/>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~20× P/E</a:t>
            </a:r>
            <a:endParaRPr lang="en-US" sz="1200" dirty="0"/>
          </a:p>
        </p:txBody>
      </p:sp>
      <p:sp>
        <p:nvSpPr>
          <p:cNvPr id="24" name="Text 19"/>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 / DeepMind · ~$85B 2026 capex</a:t>
            </a:r>
            <a:endParaRPr lang="en-US" sz="1100" dirty="0"/>
          </a:p>
        </p:txBody>
      </p:sp>
      <p:sp>
        <p:nvSpPr>
          <p:cNvPr id="25" name="Shape 20"/>
          <p:cNvSpPr/>
          <p:nvPr/>
        </p:nvSpPr>
        <p:spPr>
          <a:xfrm>
            <a:off x="457200" y="4105656"/>
            <a:ext cx="8229600" cy="758952"/>
          </a:xfrm>
          <a:prstGeom prst="rect">
            <a:avLst/>
          </a:prstGeom>
          <a:solidFill>
            <a:srgbClr val="F9F9F9"/>
          </a:solidFill>
          <a:ln w="6350">
            <a:solidFill>
              <a:srgbClr val="E5E5E5"/>
            </a:solidFill>
            <a:prstDash val="solid"/>
          </a:ln>
        </p:spPr>
      </p:sp>
      <p:pic>
        <p:nvPicPr>
          <p:cNvPr id="26"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27" name="Text 21"/>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28" name="Text 22"/>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29" name="Text 23"/>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0" name="Text 24"/>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All-stock merger closed Feb 2, 2026 — xAI now a SpaceX subsidiary</a:t>
            </a:r>
            <a:endParaRPr lang="en-US" sz="1100" dirty="0"/>
          </a:p>
        </p:txBody>
      </p:sp>
      <p:sp>
        <p:nvSpPr>
          <p:cNvPr id="31" name="Text 25"/>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All valuations as of Apr 22, 2026.</a:t>
            </a:r>
            <a:endParaRPr lang="en-US" sz="800" dirty="0"/>
          </a:p>
        </p:txBody>
      </p:sp>
      <p:sp>
        <p:nvSpPr>
          <p:cNvPr id="32" name="Shape 26"/>
          <p:cNvSpPr/>
          <p:nvPr/>
        </p:nvSpPr>
        <p:spPr>
          <a:xfrm>
            <a:off x="457200" y="5166360"/>
            <a:ext cx="8229600" cy="502920"/>
          </a:xfrm>
          <a:prstGeom prst="rect">
            <a:avLst/>
          </a:prstGeom>
          <a:solidFill>
            <a:srgbClr val="FFD100"/>
          </a:solidFill>
          <a:ln w="12700">
            <a:solidFill>
              <a:srgbClr val="FFD100"/>
            </a:solidFill>
            <a:prstDash val="solid"/>
          </a:ln>
        </p:spPr>
      </p:sp>
      <p:sp>
        <p:nvSpPr>
          <p:cNvPr id="33" name="Text 27"/>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4" name="Text 28"/>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Apr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Sacra / Bloomberg — Anthropic Series G, Feb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Alphabet 10-K + 2026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TechCrunch / CNBC — xAI-SpaceX merger, Feb 2,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35" name="Shape 29"/>
          <p:cNvSpPr/>
          <p:nvPr/>
        </p:nvSpPr>
        <p:spPr>
          <a:xfrm>
            <a:off x="0" y="6286500"/>
            <a:ext cx="9144000" cy="571500"/>
          </a:xfrm>
          <a:prstGeom prst="rect">
            <a:avLst/>
          </a:prstGeom>
          <a:solidFill>
            <a:srgbClr val="000000"/>
          </a:solidFill>
          <a:ln w="12700">
            <a:solidFill>
              <a:srgbClr val="000000"/>
            </a:solidFill>
            <a:prstDash val="solid"/>
          </a:ln>
        </p:spPr>
      </p:sp>
      <p:sp>
        <p:nvSpPr>
          <p:cNvPr id="36" name="Text 3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4× faster than Top 10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4×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401568"/>
            <a:ext cx="512064" cy="804672"/>
          </a:xfrm>
          <a:prstGeom prst="rect">
            <a:avLst/>
          </a:prstGeom>
          <a:solidFill>
            <a:srgbClr val="F6693D"/>
          </a:solidFill>
          <a:ln w="12700">
            <a:solidFill>
              <a:srgbClr val="F6693D"/>
            </a:solidFill>
            <a:prstDash val="solid"/>
          </a:ln>
        </p:spPr>
      </p:sp>
      <p:sp>
        <p:nvSpPr>
          <p:cNvPr id="11" name="Text 9"/>
          <p:cNvSpPr/>
          <p:nvPr/>
        </p:nvSpPr>
        <p:spPr>
          <a:xfrm>
            <a:off x="603504" y="312724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22%</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3004457"/>
            <a:ext cx="512064" cy="1201783"/>
          </a:xfrm>
          <a:prstGeom prst="rect">
            <a:avLst/>
          </a:prstGeom>
          <a:solidFill>
            <a:srgbClr val="F6693D"/>
          </a:solidFill>
          <a:ln w="12700">
            <a:solidFill>
              <a:srgbClr val="F6693D"/>
            </a:solidFill>
            <a:prstDash val="solid"/>
          </a:ln>
        </p:spPr>
      </p:sp>
      <p:sp>
        <p:nvSpPr>
          <p:cNvPr id="23" name="Text 21"/>
          <p:cNvSpPr/>
          <p:nvPr/>
        </p:nvSpPr>
        <p:spPr>
          <a:xfrm>
            <a:off x="3163824" y="2730137"/>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23x</a:t>
            </a:r>
            <a:endParaRPr lang="en-US" sz="1050" dirty="0"/>
          </a:p>
        </p:txBody>
      </p:sp>
      <p:sp>
        <p:nvSpPr>
          <p:cNvPr id="24" name="Shape 22"/>
          <p:cNvSpPr/>
          <p:nvPr/>
        </p:nvSpPr>
        <p:spPr>
          <a:xfrm>
            <a:off x="3730752" y="2795451"/>
            <a:ext cx="512064" cy="1410789"/>
          </a:xfrm>
          <a:prstGeom prst="rect">
            <a:avLst/>
          </a:prstGeom>
          <a:solidFill>
            <a:srgbClr val="666666"/>
          </a:solidFill>
          <a:ln w="12700">
            <a:solidFill>
              <a:srgbClr val="666666"/>
            </a:solidFill>
            <a:prstDash val="solid"/>
          </a:ln>
        </p:spPr>
      </p:sp>
      <p:sp>
        <p:nvSpPr>
          <p:cNvPr id="25" name="Text 23"/>
          <p:cNvSpPr/>
          <p:nvPr/>
        </p:nvSpPr>
        <p:spPr>
          <a:xfrm>
            <a:off x="3730752" y="2521131"/>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27x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2971800"/>
          </a:xfrm>
          <a:prstGeom prst="rect">
            <a:avLst/>
          </a:prstGeom>
          <a:solidFill>
            <a:srgbClr val="EEEEEE"/>
          </a:solidFill>
          <a:ln w="9525">
            <a:solidFill>
              <a:srgbClr val="BBBBBB"/>
            </a:solidFill>
            <a:prstDash val="dash"/>
          </a:ln>
        </p:spPr>
      </p:sp>
      <p:sp>
        <p:nvSpPr>
          <p:cNvPr id="8" name="Text 6"/>
          <p:cNvSpPr/>
          <p:nvPr/>
        </p:nvSpPr>
        <p:spPr>
          <a:xfrm>
            <a:off x="548640" y="1691640"/>
            <a:ext cx="2834640" cy="29718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Screenshot — dark-mode IDE, AI agent editing Python code live, glowing orange cursor, 'Claude is editing' pill, streaming test output in a terminal pane, square framing</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0" name="Shape 7"/>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8"/>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10–100× compute step-up per session is what every AI capex forecast is pricing in.</a:t>
            </a:r>
            <a:endParaRPr lang="en-US" sz="1300" dirty="0"/>
          </a:p>
        </p:txBody>
      </p:sp>
      <p:sp>
        <p:nvSpPr>
          <p:cNvPr id="12" name="Text 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Morgan Stanley CIO Survey; Strategy Research.</a:t>
            </a:r>
            <a:endParaRPr lang="en-US" sz="700" dirty="0"/>
          </a:p>
        </p:txBody>
      </p:sp>
      <p:sp>
        <p:nvSpPr>
          <p:cNvPr id="13" name="Shape 10"/>
          <p:cNvSpPr/>
          <p:nvPr/>
        </p:nvSpPr>
        <p:spPr>
          <a:xfrm>
            <a:off x="0" y="6286500"/>
            <a:ext cx="9144000" cy="571500"/>
          </a:xfrm>
          <a:prstGeom prst="rect">
            <a:avLst/>
          </a:prstGeom>
          <a:solidFill>
            <a:srgbClr val="000000"/>
          </a:solidFill>
          <a:ln w="12700">
            <a:solidFill>
              <a:srgbClr val="000000"/>
            </a:solidFill>
            <a:prstDash val="solid"/>
          </a:ln>
        </p:spPr>
      </p:sp>
      <p:sp>
        <p:nvSpPr>
          <p:cNvPr id="14" name="Text 1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50+ point spread inside a single theme — and the pain is now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Agentic AI threatens per-seat pricing; 2026 CIO surveys flag displacement risk on horizontal SaaS.</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public software multiples, Apr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bubble question.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5074920"/>
            <a:ext cx="8229600" cy="365760"/>
          </a:xfrm>
          <a:prstGeom prst="rect">
            <a:avLst/>
          </a:prstGeom>
          <a:solidFill>
            <a:srgbClr val="FFD100"/>
          </a:solidFill>
          <a:ln w="12700">
            <a:solidFill>
              <a:srgbClr val="FFD100"/>
            </a:solidFill>
            <a:prstDash val="solid"/>
          </a:ln>
        </p:spPr>
      </p:sp>
      <p:sp>
        <p:nvSpPr>
          <p:cNvPr id="36" name="Text 34"/>
          <p:cNvSpPr/>
          <p:nvPr/>
        </p:nvSpPr>
        <p:spPr>
          <a:xfrm>
            <a:off x="640080" y="5074920"/>
            <a:ext cx="7863840" cy="36576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stretched valuations AND supply exceeding demand. </a:t>
            </a:r>
            <a:pPr indent="0" marL="0">
              <a:buNone/>
            </a:pPr>
            <a:r>
              <a:rPr lang="en-US" sz="1150" b="1" dirty="0">
                <a:solidFill>
                  <a:srgbClr val="CC0000"/>
                </a:solidFill>
                <a:latin typeface="Arial" pitchFamily="34" charset="0"/>
                <a:ea typeface="Arial" pitchFamily="34" charset="-122"/>
                <a:cs typeface="Arial" pitchFamily="34" charset="-120"/>
              </a:rPr>
              <a:t>Neither condition holds today.</a:t>
            </a:r>
            <a:endParaRPr lang="en-US" sz="1100" dirty="0"/>
          </a:p>
        </p:txBody>
      </p:sp>
      <p:sp>
        <p:nvSpPr>
          <p:cNvPr id="37" name="Text 35"/>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a:t>
            </a:r>
            <a:endParaRPr lang="en-US" sz="700" dirty="0"/>
          </a:p>
        </p:txBody>
      </p:sp>
      <p:sp>
        <p:nvSpPr>
          <p:cNvPr id="38" name="Shape 36"/>
          <p:cNvSpPr/>
          <p:nvPr/>
        </p:nvSpPr>
        <p:spPr>
          <a:xfrm>
            <a:off x="0" y="6286500"/>
            <a:ext cx="9144000" cy="571500"/>
          </a:xfrm>
          <a:prstGeom prst="rect">
            <a:avLst/>
          </a:prstGeom>
          <a:solidFill>
            <a:srgbClr val="000000"/>
          </a:solidFill>
          <a:ln w="12700">
            <a:solidFill>
              <a:srgbClr val="000000"/>
            </a:solidFill>
            <a:prstDash val="solid"/>
          </a:ln>
        </p:spPr>
      </p:sp>
      <p:sp>
        <p:nvSpPr>
          <p:cNvPr id="39" name="Text 3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Communities, voters, and labor are pricing the AI infrastructure bet lower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200400" cy="3200400"/>
          </a:xfrm>
          <a:prstGeom prst="rect">
            <a:avLst/>
          </a:prstGeom>
          <a:solidFill>
            <a:srgbClr val="EEEEEE"/>
          </a:solidFill>
          <a:ln w="9525">
            <a:solidFill>
              <a:srgbClr val="BBBBBB"/>
            </a:solidFill>
            <a:prstDash val="dash"/>
          </a:ln>
        </p:spPr>
      </p:sp>
      <p:sp>
        <p:nvSpPr>
          <p:cNvPr id="8" name="Text 6"/>
          <p:cNvSpPr/>
          <p:nvPr/>
        </p:nvSpPr>
        <p:spPr>
          <a:xfrm>
            <a:off x="548640" y="1691640"/>
            <a:ext cx="3017520" cy="32004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Photojournalism — 'STOP THE AI RACE' hand-lettered protest signs at a dusk rally, shoulder-height crowd POV, warm golden-hour sky, faces in shadow, signs in sharp focus, square</a:t>
            </a:r>
            <a:endParaRPr lang="en-US" sz="1000" dirty="0"/>
          </a:p>
        </p:txBody>
      </p:sp>
      <p:sp>
        <p:nvSpPr>
          <p:cNvPr id="9" name="Text 7"/>
          <p:cNvSpPr/>
          <p:nvPr/>
        </p:nvSpPr>
        <p:spPr>
          <a:xfrm>
            <a:off x="3886200" y="1783080"/>
            <a:ext cx="4800600" cy="685800"/>
          </a:xfrm>
          <a:prstGeom prst="rect">
            <a:avLst/>
          </a:prstGeom>
          <a:noFill/>
          <a:ln/>
        </p:spPr>
        <p:txBody>
          <a:bodyPr wrap="square" lIns="0" tIns="0" rIns="0" bIns="0" rtlCol="0" anchor="t"/>
          <a:lstStyle/>
          <a:p>
            <a:pPr indent="0" marL="0">
              <a:buNone/>
            </a:pPr>
            <a:r>
              <a:rPr lang="en-US" sz="1150" dirty="0">
                <a:solidFill>
                  <a:srgbClr val="666666"/>
                </a:solidFill>
                <a:latin typeface="Arial" pitchFamily="34" charset="0"/>
                <a:ea typeface="Arial" pitchFamily="34" charset="-122"/>
                <a:cs typeface="Arial" pitchFamily="34" charset="-120"/>
              </a:rPr>
              <a:t>Three forces now price the AI infrastructure bet lower: communities blocking the builds, voters souring on the technology, and a shortage of the skilled workers who wire it all up.</a:t>
            </a:r>
            <a:endParaRPr lang="en-US" sz="1150" dirty="0"/>
          </a:p>
        </p:txBody>
      </p:sp>
      <p:sp>
        <p:nvSpPr>
          <p:cNvPr id="10" name="Shape 8"/>
          <p:cNvSpPr/>
          <p:nvPr/>
        </p:nvSpPr>
        <p:spPr>
          <a:xfrm>
            <a:off x="3886200" y="2514600"/>
            <a:ext cx="4800600" cy="868680"/>
          </a:xfrm>
          <a:prstGeom prst="rect">
            <a:avLst/>
          </a:prstGeom>
          <a:solidFill>
            <a:srgbClr val="F9F9F9"/>
          </a:solidFill>
          <a:ln w="6350">
            <a:solidFill>
              <a:srgbClr val="E5E5E5"/>
            </a:solidFill>
            <a:prstDash val="solid"/>
          </a:ln>
        </p:spPr>
      </p:sp>
      <p:sp>
        <p:nvSpPr>
          <p:cNvPr id="11" name="Shape 9"/>
          <p:cNvSpPr/>
          <p:nvPr/>
        </p:nvSpPr>
        <p:spPr>
          <a:xfrm>
            <a:off x="3886200" y="2514600"/>
            <a:ext cx="4800600" cy="292608"/>
          </a:xfrm>
          <a:prstGeom prst="rect">
            <a:avLst/>
          </a:prstGeom>
          <a:solidFill>
            <a:srgbClr val="CC0000"/>
          </a:solidFill>
          <a:ln w="12700">
            <a:solidFill>
              <a:srgbClr val="CC0000"/>
            </a:solidFill>
            <a:prstDash val="solid"/>
          </a:ln>
        </p:spPr>
      </p:sp>
      <p:sp>
        <p:nvSpPr>
          <p:cNvPr id="12" name="Text 10"/>
          <p:cNvSpPr/>
          <p:nvPr/>
        </p:nvSpPr>
        <p:spPr>
          <a:xfrm>
            <a:off x="3886200" y="2514600"/>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NIMBY REVOLT</a:t>
            </a:r>
            <a:endParaRPr lang="en-US" sz="1000" dirty="0"/>
          </a:p>
        </p:txBody>
      </p:sp>
      <p:sp>
        <p:nvSpPr>
          <p:cNvPr id="13" name="Text 11"/>
          <p:cNvSpPr/>
          <p:nvPr/>
        </p:nvSpPr>
        <p:spPr>
          <a:xfrm>
            <a:off x="4023360" y="2880360"/>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$18B halted, $46B delayed. 142 activist groups across 24 states — Virginia leads with 42 chapters.</a:t>
            </a:r>
            <a:pPr indent="0" marL="0">
              <a:buNone/>
            </a:pPr>
            <a:r>
              <a:rPr lang="en-US" sz="700" baseline="30000" dirty="0">
                <a:solidFill>
                  <a:srgbClr val="333333"/>
                </a:solidFill>
                <a:latin typeface="Arial" pitchFamily="34" charset="0"/>
                <a:ea typeface="Arial" pitchFamily="34" charset="-122"/>
                <a:cs typeface="Arial" pitchFamily="34" charset="-120"/>
              </a:rPr>
              <a:t> 1</a:t>
            </a:r>
            <a:endParaRPr lang="en-US" sz="1050" dirty="0"/>
          </a:p>
        </p:txBody>
      </p:sp>
      <p:sp>
        <p:nvSpPr>
          <p:cNvPr id="14" name="Shape 12"/>
          <p:cNvSpPr/>
          <p:nvPr/>
        </p:nvSpPr>
        <p:spPr>
          <a:xfrm>
            <a:off x="3886200" y="3456432"/>
            <a:ext cx="4800600" cy="868680"/>
          </a:xfrm>
          <a:prstGeom prst="rect">
            <a:avLst/>
          </a:prstGeom>
          <a:solidFill>
            <a:srgbClr val="F9F9F9"/>
          </a:solidFill>
          <a:ln w="6350">
            <a:solidFill>
              <a:srgbClr val="E5E5E5"/>
            </a:solidFill>
            <a:prstDash val="solid"/>
          </a:ln>
        </p:spPr>
      </p:sp>
      <p:sp>
        <p:nvSpPr>
          <p:cNvPr id="15" name="Shape 13"/>
          <p:cNvSpPr/>
          <p:nvPr/>
        </p:nvSpPr>
        <p:spPr>
          <a:xfrm>
            <a:off x="3886200" y="3456432"/>
            <a:ext cx="4800600" cy="292608"/>
          </a:xfrm>
          <a:prstGeom prst="rect">
            <a:avLst/>
          </a:prstGeom>
          <a:solidFill>
            <a:srgbClr val="CC0000"/>
          </a:solidFill>
          <a:ln w="12700">
            <a:solidFill>
              <a:srgbClr val="CC0000"/>
            </a:solidFill>
            <a:prstDash val="solid"/>
          </a:ln>
        </p:spPr>
      </p:sp>
      <p:sp>
        <p:nvSpPr>
          <p:cNvPr id="16" name="Text 14"/>
          <p:cNvSpPr/>
          <p:nvPr/>
        </p:nvSpPr>
        <p:spPr>
          <a:xfrm>
            <a:off x="3886200" y="3456432"/>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ANTI-AI SENTIMENT</a:t>
            </a:r>
            <a:endParaRPr lang="en-US" sz="1000" dirty="0"/>
          </a:p>
        </p:txBody>
      </p:sp>
      <p:sp>
        <p:nvSpPr>
          <p:cNvPr id="17" name="Text 15"/>
          <p:cNvSpPr/>
          <p:nvPr/>
        </p:nvSpPr>
        <p:spPr>
          <a:xfrm>
            <a:off x="4023360" y="3822192"/>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Only 26%</a:t>
            </a:r>
            <a:pPr indent="0" marL="0">
              <a:buNone/>
            </a:pPr>
            <a:r>
              <a:rPr lang="en-US" sz="700" baseline="30000" dirty="0">
                <a:solidFill>
                  <a:srgbClr val="333333"/>
                </a:solidFill>
                <a:latin typeface="Arial" pitchFamily="34" charset="0"/>
                <a:ea typeface="Arial" pitchFamily="34" charset="-122"/>
                <a:cs typeface="Arial" pitchFamily="34" charset="-120"/>
              </a:rPr>
              <a:t> 2</a:t>
            </a:r>
            <a:pPr indent="0" marL="0">
              <a:buNone/>
            </a:pPr>
            <a:r>
              <a:rPr lang="en-US" sz="1050" dirty="0">
                <a:solidFill>
                  <a:srgbClr val="333333"/>
                </a:solidFill>
                <a:latin typeface="Arial" pitchFamily="34" charset="0"/>
                <a:ea typeface="Arial" pitchFamily="34" charset="-122"/>
                <a:cs typeface="Arial" pitchFamily="34" charset="-120"/>
              </a:rPr>
              <a:t> (Echelon Insights, Mar 2026) of Americans view AI positively. March 2026 "Stop the AI Race" protests</a:t>
            </a:r>
            <a:pPr indent="0" marL="0">
              <a:buNone/>
            </a:pPr>
            <a:r>
              <a:rPr lang="en-US" sz="700" baseline="30000" dirty="0">
                <a:solidFill>
                  <a:srgbClr val="333333"/>
                </a:solidFill>
                <a:latin typeface="Arial" pitchFamily="34" charset="0"/>
                <a:ea typeface="Arial" pitchFamily="34" charset="-122"/>
                <a:cs typeface="Arial" pitchFamily="34" charset="-120"/>
              </a:rPr>
              <a:t> 3</a:t>
            </a:r>
            <a:pPr indent="0" marL="0">
              <a:buNone/>
            </a:pPr>
            <a:r>
              <a:rPr lang="en-US" sz="1050" dirty="0">
                <a:solidFill>
                  <a:srgbClr val="333333"/>
                </a:solidFill>
                <a:latin typeface="Arial" pitchFamily="34" charset="0"/>
                <a:ea typeface="Arial" pitchFamily="34" charset="-122"/>
                <a:cs typeface="Arial" pitchFamily="34" charset="-120"/>
              </a:rPr>
              <a:t> hit lab HQs in SF and DC.</a:t>
            </a:r>
            <a:endParaRPr lang="en-US" sz="1050" dirty="0"/>
          </a:p>
        </p:txBody>
      </p:sp>
      <p:sp>
        <p:nvSpPr>
          <p:cNvPr id="18" name="Shape 16"/>
          <p:cNvSpPr/>
          <p:nvPr/>
        </p:nvSpPr>
        <p:spPr>
          <a:xfrm>
            <a:off x="3886200" y="4398264"/>
            <a:ext cx="4800600" cy="868680"/>
          </a:xfrm>
          <a:prstGeom prst="rect">
            <a:avLst/>
          </a:prstGeom>
          <a:solidFill>
            <a:srgbClr val="F9F9F9"/>
          </a:solidFill>
          <a:ln w="6350">
            <a:solidFill>
              <a:srgbClr val="E5E5E5"/>
            </a:solidFill>
            <a:prstDash val="solid"/>
          </a:ln>
        </p:spPr>
      </p:sp>
      <p:sp>
        <p:nvSpPr>
          <p:cNvPr id="19" name="Shape 17"/>
          <p:cNvSpPr/>
          <p:nvPr/>
        </p:nvSpPr>
        <p:spPr>
          <a:xfrm>
            <a:off x="3886200" y="4398264"/>
            <a:ext cx="4800600" cy="292608"/>
          </a:xfrm>
          <a:prstGeom prst="rect">
            <a:avLst/>
          </a:prstGeom>
          <a:solidFill>
            <a:srgbClr val="CC0000"/>
          </a:solidFill>
          <a:ln w="12700">
            <a:solidFill>
              <a:srgbClr val="CC0000"/>
            </a:solidFill>
            <a:prstDash val="solid"/>
          </a:ln>
        </p:spPr>
      </p:sp>
      <p:sp>
        <p:nvSpPr>
          <p:cNvPr id="20" name="Text 18"/>
          <p:cNvSpPr/>
          <p:nvPr/>
        </p:nvSpPr>
        <p:spPr>
          <a:xfrm>
            <a:off x="3886200" y="4398264"/>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LABOR SHORTAGE</a:t>
            </a:r>
            <a:endParaRPr lang="en-US" sz="1000" dirty="0"/>
          </a:p>
        </p:txBody>
      </p:sp>
      <p:sp>
        <p:nvSpPr>
          <p:cNvPr id="21" name="Text 19"/>
          <p:cNvSpPr/>
          <p:nvPr/>
        </p:nvSpPr>
        <p:spPr>
          <a:xfrm>
            <a:off x="4023360" y="4764024"/>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A ~480K data-center workforce gap against 400+ sites under construction.</a:t>
            </a:r>
            <a:pPr indent="0" marL="0">
              <a:buNone/>
            </a:pPr>
            <a:r>
              <a:rPr lang="en-US" sz="700" baseline="30000" dirty="0">
                <a:solidFill>
                  <a:srgbClr val="333333"/>
                </a:solidFill>
                <a:latin typeface="Arial" pitchFamily="34" charset="0"/>
                <a:ea typeface="Arial" pitchFamily="34" charset="-122"/>
                <a:cs typeface="Arial" pitchFamily="34" charset="-120"/>
              </a:rPr>
              <a:t> 4</a:t>
            </a:r>
            <a:pPr indent="0" marL="0">
              <a:buNone/>
            </a:pPr>
            <a:r>
              <a:rPr lang="en-US" sz="1050" dirty="0">
                <a:solidFill>
                  <a:srgbClr val="333333"/>
                </a:solidFill>
                <a:latin typeface="Arial" pitchFamily="34" charset="0"/>
                <a:ea typeface="Arial" pitchFamily="34" charset="-122"/>
                <a:cs typeface="Arial" pitchFamily="34" charset="-120"/>
              </a:rPr>
              <a:t> Talent, not capital, is binding.</a:t>
            </a:r>
            <a:endParaRPr lang="en-US" sz="1050" dirty="0"/>
          </a:p>
        </p:txBody>
      </p:sp>
      <p:sp>
        <p:nvSpPr>
          <p:cNvPr id="22" name="Shape 20"/>
          <p:cNvSpPr/>
          <p:nvPr/>
        </p:nvSpPr>
        <p:spPr>
          <a:xfrm>
            <a:off x="457200" y="5394960"/>
            <a:ext cx="8229600" cy="365760"/>
          </a:xfrm>
          <a:prstGeom prst="rect">
            <a:avLst/>
          </a:prstGeom>
          <a:solidFill>
            <a:srgbClr val="CC0000"/>
          </a:solidFill>
          <a:ln w="12700">
            <a:solidFill>
              <a:srgbClr val="CC0000"/>
            </a:solidFill>
            <a:prstDash val="solid"/>
          </a:ln>
        </p:spPr>
      </p:sp>
      <p:sp>
        <p:nvSpPr>
          <p:cNvPr id="23" name="Text 21"/>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and it is politically, not technically, constrained.</a:t>
            </a:r>
            <a:endParaRPr lang="en-US" sz="1100" dirty="0"/>
          </a:p>
        </p:txBody>
      </p:sp>
      <p:sp>
        <p:nvSpPr>
          <p:cNvPr id="24" name="Text 22"/>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Data Center Watch, 2026 NIMBY tracker,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Echelon Insights, Mar 2026 AI sentiment poll,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Fortune / TIME / CNN / NBC News — Stop the AI Race coverage,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analysis.</a:t>
            </a:r>
            <a:endParaRPr lang="en-US" sz="700" dirty="0"/>
          </a:p>
        </p:txBody>
      </p:sp>
      <p:sp>
        <p:nvSpPr>
          <p:cNvPr id="25" name="Shape 23"/>
          <p:cNvSpPr/>
          <p:nvPr/>
        </p:nvSpPr>
        <p:spPr>
          <a:xfrm>
            <a:off x="0" y="6286500"/>
            <a:ext cx="9144000" cy="571500"/>
          </a:xfrm>
          <a:prstGeom prst="rect">
            <a:avLst/>
          </a:prstGeom>
          <a:solidFill>
            <a:srgbClr val="000000"/>
          </a:solidFill>
          <a:ln w="12700">
            <a:solidFill>
              <a:srgbClr val="000000"/>
            </a:solidFill>
            <a:prstDash val="solid"/>
          </a:ln>
        </p:spPr>
      </p:sp>
      <p:sp>
        <p:nvSpPr>
          <p:cNvPr id="26" name="Text 2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5349240" y="1463040"/>
            <a:ext cx="3337560" cy="3474720"/>
          </a:xfrm>
          <a:prstGeom prst="rect">
            <a:avLst/>
          </a:prstGeom>
          <a:solidFill>
            <a:srgbClr val="EEEEEE"/>
          </a:solidFill>
          <a:ln w="9525">
            <a:solidFill>
              <a:srgbClr val="BBBBBB"/>
            </a:solidFill>
            <a:prstDash val="dash"/>
          </a:ln>
        </p:spPr>
      </p:sp>
      <p:sp>
        <p:nvSpPr>
          <p:cNvPr id="8" name="Text 6"/>
          <p:cNvSpPr/>
          <p:nvPr/>
        </p:nvSpPr>
        <p:spPr>
          <a:xfrm>
            <a:off x="5440680" y="1463040"/>
            <a:ext cx="3154680" cy="34747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modular orbital data-center satellite with 50-meter solar wings catching a violet tint, above Earth's dawn limb with atmospheric glow, deep indigo space, hyperrealistic Octane quality, slightly portrait</a:t>
            </a:r>
            <a:endParaRPr lang="en-US" sz="1000" dirty="0"/>
          </a:p>
        </p:txBody>
      </p:sp>
      <p:sp>
        <p:nvSpPr>
          <p:cNvPr id="9" name="Shape 7"/>
          <p:cNvSpPr/>
          <p:nvPr/>
        </p:nvSpPr>
        <p:spPr>
          <a:xfrm>
            <a:off x="457200" y="1463040"/>
            <a:ext cx="4709160" cy="320040"/>
          </a:xfrm>
          <a:prstGeom prst="rect">
            <a:avLst/>
          </a:prstGeom>
          <a:solidFill>
            <a:srgbClr val="333333"/>
          </a:solidFill>
          <a:ln w="12700">
            <a:solidFill>
              <a:srgbClr val="333333"/>
            </a:solidFill>
            <a:prstDash val="solid"/>
          </a:ln>
        </p:spPr>
      </p:sp>
      <p:sp>
        <p:nvSpPr>
          <p:cNvPr id="10" name="Text 8"/>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1783080"/>
            <a:ext cx="4709160" cy="731520"/>
          </a:xfrm>
          <a:prstGeom prst="rect">
            <a:avLst/>
          </a:prstGeom>
          <a:solidFill>
            <a:srgbClr val="F9F9F9"/>
          </a:solidFill>
          <a:ln w="6350">
            <a:solidFill>
              <a:srgbClr val="E5E5E5"/>
            </a:solidFill>
            <a:prstDash val="solid"/>
          </a:ln>
        </p:spPr>
      </p:sp>
      <p:sp>
        <p:nvSpPr>
          <p:cNvPr id="12" name="Text 10"/>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3" name="Shape 11"/>
          <p:cNvSpPr/>
          <p:nvPr/>
        </p:nvSpPr>
        <p:spPr>
          <a:xfrm>
            <a:off x="457200" y="2651760"/>
            <a:ext cx="4709160" cy="320040"/>
          </a:xfrm>
          <a:prstGeom prst="rect">
            <a:avLst/>
          </a:prstGeom>
          <a:solidFill>
            <a:srgbClr val="333333"/>
          </a:solidFill>
          <a:ln w="12700">
            <a:solidFill>
              <a:srgbClr val="333333"/>
            </a:solidFill>
            <a:prstDash val="solid"/>
          </a:ln>
        </p:spPr>
      </p:sp>
      <p:sp>
        <p:nvSpPr>
          <p:cNvPr id="14" name="Text 12"/>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457200" y="2971800"/>
            <a:ext cx="4709160" cy="731520"/>
          </a:xfrm>
          <a:prstGeom prst="rect">
            <a:avLst/>
          </a:prstGeom>
          <a:solidFill>
            <a:srgbClr val="F9F9F9"/>
          </a:solidFill>
          <a:ln w="6350">
            <a:solidFill>
              <a:srgbClr val="E5E5E5"/>
            </a:solidFill>
            <a:prstDash val="solid"/>
          </a:ln>
        </p:spPr>
      </p:sp>
      <p:sp>
        <p:nvSpPr>
          <p:cNvPr id="16" name="Text 14"/>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7" name="Shape 15"/>
          <p:cNvSpPr/>
          <p:nvPr/>
        </p:nvSpPr>
        <p:spPr>
          <a:xfrm>
            <a:off x="457200" y="3840480"/>
            <a:ext cx="4709160" cy="320040"/>
          </a:xfrm>
          <a:prstGeom prst="rect">
            <a:avLst/>
          </a:prstGeom>
          <a:solidFill>
            <a:srgbClr val="333333"/>
          </a:solidFill>
          <a:ln w="12700">
            <a:solidFill>
              <a:srgbClr val="333333"/>
            </a:solidFill>
            <a:prstDash val="solid"/>
          </a:ln>
        </p:spPr>
      </p:sp>
      <p:sp>
        <p:nvSpPr>
          <p:cNvPr id="18" name="Text 16"/>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457200" y="4160520"/>
            <a:ext cx="4709160" cy="731520"/>
          </a:xfrm>
          <a:prstGeom prst="rect">
            <a:avLst/>
          </a:prstGeom>
          <a:solidFill>
            <a:srgbClr val="F9F9F9"/>
          </a:solidFill>
          <a:ln w="6350">
            <a:solidFill>
              <a:srgbClr val="E5E5E5"/>
            </a:solidFill>
            <a:prstDash val="solid"/>
          </a:ln>
        </p:spPr>
      </p:sp>
      <p:sp>
        <p:nvSpPr>
          <p:cNvPr id="20" name="Text 18"/>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1371600" y="1463040"/>
            <a:ext cx="6400800" cy="2011680"/>
          </a:xfrm>
          <a:prstGeom prst="rect">
            <a:avLst/>
          </a:prstGeom>
          <a:solidFill>
            <a:srgbClr val="EEEEEE"/>
          </a:solidFill>
          <a:ln w="9525">
            <a:solidFill>
              <a:srgbClr val="BBBBBB"/>
            </a:solidFill>
            <a:prstDash val="dash"/>
          </a:ln>
        </p:spPr>
      </p:sp>
      <p:sp>
        <p:nvSpPr>
          <p:cNvPr id="8" name="Text 6"/>
          <p:cNvSpPr/>
          <p:nvPr/>
        </p:nvSpPr>
        <p:spPr>
          <a:xfrm>
            <a:off x="1463040" y="1463040"/>
            <a:ext cx="6217920" cy="201168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Panoramic photo — humanoid robot mid-stride on a factory floor, matte-white body with violet joint accents, motion blur on limbs, amber work-lights, a blurred human worker in a safety vest in the background</a:t>
            </a:r>
            <a:endParaRPr lang="en-US" sz="1000" dirty="0"/>
          </a:p>
        </p:txBody>
      </p:sp>
      <p:sp>
        <p:nvSpPr>
          <p:cNvPr id="9" name="Shape 7"/>
          <p:cNvSpPr/>
          <p:nvPr/>
        </p:nvSpPr>
        <p:spPr>
          <a:xfrm>
            <a:off x="457200" y="3657600"/>
            <a:ext cx="2697480" cy="320040"/>
          </a:xfrm>
          <a:prstGeom prst="rect">
            <a:avLst/>
          </a:prstGeom>
          <a:solidFill>
            <a:srgbClr val="333333"/>
          </a:solidFill>
          <a:ln w="12700">
            <a:solidFill>
              <a:srgbClr val="333333"/>
            </a:solidFill>
            <a:prstDash val="solid"/>
          </a:ln>
        </p:spPr>
      </p:sp>
      <p:sp>
        <p:nvSpPr>
          <p:cNvPr id="10" name="Text 8"/>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3977640"/>
            <a:ext cx="2697480" cy="1188720"/>
          </a:xfrm>
          <a:prstGeom prst="rect">
            <a:avLst/>
          </a:prstGeom>
          <a:solidFill>
            <a:srgbClr val="F9F9F9"/>
          </a:solidFill>
          <a:ln w="6350">
            <a:solidFill>
              <a:srgbClr val="E5E5E5"/>
            </a:solidFill>
            <a:prstDash val="solid"/>
          </a:ln>
        </p:spPr>
      </p:sp>
      <p:sp>
        <p:nvSpPr>
          <p:cNvPr id="12" name="Text 10"/>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3" name="Shape 11"/>
          <p:cNvSpPr/>
          <p:nvPr/>
        </p:nvSpPr>
        <p:spPr>
          <a:xfrm>
            <a:off x="3291840" y="3657600"/>
            <a:ext cx="2697480" cy="320040"/>
          </a:xfrm>
          <a:prstGeom prst="rect">
            <a:avLst/>
          </a:prstGeom>
          <a:solidFill>
            <a:srgbClr val="333333"/>
          </a:solidFill>
          <a:ln w="12700">
            <a:solidFill>
              <a:srgbClr val="333333"/>
            </a:solidFill>
            <a:prstDash val="solid"/>
          </a:ln>
        </p:spPr>
      </p:sp>
      <p:sp>
        <p:nvSpPr>
          <p:cNvPr id="14" name="Text 12"/>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3977640"/>
            <a:ext cx="2697480" cy="1188720"/>
          </a:xfrm>
          <a:prstGeom prst="rect">
            <a:avLst/>
          </a:prstGeom>
          <a:solidFill>
            <a:srgbClr val="F9F9F9"/>
          </a:solidFill>
          <a:ln w="6350">
            <a:solidFill>
              <a:srgbClr val="E5E5E5"/>
            </a:solidFill>
            <a:prstDash val="solid"/>
          </a:ln>
        </p:spPr>
      </p:sp>
      <p:sp>
        <p:nvSpPr>
          <p:cNvPr id="16" name="Text 14"/>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7" name="Shape 15"/>
          <p:cNvSpPr/>
          <p:nvPr/>
        </p:nvSpPr>
        <p:spPr>
          <a:xfrm>
            <a:off x="6126480" y="3657600"/>
            <a:ext cx="2697480" cy="320040"/>
          </a:xfrm>
          <a:prstGeom prst="rect">
            <a:avLst/>
          </a:prstGeom>
          <a:solidFill>
            <a:srgbClr val="333333"/>
          </a:solidFill>
          <a:ln w="12700">
            <a:solidFill>
              <a:srgbClr val="333333"/>
            </a:solidFill>
            <a:prstDash val="solid"/>
          </a:ln>
        </p:spPr>
      </p:sp>
      <p:sp>
        <p:nvSpPr>
          <p:cNvPr id="18" name="Text 16"/>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3977640"/>
            <a:ext cx="2697480" cy="1188720"/>
          </a:xfrm>
          <a:prstGeom prst="rect">
            <a:avLst/>
          </a:prstGeom>
          <a:solidFill>
            <a:srgbClr val="F9F9F9"/>
          </a:solidFill>
          <a:ln w="6350">
            <a:solidFill>
              <a:srgbClr val="E5E5E5"/>
            </a:solidFill>
            <a:prstDash val="solid"/>
          </a:ln>
        </p:spPr>
      </p:sp>
      <p:sp>
        <p:nvSpPr>
          <p:cNvPr id="20" name="Text 18"/>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2560320" cy="3794760"/>
          </a:xfrm>
          <a:prstGeom prst="rect">
            <a:avLst/>
          </a:prstGeom>
          <a:solidFill>
            <a:srgbClr val="EEEEEE"/>
          </a:solidFill>
          <a:ln w="9525">
            <a:solidFill>
              <a:srgbClr val="BBBBBB"/>
            </a:solidFill>
            <a:prstDash val="dash"/>
          </a:ln>
        </p:spPr>
      </p:sp>
      <p:sp>
        <p:nvSpPr>
          <p:cNvPr id="8" name="Text 6"/>
          <p:cNvSpPr/>
          <p:nvPr/>
        </p:nvSpPr>
        <p:spPr>
          <a:xfrm>
            <a:off x="548640" y="1463040"/>
            <a:ext cx="2377440" cy="37947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Long-exposure photo — white minivan robotaxi with a violet-glowing roof lidar on a rainy dusk city street, red and white traffic light trails, wet asphalt reflecting neon storefronts, tall portrait</a:t>
            </a:r>
            <a:endParaRPr lang="en-US" sz="1000" dirty="0"/>
          </a:p>
        </p:txBody>
      </p:sp>
      <p:sp>
        <p:nvSpPr>
          <p:cNvPr id="9" name="Shape 7"/>
          <p:cNvSpPr/>
          <p:nvPr/>
        </p:nvSpPr>
        <p:spPr>
          <a:xfrm>
            <a:off x="3200400" y="1463040"/>
            <a:ext cx="5486400" cy="320040"/>
          </a:xfrm>
          <a:prstGeom prst="rect">
            <a:avLst/>
          </a:prstGeom>
          <a:solidFill>
            <a:srgbClr val="333333"/>
          </a:solidFill>
          <a:ln w="12700">
            <a:solidFill>
              <a:srgbClr val="333333"/>
            </a:solidFill>
            <a:prstDash val="solid"/>
          </a:ln>
        </p:spPr>
      </p:sp>
      <p:sp>
        <p:nvSpPr>
          <p:cNvPr id="10" name="Text 8"/>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3200400" y="1783080"/>
            <a:ext cx="5486400" cy="822960"/>
          </a:xfrm>
          <a:prstGeom prst="rect">
            <a:avLst/>
          </a:prstGeom>
          <a:solidFill>
            <a:srgbClr val="F9F9F9"/>
          </a:solidFill>
          <a:ln w="6350">
            <a:solidFill>
              <a:srgbClr val="E5E5E5"/>
            </a:solidFill>
            <a:prstDash val="solid"/>
          </a:ln>
        </p:spPr>
      </p:sp>
      <p:sp>
        <p:nvSpPr>
          <p:cNvPr id="12" name="Text 10"/>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3" name="Shape 11"/>
          <p:cNvSpPr/>
          <p:nvPr/>
        </p:nvSpPr>
        <p:spPr>
          <a:xfrm>
            <a:off x="3200400" y="2743200"/>
            <a:ext cx="5486400" cy="320040"/>
          </a:xfrm>
          <a:prstGeom prst="rect">
            <a:avLst/>
          </a:prstGeom>
          <a:solidFill>
            <a:srgbClr val="333333"/>
          </a:solidFill>
          <a:ln w="12700">
            <a:solidFill>
              <a:srgbClr val="333333"/>
            </a:solidFill>
            <a:prstDash val="solid"/>
          </a:ln>
        </p:spPr>
      </p:sp>
      <p:sp>
        <p:nvSpPr>
          <p:cNvPr id="14" name="Text 12"/>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00400" y="3063240"/>
            <a:ext cx="5486400" cy="822960"/>
          </a:xfrm>
          <a:prstGeom prst="rect">
            <a:avLst/>
          </a:prstGeom>
          <a:solidFill>
            <a:srgbClr val="F9F9F9"/>
          </a:solidFill>
          <a:ln w="6350">
            <a:solidFill>
              <a:srgbClr val="E5E5E5"/>
            </a:solidFill>
            <a:prstDash val="solid"/>
          </a:ln>
        </p:spPr>
      </p:sp>
      <p:sp>
        <p:nvSpPr>
          <p:cNvPr id="16" name="Text 14"/>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7" name="Shape 15"/>
          <p:cNvSpPr/>
          <p:nvPr/>
        </p:nvSpPr>
        <p:spPr>
          <a:xfrm>
            <a:off x="3200400" y="4023360"/>
            <a:ext cx="5486400" cy="320040"/>
          </a:xfrm>
          <a:prstGeom prst="rect">
            <a:avLst/>
          </a:prstGeom>
          <a:solidFill>
            <a:srgbClr val="333333"/>
          </a:solidFill>
          <a:ln w="12700">
            <a:solidFill>
              <a:srgbClr val="333333"/>
            </a:solidFill>
            <a:prstDash val="solid"/>
          </a:ln>
        </p:spPr>
      </p:sp>
      <p:sp>
        <p:nvSpPr>
          <p:cNvPr id="18" name="Text 16"/>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3200400" y="4343400"/>
            <a:ext cx="5486400" cy="822960"/>
          </a:xfrm>
          <a:prstGeom prst="rect">
            <a:avLst/>
          </a:prstGeom>
          <a:solidFill>
            <a:srgbClr val="F9F9F9"/>
          </a:solidFill>
          <a:ln w="6350">
            <a:solidFill>
              <a:srgbClr val="E5E5E5"/>
            </a:solidFill>
            <a:prstDash val="solid"/>
          </a:ln>
        </p:spPr>
      </p:sp>
      <p:sp>
        <p:nvSpPr>
          <p:cNvPr id="20" name="Text 18"/>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1" name="Shape 19"/>
          <p:cNvSpPr/>
          <p:nvPr/>
        </p:nvSpPr>
        <p:spPr>
          <a:xfrm>
            <a:off x="457200" y="5394960"/>
            <a:ext cx="8229600" cy="320040"/>
          </a:xfrm>
          <a:prstGeom prst="rect">
            <a:avLst/>
          </a:prstGeom>
          <a:solidFill>
            <a:srgbClr val="333333"/>
          </a:solidFill>
          <a:ln w="12700">
            <a:solidFill>
              <a:srgbClr val="333333"/>
            </a:solidFill>
            <a:prstDash val="solid"/>
          </a:ln>
        </p:spPr>
      </p:sp>
      <p:sp>
        <p:nvSpPr>
          <p:cNvPr id="22" name="Text 20"/>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3355848"/>
          </a:xfrm>
          <a:prstGeom prst="rect">
            <a:avLst/>
          </a:prstGeom>
          <a:solidFill>
            <a:srgbClr val="EEEEEE"/>
          </a:solidFill>
          <a:ln w="9525">
            <a:solidFill>
              <a:srgbClr val="BBBBBB"/>
            </a:solidFill>
            <a:prstDash val="dash"/>
          </a:ln>
        </p:spPr>
      </p:sp>
      <p:sp>
        <p:nvSpPr>
          <p:cNvPr id="8" name="Text 6"/>
          <p:cNvSpPr/>
          <p:nvPr/>
        </p:nvSpPr>
        <p:spPr>
          <a:xfrm>
            <a:off x="548640" y="1691640"/>
            <a:ext cx="2834640" cy="3355848"/>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protein ribbon diagram in a violet-to-magenta-to-gold gradient on graphite black, razor-sharp front with softly-blurred back, faint electron-density mesh around the structure, no labels or annotations</a:t>
            </a:r>
            <a:endParaRPr lang="en-US" sz="1000" dirty="0"/>
          </a:p>
        </p:txBody>
      </p:sp>
      <p:sp>
        <p:nvSpPr>
          <p:cNvPr id="9" name="Shape 7"/>
          <p:cNvSpPr/>
          <p:nvPr/>
        </p:nvSpPr>
        <p:spPr>
          <a:xfrm>
            <a:off x="3657600" y="1691640"/>
            <a:ext cx="5029200" cy="1069848"/>
          </a:xfrm>
          <a:prstGeom prst="rect">
            <a:avLst/>
          </a:prstGeom>
          <a:solidFill>
            <a:srgbClr val="F9F9F9"/>
          </a:solidFill>
          <a:ln w="6350">
            <a:solidFill>
              <a:srgbClr val="E5E5E5"/>
            </a:solidFill>
            <a:prstDash val="solid"/>
          </a:ln>
        </p:spPr>
      </p:sp>
      <p:sp>
        <p:nvSpPr>
          <p:cNvPr id="10" name="Shape 8"/>
          <p:cNvSpPr/>
          <p:nvPr/>
        </p:nvSpPr>
        <p:spPr>
          <a:xfrm>
            <a:off x="3657600" y="1691640"/>
            <a:ext cx="5029200" cy="292608"/>
          </a:xfrm>
          <a:prstGeom prst="rect">
            <a:avLst/>
          </a:prstGeom>
          <a:solidFill>
            <a:srgbClr val="333333"/>
          </a:solidFill>
          <a:ln w="12700">
            <a:solidFill>
              <a:srgbClr val="333333"/>
            </a:solidFill>
            <a:prstDash val="solid"/>
          </a:ln>
        </p:spPr>
      </p:sp>
      <p:sp>
        <p:nvSpPr>
          <p:cNvPr id="11" name="Text 9"/>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2" name="Text 10"/>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3" name="Shape 11"/>
          <p:cNvSpPr/>
          <p:nvPr/>
        </p:nvSpPr>
        <p:spPr>
          <a:xfrm>
            <a:off x="3657600" y="2834640"/>
            <a:ext cx="5029200" cy="1069848"/>
          </a:xfrm>
          <a:prstGeom prst="rect">
            <a:avLst/>
          </a:prstGeom>
          <a:solidFill>
            <a:srgbClr val="F9F9F9"/>
          </a:solidFill>
          <a:ln w="6350">
            <a:solidFill>
              <a:srgbClr val="E5E5E5"/>
            </a:solidFill>
            <a:prstDash val="solid"/>
          </a:ln>
        </p:spPr>
      </p:sp>
      <p:sp>
        <p:nvSpPr>
          <p:cNvPr id="14" name="Shape 12"/>
          <p:cNvSpPr/>
          <p:nvPr/>
        </p:nvSpPr>
        <p:spPr>
          <a:xfrm>
            <a:off x="3657600" y="2834640"/>
            <a:ext cx="5029200" cy="292608"/>
          </a:xfrm>
          <a:prstGeom prst="rect">
            <a:avLst/>
          </a:prstGeom>
          <a:solidFill>
            <a:srgbClr val="333333"/>
          </a:solidFill>
          <a:ln w="12700">
            <a:solidFill>
              <a:srgbClr val="333333"/>
            </a:solidFill>
            <a:prstDash val="solid"/>
          </a:ln>
        </p:spPr>
      </p:sp>
      <p:sp>
        <p:nvSpPr>
          <p:cNvPr id="15" name="Text 13"/>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6" name="Text 14"/>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7" name="Shape 15"/>
          <p:cNvSpPr/>
          <p:nvPr/>
        </p:nvSpPr>
        <p:spPr>
          <a:xfrm>
            <a:off x="3657600" y="3977640"/>
            <a:ext cx="5029200" cy="1069848"/>
          </a:xfrm>
          <a:prstGeom prst="rect">
            <a:avLst/>
          </a:prstGeom>
          <a:solidFill>
            <a:srgbClr val="F9F9F9"/>
          </a:solidFill>
          <a:ln w="6350">
            <a:solidFill>
              <a:srgbClr val="E5E5E5"/>
            </a:solidFill>
            <a:prstDash val="solid"/>
          </a:ln>
        </p:spPr>
      </p:sp>
      <p:sp>
        <p:nvSpPr>
          <p:cNvPr id="18" name="Shape 16"/>
          <p:cNvSpPr/>
          <p:nvPr/>
        </p:nvSpPr>
        <p:spPr>
          <a:xfrm>
            <a:off x="3657600" y="3977640"/>
            <a:ext cx="5029200" cy="292608"/>
          </a:xfrm>
          <a:prstGeom prst="rect">
            <a:avLst/>
          </a:prstGeom>
          <a:solidFill>
            <a:srgbClr val="333333"/>
          </a:solidFill>
          <a:ln w="12700">
            <a:solidFill>
              <a:srgbClr val="333333"/>
            </a:solidFill>
            <a:prstDash val="solid"/>
          </a:ln>
        </p:spPr>
      </p:sp>
      <p:sp>
        <p:nvSpPr>
          <p:cNvPr id="19" name="Text 17"/>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20" name="Text 18"/>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1" name="Shape 19"/>
          <p:cNvSpPr/>
          <p:nvPr/>
        </p:nvSpPr>
        <p:spPr>
          <a:xfrm>
            <a:off x="457200" y="5193792"/>
            <a:ext cx="8229600" cy="384048"/>
          </a:xfrm>
          <a:prstGeom prst="rect">
            <a:avLst/>
          </a:prstGeom>
          <a:solidFill>
            <a:srgbClr val="FFD100"/>
          </a:solidFill>
          <a:ln w="12700">
            <a:solidFill>
              <a:srgbClr val="FFD100"/>
            </a:solidFill>
            <a:prstDash val="solid"/>
          </a:ln>
        </p:spPr>
      </p:sp>
      <p:sp>
        <p:nvSpPr>
          <p:cNvPr id="22" name="Text 20"/>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Capex on credit. Basket over. Bottleneck moves.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largest capex cycle in history is going on credit.</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Hyperscalers fund a record AI buildout with rising leverage, not free cash flow. The cycle's risk shifts from operations onto balance sheets, and credit conditions now matter as much as compute demand.</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basket trade is over. The market picks winners.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Returns inside the AI complex have dispersed sharply. Owning the whole space no longer works; alpha now sits in choosing which layer of the stack, and which name within it, you actually want to own.</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bottleneck keeps moving. That is the opportunity.</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From foundry capacity to memory to advanced packaging to power and the grid, the binding constraint keeps shifting. Whoever owns the next bottleneck captures the margin until the next one forms.</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If you index, you own the thesis. Choose it deliberately.</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CreditSights / MUFG;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"$20B fab" cost benchmark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 World Fab Forecast; TSMC / Samsung capex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Bloomberg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$2.3T / ~$85B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Alphabet 10-K and 2026 capex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 / SpaceX $1.25T merger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TechCrunch (Feb 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Chatbot vs agent token counts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GitHub Trending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Memory supercycle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Counterpoint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BDC index / PE SaaS 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BDC; PitchBook secondary marks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14–17</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"131× Cisco fwd P/E, Mar 2000"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"~24× NVDA fwd P/E, Apr 17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Jay Ritter, University of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"$500B dark fiber unused"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dark-fiber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2nd-market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filings;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 / yr"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US reshoring fab timelines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Samsung, Micron, Intel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 (Nov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export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Bureau of Industry and Security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DUV ban; China ~20% revenue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Aug 2, 2026 enforcement"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Article 99 / Chapter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"$18B halted / $46B delayed"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"142 activist groups, 24 states"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"26% of Americans positive on AI"</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Echelon Insights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"Stop the AI Race" Mar 2026 protests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Stop the AI Race; TIME; CNN</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"~480K data-center workforce gap"</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Frontier</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18–21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compute players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SpaceX, Google Suncatcher, Aetherflux; CNBC</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"~10⁶⁰ drug-like small molecules"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22</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correlation 80% →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correlation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+38% / software –20%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2026-04-27T20:53:31Z</dcterms:created>
  <dcterms:modified xsi:type="dcterms:W3CDTF">2026-04-27T20:53:31Z</dcterms:modified>
</cp:coreProperties>
</file>