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charts/chart1.xml" ContentType="application/vnd.openxmlformats-officedocument.drawingml.chart+xml"/>
  <Override PartName="/ppt/charts/chart2.xml" ContentType="application/vnd.openxmlformats-officedocument.drawingml.chart+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charts/chart3.xml" ContentType="application/vnd.openxmlformats-officedocument.drawingml.chart+xml"/>
  <Override PartName="/ppt/slideMasters/slideMaster14.xml" ContentType="application/vnd.openxmlformats-officedocument.presentationml.slideMaster+xml"/>
  <Override PartName="/ppt/slides/slide14.xml" ContentType="application/vnd.openxmlformats-officedocument.presentationml.slide+xml"/>
  <Override PartName="/ppt/charts/chart4.xml" ContentType="application/vnd.openxmlformats-officedocument.drawingml.chart+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charts/chart5.xml" ContentType="application/vnd.openxmlformats-officedocument.drawingml.chart+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Lst>
  <p:notesMasterIdLst>
    <p:notesMasterId r:id="rId27"/>
  </p:notesMasterIdLst>
  <p:sldSz cx="9144000" cy="6858000"/>
  <p:notesSz cx="68580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notesMaster" Target="notesMasters/notesMaster1.xml"/><Relationship Id="rId28" Type="http://schemas.openxmlformats.org/officeDocument/2006/relationships/presProps" Target="presProps.xml"/><Relationship Id="rId29" Type="http://schemas.openxmlformats.org/officeDocument/2006/relationships/viewProps" Target="viewProps.xml"/><Relationship Id="rId30" Type="http://schemas.openxmlformats.org/officeDocument/2006/relationships/theme" Target="theme/theme1.xml"/><Relationship Id="rId31"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_rels/chart5.xml.rels><?xml version="1.0" encoding="UTF-8" standalone="yes"?><Relationships xmlns="http://schemas.openxmlformats.org/package/2006/relationships"><Relationship Id="rId1" Type="http://schemas.openxmlformats.org/officeDocument/2006/relationships/package" Target="../embeddings/Microsoft_Excel_Worksheet5.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AI</c:v>
                </c:pt>
              </c:strCache>
            </c:strRef>
          </c:tx>
          <c:spPr>
            <a:solidFill>
              <a:srgbClr val="F6693D"/>
            </a:solidFill>
            <a:ln w="38100" cap="flat">
              <a:solidFill>
                <a:srgbClr val="F6693D"/>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6"/>
            <c:spPr>
              <a:solidFill>
                <a:srgbClr val="F6693D"/>
              </a:solidFill>
              <a:ln w="9525" cap="flat">
                <a:solidFill>
                  <a:srgbClr val="F6693D"/>
                </a:solidFill>
                <a:prstDash val="solid"/>
                <a:round/>
              </a:ln>
              <a:effectLst/>
            </c:spPr>
          </c:marker>
          <c:cat>
            <c:multiLvlStrRef>
              <c:f>Sheet1!$A$2:$A$17</c:f>
              <c:multiLvlStrCache>
                <c:ptCount val="16"/>
                <c:lvl>
                  <c:pt idx="0">
                    <c:v>Y0</c:v>
                  </c:pt>
                  <c:pt idx="1">
                    <c:v>Y1</c:v>
                  </c:pt>
                  <c:pt idx="2">
                    <c:v>Y2</c:v>
                  </c:pt>
                  <c:pt idx="3">
                    <c:v>Y3</c:v>
                  </c:pt>
                  <c:pt idx="4">
                    <c:v>Y4</c:v>
                  </c:pt>
                  <c:pt idx="5">
                    <c:v>Y5</c:v>
                  </c:pt>
                  <c:pt idx="6">
                    <c:v>Y6</c:v>
                  </c:pt>
                  <c:pt idx="7">
                    <c:v>Y7</c:v>
                  </c:pt>
                  <c:pt idx="8">
                    <c:v>Y8</c:v>
                  </c:pt>
                  <c:pt idx="9">
                    <c:v>Y9</c:v>
                  </c:pt>
                  <c:pt idx="10">
                    <c:v>Y10</c:v>
                  </c:pt>
                  <c:pt idx="11">
                    <c:v>Y11</c:v>
                  </c:pt>
                  <c:pt idx="12">
                    <c:v>Y12</c:v>
                  </c:pt>
                  <c:pt idx="13">
                    <c:v>Y13</c:v>
                  </c:pt>
                  <c:pt idx="14">
                    <c:v>Y14</c:v>
                  </c:pt>
                  <c:pt idx="15">
                    <c:v>Y15</c:v>
                  </c:pt>
                </c:lvl>
              </c:multiLvlStrCache>
            </c:multiLvlStrRef>
          </c:cat>
          <c:val>
            <c:numRef>
              <c:f>Sheet1!$B$2:$B$17</c:f>
              <c:numCache>
                <c:formatCode>General</c:formatCode>
                <c:ptCount val="16"/>
                <c:pt idx="0">
                  <c:v>0</c:v>
                </c:pt>
                <c:pt idx="1">
                  <c:v>18</c:v>
                </c:pt>
                <c:pt idx="2">
                  <c:v>38</c:v>
                </c:pt>
                <c:pt idx="3">
                  <c:v>56</c:v>
                </c:pt>
                <c:pt idx="4">
                  <c:v/>
                </c:pt>
                <c:pt idx="5">
                  <c:v/>
                </c:pt>
                <c:pt idx="6">
                  <c:v/>
                </c:pt>
                <c:pt idx="7">
                  <c:v/>
                </c:pt>
                <c:pt idx="8">
                  <c:v/>
                </c:pt>
                <c:pt idx="9">
                  <c:v/>
                </c:pt>
                <c:pt idx="10">
                  <c:v/>
                </c:pt>
                <c:pt idx="11">
                  <c:v/>
                </c:pt>
                <c:pt idx="12">
                  <c:v/>
                </c:pt>
                <c:pt idx="13">
                  <c:v/>
                </c:pt>
                <c:pt idx="14">
                  <c:v/>
                </c:pt>
                <c:pt idx="15">
                  <c:v/>
                </c:pt>
              </c:numCache>
            </c:numRef>
          </c:val>
          <c:smooth val="0"/>
        </c:ser>
        <c:ser>
          <c:idx val="1"/>
          <c:order val="1"/>
          <c:tx>
            <c:strRef>
              <c:f>Sheet1!$C$1</c:f>
              <c:strCache>
                <c:ptCount val="1"/>
                <c:pt idx="0">
                  <c:v>Internet</c:v>
                </c:pt>
              </c:strCache>
            </c:strRef>
          </c:tx>
          <c:spPr>
            <a:solidFill>
              <a:srgbClr val="008B8B"/>
            </a:solidFill>
            <a:ln w="38100" cap="flat">
              <a:solidFill>
                <a:srgbClr val="008B8B"/>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6"/>
            <c:spPr>
              <a:solidFill>
                <a:srgbClr val="008B8B"/>
              </a:solidFill>
              <a:ln w="9525" cap="flat">
                <a:solidFill>
                  <a:srgbClr val="008B8B"/>
                </a:solidFill>
                <a:prstDash val="solid"/>
                <a:round/>
              </a:ln>
              <a:effectLst/>
            </c:spPr>
          </c:marker>
          <c:cat>
            <c:multiLvlStrRef>
              <c:f>Sheet1!$A$2:$A$17</c:f>
              <c:multiLvlStrCache>
                <c:ptCount val="16"/>
                <c:lvl>
                  <c:pt idx="0">
                    <c:v>Y0</c:v>
                  </c:pt>
                  <c:pt idx="1">
                    <c:v>Y1</c:v>
                  </c:pt>
                  <c:pt idx="2">
                    <c:v>Y2</c:v>
                  </c:pt>
                  <c:pt idx="3">
                    <c:v>Y3</c:v>
                  </c:pt>
                  <c:pt idx="4">
                    <c:v>Y4</c:v>
                  </c:pt>
                  <c:pt idx="5">
                    <c:v>Y5</c:v>
                  </c:pt>
                  <c:pt idx="6">
                    <c:v>Y6</c:v>
                  </c:pt>
                  <c:pt idx="7">
                    <c:v>Y7</c:v>
                  </c:pt>
                  <c:pt idx="8">
                    <c:v>Y8</c:v>
                  </c:pt>
                  <c:pt idx="9">
                    <c:v>Y9</c:v>
                  </c:pt>
                  <c:pt idx="10">
                    <c:v>Y10</c:v>
                  </c:pt>
                  <c:pt idx="11">
                    <c:v>Y11</c:v>
                  </c:pt>
                  <c:pt idx="12">
                    <c:v>Y12</c:v>
                  </c:pt>
                  <c:pt idx="13">
                    <c:v>Y13</c:v>
                  </c:pt>
                  <c:pt idx="14">
                    <c:v>Y14</c:v>
                  </c:pt>
                  <c:pt idx="15">
                    <c:v>Y15</c:v>
                  </c:pt>
                </c:lvl>
              </c:multiLvlStrCache>
            </c:multiLvlStrRef>
          </c:cat>
          <c:val>
            <c:numRef>
              <c:f>Sheet1!$C$2:$C$17</c:f>
              <c:numCache>
                <c:formatCode>General</c:formatCode>
                <c:ptCount val="16"/>
                <c:pt idx="0">
                  <c:v>0</c:v>
                </c:pt>
                <c:pt idx="1">
                  <c:v>2</c:v>
                </c:pt>
                <c:pt idx="2">
                  <c:v>5</c:v>
                </c:pt>
                <c:pt idx="3">
                  <c:v>10</c:v>
                </c:pt>
                <c:pt idx="4">
                  <c:v>16</c:v>
                </c:pt>
                <c:pt idx="5">
                  <c:v>24</c:v>
                </c:pt>
                <c:pt idx="6">
                  <c:v>32</c:v>
                </c:pt>
                <c:pt idx="7">
                  <c:v>40</c:v>
                </c:pt>
                <c:pt idx="8">
                  <c:v>47</c:v>
                </c:pt>
                <c:pt idx="9">
                  <c:v>53</c:v>
                </c:pt>
                <c:pt idx="10">
                  <c:v>58</c:v>
                </c:pt>
                <c:pt idx="11">
                  <c:v>62</c:v>
                </c:pt>
                <c:pt idx="12">
                  <c:v>64</c:v>
                </c:pt>
                <c:pt idx="13">
                  <c:v>66</c:v>
                </c:pt>
                <c:pt idx="14">
                  <c:v>67</c:v>
                </c:pt>
                <c:pt idx="15">
                  <c:v>68</c:v>
                </c:pt>
              </c:numCache>
            </c:numRef>
          </c:val>
          <c:smooth val="0"/>
        </c:ser>
        <c:ser>
          <c:idx val="2"/>
          <c:order val="2"/>
          <c:tx>
            <c:strRef>
              <c:f>Sheet1!$D$1</c:f>
              <c:strCache>
                <c:ptCount val="1"/>
                <c:pt idx="0">
                  <c:v>PC</c:v>
                </c:pt>
              </c:strCache>
            </c:strRef>
          </c:tx>
          <c:spPr>
            <a:solidFill>
              <a:srgbClr val="666666"/>
            </a:solidFill>
            <a:ln w="38100" cap="flat">
              <a:solidFill>
                <a:srgbClr val="6666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6"/>
            <c:spPr>
              <a:solidFill>
                <a:srgbClr val="666666"/>
              </a:solidFill>
              <a:ln w="9525" cap="flat">
                <a:solidFill>
                  <a:srgbClr val="666666"/>
                </a:solidFill>
                <a:prstDash val="solid"/>
                <a:round/>
              </a:ln>
              <a:effectLst/>
            </c:spPr>
          </c:marker>
          <c:cat>
            <c:multiLvlStrRef>
              <c:f>Sheet1!$A$2:$A$17</c:f>
              <c:multiLvlStrCache>
                <c:ptCount val="16"/>
                <c:lvl>
                  <c:pt idx="0">
                    <c:v>Y0</c:v>
                  </c:pt>
                  <c:pt idx="1">
                    <c:v>Y1</c:v>
                  </c:pt>
                  <c:pt idx="2">
                    <c:v>Y2</c:v>
                  </c:pt>
                  <c:pt idx="3">
                    <c:v>Y3</c:v>
                  </c:pt>
                  <c:pt idx="4">
                    <c:v>Y4</c:v>
                  </c:pt>
                  <c:pt idx="5">
                    <c:v>Y5</c:v>
                  </c:pt>
                  <c:pt idx="6">
                    <c:v>Y6</c:v>
                  </c:pt>
                  <c:pt idx="7">
                    <c:v>Y7</c:v>
                  </c:pt>
                  <c:pt idx="8">
                    <c:v>Y8</c:v>
                  </c:pt>
                  <c:pt idx="9">
                    <c:v>Y9</c:v>
                  </c:pt>
                  <c:pt idx="10">
                    <c:v>Y10</c:v>
                  </c:pt>
                  <c:pt idx="11">
                    <c:v>Y11</c:v>
                  </c:pt>
                  <c:pt idx="12">
                    <c:v>Y12</c:v>
                  </c:pt>
                  <c:pt idx="13">
                    <c:v>Y13</c:v>
                  </c:pt>
                  <c:pt idx="14">
                    <c:v>Y14</c:v>
                  </c:pt>
                  <c:pt idx="15">
                    <c:v>Y15</c:v>
                  </c:pt>
                </c:lvl>
              </c:multiLvlStrCache>
            </c:multiLvlStrRef>
          </c:cat>
          <c:val>
            <c:numRef>
              <c:f>Sheet1!$D$2:$D$17</c:f>
              <c:numCache>
                <c:formatCode>General</c:formatCode>
                <c:ptCount val="16"/>
                <c:pt idx="0">
                  <c:v>0</c:v>
                </c:pt>
                <c:pt idx="1">
                  <c:v>1</c:v>
                </c:pt>
                <c:pt idx="2">
                  <c:v>3</c:v>
                </c:pt>
                <c:pt idx="3">
                  <c:v>6</c:v>
                </c:pt>
                <c:pt idx="4">
                  <c:v>9</c:v>
                </c:pt>
                <c:pt idx="5">
                  <c:v>13</c:v>
                </c:pt>
                <c:pt idx="6">
                  <c:v>18</c:v>
                </c:pt>
                <c:pt idx="7">
                  <c:v>23</c:v>
                </c:pt>
                <c:pt idx="8">
                  <c:v>28</c:v>
                </c:pt>
                <c:pt idx="9">
                  <c:v>32</c:v>
                </c:pt>
                <c:pt idx="10">
                  <c:v>36</c:v>
                </c:pt>
                <c:pt idx="11">
                  <c:v>40</c:v>
                </c:pt>
                <c:pt idx="12">
                  <c:v>43</c:v>
                </c:pt>
                <c:pt idx="13">
                  <c:v>46</c:v>
                </c:pt>
                <c:pt idx="14">
                  <c:v>48</c:v>
                </c:pt>
                <c:pt idx="15">
                  <c:v>49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900" b="0" i="0" u="none" strike="noStrike">
                <a:solidFill>
                  <a:srgbClr val="999999"/>
                </a:solidFill>
                <a:latin typeface="Arial"/>
              </a:defRPr>
            </a:pPr>
            <a:endParaRPr lang="en-US"/>
          </a:p>
        </c:txPr>
        <c:crossAx val="2094734552"/>
        <c:crosses val="autoZero"/>
        <c:auto val="1"/>
        <c:lblAlgn val="ctr"/>
        <c:noMultiLvlLbl val="1"/>
      </c:catAx>
      <c:valAx>
        <c:axId val="2094734552"/>
        <c:scaling>
          <c:orientation val="minMax"/>
          <c:max val="100"/>
          <c:min val="0"/>
        </c:scaling>
        <c:delete val="0"/>
        <c:axPos val="l"/>
        <c:majorGridlines>
          <c:spPr>
            <a:ln w="6350" cap="flat">
              <a:solidFill>
                <a:srgbClr val="E5E5E5"/>
              </a:solidFill>
              <a:prstDash val="solid"/>
              <a:round/>
            </a:ln>
          </c:spPr>
        </c:majorGridlines>
        <c:numFmt formatCode="0&quot;%&quot;" sourceLinked="0"/>
        <c:majorTickMark val="out"/>
        <c:minorTickMark val="none"/>
        <c:tickLblPos val="nextTo"/>
        <c:spPr>
          <a:ln w="12700" cap="flat">
            <a:solidFill>
              <a:srgbClr val="888888"/>
            </a:solidFill>
            <a:prstDash val="solid"/>
            <a:round/>
          </a:ln>
        </c:spPr>
        <c:txPr>
          <a:bodyPr/>
          <a:lstStyle/>
          <a:p>
            <a:pPr>
              <a:defRPr sz="900" b="0" i="0" u="none" strike="noStrike">
                <a:solidFill>
                  <a:srgbClr val="999999"/>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900">
              <a:solidFill>
                <a:srgbClr val="666666"/>
              </a:solidFill>
            </a:defRPr>
          </a:pPr>
          <a:endParaRPr lang="en-US"/>
        </a:p>
      </c:txPr>
    </c:legend>
    <c:plotVisOnly val="1"/>
    <c:dispBlanksAs val="span"/>
  </c:chart>
  <c:spPr>
    <a:solidFill>
      <a:srgbClr val="FFFFFF"/>
    </a:solid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AI</c:v>
                </c:pt>
              </c:strCache>
            </c:strRef>
          </c:tx>
          <c:spPr>
            <a:solidFill>
              <a:srgbClr val="F6693D"/>
            </a:solidFill>
            <a:effectLst/>
          </c:spPr>
          <c:invertIfNegative val="0"/>
          <c:dLbls>
            <c:numFmt formatCode="#,##0" sourceLinked="0"/>
            <c:txPr>
              <a:bodyPr/>
              <a:lstStyle/>
              <a:p>
                <a:pPr>
                  <a:defRPr b="0" i="0" strike="noStrike" sz="700" u="none">
                    <a:solidFill>
                      <a:srgbClr val="333333"/>
                    </a:solidFill>
                    <a:latin typeface="Arial"/>
                  </a:defRPr>
                </a:pPr>
              </a:p>
            </c:txPr>
            <c:showLegendKey val="0"/>
            <c:showVal val="1"/>
            <c:showCatName val="0"/>
            <c:showSerName val="0"/>
            <c:showPercent val="0"/>
            <c:showBubbleSize val="0"/>
            <c:showLeaderLines val="0"/>
          </c:dLbls>
          <c:cat>
            <c:multiLvlStrRef>
              <c:f>Sheet1!$A$2:$A$6</c:f>
              <c:multiLvlStrCache>
                <c:ptCount val="5"/>
                <c:lvl>
                  <c:pt idx="0">
                    <c:v>Y0</c:v>
                  </c:pt>
                  <c:pt idx="1">
                    <c:v>Y1</c:v>
                  </c:pt>
                  <c:pt idx="2">
                    <c:v>Y2</c:v>
                  </c:pt>
                  <c:pt idx="3">
                    <c:v>Y3</c:v>
                  </c:pt>
                  <c:pt idx="4">
                    <c:v>Y4 (2026E)</c:v>
                  </c:pt>
                </c:lvl>
              </c:multiLvlStrCache>
            </c:multiLvlStrRef>
          </c:cat>
          <c:val>
            <c:numRef>
              <c:f>Sheet1!$B$2:$B$6</c:f>
              <c:numCache>
                <c:formatCode>General</c:formatCode>
                <c:ptCount val="5"/>
                <c:pt idx="0">
                  <c:v>1</c:v>
                </c:pt>
                <c:pt idx="1">
                  <c:v>5</c:v>
                </c:pt>
                <c:pt idx="2">
                  <c:v>16</c:v>
                </c:pt>
                <c:pt idx="3">
                  <c:v>42</c:v>
                </c:pt>
                <c:pt idx="4">
                  <c:v>82</c:v>
                </c:pt>
              </c:numCache>
            </c:numRef>
          </c:val>
        </c:ser>
        <c:ser>
          <c:idx val="1"/>
          <c:order val="1"/>
          <c:tx>
            <c:strRef>
              <c:f>Sheet1!$C$1</c:f>
              <c:strCache>
                <c:ptCount val="1"/>
                <c:pt idx="0">
                  <c:v>Cloud</c:v>
                </c:pt>
              </c:strCache>
            </c:strRef>
          </c:tx>
          <c:spPr>
            <a:solidFill>
              <a:srgbClr val="FFB800"/>
            </a:solidFill>
            <a:effectLst/>
          </c:spPr>
          <c:invertIfNegative val="0"/>
          <c:dLbls>
            <c:numFmt formatCode="#,##0" sourceLinked="0"/>
            <c:txPr>
              <a:bodyPr/>
              <a:lstStyle/>
              <a:p>
                <a:pPr>
                  <a:defRPr b="0" i="0" strike="noStrike" sz="700" u="none">
                    <a:solidFill>
                      <a:srgbClr val="333333"/>
                    </a:solidFill>
                    <a:latin typeface="Arial"/>
                  </a:defRPr>
                </a:pPr>
              </a:p>
            </c:txPr>
            <c:showLegendKey val="0"/>
            <c:showVal val="1"/>
            <c:showCatName val="0"/>
            <c:showSerName val="0"/>
            <c:showPercent val="0"/>
            <c:showBubbleSize val="0"/>
            <c:showLeaderLines val="0"/>
          </c:dLbls>
          <c:cat>
            <c:multiLvlStrRef>
              <c:f>Sheet1!$A$2:$A$6</c:f>
              <c:multiLvlStrCache>
                <c:ptCount val="5"/>
                <c:lvl>
                  <c:pt idx="0">
                    <c:v>Y0</c:v>
                  </c:pt>
                  <c:pt idx="1">
                    <c:v>Y1</c:v>
                  </c:pt>
                  <c:pt idx="2">
                    <c:v>Y2</c:v>
                  </c:pt>
                  <c:pt idx="3">
                    <c:v>Y3</c:v>
                  </c:pt>
                  <c:pt idx="4">
                    <c:v>Y4 (2026E)</c:v>
                  </c:pt>
                </c:lvl>
              </c:multiLvlStrCache>
            </c:multiLvlStrRef>
          </c:cat>
          <c:val>
            <c:numRef>
              <c:f>Sheet1!$C$2:$C$6</c:f>
              <c:numCache>
                <c:formatCode>General</c:formatCode>
                <c:ptCount val="5"/>
                <c:pt idx="0">
                  <c:v>1</c:v>
                </c:pt>
                <c:pt idx="1">
                  <c:v>2</c:v>
                </c:pt>
                <c:pt idx="2">
                  <c:v>4</c:v>
                </c:pt>
                <c:pt idx="3">
                  <c:v>7</c:v>
                </c:pt>
                <c:pt idx="4">
                  <c:v>12</c:v>
                </c:pt>
              </c:numCache>
            </c:numRef>
          </c:val>
        </c:ser>
        <c:ser>
          <c:idx val="2"/>
          <c:order val="2"/>
          <c:tx>
            <c:strRef>
              <c:f>Sheet1!$D$1</c:f>
              <c:strCache>
                <c:ptCount val="1"/>
                <c:pt idx="0">
                  <c:v>Internet</c:v>
                </c:pt>
              </c:strCache>
            </c:strRef>
          </c:tx>
          <c:spPr>
            <a:solidFill>
              <a:srgbClr val="008B8B"/>
            </a:solidFill>
            <a:effectLst/>
          </c:spPr>
          <c:invertIfNegative val="0"/>
          <c:dLbls>
            <c:numFmt formatCode="#,##0" sourceLinked="0"/>
            <c:txPr>
              <a:bodyPr/>
              <a:lstStyle/>
              <a:p>
                <a:pPr>
                  <a:defRPr b="0" i="0" strike="noStrike" sz="700" u="none">
                    <a:solidFill>
                      <a:srgbClr val="333333"/>
                    </a:solidFill>
                    <a:latin typeface="Arial"/>
                  </a:defRPr>
                </a:pPr>
              </a:p>
            </c:txPr>
            <c:showLegendKey val="0"/>
            <c:showVal val="1"/>
            <c:showCatName val="0"/>
            <c:showSerName val="0"/>
            <c:showPercent val="0"/>
            <c:showBubbleSize val="0"/>
            <c:showLeaderLines val="0"/>
          </c:dLbls>
          <c:cat>
            <c:multiLvlStrRef>
              <c:f>Sheet1!$A$2:$A$6</c:f>
              <c:multiLvlStrCache>
                <c:ptCount val="5"/>
                <c:lvl>
                  <c:pt idx="0">
                    <c:v>Y0</c:v>
                  </c:pt>
                  <c:pt idx="1">
                    <c:v>Y1</c:v>
                  </c:pt>
                  <c:pt idx="2">
                    <c:v>Y2</c:v>
                  </c:pt>
                  <c:pt idx="3">
                    <c:v>Y3</c:v>
                  </c:pt>
                  <c:pt idx="4">
                    <c:v>Y4 (2026E)</c:v>
                  </c:pt>
                </c:lvl>
              </c:multiLvlStrCache>
            </c:multiLvlStrRef>
          </c:cat>
          <c:val>
            <c:numRef>
              <c:f>Sheet1!$D$2:$D$6</c:f>
              <c:numCache>
                <c:formatCode>General</c:formatCode>
                <c:ptCount val="5"/>
                <c:pt idx="0">
                  <c:v>1</c:v>
                </c:pt>
                <c:pt idx="1">
                  <c:v>2</c:v>
                </c:pt>
                <c:pt idx="2">
                  <c:v>3</c:v>
                </c:pt>
                <c:pt idx="3">
                  <c:v>5</c:v>
                </c:pt>
                <c:pt idx="4">
                  <c:v>8</c:v>
                </c:pt>
              </c:numCache>
            </c:numRef>
          </c:val>
        </c:ser>
        <c:dLbls>
          <c:numFmt formatCode="#,##0" sourceLinked="0"/>
          <c:txPr>
            <a:bodyPr/>
            <a:lstStyle/>
            <a:p>
              <a:pPr>
                <a:defRPr b="0" i="0" strike="noStrike" sz="700" u="none">
                  <a:solidFill>
                    <a:srgbClr val="333333"/>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900" b="0" i="0" u="none" strike="noStrike">
                <a:solidFill>
                  <a:srgbClr val="666666"/>
                </a:solidFill>
                <a:latin typeface="Arial"/>
              </a:defRPr>
            </a:pPr>
            <a:endParaRPr lang="en-US"/>
          </a:p>
        </c:txPr>
        <c:crossAx val="2094734552"/>
        <c:crosses val="autoZero"/>
        <c:auto val="1"/>
        <c:lblAlgn val="ctr"/>
        <c:noMultiLvlLbl val="1"/>
      </c:catAx>
      <c:valAx>
        <c:axId val="2094734552"/>
        <c:scaling>
          <c:orientation val="minMax"/>
          <c:max val="100"/>
          <c:min val="0"/>
        </c:scaling>
        <c:delete val="0"/>
        <c:axPos val="l"/>
        <c:majorGridlines>
          <c:spPr>
            <a:ln w="6350" cap="flat">
              <a:solidFill>
                <a:srgbClr val="E5E5E5"/>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900" b="0" i="0" u="none" strike="noStrike">
                <a:solidFill>
                  <a:srgbClr val="999999"/>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800">
              <a:solidFill>
                <a:srgbClr val="666666"/>
              </a:solidFill>
            </a:defRPr>
          </a:pPr>
          <a:endParaRPr lang="en-US"/>
        </a:p>
      </c:txPr>
    </c:legend>
    <c:plotVisOnly val="1"/>
    <c:dispBlanksAs val="span"/>
  </c:chart>
  <c:spPr>
    <a:solidFill>
      <a:srgbClr val="FFFFFF"/>
    </a:solid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Semis</c:v>
                </c:pt>
              </c:strCache>
            </c:strRef>
          </c:tx>
          <c:spPr>
            <a:solidFill>
              <a:srgbClr val="F6693D"/>
            </a:solidFill>
            <a:ln w="38100" cap="flat">
              <a:solidFill>
                <a:srgbClr val="F6693D"/>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6"/>
            <c:spPr>
              <a:solidFill>
                <a:srgbClr val="F6693D"/>
              </a:solidFill>
              <a:ln w="9525" cap="flat">
                <a:solidFill>
                  <a:srgbClr val="F6693D"/>
                </a:solidFill>
                <a:prstDash val="solid"/>
                <a:round/>
              </a:ln>
              <a:effectLst/>
            </c:spPr>
          </c:marker>
          <c:cat>
            <c:multiLvlStrRef>
              <c:f>Sheet1!$A$2:$A$7</c:f>
              <c:multiLvlStrCache>
                <c:ptCount val="6"/>
                <c:lvl>
                  <c:pt idx="0">
                    <c:v>Jan 1</c:v>
                  </c:pt>
                  <c:pt idx="1">
                    <c:v>Jan 31</c:v>
                  </c:pt>
                  <c:pt idx="2">
                    <c:v>Feb 28</c:v>
                  </c:pt>
                  <c:pt idx="3">
                    <c:v>Mar 31</c:v>
                  </c:pt>
                  <c:pt idx="4">
                    <c:v>Apr 30</c:v>
                  </c:pt>
                  <c:pt idx="5">
                    <c:v>May 22</c:v>
                  </c:pt>
                </c:lvl>
              </c:multiLvlStrCache>
            </c:multiLvlStrRef>
          </c:cat>
          <c:val>
            <c:numRef>
              <c:f>Sheet1!$B$2:$B$7</c:f>
              <c:numCache>
                <c:formatCode>General</c:formatCode>
                <c:ptCount val="6"/>
                <c:pt idx="0">
                  <c:v>100</c:v>
                </c:pt>
                <c:pt idx="1">
                  <c:v>112</c:v>
                </c:pt>
                <c:pt idx="2">
                  <c:v>124</c:v>
                </c:pt>
                <c:pt idx="3">
                  <c:v>144</c:v>
                </c:pt>
                <c:pt idx="4">
                  <c:v>160</c:v>
                </c:pt>
                <c:pt idx="5">
                  <c:v>174</c:v>
                </c:pt>
              </c:numCache>
            </c:numRef>
          </c:val>
          <c:smooth val="0"/>
        </c:ser>
        <c:ser>
          <c:idx val="1"/>
          <c:order val="1"/>
          <c:tx>
            <c:strRef>
              <c:f>Sheet1!$C$1</c:f>
              <c:strCache>
                <c:ptCount val="1"/>
                <c:pt idx="0">
                  <c:v>Nasdaq</c:v>
                </c:pt>
              </c:strCache>
            </c:strRef>
          </c:tx>
          <c:spPr>
            <a:solidFill>
              <a:srgbClr val="333333"/>
            </a:solidFill>
            <a:ln w="38100" cap="flat">
              <a:solidFill>
                <a:srgbClr val="333333"/>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6"/>
            <c:spPr>
              <a:solidFill>
                <a:srgbClr val="333333"/>
              </a:solidFill>
              <a:ln w="9525" cap="flat">
                <a:solidFill>
                  <a:srgbClr val="333333"/>
                </a:solidFill>
                <a:prstDash val="solid"/>
                <a:round/>
              </a:ln>
              <a:effectLst/>
            </c:spPr>
          </c:marker>
          <c:cat>
            <c:multiLvlStrRef>
              <c:f>Sheet1!$A$2:$A$7</c:f>
              <c:multiLvlStrCache>
                <c:ptCount val="6"/>
                <c:lvl>
                  <c:pt idx="0">
                    <c:v>Jan 1</c:v>
                  </c:pt>
                  <c:pt idx="1">
                    <c:v>Jan 31</c:v>
                  </c:pt>
                  <c:pt idx="2">
                    <c:v>Feb 28</c:v>
                  </c:pt>
                  <c:pt idx="3">
                    <c:v>Mar 31</c:v>
                  </c:pt>
                  <c:pt idx="4">
                    <c:v>Apr 30</c:v>
                  </c:pt>
                  <c:pt idx="5">
                    <c:v>May 22</c:v>
                  </c:pt>
                </c:lvl>
              </c:multiLvlStrCache>
            </c:multiLvlStrRef>
          </c:cat>
          <c:val>
            <c:numRef>
              <c:f>Sheet1!$C$2:$C$7</c:f>
              <c:numCache>
                <c:formatCode>General</c:formatCode>
                <c:ptCount val="6"/>
                <c:pt idx="0">
                  <c:v>100</c:v>
                </c:pt>
                <c:pt idx="1">
                  <c:v>99</c:v>
                </c:pt>
                <c:pt idx="2">
                  <c:v>95</c:v>
                </c:pt>
                <c:pt idx="3">
                  <c:v>100</c:v>
                </c:pt>
                <c:pt idx="4">
                  <c:v>104</c:v>
                </c:pt>
                <c:pt idx="5">
                  <c:v>106</c:v>
                </c:pt>
              </c:numCache>
            </c:numRef>
          </c:val>
          <c:smooth val="0"/>
        </c:ser>
        <c:ser>
          <c:idx val="2"/>
          <c:order val="2"/>
          <c:tx>
            <c:strRef>
              <c:f>Sheet1!$D$1</c:f>
              <c:strCache>
                <c:ptCount val="1"/>
                <c:pt idx="0">
                  <c:v>Software</c:v>
                </c:pt>
              </c:strCache>
            </c:strRef>
          </c:tx>
          <c:spPr>
            <a:solidFill>
              <a:srgbClr val="CC0000"/>
            </a:solidFill>
            <a:ln w="38100" cap="flat">
              <a:solidFill>
                <a:srgbClr val="CC0000"/>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6"/>
            <c:spPr>
              <a:solidFill>
                <a:srgbClr val="CC0000"/>
              </a:solidFill>
              <a:ln w="9525" cap="flat">
                <a:solidFill>
                  <a:srgbClr val="CC0000"/>
                </a:solidFill>
                <a:prstDash val="solid"/>
                <a:round/>
              </a:ln>
              <a:effectLst/>
            </c:spPr>
          </c:marker>
          <c:cat>
            <c:multiLvlStrRef>
              <c:f>Sheet1!$A$2:$A$7</c:f>
              <c:multiLvlStrCache>
                <c:ptCount val="6"/>
                <c:lvl>
                  <c:pt idx="0">
                    <c:v>Jan 1</c:v>
                  </c:pt>
                  <c:pt idx="1">
                    <c:v>Jan 31</c:v>
                  </c:pt>
                  <c:pt idx="2">
                    <c:v>Feb 28</c:v>
                  </c:pt>
                  <c:pt idx="3">
                    <c:v>Mar 31</c:v>
                  </c:pt>
                  <c:pt idx="4">
                    <c:v>Apr 30</c:v>
                  </c:pt>
                  <c:pt idx="5">
                    <c:v>May 22</c:v>
                  </c:pt>
                </c:lvl>
              </c:multiLvlStrCache>
            </c:multiLvlStrRef>
          </c:cat>
          <c:val>
            <c:numRef>
              <c:f>Sheet1!$D$2:$D$7</c:f>
              <c:numCache>
                <c:formatCode>General</c:formatCode>
                <c:ptCount val="6"/>
                <c:pt idx="0">
                  <c:v>100</c:v>
                </c:pt>
                <c:pt idx="1">
                  <c:v>92</c:v>
                </c:pt>
                <c:pt idx="2">
                  <c:v>70</c:v>
                </c:pt>
                <c:pt idx="3">
                  <c:v>74</c:v>
                </c:pt>
                <c:pt idx="4">
                  <c:v>79</c:v>
                </c:pt>
                <c:pt idx="5">
                  <c:v>83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900" b="0" i="0" u="none" strike="noStrike">
                <a:solidFill>
                  <a:srgbClr val="999999"/>
                </a:solidFill>
                <a:latin typeface="Arial"/>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E5E5E5"/>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900" b="0" i="0" u="none" strike="noStrike">
                <a:solidFill>
                  <a:srgbClr val="999999"/>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900">
              <a:solidFill>
                <a:srgbClr val="666666"/>
              </a:solidFill>
            </a:defRPr>
          </a:pPr>
          <a:endParaRPr lang="en-US"/>
        </a:p>
      </c:txPr>
    </c:legend>
    <c:plotVisOnly val="1"/>
    <c:dispBlanksAs val="span"/>
  </c:chart>
  <c:spPr>
    <a:solidFill>
      <a:srgbClr val="FFFFFF"/>
    </a:solid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Cost per 1M tokens</c:v>
                </c:pt>
              </c:strCache>
            </c:strRef>
          </c:tx>
          <c:spPr>
            <a:solidFill>
              <a:srgbClr val="F6693D"/>
            </a:solidFill>
            <a:effectLst/>
          </c:spPr>
          <c:invertIfNegative val="0"/>
          <c:dLbls>
            <c:numFmt formatCode="[&lt;1]$0.0;$#,##0" sourceLinked="0"/>
            <c:txPr>
              <a:bodyPr/>
              <a:lstStyle/>
              <a:p>
                <a:pPr>
                  <a:defRPr b="1" i="0" strike="noStrike" sz="1000" u="none">
                    <a:solidFill>
                      <a:srgbClr val="333333"/>
                    </a:solidFill>
                    <a:latin typeface="Arial"/>
                  </a:defRPr>
                </a:pPr>
              </a:p>
            </c:txPr>
            <c:showLegendKey val="0"/>
            <c:showVal val="1"/>
            <c:showCatName val="0"/>
            <c:showSerName val="0"/>
            <c:showPercent val="0"/>
            <c:showBubbleSize val="0"/>
            <c:showLeaderLines val="0"/>
          </c:dLbls>
          <c:cat>
            <c:multiLvlStrRef>
              <c:f>Sheet1!$A$2:$A$5</c:f>
              <c:multiLvlStrCache>
                <c:ptCount val="4"/>
                <c:lvl>
                  <c:pt idx="0">
                    <c:v>2023</c:v>
                  </c:pt>
                  <c:pt idx="1">
                    <c:v>2024</c:v>
                  </c:pt>
                  <c:pt idx="2">
                    <c:v>2025</c:v>
                  </c:pt>
                  <c:pt idx="3">
                    <c:v>2026</c:v>
                  </c:pt>
                </c:lvl>
              </c:multiLvlStrCache>
            </c:multiLvlStrRef>
          </c:cat>
          <c:val>
            <c:numRef>
              <c:f>Sheet1!$B$2:$B$5</c:f>
              <c:numCache>
                <c:formatCode>General</c:formatCode>
                <c:ptCount val="4"/>
                <c:pt idx="0">
                  <c:v>36</c:v>
                </c:pt>
                <c:pt idx="1">
                  <c:v>10</c:v>
                </c:pt>
                <c:pt idx="2">
                  <c:v>2</c:v>
                </c:pt>
                <c:pt idx="3">
                  <c:v>0.4</c:v>
                </c:pt>
              </c:numCache>
            </c:numRef>
          </c:val>
        </c:ser>
        <c:dLbls>
          <c:numFmt formatCode="[&lt;1]$0.0;$#,##0" sourceLinked="0"/>
          <c:txPr>
            <a:bodyPr/>
            <a:lstStyle/>
            <a:p>
              <a:pPr>
                <a:defRPr b="1" i="0" strike="noStrike" sz="1000" u="none">
                  <a:solidFill>
                    <a:srgbClr val="333333"/>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000" b="0" i="0" u="none" strike="noStrike">
                <a:solidFill>
                  <a:srgbClr val="666666"/>
                </a:solidFill>
                <a:latin typeface="Arial"/>
              </a:defRPr>
            </a:pPr>
            <a:endParaRPr lang="en-US"/>
          </a:p>
        </c:txPr>
        <c:crossAx val="2094734552"/>
        <c:crosses val="autoZero"/>
        <c:auto val="1"/>
        <c:lblAlgn val="ctr"/>
        <c:noMultiLvlLbl val="1"/>
      </c:catAx>
      <c:valAx>
        <c:axId val="2094734552"/>
        <c:scaling>
          <c:orientation val="minMax"/>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900" b="0" i="0" u="none" strike="noStrike">
                <a:solidFill>
                  <a:srgbClr val="999999"/>
                </a:solidFill>
                <a:latin typeface="Arial"/>
              </a:defRPr>
            </a:pPr>
            <a:endParaRPr lang="en-US"/>
          </a:p>
        </c:txPr>
        <c:crossAx val="2094734554"/>
        <c:crosses val="autoZero"/>
        <c:crossBetween val="between"/>
      </c:valAx>
      <c:spPr>
        <a:noFill/>
        <a:ln>
          <a:noFill/>
        </a:ln>
        <a:effectLst/>
      </c:spPr>
    </c:plotArea>
    <c:plotVisOnly val="1"/>
    <c:dispBlanksAs val="span"/>
  </c:chart>
  <c:spPr>
    <a:solidFill>
      <a:srgbClr val="FFFFFF"/>
    </a:solidFill>
    <a:ln>
      <a:noFill/>
    </a:ln>
    <a:effectLst/>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 more concerned than excited</c:v>
                </c:pt>
              </c:strCache>
            </c:strRef>
          </c:tx>
          <c:spPr>
            <a:solidFill>
              <a:srgbClr val="CC0000"/>
            </a:solidFill>
            <a:ln w="44450" cap="flat">
              <a:solidFill>
                <a:srgbClr val="CC0000"/>
              </a:solidFill>
              <a:prstDash val="solid"/>
              <a:round/>
            </a:ln>
            <a:effectLst/>
          </c:spPr>
          <c:invertIfNegative val="0"/>
          <c:dLbls>
            <c:numFmt formatCode="#,##0" sourceLinked="0"/>
            <c:txPr>
              <a:bodyPr/>
              <a:lstStyle/>
              <a:p>
                <a:pPr>
                  <a:defRPr b="1" i="0" strike="noStrike" sz="1100" u="none">
                    <a:solidFill>
                      <a:srgbClr val="CC0000"/>
                    </a:solidFill>
                    <a:latin typeface="Arial"/>
                  </a:defRPr>
                </a:pPr>
              </a:p>
            </c:txPr>
            <c:dLblPos val="t"/>
            <c:showLegendKey val="0"/>
            <c:showVal val="1"/>
            <c:showCatName val="0"/>
            <c:showSerName val="0"/>
            <c:showPercent val="0"/>
            <c:showBubbleSize val="0"/>
            <c:showLeaderLines val="0"/>
          </c:dLbls>
          <c:marker>
            <c:symbol val="circle"/>
            <c:size val="7"/>
            <c:spPr>
              <a:solidFill>
                <a:srgbClr val="CC0000"/>
              </a:solidFill>
              <a:ln w="9525" cap="flat">
                <a:solidFill>
                  <a:srgbClr val="CC0000"/>
                </a:solidFill>
                <a:prstDash val="solid"/>
                <a:round/>
              </a:ln>
              <a:effectLst/>
            </c:spPr>
          </c:marker>
          <c:cat>
            <c:multiLvlStrRef>
              <c:f>Sheet1!$A$2:$A$4</c:f>
              <c:multiLvlStrCache>
                <c:ptCount val="3"/>
                <c:lvl>
                  <c:pt idx="0">
                    <c:v>2021</c:v>
                  </c:pt>
                  <c:pt idx="1">
                    <c:v>2023</c:v>
                  </c:pt>
                  <c:pt idx="2">
                    <c:v>2025</c:v>
                  </c:pt>
                </c:lvl>
              </c:multiLvlStrCache>
            </c:multiLvlStrRef>
          </c:cat>
          <c:val>
            <c:numRef>
              <c:f>Sheet1!$B$2:$B$4</c:f>
              <c:numCache>
                <c:formatCode>General</c:formatCode>
                <c:ptCount val="3"/>
                <c:pt idx="0">
                  <c:v>37</c:v>
                </c:pt>
                <c:pt idx="1">
                  <c:v>44</c:v>
                </c:pt>
                <c:pt idx="2">
                  <c:v>50</c:v>
                </c:pt>
              </c:numCache>
            </c:numRef>
          </c:val>
          <c:smooth val="0"/>
        </c:ser>
        <c:dLbls>
          <c:numFmt formatCode="#,##0" sourceLinked="0"/>
          <c:txPr>
            <a:bodyPr/>
            <a:lstStyle/>
            <a:p>
              <a:pPr>
                <a:defRPr b="1" i="0" strike="noStrike" sz="1100" u="none">
                  <a:solidFill>
                    <a:srgbClr val="CC0000"/>
                  </a:solidFill>
                  <a:latin typeface="Arial"/>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900" b="0" i="0" u="none" strike="noStrike">
                <a:solidFill>
                  <a:srgbClr val="999999"/>
                </a:solidFill>
                <a:latin typeface="Arial"/>
              </a:defRPr>
            </a:pPr>
            <a:endParaRPr lang="en-US"/>
          </a:p>
        </c:txPr>
        <c:crossAx val="2094734552"/>
        <c:crosses val="autoZero"/>
        <c:auto val="1"/>
        <c:lblAlgn val="ctr"/>
        <c:noMultiLvlLbl val="1"/>
      </c:catAx>
      <c:valAx>
        <c:axId val="2094734552"/>
        <c:scaling>
          <c:orientation val="minMax"/>
          <c:max val="60"/>
          <c:min val="0"/>
        </c:scaling>
        <c:delete val="0"/>
        <c:axPos val="l"/>
        <c:majorGridlines>
          <c:spPr>
            <a:ln w="6350" cap="flat">
              <a:solidFill>
                <a:srgbClr val="E5E5E5"/>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900" b="0" i="0" u="none" strike="noStrike">
                <a:solidFill>
                  <a:srgbClr val="999999"/>
                </a:solidFill>
                <a:latin typeface="Arial"/>
              </a:defRPr>
            </a:pPr>
            <a:endParaRPr lang="en-US"/>
          </a:p>
        </c:txPr>
        <c:crossAx val="2094734554"/>
        <c:crosses val="autoZero"/>
        <c:crossBetween val="between"/>
        <c:majorUnit val="20"/>
      </c:valAx>
      <c:spPr>
        <a:noFill/>
        <a:ln>
          <a:noFill/>
        </a:ln>
        <a:effectLst/>
      </c:spPr>
    </c:plotArea>
    <c:plotVisOnly val="1"/>
    <c:dispBlanksAs val="span"/>
  </c:chart>
  <c:spPr>
    <a:solidFill>
      <a:srgbClr val="FFFFFF"/>
    </a:solid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chart" Target="/ppt/charts/chart2.xml"/><Relationship Id="rId3" Type="http://schemas.openxmlformats.org/officeDocument/2006/relationships/slideLayout" Target="../slideLayouts/slideLayout1.xml"/><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image" Target="../media/image-10-4.png"/><Relationship Id="rId5" Type="http://schemas.openxmlformats.org/officeDocument/2006/relationships/slideLayout" Target="../slideLayouts/slideLayout1.xml"/><Relationship Id="rId6"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chart" Target="/ppt/charts/chart3.xml"/><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chart" Target="/ppt/charts/chart4.xml"/><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chart" Target="/ppt/charts/chart5.xml"/><Relationship Id="rId2" Type="http://schemas.openxmlformats.org/officeDocument/2006/relationships/slideLayout" Target="../slideLayouts/slideLayout1.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1.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1.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1.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1.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D100"/>
        </a:solidFill>
      </p:bgPr>
    </p:bg>
    <p:spTree>
      <p:nvGrpSpPr>
        <p:cNvPr id="1" name=""/>
        <p:cNvGrpSpPr/>
        <p:nvPr/>
      </p:nvGrpSpPr>
      <p:grpSpPr>
        <a:xfrm>
          <a:off x="0" y="0"/>
          <a:ext cx="0" cy="0"/>
          <a:chOff x="0" y="0"/>
          <a:chExt cx="0" cy="0"/>
        </a:xfrm>
      </p:grpSpPr>
      <p:sp>
        <p:nvSpPr>
          <p:cNvPr id="2" name="Shape 0"/>
          <p:cNvSpPr/>
          <p:nvPr/>
        </p:nvSpPr>
        <p:spPr>
          <a:xfrm>
            <a:off x="457200" y="2788920"/>
            <a:ext cx="1005840" cy="128016"/>
          </a:xfrm>
          <a:prstGeom prst="rect">
            <a:avLst/>
          </a:prstGeom>
          <a:solidFill>
            <a:srgbClr val="F6693D"/>
          </a:solidFill>
          <a:ln w="12700">
            <a:solidFill>
              <a:srgbClr val="F6693D"/>
            </a:solidFill>
            <a:prstDash val="solid"/>
          </a:ln>
        </p:spPr>
      </p:sp>
      <p:sp>
        <p:nvSpPr>
          <p:cNvPr id="3" name="Text 1"/>
          <p:cNvSpPr/>
          <p:nvPr/>
        </p:nvSpPr>
        <p:spPr>
          <a:xfrm>
            <a:off x="457200" y="3063240"/>
            <a:ext cx="8229600" cy="1371600"/>
          </a:xfrm>
          <a:prstGeom prst="rect">
            <a:avLst/>
          </a:prstGeom>
          <a:noFill/>
          <a:ln/>
        </p:spPr>
        <p:txBody>
          <a:bodyPr wrap="square" lIns="0" tIns="0" rIns="0" bIns="0" rtlCol="0" anchor="t"/>
          <a:lstStyle/>
          <a:p>
            <a:pPr indent="0" marL="0">
              <a:buNone/>
            </a:pPr>
            <a:r>
              <a:rPr lang="en-US" sz="8800" b="1" dirty="0">
                <a:solidFill>
                  <a:srgbClr val="000000"/>
                </a:solidFill>
                <a:latin typeface="Arial Black" pitchFamily="34" charset="0"/>
                <a:ea typeface="Arial Black" pitchFamily="34" charset="-122"/>
                <a:cs typeface="Arial Black" pitchFamily="34" charset="-120"/>
              </a:rPr>
              <a:t>AI Markets</a:t>
            </a:r>
            <a:endParaRPr lang="en-US" sz="8800" dirty="0"/>
          </a:p>
        </p:txBody>
      </p:sp>
      <p:sp>
        <p:nvSpPr>
          <p:cNvPr id="4" name="Text 2"/>
          <p:cNvSpPr/>
          <p:nvPr/>
        </p:nvSpPr>
        <p:spPr>
          <a:xfrm>
            <a:off x="457200" y="4434840"/>
            <a:ext cx="8229600" cy="457200"/>
          </a:xfrm>
          <a:prstGeom prst="rect">
            <a:avLst/>
          </a:prstGeom>
          <a:noFill/>
          <a:ln/>
        </p:spPr>
        <p:txBody>
          <a:bodyPr wrap="square" lIns="0" tIns="0" rIns="0" bIns="0" rtlCol="0" anchor="t"/>
          <a:lstStyle/>
          <a:p>
            <a:pPr indent="0" marL="0">
              <a:buNone/>
            </a:pPr>
            <a:r>
              <a:rPr lang="en-US" sz="2200" dirty="0">
                <a:solidFill>
                  <a:srgbClr val="000000"/>
                </a:solidFill>
                <a:latin typeface="Arial" pitchFamily="34" charset="0"/>
                <a:ea typeface="Arial" pitchFamily="34" charset="-122"/>
                <a:cs typeface="Arial" pitchFamily="34" charset="-120"/>
              </a:rPr>
              <a:t>May 2026</a:t>
            </a:r>
            <a:endParaRPr lang="en-US" sz="2200" dirty="0"/>
          </a:p>
        </p:txBody>
      </p:sp>
      <p:sp>
        <p:nvSpPr>
          <p:cNvPr id="5" name="Shape 3"/>
          <p:cNvSpPr/>
          <p:nvPr/>
        </p:nvSpPr>
        <p:spPr>
          <a:xfrm>
            <a:off x="0" y="6286500"/>
            <a:ext cx="9144000" cy="571500"/>
          </a:xfrm>
          <a:prstGeom prst="rect">
            <a:avLst/>
          </a:prstGeom>
          <a:solidFill>
            <a:srgbClr val="000000"/>
          </a:solidFill>
          <a:ln w="12700">
            <a:solidFill>
              <a:srgbClr val="000000"/>
            </a:solidFill>
            <a:prstDash val="solid"/>
          </a:ln>
        </p:spPr>
      </p:sp>
      <p:sp>
        <p:nvSpPr>
          <p:cNvPr id="6" name="Text 4"/>
          <p:cNvSpPr/>
          <p:nvPr/>
        </p:nvSpPr>
        <p:spPr>
          <a:xfrm>
            <a:off x="1371600" y="6332220"/>
            <a:ext cx="6400800" cy="457200"/>
          </a:xfrm>
          <a:prstGeom prst="rect">
            <a:avLst/>
          </a:prstGeom>
          <a:noFill/>
          <a:ln/>
        </p:spPr>
        <p:txBody>
          <a:bodyPr wrap="square" lIns="0" tIns="0" rIns="0" bIns="0" rtlCol="0" anchor="ctr"/>
          <a:lstStyle/>
          <a:p>
            <a:pPr algn="ctr" indent="0" marL="0">
              <a:buNone/>
            </a:pPr>
            <a:r>
              <a:rPr lang="en-US" sz="650" b="1" dirty="0">
                <a:solidFill>
                  <a:srgbClr val="FFFFFF"/>
                </a:solidFill>
                <a:latin typeface="Arial" pitchFamily="34" charset="0"/>
                <a:ea typeface="Arial" pitchFamily="34" charset="-122"/>
                <a:cs typeface="Arial" pitchFamily="34" charset="-120"/>
              </a:rPr>
              <a:t>FOR INFORMATIONAL PURPOSES ONLY. NOT INVESTMENT ADVICE. PAST PERFORMANCE IS NOT INDICATIVE OF FUTURE RESULTS.</a:t>
            </a:r>
            <a:endParaRPr lang="en-US" sz="6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182880"/>
            <a:ext cx="6583680" cy="685800"/>
          </a:xfrm>
          <a:prstGeom prst="rect">
            <a:avLst/>
          </a:prstGeom>
          <a:noFill/>
          <a:ln/>
        </p:spPr>
        <p:txBody>
          <a:bodyPr wrap="square" lIns="0" tIns="0" rIns="0" bIns="0" rtlCol="0" anchor="t"/>
          <a:lstStyle/>
          <a:p>
            <a:pPr indent="0" marL="0">
              <a:buNone/>
            </a:pPr>
            <a:r>
              <a:rPr lang="en-US" sz="2400" b="1" dirty="0">
                <a:solidFill>
                  <a:srgbClr val="000000"/>
                </a:solidFill>
                <a:latin typeface="Arial Black" pitchFamily="34" charset="0"/>
                <a:ea typeface="Arial Black" pitchFamily="34" charset="-122"/>
                <a:cs typeface="Arial Black" pitchFamily="34" charset="-120"/>
              </a:rPr>
              <a:t>Contents.</a:t>
            </a:r>
            <a:endParaRPr lang="en-US" sz="2400" dirty="0"/>
          </a:p>
        </p:txBody>
      </p:sp>
      <p:sp>
        <p:nvSpPr>
          <p:cNvPr id="3" name="Shape 1"/>
          <p:cNvSpPr/>
          <p:nvPr/>
        </p:nvSpPr>
        <p:spPr>
          <a:xfrm>
            <a:off x="457200" y="1325880"/>
            <a:ext cx="8229600" cy="0"/>
          </a:xfrm>
          <a:prstGeom prst="line">
            <a:avLst/>
          </a:prstGeom>
          <a:noFill/>
          <a:ln w="9525">
            <a:solidFill>
              <a:srgbClr val="E5E5E5"/>
            </a:solidFill>
            <a:prstDash val="solid"/>
          </a:ln>
        </p:spPr>
      </p:sp>
      <p:sp>
        <p:nvSpPr>
          <p:cNvPr id="4" name="Shape 2"/>
          <p:cNvSpPr/>
          <p:nvPr/>
        </p:nvSpPr>
        <p:spPr>
          <a:xfrm>
            <a:off x="457200" y="1737360"/>
            <a:ext cx="109728" cy="493776"/>
          </a:xfrm>
          <a:prstGeom prst="rect">
            <a:avLst/>
          </a:prstGeom>
          <a:solidFill>
            <a:srgbClr val="008B8B"/>
          </a:solidFill>
          <a:ln w="12700">
            <a:solidFill>
              <a:srgbClr val="008B8B"/>
            </a:solidFill>
            <a:prstDash val="solid"/>
          </a:ln>
        </p:spPr>
      </p:sp>
      <p:sp>
        <p:nvSpPr>
          <p:cNvPr id="5" name="Text 3"/>
          <p:cNvSpPr/>
          <p:nvPr/>
        </p:nvSpPr>
        <p:spPr>
          <a:xfrm>
            <a:off x="731520" y="1737360"/>
            <a:ext cx="822960" cy="493776"/>
          </a:xfrm>
          <a:prstGeom prst="rect">
            <a:avLst/>
          </a:prstGeom>
          <a:noFill/>
          <a:ln/>
        </p:spPr>
        <p:txBody>
          <a:bodyPr wrap="square" lIns="0" tIns="0" rIns="0" bIns="0" rtlCol="0" anchor="ctr"/>
          <a:lstStyle/>
          <a:p>
            <a:pPr indent="0" marL="0">
              <a:buNone/>
            </a:pPr>
            <a:r>
              <a:rPr lang="en-US" sz="2200" b="1" dirty="0">
                <a:solidFill>
                  <a:srgbClr val="008B8B"/>
                </a:solidFill>
                <a:latin typeface="Arial Black" pitchFamily="34" charset="0"/>
                <a:ea typeface="Arial Black" pitchFamily="34" charset="-122"/>
                <a:cs typeface="Arial Black" pitchFamily="34" charset="-120"/>
              </a:rPr>
              <a:t>01</a:t>
            </a:r>
            <a:endParaRPr lang="en-US" sz="2200" dirty="0"/>
          </a:p>
        </p:txBody>
      </p:sp>
      <p:sp>
        <p:nvSpPr>
          <p:cNvPr id="6" name="Text 4"/>
          <p:cNvSpPr/>
          <p:nvPr/>
        </p:nvSpPr>
        <p:spPr>
          <a:xfrm>
            <a:off x="1645920" y="1737360"/>
            <a:ext cx="5943600" cy="493776"/>
          </a:xfrm>
          <a:prstGeom prst="rect">
            <a:avLst/>
          </a:prstGeom>
          <a:noFill/>
          <a:ln/>
        </p:spPr>
        <p:txBody>
          <a:bodyPr wrap="square" lIns="0" tIns="0" rIns="0" bIns="0" rtlCol="0" anchor="ctr"/>
          <a:lstStyle/>
          <a:p>
            <a:pPr indent="0" marL="0">
              <a:buNone/>
            </a:pPr>
            <a:r>
              <a:rPr lang="en-US" sz="2200" b="1" spc="300" kern="0" dirty="0">
                <a:solidFill>
                  <a:srgbClr val="000000"/>
                </a:solidFill>
                <a:latin typeface="Arial Black" pitchFamily="34" charset="0"/>
                <a:ea typeface="Arial Black" pitchFamily="34" charset="-122"/>
                <a:cs typeface="Arial Black" pitchFamily="34" charset="-120"/>
              </a:rPr>
              <a:t>LANDSCAPE</a:t>
            </a:r>
            <a:endParaRPr lang="en-US" sz="2200" dirty="0"/>
          </a:p>
        </p:txBody>
      </p:sp>
      <p:sp>
        <p:nvSpPr>
          <p:cNvPr id="7" name="Text 5"/>
          <p:cNvSpPr/>
          <p:nvPr/>
        </p:nvSpPr>
        <p:spPr>
          <a:xfrm>
            <a:off x="7315200" y="1737360"/>
            <a:ext cx="1371600" cy="493776"/>
          </a:xfrm>
          <a:prstGeom prst="rect">
            <a:avLst/>
          </a:prstGeom>
          <a:noFill/>
          <a:ln/>
        </p:spPr>
        <p:txBody>
          <a:bodyPr wrap="square" lIns="0" tIns="0" rIns="0" bIns="0" rtlCol="0" anchor="ctr"/>
          <a:lstStyle/>
          <a:p>
            <a:pPr algn="r" indent="0" marL="0">
              <a:buNone/>
            </a:pPr>
            <a:r>
              <a:rPr lang="en-US" sz="1400" dirty="0">
                <a:solidFill>
                  <a:srgbClr val="666666"/>
                </a:solidFill>
                <a:latin typeface="Arial" pitchFamily="34" charset="0"/>
                <a:ea typeface="Arial" pitchFamily="34" charset="-122"/>
                <a:cs typeface="Arial" pitchFamily="34" charset="-120"/>
              </a:rPr>
              <a:t>3 – 6</a:t>
            </a:r>
            <a:endParaRPr lang="en-US" sz="1400" dirty="0"/>
          </a:p>
        </p:txBody>
      </p:sp>
      <p:sp>
        <p:nvSpPr>
          <p:cNvPr id="8" name="Shape 6"/>
          <p:cNvSpPr/>
          <p:nvPr/>
        </p:nvSpPr>
        <p:spPr>
          <a:xfrm>
            <a:off x="731520" y="2267712"/>
            <a:ext cx="7955280" cy="0"/>
          </a:xfrm>
          <a:prstGeom prst="line">
            <a:avLst/>
          </a:prstGeom>
          <a:noFill/>
          <a:ln w="6350">
            <a:solidFill>
              <a:srgbClr val="E5E5E5"/>
            </a:solidFill>
            <a:prstDash val="solid"/>
          </a:ln>
        </p:spPr>
      </p:sp>
      <p:sp>
        <p:nvSpPr>
          <p:cNvPr id="9" name="Shape 7"/>
          <p:cNvSpPr/>
          <p:nvPr/>
        </p:nvSpPr>
        <p:spPr>
          <a:xfrm>
            <a:off x="457200" y="2304288"/>
            <a:ext cx="109728" cy="493776"/>
          </a:xfrm>
          <a:prstGeom prst="rect">
            <a:avLst/>
          </a:prstGeom>
          <a:solidFill>
            <a:srgbClr val="FFB800"/>
          </a:solidFill>
          <a:ln w="12700">
            <a:solidFill>
              <a:srgbClr val="FFB800"/>
            </a:solidFill>
            <a:prstDash val="solid"/>
          </a:ln>
        </p:spPr>
      </p:sp>
      <p:sp>
        <p:nvSpPr>
          <p:cNvPr id="10" name="Text 8"/>
          <p:cNvSpPr/>
          <p:nvPr/>
        </p:nvSpPr>
        <p:spPr>
          <a:xfrm>
            <a:off x="731520" y="2304288"/>
            <a:ext cx="822960" cy="493776"/>
          </a:xfrm>
          <a:prstGeom prst="rect">
            <a:avLst/>
          </a:prstGeom>
          <a:noFill/>
          <a:ln/>
        </p:spPr>
        <p:txBody>
          <a:bodyPr wrap="square" lIns="0" tIns="0" rIns="0" bIns="0" rtlCol="0" anchor="ctr"/>
          <a:lstStyle/>
          <a:p>
            <a:pPr indent="0" marL="0">
              <a:buNone/>
            </a:pPr>
            <a:r>
              <a:rPr lang="en-US" sz="2200" b="1" dirty="0">
                <a:solidFill>
                  <a:srgbClr val="FFB800"/>
                </a:solidFill>
                <a:latin typeface="Arial Black" pitchFamily="34" charset="0"/>
                <a:ea typeface="Arial Black" pitchFamily="34" charset="-122"/>
                <a:cs typeface="Arial Black" pitchFamily="34" charset="-120"/>
              </a:rPr>
              <a:t>02</a:t>
            </a:r>
            <a:endParaRPr lang="en-US" sz="2200" dirty="0"/>
          </a:p>
        </p:txBody>
      </p:sp>
      <p:sp>
        <p:nvSpPr>
          <p:cNvPr id="11" name="Text 9"/>
          <p:cNvSpPr/>
          <p:nvPr/>
        </p:nvSpPr>
        <p:spPr>
          <a:xfrm>
            <a:off x="1645920" y="2304288"/>
            <a:ext cx="5943600" cy="493776"/>
          </a:xfrm>
          <a:prstGeom prst="rect">
            <a:avLst/>
          </a:prstGeom>
          <a:noFill/>
          <a:ln/>
        </p:spPr>
        <p:txBody>
          <a:bodyPr wrap="square" lIns="0" tIns="0" rIns="0" bIns="0" rtlCol="0" anchor="ctr"/>
          <a:lstStyle/>
          <a:p>
            <a:pPr indent="0" marL="0">
              <a:buNone/>
            </a:pPr>
            <a:r>
              <a:rPr lang="en-US" sz="2200" b="1" spc="300" kern="0" dirty="0">
                <a:solidFill>
                  <a:srgbClr val="000000"/>
                </a:solidFill>
                <a:latin typeface="Arial Black" pitchFamily="34" charset="0"/>
                <a:ea typeface="Arial Black" pitchFamily="34" charset="-122"/>
                <a:cs typeface="Arial Black" pitchFamily="34" charset="-120"/>
              </a:rPr>
              <a:t>MARKET</a:t>
            </a:r>
            <a:endParaRPr lang="en-US" sz="2200" dirty="0"/>
          </a:p>
        </p:txBody>
      </p:sp>
      <p:sp>
        <p:nvSpPr>
          <p:cNvPr id="12" name="Text 10"/>
          <p:cNvSpPr/>
          <p:nvPr/>
        </p:nvSpPr>
        <p:spPr>
          <a:xfrm>
            <a:off x="7315200" y="2304288"/>
            <a:ext cx="1371600" cy="493776"/>
          </a:xfrm>
          <a:prstGeom prst="rect">
            <a:avLst/>
          </a:prstGeom>
          <a:noFill/>
          <a:ln/>
        </p:spPr>
        <p:txBody>
          <a:bodyPr wrap="square" lIns="0" tIns="0" rIns="0" bIns="0" rtlCol="0" anchor="ctr"/>
          <a:lstStyle/>
          <a:p>
            <a:pPr algn="r" indent="0" marL="0">
              <a:buNone/>
            </a:pPr>
            <a:r>
              <a:rPr lang="en-US" sz="1400" dirty="0">
                <a:solidFill>
                  <a:srgbClr val="666666"/>
                </a:solidFill>
                <a:latin typeface="Arial" pitchFamily="34" charset="0"/>
                <a:ea typeface="Arial" pitchFamily="34" charset="-122"/>
                <a:cs typeface="Arial" pitchFamily="34" charset="-120"/>
              </a:rPr>
              <a:t>7 – 11</a:t>
            </a:r>
            <a:endParaRPr lang="en-US" sz="1400" dirty="0"/>
          </a:p>
        </p:txBody>
      </p:sp>
      <p:sp>
        <p:nvSpPr>
          <p:cNvPr id="13" name="Shape 11"/>
          <p:cNvSpPr/>
          <p:nvPr/>
        </p:nvSpPr>
        <p:spPr>
          <a:xfrm>
            <a:off x="731520" y="2834640"/>
            <a:ext cx="7955280" cy="0"/>
          </a:xfrm>
          <a:prstGeom prst="line">
            <a:avLst/>
          </a:prstGeom>
          <a:noFill/>
          <a:ln w="6350">
            <a:solidFill>
              <a:srgbClr val="E5E5E5"/>
            </a:solidFill>
            <a:prstDash val="solid"/>
          </a:ln>
        </p:spPr>
      </p:sp>
      <p:sp>
        <p:nvSpPr>
          <p:cNvPr id="14" name="Shape 12"/>
          <p:cNvSpPr/>
          <p:nvPr/>
        </p:nvSpPr>
        <p:spPr>
          <a:xfrm>
            <a:off x="457200" y="2871216"/>
            <a:ext cx="109728" cy="493776"/>
          </a:xfrm>
          <a:prstGeom prst="rect">
            <a:avLst/>
          </a:prstGeom>
          <a:solidFill>
            <a:srgbClr val="F6693D"/>
          </a:solidFill>
          <a:ln w="12700">
            <a:solidFill>
              <a:srgbClr val="F6693D"/>
            </a:solidFill>
            <a:prstDash val="solid"/>
          </a:ln>
        </p:spPr>
      </p:sp>
      <p:sp>
        <p:nvSpPr>
          <p:cNvPr id="15" name="Text 13"/>
          <p:cNvSpPr/>
          <p:nvPr/>
        </p:nvSpPr>
        <p:spPr>
          <a:xfrm>
            <a:off x="731520" y="2871216"/>
            <a:ext cx="822960" cy="493776"/>
          </a:xfrm>
          <a:prstGeom prst="rect">
            <a:avLst/>
          </a:prstGeom>
          <a:noFill/>
          <a:ln/>
        </p:spPr>
        <p:txBody>
          <a:bodyPr wrap="square" lIns="0" tIns="0" rIns="0" bIns="0" rtlCol="0" anchor="ctr"/>
          <a:lstStyle/>
          <a:p>
            <a:pPr indent="0" marL="0">
              <a:buNone/>
            </a:pPr>
            <a:r>
              <a:rPr lang="en-US" sz="2200" b="1" dirty="0">
                <a:solidFill>
                  <a:srgbClr val="F6693D"/>
                </a:solidFill>
                <a:latin typeface="Arial Black" pitchFamily="34" charset="0"/>
                <a:ea typeface="Arial Black" pitchFamily="34" charset="-122"/>
                <a:cs typeface="Arial Black" pitchFamily="34" charset="-120"/>
              </a:rPr>
              <a:t>03</a:t>
            </a:r>
            <a:endParaRPr lang="en-US" sz="2200" dirty="0"/>
          </a:p>
        </p:txBody>
      </p:sp>
      <p:sp>
        <p:nvSpPr>
          <p:cNvPr id="16" name="Text 14"/>
          <p:cNvSpPr/>
          <p:nvPr/>
        </p:nvSpPr>
        <p:spPr>
          <a:xfrm>
            <a:off x="1645920" y="2871216"/>
            <a:ext cx="5943600" cy="493776"/>
          </a:xfrm>
          <a:prstGeom prst="rect">
            <a:avLst/>
          </a:prstGeom>
          <a:noFill/>
          <a:ln/>
        </p:spPr>
        <p:txBody>
          <a:bodyPr wrap="square" lIns="0" tIns="0" rIns="0" bIns="0" rtlCol="0" anchor="ctr"/>
          <a:lstStyle/>
          <a:p>
            <a:pPr indent="0" marL="0">
              <a:buNone/>
            </a:pPr>
            <a:r>
              <a:rPr lang="en-US" sz="2200" b="1" spc="300" kern="0" dirty="0">
                <a:solidFill>
                  <a:srgbClr val="000000"/>
                </a:solidFill>
                <a:latin typeface="Arial Black" pitchFamily="34" charset="0"/>
                <a:ea typeface="Arial Black" pitchFamily="34" charset="-122"/>
                <a:cs typeface="Arial Black" pitchFamily="34" charset="-120"/>
              </a:rPr>
              <a:t>SHIFTS</a:t>
            </a:r>
            <a:endParaRPr lang="en-US" sz="2200" dirty="0"/>
          </a:p>
        </p:txBody>
      </p:sp>
      <p:sp>
        <p:nvSpPr>
          <p:cNvPr id="17" name="Text 15"/>
          <p:cNvSpPr/>
          <p:nvPr/>
        </p:nvSpPr>
        <p:spPr>
          <a:xfrm>
            <a:off x="7315200" y="2871216"/>
            <a:ext cx="1371600" cy="493776"/>
          </a:xfrm>
          <a:prstGeom prst="rect">
            <a:avLst/>
          </a:prstGeom>
          <a:noFill/>
          <a:ln/>
        </p:spPr>
        <p:txBody>
          <a:bodyPr wrap="square" lIns="0" tIns="0" rIns="0" bIns="0" rtlCol="0" anchor="ctr"/>
          <a:lstStyle/>
          <a:p>
            <a:pPr algn="r" indent="0" marL="0">
              <a:buNone/>
            </a:pPr>
            <a:r>
              <a:rPr lang="en-US" sz="1400" dirty="0">
                <a:solidFill>
                  <a:srgbClr val="666666"/>
                </a:solidFill>
                <a:latin typeface="Arial" pitchFamily="34" charset="0"/>
                <a:ea typeface="Arial" pitchFamily="34" charset="-122"/>
                <a:cs typeface="Arial" pitchFamily="34" charset="-120"/>
              </a:rPr>
              <a:t>12 – 14</a:t>
            </a:r>
            <a:endParaRPr lang="en-US" sz="1400" dirty="0"/>
          </a:p>
        </p:txBody>
      </p:sp>
      <p:sp>
        <p:nvSpPr>
          <p:cNvPr id="18" name="Shape 16"/>
          <p:cNvSpPr/>
          <p:nvPr/>
        </p:nvSpPr>
        <p:spPr>
          <a:xfrm>
            <a:off x="731520" y="3401568"/>
            <a:ext cx="7955280" cy="0"/>
          </a:xfrm>
          <a:prstGeom prst="line">
            <a:avLst/>
          </a:prstGeom>
          <a:noFill/>
          <a:ln w="6350">
            <a:solidFill>
              <a:srgbClr val="E5E5E5"/>
            </a:solidFill>
            <a:prstDash val="solid"/>
          </a:ln>
        </p:spPr>
      </p:sp>
      <p:sp>
        <p:nvSpPr>
          <p:cNvPr id="19" name="Shape 17"/>
          <p:cNvSpPr/>
          <p:nvPr/>
        </p:nvSpPr>
        <p:spPr>
          <a:xfrm>
            <a:off x="457200" y="3438144"/>
            <a:ext cx="109728" cy="493776"/>
          </a:xfrm>
          <a:prstGeom prst="rect">
            <a:avLst/>
          </a:prstGeom>
          <a:solidFill>
            <a:srgbClr val="CC0000"/>
          </a:solidFill>
          <a:ln w="12700">
            <a:solidFill>
              <a:srgbClr val="CC0000"/>
            </a:solidFill>
            <a:prstDash val="solid"/>
          </a:ln>
        </p:spPr>
      </p:sp>
      <p:sp>
        <p:nvSpPr>
          <p:cNvPr id="20" name="Text 18"/>
          <p:cNvSpPr/>
          <p:nvPr/>
        </p:nvSpPr>
        <p:spPr>
          <a:xfrm>
            <a:off x="731520" y="3438144"/>
            <a:ext cx="822960" cy="493776"/>
          </a:xfrm>
          <a:prstGeom prst="rect">
            <a:avLst/>
          </a:prstGeom>
          <a:noFill/>
          <a:ln/>
        </p:spPr>
        <p:txBody>
          <a:bodyPr wrap="square" lIns="0" tIns="0" rIns="0" bIns="0" rtlCol="0" anchor="ctr"/>
          <a:lstStyle/>
          <a:p>
            <a:pPr indent="0" marL="0">
              <a:buNone/>
            </a:pPr>
            <a:r>
              <a:rPr lang="en-US" sz="2200" b="1" dirty="0">
                <a:solidFill>
                  <a:srgbClr val="CC0000"/>
                </a:solidFill>
                <a:latin typeface="Arial Black" pitchFamily="34" charset="0"/>
                <a:ea typeface="Arial Black" pitchFamily="34" charset="-122"/>
                <a:cs typeface="Arial Black" pitchFamily="34" charset="-120"/>
              </a:rPr>
              <a:t>04</a:t>
            </a:r>
            <a:endParaRPr lang="en-US" sz="2200" dirty="0"/>
          </a:p>
        </p:txBody>
      </p:sp>
      <p:sp>
        <p:nvSpPr>
          <p:cNvPr id="21" name="Text 19"/>
          <p:cNvSpPr/>
          <p:nvPr/>
        </p:nvSpPr>
        <p:spPr>
          <a:xfrm>
            <a:off x="1645920" y="3438144"/>
            <a:ext cx="5943600" cy="493776"/>
          </a:xfrm>
          <a:prstGeom prst="rect">
            <a:avLst/>
          </a:prstGeom>
          <a:noFill/>
          <a:ln/>
        </p:spPr>
        <p:txBody>
          <a:bodyPr wrap="square" lIns="0" tIns="0" rIns="0" bIns="0" rtlCol="0" anchor="ctr"/>
          <a:lstStyle/>
          <a:p>
            <a:pPr indent="0" marL="0">
              <a:buNone/>
            </a:pPr>
            <a:r>
              <a:rPr lang="en-US" sz="2200" b="1" spc="300" kern="0" dirty="0">
                <a:solidFill>
                  <a:srgbClr val="000000"/>
                </a:solidFill>
                <a:latin typeface="Arial Black" pitchFamily="34" charset="0"/>
                <a:ea typeface="Arial Black" pitchFamily="34" charset="-122"/>
                <a:cs typeface="Arial Black" pitchFamily="34" charset="-120"/>
              </a:rPr>
              <a:t>RISKS</a:t>
            </a:r>
            <a:endParaRPr lang="en-US" sz="2200" dirty="0"/>
          </a:p>
        </p:txBody>
      </p:sp>
      <p:sp>
        <p:nvSpPr>
          <p:cNvPr id="22" name="Text 20"/>
          <p:cNvSpPr/>
          <p:nvPr/>
        </p:nvSpPr>
        <p:spPr>
          <a:xfrm>
            <a:off x="7315200" y="3438144"/>
            <a:ext cx="1371600" cy="493776"/>
          </a:xfrm>
          <a:prstGeom prst="rect">
            <a:avLst/>
          </a:prstGeom>
          <a:noFill/>
          <a:ln/>
        </p:spPr>
        <p:txBody>
          <a:bodyPr wrap="square" lIns="0" tIns="0" rIns="0" bIns="0" rtlCol="0" anchor="ctr"/>
          <a:lstStyle/>
          <a:p>
            <a:pPr algn="r" indent="0" marL="0">
              <a:buNone/>
            </a:pPr>
            <a:r>
              <a:rPr lang="en-US" sz="1400" dirty="0">
                <a:solidFill>
                  <a:srgbClr val="666666"/>
                </a:solidFill>
                <a:latin typeface="Arial" pitchFamily="34" charset="0"/>
                <a:ea typeface="Arial" pitchFamily="34" charset="-122"/>
                <a:cs typeface="Arial" pitchFamily="34" charset="-120"/>
              </a:rPr>
              <a:t>15 – 18</a:t>
            </a:r>
            <a:endParaRPr lang="en-US" sz="1400" dirty="0"/>
          </a:p>
        </p:txBody>
      </p:sp>
      <p:sp>
        <p:nvSpPr>
          <p:cNvPr id="23" name="Shape 21"/>
          <p:cNvSpPr/>
          <p:nvPr/>
        </p:nvSpPr>
        <p:spPr>
          <a:xfrm>
            <a:off x="731520" y="3968496"/>
            <a:ext cx="7955280" cy="0"/>
          </a:xfrm>
          <a:prstGeom prst="line">
            <a:avLst/>
          </a:prstGeom>
          <a:noFill/>
          <a:ln w="6350">
            <a:solidFill>
              <a:srgbClr val="E5E5E5"/>
            </a:solidFill>
            <a:prstDash val="solid"/>
          </a:ln>
        </p:spPr>
      </p:sp>
      <p:sp>
        <p:nvSpPr>
          <p:cNvPr id="24" name="Shape 22"/>
          <p:cNvSpPr/>
          <p:nvPr/>
        </p:nvSpPr>
        <p:spPr>
          <a:xfrm>
            <a:off x="457200" y="4005072"/>
            <a:ext cx="109728" cy="493776"/>
          </a:xfrm>
          <a:prstGeom prst="rect">
            <a:avLst/>
          </a:prstGeom>
          <a:solidFill>
            <a:srgbClr val="6B46C1"/>
          </a:solidFill>
          <a:ln w="12700">
            <a:solidFill>
              <a:srgbClr val="6B46C1"/>
            </a:solidFill>
            <a:prstDash val="solid"/>
          </a:ln>
        </p:spPr>
      </p:sp>
      <p:sp>
        <p:nvSpPr>
          <p:cNvPr id="25" name="Text 23"/>
          <p:cNvSpPr/>
          <p:nvPr/>
        </p:nvSpPr>
        <p:spPr>
          <a:xfrm>
            <a:off x="731520" y="4005072"/>
            <a:ext cx="822960" cy="493776"/>
          </a:xfrm>
          <a:prstGeom prst="rect">
            <a:avLst/>
          </a:prstGeom>
          <a:noFill/>
          <a:ln/>
        </p:spPr>
        <p:txBody>
          <a:bodyPr wrap="square" lIns="0" tIns="0" rIns="0" bIns="0" rtlCol="0" anchor="ctr"/>
          <a:lstStyle/>
          <a:p>
            <a:pPr indent="0" marL="0">
              <a:buNone/>
            </a:pPr>
            <a:r>
              <a:rPr lang="en-US" sz="2200" b="1" dirty="0">
                <a:solidFill>
                  <a:srgbClr val="6B46C1"/>
                </a:solidFill>
                <a:latin typeface="Arial Black" pitchFamily="34" charset="0"/>
                <a:ea typeface="Arial Black" pitchFamily="34" charset="-122"/>
                <a:cs typeface="Arial Black" pitchFamily="34" charset="-120"/>
              </a:rPr>
              <a:t>05</a:t>
            </a:r>
            <a:endParaRPr lang="en-US" sz="2200" dirty="0"/>
          </a:p>
        </p:txBody>
      </p:sp>
      <p:sp>
        <p:nvSpPr>
          <p:cNvPr id="26" name="Text 24"/>
          <p:cNvSpPr/>
          <p:nvPr/>
        </p:nvSpPr>
        <p:spPr>
          <a:xfrm>
            <a:off x="1645920" y="4005072"/>
            <a:ext cx="5943600" cy="493776"/>
          </a:xfrm>
          <a:prstGeom prst="rect">
            <a:avLst/>
          </a:prstGeom>
          <a:noFill/>
          <a:ln/>
        </p:spPr>
        <p:txBody>
          <a:bodyPr wrap="square" lIns="0" tIns="0" rIns="0" bIns="0" rtlCol="0" anchor="ctr"/>
          <a:lstStyle/>
          <a:p>
            <a:pPr indent="0" marL="0">
              <a:buNone/>
            </a:pPr>
            <a:r>
              <a:rPr lang="en-US" sz="2200" b="1" spc="300" kern="0" dirty="0">
                <a:solidFill>
                  <a:srgbClr val="000000"/>
                </a:solidFill>
                <a:latin typeface="Arial Black" pitchFamily="34" charset="0"/>
                <a:ea typeface="Arial Black" pitchFamily="34" charset="-122"/>
                <a:cs typeface="Arial Black" pitchFamily="34" charset="-120"/>
              </a:rPr>
              <a:t>FRONTIER</a:t>
            </a:r>
            <a:endParaRPr lang="en-US" sz="2200" dirty="0"/>
          </a:p>
        </p:txBody>
      </p:sp>
      <p:sp>
        <p:nvSpPr>
          <p:cNvPr id="27" name="Text 25"/>
          <p:cNvSpPr/>
          <p:nvPr/>
        </p:nvSpPr>
        <p:spPr>
          <a:xfrm>
            <a:off x="7315200" y="4005072"/>
            <a:ext cx="1371600" cy="493776"/>
          </a:xfrm>
          <a:prstGeom prst="rect">
            <a:avLst/>
          </a:prstGeom>
          <a:noFill/>
          <a:ln/>
        </p:spPr>
        <p:txBody>
          <a:bodyPr wrap="square" lIns="0" tIns="0" rIns="0" bIns="0" rtlCol="0" anchor="ctr"/>
          <a:lstStyle/>
          <a:p>
            <a:pPr algn="r" indent="0" marL="0">
              <a:buNone/>
            </a:pPr>
            <a:r>
              <a:rPr lang="en-US" sz="1400" dirty="0">
                <a:solidFill>
                  <a:srgbClr val="666666"/>
                </a:solidFill>
                <a:latin typeface="Arial" pitchFamily="34" charset="0"/>
                <a:ea typeface="Arial" pitchFamily="34" charset="-122"/>
                <a:cs typeface="Arial" pitchFamily="34" charset="-120"/>
              </a:rPr>
              <a:t>19 – 22</a:t>
            </a:r>
            <a:endParaRPr lang="en-US" sz="1400" dirty="0"/>
          </a:p>
        </p:txBody>
      </p:sp>
      <p:sp>
        <p:nvSpPr>
          <p:cNvPr id="28" name="Shape 26"/>
          <p:cNvSpPr/>
          <p:nvPr/>
        </p:nvSpPr>
        <p:spPr>
          <a:xfrm>
            <a:off x="731520" y="4535424"/>
            <a:ext cx="7955280" cy="0"/>
          </a:xfrm>
          <a:prstGeom prst="line">
            <a:avLst/>
          </a:prstGeom>
          <a:noFill/>
          <a:ln w="6350">
            <a:solidFill>
              <a:srgbClr val="E5E5E5"/>
            </a:solidFill>
            <a:prstDash val="solid"/>
          </a:ln>
        </p:spPr>
      </p:sp>
      <p:sp>
        <p:nvSpPr>
          <p:cNvPr id="29" name="Shape 27"/>
          <p:cNvSpPr/>
          <p:nvPr/>
        </p:nvSpPr>
        <p:spPr>
          <a:xfrm>
            <a:off x="457200" y="4572000"/>
            <a:ext cx="109728" cy="493776"/>
          </a:xfrm>
          <a:prstGeom prst="rect">
            <a:avLst/>
          </a:prstGeom>
          <a:solidFill>
            <a:srgbClr val="000000"/>
          </a:solidFill>
          <a:ln w="12700">
            <a:solidFill>
              <a:srgbClr val="000000"/>
            </a:solidFill>
            <a:prstDash val="solid"/>
          </a:ln>
        </p:spPr>
      </p:sp>
      <p:sp>
        <p:nvSpPr>
          <p:cNvPr id="30" name="Text 28"/>
          <p:cNvSpPr/>
          <p:nvPr/>
        </p:nvSpPr>
        <p:spPr>
          <a:xfrm>
            <a:off x="731520" y="4572000"/>
            <a:ext cx="822960" cy="493776"/>
          </a:xfrm>
          <a:prstGeom prst="rect">
            <a:avLst/>
          </a:prstGeom>
          <a:noFill/>
          <a:ln/>
        </p:spPr>
        <p:txBody>
          <a:bodyPr wrap="square" lIns="0" tIns="0" rIns="0" bIns="0" rtlCol="0" anchor="ctr"/>
          <a:lstStyle/>
          <a:p>
            <a:pPr indent="0" marL="0">
              <a:buNone/>
            </a:pPr>
            <a:r>
              <a:rPr lang="en-US" sz="2200" b="1" dirty="0">
                <a:solidFill>
                  <a:srgbClr val="000000"/>
                </a:solidFill>
                <a:latin typeface="Arial Black" pitchFamily="34" charset="0"/>
                <a:ea typeface="Arial Black" pitchFamily="34" charset="-122"/>
                <a:cs typeface="Arial Black" pitchFamily="34" charset="-120"/>
              </a:rPr>
              <a:t>06</a:t>
            </a:r>
            <a:endParaRPr lang="en-US" sz="2200" dirty="0"/>
          </a:p>
        </p:txBody>
      </p:sp>
      <p:sp>
        <p:nvSpPr>
          <p:cNvPr id="31" name="Text 29"/>
          <p:cNvSpPr/>
          <p:nvPr/>
        </p:nvSpPr>
        <p:spPr>
          <a:xfrm>
            <a:off x="1645920" y="4572000"/>
            <a:ext cx="5943600" cy="493776"/>
          </a:xfrm>
          <a:prstGeom prst="rect">
            <a:avLst/>
          </a:prstGeom>
          <a:noFill/>
          <a:ln/>
        </p:spPr>
        <p:txBody>
          <a:bodyPr wrap="square" lIns="0" tIns="0" rIns="0" bIns="0" rtlCol="0" anchor="ctr"/>
          <a:lstStyle/>
          <a:p>
            <a:pPr indent="0" marL="0">
              <a:buNone/>
            </a:pPr>
            <a:r>
              <a:rPr lang="en-US" sz="2200" b="1" spc="300" kern="0" dirty="0">
                <a:solidFill>
                  <a:srgbClr val="000000"/>
                </a:solidFill>
                <a:latin typeface="Arial Black" pitchFamily="34" charset="0"/>
                <a:ea typeface="Arial Black" pitchFamily="34" charset="-122"/>
                <a:cs typeface="Arial Black" pitchFamily="34" charset="-120"/>
              </a:rPr>
              <a:t>TAKEAWAYS</a:t>
            </a:r>
            <a:endParaRPr lang="en-US" sz="2200" dirty="0"/>
          </a:p>
        </p:txBody>
      </p:sp>
      <p:sp>
        <p:nvSpPr>
          <p:cNvPr id="32" name="Text 30"/>
          <p:cNvSpPr/>
          <p:nvPr/>
        </p:nvSpPr>
        <p:spPr>
          <a:xfrm>
            <a:off x="7315200" y="4572000"/>
            <a:ext cx="1371600" cy="493776"/>
          </a:xfrm>
          <a:prstGeom prst="rect">
            <a:avLst/>
          </a:prstGeom>
          <a:noFill/>
          <a:ln/>
        </p:spPr>
        <p:txBody>
          <a:bodyPr wrap="square" lIns="0" tIns="0" rIns="0" bIns="0" rtlCol="0" anchor="ctr"/>
          <a:lstStyle/>
          <a:p>
            <a:pPr algn="r" indent="0" marL="0">
              <a:buNone/>
            </a:pPr>
            <a:r>
              <a:rPr lang="en-US" sz="1400" dirty="0">
                <a:solidFill>
                  <a:srgbClr val="666666"/>
                </a:solidFill>
                <a:latin typeface="Arial" pitchFamily="34" charset="0"/>
                <a:ea typeface="Arial" pitchFamily="34" charset="-122"/>
                <a:cs typeface="Arial" pitchFamily="34" charset="-120"/>
              </a:rPr>
              <a:t>23</a:t>
            </a:r>
            <a:endParaRPr lang="en-US" sz="1400" dirty="0"/>
          </a:p>
        </p:txBody>
      </p:sp>
      <p:sp>
        <p:nvSpPr>
          <p:cNvPr id="33" name="Shape 31"/>
          <p:cNvSpPr/>
          <p:nvPr/>
        </p:nvSpPr>
        <p:spPr>
          <a:xfrm>
            <a:off x="731520" y="5102352"/>
            <a:ext cx="7955280" cy="0"/>
          </a:xfrm>
          <a:prstGeom prst="line">
            <a:avLst/>
          </a:prstGeom>
          <a:noFill/>
          <a:ln w="6350">
            <a:solidFill>
              <a:srgbClr val="E5E5E5"/>
            </a:solidFill>
            <a:prstDash val="solid"/>
          </a:ln>
        </p:spPr>
      </p:sp>
      <p:sp>
        <p:nvSpPr>
          <p:cNvPr id="34" name="Shape 32"/>
          <p:cNvSpPr/>
          <p:nvPr/>
        </p:nvSpPr>
        <p:spPr>
          <a:xfrm>
            <a:off x="457200" y="5138928"/>
            <a:ext cx="109728" cy="493776"/>
          </a:xfrm>
          <a:prstGeom prst="rect">
            <a:avLst/>
          </a:prstGeom>
          <a:solidFill>
            <a:srgbClr val="666666"/>
          </a:solidFill>
          <a:ln w="12700">
            <a:solidFill>
              <a:srgbClr val="666666"/>
            </a:solidFill>
            <a:prstDash val="solid"/>
          </a:ln>
        </p:spPr>
      </p:sp>
      <p:sp>
        <p:nvSpPr>
          <p:cNvPr id="35" name="Text 33"/>
          <p:cNvSpPr/>
          <p:nvPr/>
        </p:nvSpPr>
        <p:spPr>
          <a:xfrm>
            <a:off x="731520" y="5138928"/>
            <a:ext cx="822960" cy="493776"/>
          </a:xfrm>
          <a:prstGeom prst="rect">
            <a:avLst/>
          </a:prstGeom>
          <a:noFill/>
          <a:ln/>
        </p:spPr>
        <p:txBody>
          <a:bodyPr wrap="square" lIns="0" tIns="0" rIns="0" bIns="0" rtlCol="0" anchor="ctr"/>
          <a:lstStyle/>
          <a:p>
            <a:pPr indent="0" marL="0">
              <a:buNone/>
            </a:pPr>
            <a:r>
              <a:rPr lang="en-US" sz="2200" b="1" dirty="0">
                <a:solidFill>
                  <a:srgbClr val="666666"/>
                </a:solidFill>
                <a:latin typeface="Arial Black" pitchFamily="34" charset="0"/>
                <a:ea typeface="Arial Black" pitchFamily="34" charset="-122"/>
                <a:cs typeface="Arial Black" pitchFamily="34" charset="-120"/>
              </a:rPr>
              <a:t>07</a:t>
            </a:r>
            <a:endParaRPr lang="en-US" sz="2200" dirty="0"/>
          </a:p>
        </p:txBody>
      </p:sp>
      <p:sp>
        <p:nvSpPr>
          <p:cNvPr id="36" name="Text 34"/>
          <p:cNvSpPr/>
          <p:nvPr/>
        </p:nvSpPr>
        <p:spPr>
          <a:xfrm>
            <a:off x="1645920" y="5138928"/>
            <a:ext cx="5943600" cy="493776"/>
          </a:xfrm>
          <a:prstGeom prst="rect">
            <a:avLst/>
          </a:prstGeom>
          <a:noFill/>
          <a:ln/>
        </p:spPr>
        <p:txBody>
          <a:bodyPr wrap="square" lIns="0" tIns="0" rIns="0" bIns="0" rtlCol="0" anchor="ctr"/>
          <a:lstStyle/>
          <a:p>
            <a:pPr indent="0" marL="0">
              <a:buNone/>
            </a:pPr>
            <a:r>
              <a:rPr lang="en-US" sz="2200" b="1" spc="300" kern="0" dirty="0">
                <a:solidFill>
                  <a:srgbClr val="000000"/>
                </a:solidFill>
                <a:latin typeface="Arial Black" pitchFamily="34" charset="0"/>
                <a:ea typeface="Arial Black" pitchFamily="34" charset="-122"/>
                <a:cs typeface="Arial Black" pitchFamily="34" charset="-120"/>
              </a:rPr>
              <a:t>APPENDIX</a:t>
            </a:r>
            <a:endParaRPr lang="en-US" sz="2200" dirty="0"/>
          </a:p>
        </p:txBody>
      </p:sp>
      <p:sp>
        <p:nvSpPr>
          <p:cNvPr id="37" name="Text 35"/>
          <p:cNvSpPr/>
          <p:nvPr/>
        </p:nvSpPr>
        <p:spPr>
          <a:xfrm>
            <a:off x="7315200" y="5138928"/>
            <a:ext cx="1371600" cy="493776"/>
          </a:xfrm>
          <a:prstGeom prst="rect">
            <a:avLst/>
          </a:prstGeom>
          <a:noFill/>
          <a:ln/>
        </p:spPr>
        <p:txBody>
          <a:bodyPr wrap="square" lIns="0" tIns="0" rIns="0" bIns="0" rtlCol="0" anchor="ctr"/>
          <a:lstStyle/>
          <a:p>
            <a:pPr algn="r" indent="0" marL="0">
              <a:buNone/>
            </a:pPr>
            <a:r>
              <a:rPr lang="en-US" sz="1400" dirty="0">
                <a:solidFill>
                  <a:srgbClr val="666666"/>
                </a:solidFill>
                <a:latin typeface="Arial" pitchFamily="34" charset="0"/>
                <a:ea typeface="Arial" pitchFamily="34" charset="-122"/>
                <a:cs typeface="Arial" pitchFamily="34" charset="-120"/>
              </a:rPr>
              <a:t>24 – 25</a:t>
            </a:r>
            <a:endParaRPr lang="en-US" sz="1400" dirty="0"/>
          </a:p>
        </p:txBody>
      </p:sp>
      <p:sp>
        <p:nvSpPr>
          <p:cNvPr id="38" name="Text 36"/>
          <p:cNvSpPr/>
          <p:nvPr/>
        </p:nvSpPr>
        <p:spPr>
          <a:xfrm>
            <a:off x="457200" y="5875020"/>
            <a:ext cx="8229600" cy="320040"/>
          </a:xfrm>
          <a:prstGeom prst="rect">
            <a:avLst/>
          </a:prstGeom>
          <a:noFill/>
          <a:ln/>
        </p:spPr>
        <p:txBody>
          <a:bodyPr wrap="square" lIns="0" tIns="0" rIns="0" bIns="0" rtlCol="0" anchor="t"/>
          <a:lstStyle/>
          <a:p>
            <a:pPr indent="0" marL="0">
              <a:buNone/>
            </a:pPr>
            <a:r>
              <a:rPr lang="en-US" sz="700" dirty="0">
                <a:solidFill>
                  <a:srgbClr val="999999"/>
                </a:solidFill>
                <a:latin typeface="Arial" pitchFamily="34" charset="0"/>
                <a:ea typeface="Arial" pitchFamily="34" charset="-122"/>
                <a:cs typeface="Arial" pitchFamily="34" charset="-120"/>
              </a:rPr>
              <a:t>Source: Strategy Research.</a:t>
            </a:r>
            <a:endParaRPr lang="en-US" sz="700" dirty="0"/>
          </a:p>
        </p:txBody>
      </p:sp>
      <p:sp>
        <p:nvSpPr>
          <p:cNvPr id="39" name="Shape 37"/>
          <p:cNvSpPr/>
          <p:nvPr/>
        </p:nvSpPr>
        <p:spPr>
          <a:xfrm>
            <a:off x="0" y="6286500"/>
            <a:ext cx="9144000" cy="571500"/>
          </a:xfrm>
          <a:prstGeom prst="rect">
            <a:avLst/>
          </a:prstGeom>
          <a:solidFill>
            <a:srgbClr val="000000"/>
          </a:solidFill>
          <a:ln w="12700">
            <a:solidFill>
              <a:srgbClr val="000000"/>
            </a:solidFill>
            <a:prstDash val="solid"/>
          </a:ln>
        </p:spPr>
      </p:sp>
      <p:sp>
        <p:nvSpPr>
          <p:cNvPr id="40" name="Text 38"/>
          <p:cNvSpPr/>
          <p:nvPr/>
        </p:nvSpPr>
        <p:spPr>
          <a:xfrm>
            <a:off x="1371600" y="6332220"/>
            <a:ext cx="6400800" cy="457200"/>
          </a:xfrm>
          <a:prstGeom prst="rect">
            <a:avLst/>
          </a:prstGeom>
          <a:noFill/>
          <a:ln/>
        </p:spPr>
        <p:txBody>
          <a:bodyPr wrap="square" lIns="0" tIns="0" rIns="0" bIns="0" rtlCol="0" anchor="ctr"/>
          <a:lstStyle/>
          <a:p>
            <a:pPr algn="ctr" indent="0" marL="0">
              <a:buNone/>
            </a:pPr>
            <a:r>
              <a:rPr lang="en-US" sz="650" b="1" dirty="0">
                <a:solidFill>
                  <a:srgbClr val="FFFFFF"/>
                </a:solidFill>
                <a:latin typeface="Arial" pitchFamily="34" charset="0"/>
                <a:ea typeface="Arial" pitchFamily="34" charset="-122"/>
                <a:cs typeface="Arial" pitchFamily="34" charset="-120"/>
              </a:rPr>
              <a:t>FOR INFORMATIONAL PURPOSES ONLY. NOT INVESTMENT ADVICE. PAST PERFORMANCE IS NOT INDICATIVE OF FUTURE RESULTS.</a:t>
            </a:r>
            <a:endParaRPr lang="en-US" sz="650" dirty="0"/>
          </a:p>
        </p:txBody>
      </p:sp>
      <p:sp>
        <p:nvSpPr>
          <p:cNvPr id="41" name="Text 39"/>
          <p:cNvSpPr/>
          <p:nvPr/>
        </p:nvSpPr>
        <p:spPr>
          <a:xfrm>
            <a:off x="8321040" y="6405372"/>
            <a:ext cx="548640" cy="274320"/>
          </a:xfrm>
          <a:prstGeom prst="rect">
            <a:avLst/>
          </a:prstGeom>
          <a:noFill/>
          <a:ln/>
        </p:spPr>
        <p:txBody>
          <a:bodyPr wrap="square" lIns="0" tIns="0" rIns="0" bIns="0" rtlCol="0" anchor="ctr"/>
          <a:lstStyle/>
          <a:p>
            <a:pPr algn="r" indent="0" marL="0">
              <a:buNone/>
            </a:pPr>
            <a:r>
              <a:rPr lang="en-US" sz="900" dirty="0">
                <a:solidFill>
                  <a:srgbClr val="FFFFFF"/>
                </a:solidFill>
                <a:latin typeface="Arial" pitchFamily="34" charset="0"/>
                <a:ea typeface="Arial" pitchFamily="34" charset="-122"/>
                <a:cs typeface="Arial" pitchFamily="34" charset="-120"/>
              </a:rPr>
              <a:t>2</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Shape 0"/>
          <p:cNvSpPr/>
          <p:nvPr/>
        </p:nvSpPr>
        <p:spPr>
          <a:xfrm>
            <a:off x="7132320" y="164592"/>
            <a:ext cx="1737360" cy="292608"/>
          </a:xfrm>
          <a:prstGeom prst="roundRect">
            <a:avLst>
              <a:gd name="adj" fmla="val 15625"/>
            </a:avLst>
          </a:prstGeom>
          <a:solidFill>
            <a:srgbClr val="008B8B"/>
          </a:solidFill>
          <a:ln w="12700">
            <a:solidFill>
              <a:srgbClr val="008B8B"/>
            </a:solidFill>
            <a:prstDash val="solid"/>
          </a:ln>
        </p:spPr>
      </p:sp>
      <p:sp>
        <p:nvSpPr>
          <p:cNvPr id="3" name="Text 1"/>
          <p:cNvSpPr/>
          <p:nvPr/>
        </p:nvSpPr>
        <p:spPr>
          <a:xfrm>
            <a:off x="7132320" y="164592"/>
            <a:ext cx="1737360" cy="292608"/>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Arial" pitchFamily="34" charset="0"/>
                <a:ea typeface="Arial" pitchFamily="34" charset="-122"/>
                <a:cs typeface="Arial" pitchFamily="34" charset="-120"/>
              </a:rPr>
              <a:t>LANDSCAPE</a:t>
            </a:r>
            <a:endParaRPr lang="en-US" sz="1000" dirty="0"/>
          </a:p>
        </p:txBody>
      </p:sp>
      <p:sp>
        <p:nvSpPr>
          <p:cNvPr id="4" name="Text 2"/>
          <p:cNvSpPr/>
          <p:nvPr/>
        </p:nvSpPr>
        <p:spPr>
          <a:xfrm>
            <a:off x="457200" y="182880"/>
            <a:ext cx="6583680" cy="685800"/>
          </a:xfrm>
          <a:prstGeom prst="rect">
            <a:avLst/>
          </a:prstGeom>
          <a:noFill/>
          <a:ln/>
        </p:spPr>
        <p:txBody>
          <a:bodyPr wrap="square" lIns="0" tIns="0" rIns="0" bIns="0" rtlCol="0" anchor="t"/>
          <a:lstStyle/>
          <a:p>
            <a:pPr indent="0" marL="0">
              <a:buNone/>
            </a:pPr>
            <a:r>
              <a:rPr lang="en-US" sz="2400" b="1" dirty="0">
                <a:solidFill>
                  <a:srgbClr val="000000"/>
                </a:solidFill>
                <a:latin typeface="Arial Black" pitchFamily="34" charset="0"/>
                <a:ea typeface="Arial Black" pitchFamily="34" charset="-122"/>
                <a:cs typeface="Arial Black" pitchFamily="34" charset="-120"/>
              </a:rPr>
              <a:t>Why AI matters to markets.</a:t>
            </a:r>
            <a:endParaRPr lang="en-US" sz="2400" dirty="0"/>
          </a:p>
        </p:txBody>
      </p:sp>
      <p:sp>
        <p:nvSpPr>
          <p:cNvPr id="5" name="Shape 3"/>
          <p:cNvSpPr/>
          <p:nvPr/>
        </p:nvSpPr>
        <p:spPr>
          <a:xfrm>
            <a:off x="457200" y="1325880"/>
            <a:ext cx="8229600" cy="0"/>
          </a:xfrm>
          <a:prstGeom prst="line">
            <a:avLst/>
          </a:prstGeom>
          <a:noFill/>
          <a:ln w="9525">
            <a:solidFill>
              <a:srgbClr val="E5E5E5"/>
            </a:solidFill>
            <a:prstDash val="solid"/>
          </a:ln>
        </p:spPr>
      </p:sp>
      <p:sp>
        <p:nvSpPr>
          <p:cNvPr id="6" name="Shape 4"/>
          <p:cNvSpPr/>
          <p:nvPr/>
        </p:nvSpPr>
        <p:spPr>
          <a:xfrm>
            <a:off x="457200" y="1783080"/>
            <a:ext cx="1097280" cy="1143000"/>
          </a:xfrm>
          <a:prstGeom prst="rect">
            <a:avLst/>
          </a:prstGeom>
          <a:solidFill>
            <a:srgbClr val="F6693D"/>
          </a:solidFill>
          <a:ln w="12700">
            <a:solidFill>
              <a:srgbClr val="F6693D"/>
            </a:solidFill>
            <a:prstDash val="solid"/>
          </a:ln>
        </p:spPr>
      </p:sp>
      <p:sp>
        <p:nvSpPr>
          <p:cNvPr id="7" name="Text 5"/>
          <p:cNvSpPr/>
          <p:nvPr/>
        </p:nvSpPr>
        <p:spPr>
          <a:xfrm>
            <a:off x="457200" y="1783080"/>
            <a:ext cx="1097280" cy="1143000"/>
          </a:xfrm>
          <a:prstGeom prst="rect">
            <a:avLst/>
          </a:prstGeom>
          <a:noFill/>
          <a:ln/>
        </p:spPr>
        <p:txBody>
          <a:bodyPr wrap="square" lIns="0" tIns="0" rIns="0" bIns="0" rtlCol="0" anchor="ctr"/>
          <a:lstStyle/>
          <a:p>
            <a:pPr algn="ctr" indent="0" marL="0">
              <a:buNone/>
            </a:pPr>
            <a:r>
              <a:rPr lang="en-US" sz="4200" b="1" dirty="0">
                <a:solidFill>
                  <a:srgbClr val="FFFFFF"/>
                </a:solidFill>
                <a:latin typeface="Arial Black" pitchFamily="34" charset="0"/>
                <a:ea typeface="Arial Black" pitchFamily="34" charset="-122"/>
                <a:cs typeface="Arial Black" pitchFamily="34" charset="-120"/>
              </a:rPr>
              <a:t>01</a:t>
            </a:r>
            <a:endParaRPr lang="en-US" sz="4200" dirty="0"/>
          </a:p>
        </p:txBody>
      </p:sp>
      <p:sp>
        <p:nvSpPr>
          <p:cNvPr id="8" name="Text 6"/>
          <p:cNvSpPr/>
          <p:nvPr/>
        </p:nvSpPr>
        <p:spPr>
          <a:xfrm>
            <a:off x="1783080" y="1828800"/>
            <a:ext cx="6903720" cy="411480"/>
          </a:xfrm>
          <a:prstGeom prst="rect">
            <a:avLst/>
          </a:prstGeom>
          <a:noFill/>
          <a:ln/>
        </p:spPr>
        <p:txBody>
          <a:bodyPr wrap="square" lIns="0" tIns="0" rIns="0" bIns="0" rtlCol="0" anchor="t"/>
          <a:lstStyle/>
          <a:p>
            <a:pPr indent="0" marL="0">
              <a:buNone/>
            </a:pPr>
            <a:r>
              <a:rPr lang="en-US" sz="1800" b="1" dirty="0">
                <a:solidFill>
                  <a:srgbClr val="000000"/>
                </a:solidFill>
                <a:latin typeface="Arial Black" pitchFamily="34" charset="0"/>
                <a:ea typeface="Arial Black" pitchFamily="34" charset="-122"/>
                <a:cs typeface="Arial Black" pitchFamily="34" charset="-120"/>
              </a:rPr>
              <a:t>The largest capex cycle in history.</a:t>
            </a:r>
            <a:endParaRPr lang="en-US" sz="1800" dirty="0"/>
          </a:p>
        </p:txBody>
      </p:sp>
      <p:sp>
        <p:nvSpPr>
          <p:cNvPr id="9" name="Text 7"/>
          <p:cNvSpPr/>
          <p:nvPr/>
        </p:nvSpPr>
        <p:spPr>
          <a:xfrm>
            <a:off x="1783080" y="2286000"/>
            <a:ext cx="6903720" cy="640080"/>
          </a:xfrm>
          <a:prstGeom prst="rect">
            <a:avLst/>
          </a:prstGeom>
          <a:noFill/>
          <a:ln/>
        </p:spPr>
        <p:txBody>
          <a:bodyPr wrap="square" lIns="0" tIns="0" rIns="0" bIns="0" rtlCol="0" anchor="t"/>
          <a:lstStyle/>
          <a:p>
            <a:pPr indent="0" marL="0">
              <a:buNone/>
            </a:pPr>
            <a:r>
              <a:rPr lang="en-US" sz="1250" dirty="0">
                <a:solidFill>
                  <a:srgbClr val="333333"/>
                </a:solidFill>
                <a:latin typeface="Arial" pitchFamily="34" charset="0"/>
                <a:ea typeface="Arial" pitchFamily="34" charset="-122"/>
                <a:cs typeface="Arial" pitchFamily="34" charset="-120"/>
              </a:rPr>
              <a:t>Big 5 hyperscalers are pouring roughly $750B into AI infrastructure in 2026 alone — more than the entire US energy buildout at its peak, and now over half debt- or lease-financed.</a:t>
            </a:r>
            <a:endParaRPr lang="en-US" sz="1250" dirty="0"/>
          </a:p>
        </p:txBody>
      </p:sp>
      <p:sp>
        <p:nvSpPr>
          <p:cNvPr id="10" name="Shape 8"/>
          <p:cNvSpPr/>
          <p:nvPr/>
        </p:nvSpPr>
        <p:spPr>
          <a:xfrm>
            <a:off x="457200" y="3108960"/>
            <a:ext cx="1097280" cy="1143000"/>
          </a:xfrm>
          <a:prstGeom prst="rect">
            <a:avLst/>
          </a:prstGeom>
          <a:solidFill>
            <a:srgbClr val="008B8B"/>
          </a:solidFill>
          <a:ln w="12700">
            <a:solidFill>
              <a:srgbClr val="008B8B"/>
            </a:solidFill>
            <a:prstDash val="solid"/>
          </a:ln>
        </p:spPr>
      </p:sp>
      <p:sp>
        <p:nvSpPr>
          <p:cNvPr id="11" name="Text 9"/>
          <p:cNvSpPr/>
          <p:nvPr/>
        </p:nvSpPr>
        <p:spPr>
          <a:xfrm>
            <a:off x="457200" y="3108960"/>
            <a:ext cx="1097280" cy="1143000"/>
          </a:xfrm>
          <a:prstGeom prst="rect">
            <a:avLst/>
          </a:prstGeom>
          <a:noFill/>
          <a:ln/>
        </p:spPr>
        <p:txBody>
          <a:bodyPr wrap="square" lIns="0" tIns="0" rIns="0" bIns="0" rtlCol="0" anchor="ctr"/>
          <a:lstStyle/>
          <a:p>
            <a:pPr algn="ctr" indent="0" marL="0">
              <a:buNone/>
            </a:pPr>
            <a:r>
              <a:rPr lang="en-US" sz="4200" b="1" dirty="0">
                <a:solidFill>
                  <a:srgbClr val="FFFFFF"/>
                </a:solidFill>
                <a:latin typeface="Arial Black" pitchFamily="34" charset="0"/>
                <a:ea typeface="Arial Black" pitchFamily="34" charset="-122"/>
                <a:cs typeface="Arial Black" pitchFamily="34" charset="-120"/>
              </a:rPr>
              <a:t>02</a:t>
            </a:r>
            <a:endParaRPr lang="en-US" sz="4200" dirty="0"/>
          </a:p>
        </p:txBody>
      </p:sp>
      <p:sp>
        <p:nvSpPr>
          <p:cNvPr id="12" name="Text 10"/>
          <p:cNvSpPr/>
          <p:nvPr/>
        </p:nvSpPr>
        <p:spPr>
          <a:xfrm>
            <a:off x="1783080" y="3154680"/>
            <a:ext cx="6903720" cy="411480"/>
          </a:xfrm>
          <a:prstGeom prst="rect">
            <a:avLst/>
          </a:prstGeom>
          <a:noFill/>
          <a:ln/>
        </p:spPr>
        <p:txBody>
          <a:bodyPr wrap="square" lIns="0" tIns="0" rIns="0" bIns="0" rtlCol="0" anchor="t"/>
          <a:lstStyle/>
          <a:p>
            <a:pPr indent="0" marL="0">
              <a:buNone/>
            </a:pPr>
            <a:r>
              <a:rPr lang="en-US" sz="1800" b="1" dirty="0">
                <a:solidFill>
                  <a:srgbClr val="000000"/>
                </a:solidFill>
                <a:latin typeface="Arial Black" pitchFamily="34" charset="0"/>
                <a:ea typeface="Arial Black" pitchFamily="34" charset="-122"/>
                <a:cs typeface="Arial Black" pitchFamily="34" charset="-120"/>
              </a:rPr>
              <a:t>It touches every layer of the economy.</a:t>
            </a:r>
            <a:endParaRPr lang="en-US" sz="1800" dirty="0"/>
          </a:p>
        </p:txBody>
      </p:sp>
      <p:sp>
        <p:nvSpPr>
          <p:cNvPr id="13" name="Text 11"/>
          <p:cNvSpPr/>
          <p:nvPr/>
        </p:nvSpPr>
        <p:spPr>
          <a:xfrm>
            <a:off x="1783080" y="3611880"/>
            <a:ext cx="6903720" cy="640080"/>
          </a:xfrm>
          <a:prstGeom prst="rect">
            <a:avLst/>
          </a:prstGeom>
          <a:noFill/>
          <a:ln/>
        </p:spPr>
        <p:txBody>
          <a:bodyPr wrap="square" lIns="0" tIns="0" rIns="0" bIns="0" rtlCol="0" anchor="t"/>
          <a:lstStyle/>
          <a:p>
            <a:pPr indent="0" marL="0">
              <a:buNone/>
            </a:pPr>
            <a:r>
              <a:rPr lang="en-US" sz="1250" dirty="0">
                <a:solidFill>
                  <a:srgbClr val="333333"/>
                </a:solidFill>
                <a:latin typeface="Arial" pitchFamily="34" charset="0"/>
                <a:ea typeface="Arial" pitchFamily="34" charset="-122"/>
                <a:cs typeface="Arial" pitchFamily="34" charset="-120"/>
              </a:rPr>
              <a:t>From raw silicon and power generation through data centers, models, and the apps on your phone — AI is now the connective tissue of modern business.</a:t>
            </a:r>
            <a:endParaRPr lang="en-US" sz="1250" dirty="0"/>
          </a:p>
        </p:txBody>
      </p:sp>
      <p:sp>
        <p:nvSpPr>
          <p:cNvPr id="14" name="Shape 12"/>
          <p:cNvSpPr/>
          <p:nvPr/>
        </p:nvSpPr>
        <p:spPr>
          <a:xfrm>
            <a:off x="457200" y="4434840"/>
            <a:ext cx="1097280" cy="1143000"/>
          </a:xfrm>
          <a:prstGeom prst="rect">
            <a:avLst/>
          </a:prstGeom>
          <a:solidFill>
            <a:srgbClr val="FFB800"/>
          </a:solidFill>
          <a:ln w="12700">
            <a:solidFill>
              <a:srgbClr val="FFB800"/>
            </a:solidFill>
            <a:prstDash val="solid"/>
          </a:ln>
        </p:spPr>
      </p:sp>
      <p:sp>
        <p:nvSpPr>
          <p:cNvPr id="15" name="Text 13"/>
          <p:cNvSpPr/>
          <p:nvPr/>
        </p:nvSpPr>
        <p:spPr>
          <a:xfrm>
            <a:off x="457200" y="4434840"/>
            <a:ext cx="1097280" cy="1143000"/>
          </a:xfrm>
          <a:prstGeom prst="rect">
            <a:avLst/>
          </a:prstGeom>
          <a:noFill/>
          <a:ln/>
        </p:spPr>
        <p:txBody>
          <a:bodyPr wrap="square" lIns="0" tIns="0" rIns="0" bIns="0" rtlCol="0" anchor="ctr"/>
          <a:lstStyle/>
          <a:p>
            <a:pPr algn="ctr" indent="0" marL="0">
              <a:buNone/>
            </a:pPr>
            <a:r>
              <a:rPr lang="en-US" sz="4200" b="1" dirty="0">
                <a:solidFill>
                  <a:srgbClr val="FFFFFF"/>
                </a:solidFill>
                <a:latin typeface="Arial Black" pitchFamily="34" charset="0"/>
                <a:ea typeface="Arial Black" pitchFamily="34" charset="-122"/>
                <a:cs typeface="Arial Black" pitchFamily="34" charset="-120"/>
              </a:rPr>
              <a:t>03</a:t>
            </a:r>
            <a:endParaRPr lang="en-US" sz="4200" dirty="0"/>
          </a:p>
        </p:txBody>
      </p:sp>
      <p:sp>
        <p:nvSpPr>
          <p:cNvPr id="16" name="Text 14"/>
          <p:cNvSpPr/>
          <p:nvPr/>
        </p:nvSpPr>
        <p:spPr>
          <a:xfrm>
            <a:off x="1783080" y="4480560"/>
            <a:ext cx="6903720" cy="411480"/>
          </a:xfrm>
          <a:prstGeom prst="rect">
            <a:avLst/>
          </a:prstGeom>
          <a:noFill/>
          <a:ln/>
        </p:spPr>
        <p:txBody>
          <a:bodyPr wrap="square" lIns="0" tIns="0" rIns="0" bIns="0" rtlCol="0" anchor="t"/>
          <a:lstStyle/>
          <a:p>
            <a:pPr indent="0" marL="0">
              <a:buNone/>
            </a:pPr>
            <a:r>
              <a:rPr lang="en-US" sz="1800" b="1" dirty="0">
                <a:solidFill>
                  <a:srgbClr val="000000"/>
                </a:solidFill>
                <a:latin typeface="Arial Black" pitchFamily="34" charset="0"/>
                <a:ea typeface="Arial Black" pitchFamily="34" charset="-122"/>
                <a:cs typeface="Arial Black" pitchFamily="34" charset="-120"/>
              </a:rPr>
              <a:t>It is repricing everything — in both directions.</a:t>
            </a:r>
            <a:endParaRPr lang="en-US" sz="1800" dirty="0"/>
          </a:p>
        </p:txBody>
      </p:sp>
      <p:sp>
        <p:nvSpPr>
          <p:cNvPr id="17" name="Text 15"/>
          <p:cNvSpPr/>
          <p:nvPr/>
        </p:nvSpPr>
        <p:spPr>
          <a:xfrm>
            <a:off x="1783080" y="4937760"/>
            <a:ext cx="6903720" cy="640080"/>
          </a:xfrm>
          <a:prstGeom prst="rect">
            <a:avLst/>
          </a:prstGeom>
          <a:noFill/>
          <a:ln/>
        </p:spPr>
        <p:txBody>
          <a:bodyPr wrap="square" lIns="0" tIns="0" rIns="0" bIns="0" rtlCol="0" anchor="t"/>
          <a:lstStyle/>
          <a:p>
            <a:pPr indent="0" marL="0">
              <a:buNone/>
            </a:pPr>
            <a:r>
              <a:rPr lang="en-US" sz="1250" dirty="0">
                <a:solidFill>
                  <a:srgbClr val="333333"/>
                </a:solidFill>
                <a:latin typeface="Arial" pitchFamily="34" charset="0"/>
                <a:ea typeface="Arial" pitchFamily="34" charset="-122"/>
                <a:cs typeface="Arial" pitchFamily="34" charset="-120"/>
              </a:rPr>
              <a:t>The same wave that lifts semis, memory, and power is cracking software seat models, content moats, and legacy services. Winners and losers, inside one theme.</a:t>
            </a:r>
            <a:endParaRPr lang="en-US" sz="1250" dirty="0"/>
          </a:p>
        </p:txBody>
      </p:sp>
      <p:sp>
        <p:nvSpPr>
          <p:cNvPr id="18" name="Text 16"/>
          <p:cNvSpPr/>
          <p:nvPr/>
        </p:nvSpPr>
        <p:spPr>
          <a:xfrm>
            <a:off x="457200" y="5875020"/>
            <a:ext cx="8229600" cy="320040"/>
          </a:xfrm>
          <a:prstGeom prst="rect">
            <a:avLst/>
          </a:prstGeom>
          <a:noFill/>
          <a:ln/>
        </p:spPr>
        <p:txBody>
          <a:bodyPr wrap="square" lIns="0" tIns="0" rIns="0" bIns="0" rtlCol="0" anchor="t"/>
          <a:lstStyle/>
          <a:p>
            <a:pPr indent="0" marL="0">
              <a:buNone/>
            </a:pPr>
            <a:r>
              <a:rPr lang="en-US" sz="700" dirty="0">
                <a:solidFill>
                  <a:srgbClr val="999999"/>
                </a:solidFill>
                <a:latin typeface="Arial" pitchFamily="34" charset="0"/>
                <a:ea typeface="Arial" pitchFamily="34" charset="-122"/>
                <a:cs typeface="Arial" pitchFamily="34" charset="-120"/>
              </a:rPr>
              <a:t>Sources: CreditSights / MUFG hyperscaler capex 2026 estimates; Jensen Huang (Sept 2025); Strategy Research.</a:t>
            </a:r>
            <a:endParaRPr lang="en-US" sz="700" dirty="0"/>
          </a:p>
        </p:txBody>
      </p:sp>
      <p:sp>
        <p:nvSpPr>
          <p:cNvPr id="19" name="Shape 17"/>
          <p:cNvSpPr/>
          <p:nvPr/>
        </p:nvSpPr>
        <p:spPr>
          <a:xfrm>
            <a:off x="0" y="6286500"/>
            <a:ext cx="9144000" cy="571500"/>
          </a:xfrm>
          <a:prstGeom prst="rect">
            <a:avLst/>
          </a:prstGeom>
          <a:solidFill>
            <a:srgbClr val="000000"/>
          </a:solidFill>
          <a:ln w="12700">
            <a:solidFill>
              <a:srgbClr val="000000"/>
            </a:solidFill>
            <a:prstDash val="solid"/>
          </a:ln>
        </p:spPr>
      </p:sp>
      <p:sp>
        <p:nvSpPr>
          <p:cNvPr id="20" name="Text 18"/>
          <p:cNvSpPr/>
          <p:nvPr/>
        </p:nvSpPr>
        <p:spPr>
          <a:xfrm>
            <a:off x="1371600" y="6332220"/>
            <a:ext cx="6400800" cy="457200"/>
          </a:xfrm>
          <a:prstGeom prst="rect">
            <a:avLst/>
          </a:prstGeom>
          <a:noFill/>
          <a:ln/>
        </p:spPr>
        <p:txBody>
          <a:bodyPr wrap="square" lIns="0" tIns="0" rIns="0" bIns="0" rtlCol="0" anchor="ctr"/>
          <a:lstStyle/>
          <a:p>
            <a:pPr algn="ctr" indent="0" marL="0">
              <a:buNone/>
            </a:pPr>
            <a:r>
              <a:rPr lang="en-US" sz="650" b="1" dirty="0">
                <a:solidFill>
                  <a:srgbClr val="FFFFFF"/>
                </a:solidFill>
                <a:latin typeface="Arial" pitchFamily="34" charset="0"/>
                <a:ea typeface="Arial" pitchFamily="34" charset="-122"/>
                <a:cs typeface="Arial" pitchFamily="34" charset="-120"/>
              </a:rPr>
              <a:t>FOR INFORMATIONAL PURPOSES ONLY. NOT INVESTMENT ADVICE. PAST PERFORMANCE IS NOT INDICATIVE OF FUTURE RESULTS.</a:t>
            </a:r>
            <a:endParaRPr lang="en-US" sz="650" dirty="0"/>
          </a:p>
        </p:txBody>
      </p:sp>
      <p:sp>
        <p:nvSpPr>
          <p:cNvPr id="21" name="Text 19"/>
          <p:cNvSpPr/>
          <p:nvPr/>
        </p:nvSpPr>
        <p:spPr>
          <a:xfrm>
            <a:off x="8321040" y="6405372"/>
            <a:ext cx="548640" cy="274320"/>
          </a:xfrm>
          <a:prstGeom prst="rect">
            <a:avLst/>
          </a:prstGeom>
          <a:noFill/>
          <a:ln/>
        </p:spPr>
        <p:txBody>
          <a:bodyPr wrap="square" lIns="0" tIns="0" rIns="0" bIns="0" rtlCol="0" anchor="ctr"/>
          <a:lstStyle/>
          <a:p>
            <a:pPr algn="r" indent="0" marL="0">
              <a:buNone/>
            </a:pPr>
            <a:r>
              <a:rPr lang="en-US" sz="900" dirty="0">
                <a:solidFill>
                  <a:srgbClr val="FFFFFF"/>
                </a:solidFill>
                <a:latin typeface="Arial" pitchFamily="34" charset="0"/>
                <a:ea typeface="Arial" pitchFamily="34" charset="-122"/>
                <a:cs typeface="Arial" pitchFamily="34" charset="-120"/>
              </a:rPr>
              <a:t>3</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Shape 0"/>
          <p:cNvSpPr/>
          <p:nvPr/>
        </p:nvSpPr>
        <p:spPr>
          <a:xfrm>
            <a:off x="7132320" y="164592"/>
            <a:ext cx="1737360" cy="292608"/>
          </a:xfrm>
          <a:prstGeom prst="roundRect">
            <a:avLst>
              <a:gd name="adj" fmla="val 15625"/>
            </a:avLst>
          </a:prstGeom>
          <a:solidFill>
            <a:srgbClr val="008B8B"/>
          </a:solidFill>
          <a:ln w="12700">
            <a:solidFill>
              <a:srgbClr val="008B8B"/>
            </a:solidFill>
            <a:prstDash val="solid"/>
          </a:ln>
        </p:spPr>
      </p:sp>
      <p:sp>
        <p:nvSpPr>
          <p:cNvPr id="3" name="Text 1"/>
          <p:cNvSpPr/>
          <p:nvPr/>
        </p:nvSpPr>
        <p:spPr>
          <a:xfrm>
            <a:off x="7132320" y="164592"/>
            <a:ext cx="1737360" cy="292608"/>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Arial" pitchFamily="34" charset="0"/>
                <a:ea typeface="Arial" pitchFamily="34" charset="-122"/>
                <a:cs typeface="Arial" pitchFamily="34" charset="-120"/>
              </a:rPr>
              <a:t>LANDSCAPE</a:t>
            </a:r>
            <a:endParaRPr lang="en-US" sz="1000" dirty="0"/>
          </a:p>
        </p:txBody>
      </p:sp>
      <p:sp>
        <p:nvSpPr>
          <p:cNvPr id="4" name="Text 2"/>
          <p:cNvSpPr/>
          <p:nvPr/>
        </p:nvSpPr>
        <p:spPr>
          <a:xfrm>
            <a:off x="457200" y="182880"/>
            <a:ext cx="6583680" cy="685800"/>
          </a:xfrm>
          <a:prstGeom prst="rect">
            <a:avLst/>
          </a:prstGeom>
          <a:noFill/>
          <a:ln/>
        </p:spPr>
        <p:txBody>
          <a:bodyPr wrap="square" lIns="0" tIns="0" rIns="0" bIns="0" rtlCol="0" anchor="t"/>
          <a:lstStyle/>
          <a:p>
            <a:pPr indent="0" marL="0">
              <a:buNone/>
            </a:pPr>
            <a:r>
              <a:rPr lang="en-US" sz="2400" b="1" dirty="0">
                <a:solidFill>
                  <a:srgbClr val="000000"/>
                </a:solidFill>
                <a:latin typeface="Arial Black" pitchFamily="34" charset="0"/>
                <a:ea typeface="Arial Black" pitchFamily="34" charset="-122"/>
                <a:cs typeface="Arial Black" pitchFamily="34" charset="-120"/>
              </a:rPr>
              <a:t>Seventy years of AI in six steps — and we are now in step six</a:t>
            </a:r>
            <a:endParaRPr lang="en-US" sz="2400" dirty="0"/>
          </a:p>
        </p:txBody>
      </p:sp>
      <p:sp>
        <p:nvSpPr>
          <p:cNvPr id="5" name="Text 3"/>
          <p:cNvSpPr/>
          <p:nvPr/>
        </p:nvSpPr>
        <p:spPr>
          <a:xfrm>
            <a:off x="457200" y="914400"/>
            <a:ext cx="8229600" cy="457200"/>
          </a:xfrm>
          <a:prstGeom prst="rect">
            <a:avLst/>
          </a:prstGeom>
          <a:noFill/>
          <a:ln/>
        </p:spPr>
        <p:txBody>
          <a:bodyPr wrap="square" lIns="0" tIns="0" rIns="0" bIns="0" rtlCol="0" anchor="t"/>
          <a:lstStyle/>
          <a:p>
            <a:pPr indent="0" marL="0">
              <a:buNone/>
            </a:pPr>
            <a:r>
              <a:rPr lang="en-US" sz="1350" dirty="0">
                <a:solidFill>
                  <a:srgbClr val="666666"/>
                </a:solidFill>
                <a:latin typeface="Arial" pitchFamily="34" charset="0"/>
                <a:ea typeface="Arial" pitchFamily="34" charset="-122"/>
                <a:cs typeface="Arial" pitchFamily="34" charset="-120"/>
              </a:rPr>
              <a:t>Software that learns from data, reasons through problems, and — increasingly — takes action without human direction.</a:t>
            </a:r>
            <a:endParaRPr lang="en-US" sz="1350" dirty="0"/>
          </a:p>
        </p:txBody>
      </p:sp>
      <p:sp>
        <p:nvSpPr>
          <p:cNvPr id="6" name="Shape 4"/>
          <p:cNvSpPr/>
          <p:nvPr/>
        </p:nvSpPr>
        <p:spPr>
          <a:xfrm>
            <a:off x="457200" y="1325880"/>
            <a:ext cx="8229600" cy="0"/>
          </a:xfrm>
          <a:prstGeom prst="line">
            <a:avLst/>
          </a:prstGeom>
          <a:noFill/>
          <a:ln w="9525">
            <a:solidFill>
              <a:srgbClr val="E5E5E5"/>
            </a:solidFill>
            <a:prstDash val="solid"/>
          </a:ln>
        </p:spPr>
      </p:sp>
      <p:sp>
        <p:nvSpPr>
          <p:cNvPr id="7" name="Shape 5"/>
          <p:cNvSpPr/>
          <p:nvPr/>
        </p:nvSpPr>
        <p:spPr>
          <a:xfrm>
            <a:off x="640080" y="2011680"/>
            <a:ext cx="7863840" cy="0"/>
          </a:xfrm>
          <a:prstGeom prst="line">
            <a:avLst/>
          </a:prstGeom>
          <a:noFill/>
          <a:ln w="31750">
            <a:solidFill>
              <a:srgbClr val="666666"/>
            </a:solidFill>
            <a:prstDash val="solid"/>
          </a:ln>
        </p:spPr>
      </p:sp>
      <p:sp>
        <p:nvSpPr>
          <p:cNvPr id="8" name="Shape 6"/>
          <p:cNvSpPr/>
          <p:nvPr/>
        </p:nvSpPr>
        <p:spPr>
          <a:xfrm>
            <a:off x="1176528" y="1892808"/>
            <a:ext cx="237744" cy="237744"/>
          </a:xfrm>
          <a:prstGeom prst="ellipse">
            <a:avLst/>
          </a:prstGeom>
          <a:solidFill>
            <a:srgbClr val="666666"/>
          </a:solidFill>
          <a:ln w="19050">
            <a:solidFill>
              <a:srgbClr val="FFFFFF"/>
            </a:solidFill>
            <a:prstDash val="solid"/>
          </a:ln>
        </p:spPr>
      </p:sp>
      <p:sp>
        <p:nvSpPr>
          <p:cNvPr id="9" name="Shape 7"/>
          <p:cNvSpPr/>
          <p:nvPr/>
        </p:nvSpPr>
        <p:spPr>
          <a:xfrm>
            <a:off x="666293" y="2212848"/>
            <a:ext cx="1258214" cy="3291840"/>
          </a:xfrm>
          <a:prstGeom prst="rect">
            <a:avLst/>
          </a:prstGeom>
          <a:solidFill>
            <a:srgbClr val="F9F9F9"/>
          </a:solidFill>
          <a:ln w="6350">
            <a:solidFill>
              <a:srgbClr val="E5E5E5"/>
            </a:solidFill>
            <a:prstDash val="solid"/>
          </a:ln>
        </p:spPr>
      </p:sp>
      <p:sp>
        <p:nvSpPr>
          <p:cNvPr id="10" name="Shape 8"/>
          <p:cNvSpPr/>
          <p:nvPr/>
        </p:nvSpPr>
        <p:spPr>
          <a:xfrm>
            <a:off x="666293" y="2212848"/>
            <a:ext cx="54864" cy="3291840"/>
          </a:xfrm>
          <a:prstGeom prst="rect">
            <a:avLst/>
          </a:prstGeom>
          <a:solidFill>
            <a:srgbClr val="666666"/>
          </a:solidFill>
          <a:ln w="12700">
            <a:solidFill>
              <a:srgbClr val="666666"/>
            </a:solidFill>
            <a:prstDash val="solid"/>
          </a:ln>
        </p:spPr>
      </p:sp>
      <p:sp>
        <p:nvSpPr>
          <p:cNvPr id="11" name="Text 9"/>
          <p:cNvSpPr/>
          <p:nvPr/>
        </p:nvSpPr>
        <p:spPr>
          <a:xfrm>
            <a:off x="794309" y="2331720"/>
            <a:ext cx="1075334" cy="256032"/>
          </a:xfrm>
          <a:prstGeom prst="rect">
            <a:avLst/>
          </a:prstGeom>
          <a:noFill/>
          <a:ln/>
        </p:spPr>
        <p:txBody>
          <a:bodyPr wrap="square" lIns="0" tIns="0" rIns="0" bIns="0" rtlCol="0" anchor="ctr"/>
          <a:lstStyle/>
          <a:p>
            <a:pPr indent="0" marL="0">
              <a:buNone/>
            </a:pPr>
            <a:r>
              <a:rPr lang="en-US" sz="900" dirty="0">
                <a:solidFill>
                  <a:srgbClr val="666666"/>
                </a:solidFill>
                <a:latin typeface="Arial" pitchFamily="34" charset="0"/>
                <a:ea typeface="Arial" pitchFamily="34" charset="-122"/>
                <a:cs typeface="Arial" pitchFamily="34" charset="-120"/>
              </a:rPr>
              <a:t>1950s–80s</a:t>
            </a:r>
            <a:endParaRPr lang="en-US" sz="900" dirty="0"/>
          </a:p>
        </p:txBody>
      </p:sp>
      <p:sp>
        <p:nvSpPr>
          <p:cNvPr id="12" name="Text 10"/>
          <p:cNvSpPr/>
          <p:nvPr/>
        </p:nvSpPr>
        <p:spPr>
          <a:xfrm>
            <a:off x="794309" y="2633472"/>
            <a:ext cx="1075334" cy="411480"/>
          </a:xfrm>
          <a:prstGeom prst="rect">
            <a:avLst/>
          </a:prstGeom>
          <a:noFill/>
          <a:ln/>
        </p:spPr>
        <p:txBody>
          <a:bodyPr wrap="square" lIns="0" tIns="0" rIns="0" bIns="0" rtlCol="0" anchor="ctr"/>
          <a:lstStyle/>
          <a:p>
            <a:pPr indent="0" marL="0">
              <a:buNone/>
            </a:pPr>
            <a:r>
              <a:rPr lang="en-US" sz="1200" b="1" dirty="0">
                <a:solidFill>
                  <a:srgbClr val="000000"/>
                </a:solidFill>
                <a:latin typeface="Arial" pitchFamily="34" charset="0"/>
                <a:ea typeface="Arial" pitchFamily="34" charset="-122"/>
                <a:cs typeface="Arial" pitchFamily="34" charset="-120"/>
              </a:rPr>
              <a:t>Symbolic AI</a:t>
            </a:r>
            <a:endParaRPr lang="en-US" sz="1200" dirty="0"/>
          </a:p>
        </p:txBody>
      </p:sp>
      <p:sp>
        <p:nvSpPr>
          <p:cNvPr id="13" name="Text 11"/>
          <p:cNvSpPr/>
          <p:nvPr/>
        </p:nvSpPr>
        <p:spPr>
          <a:xfrm>
            <a:off x="794309" y="3108960"/>
            <a:ext cx="1075334" cy="2331720"/>
          </a:xfrm>
          <a:prstGeom prst="rect">
            <a:avLst/>
          </a:prstGeom>
          <a:noFill/>
          <a:ln/>
        </p:spPr>
        <p:txBody>
          <a:bodyPr wrap="square" lIns="0" tIns="0" rIns="0" bIns="0" rtlCol="0" anchor="t"/>
          <a:lstStyle/>
          <a:p>
            <a:pPr indent="0" marL="0">
              <a:buNone/>
            </a:pPr>
            <a:r>
              <a:rPr lang="en-US" sz="950" dirty="0">
                <a:solidFill>
                  <a:srgbClr val="333333"/>
                </a:solidFill>
                <a:latin typeface="Arial" pitchFamily="34" charset="0"/>
                <a:ea typeface="Arial" pitchFamily="34" charset="-122"/>
                <a:cs typeface="Arial" pitchFamily="34" charset="-120"/>
              </a:rPr>
              <a:t>Hand-coded rules. Expert systems with narrow scope.</a:t>
            </a:r>
            <a:endParaRPr lang="en-US" sz="950" dirty="0"/>
          </a:p>
        </p:txBody>
      </p:sp>
      <p:sp>
        <p:nvSpPr>
          <p:cNvPr id="14" name="Shape 12"/>
          <p:cNvSpPr/>
          <p:nvPr/>
        </p:nvSpPr>
        <p:spPr>
          <a:xfrm>
            <a:off x="2487168" y="1892808"/>
            <a:ext cx="237744" cy="237744"/>
          </a:xfrm>
          <a:prstGeom prst="ellipse">
            <a:avLst/>
          </a:prstGeom>
          <a:solidFill>
            <a:srgbClr val="008B8B"/>
          </a:solidFill>
          <a:ln w="19050">
            <a:solidFill>
              <a:srgbClr val="FFFFFF"/>
            </a:solidFill>
            <a:prstDash val="solid"/>
          </a:ln>
        </p:spPr>
      </p:sp>
      <p:sp>
        <p:nvSpPr>
          <p:cNvPr id="15" name="Shape 13"/>
          <p:cNvSpPr/>
          <p:nvPr/>
        </p:nvSpPr>
        <p:spPr>
          <a:xfrm>
            <a:off x="1976933" y="2212848"/>
            <a:ext cx="1258214" cy="3291840"/>
          </a:xfrm>
          <a:prstGeom prst="rect">
            <a:avLst/>
          </a:prstGeom>
          <a:solidFill>
            <a:srgbClr val="F9F9F9"/>
          </a:solidFill>
          <a:ln w="6350">
            <a:solidFill>
              <a:srgbClr val="E5E5E5"/>
            </a:solidFill>
            <a:prstDash val="solid"/>
          </a:ln>
        </p:spPr>
      </p:sp>
      <p:sp>
        <p:nvSpPr>
          <p:cNvPr id="16" name="Shape 14"/>
          <p:cNvSpPr/>
          <p:nvPr/>
        </p:nvSpPr>
        <p:spPr>
          <a:xfrm>
            <a:off x="1976933" y="2212848"/>
            <a:ext cx="54864" cy="3291840"/>
          </a:xfrm>
          <a:prstGeom prst="rect">
            <a:avLst/>
          </a:prstGeom>
          <a:solidFill>
            <a:srgbClr val="008B8B"/>
          </a:solidFill>
          <a:ln w="12700">
            <a:solidFill>
              <a:srgbClr val="008B8B"/>
            </a:solidFill>
            <a:prstDash val="solid"/>
          </a:ln>
        </p:spPr>
      </p:sp>
      <p:sp>
        <p:nvSpPr>
          <p:cNvPr id="17" name="Text 15"/>
          <p:cNvSpPr/>
          <p:nvPr/>
        </p:nvSpPr>
        <p:spPr>
          <a:xfrm>
            <a:off x="2104949" y="2331720"/>
            <a:ext cx="1075334" cy="256032"/>
          </a:xfrm>
          <a:prstGeom prst="rect">
            <a:avLst/>
          </a:prstGeom>
          <a:noFill/>
          <a:ln/>
        </p:spPr>
        <p:txBody>
          <a:bodyPr wrap="square" lIns="0" tIns="0" rIns="0" bIns="0" rtlCol="0" anchor="ctr"/>
          <a:lstStyle/>
          <a:p>
            <a:pPr indent="0" marL="0">
              <a:buNone/>
            </a:pPr>
            <a:r>
              <a:rPr lang="en-US" sz="900" dirty="0">
                <a:solidFill>
                  <a:srgbClr val="666666"/>
                </a:solidFill>
                <a:latin typeface="Arial" pitchFamily="34" charset="0"/>
                <a:ea typeface="Arial" pitchFamily="34" charset="-122"/>
                <a:cs typeface="Arial" pitchFamily="34" charset="-120"/>
              </a:rPr>
              <a:t>1990s–2000s</a:t>
            </a:r>
            <a:endParaRPr lang="en-US" sz="900" dirty="0"/>
          </a:p>
        </p:txBody>
      </p:sp>
      <p:sp>
        <p:nvSpPr>
          <p:cNvPr id="18" name="Text 16"/>
          <p:cNvSpPr/>
          <p:nvPr/>
        </p:nvSpPr>
        <p:spPr>
          <a:xfrm>
            <a:off x="2104949" y="2633472"/>
            <a:ext cx="1075334" cy="411480"/>
          </a:xfrm>
          <a:prstGeom prst="rect">
            <a:avLst/>
          </a:prstGeom>
          <a:noFill/>
          <a:ln/>
        </p:spPr>
        <p:txBody>
          <a:bodyPr wrap="square" lIns="0" tIns="0" rIns="0" bIns="0" rtlCol="0" anchor="ctr"/>
          <a:lstStyle/>
          <a:p>
            <a:pPr indent="0" marL="0">
              <a:buNone/>
            </a:pPr>
            <a:r>
              <a:rPr lang="en-US" sz="1200" b="1" dirty="0">
                <a:solidFill>
                  <a:srgbClr val="000000"/>
                </a:solidFill>
                <a:latin typeface="Arial" pitchFamily="34" charset="0"/>
                <a:ea typeface="Arial" pitchFamily="34" charset="-122"/>
                <a:cs typeface="Arial" pitchFamily="34" charset="-120"/>
              </a:rPr>
              <a:t>Machine Learning</a:t>
            </a:r>
            <a:endParaRPr lang="en-US" sz="1200" dirty="0"/>
          </a:p>
        </p:txBody>
      </p:sp>
      <p:sp>
        <p:nvSpPr>
          <p:cNvPr id="19" name="Text 17"/>
          <p:cNvSpPr/>
          <p:nvPr/>
        </p:nvSpPr>
        <p:spPr>
          <a:xfrm>
            <a:off x="2104949" y="3108960"/>
            <a:ext cx="1075334" cy="2331720"/>
          </a:xfrm>
          <a:prstGeom prst="rect">
            <a:avLst/>
          </a:prstGeom>
          <a:noFill/>
          <a:ln/>
        </p:spPr>
        <p:txBody>
          <a:bodyPr wrap="square" lIns="0" tIns="0" rIns="0" bIns="0" rtlCol="0" anchor="t"/>
          <a:lstStyle/>
          <a:p>
            <a:pPr indent="0" marL="0">
              <a:buNone/>
            </a:pPr>
            <a:r>
              <a:rPr lang="en-US" sz="950" dirty="0">
                <a:solidFill>
                  <a:srgbClr val="333333"/>
                </a:solidFill>
                <a:latin typeface="Arial" pitchFamily="34" charset="0"/>
                <a:ea typeface="Arial" pitchFamily="34" charset="-122"/>
                <a:cs typeface="Arial" pitchFamily="34" charset="-120"/>
              </a:rPr>
              <a:t>Systems learn patterns from data, not rules.</a:t>
            </a:r>
            <a:endParaRPr lang="en-US" sz="950" dirty="0"/>
          </a:p>
        </p:txBody>
      </p:sp>
      <p:sp>
        <p:nvSpPr>
          <p:cNvPr id="20" name="Shape 18"/>
          <p:cNvSpPr/>
          <p:nvPr/>
        </p:nvSpPr>
        <p:spPr>
          <a:xfrm>
            <a:off x="3797808" y="1892808"/>
            <a:ext cx="237744" cy="237744"/>
          </a:xfrm>
          <a:prstGeom prst="ellipse">
            <a:avLst/>
          </a:prstGeom>
          <a:solidFill>
            <a:srgbClr val="FFB800"/>
          </a:solidFill>
          <a:ln w="19050">
            <a:solidFill>
              <a:srgbClr val="FFFFFF"/>
            </a:solidFill>
            <a:prstDash val="solid"/>
          </a:ln>
        </p:spPr>
      </p:sp>
      <p:sp>
        <p:nvSpPr>
          <p:cNvPr id="21" name="Shape 19"/>
          <p:cNvSpPr/>
          <p:nvPr/>
        </p:nvSpPr>
        <p:spPr>
          <a:xfrm>
            <a:off x="3287573" y="2212848"/>
            <a:ext cx="1258214" cy="3291840"/>
          </a:xfrm>
          <a:prstGeom prst="rect">
            <a:avLst/>
          </a:prstGeom>
          <a:solidFill>
            <a:srgbClr val="F9F9F9"/>
          </a:solidFill>
          <a:ln w="6350">
            <a:solidFill>
              <a:srgbClr val="E5E5E5"/>
            </a:solidFill>
            <a:prstDash val="solid"/>
          </a:ln>
        </p:spPr>
      </p:sp>
      <p:sp>
        <p:nvSpPr>
          <p:cNvPr id="22" name="Shape 20"/>
          <p:cNvSpPr/>
          <p:nvPr/>
        </p:nvSpPr>
        <p:spPr>
          <a:xfrm>
            <a:off x="3287573" y="2212848"/>
            <a:ext cx="54864" cy="3291840"/>
          </a:xfrm>
          <a:prstGeom prst="rect">
            <a:avLst/>
          </a:prstGeom>
          <a:solidFill>
            <a:srgbClr val="FFB800"/>
          </a:solidFill>
          <a:ln w="12700">
            <a:solidFill>
              <a:srgbClr val="FFB800"/>
            </a:solidFill>
            <a:prstDash val="solid"/>
          </a:ln>
        </p:spPr>
      </p:sp>
      <p:sp>
        <p:nvSpPr>
          <p:cNvPr id="23" name="Text 21"/>
          <p:cNvSpPr/>
          <p:nvPr/>
        </p:nvSpPr>
        <p:spPr>
          <a:xfrm>
            <a:off x="3415589" y="2331720"/>
            <a:ext cx="1075334" cy="256032"/>
          </a:xfrm>
          <a:prstGeom prst="rect">
            <a:avLst/>
          </a:prstGeom>
          <a:noFill/>
          <a:ln/>
        </p:spPr>
        <p:txBody>
          <a:bodyPr wrap="square" lIns="0" tIns="0" rIns="0" bIns="0" rtlCol="0" anchor="ctr"/>
          <a:lstStyle/>
          <a:p>
            <a:pPr indent="0" marL="0">
              <a:buNone/>
            </a:pPr>
            <a:r>
              <a:rPr lang="en-US" sz="900" dirty="0">
                <a:solidFill>
                  <a:srgbClr val="666666"/>
                </a:solidFill>
                <a:latin typeface="Arial" pitchFamily="34" charset="0"/>
                <a:ea typeface="Arial" pitchFamily="34" charset="-122"/>
                <a:cs typeface="Arial" pitchFamily="34" charset="-120"/>
              </a:rPr>
              <a:t>2012</a:t>
            </a:r>
            <a:endParaRPr lang="en-US" sz="900" dirty="0"/>
          </a:p>
        </p:txBody>
      </p:sp>
      <p:sp>
        <p:nvSpPr>
          <p:cNvPr id="24" name="Text 22"/>
          <p:cNvSpPr/>
          <p:nvPr/>
        </p:nvSpPr>
        <p:spPr>
          <a:xfrm>
            <a:off x="3415589" y="2633472"/>
            <a:ext cx="1075334" cy="411480"/>
          </a:xfrm>
          <a:prstGeom prst="rect">
            <a:avLst/>
          </a:prstGeom>
          <a:noFill/>
          <a:ln/>
        </p:spPr>
        <p:txBody>
          <a:bodyPr wrap="square" lIns="0" tIns="0" rIns="0" bIns="0" rtlCol="0" anchor="ctr"/>
          <a:lstStyle/>
          <a:p>
            <a:pPr indent="0" marL="0">
              <a:buNone/>
            </a:pPr>
            <a:r>
              <a:rPr lang="en-US" sz="1200" b="1" dirty="0">
                <a:solidFill>
                  <a:srgbClr val="000000"/>
                </a:solidFill>
                <a:latin typeface="Arial" pitchFamily="34" charset="0"/>
                <a:ea typeface="Arial" pitchFamily="34" charset="-122"/>
                <a:cs typeface="Arial" pitchFamily="34" charset="-120"/>
              </a:rPr>
              <a:t>Deep Learning</a:t>
            </a:r>
            <a:endParaRPr lang="en-US" sz="1200" dirty="0"/>
          </a:p>
        </p:txBody>
      </p:sp>
      <p:sp>
        <p:nvSpPr>
          <p:cNvPr id="25" name="Text 23"/>
          <p:cNvSpPr/>
          <p:nvPr/>
        </p:nvSpPr>
        <p:spPr>
          <a:xfrm>
            <a:off x="3415589" y="3108960"/>
            <a:ext cx="1075334" cy="2331720"/>
          </a:xfrm>
          <a:prstGeom prst="rect">
            <a:avLst/>
          </a:prstGeom>
          <a:noFill/>
          <a:ln/>
        </p:spPr>
        <p:txBody>
          <a:bodyPr wrap="square" lIns="0" tIns="0" rIns="0" bIns="0" rtlCol="0" anchor="t"/>
          <a:lstStyle/>
          <a:p>
            <a:pPr indent="0" marL="0">
              <a:buNone/>
            </a:pPr>
            <a:r>
              <a:rPr lang="en-US" sz="950" dirty="0">
                <a:solidFill>
                  <a:srgbClr val="333333"/>
                </a:solidFill>
                <a:latin typeface="Arial" pitchFamily="34" charset="0"/>
                <a:ea typeface="Arial" pitchFamily="34" charset="-122"/>
                <a:cs typeface="Arial" pitchFamily="34" charset="-120"/>
              </a:rPr>
              <a:t>Neural networks go deep. AlexNet, the first breakthrough.</a:t>
            </a:r>
            <a:endParaRPr lang="en-US" sz="950" dirty="0"/>
          </a:p>
        </p:txBody>
      </p:sp>
      <p:sp>
        <p:nvSpPr>
          <p:cNvPr id="26" name="Shape 24"/>
          <p:cNvSpPr/>
          <p:nvPr/>
        </p:nvSpPr>
        <p:spPr>
          <a:xfrm>
            <a:off x="5108448" y="1892808"/>
            <a:ext cx="237744" cy="237744"/>
          </a:xfrm>
          <a:prstGeom prst="ellipse">
            <a:avLst/>
          </a:prstGeom>
          <a:solidFill>
            <a:srgbClr val="F6693D"/>
          </a:solidFill>
          <a:ln w="19050">
            <a:solidFill>
              <a:srgbClr val="FFFFFF"/>
            </a:solidFill>
            <a:prstDash val="solid"/>
          </a:ln>
        </p:spPr>
      </p:sp>
      <p:sp>
        <p:nvSpPr>
          <p:cNvPr id="27" name="Shape 25"/>
          <p:cNvSpPr/>
          <p:nvPr/>
        </p:nvSpPr>
        <p:spPr>
          <a:xfrm>
            <a:off x="4598213" y="2212848"/>
            <a:ext cx="1258214" cy="3291840"/>
          </a:xfrm>
          <a:prstGeom prst="rect">
            <a:avLst/>
          </a:prstGeom>
          <a:solidFill>
            <a:srgbClr val="FFF8F3"/>
          </a:solidFill>
          <a:ln w="6350">
            <a:solidFill>
              <a:srgbClr val="E5E5E5"/>
            </a:solidFill>
            <a:prstDash val="solid"/>
          </a:ln>
        </p:spPr>
      </p:sp>
      <p:sp>
        <p:nvSpPr>
          <p:cNvPr id="28" name="Shape 26"/>
          <p:cNvSpPr/>
          <p:nvPr/>
        </p:nvSpPr>
        <p:spPr>
          <a:xfrm>
            <a:off x="4598213" y="2212848"/>
            <a:ext cx="54864" cy="3291840"/>
          </a:xfrm>
          <a:prstGeom prst="rect">
            <a:avLst/>
          </a:prstGeom>
          <a:solidFill>
            <a:srgbClr val="F6693D"/>
          </a:solidFill>
          <a:ln w="12700">
            <a:solidFill>
              <a:srgbClr val="F6693D"/>
            </a:solidFill>
            <a:prstDash val="solid"/>
          </a:ln>
        </p:spPr>
      </p:sp>
      <p:sp>
        <p:nvSpPr>
          <p:cNvPr id="29" name="Text 27"/>
          <p:cNvSpPr/>
          <p:nvPr/>
        </p:nvSpPr>
        <p:spPr>
          <a:xfrm>
            <a:off x="4726229" y="2331720"/>
            <a:ext cx="1075334" cy="256032"/>
          </a:xfrm>
          <a:prstGeom prst="rect">
            <a:avLst/>
          </a:prstGeom>
          <a:noFill/>
          <a:ln/>
        </p:spPr>
        <p:txBody>
          <a:bodyPr wrap="square" lIns="0" tIns="0" rIns="0" bIns="0" rtlCol="0" anchor="ctr"/>
          <a:lstStyle/>
          <a:p>
            <a:pPr indent="0" marL="0">
              <a:buNone/>
            </a:pPr>
            <a:r>
              <a:rPr lang="en-US" sz="900" dirty="0">
                <a:solidFill>
                  <a:srgbClr val="666666"/>
                </a:solidFill>
                <a:latin typeface="Arial" pitchFamily="34" charset="0"/>
                <a:ea typeface="Arial" pitchFamily="34" charset="-122"/>
                <a:cs typeface="Arial" pitchFamily="34" charset="-120"/>
              </a:rPr>
              <a:t>2022–24</a:t>
            </a:r>
            <a:endParaRPr lang="en-US" sz="900" dirty="0"/>
          </a:p>
        </p:txBody>
      </p:sp>
      <p:sp>
        <p:nvSpPr>
          <p:cNvPr id="30" name="Text 28"/>
          <p:cNvSpPr/>
          <p:nvPr/>
        </p:nvSpPr>
        <p:spPr>
          <a:xfrm>
            <a:off x="4726229" y="2633472"/>
            <a:ext cx="1075334" cy="411480"/>
          </a:xfrm>
          <a:prstGeom prst="rect">
            <a:avLst/>
          </a:prstGeom>
          <a:noFill/>
          <a:ln/>
        </p:spPr>
        <p:txBody>
          <a:bodyPr wrap="square" lIns="0" tIns="0" rIns="0" bIns="0" rtlCol="0" anchor="ctr"/>
          <a:lstStyle/>
          <a:p>
            <a:pPr indent="0" marL="0">
              <a:buNone/>
            </a:pPr>
            <a:r>
              <a:rPr lang="en-US" sz="1300" b="1" dirty="0">
                <a:solidFill>
                  <a:srgbClr val="000000"/>
                </a:solidFill>
                <a:latin typeface="Arial" pitchFamily="34" charset="0"/>
                <a:ea typeface="Arial" pitchFamily="34" charset="-122"/>
                <a:cs typeface="Arial" pitchFamily="34" charset="-120"/>
              </a:rPr>
              <a:t>LLM chatbots</a:t>
            </a:r>
            <a:endParaRPr lang="en-US" sz="1300" dirty="0"/>
          </a:p>
        </p:txBody>
      </p:sp>
      <p:sp>
        <p:nvSpPr>
          <p:cNvPr id="31" name="Text 29"/>
          <p:cNvSpPr/>
          <p:nvPr/>
        </p:nvSpPr>
        <p:spPr>
          <a:xfrm>
            <a:off x="4726229" y="3108960"/>
            <a:ext cx="1075334" cy="2331720"/>
          </a:xfrm>
          <a:prstGeom prst="rect">
            <a:avLst/>
          </a:prstGeom>
          <a:noFill/>
          <a:ln/>
        </p:spPr>
        <p:txBody>
          <a:bodyPr wrap="square" lIns="0" tIns="0" rIns="0" bIns="0" rtlCol="0" anchor="t"/>
          <a:lstStyle/>
          <a:p>
            <a:pPr indent="0" marL="0">
              <a:buNone/>
            </a:pPr>
            <a:r>
              <a:rPr lang="en-US" sz="950" dirty="0">
                <a:solidFill>
                  <a:srgbClr val="333333"/>
                </a:solidFill>
                <a:latin typeface="Arial" pitchFamily="34" charset="0"/>
                <a:ea typeface="Arial" pitchFamily="34" charset="-122"/>
                <a:cs typeface="Arial" pitchFamily="34" charset="-120"/>
              </a:rPr>
              <a:t>ChatGPT hits 100M users in 2 months. Claude, Gemini follow.</a:t>
            </a:r>
            <a:endParaRPr lang="en-US" sz="950" dirty="0"/>
          </a:p>
        </p:txBody>
      </p:sp>
      <p:sp>
        <p:nvSpPr>
          <p:cNvPr id="32" name="Shape 30"/>
          <p:cNvSpPr/>
          <p:nvPr/>
        </p:nvSpPr>
        <p:spPr>
          <a:xfrm>
            <a:off x="6419088" y="1892808"/>
            <a:ext cx="237744" cy="237744"/>
          </a:xfrm>
          <a:prstGeom prst="ellipse">
            <a:avLst/>
          </a:prstGeom>
          <a:solidFill>
            <a:srgbClr val="E8478D"/>
          </a:solidFill>
          <a:ln w="19050">
            <a:solidFill>
              <a:srgbClr val="FFFFFF"/>
            </a:solidFill>
            <a:prstDash val="solid"/>
          </a:ln>
        </p:spPr>
      </p:sp>
      <p:sp>
        <p:nvSpPr>
          <p:cNvPr id="33" name="Shape 31"/>
          <p:cNvSpPr/>
          <p:nvPr/>
        </p:nvSpPr>
        <p:spPr>
          <a:xfrm>
            <a:off x="5908853" y="2212848"/>
            <a:ext cx="1258214" cy="3291840"/>
          </a:xfrm>
          <a:prstGeom prst="rect">
            <a:avLst/>
          </a:prstGeom>
          <a:solidFill>
            <a:srgbClr val="F9F9F9"/>
          </a:solidFill>
          <a:ln w="6350">
            <a:solidFill>
              <a:srgbClr val="E5E5E5"/>
            </a:solidFill>
            <a:prstDash val="solid"/>
          </a:ln>
        </p:spPr>
      </p:sp>
      <p:sp>
        <p:nvSpPr>
          <p:cNvPr id="34" name="Shape 32"/>
          <p:cNvSpPr/>
          <p:nvPr/>
        </p:nvSpPr>
        <p:spPr>
          <a:xfrm>
            <a:off x="5908853" y="2212848"/>
            <a:ext cx="54864" cy="3291840"/>
          </a:xfrm>
          <a:prstGeom prst="rect">
            <a:avLst/>
          </a:prstGeom>
          <a:solidFill>
            <a:srgbClr val="E8478D"/>
          </a:solidFill>
          <a:ln w="12700">
            <a:solidFill>
              <a:srgbClr val="E8478D"/>
            </a:solidFill>
            <a:prstDash val="solid"/>
          </a:ln>
        </p:spPr>
      </p:sp>
      <p:sp>
        <p:nvSpPr>
          <p:cNvPr id="35" name="Text 33"/>
          <p:cNvSpPr/>
          <p:nvPr/>
        </p:nvSpPr>
        <p:spPr>
          <a:xfrm>
            <a:off x="6036869" y="2331720"/>
            <a:ext cx="1075334" cy="256032"/>
          </a:xfrm>
          <a:prstGeom prst="rect">
            <a:avLst/>
          </a:prstGeom>
          <a:noFill/>
          <a:ln/>
        </p:spPr>
        <p:txBody>
          <a:bodyPr wrap="square" lIns="0" tIns="0" rIns="0" bIns="0" rtlCol="0" anchor="ctr"/>
          <a:lstStyle/>
          <a:p>
            <a:pPr indent="0" marL="0">
              <a:buNone/>
            </a:pPr>
            <a:r>
              <a:rPr lang="en-US" sz="900" dirty="0">
                <a:solidFill>
                  <a:srgbClr val="666666"/>
                </a:solidFill>
                <a:latin typeface="Arial" pitchFamily="34" charset="0"/>
                <a:ea typeface="Arial" pitchFamily="34" charset="-122"/>
                <a:cs typeface="Arial" pitchFamily="34" charset="-120"/>
              </a:rPr>
              <a:t>2023–24</a:t>
            </a:r>
            <a:endParaRPr lang="en-US" sz="900" dirty="0"/>
          </a:p>
        </p:txBody>
      </p:sp>
      <p:sp>
        <p:nvSpPr>
          <p:cNvPr id="36" name="Text 34"/>
          <p:cNvSpPr/>
          <p:nvPr/>
        </p:nvSpPr>
        <p:spPr>
          <a:xfrm>
            <a:off x="6036869" y="2633472"/>
            <a:ext cx="1075334" cy="411480"/>
          </a:xfrm>
          <a:prstGeom prst="rect">
            <a:avLst/>
          </a:prstGeom>
          <a:noFill/>
          <a:ln/>
        </p:spPr>
        <p:txBody>
          <a:bodyPr wrap="square" lIns="0" tIns="0" rIns="0" bIns="0" rtlCol="0" anchor="ctr"/>
          <a:lstStyle/>
          <a:p>
            <a:pPr indent="0" marL="0">
              <a:buNone/>
            </a:pPr>
            <a:r>
              <a:rPr lang="en-US" sz="1200" b="1" dirty="0">
                <a:solidFill>
                  <a:srgbClr val="000000"/>
                </a:solidFill>
                <a:latin typeface="Arial" pitchFamily="34" charset="0"/>
                <a:ea typeface="Arial" pitchFamily="34" charset="-122"/>
                <a:cs typeface="Arial" pitchFamily="34" charset="-120"/>
              </a:rPr>
              <a:t>Reasoning</a:t>
            </a:r>
            <a:endParaRPr lang="en-US" sz="1200" dirty="0"/>
          </a:p>
        </p:txBody>
      </p:sp>
      <p:sp>
        <p:nvSpPr>
          <p:cNvPr id="37" name="Text 35"/>
          <p:cNvSpPr/>
          <p:nvPr/>
        </p:nvSpPr>
        <p:spPr>
          <a:xfrm>
            <a:off x="6036869" y="3108960"/>
            <a:ext cx="1075334" cy="2331720"/>
          </a:xfrm>
          <a:prstGeom prst="rect">
            <a:avLst/>
          </a:prstGeom>
          <a:noFill/>
          <a:ln/>
        </p:spPr>
        <p:txBody>
          <a:bodyPr wrap="square" lIns="0" tIns="0" rIns="0" bIns="0" rtlCol="0" anchor="t"/>
          <a:lstStyle/>
          <a:p>
            <a:pPr indent="0" marL="0">
              <a:buNone/>
            </a:pPr>
            <a:r>
              <a:rPr lang="en-US" sz="950" dirty="0">
                <a:solidFill>
                  <a:srgbClr val="333333"/>
                </a:solidFill>
                <a:latin typeface="Arial" pitchFamily="34" charset="0"/>
                <a:ea typeface="Arial" pitchFamily="34" charset="-122"/>
                <a:cs typeface="Arial" pitchFamily="34" charset="-120"/>
              </a:rPr>
              <a:t>Multi-step logic, chain-of-thought. o1, DeepSeek R1.</a:t>
            </a:r>
            <a:endParaRPr lang="en-US" sz="950" dirty="0"/>
          </a:p>
        </p:txBody>
      </p:sp>
      <p:sp>
        <p:nvSpPr>
          <p:cNvPr id="38" name="Shape 36"/>
          <p:cNvSpPr/>
          <p:nvPr/>
        </p:nvSpPr>
        <p:spPr>
          <a:xfrm>
            <a:off x="7729728" y="1892808"/>
            <a:ext cx="237744" cy="237744"/>
          </a:xfrm>
          <a:prstGeom prst="ellipse">
            <a:avLst/>
          </a:prstGeom>
          <a:solidFill>
            <a:srgbClr val="CC0000"/>
          </a:solidFill>
          <a:ln w="19050">
            <a:solidFill>
              <a:srgbClr val="FFFFFF"/>
            </a:solidFill>
            <a:prstDash val="solid"/>
          </a:ln>
        </p:spPr>
      </p:sp>
      <p:sp>
        <p:nvSpPr>
          <p:cNvPr id="39" name="Shape 37"/>
          <p:cNvSpPr/>
          <p:nvPr/>
        </p:nvSpPr>
        <p:spPr>
          <a:xfrm>
            <a:off x="7219493" y="2212848"/>
            <a:ext cx="1258214" cy="3291840"/>
          </a:xfrm>
          <a:prstGeom prst="rect">
            <a:avLst/>
          </a:prstGeom>
          <a:solidFill>
            <a:srgbClr val="FFF8F3"/>
          </a:solidFill>
          <a:ln w="6350">
            <a:solidFill>
              <a:srgbClr val="E5E5E5"/>
            </a:solidFill>
            <a:prstDash val="solid"/>
          </a:ln>
        </p:spPr>
      </p:sp>
      <p:sp>
        <p:nvSpPr>
          <p:cNvPr id="40" name="Shape 38"/>
          <p:cNvSpPr/>
          <p:nvPr/>
        </p:nvSpPr>
        <p:spPr>
          <a:xfrm>
            <a:off x="7219493" y="2212848"/>
            <a:ext cx="54864" cy="3291840"/>
          </a:xfrm>
          <a:prstGeom prst="rect">
            <a:avLst/>
          </a:prstGeom>
          <a:solidFill>
            <a:srgbClr val="CC0000"/>
          </a:solidFill>
          <a:ln w="12700">
            <a:solidFill>
              <a:srgbClr val="CC0000"/>
            </a:solidFill>
            <a:prstDash val="solid"/>
          </a:ln>
        </p:spPr>
      </p:sp>
      <p:sp>
        <p:nvSpPr>
          <p:cNvPr id="41" name="Text 39"/>
          <p:cNvSpPr/>
          <p:nvPr/>
        </p:nvSpPr>
        <p:spPr>
          <a:xfrm>
            <a:off x="7347509" y="2331720"/>
            <a:ext cx="1075334" cy="256032"/>
          </a:xfrm>
          <a:prstGeom prst="rect">
            <a:avLst/>
          </a:prstGeom>
          <a:noFill/>
          <a:ln/>
        </p:spPr>
        <p:txBody>
          <a:bodyPr wrap="square" lIns="0" tIns="0" rIns="0" bIns="0" rtlCol="0" anchor="ctr"/>
          <a:lstStyle/>
          <a:p>
            <a:pPr indent="0" marL="0">
              <a:buNone/>
            </a:pPr>
            <a:r>
              <a:rPr lang="en-US" sz="900" dirty="0">
                <a:solidFill>
                  <a:srgbClr val="666666"/>
                </a:solidFill>
                <a:latin typeface="Arial" pitchFamily="34" charset="0"/>
                <a:ea typeface="Arial" pitchFamily="34" charset="-122"/>
                <a:cs typeface="Arial" pitchFamily="34" charset="-120"/>
              </a:rPr>
              <a:t>2025–26</a:t>
            </a:r>
            <a:endParaRPr lang="en-US" sz="900" dirty="0"/>
          </a:p>
        </p:txBody>
      </p:sp>
      <p:sp>
        <p:nvSpPr>
          <p:cNvPr id="42" name="Text 40"/>
          <p:cNvSpPr/>
          <p:nvPr/>
        </p:nvSpPr>
        <p:spPr>
          <a:xfrm>
            <a:off x="7347509" y="2633472"/>
            <a:ext cx="1075334" cy="411480"/>
          </a:xfrm>
          <a:prstGeom prst="rect">
            <a:avLst/>
          </a:prstGeom>
          <a:noFill/>
          <a:ln/>
        </p:spPr>
        <p:txBody>
          <a:bodyPr wrap="square" lIns="0" tIns="0" rIns="0" bIns="0" rtlCol="0" anchor="ctr"/>
          <a:lstStyle/>
          <a:p>
            <a:pPr indent="0" marL="0">
              <a:buNone/>
            </a:pPr>
            <a:r>
              <a:rPr lang="en-US" sz="1300" b="1" dirty="0">
                <a:solidFill>
                  <a:srgbClr val="000000"/>
                </a:solidFill>
                <a:latin typeface="Arial" pitchFamily="34" charset="0"/>
                <a:ea typeface="Arial" pitchFamily="34" charset="-122"/>
                <a:cs typeface="Arial" pitchFamily="34" charset="-120"/>
              </a:rPr>
              <a:t>Agentic AI</a:t>
            </a:r>
            <a:endParaRPr lang="en-US" sz="1300" dirty="0"/>
          </a:p>
        </p:txBody>
      </p:sp>
      <p:sp>
        <p:nvSpPr>
          <p:cNvPr id="43" name="Text 41"/>
          <p:cNvSpPr/>
          <p:nvPr/>
        </p:nvSpPr>
        <p:spPr>
          <a:xfrm>
            <a:off x="7347509" y="3108960"/>
            <a:ext cx="1075334" cy="2331720"/>
          </a:xfrm>
          <a:prstGeom prst="rect">
            <a:avLst/>
          </a:prstGeom>
          <a:noFill/>
          <a:ln/>
        </p:spPr>
        <p:txBody>
          <a:bodyPr wrap="square" lIns="0" tIns="0" rIns="0" bIns="0" rtlCol="0" anchor="t"/>
          <a:lstStyle/>
          <a:p>
            <a:pPr indent="0" marL="0">
              <a:buNone/>
            </a:pPr>
            <a:r>
              <a:rPr lang="en-US" sz="950" dirty="0">
                <a:solidFill>
                  <a:srgbClr val="333333"/>
                </a:solidFill>
                <a:latin typeface="Arial" pitchFamily="34" charset="0"/>
                <a:ea typeface="Arial" pitchFamily="34" charset="-122"/>
                <a:cs typeface="Arial" pitchFamily="34" charset="-120"/>
              </a:rPr>
              <a:t>AI that uses tools and acts autonomously. GPT-5.5, Claude Opus 4.7, Gemini 3.5.</a:t>
            </a:r>
            <a:endParaRPr lang="en-US" sz="950" dirty="0"/>
          </a:p>
        </p:txBody>
      </p:sp>
      <p:sp>
        <p:nvSpPr>
          <p:cNvPr id="44" name="Text 42"/>
          <p:cNvSpPr/>
          <p:nvPr/>
        </p:nvSpPr>
        <p:spPr>
          <a:xfrm>
            <a:off x="457200" y="5875020"/>
            <a:ext cx="8229600" cy="320040"/>
          </a:xfrm>
          <a:prstGeom prst="rect">
            <a:avLst/>
          </a:prstGeom>
          <a:noFill/>
          <a:ln/>
        </p:spPr>
        <p:txBody>
          <a:bodyPr wrap="square" lIns="0" tIns="0" rIns="0" bIns="0" rtlCol="0" anchor="t"/>
          <a:lstStyle/>
          <a:p>
            <a:pPr indent="0" marL="0">
              <a:buNone/>
            </a:pPr>
            <a:r>
              <a:rPr lang="en-US" sz="700" dirty="0">
                <a:solidFill>
                  <a:srgbClr val="999999"/>
                </a:solidFill>
                <a:latin typeface="Arial" pitchFamily="34" charset="0"/>
                <a:ea typeface="Arial" pitchFamily="34" charset="-122"/>
                <a:cs typeface="Arial" pitchFamily="34" charset="-120"/>
              </a:rPr>
              <a:t>Source: Strategy Research.</a:t>
            </a:r>
            <a:endParaRPr lang="en-US" sz="700" dirty="0"/>
          </a:p>
        </p:txBody>
      </p:sp>
      <p:sp>
        <p:nvSpPr>
          <p:cNvPr id="45" name="Shape 43"/>
          <p:cNvSpPr/>
          <p:nvPr/>
        </p:nvSpPr>
        <p:spPr>
          <a:xfrm>
            <a:off x="0" y="6286500"/>
            <a:ext cx="9144000" cy="571500"/>
          </a:xfrm>
          <a:prstGeom prst="rect">
            <a:avLst/>
          </a:prstGeom>
          <a:solidFill>
            <a:srgbClr val="000000"/>
          </a:solidFill>
          <a:ln w="12700">
            <a:solidFill>
              <a:srgbClr val="000000"/>
            </a:solidFill>
            <a:prstDash val="solid"/>
          </a:ln>
        </p:spPr>
      </p:sp>
      <p:sp>
        <p:nvSpPr>
          <p:cNvPr id="46" name="Text 44"/>
          <p:cNvSpPr/>
          <p:nvPr/>
        </p:nvSpPr>
        <p:spPr>
          <a:xfrm>
            <a:off x="1371600" y="6332220"/>
            <a:ext cx="6400800" cy="457200"/>
          </a:xfrm>
          <a:prstGeom prst="rect">
            <a:avLst/>
          </a:prstGeom>
          <a:noFill/>
          <a:ln/>
        </p:spPr>
        <p:txBody>
          <a:bodyPr wrap="square" lIns="0" tIns="0" rIns="0" bIns="0" rtlCol="0" anchor="ctr"/>
          <a:lstStyle/>
          <a:p>
            <a:pPr algn="ctr" indent="0" marL="0">
              <a:buNone/>
            </a:pPr>
            <a:r>
              <a:rPr lang="en-US" sz="650" b="1" dirty="0">
                <a:solidFill>
                  <a:srgbClr val="FFFFFF"/>
                </a:solidFill>
                <a:latin typeface="Arial" pitchFamily="34" charset="0"/>
                <a:ea typeface="Arial" pitchFamily="34" charset="-122"/>
                <a:cs typeface="Arial" pitchFamily="34" charset="-120"/>
              </a:rPr>
              <a:t>FOR INFORMATIONAL PURPOSES ONLY. NOT INVESTMENT ADVICE. PAST PERFORMANCE IS NOT INDICATIVE OF FUTURE RESULTS.</a:t>
            </a:r>
            <a:endParaRPr lang="en-US" sz="650" dirty="0"/>
          </a:p>
        </p:txBody>
      </p:sp>
      <p:sp>
        <p:nvSpPr>
          <p:cNvPr id="47" name="Text 45"/>
          <p:cNvSpPr/>
          <p:nvPr/>
        </p:nvSpPr>
        <p:spPr>
          <a:xfrm>
            <a:off x="8321040" y="6405372"/>
            <a:ext cx="548640" cy="274320"/>
          </a:xfrm>
          <a:prstGeom prst="rect">
            <a:avLst/>
          </a:prstGeom>
          <a:noFill/>
          <a:ln/>
        </p:spPr>
        <p:txBody>
          <a:bodyPr wrap="square" lIns="0" tIns="0" rIns="0" bIns="0" rtlCol="0" anchor="ctr"/>
          <a:lstStyle/>
          <a:p>
            <a:pPr algn="r" indent="0" marL="0">
              <a:buNone/>
            </a:pPr>
            <a:r>
              <a:rPr lang="en-US" sz="900" dirty="0">
                <a:solidFill>
                  <a:srgbClr val="FFFFFF"/>
                </a:solidFill>
                <a:latin typeface="Arial" pitchFamily="34" charset="0"/>
                <a:ea typeface="Arial" pitchFamily="34" charset="-122"/>
                <a:cs typeface="Arial" pitchFamily="34" charset="-120"/>
              </a:rPr>
              <a:t>4</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Shape 0"/>
          <p:cNvSpPr/>
          <p:nvPr/>
        </p:nvSpPr>
        <p:spPr>
          <a:xfrm>
            <a:off x="7132320" y="164592"/>
            <a:ext cx="1737360" cy="292608"/>
          </a:xfrm>
          <a:prstGeom prst="roundRect">
            <a:avLst>
              <a:gd name="adj" fmla="val 15625"/>
            </a:avLst>
          </a:prstGeom>
          <a:solidFill>
            <a:srgbClr val="008B8B"/>
          </a:solidFill>
          <a:ln w="12700">
            <a:solidFill>
              <a:srgbClr val="008B8B"/>
            </a:solidFill>
            <a:prstDash val="solid"/>
          </a:ln>
        </p:spPr>
      </p:sp>
      <p:sp>
        <p:nvSpPr>
          <p:cNvPr id="3" name="Text 1"/>
          <p:cNvSpPr/>
          <p:nvPr/>
        </p:nvSpPr>
        <p:spPr>
          <a:xfrm>
            <a:off x="7132320" y="164592"/>
            <a:ext cx="1737360" cy="292608"/>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Arial" pitchFamily="34" charset="0"/>
                <a:ea typeface="Arial" pitchFamily="34" charset="-122"/>
                <a:cs typeface="Arial" pitchFamily="34" charset="-120"/>
              </a:rPr>
              <a:t>LANDSCAPE</a:t>
            </a:r>
            <a:endParaRPr lang="en-US" sz="1000" dirty="0"/>
          </a:p>
        </p:txBody>
      </p:sp>
      <p:sp>
        <p:nvSpPr>
          <p:cNvPr id="4" name="Text 2"/>
          <p:cNvSpPr/>
          <p:nvPr/>
        </p:nvSpPr>
        <p:spPr>
          <a:xfrm>
            <a:off x="457200" y="182880"/>
            <a:ext cx="6583680" cy="685800"/>
          </a:xfrm>
          <a:prstGeom prst="rect">
            <a:avLst/>
          </a:prstGeom>
          <a:noFill/>
          <a:ln/>
        </p:spPr>
        <p:txBody>
          <a:bodyPr wrap="square" lIns="0" tIns="0" rIns="0" bIns="0" rtlCol="0" anchor="t"/>
          <a:lstStyle/>
          <a:p>
            <a:pPr indent="0" marL="0">
              <a:buNone/>
            </a:pPr>
            <a:r>
              <a:rPr lang="en-US" sz="2400" b="1" dirty="0">
                <a:solidFill>
                  <a:srgbClr val="000000"/>
                </a:solidFill>
                <a:latin typeface="Arial Black" pitchFamily="34" charset="0"/>
                <a:ea typeface="Arial Black" pitchFamily="34" charset="-122"/>
                <a:cs typeface="Arial Black" pitchFamily="34" charset="-120"/>
              </a:rPr>
              <a:t>Eleven layers, four power blocs — your exposure depends on which layer you own</a:t>
            </a:r>
            <a:endParaRPr lang="en-US" sz="2400" dirty="0"/>
          </a:p>
        </p:txBody>
      </p:sp>
      <p:sp>
        <p:nvSpPr>
          <p:cNvPr id="5" name="Shape 3"/>
          <p:cNvSpPr/>
          <p:nvPr/>
        </p:nvSpPr>
        <p:spPr>
          <a:xfrm>
            <a:off x="457200" y="1325880"/>
            <a:ext cx="8229600" cy="0"/>
          </a:xfrm>
          <a:prstGeom prst="line">
            <a:avLst/>
          </a:prstGeom>
          <a:noFill/>
          <a:ln w="9525">
            <a:solidFill>
              <a:srgbClr val="E5E5E5"/>
            </a:solidFill>
            <a:prstDash val="solid"/>
          </a:ln>
        </p:spPr>
      </p:sp>
      <p:sp>
        <p:nvSpPr>
          <p:cNvPr id="6" name="Shape 4"/>
          <p:cNvSpPr/>
          <p:nvPr/>
        </p:nvSpPr>
        <p:spPr>
          <a:xfrm>
            <a:off x="457200" y="1600200"/>
            <a:ext cx="256032" cy="1097280"/>
          </a:xfrm>
          <a:prstGeom prst="rect">
            <a:avLst/>
          </a:prstGeom>
          <a:solidFill>
            <a:srgbClr val="F6693D"/>
          </a:solidFill>
          <a:ln w="12700">
            <a:solidFill>
              <a:srgbClr val="F6693D"/>
            </a:solidFill>
            <a:prstDash val="solid"/>
          </a:ln>
        </p:spPr>
      </p:sp>
      <p:sp>
        <p:nvSpPr>
          <p:cNvPr id="7" name="Text 5"/>
          <p:cNvSpPr/>
          <p:nvPr/>
        </p:nvSpPr>
        <p:spPr>
          <a:xfrm>
            <a:off x="777240" y="1600200"/>
            <a:ext cx="1280160" cy="1097280"/>
          </a:xfrm>
          <a:prstGeom prst="rect">
            <a:avLst/>
          </a:prstGeom>
          <a:noFill/>
          <a:ln/>
        </p:spPr>
        <p:txBody>
          <a:bodyPr wrap="square" lIns="0" tIns="0" rIns="0" bIns="0" rtlCol="0" anchor="ctr"/>
          <a:lstStyle/>
          <a:p>
            <a:pPr indent="0" marL="0">
              <a:buNone/>
            </a:pPr>
            <a:r>
              <a:rPr lang="en-US" sz="1000" b="1" spc="300" kern="0" dirty="0">
                <a:solidFill>
                  <a:srgbClr val="F6693D"/>
                </a:solidFill>
                <a:latin typeface="Arial" pitchFamily="34" charset="0"/>
                <a:ea typeface="Arial" pitchFamily="34" charset="-122"/>
                <a:cs typeface="Arial" pitchFamily="34" charset="-120"/>
              </a:rPr>
              <a:t>USER</a:t>
            </a:r>
            <a:endParaRPr lang="en-US" sz="1000" dirty="0"/>
          </a:p>
        </p:txBody>
      </p:sp>
      <p:sp>
        <p:nvSpPr>
          <p:cNvPr id="8" name="Shape 6"/>
          <p:cNvSpPr/>
          <p:nvPr/>
        </p:nvSpPr>
        <p:spPr>
          <a:xfrm>
            <a:off x="457200" y="2743200"/>
            <a:ext cx="256032" cy="1097280"/>
          </a:xfrm>
          <a:prstGeom prst="rect">
            <a:avLst/>
          </a:prstGeom>
          <a:solidFill>
            <a:srgbClr val="FFB800"/>
          </a:solidFill>
          <a:ln w="12700">
            <a:solidFill>
              <a:srgbClr val="FFB800"/>
            </a:solidFill>
            <a:prstDash val="solid"/>
          </a:ln>
        </p:spPr>
      </p:sp>
      <p:sp>
        <p:nvSpPr>
          <p:cNvPr id="9" name="Text 7"/>
          <p:cNvSpPr/>
          <p:nvPr/>
        </p:nvSpPr>
        <p:spPr>
          <a:xfrm>
            <a:off x="777240" y="2743200"/>
            <a:ext cx="1280160" cy="1097280"/>
          </a:xfrm>
          <a:prstGeom prst="rect">
            <a:avLst/>
          </a:prstGeom>
          <a:noFill/>
          <a:ln/>
        </p:spPr>
        <p:txBody>
          <a:bodyPr wrap="square" lIns="0" tIns="0" rIns="0" bIns="0" rtlCol="0" anchor="ctr"/>
          <a:lstStyle/>
          <a:p>
            <a:pPr indent="0" marL="0">
              <a:buNone/>
            </a:pPr>
            <a:r>
              <a:rPr lang="en-US" sz="1000" b="1" spc="300" kern="0" dirty="0">
                <a:solidFill>
                  <a:srgbClr val="FFB800"/>
                </a:solidFill>
                <a:latin typeface="Arial" pitchFamily="34" charset="0"/>
                <a:ea typeface="Arial" pitchFamily="34" charset="-122"/>
                <a:cs typeface="Arial" pitchFamily="34" charset="-120"/>
              </a:rPr>
              <a:t>COMPUTE</a:t>
            </a:r>
            <a:endParaRPr lang="en-US" sz="1000" dirty="0"/>
          </a:p>
        </p:txBody>
      </p:sp>
      <p:sp>
        <p:nvSpPr>
          <p:cNvPr id="10" name="Shape 8"/>
          <p:cNvSpPr/>
          <p:nvPr/>
        </p:nvSpPr>
        <p:spPr>
          <a:xfrm>
            <a:off x="457200" y="3886200"/>
            <a:ext cx="256032" cy="1097280"/>
          </a:xfrm>
          <a:prstGeom prst="rect">
            <a:avLst/>
          </a:prstGeom>
          <a:solidFill>
            <a:srgbClr val="008B8B"/>
          </a:solidFill>
          <a:ln w="12700">
            <a:solidFill>
              <a:srgbClr val="008B8B"/>
            </a:solidFill>
            <a:prstDash val="solid"/>
          </a:ln>
        </p:spPr>
      </p:sp>
      <p:sp>
        <p:nvSpPr>
          <p:cNvPr id="11" name="Text 9"/>
          <p:cNvSpPr/>
          <p:nvPr/>
        </p:nvSpPr>
        <p:spPr>
          <a:xfrm>
            <a:off x="777240" y="3886200"/>
            <a:ext cx="1280160" cy="1097280"/>
          </a:xfrm>
          <a:prstGeom prst="rect">
            <a:avLst/>
          </a:prstGeom>
          <a:noFill/>
          <a:ln/>
        </p:spPr>
        <p:txBody>
          <a:bodyPr wrap="square" lIns="0" tIns="0" rIns="0" bIns="0" rtlCol="0" anchor="ctr"/>
          <a:lstStyle/>
          <a:p>
            <a:pPr indent="0" marL="0">
              <a:buNone/>
            </a:pPr>
            <a:r>
              <a:rPr lang="en-US" sz="1000" b="1" spc="300" kern="0" dirty="0">
                <a:solidFill>
                  <a:srgbClr val="008B8B"/>
                </a:solidFill>
                <a:latin typeface="Arial" pitchFamily="34" charset="0"/>
                <a:ea typeface="Arial" pitchFamily="34" charset="-122"/>
                <a:cs typeface="Arial" pitchFamily="34" charset="-120"/>
              </a:rPr>
              <a:t>SILICON</a:t>
            </a:r>
            <a:endParaRPr lang="en-US" sz="1000" dirty="0"/>
          </a:p>
        </p:txBody>
      </p:sp>
      <p:sp>
        <p:nvSpPr>
          <p:cNvPr id="12" name="Shape 10"/>
          <p:cNvSpPr/>
          <p:nvPr/>
        </p:nvSpPr>
        <p:spPr>
          <a:xfrm>
            <a:off x="457200" y="5029200"/>
            <a:ext cx="256032" cy="731520"/>
          </a:xfrm>
          <a:prstGeom prst="rect">
            <a:avLst/>
          </a:prstGeom>
          <a:solidFill>
            <a:srgbClr val="666666"/>
          </a:solidFill>
          <a:ln w="12700">
            <a:solidFill>
              <a:srgbClr val="666666"/>
            </a:solidFill>
            <a:prstDash val="solid"/>
          </a:ln>
        </p:spPr>
      </p:sp>
      <p:sp>
        <p:nvSpPr>
          <p:cNvPr id="13" name="Text 11"/>
          <p:cNvSpPr/>
          <p:nvPr/>
        </p:nvSpPr>
        <p:spPr>
          <a:xfrm>
            <a:off x="777240" y="5029200"/>
            <a:ext cx="1280160" cy="731520"/>
          </a:xfrm>
          <a:prstGeom prst="rect">
            <a:avLst/>
          </a:prstGeom>
          <a:noFill/>
          <a:ln/>
        </p:spPr>
        <p:txBody>
          <a:bodyPr wrap="square" lIns="0" tIns="0" rIns="0" bIns="0" rtlCol="0" anchor="ctr"/>
          <a:lstStyle/>
          <a:p>
            <a:pPr indent="0" marL="0">
              <a:buNone/>
            </a:pPr>
            <a:r>
              <a:rPr lang="en-US" sz="1000" b="1" spc="300" kern="0" dirty="0">
                <a:solidFill>
                  <a:srgbClr val="666666"/>
                </a:solidFill>
                <a:latin typeface="Arial" pitchFamily="34" charset="0"/>
                <a:ea typeface="Arial" pitchFamily="34" charset="-122"/>
                <a:cs typeface="Arial" pitchFamily="34" charset="-120"/>
              </a:rPr>
              <a:t>MATERIALS</a:t>
            </a:r>
            <a:endParaRPr lang="en-US" sz="1000" dirty="0"/>
          </a:p>
        </p:txBody>
      </p:sp>
      <p:sp>
        <p:nvSpPr>
          <p:cNvPr id="14" name="Shape 12"/>
          <p:cNvSpPr/>
          <p:nvPr/>
        </p:nvSpPr>
        <p:spPr>
          <a:xfrm>
            <a:off x="2103120" y="1645920"/>
            <a:ext cx="6583680" cy="320040"/>
          </a:xfrm>
          <a:prstGeom prst="rect">
            <a:avLst/>
          </a:prstGeom>
          <a:solidFill>
            <a:srgbClr val="F9F9F9"/>
          </a:solidFill>
          <a:ln w="3810">
            <a:solidFill>
              <a:srgbClr val="E5E5E5"/>
            </a:solidFill>
            <a:prstDash val="solid"/>
          </a:ln>
        </p:spPr>
      </p:sp>
      <p:sp>
        <p:nvSpPr>
          <p:cNvPr id="15" name="Shape 13"/>
          <p:cNvSpPr/>
          <p:nvPr/>
        </p:nvSpPr>
        <p:spPr>
          <a:xfrm>
            <a:off x="2240280" y="1737360"/>
            <a:ext cx="137160" cy="137160"/>
          </a:xfrm>
          <a:prstGeom prst="ellipse">
            <a:avLst/>
          </a:prstGeom>
          <a:solidFill>
            <a:srgbClr val="F6693D"/>
          </a:solidFill>
          <a:ln w="12700">
            <a:solidFill>
              <a:srgbClr val="F6693D"/>
            </a:solidFill>
            <a:prstDash val="solid"/>
          </a:ln>
        </p:spPr>
      </p:sp>
      <p:sp>
        <p:nvSpPr>
          <p:cNvPr id="16" name="Text 14"/>
          <p:cNvSpPr/>
          <p:nvPr/>
        </p:nvSpPr>
        <p:spPr>
          <a:xfrm>
            <a:off x="2468880" y="1645920"/>
            <a:ext cx="2103120" cy="320040"/>
          </a:xfrm>
          <a:prstGeom prst="rect">
            <a:avLst/>
          </a:prstGeom>
          <a:noFill/>
          <a:ln/>
        </p:spPr>
        <p:txBody>
          <a:bodyPr wrap="square" lIns="0" tIns="0" rIns="0" bIns="0" rtlCol="0" anchor="ctr"/>
          <a:lstStyle/>
          <a:p>
            <a:pPr indent="0" marL="0">
              <a:buNone/>
            </a:pPr>
            <a:r>
              <a:rPr lang="en-US" sz="1200" b="1" dirty="0">
                <a:solidFill>
                  <a:srgbClr val="000000"/>
                </a:solidFill>
                <a:latin typeface="Arial" pitchFamily="34" charset="0"/>
                <a:ea typeface="Arial" pitchFamily="34" charset="-122"/>
                <a:cs typeface="Arial" pitchFamily="34" charset="-120"/>
              </a:rPr>
              <a:t>Agents</a:t>
            </a:r>
            <a:endParaRPr lang="en-US" sz="1200" dirty="0"/>
          </a:p>
        </p:txBody>
      </p:sp>
      <p:sp>
        <p:nvSpPr>
          <p:cNvPr id="17" name="Text 15"/>
          <p:cNvSpPr/>
          <p:nvPr/>
        </p:nvSpPr>
        <p:spPr>
          <a:xfrm>
            <a:off x="4572000" y="1645920"/>
            <a:ext cx="4023360" cy="320040"/>
          </a:xfrm>
          <a:prstGeom prst="rect">
            <a:avLst/>
          </a:prstGeom>
          <a:noFill/>
          <a:ln/>
        </p:spPr>
        <p:txBody>
          <a:bodyPr wrap="square" lIns="0" tIns="0" rIns="0" bIns="0" rtlCol="0" anchor="ctr"/>
          <a:lstStyle/>
          <a:p>
            <a:pPr indent="0" marL="0">
              <a:buNone/>
            </a:pPr>
            <a:r>
              <a:rPr lang="en-US" sz="1050" dirty="0">
                <a:solidFill>
                  <a:srgbClr val="333333"/>
                </a:solidFill>
                <a:latin typeface="Arial" pitchFamily="34" charset="0"/>
                <a:ea typeface="Arial" pitchFamily="34" charset="-122"/>
                <a:cs typeface="Arial" pitchFamily="34" charset="-120"/>
              </a:rPr>
              <a:t>Autonomous AI that acts on your behalf</a:t>
            </a:r>
            <a:endParaRPr lang="en-US" sz="1050" dirty="0"/>
          </a:p>
        </p:txBody>
      </p:sp>
      <p:sp>
        <p:nvSpPr>
          <p:cNvPr id="18" name="Shape 16"/>
          <p:cNvSpPr/>
          <p:nvPr/>
        </p:nvSpPr>
        <p:spPr>
          <a:xfrm>
            <a:off x="2103120" y="2011680"/>
            <a:ext cx="6583680" cy="320040"/>
          </a:xfrm>
          <a:prstGeom prst="rect">
            <a:avLst/>
          </a:prstGeom>
          <a:solidFill>
            <a:srgbClr val="F9F9F9"/>
          </a:solidFill>
          <a:ln w="3810">
            <a:solidFill>
              <a:srgbClr val="E5E5E5"/>
            </a:solidFill>
            <a:prstDash val="solid"/>
          </a:ln>
        </p:spPr>
      </p:sp>
      <p:sp>
        <p:nvSpPr>
          <p:cNvPr id="19" name="Shape 17"/>
          <p:cNvSpPr/>
          <p:nvPr/>
        </p:nvSpPr>
        <p:spPr>
          <a:xfrm>
            <a:off x="2240280" y="2103120"/>
            <a:ext cx="137160" cy="137160"/>
          </a:xfrm>
          <a:prstGeom prst="ellipse">
            <a:avLst/>
          </a:prstGeom>
          <a:solidFill>
            <a:srgbClr val="F6693D"/>
          </a:solidFill>
          <a:ln w="12700">
            <a:solidFill>
              <a:srgbClr val="F6693D"/>
            </a:solidFill>
            <a:prstDash val="solid"/>
          </a:ln>
        </p:spPr>
      </p:sp>
      <p:sp>
        <p:nvSpPr>
          <p:cNvPr id="20" name="Text 18"/>
          <p:cNvSpPr/>
          <p:nvPr/>
        </p:nvSpPr>
        <p:spPr>
          <a:xfrm>
            <a:off x="2468880" y="2011680"/>
            <a:ext cx="2103120" cy="320040"/>
          </a:xfrm>
          <a:prstGeom prst="rect">
            <a:avLst/>
          </a:prstGeom>
          <a:noFill/>
          <a:ln/>
        </p:spPr>
        <p:txBody>
          <a:bodyPr wrap="square" lIns="0" tIns="0" rIns="0" bIns="0" rtlCol="0" anchor="ctr"/>
          <a:lstStyle/>
          <a:p>
            <a:pPr indent="0" marL="0">
              <a:buNone/>
            </a:pPr>
            <a:r>
              <a:rPr lang="en-US" sz="1200" b="1" dirty="0">
                <a:solidFill>
                  <a:srgbClr val="000000"/>
                </a:solidFill>
                <a:latin typeface="Arial" pitchFamily="34" charset="0"/>
                <a:ea typeface="Arial" pitchFamily="34" charset="-122"/>
                <a:cs typeface="Arial" pitchFamily="34" charset="-120"/>
              </a:rPr>
              <a:t>Apps</a:t>
            </a:r>
            <a:endParaRPr lang="en-US" sz="1200" dirty="0"/>
          </a:p>
        </p:txBody>
      </p:sp>
      <p:sp>
        <p:nvSpPr>
          <p:cNvPr id="21" name="Text 19"/>
          <p:cNvSpPr/>
          <p:nvPr/>
        </p:nvSpPr>
        <p:spPr>
          <a:xfrm>
            <a:off x="4572000" y="2011680"/>
            <a:ext cx="4023360" cy="320040"/>
          </a:xfrm>
          <a:prstGeom prst="rect">
            <a:avLst/>
          </a:prstGeom>
          <a:noFill/>
          <a:ln/>
        </p:spPr>
        <p:txBody>
          <a:bodyPr wrap="square" lIns="0" tIns="0" rIns="0" bIns="0" rtlCol="0" anchor="ctr"/>
          <a:lstStyle/>
          <a:p>
            <a:pPr indent="0" marL="0">
              <a:buNone/>
            </a:pPr>
            <a:r>
              <a:rPr lang="en-US" sz="1050" dirty="0">
                <a:solidFill>
                  <a:srgbClr val="333333"/>
                </a:solidFill>
                <a:latin typeface="Arial" pitchFamily="34" charset="0"/>
                <a:ea typeface="Arial" pitchFamily="34" charset="-122"/>
                <a:cs typeface="Arial" pitchFamily="34" charset="-120"/>
              </a:rPr>
              <a:t>Products built on foundation models</a:t>
            </a:r>
            <a:endParaRPr lang="en-US" sz="1050" dirty="0"/>
          </a:p>
        </p:txBody>
      </p:sp>
      <p:sp>
        <p:nvSpPr>
          <p:cNvPr id="22" name="Shape 20"/>
          <p:cNvSpPr/>
          <p:nvPr/>
        </p:nvSpPr>
        <p:spPr>
          <a:xfrm>
            <a:off x="2103120" y="2377440"/>
            <a:ext cx="6583680" cy="320040"/>
          </a:xfrm>
          <a:prstGeom prst="rect">
            <a:avLst/>
          </a:prstGeom>
          <a:solidFill>
            <a:srgbClr val="F9F9F9"/>
          </a:solidFill>
          <a:ln w="3810">
            <a:solidFill>
              <a:srgbClr val="E5E5E5"/>
            </a:solidFill>
            <a:prstDash val="solid"/>
          </a:ln>
        </p:spPr>
      </p:sp>
      <p:sp>
        <p:nvSpPr>
          <p:cNvPr id="23" name="Shape 21"/>
          <p:cNvSpPr/>
          <p:nvPr/>
        </p:nvSpPr>
        <p:spPr>
          <a:xfrm>
            <a:off x="2240280" y="2468880"/>
            <a:ext cx="137160" cy="137160"/>
          </a:xfrm>
          <a:prstGeom prst="ellipse">
            <a:avLst/>
          </a:prstGeom>
          <a:solidFill>
            <a:srgbClr val="F6693D"/>
          </a:solidFill>
          <a:ln w="12700">
            <a:solidFill>
              <a:srgbClr val="F6693D"/>
            </a:solidFill>
            <a:prstDash val="solid"/>
          </a:ln>
        </p:spPr>
      </p:sp>
      <p:sp>
        <p:nvSpPr>
          <p:cNvPr id="24" name="Text 22"/>
          <p:cNvSpPr/>
          <p:nvPr/>
        </p:nvSpPr>
        <p:spPr>
          <a:xfrm>
            <a:off x="2468880" y="2377440"/>
            <a:ext cx="2103120" cy="320040"/>
          </a:xfrm>
          <a:prstGeom prst="rect">
            <a:avLst/>
          </a:prstGeom>
          <a:noFill/>
          <a:ln/>
        </p:spPr>
        <p:txBody>
          <a:bodyPr wrap="square" lIns="0" tIns="0" rIns="0" bIns="0" rtlCol="0" anchor="ctr"/>
          <a:lstStyle/>
          <a:p>
            <a:pPr indent="0" marL="0">
              <a:buNone/>
            </a:pPr>
            <a:r>
              <a:rPr lang="en-US" sz="1200" b="1" dirty="0">
                <a:solidFill>
                  <a:srgbClr val="000000"/>
                </a:solidFill>
                <a:latin typeface="Arial" pitchFamily="34" charset="0"/>
                <a:ea typeface="Arial" pitchFamily="34" charset="-122"/>
                <a:cs typeface="Arial" pitchFamily="34" charset="-120"/>
              </a:rPr>
              <a:t>Models</a:t>
            </a:r>
            <a:endParaRPr lang="en-US" sz="1200" dirty="0"/>
          </a:p>
        </p:txBody>
      </p:sp>
      <p:sp>
        <p:nvSpPr>
          <p:cNvPr id="25" name="Text 23"/>
          <p:cNvSpPr/>
          <p:nvPr/>
        </p:nvSpPr>
        <p:spPr>
          <a:xfrm>
            <a:off x="4572000" y="2377440"/>
            <a:ext cx="4023360" cy="320040"/>
          </a:xfrm>
          <a:prstGeom prst="rect">
            <a:avLst/>
          </a:prstGeom>
          <a:noFill/>
          <a:ln/>
        </p:spPr>
        <p:txBody>
          <a:bodyPr wrap="square" lIns="0" tIns="0" rIns="0" bIns="0" rtlCol="0" anchor="ctr"/>
          <a:lstStyle/>
          <a:p>
            <a:pPr indent="0" marL="0">
              <a:buNone/>
            </a:pPr>
            <a:r>
              <a:rPr lang="en-US" sz="1050" dirty="0">
                <a:solidFill>
                  <a:srgbClr val="333333"/>
                </a:solidFill>
                <a:latin typeface="Arial" pitchFamily="34" charset="0"/>
                <a:ea typeface="Arial" pitchFamily="34" charset="-122"/>
                <a:cs typeface="Arial" pitchFamily="34" charset="-120"/>
              </a:rPr>
              <a:t>The intelligence layer</a:t>
            </a:r>
            <a:endParaRPr lang="en-US" sz="1050" dirty="0"/>
          </a:p>
        </p:txBody>
      </p:sp>
      <p:sp>
        <p:nvSpPr>
          <p:cNvPr id="26" name="Shape 24"/>
          <p:cNvSpPr/>
          <p:nvPr/>
        </p:nvSpPr>
        <p:spPr>
          <a:xfrm>
            <a:off x="2103120" y="2788920"/>
            <a:ext cx="6583680" cy="320040"/>
          </a:xfrm>
          <a:prstGeom prst="rect">
            <a:avLst/>
          </a:prstGeom>
          <a:solidFill>
            <a:srgbClr val="F9F9F9"/>
          </a:solidFill>
          <a:ln w="3810">
            <a:solidFill>
              <a:srgbClr val="E5E5E5"/>
            </a:solidFill>
            <a:prstDash val="solid"/>
          </a:ln>
        </p:spPr>
      </p:sp>
      <p:sp>
        <p:nvSpPr>
          <p:cNvPr id="27" name="Shape 25"/>
          <p:cNvSpPr/>
          <p:nvPr/>
        </p:nvSpPr>
        <p:spPr>
          <a:xfrm>
            <a:off x="2240280" y="2880360"/>
            <a:ext cx="137160" cy="137160"/>
          </a:xfrm>
          <a:prstGeom prst="ellipse">
            <a:avLst/>
          </a:prstGeom>
          <a:solidFill>
            <a:srgbClr val="FFB800"/>
          </a:solidFill>
          <a:ln w="12700">
            <a:solidFill>
              <a:srgbClr val="FFB800"/>
            </a:solidFill>
            <a:prstDash val="solid"/>
          </a:ln>
        </p:spPr>
      </p:sp>
      <p:sp>
        <p:nvSpPr>
          <p:cNvPr id="28" name="Text 26"/>
          <p:cNvSpPr/>
          <p:nvPr/>
        </p:nvSpPr>
        <p:spPr>
          <a:xfrm>
            <a:off x="2468880" y="2788920"/>
            <a:ext cx="2103120" cy="320040"/>
          </a:xfrm>
          <a:prstGeom prst="rect">
            <a:avLst/>
          </a:prstGeom>
          <a:noFill/>
          <a:ln/>
        </p:spPr>
        <p:txBody>
          <a:bodyPr wrap="square" lIns="0" tIns="0" rIns="0" bIns="0" rtlCol="0" anchor="ctr"/>
          <a:lstStyle/>
          <a:p>
            <a:pPr indent="0" marL="0">
              <a:buNone/>
            </a:pPr>
            <a:r>
              <a:rPr lang="en-US" sz="1200" b="1" dirty="0">
                <a:solidFill>
                  <a:srgbClr val="000000"/>
                </a:solidFill>
                <a:latin typeface="Arial" pitchFamily="34" charset="0"/>
                <a:ea typeface="Arial" pitchFamily="34" charset="-122"/>
                <a:cs typeface="Arial" pitchFamily="34" charset="-120"/>
              </a:rPr>
              <a:t>Data centers</a:t>
            </a:r>
            <a:endParaRPr lang="en-US" sz="1200" dirty="0"/>
          </a:p>
        </p:txBody>
      </p:sp>
      <p:sp>
        <p:nvSpPr>
          <p:cNvPr id="29" name="Text 27"/>
          <p:cNvSpPr/>
          <p:nvPr/>
        </p:nvSpPr>
        <p:spPr>
          <a:xfrm>
            <a:off x="4572000" y="2788920"/>
            <a:ext cx="4023360" cy="320040"/>
          </a:xfrm>
          <a:prstGeom prst="rect">
            <a:avLst/>
          </a:prstGeom>
          <a:noFill/>
          <a:ln/>
        </p:spPr>
        <p:txBody>
          <a:bodyPr wrap="square" lIns="0" tIns="0" rIns="0" bIns="0" rtlCol="0" anchor="ctr"/>
          <a:lstStyle/>
          <a:p>
            <a:pPr indent="0" marL="0">
              <a:buNone/>
            </a:pPr>
            <a:r>
              <a:rPr lang="en-US" sz="1050" dirty="0">
                <a:solidFill>
                  <a:srgbClr val="333333"/>
                </a:solidFill>
                <a:latin typeface="Arial" pitchFamily="34" charset="0"/>
                <a:ea typeface="Arial" pitchFamily="34" charset="-122"/>
                <a:cs typeface="Arial" pitchFamily="34" charset="-120"/>
              </a:rPr>
              <a:t>Warehouses of compute</a:t>
            </a:r>
            <a:endParaRPr lang="en-US" sz="1050" dirty="0"/>
          </a:p>
        </p:txBody>
      </p:sp>
      <p:sp>
        <p:nvSpPr>
          <p:cNvPr id="30" name="Shape 28"/>
          <p:cNvSpPr/>
          <p:nvPr/>
        </p:nvSpPr>
        <p:spPr>
          <a:xfrm>
            <a:off x="2103120" y="3154680"/>
            <a:ext cx="6583680" cy="320040"/>
          </a:xfrm>
          <a:prstGeom prst="rect">
            <a:avLst/>
          </a:prstGeom>
          <a:solidFill>
            <a:srgbClr val="F9F9F9"/>
          </a:solidFill>
          <a:ln w="3810">
            <a:solidFill>
              <a:srgbClr val="E5E5E5"/>
            </a:solidFill>
            <a:prstDash val="solid"/>
          </a:ln>
        </p:spPr>
      </p:sp>
      <p:sp>
        <p:nvSpPr>
          <p:cNvPr id="31" name="Shape 29"/>
          <p:cNvSpPr/>
          <p:nvPr/>
        </p:nvSpPr>
        <p:spPr>
          <a:xfrm>
            <a:off x="2240280" y="3246120"/>
            <a:ext cx="137160" cy="137160"/>
          </a:xfrm>
          <a:prstGeom prst="ellipse">
            <a:avLst/>
          </a:prstGeom>
          <a:solidFill>
            <a:srgbClr val="FFB800"/>
          </a:solidFill>
          <a:ln w="12700">
            <a:solidFill>
              <a:srgbClr val="FFB800"/>
            </a:solidFill>
            <a:prstDash val="solid"/>
          </a:ln>
        </p:spPr>
      </p:sp>
      <p:sp>
        <p:nvSpPr>
          <p:cNvPr id="32" name="Text 30"/>
          <p:cNvSpPr/>
          <p:nvPr/>
        </p:nvSpPr>
        <p:spPr>
          <a:xfrm>
            <a:off x="2468880" y="3154680"/>
            <a:ext cx="2103120" cy="320040"/>
          </a:xfrm>
          <a:prstGeom prst="rect">
            <a:avLst/>
          </a:prstGeom>
          <a:noFill/>
          <a:ln/>
        </p:spPr>
        <p:txBody>
          <a:bodyPr wrap="square" lIns="0" tIns="0" rIns="0" bIns="0" rtlCol="0" anchor="ctr"/>
          <a:lstStyle/>
          <a:p>
            <a:pPr indent="0" marL="0">
              <a:buNone/>
            </a:pPr>
            <a:r>
              <a:rPr lang="en-US" sz="1200" b="1" dirty="0">
                <a:solidFill>
                  <a:srgbClr val="000000"/>
                </a:solidFill>
                <a:latin typeface="Arial" pitchFamily="34" charset="0"/>
                <a:ea typeface="Arial" pitchFamily="34" charset="-122"/>
                <a:cs typeface="Arial" pitchFamily="34" charset="-120"/>
              </a:rPr>
              <a:t>Power</a:t>
            </a:r>
            <a:endParaRPr lang="en-US" sz="1200" dirty="0"/>
          </a:p>
        </p:txBody>
      </p:sp>
      <p:sp>
        <p:nvSpPr>
          <p:cNvPr id="33" name="Text 31"/>
          <p:cNvSpPr/>
          <p:nvPr/>
        </p:nvSpPr>
        <p:spPr>
          <a:xfrm>
            <a:off x="4572000" y="3154680"/>
            <a:ext cx="4023360" cy="320040"/>
          </a:xfrm>
          <a:prstGeom prst="rect">
            <a:avLst/>
          </a:prstGeom>
          <a:noFill/>
          <a:ln/>
        </p:spPr>
        <p:txBody>
          <a:bodyPr wrap="square" lIns="0" tIns="0" rIns="0" bIns="0" rtlCol="0" anchor="ctr"/>
          <a:lstStyle/>
          <a:p>
            <a:pPr indent="0" marL="0">
              <a:buNone/>
            </a:pPr>
            <a:r>
              <a:rPr lang="en-US" sz="1050" dirty="0">
                <a:solidFill>
                  <a:srgbClr val="333333"/>
                </a:solidFill>
                <a:latin typeface="Arial" pitchFamily="34" charset="0"/>
                <a:ea typeface="Arial" pitchFamily="34" charset="-122"/>
                <a:cs typeface="Arial" pitchFamily="34" charset="-120"/>
              </a:rPr>
              <a:t>The hidden constraint</a:t>
            </a:r>
            <a:endParaRPr lang="en-US" sz="1050" dirty="0"/>
          </a:p>
        </p:txBody>
      </p:sp>
      <p:sp>
        <p:nvSpPr>
          <p:cNvPr id="34" name="Shape 32"/>
          <p:cNvSpPr/>
          <p:nvPr/>
        </p:nvSpPr>
        <p:spPr>
          <a:xfrm>
            <a:off x="2103120" y="3520440"/>
            <a:ext cx="6583680" cy="320040"/>
          </a:xfrm>
          <a:prstGeom prst="rect">
            <a:avLst/>
          </a:prstGeom>
          <a:solidFill>
            <a:srgbClr val="F9F9F9"/>
          </a:solidFill>
          <a:ln w="3810">
            <a:solidFill>
              <a:srgbClr val="E5E5E5"/>
            </a:solidFill>
            <a:prstDash val="solid"/>
          </a:ln>
        </p:spPr>
      </p:sp>
      <p:sp>
        <p:nvSpPr>
          <p:cNvPr id="35" name="Shape 33"/>
          <p:cNvSpPr/>
          <p:nvPr/>
        </p:nvSpPr>
        <p:spPr>
          <a:xfrm>
            <a:off x="2240280" y="3611880"/>
            <a:ext cx="137160" cy="137160"/>
          </a:xfrm>
          <a:prstGeom prst="ellipse">
            <a:avLst/>
          </a:prstGeom>
          <a:solidFill>
            <a:srgbClr val="FFB800"/>
          </a:solidFill>
          <a:ln w="12700">
            <a:solidFill>
              <a:srgbClr val="FFB800"/>
            </a:solidFill>
            <a:prstDash val="solid"/>
          </a:ln>
        </p:spPr>
      </p:sp>
      <p:sp>
        <p:nvSpPr>
          <p:cNvPr id="36" name="Text 34"/>
          <p:cNvSpPr/>
          <p:nvPr/>
        </p:nvSpPr>
        <p:spPr>
          <a:xfrm>
            <a:off x="2468880" y="3520440"/>
            <a:ext cx="2103120" cy="320040"/>
          </a:xfrm>
          <a:prstGeom prst="rect">
            <a:avLst/>
          </a:prstGeom>
          <a:noFill/>
          <a:ln/>
        </p:spPr>
        <p:txBody>
          <a:bodyPr wrap="square" lIns="0" tIns="0" rIns="0" bIns="0" rtlCol="0" anchor="ctr"/>
          <a:lstStyle/>
          <a:p>
            <a:pPr indent="0" marL="0">
              <a:buNone/>
            </a:pPr>
            <a:r>
              <a:rPr lang="en-US" sz="1200" b="1" dirty="0">
                <a:solidFill>
                  <a:srgbClr val="000000"/>
                </a:solidFill>
                <a:latin typeface="Arial" pitchFamily="34" charset="0"/>
                <a:ea typeface="Arial" pitchFamily="34" charset="-122"/>
                <a:cs typeface="Arial" pitchFamily="34" charset="-120"/>
              </a:rPr>
              <a:t>Networking</a:t>
            </a:r>
            <a:endParaRPr lang="en-US" sz="1200" dirty="0"/>
          </a:p>
        </p:txBody>
      </p:sp>
      <p:sp>
        <p:nvSpPr>
          <p:cNvPr id="37" name="Text 35"/>
          <p:cNvSpPr/>
          <p:nvPr/>
        </p:nvSpPr>
        <p:spPr>
          <a:xfrm>
            <a:off x="4572000" y="3520440"/>
            <a:ext cx="4023360" cy="320040"/>
          </a:xfrm>
          <a:prstGeom prst="rect">
            <a:avLst/>
          </a:prstGeom>
          <a:noFill/>
          <a:ln/>
        </p:spPr>
        <p:txBody>
          <a:bodyPr wrap="square" lIns="0" tIns="0" rIns="0" bIns="0" rtlCol="0" anchor="ctr"/>
          <a:lstStyle/>
          <a:p>
            <a:pPr indent="0" marL="0">
              <a:buNone/>
            </a:pPr>
            <a:r>
              <a:rPr lang="en-US" sz="1050" dirty="0">
                <a:solidFill>
                  <a:srgbClr val="333333"/>
                </a:solidFill>
                <a:latin typeface="Arial" pitchFamily="34" charset="0"/>
                <a:ea typeface="Arial" pitchFamily="34" charset="-122"/>
                <a:cs typeface="Arial" pitchFamily="34" charset="-120"/>
              </a:rPr>
              <a:t>Moving data at terabit speed</a:t>
            </a:r>
            <a:endParaRPr lang="en-US" sz="1050" dirty="0"/>
          </a:p>
        </p:txBody>
      </p:sp>
      <p:sp>
        <p:nvSpPr>
          <p:cNvPr id="38" name="Shape 36"/>
          <p:cNvSpPr/>
          <p:nvPr/>
        </p:nvSpPr>
        <p:spPr>
          <a:xfrm>
            <a:off x="2103120" y="3931920"/>
            <a:ext cx="6583680" cy="320040"/>
          </a:xfrm>
          <a:prstGeom prst="rect">
            <a:avLst/>
          </a:prstGeom>
          <a:solidFill>
            <a:srgbClr val="F9F9F9"/>
          </a:solidFill>
          <a:ln w="3810">
            <a:solidFill>
              <a:srgbClr val="E5E5E5"/>
            </a:solidFill>
            <a:prstDash val="solid"/>
          </a:ln>
        </p:spPr>
      </p:sp>
      <p:sp>
        <p:nvSpPr>
          <p:cNvPr id="39" name="Shape 37"/>
          <p:cNvSpPr/>
          <p:nvPr/>
        </p:nvSpPr>
        <p:spPr>
          <a:xfrm>
            <a:off x="2240280" y="4023360"/>
            <a:ext cx="137160" cy="137160"/>
          </a:xfrm>
          <a:prstGeom prst="ellipse">
            <a:avLst/>
          </a:prstGeom>
          <a:solidFill>
            <a:srgbClr val="008B8B"/>
          </a:solidFill>
          <a:ln w="12700">
            <a:solidFill>
              <a:srgbClr val="008B8B"/>
            </a:solidFill>
            <a:prstDash val="solid"/>
          </a:ln>
        </p:spPr>
      </p:sp>
      <p:sp>
        <p:nvSpPr>
          <p:cNvPr id="40" name="Text 38"/>
          <p:cNvSpPr/>
          <p:nvPr/>
        </p:nvSpPr>
        <p:spPr>
          <a:xfrm>
            <a:off x="2468880" y="3931920"/>
            <a:ext cx="2103120" cy="320040"/>
          </a:xfrm>
          <a:prstGeom prst="rect">
            <a:avLst/>
          </a:prstGeom>
          <a:noFill/>
          <a:ln/>
        </p:spPr>
        <p:txBody>
          <a:bodyPr wrap="square" lIns="0" tIns="0" rIns="0" bIns="0" rtlCol="0" anchor="ctr"/>
          <a:lstStyle/>
          <a:p>
            <a:pPr indent="0" marL="0">
              <a:buNone/>
            </a:pPr>
            <a:r>
              <a:rPr lang="en-US" sz="1200" b="1" dirty="0">
                <a:solidFill>
                  <a:srgbClr val="000000"/>
                </a:solidFill>
                <a:latin typeface="Arial" pitchFamily="34" charset="0"/>
                <a:ea typeface="Arial" pitchFamily="34" charset="-122"/>
                <a:cs typeface="Arial" pitchFamily="34" charset="-120"/>
              </a:rPr>
              <a:t>Packaging</a:t>
            </a:r>
            <a:endParaRPr lang="en-US" sz="1200" dirty="0"/>
          </a:p>
        </p:txBody>
      </p:sp>
      <p:sp>
        <p:nvSpPr>
          <p:cNvPr id="41" name="Text 39"/>
          <p:cNvSpPr/>
          <p:nvPr/>
        </p:nvSpPr>
        <p:spPr>
          <a:xfrm>
            <a:off x="4572000" y="3931920"/>
            <a:ext cx="4023360" cy="320040"/>
          </a:xfrm>
          <a:prstGeom prst="rect">
            <a:avLst/>
          </a:prstGeom>
          <a:noFill/>
          <a:ln/>
        </p:spPr>
        <p:txBody>
          <a:bodyPr wrap="square" lIns="0" tIns="0" rIns="0" bIns="0" rtlCol="0" anchor="ctr"/>
          <a:lstStyle/>
          <a:p>
            <a:pPr indent="0" marL="0">
              <a:buNone/>
            </a:pPr>
            <a:r>
              <a:rPr lang="en-US" sz="1050" dirty="0">
                <a:solidFill>
                  <a:srgbClr val="333333"/>
                </a:solidFill>
                <a:latin typeface="Arial" pitchFamily="34" charset="0"/>
                <a:ea typeface="Arial" pitchFamily="34" charset="-122"/>
                <a:cs typeface="Arial" pitchFamily="34" charset="-120"/>
              </a:rPr>
              <a:t>Stacking chiplets (CoWoS, HBM)</a:t>
            </a:r>
            <a:endParaRPr lang="en-US" sz="1050" dirty="0"/>
          </a:p>
        </p:txBody>
      </p:sp>
      <p:sp>
        <p:nvSpPr>
          <p:cNvPr id="42" name="Shape 40"/>
          <p:cNvSpPr/>
          <p:nvPr/>
        </p:nvSpPr>
        <p:spPr>
          <a:xfrm>
            <a:off x="2103120" y="4297680"/>
            <a:ext cx="6583680" cy="320040"/>
          </a:xfrm>
          <a:prstGeom prst="rect">
            <a:avLst/>
          </a:prstGeom>
          <a:solidFill>
            <a:srgbClr val="F9F9F9"/>
          </a:solidFill>
          <a:ln w="3810">
            <a:solidFill>
              <a:srgbClr val="E5E5E5"/>
            </a:solidFill>
            <a:prstDash val="solid"/>
          </a:ln>
        </p:spPr>
      </p:sp>
      <p:sp>
        <p:nvSpPr>
          <p:cNvPr id="43" name="Shape 41"/>
          <p:cNvSpPr/>
          <p:nvPr/>
        </p:nvSpPr>
        <p:spPr>
          <a:xfrm>
            <a:off x="2240280" y="4389120"/>
            <a:ext cx="137160" cy="137160"/>
          </a:xfrm>
          <a:prstGeom prst="ellipse">
            <a:avLst/>
          </a:prstGeom>
          <a:solidFill>
            <a:srgbClr val="008B8B"/>
          </a:solidFill>
          <a:ln w="12700">
            <a:solidFill>
              <a:srgbClr val="008B8B"/>
            </a:solidFill>
            <a:prstDash val="solid"/>
          </a:ln>
        </p:spPr>
      </p:sp>
      <p:sp>
        <p:nvSpPr>
          <p:cNvPr id="44" name="Text 42"/>
          <p:cNvSpPr/>
          <p:nvPr/>
        </p:nvSpPr>
        <p:spPr>
          <a:xfrm>
            <a:off x="2468880" y="4297680"/>
            <a:ext cx="2103120" cy="320040"/>
          </a:xfrm>
          <a:prstGeom prst="rect">
            <a:avLst/>
          </a:prstGeom>
          <a:noFill/>
          <a:ln/>
        </p:spPr>
        <p:txBody>
          <a:bodyPr wrap="square" lIns="0" tIns="0" rIns="0" bIns="0" rtlCol="0" anchor="ctr"/>
          <a:lstStyle/>
          <a:p>
            <a:pPr indent="0" marL="0">
              <a:buNone/>
            </a:pPr>
            <a:r>
              <a:rPr lang="en-US" sz="1200" b="1" dirty="0">
                <a:solidFill>
                  <a:srgbClr val="000000"/>
                </a:solidFill>
                <a:latin typeface="Arial" pitchFamily="34" charset="0"/>
                <a:ea typeface="Arial" pitchFamily="34" charset="-122"/>
                <a:cs typeface="Arial" pitchFamily="34" charset="-120"/>
              </a:rPr>
              <a:t>Chip design</a:t>
            </a:r>
            <a:endParaRPr lang="en-US" sz="1200" dirty="0"/>
          </a:p>
        </p:txBody>
      </p:sp>
      <p:sp>
        <p:nvSpPr>
          <p:cNvPr id="45" name="Text 43"/>
          <p:cNvSpPr/>
          <p:nvPr/>
        </p:nvSpPr>
        <p:spPr>
          <a:xfrm>
            <a:off x="4572000" y="4297680"/>
            <a:ext cx="4023360" cy="320040"/>
          </a:xfrm>
          <a:prstGeom prst="rect">
            <a:avLst/>
          </a:prstGeom>
          <a:noFill/>
          <a:ln/>
        </p:spPr>
        <p:txBody>
          <a:bodyPr wrap="square" lIns="0" tIns="0" rIns="0" bIns="0" rtlCol="0" anchor="ctr"/>
          <a:lstStyle/>
          <a:p>
            <a:pPr indent="0" marL="0">
              <a:buNone/>
            </a:pPr>
            <a:r>
              <a:rPr lang="en-US" sz="1050" dirty="0">
                <a:solidFill>
                  <a:srgbClr val="333333"/>
                </a:solidFill>
                <a:latin typeface="Arial" pitchFamily="34" charset="0"/>
                <a:ea typeface="Arial" pitchFamily="34" charset="-122"/>
                <a:cs typeface="Arial" pitchFamily="34" charset="-120"/>
              </a:rPr>
              <a:t>GPUs, TPUs, ASICs</a:t>
            </a:r>
            <a:endParaRPr lang="en-US" sz="1050" dirty="0"/>
          </a:p>
        </p:txBody>
      </p:sp>
      <p:sp>
        <p:nvSpPr>
          <p:cNvPr id="46" name="Shape 44"/>
          <p:cNvSpPr/>
          <p:nvPr/>
        </p:nvSpPr>
        <p:spPr>
          <a:xfrm>
            <a:off x="2103120" y="4663440"/>
            <a:ext cx="6583680" cy="320040"/>
          </a:xfrm>
          <a:prstGeom prst="rect">
            <a:avLst/>
          </a:prstGeom>
          <a:solidFill>
            <a:srgbClr val="F9F9F9"/>
          </a:solidFill>
          <a:ln w="3810">
            <a:solidFill>
              <a:srgbClr val="E5E5E5"/>
            </a:solidFill>
            <a:prstDash val="solid"/>
          </a:ln>
        </p:spPr>
      </p:sp>
      <p:sp>
        <p:nvSpPr>
          <p:cNvPr id="47" name="Shape 45"/>
          <p:cNvSpPr/>
          <p:nvPr/>
        </p:nvSpPr>
        <p:spPr>
          <a:xfrm>
            <a:off x="2240280" y="4754880"/>
            <a:ext cx="137160" cy="137160"/>
          </a:xfrm>
          <a:prstGeom prst="ellipse">
            <a:avLst/>
          </a:prstGeom>
          <a:solidFill>
            <a:srgbClr val="008B8B"/>
          </a:solidFill>
          <a:ln w="12700">
            <a:solidFill>
              <a:srgbClr val="008B8B"/>
            </a:solidFill>
            <a:prstDash val="solid"/>
          </a:ln>
        </p:spPr>
      </p:sp>
      <p:sp>
        <p:nvSpPr>
          <p:cNvPr id="48" name="Text 46"/>
          <p:cNvSpPr/>
          <p:nvPr/>
        </p:nvSpPr>
        <p:spPr>
          <a:xfrm>
            <a:off x="2468880" y="4663440"/>
            <a:ext cx="2103120" cy="320040"/>
          </a:xfrm>
          <a:prstGeom prst="rect">
            <a:avLst/>
          </a:prstGeom>
          <a:noFill/>
          <a:ln/>
        </p:spPr>
        <p:txBody>
          <a:bodyPr wrap="square" lIns="0" tIns="0" rIns="0" bIns="0" rtlCol="0" anchor="ctr"/>
          <a:lstStyle/>
          <a:p>
            <a:pPr indent="0" marL="0">
              <a:buNone/>
            </a:pPr>
            <a:r>
              <a:rPr lang="en-US" sz="1200" b="1" dirty="0">
                <a:solidFill>
                  <a:srgbClr val="000000"/>
                </a:solidFill>
                <a:latin typeface="Arial" pitchFamily="34" charset="0"/>
                <a:ea typeface="Arial" pitchFamily="34" charset="-122"/>
                <a:cs typeface="Arial" pitchFamily="34" charset="-120"/>
              </a:rPr>
              <a:t>Foundry</a:t>
            </a:r>
            <a:endParaRPr lang="en-US" sz="1200" dirty="0"/>
          </a:p>
        </p:txBody>
      </p:sp>
      <p:sp>
        <p:nvSpPr>
          <p:cNvPr id="49" name="Text 47"/>
          <p:cNvSpPr/>
          <p:nvPr/>
        </p:nvSpPr>
        <p:spPr>
          <a:xfrm>
            <a:off x="4572000" y="4663440"/>
            <a:ext cx="4023360" cy="320040"/>
          </a:xfrm>
          <a:prstGeom prst="rect">
            <a:avLst/>
          </a:prstGeom>
          <a:noFill/>
          <a:ln/>
        </p:spPr>
        <p:txBody>
          <a:bodyPr wrap="square" lIns="0" tIns="0" rIns="0" bIns="0" rtlCol="0" anchor="ctr"/>
          <a:lstStyle/>
          <a:p>
            <a:pPr indent="0" marL="0">
              <a:buNone/>
            </a:pPr>
            <a:r>
              <a:rPr lang="en-US" sz="1050" dirty="0">
                <a:solidFill>
                  <a:srgbClr val="333333"/>
                </a:solidFill>
                <a:latin typeface="Arial" pitchFamily="34" charset="0"/>
                <a:ea typeface="Arial" pitchFamily="34" charset="-122"/>
                <a:cs typeface="Arial" pitchFamily="34" charset="-120"/>
              </a:rPr>
              <a:t>Fabricating at nanometer scale</a:t>
            </a:r>
            <a:endParaRPr lang="en-US" sz="1050" dirty="0"/>
          </a:p>
        </p:txBody>
      </p:sp>
      <p:sp>
        <p:nvSpPr>
          <p:cNvPr id="50" name="Shape 48"/>
          <p:cNvSpPr/>
          <p:nvPr/>
        </p:nvSpPr>
        <p:spPr>
          <a:xfrm>
            <a:off x="2103120" y="5074920"/>
            <a:ext cx="6583680" cy="320040"/>
          </a:xfrm>
          <a:prstGeom prst="rect">
            <a:avLst/>
          </a:prstGeom>
          <a:solidFill>
            <a:srgbClr val="F9F9F9"/>
          </a:solidFill>
          <a:ln w="3810">
            <a:solidFill>
              <a:srgbClr val="E5E5E5"/>
            </a:solidFill>
            <a:prstDash val="solid"/>
          </a:ln>
        </p:spPr>
      </p:sp>
      <p:sp>
        <p:nvSpPr>
          <p:cNvPr id="51" name="Shape 49"/>
          <p:cNvSpPr/>
          <p:nvPr/>
        </p:nvSpPr>
        <p:spPr>
          <a:xfrm>
            <a:off x="2240280" y="5166360"/>
            <a:ext cx="137160" cy="137160"/>
          </a:xfrm>
          <a:prstGeom prst="ellipse">
            <a:avLst/>
          </a:prstGeom>
          <a:solidFill>
            <a:srgbClr val="666666"/>
          </a:solidFill>
          <a:ln w="12700">
            <a:solidFill>
              <a:srgbClr val="666666"/>
            </a:solidFill>
            <a:prstDash val="solid"/>
          </a:ln>
        </p:spPr>
      </p:sp>
      <p:sp>
        <p:nvSpPr>
          <p:cNvPr id="52" name="Text 50"/>
          <p:cNvSpPr/>
          <p:nvPr/>
        </p:nvSpPr>
        <p:spPr>
          <a:xfrm>
            <a:off x="2468880" y="5074920"/>
            <a:ext cx="2103120" cy="320040"/>
          </a:xfrm>
          <a:prstGeom prst="rect">
            <a:avLst/>
          </a:prstGeom>
          <a:noFill/>
          <a:ln/>
        </p:spPr>
        <p:txBody>
          <a:bodyPr wrap="square" lIns="0" tIns="0" rIns="0" bIns="0" rtlCol="0" anchor="ctr"/>
          <a:lstStyle/>
          <a:p>
            <a:pPr indent="0" marL="0">
              <a:buNone/>
            </a:pPr>
            <a:r>
              <a:rPr lang="en-US" sz="1200" b="1" dirty="0">
                <a:solidFill>
                  <a:srgbClr val="000000"/>
                </a:solidFill>
                <a:latin typeface="Arial" pitchFamily="34" charset="0"/>
                <a:ea typeface="Arial" pitchFamily="34" charset="-122"/>
                <a:cs typeface="Arial" pitchFamily="34" charset="-120"/>
              </a:rPr>
              <a:t>Equipment</a:t>
            </a:r>
            <a:endParaRPr lang="en-US" sz="1200" dirty="0"/>
          </a:p>
        </p:txBody>
      </p:sp>
      <p:sp>
        <p:nvSpPr>
          <p:cNvPr id="53" name="Text 51"/>
          <p:cNvSpPr/>
          <p:nvPr/>
        </p:nvSpPr>
        <p:spPr>
          <a:xfrm>
            <a:off x="4572000" y="5074920"/>
            <a:ext cx="4023360" cy="320040"/>
          </a:xfrm>
          <a:prstGeom prst="rect">
            <a:avLst/>
          </a:prstGeom>
          <a:noFill/>
          <a:ln/>
        </p:spPr>
        <p:txBody>
          <a:bodyPr wrap="square" lIns="0" tIns="0" rIns="0" bIns="0" rtlCol="0" anchor="ctr"/>
          <a:lstStyle/>
          <a:p>
            <a:pPr indent="0" marL="0">
              <a:buNone/>
            </a:pPr>
            <a:r>
              <a:rPr lang="en-US" sz="1050" dirty="0">
                <a:solidFill>
                  <a:srgbClr val="333333"/>
                </a:solidFill>
                <a:latin typeface="Arial" pitchFamily="34" charset="0"/>
                <a:ea typeface="Arial" pitchFamily="34" charset="-122"/>
                <a:cs typeface="Arial" pitchFamily="34" charset="-120"/>
              </a:rPr>
              <a:t>Machines that make machines</a:t>
            </a:r>
            <a:endParaRPr lang="en-US" sz="1050" dirty="0"/>
          </a:p>
        </p:txBody>
      </p:sp>
      <p:sp>
        <p:nvSpPr>
          <p:cNvPr id="54" name="Shape 52"/>
          <p:cNvSpPr/>
          <p:nvPr/>
        </p:nvSpPr>
        <p:spPr>
          <a:xfrm>
            <a:off x="2103120" y="5440680"/>
            <a:ext cx="6583680" cy="320040"/>
          </a:xfrm>
          <a:prstGeom prst="rect">
            <a:avLst/>
          </a:prstGeom>
          <a:solidFill>
            <a:srgbClr val="F9F9F9"/>
          </a:solidFill>
          <a:ln w="3810">
            <a:solidFill>
              <a:srgbClr val="E5E5E5"/>
            </a:solidFill>
            <a:prstDash val="solid"/>
          </a:ln>
        </p:spPr>
      </p:sp>
      <p:sp>
        <p:nvSpPr>
          <p:cNvPr id="55" name="Shape 53"/>
          <p:cNvSpPr/>
          <p:nvPr/>
        </p:nvSpPr>
        <p:spPr>
          <a:xfrm>
            <a:off x="2240280" y="5532120"/>
            <a:ext cx="137160" cy="137160"/>
          </a:xfrm>
          <a:prstGeom prst="ellipse">
            <a:avLst/>
          </a:prstGeom>
          <a:solidFill>
            <a:srgbClr val="666666"/>
          </a:solidFill>
          <a:ln w="12700">
            <a:solidFill>
              <a:srgbClr val="666666"/>
            </a:solidFill>
            <a:prstDash val="solid"/>
          </a:ln>
        </p:spPr>
      </p:sp>
      <p:sp>
        <p:nvSpPr>
          <p:cNvPr id="56" name="Text 54"/>
          <p:cNvSpPr/>
          <p:nvPr/>
        </p:nvSpPr>
        <p:spPr>
          <a:xfrm>
            <a:off x="2468880" y="5440680"/>
            <a:ext cx="2103120" cy="320040"/>
          </a:xfrm>
          <a:prstGeom prst="rect">
            <a:avLst/>
          </a:prstGeom>
          <a:noFill/>
          <a:ln/>
        </p:spPr>
        <p:txBody>
          <a:bodyPr wrap="square" lIns="0" tIns="0" rIns="0" bIns="0" rtlCol="0" anchor="ctr"/>
          <a:lstStyle/>
          <a:p>
            <a:pPr indent="0" marL="0">
              <a:buNone/>
            </a:pPr>
            <a:r>
              <a:rPr lang="en-US" sz="1200" b="1" dirty="0">
                <a:solidFill>
                  <a:srgbClr val="000000"/>
                </a:solidFill>
                <a:latin typeface="Arial" pitchFamily="34" charset="0"/>
                <a:ea typeface="Arial" pitchFamily="34" charset="-122"/>
                <a:cs typeface="Arial" pitchFamily="34" charset="-120"/>
              </a:rPr>
              <a:t>Raw materials</a:t>
            </a:r>
            <a:endParaRPr lang="en-US" sz="1200" dirty="0"/>
          </a:p>
        </p:txBody>
      </p:sp>
      <p:sp>
        <p:nvSpPr>
          <p:cNvPr id="57" name="Text 55"/>
          <p:cNvSpPr/>
          <p:nvPr/>
        </p:nvSpPr>
        <p:spPr>
          <a:xfrm>
            <a:off x="4572000" y="5440680"/>
            <a:ext cx="4023360" cy="320040"/>
          </a:xfrm>
          <a:prstGeom prst="rect">
            <a:avLst/>
          </a:prstGeom>
          <a:noFill/>
          <a:ln/>
        </p:spPr>
        <p:txBody>
          <a:bodyPr wrap="square" lIns="0" tIns="0" rIns="0" bIns="0" rtlCol="0" anchor="ctr"/>
          <a:lstStyle/>
          <a:p>
            <a:pPr indent="0" marL="0">
              <a:buNone/>
            </a:pPr>
            <a:r>
              <a:rPr lang="en-US" sz="1050" dirty="0">
                <a:solidFill>
                  <a:srgbClr val="333333"/>
                </a:solidFill>
                <a:latin typeface="Arial" pitchFamily="34" charset="0"/>
                <a:ea typeface="Arial" pitchFamily="34" charset="-122"/>
                <a:cs typeface="Arial" pitchFamily="34" charset="-120"/>
              </a:rPr>
              <a:t>Silicon, neon, rare earths</a:t>
            </a:r>
            <a:endParaRPr lang="en-US" sz="1050" dirty="0"/>
          </a:p>
        </p:txBody>
      </p:sp>
      <p:sp>
        <p:nvSpPr>
          <p:cNvPr id="58" name="Text 56"/>
          <p:cNvSpPr/>
          <p:nvPr/>
        </p:nvSpPr>
        <p:spPr>
          <a:xfrm>
            <a:off x="457200" y="5875020"/>
            <a:ext cx="8229600" cy="320040"/>
          </a:xfrm>
          <a:prstGeom prst="rect">
            <a:avLst/>
          </a:prstGeom>
          <a:noFill/>
          <a:ln/>
        </p:spPr>
        <p:txBody>
          <a:bodyPr wrap="square" lIns="0" tIns="0" rIns="0" bIns="0" rtlCol="0" anchor="t"/>
          <a:lstStyle/>
          <a:p>
            <a:pPr indent="0" marL="0">
              <a:buNone/>
            </a:pPr>
            <a:r>
              <a:rPr lang="en-US" sz="700" dirty="0">
                <a:solidFill>
                  <a:srgbClr val="999999"/>
                </a:solidFill>
                <a:latin typeface="Arial" pitchFamily="34" charset="0"/>
                <a:ea typeface="Arial" pitchFamily="34" charset="-122"/>
                <a:cs typeface="Arial" pitchFamily="34" charset="-120"/>
              </a:rPr>
              <a:t>Source: Strategy Research. Ordered top (closest to user) to bottom (closest to atoms).</a:t>
            </a:r>
            <a:endParaRPr lang="en-US" sz="700" dirty="0"/>
          </a:p>
        </p:txBody>
      </p:sp>
      <p:sp>
        <p:nvSpPr>
          <p:cNvPr id="59" name="Shape 57"/>
          <p:cNvSpPr/>
          <p:nvPr/>
        </p:nvSpPr>
        <p:spPr>
          <a:xfrm>
            <a:off x="0" y="6286500"/>
            <a:ext cx="9144000" cy="571500"/>
          </a:xfrm>
          <a:prstGeom prst="rect">
            <a:avLst/>
          </a:prstGeom>
          <a:solidFill>
            <a:srgbClr val="000000"/>
          </a:solidFill>
          <a:ln w="12700">
            <a:solidFill>
              <a:srgbClr val="000000"/>
            </a:solidFill>
            <a:prstDash val="solid"/>
          </a:ln>
        </p:spPr>
      </p:sp>
      <p:sp>
        <p:nvSpPr>
          <p:cNvPr id="60" name="Text 58"/>
          <p:cNvSpPr/>
          <p:nvPr/>
        </p:nvSpPr>
        <p:spPr>
          <a:xfrm>
            <a:off x="1371600" y="6332220"/>
            <a:ext cx="6400800" cy="457200"/>
          </a:xfrm>
          <a:prstGeom prst="rect">
            <a:avLst/>
          </a:prstGeom>
          <a:noFill/>
          <a:ln/>
        </p:spPr>
        <p:txBody>
          <a:bodyPr wrap="square" lIns="0" tIns="0" rIns="0" bIns="0" rtlCol="0" anchor="ctr"/>
          <a:lstStyle/>
          <a:p>
            <a:pPr algn="ctr" indent="0" marL="0">
              <a:buNone/>
            </a:pPr>
            <a:r>
              <a:rPr lang="en-US" sz="650" b="1" dirty="0">
                <a:solidFill>
                  <a:srgbClr val="FFFFFF"/>
                </a:solidFill>
                <a:latin typeface="Arial" pitchFamily="34" charset="0"/>
                <a:ea typeface="Arial" pitchFamily="34" charset="-122"/>
                <a:cs typeface="Arial" pitchFamily="34" charset="-120"/>
              </a:rPr>
              <a:t>FOR INFORMATIONAL PURPOSES ONLY. NOT INVESTMENT ADVICE. PAST PERFORMANCE IS NOT INDICATIVE OF FUTURE RESULTS.</a:t>
            </a:r>
            <a:endParaRPr lang="en-US" sz="650" dirty="0"/>
          </a:p>
        </p:txBody>
      </p:sp>
      <p:sp>
        <p:nvSpPr>
          <p:cNvPr id="61" name="Text 59"/>
          <p:cNvSpPr/>
          <p:nvPr/>
        </p:nvSpPr>
        <p:spPr>
          <a:xfrm>
            <a:off x="8321040" y="6405372"/>
            <a:ext cx="548640" cy="274320"/>
          </a:xfrm>
          <a:prstGeom prst="rect">
            <a:avLst/>
          </a:prstGeom>
          <a:noFill/>
          <a:ln/>
        </p:spPr>
        <p:txBody>
          <a:bodyPr wrap="square" lIns="0" tIns="0" rIns="0" bIns="0" rtlCol="0" anchor="ctr"/>
          <a:lstStyle/>
          <a:p>
            <a:pPr algn="r" indent="0" marL="0">
              <a:buNone/>
            </a:pPr>
            <a:r>
              <a:rPr lang="en-US" sz="900" dirty="0">
                <a:solidFill>
                  <a:srgbClr val="FFFFFF"/>
                </a:solidFill>
                <a:latin typeface="Arial" pitchFamily="34" charset="0"/>
                <a:ea typeface="Arial" pitchFamily="34" charset="-122"/>
                <a:cs typeface="Arial" pitchFamily="34" charset="-120"/>
              </a:rPr>
              <a:t>5</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Shape 0"/>
          <p:cNvSpPr/>
          <p:nvPr/>
        </p:nvSpPr>
        <p:spPr>
          <a:xfrm>
            <a:off x="7132320" y="164592"/>
            <a:ext cx="1737360" cy="292608"/>
          </a:xfrm>
          <a:prstGeom prst="roundRect">
            <a:avLst>
              <a:gd name="adj" fmla="val 15625"/>
            </a:avLst>
          </a:prstGeom>
          <a:solidFill>
            <a:srgbClr val="008B8B"/>
          </a:solidFill>
          <a:ln w="12700">
            <a:solidFill>
              <a:srgbClr val="008B8B"/>
            </a:solidFill>
            <a:prstDash val="solid"/>
          </a:ln>
        </p:spPr>
      </p:sp>
      <p:sp>
        <p:nvSpPr>
          <p:cNvPr id="3" name="Text 1"/>
          <p:cNvSpPr/>
          <p:nvPr/>
        </p:nvSpPr>
        <p:spPr>
          <a:xfrm>
            <a:off x="7132320" y="164592"/>
            <a:ext cx="1737360" cy="292608"/>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Arial" pitchFamily="34" charset="0"/>
                <a:ea typeface="Arial" pitchFamily="34" charset="-122"/>
                <a:cs typeface="Arial" pitchFamily="34" charset="-120"/>
              </a:rPr>
              <a:t>LANDSCAPE</a:t>
            </a:r>
            <a:endParaRPr lang="en-US" sz="1000" dirty="0"/>
          </a:p>
        </p:txBody>
      </p:sp>
      <p:sp>
        <p:nvSpPr>
          <p:cNvPr id="4" name="Text 2"/>
          <p:cNvSpPr/>
          <p:nvPr/>
        </p:nvSpPr>
        <p:spPr>
          <a:xfrm>
            <a:off x="457200" y="182880"/>
            <a:ext cx="6583680" cy="685800"/>
          </a:xfrm>
          <a:prstGeom prst="rect">
            <a:avLst/>
          </a:prstGeom>
          <a:noFill/>
          <a:ln/>
        </p:spPr>
        <p:txBody>
          <a:bodyPr wrap="square" lIns="0" tIns="0" rIns="0" bIns="0" rtlCol="0" anchor="t"/>
          <a:lstStyle/>
          <a:p>
            <a:pPr indent="0" marL="0">
              <a:buNone/>
            </a:pPr>
            <a:r>
              <a:rPr lang="en-US" sz="2400" b="1" dirty="0">
                <a:solidFill>
                  <a:srgbClr val="000000"/>
                </a:solidFill>
                <a:latin typeface="Arial Black" pitchFamily="34" charset="0"/>
                <a:ea typeface="Arial Black" pitchFamily="34" charset="-122"/>
                <a:cs typeface="Arial Black" pitchFamily="34" charset="-120"/>
              </a:rPr>
              <a:t>AI growth rates are unprecedented.</a:t>
            </a:r>
            <a:endParaRPr lang="en-US" sz="2400" dirty="0"/>
          </a:p>
        </p:txBody>
      </p:sp>
      <p:sp>
        <p:nvSpPr>
          <p:cNvPr id="5" name="Text 3"/>
          <p:cNvSpPr/>
          <p:nvPr/>
        </p:nvSpPr>
        <p:spPr>
          <a:xfrm>
            <a:off x="457200" y="914400"/>
            <a:ext cx="8229600" cy="457200"/>
          </a:xfrm>
          <a:prstGeom prst="rect">
            <a:avLst/>
          </a:prstGeom>
          <a:noFill/>
          <a:ln/>
        </p:spPr>
        <p:txBody>
          <a:bodyPr wrap="square" lIns="0" tIns="0" rIns="0" bIns="0" rtlCol="0" anchor="t"/>
          <a:lstStyle/>
          <a:p>
            <a:pPr indent="0" marL="0">
              <a:buNone/>
            </a:pPr>
            <a:r>
              <a:rPr lang="en-US" sz="1350" dirty="0">
                <a:solidFill>
                  <a:srgbClr val="666666"/>
                </a:solidFill>
                <a:latin typeface="Arial" pitchFamily="34" charset="0"/>
                <a:ea typeface="Arial" pitchFamily="34" charset="-122"/>
                <a:cs typeface="Arial" pitchFamily="34" charset="-120"/>
              </a:rPr>
              <a:t>User adoption and revenue growth for AI far eclipse prior technologies — a once-in-a-generation S-curve, compressed into a handful of years.</a:t>
            </a:r>
            <a:endParaRPr lang="en-US" sz="1350" dirty="0"/>
          </a:p>
        </p:txBody>
      </p:sp>
      <p:sp>
        <p:nvSpPr>
          <p:cNvPr id="6" name="Shape 4"/>
          <p:cNvSpPr/>
          <p:nvPr/>
        </p:nvSpPr>
        <p:spPr>
          <a:xfrm>
            <a:off x="457200" y="1325880"/>
            <a:ext cx="8229600" cy="0"/>
          </a:xfrm>
          <a:prstGeom prst="line">
            <a:avLst/>
          </a:prstGeom>
          <a:noFill/>
          <a:ln w="9525">
            <a:solidFill>
              <a:srgbClr val="E5E5E5"/>
            </a:solidFill>
            <a:prstDash val="solid"/>
          </a:ln>
        </p:spPr>
      </p:sp>
      <p:sp>
        <p:nvSpPr>
          <p:cNvPr id="7" name="Text 5"/>
          <p:cNvSpPr/>
          <p:nvPr/>
        </p:nvSpPr>
        <p:spPr>
          <a:xfrm>
            <a:off x="457200" y="1554480"/>
            <a:ext cx="3931920" cy="274320"/>
          </a:xfrm>
          <a:prstGeom prst="rect">
            <a:avLst/>
          </a:prstGeom>
          <a:noFill/>
          <a:ln/>
        </p:spPr>
        <p:txBody>
          <a:bodyPr wrap="square" lIns="0" tIns="0" rIns="0" bIns="0" rtlCol="0" anchor="b"/>
          <a:lstStyle/>
          <a:p>
            <a:pPr indent="0" marL="0">
              <a:buNone/>
            </a:pPr>
            <a:r>
              <a:rPr lang="en-US" sz="1400" b="1" dirty="0">
                <a:solidFill>
                  <a:srgbClr val="000000"/>
                </a:solidFill>
                <a:latin typeface="Arial" pitchFamily="34" charset="0"/>
                <a:ea typeface="Arial" pitchFamily="34" charset="-122"/>
                <a:cs typeface="Arial" pitchFamily="34" charset="-120"/>
              </a:rPr>
              <a:t>User adoption after first mass-market launch</a:t>
            </a:r>
            <a:endParaRPr lang="en-US" sz="1400" dirty="0"/>
          </a:p>
        </p:txBody>
      </p:sp>
      <p:sp>
        <p:nvSpPr>
          <p:cNvPr id="8" name="Shape 6"/>
          <p:cNvSpPr/>
          <p:nvPr/>
        </p:nvSpPr>
        <p:spPr>
          <a:xfrm>
            <a:off x="457200" y="1828800"/>
            <a:ext cx="3931920" cy="0"/>
          </a:xfrm>
          <a:prstGeom prst="line">
            <a:avLst/>
          </a:prstGeom>
          <a:noFill/>
          <a:ln w="19050">
            <a:solidFill>
              <a:srgbClr val="000000"/>
            </a:solidFill>
            <a:prstDash val="solid"/>
          </a:ln>
        </p:spPr>
      </p:sp>
      <p:graphicFrame>
        <p:nvGraphicFramePr>
          <p:cNvPr id="9" name="Chart 0" descr=""/>
          <p:cNvGraphicFramePr/>
          <p:nvPr/>
        </p:nvGraphicFramePr>
        <p:xfrm>
          <a:off x="457200" y="2011680"/>
          <a:ext cx="3931920" cy="3291840"/>
        </p:xfrm>
        <a:graphic xmlns:a="http://schemas.openxmlformats.org/drawingml/2006/main">
          <a:graphicData uri="http://schemas.openxmlformats.org/drawingml/2006/chart">
            <c:chart xmlns:c="http://schemas.openxmlformats.org/drawingml/2006/chart" r:id="rId1"/>
          </a:graphicData>
        </a:graphic>
      </p:graphicFrame>
      <p:sp>
        <p:nvSpPr>
          <p:cNvPr id="10" name="Text 7"/>
          <p:cNvSpPr/>
          <p:nvPr/>
        </p:nvSpPr>
        <p:spPr>
          <a:xfrm>
            <a:off x="457200" y="1920240"/>
            <a:ext cx="3931920" cy="164592"/>
          </a:xfrm>
          <a:prstGeom prst="rect">
            <a:avLst/>
          </a:prstGeom>
          <a:noFill/>
          <a:ln/>
        </p:spPr>
        <p:txBody>
          <a:bodyPr wrap="square" lIns="0" tIns="0" rIns="0" bIns="0" rtlCol="0" anchor="ctr"/>
          <a:lstStyle/>
          <a:p>
            <a:pPr indent="0" marL="0">
              <a:buNone/>
            </a:pPr>
            <a:r>
              <a:rPr lang="en-US" sz="800" i="1" dirty="0">
                <a:solidFill>
                  <a:srgbClr val="666666"/>
                </a:solidFill>
                <a:latin typeface="Arial" pitchFamily="34" charset="0"/>
                <a:ea typeface="Arial" pitchFamily="34" charset="-122"/>
                <a:cs typeface="Arial" pitchFamily="34" charset="-120"/>
              </a:rPr>
              <a:t>% of US population</a:t>
            </a:r>
            <a:endParaRPr lang="en-US" sz="800" dirty="0"/>
          </a:p>
        </p:txBody>
      </p:sp>
      <p:sp>
        <p:nvSpPr>
          <p:cNvPr id="11" name="Text 8"/>
          <p:cNvSpPr/>
          <p:nvPr/>
        </p:nvSpPr>
        <p:spPr>
          <a:xfrm>
            <a:off x="4754880" y="1554480"/>
            <a:ext cx="3931920" cy="274320"/>
          </a:xfrm>
          <a:prstGeom prst="rect">
            <a:avLst/>
          </a:prstGeom>
          <a:noFill/>
          <a:ln/>
        </p:spPr>
        <p:txBody>
          <a:bodyPr wrap="square" lIns="0" tIns="0" rIns="0" bIns="0" rtlCol="0" anchor="b"/>
          <a:lstStyle/>
          <a:p>
            <a:pPr indent="0" marL="0">
              <a:buNone/>
            </a:pPr>
            <a:r>
              <a:rPr lang="en-US" sz="1400" b="1" dirty="0">
                <a:solidFill>
                  <a:srgbClr val="000000"/>
                </a:solidFill>
                <a:latin typeface="Arial" pitchFamily="34" charset="0"/>
                <a:ea typeface="Arial" pitchFamily="34" charset="-122"/>
                <a:cs typeface="Arial" pitchFamily="34" charset="-120"/>
              </a:rPr>
              <a:t>Revenue after first $1B year ($B)</a:t>
            </a:r>
            <a:endParaRPr lang="en-US" sz="1400" dirty="0"/>
          </a:p>
        </p:txBody>
      </p:sp>
      <p:sp>
        <p:nvSpPr>
          <p:cNvPr id="12" name="Shape 9"/>
          <p:cNvSpPr/>
          <p:nvPr/>
        </p:nvSpPr>
        <p:spPr>
          <a:xfrm>
            <a:off x="4754880" y="1828800"/>
            <a:ext cx="3931920" cy="0"/>
          </a:xfrm>
          <a:prstGeom prst="line">
            <a:avLst/>
          </a:prstGeom>
          <a:noFill/>
          <a:ln w="19050">
            <a:solidFill>
              <a:srgbClr val="000000"/>
            </a:solidFill>
            <a:prstDash val="solid"/>
          </a:ln>
        </p:spPr>
      </p:sp>
      <p:graphicFrame>
        <p:nvGraphicFramePr>
          <p:cNvPr id="13" name="Chart 1" descr=""/>
          <p:cNvGraphicFramePr/>
          <p:nvPr/>
        </p:nvGraphicFramePr>
        <p:xfrm>
          <a:off x="4754880" y="2011680"/>
          <a:ext cx="3931920" cy="3291840"/>
        </p:xfrm>
        <a:graphic xmlns:a="http://schemas.openxmlformats.org/drawingml/2006/main">
          <a:graphicData uri="http://schemas.openxmlformats.org/drawingml/2006/chart">
            <c:chart xmlns:c="http://schemas.openxmlformats.org/drawingml/2006/chart" r:id="rId2"/>
          </a:graphicData>
        </a:graphic>
      </p:graphicFrame>
      <p:sp>
        <p:nvSpPr>
          <p:cNvPr id="14" name="Text 10"/>
          <p:cNvSpPr/>
          <p:nvPr/>
        </p:nvSpPr>
        <p:spPr>
          <a:xfrm>
            <a:off x="4754880" y="1920240"/>
            <a:ext cx="3931920" cy="164592"/>
          </a:xfrm>
          <a:prstGeom prst="rect">
            <a:avLst/>
          </a:prstGeom>
          <a:noFill/>
          <a:ln/>
        </p:spPr>
        <p:txBody>
          <a:bodyPr wrap="square" lIns="0" tIns="0" rIns="0" bIns="0" rtlCol="0" anchor="ctr"/>
          <a:lstStyle/>
          <a:p>
            <a:pPr indent="0" marL="0">
              <a:buNone/>
            </a:pPr>
            <a:r>
              <a:rPr lang="en-US" sz="800" i="1" dirty="0">
                <a:solidFill>
                  <a:srgbClr val="666666"/>
                </a:solidFill>
                <a:latin typeface="Arial" pitchFamily="34" charset="0"/>
                <a:ea typeface="Arial" pitchFamily="34" charset="-122"/>
                <a:cs typeface="Arial" pitchFamily="34" charset="-120"/>
              </a:rPr>
              <a:t>Revenue ($B)</a:t>
            </a:r>
            <a:endParaRPr lang="en-US" sz="800" dirty="0"/>
          </a:p>
        </p:txBody>
      </p:sp>
      <p:sp>
        <p:nvSpPr>
          <p:cNvPr id="15" name="Shape 11"/>
          <p:cNvSpPr/>
          <p:nvPr/>
        </p:nvSpPr>
        <p:spPr>
          <a:xfrm>
            <a:off x="457200" y="5394960"/>
            <a:ext cx="8229600" cy="219456"/>
          </a:xfrm>
          <a:prstGeom prst="rect">
            <a:avLst/>
          </a:prstGeom>
          <a:solidFill>
            <a:srgbClr val="333333"/>
          </a:solidFill>
          <a:ln w="12700">
            <a:solidFill>
              <a:srgbClr val="333333"/>
            </a:solidFill>
            <a:prstDash val="solid"/>
          </a:ln>
        </p:spPr>
      </p:sp>
      <p:sp>
        <p:nvSpPr>
          <p:cNvPr id="16" name="Text 12"/>
          <p:cNvSpPr/>
          <p:nvPr/>
        </p:nvSpPr>
        <p:spPr>
          <a:xfrm>
            <a:off x="640080" y="5394960"/>
            <a:ext cx="7863840" cy="219456"/>
          </a:xfrm>
          <a:prstGeom prst="rect">
            <a:avLst/>
          </a:prstGeom>
          <a:noFill/>
          <a:ln/>
        </p:spPr>
        <p:txBody>
          <a:bodyPr wrap="square" lIns="0" tIns="0" rIns="0" bIns="0" rtlCol="0" anchor="ctr"/>
          <a:lstStyle/>
          <a:p>
            <a:pPr indent="0" marL="0">
              <a:buNone/>
            </a:pPr>
            <a:r>
              <a:rPr lang="en-US" sz="850" b="1" spc="200" kern="0" dirty="0">
                <a:solidFill>
                  <a:srgbClr val="F6693D"/>
                </a:solidFill>
                <a:latin typeface="Arial" pitchFamily="34" charset="0"/>
                <a:ea typeface="Arial" pitchFamily="34" charset="-122"/>
                <a:cs typeface="Arial" pitchFamily="34" charset="-120"/>
              </a:rPr>
              <a:t>AI </a:t>
            </a:r>
            <a:pPr indent="0" marL="0">
              <a:buNone/>
            </a:pPr>
            <a:r>
              <a:rPr lang="en-US" sz="900" b="1" dirty="0">
                <a:solidFill>
                  <a:srgbClr val="FFFFFF"/>
                </a:solidFill>
                <a:latin typeface="Arial" pitchFamily="34" charset="0"/>
                <a:ea typeface="Arial" pitchFamily="34" charset="-122"/>
                <a:cs typeface="Arial" pitchFamily="34" charset="-120"/>
              </a:rPr>
              <a:t>OpenAI · Anthropic    </a:t>
            </a:r>
            <a:pPr indent="0" marL="0">
              <a:buNone/>
            </a:pPr>
            <a:r>
              <a:rPr lang="en-US" sz="850" b="1" spc="200" kern="0" dirty="0">
                <a:solidFill>
                  <a:srgbClr val="FFB800"/>
                </a:solidFill>
                <a:latin typeface="Arial" pitchFamily="34" charset="0"/>
                <a:ea typeface="Arial" pitchFamily="34" charset="-122"/>
                <a:cs typeface="Arial" pitchFamily="34" charset="-120"/>
              </a:rPr>
              <a:t>CLOUD </a:t>
            </a:r>
            <a:pPr indent="0" marL="0">
              <a:buNone/>
            </a:pPr>
            <a:r>
              <a:rPr lang="en-US" sz="900" b="1" dirty="0">
                <a:solidFill>
                  <a:srgbClr val="FFFFFF"/>
                </a:solidFill>
                <a:latin typeface="Arial" pitchFamily="34" charset="0"/>
                <a:ea typeface="Arial" pitchFamily="34" charset="-122"/>
                <a:cs typeface="Arial" pitchFamily="34" charset="-120"/>
              </a:rPr>
              <a:t>AWS · Azure · Google Cloud    </a:t>
            </a:r>
            <a:pPr indent="0" marL="0">
              <a:buNone/>
            </a:pPr>
            <a:r>
              <a:rPr lang="en-US" sz="850" b="1" spc="200" kern="0" dirty="0">
                <a:solidFill>
                  <a:srgbClr val="008B8B"/>
                </a:solidFill>
                <a:latin typeface="Arial" pitchFamily="34" charset="0"/>
                <a:ea typeface="Arial" pitchFamily="34" charset="-122"/>
                <a:cs typeface="Arial" pitchFamily="34" charset="-120"/>
              </a:rPr>
              <a:t>INTERNET </a:t>
            </a:r>
            <a:pPr indent="0" marL="0">
              <a:buNone/>
            </a:pPr>
            <a:r>
              <a:rPr lang="en-US" sz="900" b="1" dirty="0">
                <a:solidFill>
                  <a:srgbClr val="FFFFFF"/>
                </a:solidFill>
                <a:latin typeface="Arial" pitchFamily="34" charset="0"/>
                <a:ea typeface="Arial" pitchFamily="34" charset="-122"/>
                <a:cs typeface="Arial" pitchFamily="34" charset="-120"/>
              </a:rPr>
              <a:t>Meta · Google</a:t>
            </a:r>
            <a:endParaRPr lang="en-US" sz="850" dirty="0"/>
          </a:p>
        </p:txBody>
      </p:sp>
      <p:sp>
        <p:nvSpPr>
          <p:cNvPr id="17" name="Shape 13"/>
          <p:cNvSpPr/>
          <p:nvPr/>
        </p:nvSpPr>
        <p:spPr>
          <a:xfrm>
            <a:off x="457200" y="5650992"/>
            <a:ext cx="8229600" cy="201168"/>
          </a:xfrm>
          <a:prstGeom prst="rect">
            <a:avLst/>
          </a:prstGeom>
          <a:solidFill>
            <a:srgbClr val="FFD100"/>
          </a:solidFill>
          <a:ln w="12700">
            <a:solidFill>
              <a:srgbClr val="FFD100"/>
            </a:solidFill>
            <a:prstDash val="solid"/>
          </a:ln>
        </p:spPr>
      </p:sp>
      <p:sp>
        <p:nvSpPr>
          <p:cNvPr id="18" name="Text 14"/>
          <p:cNvSpPr/>
          <p:nvPr/>
        </p:nvSpPr>
        <p:spPr>
          <a:xfrm>
            <a:off x="640080" y="5650992"/>
            <a:ext cx="7863840" cy="201168"/>
          </a:xfrm>
          <a:prstGeom prst="rect">
            <a:avLst/>
          </a:prstGeom>
          <a:noFill/>
          <a:ln/>
        </p:spPr>
        <p:txBody>
          <a:bodyPr wrap="square" lIns="0" tIns="0" rIns="0" bIns="0" rtlCol="0" anchor="ctr"/>
          <a:lstStyle/>
          <a:p>
            <a:pPr indent="0" marL="0">
              <a:buNone/>
            </a:pPr>
            <a:r>
              <a:rPr lang="en-US" sz="1000" b="1" dirty="0">
                <a:solidFill>
                  <a:srgbClr val="000000"/>
                </a:solidFill>
                <a:latin typeface="Arial" pitchFamily="34" charset="0"/>
                <a:ea typeface="Arial" pitchFamily="34" charset="-122"/>
                <a:cs typeface="Arial" pitchFamily="34" charset="-120"/>
              </a:rPr>
              <a:t>User adoption and revenue growth for AI far eclipse prior technologies.</a:t>
            </a:r>
            <a:endParaRPr lang="en-US" sz="1000" dirty="0"/>
          </a:p>
        </p:txBody>
      </p:sp>
      <p:sp>
        <p:nvSpPr>
          <p:cNvPr id="19" name="Text 15"/>
          <p:cNvSpPr/>
          <p:nvPr/>
        </p:nvSpPr>
        <p:spPr>
          <a:xfrm>
            <a:off x="457200" y="5875020"/>
            <a:ext cx="8229600" cy="320040"/>
          </a:xfrm>
          <a:prstGeom prst="rect">
            <a:avLst/>
          </a:prstGeom>
          <a:noFill/>
          <a:ln/>
        </p:spPr>
        <p:txBody>
          <a:bodyPr wrap="square" lIns="0" tIns="0" rIns="0" bIns="0" rtlCol="0" anchor="t"/>
          <a:lstStyle/>
          <a:p>
            <a:pPr indent="0" marL="0">
              <a:buNone/>
            </a:pPr>
            <a:r>
              <a:rPr lang="en-US" sz="700" dirty="0">
                <a:solidFill>
                  <a:srgbClr val="999999"/>
                </a:solidFill>
                <a:latin typeface="Arial" pitchFamily="34" charset="0"/>
                <a:ea typeface="Arial" pitchFamily="34" charset="-122"/>
                <a:cs typeface="Arial" pitchFamily="34" charset="-120"/>
              </a:rPr>
              <a:t>Sources: Mary Meeker (Bond Capital / KPCB Internet Trends 2019); company filings and consensus estimates. Cloud and Internet trajectories are illustrative. 2026E shown for AI.</a:t>
            </a:r>
            <a:endParaRPr lang="en-US" sz="700" dirty="0"/>
          </a:p>
        </p:txBody>
      </p:sp>
      <p:sp>
        <p:nvSpPr>
          <p:cNvPr id="20" name="Shape 16"/>
          <p:cNvSpPr/>
          <p:nvPr/>
        </p:nvSpPr>
        <p:spPr>
          <a:xfrm>
            <a:off x="0" y="6286500"/>
            <a:ext cx="9144000" cy="571500"/>
          </a:xfrm>
          <a:prstGeom prst="rect">
            <a:avLst/>
          </a:prstGeom>
          <a:solidFill>
            <a:srgbClr val="000000"/>
          </a:solidFill>
          <a:ln w="12700">
            <a:solidFill>
              <a:srgbClr val="000000"/>
            </a:solidFill>
            <a:prstDash val="solid"/>
          </a:ln>
        </p:spPr>
      </p:sp>
      <p:sp>
        <p:nvSpPr>
          <p:cNvPr id="21" name="Text 17"/>
          <p:cNvSpPr/>
          <p:nvPr/>
        </p:nvSpPr>
        <p:spPr>
          <a:xfrm>
            <a:off x="1371600" y="6332220"/>
            <a:ext cx="6400800" cy="457200"/>
          </a:xfrm>
          <a:prstGeom prst="rect">
            <a:avLst/>
          </a:prstGeom>
          <a:noFill/>
          <a:ln/>
        </p:spPr>
        <p:txBody>
          <a:bodyPr wrap="square" lIns="0" tIns="0" rIns="0" bIns="0" rtlCol="0" anchor="ctr"/>
          <a:lstStyle/>
          <a:p>
            <a:pPr algn="ctr" indent="0" marL="0">
              <a:buNone/>
            </a:pPr>
            <a:r>
              <a:rPr lang="en-US" sz="650" b="1" dirty="0">
                <a:solidFill>
                  <a:srgbClr val="FFFFFF"/>
                </a:solidFill>
                <a:latin typeface="Arial" pitchFamily="34" charset="0"/>
                <a:ea typeface="Arial" pitchFamily="34" charset="-122"/>
                <a:cs typeface="Arial" pitchFamily="34" charset="-120"/>
              </a:rPr>
              <a:t>FOR INFORMATIONAL PURPOSES ONLY. NOT INVESTMENT ADVICE. PAST PERFORMANCE IS NOT INDICATIVE OF FUTURE RESULTS.</a:t>
            </a:r>
            <a:endParaRPr lang="en-US" sz="650" dirty="0"/>
          </a:p>
        </p:txBody>
      </p:sp>
      <p:sp>
        <p:nvSpPr>
          <p:cNvPr id="22" name="Text 18"/>
          <p:cNvSpPr/>
          <p:nvPr/>
        </p:nvSpPr>
        <p:spPr>
          <a:xfrm>
            <a:off x="8321040" y="6405372"/>
            <a:ext cx="548640" cy="274320"/>
          </a:xfrm>
          <a:prstGeom prst="rect">
            <a:avLst/>
          </a:prstGeom>
          <a:noFill/>
          <a:ln/>
        </p:spPr>
        <p:txBody>
          <a:bodyPr wrap="square" lIns="0" tIns="0" rIns="0" bIns="0" rtlCol="0" anchor="ctr"/>
          <a:lstStyle/>
          <a:p>
            <a:pPr algn="r" indent="0" marL="0">
              <a:buNone/>
            </a:pPr>
            <a:r>
              <a:rPr lang="en-US" sz="900" dirty="0">
                <a:solidFill>
                  <a:srgbClr val="FFFFFF"/>
                </a:solidFill>
                <a:latin typeface="Arial" pitchFamily="34" charset="0"/>
                <a:ea typeface="Arial" pitchFamily="34" charset="-122"/>
                <a:cs typeface="Arial" pitchFamily="34" charset="-120"/>
              </a:rPr>
              <a:t>6</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Shape 0"/>
          <p:cNvSpPr/>
          <p:nvPr/>
        </p:nvSpPr>
        <p:spPr>
          <a:xfrm>
            <a:off x="7132320" y="164592"/>
            <a:ext cx="1737360" cy="292608"/>
          </a:xfrm>
          <a:prstGeom prst="roundRect">
            <a:avLst>
              <a:gd name="adj" fmla="val 15625"/>
            </a:avLst>
          </a:prstGeom>
          <a:solidFill>
            <a:srgbClr val="FFB800"/>
          </a:solidFill>
          <a:ln w="12700">
            <a:solidFill>
              <a:srgbClr val="FFB800"/>
            </a:solidFill>
            <a:prstDash val="solid"/>
          </a:ln>
        </p:spPr>
      </p:sp>
      <p:sp>
        <p:nvSpPr>
          <p:cNvPr id="3" name="Text 1"/>
          <p:cNvSpPr/>
          <p:nvPr/>
        </p:nvSpPr>
        <p:spPr>
          <a:xfrm>
            <a:off x="7132320" y="164592"/>
            <a:ext cx="1737360" cy="292608"/>
          </a:xfrm>
          <a:prstGeom prst="rect">
            <a:avLst/>
          </a:prstGeom>
          <a:noFill/>
          <a:ln/>
        </p:spPr>
        <p:txBody>
          <a:bodyPr wrap="square" lIns="0" tIns="0" rIns="0" bIns="0" rtlCol="0" anchor="ctr"/>
          <a:lstStyle/>
          <a:p>
            <a:pPr algn="ctr" indent="0" marL="0">
              <a:buNone/>
            </a:pPr>
            <a:r>
              <a:rPr lang="en-US" sz="1000" b="1" spc="100" kern="0" dirty="0">
                <a:solidFill>
                  <a:srgbClr val="000000"/>
                </a:solidFill>
                <a:latin typeface="Arial" pitchFamily="34" charset="0"/>
                <a:ea typeface="Arial" pitchFamily="34" charset="-122"/>
                <a:cs typeface="Arial" pitchFamily="34" charset="-120"/>
              </a:rPr>
              <a:t>MARKET</a:t>
            </a:r>
            <a:endParaRPr lang="en-US" sz="1000" dirty="0"/>
          </a:p>
        </p:txBody>
      </p:sp>
      <p:sp>
        <p:nvSpPr>
          <p:cNvPr id="4" name="Text 2"/>
          <p:cNvSpPr/>
          <p:nvPr/>
        </p:nvSpPr>
        <p:spPr>
          <a:xfrm>
            <a:off x="457200" y="182880"/>
            <a:ext cx="6583680" cy="685800"/>
          </a:xfrm>
          <a:prstGeom prst="rect">
            <a:avLst/>
          </a:prstGeom>
          <a:noFill/>
          <a:ln/>
        </p:spPr>
        <p:txBody>
          <a:bodyPr wrap="square" lIns="0" tIns="0" rIns="0" bIns="0" rtlCol="0" anchor="t"/>
          <a:lstStyle/>
          <a:p>
            <a:pPr indent="0" marL="0">
              <a:buNone/>
            </a:pPr>
            <a:r>
              <a:rPr lang="en-US" sz="2400" b="1" dirty="0">
                <a:solidFill>
                  <a:srgbClr val="000000"/>
                </a:solidFill>
                <a:latin typeface="Arial Black" pitchFamily="34" charset="0"/>
                <a:ea typeface="Arial Black" pitchFamily="34" charset="-122"/>
                <a:cs typeface="Arial Black" pitchFamily="34" charset="-120"/>
              </a:rPr>
              <a:t>How an AI chip is made</a:t>
            </a:r>
            <a:endParaRPr lang="en-US" sz="2400" dirty="0"/>
          </a:p>
        </p:txBody>
      </p:sp>
      <p:sp>
        <p:nvSpPr>
          <p:cNvPr id="5" name="Text 3"/>
          <p:cNvSpPr/>
          <p:nvPr/>
        </p:nvSpPr>
        <p:spPr>
          <a:xfrm>
            <a:off x="457200" y="914400"/>
            <a:ext cx="8229600" cy="457200"/>
          </a:xfrm>
          <a:prstGeom prst="rect">
            <a:avLst/>
          </a:prstGeom>
          <a:noFill/>
          <a:ln/>
        </p:spPr>
        <p:txBody>
          <a:bodyPr wrap="square" lIns="0" tIns="0" rIns="0" bIns="0" rtlCol="0" anchor="t"/>
          <a:lstStyle/>
          <a:p>
            <a:pPr indent="0" marL="0">
              <a:buNone/>
            </a:pPr>
            <a:r>
              <a:rPr lang="en-US" sz="1350" dirty="0">
                <a:solidFill>
                  <a:srgbClr val="666666"/>
                </a:solidFill>
                <a:latin typeface="Arial" pitchFamily="34" charset="0"/>
                <a:ea typeface="Arial" pitchFamily="34" charset="-122"/>
                <a:cs typeface="Arial" pitchFamily="34" charset="-120"/>
              </a:rPr>
              <a:t>Every AI accelerator inside a data center, from training GPUs to custom inference silicon, passes through the same four stages.</a:t>
            </a:r>
            <a:endParaRPr lang="en-US" sz="1350" dirty="0"/>
          </a:p>
        </p:txBody>
      </p:sp>
      <p:sp>
        <p:nvSpPr>
          <p:cNvPr id="6" name="Shape 4"/>
          <p:cNvSpPr/>
          <p:nvPr/>
        </p:nvSpPr>
        <p:spPr>
          <a:xfrm>
            <a:off x="457200" y="1325880"/>
            <a:ext cx="8229600" cy="0"/>
          </a:xfrm>
          <a:prstGeom prst="line">
            <a:avLst/>
          </a:prstGeom>
          <a:noFill/>
          <a:ln w="9525">
            <a:solidFill>
              <a:srgbClr val="E5E5E5"/>
            </a:solidFill>
            <a:prstDash val="solid"/>
          </a:ln>
        </p:spPr>
      </p:sp>
      <p:sp>
        <p:nvSpPr>
          <p:cNvPr id="7" name="Shape 5"/>
          <p:cNvSpPr/>
          <p:nvPr/>
        </p:nvSpPr>
        <p:spPr>
          <a:xfrm>
            <a:off x="457200" y="1554480"/>
            <a:ext cx="4023360" cy="3931920"/>
          </a:xfrm>
          <a:prstGeom prst="rect">
            <a:avLst/>
          </a:prstGeom>
          <a:solidFill>
            <a:srgbClr val="F9F9F9"/>
          </a:solidFill>
          <a:ln w="6350">
            <a:solidFill>
              <a:srgbClr val="E5E5E5"/>
            </a:solidFill>
            <a:prstDash val="solid"/>
          </a:ln>
        </p:spPr>
      </p:sp>
      <p:sp>
        <p:nvSpPr>
          <p:cNvPr id="8" name="Text 6"/>
          <p:cNvSpPr/>
          <p:nvPr/>
        </p:nvSpPr>
        <p:spPr>
          <a:xfrm>
            <a:off x="640080" y="1664208"/>
            <a:ext cx="3657600" cy="201168"/>
          </a:xfrm>
          <a:prstGeom prst="rect">
            <a:avLst/>
          </a:prstGeom>
          <a:noFill/>
          <a:ln/>
        </p:spPr>
        <p:txBody>
          <a:bodyPr wrap="square" lIns="0" tIns="0" rIns="0" bIns="0" rtlCol="0" anchor="ctr"/>
          <a:lstStyle/>
          <a:p>
            <a:pPr indent="0" marL="0">
              <a:buNone/>
            </a:pPr>
            <a:r>
              <a:rPr lang="en-US" sz="900" b="1" spc="200" kern="0" dirty="0">
                <a:solidFill>
                  <a:srgbClr val="666666"/>
                </a:solidFill>
                <a:latin typeface="Arial" pitchFamily="34" charset="0"/>
                <a:ea typeface="Arial" pitchFamily="34" charset="-122"/>
                <a:cs typeface="Arial" pitchFamily="34" charset="-120"/>
              </a:rPr>
              <a:t>WHAT'S INSIDE THE PACKAGE</a:t>
            </a:r>
            <a:endParaRPr lang="en-US" sz="900" dirty="0"/>
          </a:p>
        </p:txBody>
      </p:sp>
      <p:sp>
        <p:nvSpPr>
          <p:cNvPr id="9" name="Shape 7"/>
          <p:cNvSpPr/>
          <p:nvPr/>
        </p:nvSpPr>
        <p:spPr>
          <a:xfrm>
            <a:off x="960120" y="2103120"/>
            <a:ext cx="3017520" cy="1554480"/>
          </a:xfrm>
          <a:prstGeom prst="roundRect">
            <a:avLst>
              <a:gd name="adj" fmla="val 3529"/>
            </a:avLst>
          </a:prstGeom>
          <a:solidFill>
            <a:srgbClr val="E5E5E5"/>
          </a:solidFill>
          <a:ln w="9525">
            <a:solidFill>
              <a:srgbClr val="666666"/>
            </a:solidFill>
            <a:prstDash val="solid"/>
          </a:ln>
        </p:spPr>
      </p:sp>
      <p:sp>
        <p:nvSpPr>
          <p:cNvPr id="10" name="Shape 8"/>
          <p:cNvSpPr/>
          <p:nvPr/>
        </p:nvSpPr>
        <p:spPr>
          <a:xfrm>
            <a:off x="1143000" y="2267712"/>
            <a:ext cx="2651760" cy="1225296"/>
          </a:xfrm>
          <a:prstGeom prst="roundRect">
            <a:avLst>
              <a:gd name="adj" fmla="val 3731"/>
            </a:avLst>
          </a:prstGeom>
          <a:solidFill>
            <a:srgbClr val="D8D8D8"/>
          </a:solidFill>
          <a:ln w="6350">
            <a:solidFill>
              <a:srgbClr val="666666"/>
            </a:solidFill>
            <a:prstDash val="solid"/>
          </a:ln>
        </p:spPr>
      </p:sp>
      <p:sp>
        <p:nvSpPr>
          <p:cNvPr id="11" name="Shape 9"/>
          <p:cNvSpPr/>
          <p:nvPr/>
        </p:nvSpPr>
        <p:spPr>
          <a:xfrm>
            <a:off x="1298448" y="2432304"/>
            <a:ext cx="310896" cy="896112"/>
          </a:xfrm>
          <a:prstGeom prst="rect">
            <a:avLst/>
          </a:prstGeom>
          <a:solidFill>
            <a:srgbClr val="008B8B"/>
          </a:solidFill>
          <a:ln w="6350">
            <a:solidFill>
              <a:srgbClr val="FFFFFF"/>
            </a:solidFill>
            <a:prstDash val="solid"/>
          </a:ln>
        </p:spPr>
      </p:sp>
      <p:sp>
        <p:nvSpPr>
          <p:cNvPr id="12" name="Shape 10"/>
          <p:cNvSpPr/>
          <p:nvPr/>
        </p:nvSpPr>
        <p:spPr>
          <a:xfrm>
            <a:off x="1298448" y="2670048"/>
            <a:ext cx="310896" cy="0"/>
          </a:xfrm>
          <a:prstGeom prst="line">
            <a:avLst/>
          </a:prstGeom>
          <a:noFill/>
          <a:ln w="6350">
            <a:solidFill>
              <a:srgbClr val="FFFFFF"/>
            </a:solidFill>
            <a:prstDash val="solid"/>
          </a:ln>
        </p:spPr>
      </p:sp>
      <p:sp>
        <p:nvSpPr>
          <p:cNvPr id="13" name="Shape 11"/>
          <p:cNvSpPr/>
          <p:nvPr/>
        </p:nvSpPr>
        <p:spPr>
          <a:xfrm>
            <a:off x="1298448" y="2898648"/>
            <a:ext cx="310896" cy="0"/>
          </a:xfrm>
          <a:prstGeom prst="line">
            <a:avLst/>
          </a:prstGeom>
          <a:noFill/>
          <a:ln w="6350">
            <a:solidFill>
              <a:srgbClr val="FFFFFF"/>
            </a:solidFill>
            <a:prstDash val="solid"/>
          </a:ln>
        </p:spPr>
      </p:sp>
      <p:sp>
        <p:nvSpPr>
          <p:cNvPr id="14" name="Shape 12"/>
          <p:cNvSpPr/>
          <p:nvPr/>
        </p:nvSpPr>
        <p:spPr>
          <a:xfrm>
            <a:off x="1298448" y="3127248"/>
            <a:ext cx="310896" cy="0"/>
          </a:xfrm>
          <a:prstGeom prst="line">
            <a:avLst/>
          </a:prstGeom>
          <a:noFill/>
          <a:ln w="6350">
            <a:solidFill>
              <a:srgbClr val="FFFFFF"/>
            </a:solidFill>
            <a:prstDash val="solid"/>
          </a:ln>
        </p:spPr>
      </p:sp>
      <p:sp>
        <p:nvSpPr>
          <p:cNvPr id="15" name="Shape 13"/>
          <p:cNvSpPr/>
          <p:nvPr/>
        </p:nvSpPr>
        <p:spPr>
          <a:xfrm>
            <a:off x="1645920" y="2432304"/>
            <a:ext cx="310896" cy="896112"/>
          </a:xfrm>
          <a:prstGeom prst="rect">
            <a:avLst/>
          </a:prstGeom>
          <a:solidFill>
            <a:srgbClr val="008B8B"/>
          </a:solidFill>
          <a:ln w="6350">
            <a:solidFill>
              <a:srgbClr val="FFFFFF"/>
            </a:solidFill>
            <a:prstDash val="solid"/>
          </a:ln>
        </p:spPr>
      </p:sp>
      <p:sp>
        <p:nvSpPr>
          <p:cNvPr id="16" name="Shape 14"/>
          <p:cNvSpPr/>
          <p:nvPr/>
        </p:nvSpPr>
        <p:spPr>
          <a:xfrm>
            <a:off x="1645920" y="2670048"/>
            <a:ext cx="310896" cy="0"/>
          </a:xfrm>
          <a:prstGeom prst="line">
            <a:avLst/>
          </a:prstGeom>
          <a:noFill/>
          <a:ln w="6350">
            <a:solidFill>
              <a:srgbClr val="FFFFFF"/>
            </a:solidFill>
            <a:prstDash val="solid"/>
          </a:ln>
        </p:spPr>
      </p:sp>
      <p:sp>
        <p:nvSpPr>
          <p:cNvPr id="17" name="Shape 15"/>
          <p:cNvSpPr/>
          <p:nvPr/>
        </p:nvSpPr>
        <p:spPr>
          <a:xfrm>
            <a:off x="1645920" y="2898648"/>
            <a:ext cx="310896" cy="0"/>
          </a:xfrm>
          <a:prstGeom prst="line">
            <a:avLst/>
          </a:prstGeom>
          <a:noFill/>
          <a:ln w="6350">
            <a:solidFill>
              <a:srgbClr val="FFFFFF"/>
            </a:solidFill>
            <a:prstDash val="solid"/>
          </a:ln>
        </p:spPr>
      </p:sp>
      <p:sp>
        <p:nvSpPr>
          <p:cNvPr id="18" name="Shape 16"/>
          <p:cNvSpPr/>
          <p:nvPr/>
        </p:nvSpPr>
        <p:spPr>
          <a:xfrm>
            <a:off x="1645920" y="3127248"/>
            <a:ext cx="310896" cy="0"/>
          </a:xfrm>
          <a:prstGeom prst="line">
            <a:avLst/>
          </a:prstGeom>
          <a:noFill/>
          <a:ln w="6350">
            <a:solidFill>
              <a:srgbClr val="FFFFFF"/>
            </a:solidFill>
            <a:prstDash val="solid"/>
          </a:ln>
        </p:spPr>
      </p:sp>
      <p:sp>
        <p:nvSpPr>
          <p:cNvPr id="19" name="Shape 17"/>
          <p:cNvSpPr/>
          <p:nvPr/>
        </p:nvSpPr>
        <p:spPr>
          <a:xfrm>
            <a:off x="3017520" y="2432304"/>
            <a:ext cx="310896" cy="896112"/>
          </a:xfrm>
          <a:prstGeom prst="rect">
            <a:avLst/>
          </a:prstGeom>
          <a:solidFill>
            <a:srgbClr val="008B8B"/>
          </a:solidFill>
          <a:ln w="6350">
            <a:solidFill>
              <a:srgbClr val="FFFFFF"/>
            </a:solidFill>
            <a:prstDash val="solid"/>
          </a:ln>
        </p:spPr>
      </p:sp>
      <p:sp>
        <p:nvSpPr>
          <p:cNvPr id="20" name="Shape 18"/>
          <p:cNvSpPr/>
          <p:nvPr/>
        </p:nvSpPr>
        <p:spPr>
          <a:xfrm>
            <a:off x="3017520" y="2670048"/>
            <a:ext cx="310896" cy="0"/>
          </a:xfrm>
          <a:prstGeom prst="line">
            <a:avLst/>
          </a:prstGeom>
          <a:noFill/>
          <a:ln w="6350">
            <a:solidFill>
              <a:srgbClr val="FFFFFF"/>
            </a:solidFill>
            <a:prstDash val="solid"/>
          </a:ln>
        </p:spPr>
      </p:sp>
      <p:sp>
        <p:nvSpPr>
          <p:cNvPr id="21" name="Shape 19"/>
          <p:cNvSpPr/>
          <p:nvPr/>
        </p:nvSpPr>
        <p:spPr>
          <a:xfrm>
            <a:off x="3017520" y="2898648"/>
            <a:ext cx="310896" cy="0"/>
          </a:xfrm>
          <a:prstGeom prst="line">
            <a:avLst/>
          </a:prstGeom>
          <a:noFill/>
          <a:ln w="6350">
            <a:solidFill>
              <a:srgbClr val="FFFFFF"/>
            </a:solidFill>
            <a:prstDash val="solid"/>
          </a:ln>
        </p:spPr>
      </p:sp>
      <p:sp>
        <p:nvSpPr>
          <p:cNvPr id="22" name="Shape 20"/>
          <p:cNvSpPr/>
          <p:nvPr/>
        </p:nvSpPr>
        <p:spPr>
          <a:xfrm>
            <a:off x="3017520" y="3127248"/>
            <a:ext cx="310896" cy="0"/>
          </a:xfrm>
          <a:prstGeom prst="line">
            <a:avLst/>
          </a:prstGeom>
          <a:noFill/>
          <a:ln w="6350">
            <a:solidFill>
              <a:srgbClr val="FFFFFF"/>
            </a:solidFill>
            <a:prstDash val="solid"/>
          </a:ln>
        </p:spPr>
      </p:sp>
      <p:sp>
        <p:nvSpPr>
          <p:cNvPr id="23" name="Shape 21"/>
          <p:cNvSpPr/>
          <p:nvPr/>
        </p:nvSpPr>
        <p:spPr>
          <a:xfrm>
            <a:off x="3364992" y="2432304"/>
            <a:ext cx="310896" cy="896112"/>
          </a:xfrm>
          <a:prstGeom prst="rect">
            <a:avLst/>
          </a:prstGeom>
          <a:solidFill>
            <a:srgbClr val="008B8B"/>
          </a:solidFill>
          <a:ln w="6350">
            <a:solidFill>
              <a:srgbClr val="FFFFFF"/>
            </a:solidFill>
            <a:prstDash val="solid"/>
          </a:ln>
        </p:spPr>
      </p:sp>
      <p:sp>
        <p:nvSpPr>
          <p:cNvPr id="24" name="Shape 22"/>
          <p:cNvSpPr/>
          <p:nvPr/>
        </p:nvSpPr>
        <p:spPr>
          <a:xfrm>
            <a:off x="3364992" y="2670048"/>
            <a:ext cx="310896" cy="0"/>
          </a:xfrm>
          <a:prstGeom prst="line">
            <a:avLst/>
          </a:prstGeom>
          <a:noFill/>
          <a:ln w="6350">
            <a:solidFill>
              <a:srgbClr val="FFFFFF"/>
            </a:solidFill>
            <a:prstDash val="solid"/>
          </a:ln>
        </p:spPr>
      </p:sp>
      <p:sp>
        <p:nvSpPr>
          <p:cNvPr id="25" name="Shape 23"/>
          <p:cNvSpPr/>
          <p:nvPr/>
        </p:nvSpPr>
        <p:spPr>
          <a:xfrm>
            <a:off x="3364992" y="2898648"/>
            <a:ext cx="310896" cy="0"/>
          </a:xfrm>
          <a:prstGeom prst="line">
            <a:avLst/>
          </a:prstGeom>
          <a:noFill/>
          <a:ln w="6350">
            <a:solidFill>
              <a:srgbClr val="FFFFFF"/>
            </a:solidFill>
            <a:prstDash val="solid"/>
          </a:ln>
        </p:spPr>
      </p:sp>
      <p:sp>
        <p:nvSpPr>
          <p:cNvPr id="26" name="Shape 24"/>
          <p:cNvSpPr/>
          <p:nvPr/>
        </p:nvSpPr>
        <p:spPr>
          <a:xfrm>
            <a:off x="3364992" y="3127248"/>
            <a:ext cx="310896" cy="0"/>
          </a:xfrm>
          <a:prstGeom prst="line">
            <a:avLst/>
          </a:prstGeom>
          <a:noFill/>
          <a:ln w="6350">
            <a:solidFill>
              <a:srgbClr val="FFFFFF"/>
            </a:solidFill>
            <a:prstDash val="solid"/>
          </a:ln>
        </p:spPr>
      </p:sp>
      <p:sp>
        <p:nvSpPr>
          <p:cNvPr id="27" name="Shape 25"/>
          <p:cNvSpPr/>
          <p:nvPr/>
        </p:nvSpPr>
        <p:spPr>
          <a:xfrm>
            <a:off x="2057400" y="2432304"/>
            <a:ext cx="822960" cy="896112"/>
          </a:xfrm>
          <a:prstGeom prst="rect">
            <a:avLst/>
          </a:prstGeom>
          <a:solidFill>
            <a:srgbClr val="051A3D"/>
          </a:solidFill>
          <a:ln w="12700">
            <a:solidFill>
              <a:srgbClr val="FFB800"/>
            </a:solidFill>
            <a:prstDash val="solid"/>
          </a:ln>
        </p:spPr>
      </p:sp>
      <p:sp>
        <p:nvSpPr>
          <p:cNvPr id="28" name="Text 26"/>
          <p:cNvSpPr/>
          <p:nvPr/>
        </p:nvSpPr>
        <p:spPr>
          <a:xfrm>
            <a:off x="2057400" y="2432304"/>
            <a:ext cx="822960" cy="896112"/>
          </a:xfrm>
          <a:prstGeom prst="rect">
            <a:avLst/>
          </a:prstGeom>
          <a:noFill/>
          <a:ln/>
        </p:spPr>
        <p:txBody>
          <a:bodyPr wrap="square" lIns="0" tIns="0" rIns="0" bIns="0" rtlCol="0" anchor="ctr"/>
          <a:lstStyle/>
          <a:p>
            <a:pPr algn="ctr" indent="0" marL="0">
              <a:lnSpc>
                <a:spcPct val="90000"/>
              </a:lnSpc>
              <a:buNone/>
            </a:pPr>
            <a:r>
              <a:rPr lang="en-US" sz="850" b="1" dirty="0">
                <a:solidFill>
                  <a:srgbClr val="FFFFFF"/>
                </a:solidFill>
                <a:latin typeface="Arial" pitchFamily="34" charset="0"/>
                <a:ea typeface="Arial" pitchFamily="34" charset="-122"/>
                <a:cs typeface="Arial" pitchFamily="34" charset="-120"/>
              </a:rPr>
              <a:t>LOGIC</a:t>
            </a:r>
            <a:endParaRPr lang="en-US" sz="850" dirty="0"/>
          </a:p>
          <a:p>
            <a:pPr algn="ctr" indent="0" marL="0">
              <a:lnSpc>
                <a:spcPct val="90000"/>
              </a:lnSpc>
              <a:buNone/>
            </a:pPr>
            <a:r>
              <a:rPr lang="en-US" sz="850" b="1" dirty="0">
                <a:solidFill>
                  <a:srgbClr val="FFFFFF"/>
                </a:solidFill>
                <a:latin typeface="Arial" pitchFamily="34" charset="0"/>
                <a:ea typeface="Arial" pitchFamily="34" charset="-122"/>
                <a:cs typeface="Arial" pitchFamily="34" charset="-120"/>
              </a:rPr>
              <a:t>DIE</a:t>
            </a:r>
            <a:endParaRPr lang="en-US" sz="850" dirty="0"/>
          </a:p>
        </p:txBody>
      </p:sp>
      <p:sp>
        <p:nvSpPr>
          <p:cNvPr id="29" name="Shape 27"/>
          <p:cNvSpPr/>
          <p:nvPr/>
        </p:nvSpPr>
        <p:spPr>
          <a:xfrm>
            <a:off x="1188720" y="3529584"/>
            <a:ext cx="82296" cy="82296"/>
          </a:xfrm>
          <a:prstGeom prst="ellipse">
            <a:avLst/>
          </a:prstGeom>
          <a:solidFill>
            <a:srgbClr val="FFB800"/>
          </a:solidFill>
          <a:ln w="12700">
            <a:solidFill>
              <a:srgbClr val="FFB800"/>
            </a:solidFill>
            <a:prstDash val="solid"/>
          </a:ln>
        </p:spPr>
      </p:sp>
      <p:sp>
        <p:nvSpPr>
          <p:cNvPr id="30" name="Shape 28"/>
          <p:cNvSpPr/>
          <p:nvPr/>
        </p:nvSpPr>
        <p:spPr>
          <a:xfrm>
            <a:off x="1412748" y="3529584"/>
            <a:ext cx="82296" cy="82296"/>
          </a:xfrm>
          <a:prstGeom prst="ellipse">
            <a:avLst/>
          </a:prstGeom>
          <a:solidFill>
            <a:srgbClr val="FFB800"/>
          </a:solidFill>
          <a:ln w="12700">
            <a:solidFill>
              <a:srgbClr val="FFB800"/>
            </a:solidFill>
            <a:prstDash val="solid"/>
          </a:ln>
        </p:spPr>
      </p:sp>
      <p:sp>
        <p:nvSpPr>
          <p:cNvPr id="31" name="Shape 29"/>
          <p:cNvSpPr/>
          <p:nvPr/>
        </p:nvSpPr>
        <p:spPr>
          <a:xfrm>
            <a:off x="1636776" y="3529584"/>
            <a:ext cx="82296" cy="82296"/>
          </a:xfrm>
          <a:prstGeom prst="ellipse">
            <a:avLst/>
          </a:prstGeom>
          <a:solidFill>
            <a:srgbClr val="FFB800"/>
          </a:solidFill>
          <a:ln w="12700">
            <a:solidFill>
              <a:srgbClr val="FFB800"/>
            </a:solidFill>
            <a:prstDash val="solid"/>
          </a:ln>
        </p:spPr>
      </p:sp>
      <p:sp>
        <p:nvSpPr>
          <p:cNvPr id="32" name="Shape 30"/>
          <p:cNvSpPr/>
          <p:nvPr/>
        </p:nvSpPr>
        <p:spPr>
          <a:xfrm>
            <a:off x="1860804" y="3529584"/>
            <a:ext cx="82296" cy="82296"/>
          </a:xfrm>
          <a:prstGeom prst="ellipse">
            <a:avLst/>
          </a:prstGeom>
          <a:solidFill>
            <a:srgbClr val="FFB800"/>
          </a:solidFill>
          <a:ln w="12700">
            <a:solidFill>
              <a:srgbClr val="FFB800"/>
            </a:solidFill>
            <a:prstDash val="solid"/>
          </a:ln>
        </p:spPr>
      </p:sp>
      <p:sp>
        <p:nvSpPr>
          <p:cNvPr id="33" name="Shape 31"/>
          <p:cNvSpPr/>
          <p:nvPr/>
        </p:nvSpPr>
        <p:spPr>
          <a:xfrm>
            <a:off x="2084832" y="3529584"/>
            <a:ext cx="82296" cy="82296"/>
          </a:xfrm>
          <a:prstGeom prst="ellipse">
            <a:avLst/>
          </a:prstGeom>
          <a:solidFill>
            <a:srgbClr val="FFB800"/>
          </a:solidFill>
          <a:ln w="12700">
            <a:solidFill>
              <a:srgbClr val="FFB800"/>
            </a:solidFill>
            <a:prstDash val="solid"/>
          </a:ln>
        </p:spPr>
      </p:sp>
      <p:sp>
        <p:nvSpPr>
          <p:cNvPr id="34" name="Shape 32"/>
          <p:cNvSpPr/>
          <p:nvPr/>
        </p:nvSpPr>
        <p:spPr>
          <a:xfrm>
            <a:off x="2308860" y="3529584"/>
            <a:ext cx="82296" cy="82296"/>
          </a:xfrm>
          <a:prstGeom prst="ellipse">
            <a:avLst/>
          </a:prstGeom>
          <a:solidFill>
            <a:srgbClr val="FFB800"/>
          </a:solidFill>
          <a:ln w="12700">
            <a:solidFill>
              <a:srgbClr val="FFB800"/>
            </a:solidFill>
            <a:prstDash val="solid"/>
          </a:ln>
        </p:spPr>
      </p:sp>
      <p:sp>
        <p:nvSpPr>
          <p:cNvPr id="35" name="Shape 33"/>
          <p:cNvSpPr/>
          <p:nvPr/>
        </p:nvSpPr>
        <p:spPr>
          <a:xfrm>
            <a:off x="2532888" y="3529584"/>
            <a:ext cx="82296" cy="82296"/>
          </a:xfrm>
          <a:prstGeom prst="ellipse">
            <a:avLst/>
          </a:prstGeom>
          <a:solidFill>
            <a:srgbClr val="FFB800"/>
          </a:solidFill>
          <a:ln w="12700">
            <a:solidFill>
              <a:srgbClr val="FFB800"/>
            </a:solidFill>
            <a:prstDash val="solid"/>
          </a:ln>
        </p:spPr>
      </p:sp>
      <p:sp>
        <p:nvSpPr>
          <p:cNvPr id="36" name="Shape 34"/>
          <p:cNvSpPr/>
          <p:nvPr/>
        </p:nvSpPr>
        <p:spPr>
          <a:xfrm>
            <a:off x="2756916" y="3529584"/>
            <a:ext cx="82296" cy="82296"/>
          </a:xfrm>
          <a:prstGeom prst="ellipse">
            <a:avLst/>
          </a:prstGeom>
          <a:solidFill>
            <a:srgbClr val="FFB800"/>
          </a:solidFill>
          <a:ln w="12700">
            <a:solidFill>
              <a:srgbClr val="FFB800"/>
            </a:solidFill>
            <a:prstDash val="solid"/>
          </a:ln>
        </p:spPr>
      </p:sp>
      <p:sp>
        <p:nvSpPr>
          <p:cNvPr id="37" name="Shape 35"/>
          <p:cNvSpPr/>
          <p:nvPr/>
        </p:nvSpPr>
        <p:spPr>
          <a:xfrm>
            <a:off x="2980944" y="3529584"/>
            <a:ext cx="82296" cy="82296"/>
          </a:xfrm>
          <a:prstGeom prst="ellipse">
            <a:avLst/>
          </a:prstGeom>
          <a:solidFill>
            <a:srgbClr val="FFB800"/>
          </a:solidFill>
          <a:ln w="12700">
            <a:solidFill>
              <a:srgbClr val="FFB800"/>
            </a:solidFill>
            <a:prstDash val="solid"/>
          </a:ln>
        </p:spPr>
      </p:sp>
      <p:sp>
        <p:nvSpPr>
          <p:cNvPr id="38" name="Shape 36"/>
          <p:cNvSpPr/>
          <p:nvPr/>
        </p:nvSpPr>
        <p:spPr>
          <a:xfrm>
            <a:off x="3204972" y="3529584"/>
            <a:ext cx="82296" cy="82296"/>
          </a:xfrm>
          <a:prstGeom prst="ellipse">
            <a:avLst/>
          </a:prstGeom>
          <a:solidFill>
            <a:srgbClr val="FFB800"/>
          </a:solidFill>
          <a:ln w="12700">
            <a:solidFill>
              <a:srgbClr val="FFB800"/>
            </a:solidFill>
            <a:prstDash val="solid"/>
          </a:ln>
        </p:spPr>
      </p:sp>
      <p:sp>
        <p:nvSpPr>
          <p:cNvPr id="39" name="Shape 37"/>
          <p:cNvSpPr/>
          <p:nvPr/>
        </p:nvSpPr>
        <p:spPr>
          <a:xfrm>
            <a:off x="3429000" y="3529584"/>
            <a:ext cx="82296" cy="82296"/>
          </a:xfrm>
          <a:prstGeom prst="ellipse">
            <a:avLst/>
          </a:prstGeom>
          <a:solidFill>
            <a:srgbClr val="FFB800"/>
          </a:solidFill>
          <a:ln w="12700">
            <a:solidFill>
              <a:srgbClr val="FFB800"/>
            </a:solidFill>
            <a:prstDash val="solid"/>
          </a:ln>
        </p:spPr>
      </p:sp>
      <p:sp>
        <p:nvSpPr>
          <p:cNvPr id="40" name="Shape 38"/>
          <p:cNvSpPr/>
          <p:nvPr/>
        </p:nvSpPr>
        <p:spPr>
          <a:xfrm>
            <a:off x="3653028" y="3529584"/>
            <a:ext cx="82296" cy="82296"/>
          </a:xfrm>
          <a:prstGeom prst="ellipse">
            <a:avLst/>
          </a:prstGeom>
          <a:solidFill>
            <a:srgbClr val="FFB800"/>
          </a:solidFill>
          <a:ln w="12700">
            <a:solidFill>
              <a:srgbClr val="FFB800"/>
            </a:solidFill>
            <a:prstDash val="solid"/>
          </a:ln>
        </p:spPr>
      </p:sp>
      <p:sp>
        <p:nvSpPr>
          <p:cNvPr id="41" name="Shape 39"/>
          <p:cNvSpPr/>
          <p:nvPr/>
        </p:nvSpPr>
        <p:spPr>
          <a:xfrm>
            <a:off x="685800" y="3904488"/>
            <a:ext cx="146304" cy="146304"/>
          </a:xfrm>
          <a:prstGeom prst="rect">
            <a:avLst/>
          </a:prstGeom>
          <a:solidFill>
            <a:srgbClr val="051A3D"/>
          </a:solidFill>
          <a:ln w="6350">
            <a:solidFill>
              <a:srgbClr val="666666"/>
            </a:solidFill>
            <a:prstDash val="solid"/>
          </a:ln>
        </p:spPr>
      </p:sp>
      <p:sp>
        <p:nvSpPr>
          <p:cNvPr id="42" name="Text 40"/>
          <p:cNvSpPr/>
          <p:nvPr/>
        </p:nvSpPr>
        <p:spPr>
          <a:xfrm>
            <a:off x="914400" y="3886200"/>
            <a:ext cx="3429000" cy="256032"/>
          </a:xfrm>
          <a:prstGeom prst="rect">
            <a:avLst/>
          </a:prstGeom>
          <a:noFill/>
          <a:ln/>
        </p:spPr>
        <p:txBody>
          <a:bodyPr wrap="square" lIns="0" tIns="0" rIns="0" bIns="0" rtlCol="0" anchor="ctr"/>
          <a:lstStyle/>
          <a:p>
            <a:pPr indent="0" marL="0">
              <a:buNone/>
            </a:pPr>
            <a:r>
              <a:rPr lang="en-US" sz="950" b="1" dirty="0">
                <a:solidFill>
                  <a:srgbClr val="000000"/>
                </a:solidFill>
                <a:latin typeface="Arial" pitchFamily="34" charset="0"/>
                <a:ea typeface="Arial" pitchFamily="34" charset="-122"/>
                <a:cs typeface="Arial" pitchFamily="34" charset="-120"/>
              </a:rPr>
              <a:t>Logic die</a:t>
            </a:r>
            <a:pPr indent="0" marL="0">
              <a:buNone/>
            </a:pPr>
            <a:r>
              <a:rPr lang="en-US" sz="950" dirty="0">
                <a:solidFill>
                  <a:srgbClr val="333333"/>
                </a:solidFill>
                <a:latin typeface="Arial" pitchFamily="34" charset="0"/>
                <a:ea typeface="Arial" pitchFamily="34" charset="-122"/>
                <a:cs typeface="Arial" pitchFamily="34" charset="-120"/>
              </a:rPr>
              <a:t> — the GPU/ASIC that does the math</a:t>
            </a:r>
            <a:endParaRPr lang="en-US" sz="950" dirty="0"/>
          </a:p>
        </p:txBody>
      </p:sp>
      <p:sp>
        <p:nvSpPr>
          <p:cNvPr id="43" name="Shape 41"/>
          <p:cNvSpPr/>
          <p:nvPr/>
        </p:nvSpPr>
        <p:spPr>
          <a:xfrm>
            <a:off x="685800" y="4270248"/>
            <a:ext cx="146304" cy="146304"/>
          </a:xfrm>
          <a:prstGeom prst="rect">
            <a:avLst/>
          </a:prstGeom>
          <a:solidFill>
            <a:srgbClr val="008B8B"/>
          </a:solidFill>
          <a:ln w="6350">
            <a:solidFill>
              <a:srgbClr val="666666"/>
            </a:solidFill>
            <a:prstDash val="solid"/>
          </a:ln>
        </p:spPr>
      </p:sp>
      <p:sp>
        <p:nvSpPr>
          <p:cNvPr id="44" name="Text 42"/>
          <p:cNvSpPr/>
          <p:nvPr/>
        </p:nvSpPr>
        <p:spPr>
          <a:xfrm>
            <a:off x="914400" y="4251960"/>
            <a:ext cx="3429000" cy="256032"/>
          </a:xfrm>
          <a:prstGeom prst="rect">
            <a:avLst/>
          </a:prstGeom>
          <a:noFill/>
          <a:ln/>
        </p:spPr>
        <p:txBody>
          <a:bodyPr wrap="square" lIns="0" tIns="0" rIns="0" bIns="0" rtlCol="0" anchor="ctr"/>
          <a:lstStyle/>
          <a:p>
            <a:pPr indent="0" marL="0">
              <a:buNone/>
            </a:pPr>
            <a:r>
              <a:rPr lang="en-US" sz="950" b="1" dirty="0">
                <a:solidFill>
                  <a:srgbClr val="000000"/>
                </a:solidFill>
                <a:latin typeface="Arial" pitchFamily="34" charset="0"/>
                <a:ea typeface="Arial" pitchFamily="34" charset="-122"/>
                <a:cs typeface="Arial" pitchFamily="34" charset="-120"/>
              </a:rPr>
              <a:t>HBM stacks</a:t>
            </a:r>
            <a:pPr indent="0" marL="0">
              <a:buNone/>
            </a:pPr>
            <a:r>
              <a:rPr lang="en-US" sz="950" dirty="0">
                <a:solidFill>
                  <a:srgbClr val="333333"/>
                </a:solidFill>
                <a:latin typeface="Arial" pitchFamily="34" charset="0"/>
                <a:ea typeface="Arial" pitchFamily="34" charset="-122"/>
                <a:cs typeface="Arial" pitchFamily="34" charset="-120"/>
              </a:rPr>
              <a:t> — high-bandwidth memory beside the die</a:t>
            </a:r>
            <a:endParaRPr lang="en-US" sz="950" dirty="0"/>
          </a:p>
        </p:txBody>
      </p:sp>
      <p:sp>
        <p:nvSpPr>
          <p:cNvPr id="45" name="Shape 43"/>
          <p:cNvSpPr/>
          <p:nvPr/>
        </p:nvSpPr>
        <p:spPr>
          <a:xfrm>
            <a:off x="685800" y="4636008"/>
            <a:ext cx="146304" cy="146304"/>
          </a:xfrm>
          <a:prstGeom prst="rect">
            <a:avLst/>
          </a:prstGeom>
          <a:solidFill>
            <a:srgbClr val="D8D8D8"/>
          </a:solidFill>
          <a:ln w="6350">
            <a:solidFill>
              <a:srgbClr val="666666"/>
            </a:solidFill>
            <a:prstDash val="solid"/>
          </a:ln>
        </p:spPr>
      </p:sp>
      <p:sp>
        <p:nvSpPr>
          <p:cNvPr id="46" name="Text 44"/>
          <p:cNvSpPr/>
          <p:nvPr/>
        </p:nvSpPr>
        <p:spPr>
          <a:xfrm>
            <a:off x="914400" y="4617720"/>
            <a:ext cx="3429000" cy="256032"/>
          </a:xfrm>
          <a:prstGeom prst="rect">
            <a:avLst/>
          </a:prstGeom>
          <a:noFill/>
          <a:ln/>
        </p:spPr>
        <p:txBody>
          <a:bodyPr wrap="square" lIns="0" tIns="0" rIns="0" bIns="0" rtlCol="0" anchor="ctr"/>
          <a:lstStyle/>
          <a:p>
            <a:pPr indent="0" marL="0">
              <a:buNone/>
            </a:pPr>
            <a:r>
              <a:rPr lang="en-US" sz="950" b="1" dirty="0">
                <a:solidFill>
                  <a:srgbClr val="000000"/>
                </a:solidFill>
                <a:latin typeface="Arial" pitchFamily="34" charset="0"/>
                <a:ea typeface="Arial" pitchFamily="34" charset="-122"/>
                <a:cs typeface="Arial" pitchFamily="34" charset="-120"/>
              </a:rPr>
              <a:t>Interposer (CoWoS)</a:t>
            </a:r>
            <a:pPr indent="0" marL="0">
              <a:buNone/>
            </a:pPr>
            <a:r>
              <a:rPr lang="en-US" sz="950" dirty="0">
                <a:solidFill>
                  <a:srgbClr val="333333"/>
                </a:solidFill>
                <a:latin typeface="Arial" pitchFamily="34" charset="0"/>
                <a:ea typeface="Arial" pitchFamily="34" charset="-122"/>
                <a:cs typeface="Arial" pitchFamily="34" charset="-120"/>
              </a:rPr>
              <a:t> — silicon bridge wiring die ↔ memory</a:t>
            </a:r>
            <a:endParaRPr lang="en-US" sz="950" dirty="0"/>
          </a:p>
        </p:txBody>
      </p:sp>
      <p:sp>
        <p:nvSpPr>
          <p:cNvPr id="47" name="Shape 45"/>
          <p:cNvSpPr/>
          <p:nvPr/>
        </p:nvSpPr>
        <p:spPr>
          <a:xfrm>
            <a:off x="685800" y="5001768"/>
            <a:ext cx="146304" cy="146304"/>
          </a:xfrm>
          <a:prstGeom prst="rect">
            <a:avLst/>
          </a:prstGeom>
          <a:solidFill>
            <a:srgbClr val="FFB800"/>
          </a:solidFill>
          <a:ln w="6350">
            <a:solidFill>
              <a:srgbClr val="666666"/>
            </a:solidFill>
            <a:prstDash val="solid"/>
          </a:ln>
        </p:spPr>
      </p:sp>
      <p:sp>
        <p:nvSpPr>
          <p:cNvPr id="48" name="Text 46"/>
          <p:cNvSpPr/>
          <p:nvPr/>
        </p:nvSpPr>
        <p:spPr>
          <a:xfrm>
            <a:off x="914400" y="4983480"/>
            <a:ext cx="3429000" cy="256032"/>
          </a:xfrm>
          <a:prstGeom prst="rect">
            <a:avLst/>
          </a:prstGeom>
          <a:noFill/>
          <a:ln/>
        </p:spPr>
        <p:txBody>
          <a:bodyPr wrap="square" lIns="0" tIns="0" rIns="0" bIns="0" rtlCol="0" anchor="ctr"/>
          <a:lstStyle/>
          <a:p>
            <a:pPr indent="0" marL="0">
              <a:buNone/>
            </a:pPr>
            <a:r>
              <a:rPr lang="en-US" sz="950" b="1" dirty="0">
                <a:solidFill>
                  <a:srgbClr val="000000"/>
                </a:solidFill>
                <a:latin typeface="Arial" pitchFamily="34" charset="0"/>
                <a:ea typeface="Arial" pitchFamily="34" charset="-122"/>
                <a:cs typeface="Arial" pitchFamily="34" charset="-120"/>
              </a:rPr>
              <a:t>Substrate + pads</a:t>
            </a:r>
            <a:pPr indent="0" marL="0">
              <a:buNone/>
            </a:pPr>
            <a:r>
              <a:rPr lang="en-US" sz="950" dirty="0">
                <a:solidFill>
                  <a:srgbClr val="333333"/>
                </a:solidFill>
                <a:latin typeface="Arial" pitchFamily="34" charset="0"/>
                <a:ea typeface="Arial" pitchFamily="34" charset="-122"/>
                <a:cs typeface="Arial" pitchFamily="34" charset="-120"/>
              </a:rPr>
              <a:t> — the base that plugs into the board</a:t>
            </a:r>
            <a:endParaRPr lang="en-US" sz="950" dirty="0"/>
          </a:p>
        </p:txBody>
      </p:sp>
      <p:sp>
        <p:nvSpPr>
          <p:cNvPr id="49" name="Text 47"/>
          <p:cNvSpPr/>
          <p:nvPr/>
        </p:nvSpPr>
        <p:spPr>
          <a:xfrm>
            <a:off x="457200" y="5559552"/>
            <a:ext cx="4023360" cy="274320"/>
          </a:xfrm>
          <a:prstGeom prst="rect">
            <a:avLst/>
          </a:prstGeom>
          <a:noFill/>
          <a:ln/>
        </p:spPr>
        <p:txBody>
          <a:bodyPr wrap="square" lIns="0" tIns="0" rIns="0" bIns="0" rtlCol="0" anchor="t"/>
          <a:lstStyle/>
          <a:p>
            <a:pPr indent="0" marL="0">
              <a:buNone/>
            </a:pPr>
            <a:r>
              <a:rPr lang="en-US" sz="800" i="1" dirty="0">
                <a:solidFill>
                  <a:srgbClr val="666666"/>
                </a:solidFill>
                <a:latin typeface="Arial" pitchFamily="34" charset="0"/>
                <a:ea typeface="Arial" pitchFamily="34" charset="-122"/>
                <a:cs typeface="Arial" pitchFamily="34" charset="-120"/>
              </a:rPr>
              <a:t>Schematic of an AI accelerator package — one logic die surrounded by HBM memory on a silicon interposer.</a:t>
            </a:r>
            <a:endParaRPr lang="en-US" sz="800" dirty="0"/>
          </a:p>
        </p:txBody>
      </p:sp>
      <p:sp>
        <p:nvSpPr>
          <p:cNvPr id="50" name="Text 48"/>
          <p:cNvSpPr/>
          <p:nvPr/>
        </p:nvSpPr>
        <p:spPr>
          <a:xfrm>
            <a:off x="4617720" y="1554480"/>
            <a:ext cx="4069080" cy="219456"/>
          </a:xfrm>
          <a:prstGeom prst="rect">
            <a:avLst/>
          </a:prstGeom>
          <a:noFill/>
          <a:ln/>
        </p:spPr>
        <p:txBody>
          <a:bodyPr wrap="square" lIns="0" tIns="0" rIns="0" bIns="0" rtlCol="0" anchor="ctr"/>
          <a:lstStyle/>
          <a:p>
            <a:pPr indent="0" marL="0">
              <a:buNone/>
            </a:pPr>
            <a:r>
              <a:rPr lang="en-US" sz="900" b="1" spc="200" kern="0" dirty="0">
                <a:solidFill>
                  <a:srgbClr val="666666"/>
                </a:solidFill>
                <a:latin typeface="Arial" pitchFamily="34" charset="0"/>
                <a:ea typeface="Arial" pitchFamily="34" charset="-122"/>
                <a:cs typeface="Arial" pitchFamily="34" charset="-120"/>
              </a:rPr>
              <a:t>THE FOUR STAGES</a:t>
            </a:r>
            <a:endParaRPr lang="en-US" sz="900" dirty="0"/>
          </a:p>
        </p:txBody>
      </p:sp>
      <p:sp>
        <p:nvSpPr>
          <p:cNvPr id="51" name="Shape 49"/>
          <p:cNvSpPr/>
          <p:nvPr/>
        </p:nvSpPr>
        <p:spPr>
          <a:xfrm>
            <a:off x="4617720" y="1783080"/>
            <a:ext cx="4069080" cy="0"/>
          </a:xfrm>
          <a:prstGeom prst="line">
            <a:avLst/>
          </a:prstGeom>
          <a:noFill/>
          <a:ln w="6350">
            <a:solidFill>
              <a:srgbClr val="E5E5E5"/>
            </a:solidFill>
            <a:prstDash val="solid"/>
          </a:ln>
        </p:spPr>
      </p:sp>
      <p:sp>
        <p:nvSpPr>
          <p:cNvPr id="52" name="Shape 50"/>
          <p:cNvSpPr/>
          <p:nvPr/>
        </p:nvSpPr>
        <p:spPr>
          <a:xfrm>
            <a:off x="4617720" y="1911096"/>
            <a:ext cx="384048" cy="384048"/>
          </a:xfrm>
          <a:prstGeom prst="ellipse">
            <a:avLst/>
          </a:prstGeom>
          <a:solidFill>
            <a:srgbClr val="6B46C1"/>
          </a:solidFill>
          <a:ln w="12700">
            <a:solidFill>
              <a:srgbClr val="6B46C1"/>
            </a:solidFill>
            <a:prstDash val="solid"/>
          </a:ln>
        </p:spPr>
      </p:sp>
      <p:sp>
        <p:nvSpPr>
          <p:cNvPr id="53" name="Text 51"/>
          <p:cNvSpPr/>
          <p:nvPr/>
        </p:nvSpPr>
        <p:spPr>
          <a:xfrm>
            <a:off x="4617720" y="1911096"/>
            <a:ext cx="38404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Arial Black" pitchFamily="34" charset="0"/>
                <a:ea typeface="Arial Black" pitchFamily="34" charset="-122"/>
                <a:cs typeface="Arial Black" pitchFamily="34" charset="-120"/>
              </a:rPr>
              <a:t>01</a:t>
            </a:r>
            <a:endParaRPr lang="en-US" sz="1100" dirty="0"/>
          </a:p>
        </p:txBody>
      </p:sp>
      <p:sp>
        <p:nvSpPr>
          <p:cNvPr id="54" name="Text 52"/>
          <p:cNvSpPr/>
          <p:nvPr/>
        </p:nvSpPr>
        <p:spPr>
          <a:xfrm>
            <a:off x="5166360" y="1874520"/>
            <a:ext cx="3520440" cy="274320"/>
          </a:xfrm>
          <a:prstGeom prst="rect">
            <a:avLst/>
          </a:prstGeom>
          <a:noFill/>
          <a:ln/>
        </p:spPr>
        <p:txBody>
          <a:bodyPr wrap="square" lIns="0" tIns="0" rIns="0" bIns="0" rtlCol="0" anchor="ctr"/>
          <a:lstStyle/>
          <a:p>
            <a:pPr indent="0" marL="0">
              <a:buNone/>
            </a:pPr>
            <a:r>
              <a:rPr lang="en-US" sz="1300" b="1" spc="150" kern="0" dirty="0">
                <a:solidFill>
                  <a:srgbClr val="000000"/>
                </a:solidFill>
                <a:latin typeface="Arial" pitchFamily="34" charset="0"/>
                <a:ea typeface="Arial" pitchFamily="34" charset="-122"/>
                <a:cs typeface="Arial" pitchFamily="34" charset="-120"/>
              </a:rPr>
              <a:t>DESIGN</a:t>
            </a:r>
            <a:endParaRPr lang="en-US" sz="1300" dirty="0"/>
          </a:p>
        </p:txBody>
      </p:sp>
      <p:sp>
        <p:nvSpPr>
          <p:cNvPr id="55" name="Text 53"/>
          <p:cNvSpPr/>
          <p:nvPr/>
        </p:nvSpPr>
        <p:spPr>
          <a:xfrm>
            <a:off x="5166360" y="2148840"/>
            <a:ext cx="3520440" cy="594360"/>
          </a:xfrm>
          <a:prstGeom prst="rect">
            <a:avLst/>
          </a:prstGeom>
          <a:noFill/>
          <a:ln/>
        </p:spPr>
        <p:txBody>
          <a:bodyPr wrap="square" lIns="0" tIns="0" rIns="0" bIns="0" rtlCol="0" anchor="t"/>
          <a:lstStyle/>
          <a:p>
            <a:pPr indent="0" marL="0">
              <a:buNone/>
            </a:pPr>
            <a:r>
              <a:rPr lang="en-US" sz="1050" dirty="0">
                <a:solidFill>
                  <a:srgbClr val="333333"/>
                </a:solidFill>
                <a:latin typeface="Arial" pitchFamily="34" charset="0"/>
                <a:ea typeface="Arial" pitchFamily="34" charset="-122"/>
                <a:cs typeface="Arial" pitchFamily="34" charset="-120"/>
              </a:rPr>
              <a:t>Engineers draft the chip's blueprint in software, mapping where each of tens of billions of microscopic switches will sit.</a:t>
            </a:r>
            <a:endParaRPr lang="en-US" sz="1050" dirty="0"/>
          </a:p>
        </p:txBody>
      </p:sp>
      <p:sp>
        <p:nvSpPr>
          <p:cNvPr id="56" name="Shape 54"/>
          <p:cNvSpPr/>
          <p:nvPr/>
        </p:nvSpPr>
        <p:spPr>
          <a:xfrm>
            <a:off x="4617720" y="2816352"/>
            <a:ext cx="4069080" cy="0"/>
          </a:xfrm>
          <a:prstGeom prst="line">
            <a:avLst/>
          </a:prstGeom>
          <a:noFill/>
          <a:ln w="6350">
            <a:solidFill>
              <a:srgbClr val="E5E5E5"/>
            </a:solidFill>
            <a:prstDash val="solid"/>
          </a:ln>
        </p:spPr>
      </p:sp>
      <p:sp>
        <p:nvSpPr>
          <p:cNvPr id="57" name="Shape 55"/>
          <p:cNvSpPr/>
          <p:nvPr/>
        </p:nvSpPr>
        <p:spPr>
          <a:xfrm>
            <a:off x="4617720" y="2871216"/>
            <a:ext cx="384048" cy="384048"/>
          </a:xfrm>
          <a:prstGeom prst="ellipse">
            <a:avLst/>
          </a:prstGeom>
          <a:solidFill>
            <a:srgbClr val="E8478D"/>
          </a:solidFill>
          <a:ln w="12700">
            <a:solidFill>
              <a:srgbClr val="E8478D"/>
            </a:solidFill>
            <a:prstDash val="solid"/>
          </a:ln>
        </p:spPr>
      </p:sp>
      <p:sp>
        <p:nvSpPr>
          <p:cNvPr id="58" name="Text 56"/>
          <p:cNvSpPr/>
          <p:nvPr/>
        </p:nvSpPr>
        <p:spPr>
          <a:xfrm>
            <a:off x="4617720" y="2871216"/>
            <a:ext cx="38404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Arial Black" pitchFamily="34" charset="0"/>
                <a:ea typeface="Arial Black" pitchFamily="34" charset="-122"/>
                <a:cs typeface="Arial Black" pitchFamily="34" charset="-120"/>
              </a:rPr>
              <a:t>02</a:t>
            </a:r>
            <a:endParaRPr lang="en-US" sz="1100" dirty="0"/>
          </a:p>
        </p:txBody>
      </p:sp>
      <p:sp>
        <p:nvSpPr>
          <p:cNvPr id="59" name="Text 57"/>
          <p:cNvSpPr/>
          <p:nvPr/>
        </p:nvSpPr>
        <p:spPr>
          <a:xfrm>
            <a:off x="5166360" y="2834640"/>
            <a:ext cx="3520440" cy="274320"/>
          </a:xfrm>
          <a:prstGeom prst="rect">
            <a:avLst/>
          </a:prstGeom>
          <a:noFill/>
          <a:ln/>
        </p:spPr>
        <p:txBody>
          <a:bodyPr wrap="square" lIns="0" tIns="0" rIns="0" bIns="0" rtlCol="0" anchor="ctr"/>
          <a:lstStyle/>
          <a:p>
            <a:pPr indent="0" marL="0">
              <a:buNone/>
            </a:pPr>
            <a:r>
              <a:rPr lang="en-US" sz="1300" b="1" spc="150" kern="0" dirty="0">
                <a:solidFill>
                  <a:srgbClr val="000000"/>
                </a:solidFill>
                <a:latin typeface="Arial" pitchFamily="34" charset="0"/>
                <a:ea typeface="Arial" pitchFamily="34" charset="-122"/>
                <a:cs typeface="Arial" pitchFamily="34" charset="-120"/>
              </a:rPr>
              <a:t>EQUIPMENT</a:t>
            </a:r>
            <a:endParaRPr lang="en-US" sz="1300" dirty="0"/>
          </a:p>
        </p:txBody>
      </p:sp>
      <p:sp>
        <p:nvSpPr>
          <p:cNvPr id="60" name="Text 58"/>
          <p:cNvSpPr/>
          <p:nvPr/>
        </p:nvSpPr>
        <p:spPr>
          <a:xfrm>
            <a:off x="5166360" y="3108960"/>
            <a:ext cx="3520440" cy="594360"/>
          </a:xfrm>
          <a:prstGeom prst="rect">
            <a:avLst/>
          </a:prstGeom>
          <a:noFill/>
          <a:ln/>
        </p:spPr>
        <p:txBody>
          <a:bodyPr wrap="square" lIns="0" tIns="0" rIns="0" bIns="0" rtlCol="0" anchor="t"/>
          <a:lstStyle/>
          <a:p>
            <a:pPr indent="0" marL="0">
              <a:buNone/>
            </a:pPr>
            <a:r>
              <a:rPr lang="en-US" sz="1050" dirty="0">
                <a:solidFill>
                  <a:srgbClr val="333333"/>
                </a:solidFill>
                <a:latin typeface="Arial" pitchFamily="34" charset="0"/>
                <a:ea typeface="Arial" pitchFamily="34" charset="-122"/>
                <a:cs typeface="Arial" pitchFamily="34" charset="-120"/>
              </a:rPr>
              <a:t>Highly specialized machines are built to print circuit patterns at near-atomic scale using ultraviolet light.</a:t>
            </a:r>
            <a:endParaRPr lang="en-US" sz="1050" dirty="0"/>
          </a:p>
        </p:txBody>
      </p:sp>
      <p:sp>
        <p:nvSpPr>
          <p:cNvPr id="61" name="Shape 59"/>
          <p:cNvSpPr/>
          <p:nvPr/>
        </p:nvSpPr>
        <p:spPr>
          <a:xfrm>
            <a:off x="4617720" y="3776472"/>
            <a:ext cx="4069080" cy="0"/>
          </a:xfrm>
          <a:prstGeom prst="line">
            <a:avLst/>
          </a:prstGeom>
          <a:noFill/>
          <a:ln w="6350">
            <a:solidFill>
              <a:srgbClr val="E5E5E5"/>
            </a:solidFill>
            <a:prstDash val="solid"/>
          </a:ln>
        </p:spPr>
      </p:sp>
      <p:sp>
        <p:nvSpPr>
          <p:cNvPr id="62" name="Shape 60"/>
          <p:cNvSpPr/>
          <p:nvPr/>
        </p:nvSpPr>
        <p:spPr>
          <a:xfrm>
            <a:off x="4617720" y="3831336"/>
            <a:ext cx="384048" cy="384048"/>
          </a:xfrm>
          <a:prstGeom prst="ellipse">
            <a:avLst/>
          </a:prstGeom>
          <a:solidFill>
            <a:srgbClr val="008B8B"/>
          </a:solidFill>
          <a:ln w="12700">
            <a:solidFill>
              <a:srgbClr val="008B8B"/>
            </a:solidFill>
            <a:prstDash val="solid"/>
          </a:ln>
        </p:spPr>
      </p:sp>
      <p:sp>
        <p:nvSpPr>
          <p:cNvPr id="63" name="Text 61"/>
          <p:cNvSpPr/>
          <p:nvPr/>
        </p:nvSpPr>
        <p:spPr>
          <a:xfrm>
            <a:off x="4617720" y="3831336"/>
            <a:ext cx="38404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Arial Black" pitchFamily="34" charset="0"/>
                <a:ea typeface="Arial Black" pitchFamily="34" charset="-122"/>
                <a:cs typeface="Arial Black" pitchFamily="34" charset="-120"/>
              </a:rPr>
              <a:t>03</a:t>
            </a:r>
            <a:endParaRPr lang="en-US" sz="1100" dirty="0"/>
          </a:p>
        </p:txBody>
      </p:sp>
      <p:sp>
        <p:nvSpPr>
          <p:cNvPr id="64" name="Text 62"/>
          <p:cNvSpPr/>
          <p:nvPr/>
        </p:nvSpPr>
        <p:spPr>
          <a:xfrm>
            <a:off x="5166360" y="3794760"/>
            <a:ext cx="3520440" cy="274320"/>
          </a:xfrm>
          <a:prstGeom prst="rect">
            <a:avLst/>
          </a:prstGeom>
          <a:noFill/>
          <a:ln/>
        </p:spPr>
        <p:txBody>
          <a:bodyPr wrap="square" lIns="0" tIns="0" rIns="0" bIns="0" rtlCol="0" anchor="ctr"/>
          <a:lstStyle/>
          <a:p>
            <a:pPr indent="0" marL="0">
              <a:buNone/>
            </a:pPr>
            <a:r>
              <a:rPr lang="en-US" sz="1300" b="1" spc="150" kern="0" dirty="0">
                <a:solidFill>
                  <a:srgbClr val="000000"/>
                </a:solidFill>
                <a:latin typeface="Arial" pitchFamily="34" charset="0"/>
                <a:ea typeface="Arial" pitchFamily="34" charset="-122"/>
                <a:cs typeface="Arial" pitchFamily="34" charset="-120"/>
              </a:rPr>
              <a:t>FABRICATION</a:t>
            </a:r>
            <a:endParaRPr lang="en-US" sz="1300" dirty="0"/>
          </a:p>
        </p:txBody>
      </p:sp>
      <p:sp>
        <p:nvSpPr>
          <p:cNvPr id="65" name="Text 63"/>
          <p:cNvSpPr/>
          <p:nvPr/>
        </p:nvSpPr>
        <p:spPr>
          <a:xfrm>
            <a:off x="5166360" y="4069080"/>
            <a:ext cx="3520440" cy="594360"/>
          </a:xfrm>
          <a:prstGeom prst="rect">
            <a:avLst/>
          </a:prstGeom>
          <a:noFill/>
          <a:ln/>
        </p:spPr>
        <p:txBody>
          <a:bodyPr wrap="square" lIns="0" tIns="0" rIns="0" bIns="0" rtlCol="0" anchor="t"/>
          <a:lstStyle/>
          <a:p>
            <a:pPr indent="0" marL="0">
              <a:buNone/>
            </a:pPr>
            <a:r>
              <a:rPr lang="en-US" sz="1050" dirty="0">
                <a:solidFill>
                  <a:srgbClr val="333333"/>
                </a:solidFill>
                <a:latin typeface="Arial" pitchFamily="34" charset="0"/>
                <a:ea typeface="Arial" pitchFamily="34" charset="-122"/>
                <a:cs typeface="Arial" pitchFamily="34" charset="-120"/>
              </a:rPr>
              <a:t>Silicon wafers pass through more than a thousand precise steps inside ultra-clean factories that take years to build.</a:t>
            </a:r>
            <a:endParaRPr lang="en-US" sz="1050" dirty="0"/>
          </a:p>
        </p:txBody>
      </p:sp>
      <p:sp>
        <p:nvSpPr>
          <p:cNvPr id="66" name="Shape 64"/>
          <p:cNvSpPr/>
          <p:nvPr/>
        </p:nvSpPr>
        <p:spPr>
          <a:xfrm>
            <a:off x="4617720" y="4736592"/>
            <a:ext cx="4069080" cy="0"/>
          </a:xfrm>
          <a:prstGeom prst="line">
            <a:avLst/>
          </a:prstGeom>
          <a:noFill/>
          <a:ln w="6350">
            <a:solidFill>
              <a:srgbClr val="E5E5E5"/>
            </a:solidFill>
            <a:prstDash val="solid"/>
          </a:ln>
        </p:spPr>
      </p:sp>
      <p:sp>
        <p:nvSpPr>
          <p:cNvPr id="67" name="Shape 65"/>
          <p:cNvSpPr/>
          <p:nvPr/>
        </p:nvSpPr>
        <p:spPr>
          <a:xfrm>
            <a:off x="4617720" y="4791456"/>
            <a:ext cx="384048" cy="384048"/>
          </a:xfrm>
          <a:prstGeom prst="ellipse">
            <a:avLst/>
          </a:prstGeom>
          <a:solidFill>
            <a:srgbClr val="051A3D"/>
          </a:solidFill>
          <a:ln w="12700">
            <a:solidFill>
              <a:srgbClr val="051A3D"/>
            </a:solidFill>
            <a:prstDash val="solid"/>
          </a:ln>
        </p:spPr>
      </p:sp>
      <p:sp>
        <p:nvSpPr>
          <p:cNvPr id="68" name="Text 66"/>
          <p:cNvSpPr/>
          <p:nvPr/>
        </p:nvSpPr>
        <p:spPr>
          <a:xfrm>
            <a:off x="4617720" y="4791456"/>
            <a:ext cx="38404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Arial Black" pitchFamily="34" charset="0"/>
                <a:ea typeface="Arial Black" pitchFamily="34" charset="-122"/>
                <a:cs typeface="Arial Black" pitchFamily="34" charset="-120"/>
              </a:rPr>
              <a:t>04</a:t>
            </a:r>
            <a:endParaRPr lang="en-US" sz="1100" dirty="0"/>
          </a:p>
        </p:txBody>
      </p:sp>
      <p:sp>
        <p:nvSpPr>
          <p:cNvPr id="69" name="Text 67"/>
          <p:cNvSpPr/>
          <p:nvPr/>
        </p:nvSpPr>
        <p:spPr>
          <a:xfrm>
            <a:off x="5166360" y="4754880"/>
            <a:ext cx="3520440" cy="274320"/>
          </a:xfrm>
          <a:prstGeom prst="rect">
            <a:avLst/>
          </a:prstGeom>
          <a:noFill/>
          <a:ln/>
        </p:spPr>
        <p:txBody>
          <a:bodyPr wrap="square" lIns="0" tIns="0" rIns="0" bIns="0" rtlCol="0" anchor="ctr"/>
          <a:lstStyle/>
          <a:p>
            <a:pPr indent="0" marL="0">
              <a:buNone/>
            </a:pPr>
            <a:r>
              <a:rPr lang="en-US" sz="1300" b="1" spc="150" kern="0" dirty="0">
                <a:solidFill>
                  <a:srgbClr val="000000"/>
                </a:solidFill>
                <a:latin typeface="Arial" pitchFamily="34" charset="0"/>
                <a:ea typeface="Arial" pitchFamily="34" charset="-122"/>
                <a:cs typeface="Arial" pitchFamily="34" charset="-120"/>
              </a:rPr>
              <a:t>PACKAGING</a:t>
            </a:r>
            <a:endParaRPr lang="en-US" sz="1300" dirty="0"/>
          </a:p>
        </p:txBody>
      </p:sp>
      <p:sp>
        <p:nvSpPr>
          <p:cNvPr id="70" name="Text 68"/>
          <p:cNvSpPr/>
          <p:nvPr/>
        </p:nvSpPr>
        <p:spPr>
          <a:xfrm>
            <a:off x="5166360" y="5029200"/>
            <a:ext cx="3520440" cy="594360"/>
          </a:xfrm>
          <a:prstGeom prst="rect">
            <a:avLst/>
          </a:prstGeom>
          <a:noFill/>
          <a:ln/>
        </p:spPr>
        <p:txBody>
          <a:bodyPr wrap="square" lIns="0" tIns="0" rIns="0" bIns="0" rtlCol="0" anchor="t"/>
          <a:lstStyle/>
          <a:p>
            <a:pPr indent="0" marL="0">
              <a:buNone/>
            </a:pPr>
            <a:r>
              <a:rPr lang="en-US" sz="1050" dirty="0">
                <a:solidFill>
                  <a:srgbClr val="333333"/>
                </a:solidFill>
                <a:latin typeface="Arial" pitchFamily="34" charset="0"/>
                <a:ea typeface="Arial" pitchFamily="34" charset="-122"/>
                <a:cs typeface="Arial" pitchFamily="34" charset="-120"/>
              </a:rPr>
              <a:t>The finished chip is bonded with high-speed memory into a single package ready to plug into a server.</a:t>
            </a:r>
            <a:endParaRPr lang="en-US" sz="1050" dirty="0"/>
          </a:p>
        </p:txBody>
      </p:sp>
      <p:sp>
        <p:nvSpPr>
          <p:cNvPr id="71" name="Text 69"/>
          <p:cNvSpPr/>
          <p:nvPr/>
        </p:nvSpPr>
        <p:spPr>
          <a:xfrm>
            <a:off x="457200" y="5875020"/>
            <a:ext cx="8229600" cy="320040"/>
          </a:xfrm>
          <a:prstGeom prst="rect">
            <a:avLst/>
          </a:prstGeom>
          <a:noFill/>
          <a:ln/>
        </p:spPr>
        <p:txBody>
          <a:bodyPr wrap="square" lIns="0" tIns="0" rIns="0" bIns="0" rtlCol="0" anchor="t"/>
          <a:lstStyle/>
          <a:p>
            <a:pPr indent="0" marL="0">
              <a:buNone/>
            </a:pPr>
            <a:r>
              <a:rPr lang="en-US" sz="700" dirty="0">
                <a:solidFill>
                  <a:srgbClr val="999999"/>
                </a:solidFill>
                <a:latin typeface="Arial" pitchFamily="34" charset="0"/>
                <a:ea typeface="Arial" pitchFamily="34" charset="-122"/>
                <a:cs typeface="Arial" pitchFamily="34" charset="-120"/>
              </a:rPr>
              <a:t>Source: SIA / SEMI industry taxonomy; SEMI World Fab Forecast; TSMC, NVIDIA, ASML disclosures. Process descriptions are plain-English simplifications.</a:t>
            </a:r>
            <a:endParaRPr lang="en-US" sz="700" dirty="0"/>
          </a:p>
        </p:txBody>
      </p:sp>
      <p:sp>
        <p:nvSpPr>
          <p:cNvPr id="72" name="Shape 70"/>
          <p:cNvSpPr/>
          <p:nvPr/>
        </p:nvSpPr>
        <p:spPr>
          <a:xfrm>
            <a:off x="0" y="6286500"/>
            <a:ext cx="9144000" cy="571500"/>
          </a:xfrm>
          <a:prstGeom prst="rect">
            <a:avLst/>
          </a:prstGeom>
          <a:solidFill>
            <a:srgbClr val="000000"/>
          </a:solidFill>
          <a:ln w="12700">
            <a:solidFill>
              <a:srgbClr val="000000"/>
            </a:solidFill>
            <a:prstDash val="solid"/>
          </a:ln>
        </p:spPr>
      </p:sp>
      <p:sp>
        <p:nvSpPr>
          <p:cNvPr id="73" name="Text 71"/>
          <p:cNvSpPr/>
          <p:nvPr/>
        </p:nvSpPr>
        <p:spPr>
          <a:xfrm>
            <a:off x="1371600" y="6332220"/>
            <a:ext cx="6400800" cy="457200"/>
          </a:xfrm>
          <a:prstGeom prst="rect">
            <a:avLst/>
          </a:prstGeom>
          <a:noFill/>
          <a:ln/>
        </p:spPr>
        <p:txBody>
          <a:bodyPr wrap="square" lIns="0" tIns="0" rIns="0" bIns="0" rtlCol="0" anchor="ctr"/>
          <a:lstStyle/>
          <a:p>
            <a:pPr algn="ctr" indent="0" marL="0">
              <a:buNone/>
            </a:pPr>
            <a:r>
              <a:rPr lang="en-US" sz="650" b="1" dirty="0">
                <a:solidFill>
                  <a:srgbClr val="FFFFFF"/>
                </a:solidFill>
                <a:latin typeface="Arial" pitchFamily="34" charset="0"/>
                <a:ea typeface="Arial" pitchFamily="34" charset="-122"/>
                <a:cs typeface="Arial" pitchFamily="34" charset="-120"/>
              </a:rPr>
              <a:t>FOR INFORMATIONAL PURPOSES ONLY. NOT INVESTMENT ADVICE. PAST PERFORMANCE IS NOT INDICATIVE OF FUTURE RESULTS.</a:t>
            </a:r>
            <a:endParaRPr lang="en-US" sz="650" dirty="0"/>
          </a:p>
        </p:txBody>
      </p:sp>
      <p:sp>
        <p:nvSpPr>
          <p:cNvPr id="74" name="Text 72"/>
          <p:cNvSpPr/>
          <p:nvPr/>
        </p:nvSpPr>
        <p:spPr>
          <a:xfrm>
            <a:off x="8321040" y="6405372"/>
            <a:ext cx="548640" cy="274320"/>
          </a:xfrm>
          <a:prstGeom prst="rect">
            <a:avLst/>
          </a:prstGeom>
          <a:noFill/>
          <a:ln/>
        </p:spPr>
        <p:txBody>
          <a:bodyPr wrap="square" lIns="0" tIns="0" rIns="0" bIns="0" rtlCol="0" anchor="ctr"/>
          <a:lstStyle/>
          <a:p>
            <a:pPr algn="r" indent="0" marL="0">
              <a:buNone/>
            </a:pPr>
            <a:r>
              <a:rPr lang="en-US" sz="900" dirty="0">
                <a:solidFill>
                  <a:srgbClr val="FFFFFF"/>
                </a:solidFill>
                <a:latin typeface="Arial" pitchFamily="34" charset="0"/>
                <a:ea typeface="Arial" pitchFamily="34" charset="-122"/>
                <a:cs typeface="Arial" pitchFamily="34" charset="-120"/>
              </a:rPr>
              <a:t>7</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Shape 0"/>
          <p:cNvSpPr/>
          <p:nvPr/>
        </p:nvSpPr>
        <p:spPr>
          <a:xfrm>
            <a:off x="7132320" y="164592"/>
            <a:ext cx="1737360" cy="292608"/>
          </a:xfrm>
          <a:prstGeom prst="roundRect">
            <a:avLst>
              <a:gd name="adj" fmla="val 15625"/>
            </a:avLst>
          </a:prstGeom>
          <a:solidFill>
            <a:srgbClr val="FFB800"/>
          </a:solidFill>
          <a:ln w="12700">
            <a:solidFill>
              <a:srgbClr val="FFB800"/>
            </a:solidFill>
            <a:prstDash val="solid"/>
          </a:ln>
        </p:spPr>
      </p:sp>
      <p:sp>
        <p:nvSpPr>
          <p:cNvPr id="3" name="Text 1"/>
          <p:cNvSpPr/>
          <p:nvPr/>
        </p:nvSpPr>
        <p:spPr>
          <a:xfrm>
            <a:off x="7132320" y="164592"/>
            <a:ext cx="1737360" cy="292608"/>
          </a:xfrm>
          <a:prstGeom prst="rect">
            <a:avLst/>
          </a:prstGeom>
          <a:noFill/>
          <a:ln/>
        </p:spPr>
        <p:txBody>
          <a:bodyPr wrap="square" lIns="0" tIns="0" rIns="0" bIns="0" rtlCol="0" anchor="ctr"/>
          <a:lstStyle/>
          <a:p>
            <a:pPr algn="ctr" indent="0" marL="0">
              <a:buNone/>
            </a:pPr>
            <a:r>
              <a:rPr lang="en-US" sz="1000" b="1" spc="100" kern="0" dirty="0">
                <a:solidFill>
                  <a:srgbClr val="000000"/>
                </a:solidFill>
                <a:latin typeface="Arial" pitchFamily="34" charset="0"/>
                <a:ea typeface="Arial" pitchFamily="34" charset="-122"/>
                <a:cs typeface="Arial" pitchFamily="34" charset="-120"/>
              </a:rPr>
              <a:t>MARKET</a:t>
            </a:r>
            <a:endParaRPr lang="en-US" sz="1000" dirty="0"/>
          </a:p>
        </p:txBody>
      </p:sp>
      <p:sp>
        <p:nvSpPr>
          <p:cNvPr id="4" name="Text 2"/>
          <p:cNvSpPr/>
          <p:nvPr/>
        </p:nvSpPr>
        <p:spPr>
          <a:xfrm>
            <a:off x="457200" y="182880"/>
            <a:ext cx="6583680" cy="685800"/>
          </a:xfrm>
          <a:prstGeom prst="rect">
            <a:avLst/>
          </a:prstGeom>
          <a:noFill/>
          <a:ln/>
        </p:spPr>
        <p:txBody>
          <a:bodyPr wrap="square" lIns="0" tIns="0" rIns="0" bIns="0" rtlCol="0" anchor="t"/>
          <a:lstStyle/>
          <a:p>
            <a:pPr indent="0" marL="0">
              <a:buNone/>
            </a:pPr>
            <a:r>
              <a:rPr lang="en-US" sz="2400" b="1" dirty="0">
                <a:solidFill>
                  <a:srgbClr val="000000"/>
                </a:solidFill>
                <a:latin typeface="Arial Black" pitchFamily="34" charset="0"/>
                <a:ea typeface="Arial Black" pitchFamily="34" charset="-122"/>
                <a:cs typeface="Arial Black" pitchFamily="34" charset="-120"/>
              </a:rPr>
              <a:t>Five hyperscalers fund ~60% of AI chip demand — their capex IS the market</a:t>
            </a:r>
            <a:endParaRPr lang="en-US" sz="2400" dirty="0"/>
          </a:p>
        </p:txBody>
      </p:sp>
      <p:sp>
        <p:nvSpPr>
          <p:cNvPr id="5" name="Text 3"/>
          <p:cNvSpPr/>
          <p:nvPr/>
        </p:nvSpPr>
        <p:spPr>
          <a:xfrm>
            <a:off x="457200" y="914400"/>
            <a:ext cx="8229600" cy="457200"/>
          </a:xfrm>
          <a:prstGeom prst="rect">
            <a:avLst/>
          </a:prstGeom>
          <a:noFill/>
          <a:ln/>
        </p:spPr>
        <p:txBody>
          <a:bodyPr wrap="square" lIns="0" tIns="0" rIns="0" bIns="0" rtlCol="0" anchor="t"/>
          <a:lstStyle/>
          <a:p>
            <a:pPr indent="0" marL="0">
              <a:buNone/>
            </a:pPr>
            <a:r>
              <a:rPr lang="en-US" sz="1350" dirty="0">
                <a:solidFill>
                  <a:srgbClr val="666666"/>
                </a:solidFill>
                <a:latin typeface="Arial" pitchFamily="34" charset="0"/>
                <a:ea typeface="Arial" pitchFamily="34" charset="-122"/>
                <a:cs typeface="Arial" pitchFamily="34" charset="-120"/>
              </a:rPr>
              <a:t>Five hyperscalers fund roughly 60% of advanced-AI chip demand — sovereigns, enterprise, and edge devices split the rest.</a:t>
            </a:r>
            <a:endParaRPr lang="en-US" sz="1350" dirty="0"/>
          </a:p>
        </p:txBody>
      </p:sp>
      <p:sp>
        <p:nvSpPr>
          <p:cNvPr id="6" name="Shape 4"/>
          <p:cNvSpPr/>
          <p:nvPr/>
        </p:nvSpPr>
        <p:spPr>
          <a:xfrm>
            <a:off x="457200" y="1325880"/>
            <a:ext cx="8229600" cy="0"/>
          </a:xfrm>
          <a:prstGeom prst="line">
            <a:avLst/>
          </a:prstGeom>
          <a:noFill/>
          <a:ln w="9525">
            <a:solidFill>
              <a:srgbClr val="E5E5E5"/>
            </a:solidFill>
            <a:prstDash val="solid"/>
          </a:ln>
        </p:spPr>
      </p:sp>
      <p:sp>
        <p:nvSpPr>
          <p:cNvPr id="7" name="Shape 5"/>
          <p:cNvSpPr/>
          <p:nvPr/>
        </p:nvSpPr>
        <p:spPr>
          <a:xfrm>
            <a:off x="457200" y="1737360"/>
            <a:ext cx="4773168" cy="457200"/>
          </a:xfrm>
          <a:prstGeom prst="rect">
            <a:avLst/>
          </a:prstGeom>
          <a:solidFill>
            <a:srgbClr val="FFB800"/>
          </a:solidFill>
          <a:ln w="12700">
            <a:solidFill>
              <a:srgbClr val="FFB800"/>
            </a:solidFill>
            <a:prstDash val="solid"/>
          </a:ln>
        </p:spPr>
      </p:sp>
      <p:sp>
        <p:nvSpPr>
          <p:cNvPr id="8" name="Text 6"/>
          <p:cNvSpPr/>
          <p:nvPr/>
        </p:nvSpPr>
        <p:spPr>
          <a:xfrm>
            <a:off x="457200" y="1737360"/>
            <a:ext cx="4773168" cy="457200"/>
          </a:xfrm>
          <a:prstGeom prst="rect">
            <a:avLst/>
          </a:prstGeom>
          <a:noFill/>
          <a:ln/>
        </p:spPr>
        <p:txBody>
          <a:bodyPr wrap="square" lIns="0" tIns="0" rIns="0" bIns="0" rtlCol="0" anchor="ctr"/>
          <a:lstStyle/>
          <a:p>
            <a:pPr algn="ctr" indent="0" marL="0">
              <a:buNone/>
            </a:pPr>
            <a:r>
              <a:rPr lang="en-US" sz="800" b="1" dirty="0">
                <a:solidFill>
                  <a:srgbClr val="000000"/>
                </a:solidFill>
                <a:latin typeface="Arial" pitchFamily="34" charset="0"/>
                <a:ea typeface="Arial" pitchFamily="34" charset="-122"/>
                <a:cs typeface="Arial" pitchFamily="34" charset="-120"/>
              </a:rPr>
              <a:t>HYPERSCALERS</a:t>
            </a:r>
            <a:endParaRPr lang="en-US" sz="800" dirty="0"/>
          </a:p>
        </p:txBody>
      </p:sp>
      <p:sp>
        <p:nvSpPr>
          <p:cNvPr id="9" name="Shape 7"/>
          <p:cNvSpPr/>
          <p:nvPr/>
        </p:nvSpPr>
        <p:spPr>
          <a:xfrm>
            <a:off x="5230368" y="1737360"/>
            <a:ext cx="987552" cy="457200"/>
          </a:xfrm>
          <a:prstGeom prst="rect">
            <a:avLst/>
          </a:prstGeom>
          <a:solidFill>
            <a:srgbClr val="008B8B"/>
          </a:solidFill>
          <a:ln w="12700">
            <a:solidFill>
              <a:srgbClr val="008B8B"/>
            </a:solidFill>
            <a:prstDash val="solid"/>
          </a:ln>
        </p:spPr>
      </p:sp>
      <p:sp>
        <p:nvSpPr>
          <p:cNvPr id="10" name="Text 8"/>
          <p:cNvSpPr/>
          <p:nvPr/>
        </p:nvSpPr>
        <p:spPr>
          <a:xfrm>
            <a:off x="5230368" y="1737360"/>
            <a:ext cx="987552" cy="457200"/>
          </a:xfrm>
          <a:prstGeom prst="rect">
            <a:avLst/>
          </a:prstGeom>
          <a:noFill/>
          <a:ln/>
        </p:spPr>
        <p:txBody>
          <a:bodyPr wrap="square" lIns="0" tIns="0" rIns="0" bIns="0" rtlCol="0" anchor="ctr"/>
          <a:lstStyle/>
          <a:p>
            <a:pPr algn="ctr" indent="0" marL="0">
              <a:buNone/>
            </a:pPr>
            <a:r>
              <a:rPr lang="en-US" sz="800" b="1" dirty="0">
                <a:solidFill>
                  <a:srgbClr val="FFFFFF"/>
                </a:solidFill>
                <a:latin typeface="Arial" pitchFamily="34" charset="0"/>
                <a:ea typeface="Arial" pitchFamily="34" charset="-122"/>
                <a:cs typeface="Arial" pitchFamily="34" charset="-120"/>
              </a:rPr>
              <a:t>SOVEREIGNS</a:t>
            </a:r>
            <a:endParaRPr lang="en-US" sz="800" dirty="0"/>
          </a:p>
        </p:txBody>
      </p:sp>
      <p:sp>
        <p:nvSpPr>
          <p:cNvPr id="11" name="Shape 9"/>
          <p:cNvSpPr/>
          <p:nvPr/>
        </p:nvSpPr>
        <p:spPr>
          <a:xfrm>
            <a:off x="6217920" y="1737360"/>
            <a:ext cx="822960" cy="457200"/>
          </a:xfrm>
          <a:prstGeom prst="rect">
            <a:avLst/>
          </a:prstGeom>
          <a:solidFill>
            <a:srgbClr val="666666"/>
          </a:solidFill>
          <a:ln w="12700">
            <a:solidFill>
              <a:srgbClr val="666666"/>
            </a:solidFill>
            <a:prstDash val="solid"/>
          </a:ln>
        </p:spPr>
      </p:sp>
      <p:sp>
        <p:nvSpPr>
          <p:cNvPr id="12" name="Text 10"/>
          <p:cNvSpPr/>
          <p:nvPr/>
        </p:nvSpPr>
        <p:spPr>
          <a:xfrm>
            <a:off x="6217920" y="1737360"/>
            <a:ext cx="822960" cy="457200"/>
          </a:xfrm>
          <a:prstGeom prst="rect">
            <a:avLst/>
          </a:prstGeom>
          <a:noFill/>
          <a:ln/>
        </p:spPr>
        <p:txBody>
          <a:bodyPr wrap="square" lIns="0" tIns="0" rIns="0" bIns="0" rtlCol="0" anchor="ctr"/>
          <a:lstStyle/>
          <a:p>
            <a:pPr algn="ctr" indent="0" marL="0">
              <a:buNone/>
            </a:pPr>
            <a:r>
              <a:rPr lang="en-US" sz="800" b="1" dirty="0">
                <a:solidFill>
                  <a:srgbClr val="FFFFFF"/>
                </a:solidFill>
                <a:latin typeface="Arial" pitchFamily="34" charset="0"/>
                <a:ea typeface="Arial" pitchFamily="34" charset="-122"/>
                <a:cs typeface="Arial" pitchFamily="34" charset="-120"/>
              </a:rPr>
              <a:t>ENTERPRISE</a:t>
            </a:r>
            <a:endParaRPr lang="en-US" sz="800" dirty="0"/>
          </a:p>
        </p:txBody>
      </p:sp>
      <p:sp>
        <p:nvSpPr>
          <p:cNvPr id="13" name="Shape 11"/>
          <p:cNvSpPr/>
          <p:nvPr/>
        </p:nvSpPr>
        <p:spPr>
          <a:xfrm>
            <a:off x="7040880" y="1737360"/>
            <a:ext cx="1645920" cy="457200"/>
          </a:xfrm>
          <a:prstGeom prst="rect">
            <a:avLst/>
          </a:prstGeom>
          <a:solidFill>
            <a:srgbClr val="F6693D"/>
          </a:solidFill>
          <a:ln w="12700">
            <a:solidFill>
              <a:srgbClr val="F6693D"/>
            </a:solidFill>
            <a:prstDash val="solid"/>
          </a:ln>
        </p:spPr>
      </p:sp>
      <p:sp>
        <p:nvSpPr>
          <p:cNvPr id="14" name="Text 12"/>
          <p:cNvSpPr/>
          <p:nvPr/>
        </p:nvSpPr>
        <p:spPr>
          <a:xfrm>
            <a:off x="7040880" y="1737360"/>
            <a:ext cx="1645920" cy="457200"/>
          </a:xfrm>
          <a:prstGeom prst="rect">
            <a:avLst/>
          </a:prstGeom>
          <a:noFill/>
          <a:ln/>
        </p:spPr>
        <p:txBody>
          <a:bodyPr wrap="square" lIns="0" tIns="0" rIns="0" bIns="0" rtlCol="0" anchor="ctr"/>
          <a:lstStyle/>
          <a:p>
            <a:pPr algn="ctr" indent="0" marL="0">
              <a:buNone/>
            </a:pPr>
            <a:r>
              <a:rPr lang="en-US" sz="800" b="1" dirty="0">
                <a:solidFill>
                  <a:srgbClr val="FFFFFF"/>
                </a:solidFill>
                <a:latin typeface="Arial" pitchFamily="34" charset="0"/>
                <a:ea typeface="Arial" pitchFamily="34" charset="-122"/>
                <a:cs typeface="Arial" pitchFamily="34" charset="-120"/>
              </a:rPr>
              <a:t>CONSUMER + EDGE</a:t>
            </a:r>
            <a:endParaRPr lang="en-US" sz="800" dirty="0"/>
          </a:p>
        </p:txBody>
      </p:sp>
      <p:sp>
        <p:nvSpPr>
          <p:cNvPr id="15" name="Text 13"/>
          <p:cNvSpPr/>
          <p:nvPr/>
        </p:nvSpPr>
        <p:spPr>
          <a:xfrm>
            <a:off x="457200" y="2212848"/>
            <a:ext cx="8229600" cy="182880"/>
          </a:xfrm>
          <a:prstGeom prst="rect">
            <a:avLst/>
          </a:prstGeom>
          <a:noFill/>
          <a:ln/>
        </p:spPr>
        <p:txBody>
          <a:bodyPr wrap="square" lIns="0" tIns="0" rIns="0" bIns="0" rtlCol="0" anchor="ctr"/>
          <a:lstStyle/>
          <a:p>
            <a:pPr algn="r" indent="0" marL="0">
              <a:buNone/>
            </a:pPr>
            <a:r>
              <a:rPr lang="en-US" sz="850" i="1" dirty="0">
                <a:solidFill>
                  <a:srgbClr val="666666"/>
                </a:solidFill>
                <a:latin typeface="Arial" pitchFamily="34" charset="0"/>
                <a:ea typeface="Arial" pitchFamily="34" charset="-122"/>
                <a:cs typeface="Arial" pitchFamily="34" charset="-120"/>
              </a:rPr>
              <a:t>Estimated share of advanced-AI chip demand, 2026E</a:t>
            </a:r>
            <a:endParaRPr lang="en-US" sz="850" dirty="0"/>
          </a:p>
        </p:txBody>
      </p:sp>
      <p:sp>
        <p:nvSpPr>
          <p:cNvPr id="16" name="Shape 14"/>
          <p:cNvSpPr/>
          <p:nvPr/>
        </p:nvSpPr>
        <p:spPr>
          <a:xfrm>
            <a:off x="457200" y="2560320"/>
            <a:ext cx="1988820" cy="2606040"/>
          </a:xfrm>
          <a:prstGeom prst="rect">
            <a:avLst/>
          </a:prstGeom>
          <a:solidFill>
            <a:srgbClr val="F9F9F9"/>
          </a:solidFill>
          <a:ln w="6350">
            <a:solidFill>
              <a:srgbClr val="E5E5E5"/>
            </a:solidFill>
            <a:prstDash val="solid"/>
          </a:ln>
        </p:spPr>
      </p:sp>
      <p:sp>
        <p:nvSpPr>
          <p:cNvPr id="17" name="Shape 15"/>
          <p:cNvSpPr/>
          <p:nvPr/>
        </p:nvSpPr>
        <p:spPr>
          <a:xfrm>
            <a:off x="457200" y="2560320"/>
            <a:ext cx="1988820" cy="292608"/>
          </a:xfrm>
          <a:prstGeom prst="rect">
            <a:avLst/>
          </a:prstGeom>
          <a:solidFill>
            <a:srgbClr val="FFB800"/>
          </a:solidFill>
          <a:ln w="12700">
            <a:solidFill>
              <a:srgbClr val="FFB800"/>
            </a:solidFill>
            <a:prstDash val="solid"/>
          </a:ln>
        </p:spPr>
      </p:sp>
      <p:sp>
        <p:nvSpPr>
          <p:cNvPr id="18" name="Text 16"/>
          <p:cNvSpPr/>
          <p:nvPr/>
        </p:nvSpPr>
        <p:spPr>
          <a:xfrm>
            <a:off x="457200" y="2560320"/>
            <a:ext cx="1988820" cy="292608"/>
          </a:xfrm>
          <a:prstGeom prst="rect">
            <a:avLst/>
          </a:prstGeom>
          <a:noFill/>
          <a:ln/>
        </p:spPr>
        <p:txBody>
          <a:bodyPr wrap="square" lIns="0" tIns="0" rIns="0" bIns="0" rtlCol="0" anchor="ctr"/>
          <a:lstStyle/>
          <a:p>
            <a:pPr algn="ctr" indent="0" marL="0">
              <a:buNone/>
            </a:pPr>
            <a:r>
              <a:rPr lang="en-US" sz="950" b="1" spc="200" kern="0" dirty="0">
                <a:solidFill>
                  <a:srgbClr val="000000"/>
                </a:solidFill>
                <a:latin typeface="Arial" pitchFamily="34" charset="0"/>
                <a:ea typeface="Arial" pitchFamily="34" charset="-122"/>
                <a:cs typeface="Arial" pitchFamily="34" charset="-120"/>
              </a:rPr>
              <a:t>HYPERSCALERS</a:t>
            </a:r>
            <a:endParaRPr lang="en-US" sz="950" dirty="0"/>
          </a:p>
        </p:txBody>
      </p:sp>
      <p:sp>
        <p:nvSpPr>
          <p:cNvPr id="19" name="Text 17"/>
          <p:cNvSpPr/>
          <p:nvPr/>
        </p:nvSpPr>
        <p:spPr>
          <a:xfrm>
            <a:off x="585216" y="2944368"/>
            <a:ext cx="1732788" cy="1371600"/>
          </a:xfrm>
          <a:prstGeom prst="rect">
            <a:avLst/>
          </a:prstGeom>
          <a:noFill/>
          <a:ln/>
        </p:spPr>
        <p:txBody>
          <a:bodyPr wrap="square" lIns="0" tIns="0" rIns="0" bIns="0" rtlCol="0" anchor="t"/>
          <a:lstStyle/>
          <a:p>
            <a:pPr indent="0" marL="0">
              <a:buNone/>
            </a:pPr>
            <a:r>
              <a:rPr lang="en-US" sz="1000" dirty="0">
                <a:solidFill>
                  <a:srgbClr val="333333"/>
                </a:solidFill>
                <a:latin typeface="Arial" pitchFamily="34" charset="0"/>
                <a:ea typeface="Arial" pitchFamily="34" charset="-122"/>
                <a:cs typeface="Arial" pitchFamily="34" charset="-120"/>
              </a:rPr>
              <a:t>Training frontier models and renting compute to everyone else.</a:t>
            </a:r>
            <a:endParaRPr lang="en-US" sz="1000" dirty="0"/>
          </a:p>
        </p:txBody>
      </p:sp>
      <p:sp>
        <p:nvSpPr>
          <p:cNvPr id="20" name="Shape 18"/>
          <p:cNvSpPr/>
          <p:nvPr/>
        </p:nvSpPr>
        <p:spPr>
          <a:xfrm>
            <a:off x="640080" y="4434840"/>
            <a:ext cx="1623060" cy="0"/>
          </a:xfrm>
          <a:prstGeom prst="line">
            <a:avLst/>
          </a:prstGeom>
          <a:noFill/>
          <a:ln w="6350">
            <a:solidFill>
              <a:srgbClr val="E5E5E5"/>
            </a:solidFill>
            <a:prstDash val="solid"/>
          </a:ln>
        </p:spPr>
      </p:sp>
      <p:sp>
        <p:nvSpPr>
          <p:cNvPr id="21" name="Text 19"/>
          <p:cNvSpPr/>
          <p:nvPr/>
        </p:nvSpPr>
        <p:spPr>
          <a:xfrm>
            <a:off x="585216" y="4507992"/>
            <a:ext cx="1732788" cy="201168"/>
          </a:xfrm>
          <a:prstGeom prst="rect">
            <a:avLst/>
          </a:prstGeom>
          <a:noFill/>
          <a:ln/>
        </p:spPr>
        <p:txBody>
          <a:bodyPr wrap="square" lIns="0" tIns="0" rIns="0" bIns="0" rtlCol="0" anchor="t"/>
          <a:lstStyle/>
          <a:p>
            <a:pPr indent="0" marL="0">
              <a:buNone/>
            </a:pPr>
            <a:r>
              <a:rPr lang="en-US" sz="750" b="1" spc="200" kern="0" dirty="0">
                <a:solidFill>
                  <a:srgbClr val="666666"/>
                </a:solidFill>
                <a:latin typeface="Arial" pitchFamily="34" charset="0"/>
                <a:ea typeface="Arial" pitchFamily="34" charset="-122"/>
                <a:cs typeface="Arial" pitchFamily="34" charset="-120"/>
              </a:rPr>
              <a:t>TOP BUYERS</a:t>
            </a:r>
            <a:endParaRPr lang="en-US" sz="750" dirty="0"/>
          </a:p>
        </p:txBody>
      </p:sp>
      <p:sp>
        <p:nvSpPr>
          <p:cNvPr id="22" name="Text 20"/>
          <p:cNvSpPr/>
          <p:nvPr/>
        </p:nvSpPr>
        <p:spPr>
          <a:xfrm>
            <a:off x="585216" y="4727448"/>
            <a:ext cx="1732788" cy="384048"/>
          </a:xfrm>
          <a:prstGeom prst="rect">
            <a:avLst/>
          </a:prstGeom>
          <a:noFill/>
          <a:ln/>
        </p:spPr>
        <p:txBody>
          <a:bodyPr wrap="square" lIns="0" tIns="0" rIns="0" bIns="0" rtlCol="0" anchor="t"/>
          <a:lstStyle/>
          <a:p>
            <a:pPr indent="0" marL="0">
              <a:buNone/>
            </a:pPr>
            <a:r>
              <a:rPr lang="en-US" sz="900" b="1" dirty="0">
                <a:solidFill>
                  <a:srgbClr val="000000"/>
                </a:solidFill>
                <a:latin typeface="Arial" pitchFamily="34" charset="0"/>
                <a:ea typeface="Arial" pitchFamily="34" charset="-122"/>
                <a:cs typeface="Arial" pitchFamily="34" charset="-120"/>
              </a:rPr>
              <a:t>AWS · Azure · Google · Meta · Oracle</a:t>
            </a:r>
            <a:endParaRPr lang="en-US" sz="900" dirty="0"/>
          </a:p>
        </p:txBody>
      </p:sp>
      <p:sp>
        <p:nvSpPr>
          <p:cNvPr id="23" name="Shape 21"/>
          <p:cNvSpPr/>
          <p:nvPr/>
        </p:nvSpPr>
        <p:spPr>
          <a:xfrm>
            <a:off x="2537460" y="2560320"/>
            <a:ext cx="1988820" cy="2606040"/>
          </a:xfrm>
          <a:prstGeom prst="rect">
            <a:avLst/>
          </a:prstGeom>
          <a:solidFill>
            <a:srgbClr val="F9F9F9"/>
          </a:solidFill>
          <a:ln w="6350">
            <a:solidFill>
              <a:srgbClr val="E5E5E5"/>
            </a:solidFill>
            <a:prstDash val="solid"/>
          </a:ln>
        </p:spPr>
      </p:sp>
      <p:sp>
        <p:nvSpPr>
          <p:cNvPr id="24" name="Shape 22"/>
          <p:cNvSpPr/>
          <p:nvPr/>
        </p:nvSpPr>
        <p:spPr>
          <a:xfrm>
            <a:off x="2537460" y="2560320"/>
            <a:ext cx="1988820" cy="292608"/>
          </a:xfrm>
          <a:prstGeom prst="rect">
            <a:avLst/>
          </a:prstGeom>
          <a:solidFill>
            <a:srgbClr val="008B8B"/>
          </a:solidFill>
          <a:ln w="12700">
            <a:solidFill>
              <a:srgbClr val="008B8B"/>
            </a:solidFill>
            <a:prstDash val="solid"/>
          </a:ln>
        </p:spPr>
      </p:sp>
      <p:sp>
        <p:nvSpPr>
          <p:cNvPr id="25" name="Text 23"/>
          <p:cNvSpPr/>
          <p:nvPr/>
        </p:nvSpPr>
        <p:spPr>
          <a:xfrm>
            <a:off x="2537460" y="2560320"/>
            <a:ext cx="1988820" cy="292608"/>
          </a:xfrm>
          <a:prstGeom prst="rect">
            <a:avLst/>
          </a:prstGeom>
          <a:noFill/>
          <a:ln/>
        </p:spPr>
        <p:txBody>
          <a:bodyPr wrap="square" lIns="0" tIns="0" rIns="0" bIns="0" rtlCol="0" anchor="ctr"/>
          <a:lstStyle/>
          <a:p>
            <a:pPr algn="ctr" indent="0" marL="0">
              <a:buNone/>
            </a:pPr>
            <a:r>
              <a:rPr lang="en-US" sz="950" b="1" spc="200" kern="0" dirty="0">
                <a:solidFill>
                  <a:srgbClr val="FFFFFF"/>
                </a:solidFill>
                <a:latin typeface="Arial" pitchFamily="34" charset="0"/>
                <a:ea typeface="Arial" pitchFamily="34" charset="-122"/>
                <a:cs typeface="Arial" pitchFamily="34" charset="-120"/>
              </a:rPr>
              <a:t>SOVEREIGNS</a:t>
            </a:r>
            <a:endParaRPr lang="en-US" sz="950" dirty="0"/>
          </a:p>
        </p:txBody>
      </p:sp>
      <p:sp>
        <p:nvSpPr>
          <p:cNvPr id="26" name="Text 24"/>
          <p:cNvSpPr/>
          <p:nvPr/>
        </p:nvSpPr>
        <p:spPr>
          <a:xfrm>
            <a:off x="2665476" y="2944368"/>
            <a:ext cx="1732788" cy="1371600"/>
          </a:xfrm>
          <a:prstGeom prst="rect">
            <a:avLst/>
          </a:prstGeom>
          <a:noFill/>
          <a:ln/>
        </p:spPr>
        <p:txBody>
          <a:bodyPr wrap="square" lIns="0" tIns="0" rIns="0" bIns="0" rtlCol="0" anchor="t"/>
          <a:lstStyle/>
          <a:p>
            <a:pPr indent="0" marL="0">
              <a:buNone/>
            </a:pPr>
            <a:r>
              <a:rPr lang="en-US" sz="1000" dirty="0">
                <a:solidFill>
                  <a:srgbClr val="333333"/>
                </a:solidFill>
                <a:latin typeface="Arial" pitchFamily="34" charset="0"/>
                <a:ea typeface="Arial" pitchFamily="34" charset="-122"/>
                <a:cs typeface="Arial" pitchFamily="34" charset="-120"/>
              </a:rPr>
              <a:t>National AI programs building sovereign access to frontier compute.</a:t>
            </a:r>
            <a:endParaRPr lang="en-US" sz="1000" dirty="0"/>
          </a:p>
        </p:txBody>
      </p:sp>
      <p:sp>
        <p:nvSpPr>
          <p:cNvPr id="27" name="Shape 25"/>
          <p:cNvSpPr/>
          <p:nvPr/>
        </p:nvSpPr>
        <p:spPr>
          <a:xfrm>
            <a:off x="2720340" y="4434840"/>
            <a:ext cx="1623060" cy="0"/>
          </a:xfrm>
          <a:prstGeom prst="line">
            <a:avLst/>
          </a:prstGeom>
          <a:noFill/>
          <a:ln w="6350">
            <a:solidFill>
              <a:srgbClr val="E5E5E5"/>
            </a:solidFill>
            <a:prstDash val="solid"/>
          </a:ln>
        </p:spPr>
      </p:sp>
      <p:sp>
        <p:nvSpPr>
          <p:cNvPr id="28" name="Text 26"/>
          <p:cNvSpPr/>
          <p:nvPr/>
        </p:nvSpPr>
        <p:spPr>
          <a:xfrm>
            <a:off x="2665476" y="4507992"/>
            <a:ext cx="1732788" cy="201168"/>
          </a:xfrm>
          <a:prstGeom prst="rect">
            <a:avLst/>
          </a:prstGeom>
          <a:noFill/>
          <a:ln/>
        </p:spPr>
        <p:txBody>
          <a:bodyPr wrap="square" lIns="0" tIns="0" rIns="0" bIns="0" rtlCol="0" anchor="t"/>
          <a:lstStyle/>
          <a:p>
            <a:pPr indent="0" marL="0">
              <a:buNone/>
            </a:pPr>
            <a:r>
              <a:rPr lang="en-US" sz="750" b="1" spc="200" kern="0" dirty="0">
                <a:solidFill>
                  <a:srgbClr val="666666"/>
                </a:solidFill>
                <a:latin typeface="Arial" pitchFamily="34" charset="0"/>
                <a:ea typeface="Arial" pitchFamily="34" charset="-122"/>
                <a:cs typeface="Arial" pitchFamily="34" charset="-120"/>
              </a:rPr>
              <a:t>TOP BUYERS</a:t>
            </a:r>
            <a:endParaRPr lang="en-US" sz="750" dirty="0"/>
          </a:p>
        </p:txBody>
      </p:sp>
      <p:sp>
        <p:nvSpPr>
          <p:cNvPr id="29" name="Text 27"/>
          <p:cNvSpPr/>
          <p:nvPr/>
        </p:nvSpPr>
        <p:spPr>
          <a:xfrm>
            <a:off x="2665476" y="4727448"/>
            <a:ext cx="1732788" cy="384048"/>
          </a:xfrm>
          <a:prstGeom prst="rect">
            <a:avLst/>
          </a:prstGeom>
          <a:noFill/>
          <a:ln/>
        </p:spPr>
        <p:txBody>
          <a:bodyPr wrap="square" lIns="0" tIns="0" rIns="0" bIns="0" rtlCol="0" anchor="t"/>
          <a:lstStyle/>
          <a:p>
            <a:pPr indent="0" marL="0">
              <a:buNone/>
            </a:pPr>
            <a:r>
              <a:rPr lang="en-US" sz="900" b="1" dirty="0">
                <a:solidFill>
                  <a:srgbClr val="000000"/>
                </a:solidFill>
                <a:latin typeface="Arial" pitchFamily="34" charset="0"/>
                <a:ea typeface="Arial" pitchFamily="34" charset="-122"/>
                <a:cs typeface="Arial" pitchFamily="34" charset="-120"/>
              </a:rPr>
              <a:t>UAE G42 · Saudi HUMAIN · UK AIRR · Japan METI</a:t>
            </a:r>
            <a:endParaRPr lang="en-US" sz="900" dirty="0"/>
          </a:p>
        </p:txBody>
      </p:sp>
      <p:sp>
        <p:nvSpPr>
          <p:cNvPr id="30" name="Shape 28"/>
          <p:cNvSpPr/>
          <p:nvPr/>
        </p:nvSpPr>
        <p:spPr>
          <a:xfrm>
            <a:off x="4617720" y="2560320"/>
            <a:ext cx="1988820" cy="2606040"/>
          </a:xfrm>
          <a:prstGeom prst="rect">
            <a:avLst/>
          </a:prstGeom>
          <a:solidFill>
            <a:srgbClr val="F9F9F9"/>
          </a:solidFill>
          <a:ln w="6350">
            <a:solidFill>
              <a:srgbClr val="E5E5E5"/>
            </a:solidFill>
            <a:prstDash val="solid"/>
          </a:ln>
        </p:spPr>
      </p:sp>
      <p:sp>
        <p:nvSpPr>
          <p:cNvPr id="31" name="Shape 29"/>
          <p:cNvSpPr/>
          <p:nvPr/>
        </p:nvSpPr>
        <p:spPr>
          <a:xfrm>
            <a:off x="4617720" y="2560320"/>
            <a:ext cx="1988820" cy="292608"/>
          </a:xfrm>
          <a:prstGeom prst="rect">
            <a:avLst/>
          </a:prstGeom>
          <a:solidFill>
            <a:srgbClr val="666666"/>
          </a:solidFill>
          <a:ln w="12700">
            <a:solidFill>
              <a:srgbClr val="666666"/>
            </a:solidFill>
            <a:prstDash val="solid"/>
          </a:ln>
        </p:spPr>
      </p:sp>
      <p:sp>
        <p:nvSpPr>
          <p:cNvPr id="32" name="Text 30"/>
          <p:cNvSpPr/>
          <p:nvPr/>
        </p:nvSpPr>
        <p:spPr>
          <a:xfrm>
            <a:off x="4617720" y="2560320"/>
            <a:ext cx="1988820" cy="292608"/>
          </a:xfrm>
          <a:prstGeom prst="rect">
            <a:avLst/>
          </a:prstGeom>
          <a:noFill/>
          <a:ln/>
        </p:spPr>
        <p:txBody>
          <a:bodyPr wrap="square" lIns="0" tIns="0" rIns="0" bIns="0" rtlCol="0" anchor="ctr"/>
          <a:lstStyle/>
          <a:p>
            <a:pPr algn="ctr" indent="0" marL="0">
              <a:buNone/>
            </a:pPr>
            <a:r>
              <a:rPr lang="en-US" sz="950" b="1" spc="200" kern="0" dirty="0">
                <a:solidFill>
                  <a:srgbClr val="FFFFFF"/>
                </a:solidFill>
                <a:latin typeface="Arial" pitchFamily="34" charset="0"/>
                <a:ea typeface="Arial" pitchFamily="34" charset="-122"/>
                <a:cs typeface="Arial" pitchFamily="34" charset="-120"/>
              </a:rPr>
              <a:t>ENTERPRISE</a:t>
            </a:r>
            <a:endParaRPr lang="en-US" sz="950" dirty="0"/>
          </a:p>
        </p:txBody>
      </p:sp>
      <p:sp>
        <p:nvSpPr>
          <p:cNvPr id="33" name="Text 31"/>
          <p:cNvSpPr/>
          <p:nvPr/>
        </p:nvSpPr>
        <p:spPr>
          <a:xfrm>
            <a:off x="4745736" y="2944368"/>
            <a:ext cx="1732788" cy="1371600"/>
          </a:xfrm>
          <a:prstGeom prst="rect">
            <a:avLst/>
          </a:prstGeom>
          <a:noFill/>
          <a:ln/>
        </p:spPr>
        <p:txBody>
          <a:bodyPr wrap="square" lIns="0" tIns="0" rIns="0" bIns="0" rtlCol="0" anchor="t"/>
          <a:lstStyle/>
          <a:p>
            <a:pPr indent="0" marL="0">
              <a:buNone/>
            </a:pPr>
            <a:r>
              <a:rPr lang="en-US" sz="1000" dirty="0">
                <a:solidFill>
                  <a:srgbClr val="333333"/>
                </a:solidFill>
                <a:latin typeface="Arial" pitchFamily="34" charset="0"/>
                <a:ea typeface="Arial" pitchFamily="34" charset="-122"/>
                <a:cs typeface="Arial" pitchFamily="34" charset="-120"/>
              </a:rPr>
              <a:t>Banks, pharma, and Fortune 500s deploying on-prem for regulated data.</a:t>
            </a:r>
            <a:endParaRPr lang="en-US" sz="1000" dirty="0"/>
          </a:p>
        </p:txBody>
      </p:sp>
      <p:sp>
        <p:nvSpPr>
          <p:cNvPr id="34" name="Shape 32"/>
          <p:cNvSpPr/>
          <p:nvPr/>
        </p:nvSpPr>
        <p:spPr>
          <a:xfrm>
            <a:off x="4800600" y="4434840"/>
            <a:ext cx="1623060" cy="0"/>
          </a:xfrm>
          <a:prstGeom prst="line">
            <a:avLst/>
          </a:prstGeom>
          <a:noFill/>
          <a:ln w="6350">
            <a:solidFill>
              <a:srgbClr val="E5E5E5"/>
            </a:solidFill>
            <a:prstDash val="solid"/>
          </a:ln>
        </p:spPr>
      </p:sp>
      <p:sp>
        <p:nvSpPr>
          <p:cNvPr id="35" name="Text 33"/>
          <p:cNvSpPr/>
          <p:nvPr/>
        </p:nvSpPr>
        <p:spPr>
          <a:xfrm>
            <a:off x="4745736" y="4507992"/>
            <a:ext cx="1732788" cy="201168"/>
          </a:xfrm>
          <a:prstGeom prst="rect">
            <a:avLst/>
          </a:prstGeom>
          <a:noFill/>
          <a:ln/>
        </p:spPr>
        <p:txBody>
          <a:bodyPr wrap="square" lIns="0" tIns="0" rIns="0" bIns="0" rtlCol="0" anchor="t"/>
          <a:lstStyle/>
          <a:p>
            <a:pPr indent="0" marL="0">
              <a:buNone/>
            </a:pPr>
            <a:r>
              <a:rPr lang="en-US" sz="750" b="1" spc="200" kern="0" dirty="0">
                <a:solidFill>
                  <a:srgbClr val="666666"/>
                </a:solidFill>
                <a:latin typeface="Arial" pitchFamily="34" charset="0"/>
                <a:ea typeface="Arial" pitchFamily="34" charset="-122"/>
                <a:cs typeface="Arial" pitchFamily="34" charset="-120"/>
              </a:rPr>
              <a:t>TOP BUYERS</a:t>
            </a:r>
            <a:endParaRPr lang="en-US" sz="750" dirty="0"/>
          </a:p>
        </p:txBody>
      </p:sp>
      <p:sp>
        <p:nvSpPr>
          <p:cNvPr id="36" name="Text 34"/>
          <p:cNvSpPr/>
          <p:nvPr/>
        </p:nvSpPr>
        <p:spPr>
          <a:xfrm>
            <a:off x="4745736" y="4727448"/>
            <a:ext cx="1732788" cy="384048"/>
          </a:xfrm>
          <a:prstGeom prst="rect">
            <a:avLst/>
          </a:prstGeom>
          <a:noFill/>
          <a:ln/>
        </p:spPr>
        <p:txBody>
          <a:bodyPr wrap="square" lIns="0" tIns="0" rIns="0" bIns="0" rtlCol="0" anchor="t"/>
          <a:lstStyle/>
          <a:p>
            <a:pPr indent="0" marL="0">
              <a:buNone/>
            </a:pPr>
            <a:r>
              <a:rPr lang="en-US" sz="900" b="1" dirty="0">
                <a:solidFill>
                  <a:srgbClr val="000000"/>
                </a:solidFill>
                <a:latin typeface="Arial" pitchFamily="34" charset="0"/>
                <a:ea typeface="Arial" pitchFamily="34" charset="-122"/>
                <a:cs typeface="Arial" pitchFamily="34" charset="-120"/>
              </a:rPr>
              <a:t>JPMorgan · Novartis · Walmart</a:t>
            </a:r>
            <a:endParaRPr lang="en-US" sz="900" dirty="0"/>
          </a:p>
        </p:txBody>
      </p:sp>
      <p:sp>
        <p:nvSpPr>
          <p:cNvPr id="37" name="Shape 35"/>
          <p:cNvSpPr/>
          <p:nvPr/>
        </p:nvSpPr>
        <p:spPr>
          <a:xfrm>
            <a:off x="6697980" y="2560320"/>
            <a:ext cx="1988820" cy="2606040"/>
          </a:xfrm>
          <a:prstGeom prst="rect">
            <a:avLst/>
          </a:prstGeom>
          <a:solidFill>
            <a:srgbClr val="F9F9F9"/>
          </a:solidFill>
          <a:ln w="6350">
            <a:solidFill>
              <a:srgbClr val="E5E5E5"/>
            </a:solidFill>
            <a:prstDash val="solid"/>
          </a:ln>
        </p:spPr>
      </p:sp>
      <p:sp>
        <p:nvSpPr>
          <p:cNvPr id="38" name="Shape 36"/>
          <p:cNvSpPr/>
          <p:nvPr/>
        </p:nvSpPr>
        <p:spPr>
          <a:xfrm>
            <a:off x="6697980" y="2560320"/>
            <a:ext cx="1988820" cy="292608"/>
          </a:xfrm>
          <a:prstGeom prst="rect">
            <a:avLst/>
          </a:prstGeom>
          <a:solidFill>
            <a:srgbClr val="F6693D"/>
          </a:solidFill>
          <a:ln w="12700">
            <a:solidFill>
              <a:srgbClr val="F6693D"/>
            </a:solidFill>
            <a:prstDash val="solid"/>
          </a:ln>
        </p:spPr>
      </p:sp>
      <p:sp>
        <p:nvSpPr>
          <p:cNvPr id="39" name="Text 37"/>
          <p:cNvSpPr/>
          <p:nvPr/>
        </p:nvSpPr>
        <p:spPr>
          <a:xfrm>
            <a:off x="6697980" y="2560320"/>
            <a:ext cx="1988820" cy="292608"/>
          </a:xfrm>
          <a:prstGeom prst="rect">
            <a:avLst/>
          </a:prstGeom>
          <a:noFill/>
          <a:ln/>
        </p:spPr>
        <p:txBody>
          <a:bodyPr wrap="square" lIns="0" tIns="0" rIns="0" bIns="0" rtlCol="0" anchor="ctr"/>
          <a:lstStyle/>
          <a:p>
            <a:pPr algn="ctr" indent="0" marL="0">
              <a:buNone/>
            </a:pPr>
            <a:r>
              <a:rPr lang="en-US" sz="950" b="1" spc="200" kern="0" dirty="0">
                <a:solidFill>
                  <a:srgbClr val="FFFFFF"/>
                </a:solidFill>
                <a:latin typeface="Arial" pitchFamily="34" charset="0"/>
                <a:ea typeface="Arial" pitchFamily="34" charset="-122"/>
                <a:cs typeface="Arial" pitchFamily="34" charset="-120"/>
              </a:rPr>
              <a:t>CONSUMER + EDGE</a:t>
            </a:r>
            <a:endParaRPr lang="en-US" sz="950" dirty="0"/>
          </a:p>
        </p:txBody>
      </p:sp>
      <p:sp>
        <p:nvSpPr>
          <p:cNvPr id="40" name="Text 38"/>
          <p:cNvSpPr/>
          <p:nvPr/>
        </p:nvSpPr>
        <p:spPr>
          <a:xfrm>
            <a:off x="6825996" y="2944368"/>
            <a:ext cx="1732788" cy="1371600"/>
          </a:xfrm>
          <a:prstGeom prst="rect">
            <a:avLst/>
          </a:prstGeom>
          <a:noFill/>
          <a:ln/>
        </p:spPr>
        <p:txBody>
          <a:bodyPr wrap="square" lIns="0" tIns="0" rIns="0" bIns="0" rtlCol="0" anchor="t"/>
          <a:lstStyle/>
          <a:p>
            <a:pPr indent="0" marL="0">
              <a:buNone/>
            </a:pPr>
            <a:r>
              <a:rPr lang="en-US" sz="1000" dirty="0">
                <a:solidFill>
                  <a:srgbClr val="333333"/>
                </a:solidFill>
                <a:latin typeface="Arial" pitchFamily="34" charset="0"/>
                <a:ea typeface="Arial" pitchFamily="34" charset="-122"/>
                <a:cs typeface="Arial" pitchFamily="34" charset="-120"/>
              </a:rPr>
              <a:t>AI inference moves into phones, PCs, cars, and factory robots.</a:t>
            </a:r>
            <a:endParaRPr lang="en-US" sz="1000" dirty="0"/>
          </a:p>
        </p:txBody>
      </p:sp>
      <p:sp>
        <p:nvSpPr>
          <p:cNvPr id="41" name="Shape 39"/>
          <p:cNvSpPr/>
          <p:nvPr/>
        </p:nvSpPr>
        <p:spPr>
          <a:xfrm>
            <a:off x="6880860" y="4434840"/>
            <a:ext cx="1623060" cy="0"/>
          </a:xfrm>
          <a:prstGeom prst="line">
            <a:avLst/>
          </a:prstGeom>
          <a:noFill/>
          <a:ln w="6350">
            <a:solidFill>
              <a:srgbClr val="E5E5E5"/>
            </a:solidFill>
            <a:prstDash val="solid"/>
          </a:ln>
        </p:spPr>
      </p:sp>
      <p:sp>
        <p:nvSpPr>
          <p:cNvPr id="42" name="Text 40"/>
          <p:cNvSpPr/>
          <p:nvPr/>
        </p:nvSpPr>
        <p:spPr>
          <a:xfrm>
            <a:off x="6825996" y="4507992"/>
            <a:ext cx="1732788" cy="201168"/>
          </a:xfrm>
          <a:prstGeom prst="rect">
            <a:avLst/>
          </a:prstGeom>
          <a:noFill/>
          <a:ln/>
        </p:spPr>
        <p:txBody>
          <a:bodyPr wrap="square" lIns="0" tIns="0" rIns="0" bIns="0" rtlCol="0" anchor="t"/>
          <a:lstStyle/>
          <a:p>
            <a:pPr indent="0" marL="0">
              <a:buNone/>
            </a:pPr>
            <a:r>
              <a:rPr lang="en-US" sz="750" b="1" spc="200" kern="0" dirty="0">
                <a:solidFill>
                  <a:srgbClr val="666666"/>
                </a:solidFill>
                <a:latin typeface="Arial" pitchFamily="34" charset="0"/>
                <a:ea typeface="Arial" pitchFamily="34" charset="-122"/>
                <a:cs typeface="Arial" pitchFamily="34" charset="-120"/>
              </a:rPr>
              <a:t>TOP BUYERS</a:t>
            </a:r>
            <a:endParaRPr lang="en-US" sz="750" dirty="0"/>
          </a:p>
        </p:txBody>
      </p:sp>
      <p:sp>
        <p:nvSpPr>
          <p:cNvPr id="43" name="Text 41"/>
          <p:cNvSpPr/>
          <p:nvPr/>
        </p:nvSpPr>
        <p:spPr>
          <a:xfrm>
            <a:off x="6825996" y="4727448"/>
            <a:ext cx="1732788" cy="384048"/>
          </a:xfrm>
          <a:prstGeom prst="rect">
            <a:avLst/>
          </a:prstGeom>
          <a:noFill/>
          <a:ln/>
        </p:spPr>
        <p:txBody>
          <a:bodyPr wrap="square" lIns="0" tIns="0" rIns="0" bIns="0" rtlCol="0" anchor="t"/>
          <a:lstStyle/>
          <a:p>
            <a:pPr indent="0" marL="0">
              <a:buNone/>
            </a:pPr>
            <a:r>
              <a:rPr lang="en-US" sz="900" b="1" dirty="0">
                <a:solidFill>
                  <a:srgbClr val="000000"/>
                </a:solidFill>
                <a:latin typeface="Arial" pitchFamily="34" charset="0"/>
                <a:ea typeface="Arial" pitchFamily="34" charset="-122"/>
                <a:cs typeface="Arial" pitchFamily="34" charset="-120"/>
              </a:rPr>
              <a:t>Apple · Samsung · Tesla · humanoid OEMs</a:t>
            </a:r>
            <a:endParaRPr lang="en-US" sz="900" dirty="0"/>
          </a:p>
        </p:txBody>
      </p:sp>
      <p:sp>
        <p:nvSpPr>
          <p:cNvPr id="44" name="Shape 42"/>
          <p:cNvSpPr/>
          <p:nvPr/>
        </p:nvSpPr>
        <p:spPr>
          <a:xfrm>
            <a:off x="457200" y="5257800"/>
            <a:ext cx="8229600" cy="411480"/>
          </a:xfrm>
          <a:prstGeom prst="rect">
            <a:avLst/>
          </a:prstGeom>
          <a:solidFill>
            <a:srgbClr val="FFD100"/>
          </a:solidFill>
          <a:ln w="12700">
            <a:solidFill>
              <a:srgbClr val="FFD100"/>
            </a:solidFill>
            <a:prstDash val="solid"/>
          </a:ln>
        </p:spPr>
      </p:sp>
      <p:sp>
        <p:nvSpPr>
          <p:cNvPr id="45" name="Text 43"/>
          <p:cNvSpPr/>
          <p:nvPr/>
        </p:nvSpPr>
        <p:spPr>
          <a:xfrm>
            <a:off x="640080" y="5257800"/>
            <a:ext cx="7863840" cy="411480"/>
          </a:xfrm>
          <a:prstGeom prst="rect">
            <a:avLst/>
          </a:prstGeom>
          <a:noFill/>
          <a:ln/>
        </p:spPr>
        <p:txBody>
          <a:bodyPr wrap="square" lIns="0" tIns="0" rIns="0" bIns="0" rtlCol="0" anchor="ctr"/>
          <a:lstStyle/>
          <a:p>
            <a:pPr indent="0" marL="0">
              <a:buNone/>
            </a:pPr>
            <a:r>
              <a:rPr lang="en-US" sz="1200" b="1" dirty="0">
                <a:solidFill>
                  <a:srgbClr val="000000"/>
                </a:solidFill>
                <a:latin typeface="Arial" pitchFamily="34" charset="0"/>
                <a:ea typeface="Arial" pitchFamily="34" charset="-122"/>
                <a:cs typeface="Arial" pitchFamily="34" charset="-120"/>
              </a:rPr>
              <a:t>Five buyers fund most of the AI compute cycle — their capex IS the market.</a:t>
            </a:r>
            <a:endParaRPr lang="en-US" sz="1200" dirty="0"/>
          </a:p>
        </p:txBody>
      </p:sp>
      <p:sp>
        <p:nvSpPr>
          <p:cNvPr id="46" name="Text 44"/>
          <p:cNvSpPr/>
          <p:nvPr/>
        </p:nvSpPr>
        <p:spPr>
          <a:xfrm>
            <a:off x="457200" y="5875020"/>
            <a:ext cx="8229600" cy="320040"/>
          </a:xfrm>
          <a:prstGeom prst="rect">
            <a:avLst/>
          </a:prstGeom>
          <a:noFill/>
          <a:ln/>
        </p:spPr>
        <p:txBody>
          <a:bodyPr wrap="square" lIns="0" tIns="0" rIns="0" bIns="0" rtlCol="0" anchor="t"/>
          <a:lstStyle/>
          <a:p>
            <a:pPr indent="0" marL="0">
              <a:buNone/>
            </a:pPr>
            <a:r>
              <a:rPr lang="en-US" sz="700" dirty="0">
                <a:solidFill>
                  <a:srgbClr val="999999"/>
                </a:solidFill>
                <a:latin typeface="Arial" pitchFamily="34" charset="0"/>
                <a:ea typeface="Arial" pitchFamily="34" charset="-122"/>
                <a:cs typeface="Arial" pitchFamily="34" charset="-120"/>
              </a:rPr>
              <a:t>Sources: SemiAnalysis and Omdia estimates of AI accelerator end-demand; TrendForce; hyperscaler 2026 capex guides (AWS, Microsoft, Google, Meta, Oracle); IDC. Shares are directional 2026E estimates.</a:t>
            </a:r>
            <a:endParaRPr lang="en-US" sz="700" dirty="0"/>
          </a:p>
        </p:txBody>
      </p:sp>
      <p:sp>
        <p:nvSpPr>
          <p:cNvPr id="47" name="Shape 45"/>
          <p:cNvSpPr/>
          <p:nvPr/>
        </p:nvSpPr>
        <p:spPr>
          <a:xfrm>
            <a:off x="0" y="6286500"/>
            <a:ext cx="9144000" cy="571500"/>
          </a:xfrm>
          <a:prstGeom prst="rect">
            <a:avLst/>
          </a:prstGeom>
          <a:solidFill>
            <a:srgbClr val="000000"/>
          </a:solidFill>
          <a:ln w="12700">
            <a:solidFill>
              <a:srgbClr val="000000"/>
            </a:solidFill>
            <a:prstDash val="solid"/>
          </a:ln>
        </p:spPr>
      </p:sp>
      <p:sp>
        <p:nvSpPr>
          <p:cNvPr id="48" name="Text 46"/>
          <p:cNvSpPr/>
          <p:nvPr/>
        </p:nvSpPr>
        <p:spPr>
          <a:xfrm>
            <a:off x="1371600" y="6332220"/>
            <a:ext cx="6400800" cy="457200"/>
          </a:xfrm>
          <a:prstGeom prst="rect">
            <a:avLst/>
          </a:prstGeom>
          <a:noFill/>
          <a:ln/>
        </p:spPr>
        <p:txBody>
          <a:bodyPr wrap="square" lIns="0" tIns="0" rIns="0" bIns="0" rtlCol="0" anchor="ctr"/>
          <a:lstStyle/>
          <a:p>
            <a:pPr algn="ctr" indent="0" marL="0">
              <a:buNone/>
            </a:pPr>
            <a:r>
              <a:rPr lang="en-US" sz="650" b="1" dirty="0">
                <a:solidFill>
                  <a:srgbClr val="FFFFFF"/>
                </a:solidFill>
                <a:latin typeface="Arial" pitchFamily="34" charset="0"/>
                <a:ea typeface="Arial" pitchFamily="34" charset="-122"/>
                <a:cs typeface="Arial" pitchFamily="34" charset="-120"/>
              </a:rPr>
              <a:t>FOR INFORMATIONAL PURPOSES ONLY. NOT INVESTMENT ADVICE. PAST PERFORMANCE IS NOT INDICATIVE OF FUTURE RESULTS.</a:t>
            </a:r>
            <a:endParaRPr lang="en-US" sz="650" dirty="0"/>
          </a:p>
        </p:txBody>
      </p:sp>
      <p:sp>
        <p:nvSpPr>
          <p:cNvPr id="49" name="Text 47"/>
          <p:cNvSpPr/>
          <p:nvPr/>
        </p:nvSpPr>
        <p:spPr>
          <a:xfrm>
            <a:off x="8321040" y="6405372"/>
            <a:ext cx="548640" cy="274320"/>
          </a:xfrm>
          <a:prstGeom prst="rect">
            <a:avLst/>
          </a:prstGeom>
          <a:noFill/>
          <a:ln/>
        </p:spPr>
        <p:txBody>
          <a:bodyPr wrap="square" lIns="0" tIns="0" rIns="0" bIns="0" rtlCol="0" anchor="ctr"/>
          <a:lstStyle/>
          <a:p>
            <a:pPr algn="r" indent="0" marL="0">
              <a:buNone/>
            </a:pPr>
            <a:r>
              <a:rPr lang="en-US" sz="900" dirty="0">
                <a:solidFill>
                  <a:srgbClr val="FFFFFF"/>
                </a:solidFill>
                <a:latin typeface="Arial" pitchFamily="34" charset="0"/>
                <a:ea typeface="Arial" pitchFamily="34" charset="-122"/>
                <a:cs typeface="Arial" pitchFamily="34" charset="-120"/>
              </a:rPr>
              <a:t>8</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Shape 0"/>
          <p:cNvSpPr/>
          <p:nvPr/>
        </p:nvSpPr>
        <p:spPr>
          <a:xfrm>
            <a:off x="7132320" y="164592"/>
            <a:ext cx="1737360" cy="292608"/>
          </a:xfrm>
          <a:prstGeom prst="roundRect">
            <a:avLst>
              <a:gd name="adj" fmla="val 15625"/>
            </a:avLst>
          </a:prstGeom>
          <a:solidFill>
            <a:srgbClr val="FFB800"/>
          </a:solidFill>
          <a:ln w="12700">
            <a:solidFill>
              <a:srgbClr val="FFB800"/>
            </a:solidFill>
            <a:prstDash val="solid"/>
          </a:ln>
        </p:spPr>
      </p:sp>
      <p:sp>
        <p:nvSpPr>
          <p:cNvPr id="3" name="Text 1"/>
          <p:cNvSpPr/>
          <p:nvPr/>
        </p:nvSpPr>
        <p:spPr>
          <a:xfrm>
            <a:off x="7132320" y="164592"/>
            <a:ext cx="1737360" cy="292608"/>
          </a:xfrm>
          <a:prstGeom prst="rect">
            <a:avLst/>
          </a:prstGeom>
          <a:noFill/>
          <a:ln/>
        </p:spPr>
        <p:txBody>
          <a:bodyPr wrap="square" lIns="0" tIns="0" rIns="0" bIns="0" rtlCol="0" anchor="ctr"/>
          <a:lstStyle/>
          <a:p>
            <a:pPr algn="ctr" indent="0" marL="0">
              <a:buNone/>
            </a:pPr>
            <a:r>
              <a:rPr lang="en-US" sz="1000" b="1" spc="100" kern="0" dirty="0">
                <a:solidFill>
                  <a:srgbClr val="000000"/>
                </a:solidFill>
                <a:latin typeface="Arial" pitchFamily="34" charset="0"/>
                <a:ea typeface="Arial" pitchFamily="34" charset="-122"/>
                <a:cs typeface="Arial" pitchFamily="34" charset="-120"/>
              </a:rPr>
              <a:t>MARKET</a:t>
            </a:r>
            <a:endParaRPr lang="en-US" sz="1000" dirty="0"/>
          </a:p>
        </p:txBody>
      </p:sp>
      <p:sp>
        <p:nvSpPr>
          <p:cNvPr id="4" name="Text 2"/>
          <p:cNvSpPr/>
          <p:nvPr/>
        </p:nvSpPr>
        <p:spPr>
          <a:xfrm>
            <a:off x="457200" y="182880"/>
            <a:ext cx="6583680" cy="685800"/>
          </a:xfrm>
          <a:prstGeom prst="rect">
            <a:avLst/>
          </a:prstGeom>
          <a:noFill/>
          <a:ln/>
        </p:spPr>
        <p:txBody>
          <a:bodyPr wrap="square" lIns="0" tIns="0" rIns="0" bIns="0" rtlCol="0" anchor="t"/>
          <a:lstStyle/>
          <a:p>
            <a:pPr indent="0" marL="0">
              <a:buNone/>
            </a:pPr>
            <a:r>
              <a:rPr lang="en-US" sz="2400" b="1" dirty="0">
                <a:solidFill>
                  <a:srgbClr val="000000"/>
                </a:solidFill>
                <a:latin typeface="Arial Black" pitchFamily="34" charset="0"/>
                <a:ea typeface="Arial Black" pitchFamily="34" charset="-122"/>
                <a:cs typeface="Arial Black" pitchFamily="34" charset="-120"/>
              </a:rPr>
              <a:t>Power is the new bottleneck.</a:t>
            </a:r>
            <a:endParaRPr lang="en-US" sz="2400" dirty="0"/>
          </a:p>
        </p:txBody>
      </p:sp>
      <p:sp>
        <p:nvSpPr>
          <p:cNvPr id="5" name="Text 3"/>
          <p:cNvSpPr/>
          <p:nvPr/>
        </p:nvSpPr>
        <p:spPr>
          <a:xfrm>
            <a:off x="457200" y="914400"/>
            <a:ext cx="8229600" cy="457200"/>
          </a:xfrm>
          <a:prstGeom prst="rect">
            <a:avLst/>
          </a:prstGeom>
          <a:noFill/>
          <a:ln/>
        </p:spPr>
        <p:txBody>
          <a:bodyPr wrap="square" lIns="0" tIns="0" rIns="0" bIns="0" rtlCol="0" anchor="t"/>
          <a:lstStyle/>
          <a:p>
            <a:pPr indent="0" marL="0">
              <a:buNone/>
            </a:pPr>
            <a:r>
              <a:rPr lang="en-US" sz="1350" dirty="0">
                <a:solidFill>
                  <a:srgbClr val="666666"/>
                </a:solidFill>
                <a:latin typeface="Arial" pitchFamily="34" charset="0"/>
                <a:ea typeface="Arial" pitchFamily="34" charset="-122"/>
                <a:cs typeface="Arial" pitchFamily="34" charset="-120"/>
              </a:rPr>
              <a:t>Jensen Huang: the energy needed for compute is "probably 1,000× more than we have today." The grid, not the chip, now sets the pace of buildouts.</a:t>
            </a:r>
            <a:endParaRPr lang="en-US" sz="1350" dirty="0"/>
          </a:p>
        </p:txBody>
      </p:sp>
      <p:sp>
        <p:nvSpPr>
          <p:cNvPr id="6" name="Shape 4"/>
          <p:cNvSpPr/>
          <p:nvPr/>
        </p:nvSpPr>
        <p:spPr>
          <a:xfrm>
            <a:off x="457200" y="1325880"/>
            <a:ext cx="8229600" cy="0"/>
          </a:xfrm>
          <a:prstGeom prst="line">
            <a:avLst/>
          </a:prstGeom>
          <a:noFill/>
          <a:ln w="9525">
            <a:solidFill>
              <a:srgbClr val="E5E5E5"/>
            </a:solidFill>
            <a:prstDash val="solid"/>
          </a:ln>
        </p:spPr>
      </p:sp>
      <p:sp>
        <p:nvSpPr>
          <p:cNvPr id="7" name="Text 5"/>
          <p:cNvSpPr/>
          <p:nvPr/>
        </p:nvSpPr>
        <p:spPr>
          <a:xfrm>
            <a:off x="480060" y="1920240"/>
            <a:ext cx="2606040" cy="685800"/>
          </a:xfrm>
          <a:prstGeom prst="rect">
            <a:avLst/>
          </a:prstGeom>
          <a:noFill/>
          <a:ln/>
        </p:spPr>
        <p:txBody>
          <a:bodyPr wrap="square" lIns="0" tIns="0" rIns="0" bIns="0" rtlCol="0" anchor="ctr"/>
          <a:lstStyle/>
          <a:p>
            <a:pPr algn="ctr" indent="0" marL="0">
              <a:buNone/>
            </a:pPr>
            <a:r>
              <a:rPr lang="en-US" sz="4000" b="1" dirty="0">
                <a:solidFill>
                  <a:srgbClr val="F6693D"/>
                </a:solidFill>
                <a:latin typeface="Arial Black" pitchFamily="34" charset="0"/>
                <a:ea typeface="Arial Black" pitchFamily="34" charset="-122"/>
                <a:cs typeface="Arial Black" pitchFamily="34" charset="-120"/>
              </a:rPr>
              <a:t>~12%</a:t>
            </a:r>
            <a:endParaRPr lang="en-US" sz="4000" dirty="0"/>
          </a:p>
        </p:txBody>
      </p:sp>
      <p:sp>
        <p:nvSpPr>
          <p:cNvPr id="8" name="Text 6"/>
          <p:cNvSpPr/>
          <p:nvPr/>
        </p:nvSpPr>
        <p:spPr>
          <a:xfrm>
            <a:off x="480060" y="2651760"/>
            <a:ext cx="2606040" cy="502920"/>
          </a:xfrm>
          <a:prstGeom prst="rect">
            <a:avLst/>
          </a:prstGeom>
          <a:noFill/>
          <a:ln/>
        </p:spPr>
        <p:txBody>
          <a:bodyPr wrap="square" lIns="0" tIns="0" rIns="0" bIns="0" rtlCol="0" anchor="t"/>
          <a:lstStyle/>
          <a:p>
            <a:pPr algn="ctr" indent="0" marL="0">
              <a:buNone/>
            </a:pPr>
            <a:r>
              <a:rPr lang="en-US" sz="1100" dirty="0">
                <a:solidFill>
                  <a:srgbClr val="666666"/>
                </a:solidFill>
                <a:latin typeface="Arial" pitchFamily="34" charset="0"/>
                <a:ea typeface="Arial" pitchFamily="34" charset="-122"/>
                <a:cs typeface="Arial" pitchFamily="34" charset="-120"/>
              </a:rPr>
              <a:t>of US electricity demand will go to data centers by 2028 — up from ~4% in 2023 (EPRI high case, 2024)</a:t>
            </a:r>
            <a:endParaRPr lang="en-US" sz="1100" dirty="0"/>
          </a:p>
        </p:txBody>
      </p:sp>
      <p:sp>
        <p:nvSpPr>
          <p:cNvPr id="9" name="Text 7"/>
          <p:cNvSpPr/>
          <p:nvPr/>
        </p:nvSpPr>
        <p:spPr>
          <a:xfrm>
            <a:off x="3268980" y="1920240"/>
            <a:ext cx="2606040" cy="685800"/>
          </a:xfrm>
          <a:prstGeom prst="rect">
            <a:avLst/>
          </a:prstGeom>
          <a:noFill/>
          <a:ln/>
        </p:spPr>
        <p:txBody>
          <a:bodyPr wrap="square" lIns="0" tIns="0" rIns="0" bIns="0" rtlCol="0" anchor="ctr"/>
          <a:lstStyle/>
          <a:p>
            <a:pPr algn="ctr" indent="0" marL="0">
              <a:buNone/>
            </a:pPr>
            <a:r>
              <a:rPr lang="en-US" sz="4000" b="1" dirty="0">
                <a:solidFill>
                  <a:srgbClr val="F6693D"/>
                </a:solidFill>
                <a:latin typeface="Arial Black" pitchFamily="34" charset="0"/>
                <a:ea typeface="Arial Black" pitchFamily="34" charset="-122"/>
                <a:cs typeface="Arial Black" pitchFamily="34" charset="-120"/>
              </a:rPr>
              <a:t>1 GW</a:t>
            </a:r>
            <a:endParaRPr lang="en-US" sz="4000" dirty="0"/>
          </a:p>
        </p:txBody>
      </p:sp>
      <p:sp>
        <p:nvSpPr>
          <p:cNvPr id="10" name="Text 8"/>
          <p:cNvSpPr/>
          <p:nvPr/>
        </p:nvSpPr>
        <p:spPr>
          <a:xfrm>
            <a:off x="3268980" y="2651760"/>
            <a:ext cx="2606040" cy="502920"/>
          </a:xfrm>
          <a:prstGeom prst="rect">
            <a:avLst/>
          </a:prstGeom>
          <a:noFill/>
          <a:ln/>
        </p:spPr>
        <p:txBody>
          <a:bodyPr wrap="square" lIns="0" tIns="0" rIns="0" bIns="0" rtlCol="0" anchor="t"/>
          <a:lstStyle/>
          <a:p>
            <a:pPr algn="ctr" indent="0" marL="0">
              <a:buNone/>
            </a:pPr>
            <a:r>
              <a:rPr lang="en-US" sz="1100" dirty="0">
                <a:solidFill>
                  <a:srgbClr val="666666"/>
                </a:solidFill>
                <a:latin typeface="Arial" pitchFamily="34" charset="0"/>
                <a:ea typeface="Arial" pitchFamily="34" charset="-122"/>
                <a:cs typeface="Arial" pitchFamily="34" charset="-120"/>
              </a:rPr>
              <a:t>typical new AI campus — the draw of ~750K US homes</a:t>
            </a:r>
            <a:endParaRPr lang="en-US" sz="1100" dirty="0"/>
          </a:p>
        </p:txBody>
      </p:sp>
      <p:sp>
        <p:nvSpPr>
          <p:cNvPr id="11" name="Text 9"/>
          <p:cNvSpPr/>
          <p:nvPr/>
        </p:nvSpPr>
        <p:spPr>
          <a:xfrm>
            <a:off x="6057900" y="1920240"/>
            <a:ext cx="2606040" cy="685800"/>
          </a:xfrm>
          <a:prstGeom prst="rect">
            <a:avLst/>
          </a:prstGeom>
          <a:noFill/>
          <a:ln/>
        </p:spPr>
        <p:txBody>
          <a:bodyPr wrap="square" lIns="0" tIns="0" rIns="0" bIns="0" rtlCol="0" anchor="ctr"/>
          <a:lstStyle/>
          <a:p>
            <a:pPr algn="ctr" indent="0" marL="0">
              <a:buNone/>
            </a:pPr>
            <a:r>
              <a:rPr lang="en-US" sz="4000" b="1" dirty="0">
                <a:solidFill>
                  <a:srgbClr val="CC0000"/>
                </a:solidFill>
                <a:latin typeface="Arial Black" pitchFamily="34" charset="0"/>
                <a:ea typeface="Arial Black" pitchFamily="34" charset="-122"/>
                <a:cs typeface="Arial Black" pitchFamily="34" charset="-120"/>
              </a:rPr>
              <a:t>~5 yr</a:t>
            </a:r>
            <a:endParaRPr lang="en-US" sz="4000" dirty="0"/>
          </a:p>
        </p:txBody>
      </p:sp>
      <p:sp>
        <p:nvSpPr>
          <p:cNvPr id="12" name="Text 10"/>
          <p:cNvSpPr/>
          <p:nvPr/>
        </p:nvSpPr>
        <p:spPr>
          <a:xfrm>
            <a:off x="6057900" y="2651760"/>
            <a:ext cx="2606040" cy="502920"/>
          </a:xfrm>
          <a:prstGeom prst="rect">
            <a:avLst/>
          </a:prstGeom>
          <a:noFill/>
          <a:ln/>
        </p:spPr>
        <p:txBody>
          <a:bodyPr wrap="square" lIns="0" tIns="0" rIns="0" bIns="0" rtlCol="0" anchor="t"/>
          <a:lstStyle/>
          <a:p>
            <a:pPr algn="ctr" indent="0" marL="0">
              <a:buNone/>
            </a:pPr>
            <a:r>
              <a:rPr lang="en-US" sz="1100" dirty="0">
                <a:solidFill>
                  <a:srgbClr val="666666"/>
                </a:solidFill>
                <a:latin typeface="Arial" pitchFamily="34" charset="0"/>
                <a:ea typeface="Arial" pitchFamily="34" charset="-122"/>
                <a:cs typeface="Arial" pitchFamily="34" charset="-120"/>
              </a:rPr>
              <a:t>avg wait for a new grid interconnection in PJM &amp; ERCOT</a:t>
            </a:r>
            <a:endParaRPr lang="en-US" sz="1100" dirty="0"/>
          </a:p>
        </p:txBody>
      </p:sp>
      <p:sp>
        <p:nvSpPr>
          <p:cNvPr id="13" name="Shape 11"/>
          <p:cNvSpPr/>
          <p:nvPr/>
        </p:nvSpPr>
        <p:spPr>
          <a:xfrm>
            <a:off x="457200" y="3474720"/>
            <a:ext cx="2697480" cy="365760"/>
          </a:xfrm>
          <a:prstGeom prst="rect">
            <a:avLst/>
          </a:prstGeom>
          <a:solidFill>
            <a:srgbClr val="FFB800"/>
          </a:solidFill>
          <a:ln w="12700">
            <a:solidFill>
              <a:srgbClr val="FFB800"/>
            </a:solidFill>
            <a:prstDash val="solid"/>
          </a:ln>
        </p:spPr>
      </p:sp>
      <p:sp>
        <p:nvSpPr>
          <p:cNvPr id="14" name="Text 12"/>
          <p:cNvSpPr/>
          <p:nvPr/>
        </p:nvSpPr>
        <p:spPr>
          <a:xfrm>
            <a:off x="457200" y="3474720"/>
            <a:ext cx="2697480" cy="365760"/>
          </a:xfrm>
          <a:prstGeom prst="rect">
            <a:avLst/>
          </a:prstGeom>
          <a:noFill/>
          <a:ln/>
        </p:spPr>
        <p:txBody>
          <a:bodyPr wrap="square" lIns="0" tIns="0" rIns="0" bIns="0" rtlCol="0" anchor="ctr"/>
          <a:lstStyle/>
          <a:p>
            <a:pPr algn="ctr" indent="0" marL="0">
              <a:buNone/>
            </a:pPr>
            <a:r>
              <a:rPr lang="en-US" sz="1100" b="1" spc="200" kern="0" dirty="0">
                <a:solidFill>
                  <a:srgbClr val="FFFFFF"/>
                </a:solidFill>
                <a:latin typeface="Arial" pitchFamily="34" charset="0"/>
                <a:ea typeface="Arial" pitchFamily="34" charset="-122"/>
                <a:cs typeface="Arial" pitchFamily="34" charset="-120"/>
              </a:rPr>
              <a:t>GAS</a:t>
            </a:r>
            <a:endParaRPr lang="en-US" sz="1100" dirty="0"/>
          </a:p>
        </p:txBody>
      </p:sp>
      <p:sp>
        <p:nvSpPr>
          <p:cNvPr id="15" name="Shape 13"/>
          <p:cNvSpPr/>
          <p:nvPr/>
        </p:nvSpPr>
        <p:spPr>
          <a:xfrm>
            <a:off x="457200" y="3840480"/>
            <a:ext cx="2697480" cy="1417320"/>
          </a:xfrm>
          <a:prstGeom prst="rect">
            <a:avLst/>
          </a:prstGeom>
          <a:solidFill>
            <a:srgbClr val="F9F9F9"/>
          </a:solidFill>
          <a:ln w="6350">
            <a:solidFill>
              <a:srgbClr val="E5E5E5"/>
            </a:solidFill>
            <a:prstDash val="solid"/>
          </a:ln>
        </p:spPr>
      </p:sp>
      <p:sp>
        <p:nvSpPr>
          <p:cNvPr id="16" name="Text 14"/>
          <p:cNvSpPr/>
          <p:nvPr/>
        </p:nvSpPr>
        <p:spPr>
          <a:xfrm>
            <a:off x="594360" y="3931920"/>
            <a:ext cx="2423160" cy="960120"/>
          </a:xfrm>
          <a:prstGeom prst="rect">
            <a:avLst/>
          </a:prstGeom>
          <a:noFill/>
          <a:ln/>
        </p:spPr>
        <p:txBody>
          <a:bodyPr wrap="square" lIns="0" tIns="0" rIns="0" bIns="0" rtlCol="0" anchor="t"/>
          <a:lstStyle/>
          <a:p>
            <a:pPr indent="0" marL="0">
              <a:buNone/>
            </a:pPr>
            <a:r>
              <a:rPr lang="en-US" sz="1000" dirty="0">
                <a:solidFill>
                  <a:srgbClr val="333333"/>
                </a:solidFill>
                <a:latin typeface="Arial" pitchFamily="34" charset="0"/>
                <a:ea typeface="Arial" pitchFamily="34" charset="-122"/>
                <a:cs typeface="Arial" pitchFamily="34" charset="-120"/>
              </a:rPr>
              <a:t>Fastest to build, dispatchable. New CCGT contracts up sharply; GE Vernova backlog at record highs.</a:t>
            </a:r>
            <a:endParaRPr lang="en-US" sz="1000" dirty="0"/>
          </a:p>
        </p:txBody>
      </p:sp>
      <p:sp>
        <p:nvSpPr>
          <p:cNvPr id="17" name="Shape 15"/>
          <p:cNvSpPr/>
          <p:nvPr/>
        </p:nvSpPr>
        <p:spPr>
          <a:xfrm>
            <a:off x="594360" y="4919472"/>
            <a:ext cx="2423160" cy="0"/>
          </a:xfrm>
          <a:prstGeom prst="line">
            <a:avLst/>
          </a:prstGeom>
          <a:noFill/>
          <a:ln w="6350">
            <a:solidFill>
              <a:srgbClr val="E5E5E5"/>
            </a:solidFill>
            <a:prstDash val="solid"/>
          </a:ln>
        </p:spPr>
      </p:sp>
      <p:sp>
        <p:nvSpPr>
          <p:cNvPr id="18" name="Text 16"/>
          <p:cNvSpPr/>
          <p:nvPr/>
        </p:nvSpPr>
        <p:spPr>
          <a:xfrm>
            <a:off x="594360" y="4983480"/>
            <a:ext cx="2423160" cy="228600"/>
          </a:xfrm>
          <a:prstGeom prst="rect">
            <a:avLst/>
          </a:prstGeom>
          <a:noFill/>
          <a:ln/>
        </p:spPr>
        <p:txBody>
          <a:bodyPr wrap="square" lIns="0" tIns="0" rIns="0" bIns="0" rtlCol="0" anchor="t"/>
          <a:lstStyle/>
          <a:p>
            <a:pPr indent="0" marL="0">
              <a:buNone/>
            </a:pPr>
            <a:r>
              <a:rPr lang="en-US" sz="850" i="1" dirty="0">
                <a:solidFill>
                  <a:srgbClr val="666666"/>
                </a:solidFill>
                <a:latin typeface="Arial" pitchFamily="34" charset="0"/>
                <a:ea typeface="Arial" pitchFamily="34" charset="-122"/>
                <a:cs typeface="Arial" pitchFamily="34" charset="-120"/>
              </a:rPr>
              <a:t>GE Vernova · Siemens Energy</a:t>
            </a:r>
            <a:endParaRPr lang="en-US" sz="850" dirty="0"/>
          </a:p>
        </p:txBody>
      </p:sp>
      <p:sp>
        <p:nvSpPr>
          <p:cNvPr id="19" name="Shape 17"/>
          <p:cNvSpPr/>
          <p:nvPr/>
        </p:nvSpPr>
        <p:spPr>
          <a:xfrm>
            <a:off x="3291840" y="3474720"/>
            <a:ext cx="2697480" cy="365760"/>
          </a:xfrm>
          <a:prstGeom prst="rect">
            <a:avLst/>
          </a:prstGeom>
          <a:solidFill>
            <a:srgbClr val="008B8B"/>
          </a:solidFill>
          <a:ln w="12700">
            <a:solidFill>
              <a:srgbClr val="008B8B"/>
            </a:solidFill>
            <a:prstDash val="solid"/>
          </a:ln>
        </p:spPr>
      </p:sp>
      <p:sp>
        <p:nvSpPr>
          <p:cNvPr id="20" name="Text 18"/>
          <p:cNvSpPr/>
          <p:nvPr/>
        </p:nvSpPr>
        <p:spPr>
          <a:xfrm>
            <a:off x="3291840" y="3474720"/>
            <a:ext cx="2697480" cy="365760"/>
          </a:xfrm>
          <a:prstGeom prst="rect">
            <a:avLst/>
          </a:prstGeom>
          <a:noFill/>
          <a:ln/>
        </p:spPr>
        <p:txBody>
          <a:bodyPr wrap="square" lIns="0" tIns="0" rIns="0" bIns="0" rtlCol="0" anchor="ctr"/>
          <a:lstStyle/>
          <a:p>
            <a:pPr algn="ctr" indent="0" marL="0">
              <a:buNone/>
            </a:pPr>
            <a:r>
              <a:rPr lang="en-US" sz="1100" b="1" spc="200" kern="0" dirty="0">
                <a:solidFill>
                  <a:srgbClr val="FFFFFF"/>
                </a:solidFill>
                <a:latin typeface="Arial" pitchFamily="34" charset="0"/>
                <a:ea typeface="Arial" pitchFamily="34" charset="-122"/>
                <a:cs typeface="Arial" pitchFamily="34" charset="-120"/>
              </a:rPr>
              <a:t>NUCLEAR</a:t>
            </a:r>
            <a:endParaRPr lang="en-US" sz="1100" dirty="0"/>
          </a:p>
        </p:txBody>
      </p:sp>
      <p:sp>
        <p:nvSpPr>
          <p:cNvPr id="21" name="Shape 19"/>
          <p:cNvSpPr/>
          <p:nvPr/>
        </p:nvSpPr>
        <p:spPr>
          <a:xfrm>
            <a:off x="3291840" y="3840480"/>
            <a:ext cx="2697480" cy="1417320"/>
          </a:xfrm>
          <a:prstGeom prst="rect">
            <a:avLst/>
          </a:prstGeom>
          <a:solidFill>
            <a:srgbClr val="F9F9F9"/>
          </a:solidFill>
          <a:ln w="6350">
            <a:solidFill>
              <a:srgbClr val="E5E5E5"/>
            </a:solidFill>
            <a:prstDash val="solid"/>
          </a:ln>
        </p:spPr>
      </p:sp>
      <p:sp>
        <p:nvSpPr>
          <p:cNvPr id="22" name="Text 20"/>
          <p:cNvSpPr/>
          <p:nvPr/>
        </p:nvSpPr>
        <p:spPr>
          <a:xfrm>
            <a:off x="3429000" y="3931920"/>
            <a:ext cx="2423160" cy="960120"/>
          </a:xfrm>
          <a:prstGeom prst="rect">
            <a:avLst/>
          </a:prstGeom>
          <a:noFill/>
          <a:ln/>
        </p:spPr>
        <p:txBody>
          <a:bodyPr wrap="square" lIns="0" tIns="0" rIns="0" bIns="0" rtlCol="0" anchor="t"/>
          <a:lstStyle/>
          <a:p>
            <a:pPr indent="0" marL="0">
              <a:buNone/>
            </a:pPr>
            <a:r>
              <a:rPr lang="en-US" sz="1000" dirty="0">
                <a:solidFill>
                  <a:srgbClr val="333333"/>
                </a:solidFill>
                <a:latin typeface="Arial" pitchFamily="34" charset="0"/>
                <a:ea typeface="Arial" pitchFamily="34" charset="-122"/>
                <a:cs typeface="Arial" pitchFamily="34" charset="-120"/>
              </a:rPr>
              <a:t>Three Mile Island reopening for Microsoft. SMRs (Oklo, X-Energy) signed to hyperscaler PPAs.</a:t>
            </a:r>
            <a:endParaRPr lang="en-US" sz="1000" dirty="0"/>
          </a:p>
        </p:txBody>
      </p:sp>
      <p:sp>
        <p:nvSpPr>
          <p:cNvPr id="23" name="Shape 21"/>
          <p:cNvSpPr/>
          <p:nvPr/>
        </p:nvSpPr>
        <p:spPr>
          <a:xfrm>
            <a:off x="3429000" y="4919472"/>
            <a:ext cx="2423160" cy="0"/>
          </a:xfrm>
          <a:prstGeom prst="line">
            <a:avLst/>
          </a:prstGeom>
          <a:noFill/>
          <a:ln w="6350">
            <a:solidFill>
              <a:srgbClr val="E5E5E5"/>
            </a:solidFill>
            <a:prstDash val="solid"/>
          </a:ln>
        </p:spPr>
      </p:sp>
      <p:sp>
        <p:nvSpPr>
          <p:cNvPr id="24" name="Text 22"/>
          <p:cNvSpPr/>
          <p:nvPr/>
        </p:nvSpPr>
        <p:spPr>
          <a:xfrm>
            <a:off x="3429000" y="4983480"/>
            <a:ext cx="2423160" cy="228600"/>
          </a:xfrm>
          <a:prstGeom prst="rect">
            <a:avLst/>
          </a:prstGeom>
          <a:noFill/>
          <a:ln/>
        </p:spPr>
        <p:txBody>
          <a:bodyPr wrap="square" lIns="0" tIns="0" rIns="0" bIns="0" rtlCol="0" anchor="t"/>
          <a:lstStyle/>
          <a:p>
            <a:pPr indent="0" marL="0">
              <a:buNone/>
            </a:pPr>
            <a:r>
              <a:rPr lang="en-US" sz="850" i="1" dirty="0">
                <a:solidFill>
                  <a:srgbClr val="666666"/>
                </a:solidFill>
                <a:latin typeface="Arial" pitchFamily="34" charset="0"/>
                <a:ea typeface="Arial" pitchFamily="34" charset="-122"/>
                <a:cs typeface="Arial" pitchFamily="34" charset="-120"/>
              </a:rPr>
              <a:t>Constellation · Oklo · NuScale</a:t>
            </a:r>
            <a:endParaRPr lang="en-US" sz="850" dirty="0"/>
          </a:p>
        </p:txBody>
      </p:sp>
      <p:sp>
        <p:nvSpPr>
          <p:cNvPr id="25" name="Shape 23"/>
          <p:cNvSpPr/>
          <p:nvPr/>
        </p:nvSpPr>
        <p:spPr>
          <a:xfrm>
            <a:off x="6126480" y="3474720"/>
            <a:ext cx="2697480" cy="365760"/>
          </a:xfrm>
          <a:prstGeom prst="rect">
            <a:avLst/>
          </a:prstGeom>
          <a:solidFill>
            <a:srgbClr val="00A854"/>
          </a:solidFill>
          <a:ln w="12700">
            <a:solidFill>
              <a:srgbClr val="00A854"/>
            </a:solidFill>
            <a:prstDash val="solid"/>
          </a:ln>
        </p:spPr>
      </p:sp>
      <p:sp>
        <p:nvSpPr>
          <p:cNvPr id="26" name="Text 24"/>
          <p:cNvSpPr/>
          <p:nvPr/>
        </p:nvSpPr>
        <p:spPr>
          <a:xfrm>
            <a:off x="6126480" y="3474720"/>
            <a:ext cx="2697480" cy="365760"/>
          </a:xfrm>
          <a:prstGeom prst="rect">
            <a:avLst/>
          </a:prstGeom>
          <a:noFill/>
          <a:ln/>
        </p:spPr>
        <p:txBody>
          <a:bodyPr wrap="square" lIns="0" tIns="0" rIns="0" bIns="0" rtlCol="0" anchor="ctr"/>
          <a:lstStyle/>
          <a:p>
            <a:pPr algn="ctr" indent="0" marL="0">
              <a:buNone/>
            </a:pPr>
            <a:r>
              <a:rPr lang="en-US" sz="1100" b="1" spc="200" kern="0" dirty="0">
                <a:solidFill>
                  <a:srgbClr val="FFFFFF"/>
                </a:solidFill>
                <a:latin typeface="Arial" pitchFamily="34" charset="0"/>
                <a:ea typeface="Arial" pitchFamily="34" charset="-122"/>
                <a:cs typeface="Arial" pitchFamily="34" charset="-120"/>
              </a:rPr>
              <a:t>RENEWABLES + STORAGE</a:t>
            </a:r>
            <a:endParaRPr lang="en-US" sz="1100" dirty="0"/>
          </a:p>
        </p:txBody>
      </p:sp>
      <p:sp>
        <p:nvSpPr>
          <p:cNvPr id="27" name="Shape 25"/>
          <p:cNvSpPr/>
          <p:nvPr/>
        </p:nvSpPr>
        <p:spPr>
          <a:xfrm>
            <a:off x="6126480" y="3840480"/>
            <a:ext cx="2697480" cy="1417320"/>
          </a:xfrm>
          <a:prstGeom prst="rect">
            <a:avLst/>
          </a:prstGeom>
          <a:solidFill>
            <a:srgbClr val="F9F9F9"/>
          </a:solidFill>
          <a:ln w="6350">
            <a:solidFill>
              <a:srgbClr val="E5E5E5"/>
            </a:solidFill>
            <a:prstDash val="solid"/>
          </a:ln>
        </p:spPr>
      </p:sp>
      <p:sp>
        <p:nvSpPr>
          <p:cNvPr id="28" name="Text 26"/>
          <p:cNvSpPr/>
          <p:nvPr/>
        </p:nvSpPr>
        <p:spPr>
          <a:xfrm>
            <a:off x="6263640" y="3931920"/>
            <a:ext cx="2423160" cy="960120"/>
          </a:xfrm>
          <a:prstGeom prst="rect">
            <a:avLst/>
          </a:prstGeom>
          <a:noFill/>
          <a:ln/>
        </p:spPr>
        <p:txBody>
          <a:bodyPr wrap="square" lIns="0" tIns="0" rIns="0" bIns="0" rtlCol="0" anchor="t"/>
          <a:lstStyle/>
          <a:p>
            <a:pPr indent="0" marL="0">
              <a:buNone/>
            </a:pPr>
            <a:r>
              <a:rPr lang="en-US" sz="1000" dirty="0">
                <a:solidFill>
                  <a:srgbClr val="333333"/>
                </a:solidFill>
                <a:latin typeface="Arial" pitchFamily="34" charset="0"/>
                <a:ea typeface="Arial" pitchFamily="34" charset="-122"/>
                <a:cs typeface="Arial" pitchFamily="34" charset="-120"/>
              </a:rPr>
              <a:t>Solar + battery hybrids now the cheapest new capacity. Hyperscalers signing 24/7 PPAs.</a:t>
            </a:r>
            <a:endParaRPr lang="en-US" sz="1000" dirty="0"/>
          </a:p>
        </p:txBody>
      </p:sp>
      <p:sp>
        <p:nvSpPr>
          <p:cNvPr id="29" name="Shape 27"/>
          <p:cNvSpPr/>
          <p:nvPr/>
        </p:nvSpPr>
        <p:spPr>
          <a:xfrm>
            <a:off x="6263640" y="4919472"/>
            <a:ext cx="2423160" cy="0"/>
          </a:xfrm>
          <a:prstGeom prst="line">
            <a:avLst/>
          </a:prstGeom>
          <a:noFill/>
          <a:ln w="6350">
            <a:solidFill>
              <a:srgbClr val="E5E5E5"/>
            </a:solidFill>
            <a:prstDash val="solid"/>
          </a:ln>
        </p:spPr>
      </p:sp>
      <p:sp>
        <p:nvSpPr>
          <p:cNvPr id="30" name="Text 28"/>
          <p:cNvSpPr/>
          <p:nvPr/>
        </p:nvSpPr>
        <p:spPr>
          <a:xfrm>
            <a:off x="6263640" y="4983480"/>
            <a:ext cx="2423160" cy="228600"/>
          </a:xfrm>
          <a:prstGeom prst="rect">
            <a:avLst/>
          </a:prstGeom>
          <a:noFill/>
          <a:ln/>
        </p:spPr>
        <p:txBody>
          <a:bodyPr wrap="square" lIns="0" tIns="0" rIns="0" bIns="0" rtlCol="0" anchor="t"/>
          <a:lstStyle/>
          <a:p>
            <a:pPr indent="0" marL="0">
              <a:buNone/>
            </a:pPr>
            <a:r>
              <a:rPr lang="en-US" sz="850" i="1" dirty="0">
                <a:solidFill>
                  <a:srgbClr val="666666"/>
                </a:solidFill>
                <a:latin typeface="Arial" pitchFamily="34" charset="0"/>
                <a:ea typeface="Arial" pitchFamily="34" charset="-122"/>
                <a:cs typeface="Arial" pitchFamily="34" charset="-120"/>
              </a:rPr>
              <a:t>NextEra · AES · Fluence</a:t>
            </a:r>
            <a:endParaRPr lang="en-US" sz="850" dirty="0"/>
          </a:p>
        </p:txBody>
      </p:sp>
      <p:sp>
        <p:nvSpPr>
          <p:cNvPr id="31" name="Shape 29"/>
          <p:cNvSpPr/>
          <p:nvPr/>
        </p:nvSpPr>
        <p:spPr>
          <a:xfrm>
            <a:off x="457200" y="5394960"/>
            <a:ext cx="8229600" cy="411480"/>
          </a:xfrm>
          <a:prstGeom prst="rect">
            <a:avLst/>
          </a:prstGeom>
          <a:solidFill>
            <a:srgbClr val="FFD100"/>
          </a:solidFill>
          <a:ln w="12700">
            <a:solidFill>
              <a:srgbClr val="FFD100"/>
            </a:solidFill>
            <a:prstDash val="solid"/>
          </a:ln>
        </p:spPr>
      </p:sp>
      <p:sp>
        <p:nvSpPr>
          <p:cNvPr id="32" name="Text 30"/>
          <p:cNvSpPr/>
          <p:nvPr/>
        </p:nvSpPr>
        <p:spPr>
          <a:xfrm>
            <a:off x="640080" y="5394960"/>
            <a:ext cx="7863840" cy="411480"/>
          </a:xfrm>
          <a:prstGeom prst="rect">
            <a:avLst/>
          </a:prstGeom>
          <a:noFill/>
          <a:ln/>
        </p:spPr>
        <p:txBody>
          <a:bodyPr wrap="square" lIns="0" tIns="0" rIns="0" bIns="0" rtlCol="0" anchor="ctr"/>
          <a:lstStyle/>
          <a:p>
            <a:pPr indent="0" marL="0">
              <a:buNone/>
            </a:pPr>
            <a:r>
              <a:rPr lang="en-US" sz="1250" b="1" dirty="0">
                <a:solidFill>
                  <a:srgbClr val="000000"/>
                </a:solidFill>
                <a:latin typeface="Arial" pitchFamily="34" charset="0"/>
                <a:ea typeface="Arial" pitchFamily="34" charset="-122"/>
                <a:cs typeface="Arial" pitchFamily="34" charset="-120"/>
              </a:rPr>
              <a:t>GPUs are useless without electrons. Power names are trading like semis.</a:t>
            </a:r>
            <a:endParaRPr lang="en-US" sz="1250" dirty="0"/>
          </a:p>
        </p:txBody>
      </p:sp>
      <p:sp>
        <p:nvSpPr>
          <p:cNvPr id="33" name="Text 31"/>
          <p:cNvSpPr/>
          <p:nvPr/>
        </p:nvSpPr>
        <p:spPr>
          <a:xfrm>
            <a:off x="457200" y="5875020"/>
            <a:ext cx="8229600" cy="320040"/>
          </a:xfrm>
          <a:prstGeom prst="rect">
            <a:avLst/>
          </a:prstGeom>
          <a:noFill/>
          <a:ln/>
        </p:spPr>
        <p:txBody>
          <a:bodyPr wrap="square" lIns="0" tIns="0" rIns="0" bIns="0" rtlCol="0" anchor="t"/>
          <a:lstStyle/>
          <a:p>
            <a:pPr indent="0" marL="0">
              <a:buNone/>
            </a:pPr>
            <a:r>
              <a:rPr lang="en-US" sz="700" dirty="0">
                <a:solidFill>
                  <a:srgbClr val="999999"/>
                </a:solidFill>
                <a:latin typeface="Arial" pitchFamily="34" charset="0"/>
                <a:ea typeface="Arial" pitchFamily="34" charset="-122"/>
                <a:cs typeface="Arial" pitchFamily="34" charset="-120"/>
              </a:rPr>
              <a:t>Sources: EPRI (US data-center load forecast, 2024); DOE; Lawrence Berkeley National Lab; Microsoft / Constellation TMI announcement (Sep 2024); PJM, ERCOT interconnection queues; Jensen Huang (Stanford CS153, Apr 2026).</a:t>
            </a:r>
            <a:endParaRPr lang="en-US" sz="700" dirty="0"/>
          </a:p>
        </p:txBody>
      </p:sp>
      <p:sp>
        <p:nvSpPr>
          <p:cNvPr id="34" name="Shape 32"/>
          <p:cNvSpPr/>
          <p:nvPr/>
        </p:nvSpPr>
        <p:spPr>
          <a:xfrm>
            <a:off x="0" y="6286500"/>
            <a:ext cx="9144000" cy="571500"/>
          </a:xfrm>
          <a:prstGeom prst="rect">
            <a:avLst/>
          </a:prstGeom>
          <a:solidFill>
            <a:srgbClr val="000000"/>
          </a:solidFill>
          <a:ln w="12700">
            <a:solidFill>
              <a:srgbClr val="000000"/>
            </a:solidFill>
            <a:prstDash val="solid"/>
          </a:ln>
        </p:spPr>
      </p:sp>
      <p:sp>
        <p:nvSpPr>
          <p:cNvPr id="35" name="Text 33"/>
          <p:cNvSpPr/>
          <p:nvPr/>
        </p:nvSpPr>
        <p:spPr>
          <a:xfrm>
            <a:off x="1371600" y="6332220"/>
            <a:ext cx="6400800" cy="457200"/>
          </a:xfrm>
          <a:prstGeom prst="rect">
            <a:avLst/>
          </a:prstGeom>
          <a:noFill/>
          <a:ln/>
        </p:spPr>
        <p:txBody>
          <a:bodyPr wrap="square" lIns="0" tIns="0" rIns="0" bIns="0" rtlCol="0" anchor="ctr"/>
          <a:lstStyle/>
          <a:p>
            <a:pPr algn="ctr" indent="0" marL="0">
              <a:buNone/>
            </a:pPr>
            <a:r>
              <a:rPr lang="en-US" sz="650" b="1" dirty="0">
                <a:solidFill>
                  <a:srgbClr val="FFFFFF"/>
                </a:solidFill>
                <a:latin typeface="Arial" pitchFamily="34" charset="0"/>
                <a:ea typeface="Arial" pitchFamily="34" charset="-122"/>
                <a:cs typeface="Arial" pitchFamily="34" charset="-120"/>
              </a:rPr>
              <a:t>FOR INFORMATIONAL PURPOSES ONLY. NOT INVESTMENT ADVICE. PAST PERFORMANCE IS NOT INDICATIVE OF FUTURE RESULTS.</a:t>
            </a:r>
            <a:endParaRPr lang="en-US" sz="650" dirty="0"/>
          </a:p>
        </p:txBody>
      </p:sp>
      <p:sp>
        <p:nvSpPr>
          <p:cNvPr id="36" name="Text 34"/>
          <p:cNvSpPr/>
          <p:nvPr/>
        </p:nvSpPr>
        <p:spPr>
          <a:xfrm>
            <a:off x="8321040" y="6405372"/>
            <a:ext cx="548640" cy="274320"/>
          </a:xfrm>
          <a:prstGeom prst="rect">
            <a:avLst/>
          </a:prstGeom>
          <a:noFill/>
          <a:ln/>
        </p:spPr>
        <p:txBody>
          <a:bodyPr wrap="square" lIns="0" tIns="0" rIns="0" bIns="0" rtlCol="0" anchor="ctr"/>
          <a:lstStyle/>
          <a:p>
            <a:pPr algn="r" indent="0" marL="0">
              <a:buNone/>
            </a:pPr>
            <a:r>
              <a:rPr lang="en-US" sz="900" dirty="0">
                <a:solidFill>
                  <a:srgbClr val="FFFFFF"/>
                </a:solidFill>
                <a:latin typeface="Arial" pitchFamily="34" charset="0"/>
                <a:ea typeface="Arial" pitchFamily="34" charset="-122"/>
                <a:cs typeface="Arial" pitchFamily="34" charset="-120"/>
              </a:rPr>
              <a:t>9</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Shape 0"/>
          <p:cNvSpPr/>
          <p:nvPr/>
        </p:nvSpPr>
        <p:spPr>
          <a:xfrm>
            <a:off x="7132320" y="164592"/>
            <a:ext cx="1737360" cy="292608"/>
          </a:xfrm>
          <a:prstGeom prst="roundRect">
            <a:avLst>
              <a:gd name="adj" fmla="val 15625"/>
            </a:avLst>
          </a:prstGeom>
          <a:solidFill>
            <a:srgbClr val="FFB800"/>
          </a:solidFill>
          <a:ln w="12700">
            <a:solidFill>
              <a:srgbClr val="FFB800"/>
            </a:solidFill>
            <a:prstDash val="solid"/>
          </a:ln>
        </p:spPr>
      </p:sp>
      <p:sp>
        <p:nvSpPr>
          <p:cNvPr id="3" name="Text 1"/>
          <p:cNvSpPr/>
          <p:nvPr/>
        </p:nvSpPr>
        <p:spPr>
          <a:xfrm>
            <a:off x="7132320" y="164592"/>
            <a:ext cx="1737360" cy="292608"/>
          </a:xfrm>
          <a:prstGeom prst="rect">
            <a:avLst/>
          </a:prstGeom>
          <a:noFill/>
          <a:ln/>
        </p:spPr>
        <p:txBody>
          <a:bodyPr wrap="square" lIns="0" tIns="0" rIns="0" bIns="0" rtlCol="0" anchor="ctr"/>
          <a:lstStyle/>
          <a:p>
            <a:pPr algn="ctr" indent="0" marL="0">
              <a:buNone/>
            </a:pPr>
            <a:r>
              <a:rPr lang="en-US" sz="1000" b="1" spc="100" kern="0" dirty="0">
                <a:solidFill>
                  <a:srgbClr val="000000"/>
                </a:solidFill>
                <a:latin typeface="Arial" pitchFamily="34" charset="0"/>
                <a:ea typeface="Arial" pitchFamily="34" charset="-122"/>
                <a:cs typeface="Arial" pitchFamily="34" charset="-120"/>
              </a:rPr>
              <a:t>MARKET</a:t>
            </a:r>
            <a:endParaRPr lang="en-US" sz="1000" dirty="0"/>
          </a:p>
        </p:txBody>
      </p:sp>
      <p:sp>
        <p:nvSpPr>
          <p:cNvPr id="4" name="Text 2"/>
          <p:cNvSpPr/>
          <p:nvPr/>
        </p:nvSpPr>
        <p:spPr>
          <a:xfrm>
            <a:off x="457200" y="182880"/>
            <a:ext cx="6583680" cy="685800"/>
          </a:xfrm>
          <a:prstGeom prst="rect">
            <a:avLst/>
          </a:prstGeom>
          <a:noFill/>
          <a:ln/>
        </p:spPr>
        <p:txBody>
          <a:bodyPr wrap="square" lIns="0" tIns="0" rIns="0" bIns="0" rtlCol="0" anchor="t"/>
          <a:lstStyle/>
          <a:p>
            <a:pPr indent="0" marL="0">
              <a:buNone/>
            </a:pPr>
            <a:r>
              <a:rPr lang="en-US" sz="2400" b="1" dirty="0">
                <a:solidFill>
                  <a:srgbClr val="000000"/>
                </a:solidFill>
                <a:latin typeface="Arial Black" pitchFamily="34" charset="0"/>
                <a:ea typeface="Arial Black" pitchFamily="34" charset="-122"/>
                <a:cs typeface="Arial Black" pitchFamily="34" charset="-120"/>
              </a:rPr>
              <a:t>Q1 funding doubled all of 2025 — two giants, one public, one merger</a:t>
            </a:r>
            <a:endParaRPr lang="en-US" sz="2400" dirty="0"/>
          </a:p>
        </p:txBody>
      </p:sp>
      <p:sp>
        <p:nvSpPr>
          <p:cNvPr id="5" name="Text 3"/>
          <p:cNvSpPr/>
          <p:nvPr/>
        </p:nvSpPr>
        <p:spPr>
          <a:xfrm>
            <a:off x="457200" y="914400"/>
            <a:ext cx="8229600" cy="457200"/>
          </a:xfrm>
          <a:prstGeom prst="rect">
            <a:avLst/>
          </a:prstGeom>
          <a:noFill/>
          <a:ln/>
        </p:spPr>
        <p:txBody>
          <a:bodyPr wrap="square" lIns="0" tIns="0" rIns="0" bIns="0" rtlCol="0" anchor="t"/>
          <a:lstStyle/>
          <a:p>
            <a:pPr indent="0" marL="0">
              <a:buNone/>
            </a:pPr>
            <a:r>
              <a:rPr lang="en-US" sz="1350" dirty="0">
                <a:solidFill>
                  <a:srgbClr val="666666"/>
                </a:solidFill>
                <a:latin typeface="Arial" pitchFamily="34" charset="0"/>
                <a:ea typeface="Arial" pitchFamily="34" charset="-122"/>
                <a:cs typeface="Arial" pitchFamily="34" charset="-120"/>
              </a:rPr>
              <a:t>Two independent private labs, one public giant, and xAI — now inside SpaceX, which has filed to go public at ~$1.75T.</a:t>
            </a:r>
            <a:endParaRPr lang="en-US" sz="1350" dirty="0"/>
          </a:p>
        </p:txBody>
      </p:sp>
      <p:sp>
        <p:nvSpPr>
          <p:cNvPr id="6" name="Shape 4"/>
          <p:cNvSpPr/>
          <p:nvPr/>
        </p:nvSpPr>
        <p:spPr>
          <a:xfrm>
            <a:off x="457200" y="1325880"/>
            <a:ext cx="8229600" cy="0"/>
          </a:xfrm>
          <a:prstGeom prst="line">
            <a:avLst/>
          </a:prstGeom>
          <a:noFill/>
          <a:ln w="9525">
            <a:solidFill>
              <a:srgbClr val="E5E5E5"/>
            </a:solidFill>
            <a:prstDash val="solid"/>
          </a:ln>
        </p:spPr>
      </p:sp>
      <p:sp>
        <p:nvSpPr>
          <p:cNvPr id="7" name="Text 5"/>
          <p:cNvSpPr/>
          <p:nvPr/>
        </p:nvSpPr>
        <p:spPr>
          <a:xfrm>
            <a:off x="640080" y="1417320"/>
            <a:ext cx="2468880" cy="201168"/>
          </a:xfrm>
          <a:prstGeom prst="rect">
            <a:avLst/>
          </a:prstGeom>
          <a:noFill/>
          <a:ln/>
        </p:spPr>
        <p:txBody>
          <a:bodyPr wrap="square" lIns="0" tIns="0" rIns="0" bIns="0" rtlCol="0" anchor="ctr"/>
          <a:lstStyle/>
          <a:p>
            <a:pPr indent="0" marL="0">
              <a:buNone/>
            </a:pPr>
            <a:r>
              <a:rPr lang="en-US" sz="900" b="1" spc="200" kern="0" dirty="0">
                <a:solidFill>
                  <a:srgbClr val="666666"/>
                </a:solidFill>
                <a:latin typeface="Arial" pitchFamily="34" charset="0"/>
                <a:ea typeface="Arial" pitchFamily="34" charset="-122"/>
                <a:cs typeface="Arial" pitchFamily="34" charset="-120"/>
              </a:rPr>
              <a:t>LAB</a:t>
            </a:r>
            <a:endParaRPr lang="en-US" sz="900" dirty="0"/>
          </a:p>
        </p:txBody>
      </p:sp>
      <p:sp>
        <p:nvSpPr>
          <p:cNvPr id="8" name="Text 6"/>
          <p:cNvSpPr/>
          <p:nvPr/>
        </p:nvSpPr>
        <p:spPr>
          <a:xfrm>
            <a:off x="3200400" y="1417320"/>
            <a:ext cx="1280160" cy="201168"/>
          </a:xfrm>
          <a:prstGeom prst="rect">
            <a:avLst/>
          </a:prstGeom>
          <a:noFill/>
          <a:ln/>
        </p:spPr>
        <p:txBody>
          <a:bodyPr wrap="square" lIns="0" tIns="0" rIns="0" bIns="0" rtlCol="0" anchor="ctr"/>
          <a:lstStyle/>
          <a:p>
            <a:pPr algn="ctr" indent="0" marL="0">
              <a:buNone/>
            </a:pPr>
            <a:r>
              <a:rPr lang="en-US" sz="900" b="1" spc="200" kern="0" dirty="0">
                <a:solidFill>
                  <a:srgbClr val="666666"/>
                </a:solidFill>
                <a:latin typeface="Arial" pitchFamily="34" charset="0"/>
                <a:ea typeface="Arial" pitchFamily="34" charset="-122"/>
                <a:cs typeface="Arial" pitchFamily="34" charset="-120"/>
              </a:rPr>
              <a:t>VALUATION</a:t>
            </a:r>
            <a:endParaRPr lang="en-US" sz="900" dirty="0"/>
          </a:p>
        </p:txBody>
      </p:sp>
      <p:sp>
        <p:nvSpPr>
          <p:cNvPr id="9" name="Text 7"/>
          <p:cNvSpPr/>
          <p:nvPr/>
        </p:nvSpPr>
        <p:spPr>
          <a:xfrm>
            <a:off x="4480560" y="1417320"/>
            <a:ext cx="1188720" cy="201168"/>
          </a:xfrm>
          <a:prstGeom prst="rect">
            <a:avLst/>
          </a:prstGeom>
          <a:noFill/>
          <a:ln/>
        </p:spPr>
        <p:txBody>
          <a:bodyPr wrap="square" lIns="0" tIns="0" rIns="0" bIns="0" rtlCol="0" anchor="ctr"/>
          <a:lstStyle/>
          <a:p>
            <a:pPr algn="ctr" indent="0" marL="0">
              <a:buNone/>
            </a:pPr>
            <a:r>
              <a:rPr lang="en-US" sz="900" b="1" spc="200" kern="0" dirty="0">
                <a:solidFill>
                  <a:srgbClr val="666666"/>
                </a:solidFill>
                <a:latin typeface="Arial" pitchFamily="34" charset="0"/>
                <a:ea typeface="Arial" pitchFamily="34" charset="-122"/>
                <a:cs typeface="Arial" pitchFamily="34" charset="-120"/>
              </a:rPr>
              <a:t>MULTIPLE</a:t>
            </a:r>
            <a:endParaRPr lang="en-US" sz="900" dirty="0"/>
          </a:p>
        </p:txBody>
      </p:sp>
      <p:sp>
        <p:nvSpPr>
          <p:cNvPr id="10" name="Text 8"/>
          <p:cNvSpPr/>
          <p:nvPr/>
        </p:nvSpPr>
        <p:spPr>
          <a:xfrm>
            <a:off x="5760720" y="1417320"/>
            <a:ext cx="2834640" cy="201168"/>
          </a:xfrm>
          <a:prstGeom prst="rect">
            <a:avLst/>
          </a:prstGeom>
          <a:noFill/>
          <a:ln/>
        </p:spPr>
        <p:txBody>
          <a:bodyPr wrap="square" lIns="0" tIns="0" rIns="0" bIns="0" rtlCol="0" anchor="ctr"/>
          <a:lstStyle/>
          <a:p>
            <a:pPr indent="0" marL="0">
              <a:buNone/>
            </a:pPr>
            <a:r>
              <a:rPr lang="en-US" sz="900" b="1" spc="200" kern="0" dirty="0">
                <a:solidFill>
                  <a:srgbClr val="666666"/>
                </a:solidFill>
                <a:latin typeface="Arial" pitchFamily="34" charset="0"/>
                <a:ea typeface="Arial" pitchFamily="34" charset="-122"/>
                <a:cs typeface="Arial" pitchFamily="34" charset="-120"/>
              </a:rPr>
              <a:t>RECENT EVENT</a:t>
            </a:r>
            <a:endParaRPr lang="en-US" sz="900" dirty="0"/>
          </a:p>
        </p:txBody>
      </p:sp>
      <p:sp>
        <p:nvSpPr>
          <p:cNvPr id="11" name="Shape 9"/>
          <p:cNvSpPr/>
          <p:nvPr/>
        </p:nvSpPr>
        <p:spPr>
          <a:xfrm>
            <a:off x="457200" y="1645920"/>
            <a:ext cx="8229600" cy="0"/>
          </a:xfrm>
          <a:prstGeom prst="line">
            <a:avLst/>
          </a:prstGeom>
          <a:noFill/>
          <a:ln w="6350">
            <a:solidFill>
              <a:srgbClr val="E5E5E5"/>
            </a:solidFill>
            <a:prstDash val="solid"/>
          </a:ln>
        </p:spPr>
      </p:sp>
      <p:sp>
        <p:nvSpPr>
          <p:cNvPr id="12" name="Shape 10"/>
          <p:cNvSpPr/>
          <p:nvPr/>
        </p:nvSpPr>
        <p:spPr>
          <a:xfrm>
            <a:off x="457200" y="1691640"/>
            <a:ext cx="8229600" cy="758952"/>
          </a:xfrm>
          <a:prstGeom prst="rect">
            <a:avLst/>
          </a:prstGeom>
          <a:solidFill>
            <a:srgbClr val="FFFFFF"/>
          </a:solidFill>
          <a:ln w="6350">
            <a:solidFill>
              <a:srgbClr val="E5E5E5"/>
            </a:solidFill>
            <a:prstDash val="solid"/>
          </a:ln>
        </p:spPr>
      </p:sp>
      <p:pic>
        <p:nvPicPr>
          <p:cNvPr id="13" name="Image 0" descr="logos/openai.png">    </p:cNvPr>
          <p:cNvPicPr>
            <a:picLocks noChangeAspect="1"/>
          </p:cNvPicPr>
          <p:nvPr/>
        </p:nvPicPr>
        <p:blipFill>
          <a:blip r:embed="rId1"/>
          <a:srcRect l="0" r="0" t="0" b="0"/>
          <a:stretch/>
        </p:blipFill>
        <p:spPr>
          <a:xfrm>
            <a:off x="640080" y="1819656"/>
            <a:ext cx="502920" cy="502920"/>
          </a:xfrm>
          <a:prstGeom prst="rect">
            <a:avLst/>
          </a:prstGeom>
        </p:spPr>
      </p:pic>
      <p:sp>
        <p:nvSpPr>
          <p:cNvPr id="14" name="Text 11"/>
          <p:cNvSpPr/>
          <p:nvPr/>
        </p:nvSpPr>
        <p:spPr>
          <a:xfrm>
            <a:off x="1325880" y="1691640"/>
            <a:ext cx="1828800" cy="758952"/>
          </a:xfrm>
          <a:prstGeom prst="rect">
            <a:avLst/>
          </a:prstGeom>
          <a:noFill/>
          <a:ln/>
        </p:spPr>
        <p:txBody>
          <a:bodyPr wrap="square" lIns="0" tIns="0" rIns="0" bIns="0" rtlCol="0" anchor="ctr"/>
          <a:lstStyle/>
          <a:p>
            <a:pPr indent="0" marL="0">
              <a:buNone/>
            </a:pPr>
            <a:r>
              <a:rPr lang="en-US" sz="1500" b="1" dirty="0">
                <a:solidFill>
                  <a:srgbClr val="000000"/>
                </a:solidFill>
                <a:latin typeface="Arial" pitchFamily="34" charset="0"/>
                <a:ea typeface="Arial" pitchFamily="34" charset="-122"/>
                <a:cs typeface="Arial" pitchFamily="34" charset="-120"/>
              </a:rPr>
              <a:t>OpenAI</a:t>
            </a:r>
            <a:endParaRPr lang="en-US" sz="1500" dirty="0"/>
          </a:p>
        </p:txBody>
      </p:sp>
      <p:sp>
        <p:nvSpPr>
          <p:cNvPr id="15" name="Text 12"/>
          <p:cNvSpPr/>
          <p:nvPr/>
        </p:nvSpPr>
        <p:spPr>
          <a:xfrm>
            <a:off x="3200400" y="1691640"/>
            <a:ext cx="1280160" cy="758952"/>
          </a:xfrm>
          <a:prstGeom prst="rect">
            <a:avLst/>
          </a:prstGeom>
          <a:noFill/>
          <a:ln/>
        </p:spPr>
        <p:txBody>
          <a:bodyPr wrap="square" lIns="0" tIns="0" rIns="0" bIns="0" rtlCol="0" anchor="ctr"/>
          <a:lstStyle/>
          <a:p>
            <a:pPr algn="ctr" indent="0" marL="0">
              <a:buNone/>
            </a:pPr>
            <a:r>
              <a:rPr lang="en-US" sz="2000" b="1" dirty="0">
                <a:solidFill>
                  <a:srgbClr val="F6693D"/>
                </a:solidFill>
                <a:latin typeface="Arial Black" pitchFamily="34" charset="0"/>
                <a:ea typeface="Arial Black" pitchFamily="34" charset="-122"/>
                <a:cs typeface="Arial Black" pitchFamily="34" charset="-120"/>
              </a:rPr>
              <a:t>$852B</a:t>
            </a:r>
            <a:pPr algn="ctr" indent="0" marL="0">
              <a:buNone/>
            </a:pPr>
            <a:r>
              <a:rPr lang="en-US" sz="1000" b="1" baseline="30000" dirty="0">
                <a:solidFill>
                  <a:srgbClr val="F6693D"/>
                </a:solidFill>
                <a:latin typeface="Arial Black" pitchFamily="34" charset="0"/>
                <a:ea typeface="Arial Black" pitchFamily="34" charset="-122"/>
                <a:cs typeface="Arial Black" pitchFamily="34" charset="-120"/>
              </a:rPr>
              <a:t> 1</a:t>
            </a:r>
            <a:endParaRPr lang="en-US" sz="2000" dirty="0"/>
          </a:p>
        </p:txBody>
      </p:sp>
      <p:sp>
        <p:nvSpPr>
          <p:cNvPr id="16" name="Text 13"/>
          <p:cNvSpPr/>
          <p:nvPr/>
        </p:nvSpPr>
        <p:spPr>
          <a:xfrm>
            <a:off x="4480560" y="1691640"/>
            <a:ext cx="1188720" cy="758952"/>
          </a:xfrm>
          <a:prstGeom prst="rect">
            <a:avLst/>
          </a:prstGeom>
          <a:noFill/>
          <a:ln/>
        </p:spPr>
        <p:txBody>
          <a:bodyPr wrap="square" lIns="0" tIns="0" rIns="0" bIns="0" rtlCol="0" anchor="ctr"/>
          <a:lstStyle/>
          <a:p>
            <a:pPr algn="ctr" indent="0" marL="0">
              <a:buNone/>
            </a:pPr>
            <a:r>
              <a:rPr lang="en-US" sz="1200" dirty="0">
                <a:solidFill>
                  <a:srgbClr val="666666"/>
                </a:solidFill>
                <a:latin typeface="Arial" pitchFamily="34" charset="0"/>
                <a:ea typeface="Arial" pitchFamily="34" charset="-122"/>
                <a:cs typeface="Arial" pitchFamily="34" charset="-120"/>
              </a:rPr>
              <a:t>~35× ARR</a:t>
            </a:r>
            <a:endParaRPr lang="en-US" sz="1200" dirty="0"/>
          </a:p>
        </p:txBody>
      </p:sp>
      <p:sp>
        <p:nvSpPr>
          <p:cNvPr id="17" name="Text 14"/>
          <p:cNvSpPr/>
          <p:nvPr/>
        </p:nvSpPr>
        <p:spPr>
          <a:xfrm>
            <a:off x="5760720" y="1691640"/>
            <a:ext cx="2834640" cy="758952"/>
          </a:xfrm>
          <a:prstGeom prst="rect">
            <a:avLst/>
          </a:prstGeom>
          <a:noFill/>
          <a:ln/>
        </p:spPr>
        <p:txBody>
          <a:bodyPr wrap="square" lIns="0" tIns="0" rIns="0" bIns="0" rtlCol="0" anchor="ctr"/>
          <a:lstStyle/>
          <a:p>
            <a:pPr indent="0" marL="0">
              <a:buNone/>
            </a:pPr>
            <a:r>
              <a:rPr lang="en-US" sz="1100" dirty="0">
                <a:solidFill>
                  <a:srgbClr val="333333"/>
                </a:solidFill>
                <a:latin typeface="Arial" pitchFamily="34" charset="0"/>
                <a:ea typeface="Arial" pitchFamily="34" charset="-122"/>
                <a:cs typeface="Arial" pitchFamily="34" charset="-120"/>
              </a:rPr>
              <a:t>$122B round · AMZN / NVDA / SoftBank · Mar 2026</a:t>
            </a:r>
            <a:endParaRPr lang="en-US" sz="1100" dirty="0"/>
          </a:p>
        </p:txBody>
      </p:sp>
      <p:sp>
        <p:nvSpPr>
          <p:cNvPr id="18" name="Shape 15"/>
          <p:cNvSpPr/>
          <p:nvPr/>
        </p:nvSpPr>
        <p:spPr>
          <a:xfrm>
            <a:off x="457200" y="2496312"/>
            <a:ext cx="8229600" cy="758952"/>
          </a:xfrm>
          <a:prstGeom prst="rect">
            <a:avLst/>
          </a:prstGeom>
          <a:solidFill>
            <a:srgbClr val="F9F9F9"/>
          </a:solidFill>
          <a:ln w="6350">
            <a:solidFill>
              <a:srgbClr val="E5E5E5"/>
            </a:solidFill>
            <a:prstDash val="solid"/>
          </a:ln>
        </p:spPr>
      </p:sp>
      <p:pic>
        <p:nvPicPr>
          <p:cNvPr id="19" name="Image 1" descr="logos/anthropic.png">    </p:cNvPr>
          <p:cNvPicPr>
            <a:picLocks noChangeAspect="1"/>
          </p:cNvPicPr>
          <p:nvPr/>
        </p:nvPicPr>
        <p:blipFill>
          <a:blip r:embed="rId2"/>
          <a:srcRect l="0" r="0" t="0" b="0"/>
          <a:stretch/>
        </p:blipFill>
        <p:spPr>
          <a:xfrm>
            <a:off x="640080" y="2624328"/>
            <a:ext cx="502920" cy="502920"/>
          </a:xfrm>
          <a:prstGeom prst="rect">
            <a:avLst/>
          </a:prstGeom>
        </p:spPr>
      </p:pic>
      <p:sp>
        <p:nvSpPr>
          <p:cNvPr id="20" name="Text 16"/>
          <p:cNvSpPr/>
          <p:nvPr/>
        </p:nvSpPr>
        <p:spPr>
          <a:xfrm>
            <a:off x="1325880" y="2496312"/>
            <a:ext cx="1828800" cy="758952"/>
          </a:xfrm>
          <a:prstGeom prst="rect">
            <a:avLst/>
          </a:prstGeom>
          <a:noFill/>
          <a:ln/>
        </p:spPr>
        <p:txBody>
          <a:bodyPr wrap="square" lIns="0" tIns="0" rIns="0" bIns="0" rtlCol="0" anchor="ctr"/>
          <a:lstStyle/>
          <a:p>
            <a:pPr indent="0" marL="0">
              <a:buNone/>
            </a:pPr>
            <a:r>
              <a:rPr lang="en-US" sz="1500" b="1" dirty="0">
                <a:solidFill>
                  <a:srgbClr val="000000"/>
                </a:solidFill>
                <a:latin typeface="Arial" pitchFamily="34" charset="0"/>
                <a:ea typeface="Arial" pitchFamily="34" charset="-122"/>
                <a:cs typeface="Arial" pitchFamily="34" charset="-120"/>
              </a:rPr>
              <a:t>Anthropic</a:t>
            </a:r>
            <a:endParaRPr lang="en-US" sz="1500" dirty="0"/>
          </a:p>
        </p:txBody>
      </p:sp>
      <p:sp>
        <p:nvSpPr>
          <p:cNvPr id="21" name="Text 17"/>
          <p:cNvSpPr/>
          <p:nvPr/>
        </p:nvSpPr>
        <p:spPr>
          <a:xfrm>
            <a:off x="3200400" y="2496312"/>
            <a:ext cx="1280160" cy="758952"/>
          </a:xfrm>
          <a:prstGeom prst="rect">
            <a:avLst/>
          </a:prstGeom>
          <a:noFill/>
          <a:ln/>
        </p:spPr>
        <p:txBody>
          <a:bodyPr wrap="square" lIns="0" tIns="0" rIns="0" bIns="0" rtlCol="0" anchor="ctr"/>
          <a:lstStyle/>
          <a:p>
            <a:pPr algn="ctr" indent="0" marL="0">
              <a:buNone/>
            </a:pPr>
            <a:r>
              <a:rPr lang="en-US" sz="2000" b="1" dirty="0">
                <a:solidFill>
                  <a:srgbClr val="F6693D"/>
                </a:solidFill>
                <a:latin typeface="Arial Black" pitchFamily="34" charset="0"/>
                <a:ea typeface="Arial Black" pitchFamily="34" charset="-122"/>
                <a:cs typeface="Arial Black" pitchFamily="34" charset="-120"/>
              </a:rPr>
              <a:t>$900B</a:t>
            </a:r>
            <a:pPr algn="ctr" indent="0" marL="0">
              <a:buNone/>
            </a:pPr>
            <a:r>
              <a:rPr lang="en-US" sz="1000" b="1" baseline="30000" dirty="0">
                <a:solidFill>
                  <a:srgbClr val="F6693D"/>
                </a:solidFill>
                <a:latin typeface="Arial Black" pitchFamily="34" charset="0"/>
                <a:ea typeface="Arial Black" pitchFamily="34" charset="-122"/>
                <a:cs typeface="Arial Black" pitchFamily="34" charset="-120"/>
              </a:rPr>
              <a:t> 2</a:t>
            </a:r>
            <a:endParaRPr lang="en-US" sz="2000" dirty="0"/>
          </a:p>
        </p:txBody>
      </p:sp>
      <p:sp>
        <p:nvSpPr>
          <p:cNvPr id="22" name="Text 18"/>
          <p:cNvSpPr/>
          <p:nvPr/>
        </p:nvSpPr>
        <p:spPr>
          <a:xfrm>
            <a:off x="4480560" y="2496312"/>
            <a:ext cx="1188720" cy="758952"/>
          </a:xfrm>
          <a:prstGeom prst="rect">
            <a:avLst/>
          </a:prstGeom>
          <a:noFill/>
          <a:ln/>
        </p:spPr>
        <p:txBody>
          <a:bodyPr wrap="square" lIns="0" tIns="0" rIns="0" bIns="0" rtlCol="0" anchor="ctr"/>
          <a:lstStyle/>
          <a:p>
            <a:pPr algn="ctr" indent="0" marL="0">
              <a:buNone/>
            </a:pPr>
            <a:r>
              <a:rPr lang="en-US" sz="1200" dirty="0">
                <a:solidFill>
                  <a:srgbClr val="666666"/>
                </a:solidFill>
                <a:latin typeface="Arial" pitchFamily="34" charset="0"/>
                <a:ea typeface="Arial" pitchFamily="34" charset="-122"/>
                <a:cs typeface="Arial" pitchFamily="34" charset="-120"/>
              </a:rPr>
              <a:t>~31× ARR</a:t>
            </a:r>
            <a:endParaRPr lang="en-US" sz="1200" dirty="0"/>
          </a:p>
        </p:txBody>
      </p:sp>
      <p:sp>
        <p:nvSpPr>
          <p:cNvPr id="23" name="Text 19"/>
          <p:cNvSpPr/>
          <p:nvPr/>
        </p:nvSpPr>
        <p:spPr>
          <a:xfrm>
            <a:off x="5760720" y="2496312"/>
            <a:ext cx="2834640" cy="758952"/>
          </a:xfrm>
          <a:prstGeom prst="rect">
            <a:avLst/>
          </a:prstGeom>
          <a:noFill/>
          <a:ln/>
        </p:spPr>
        <p:txBody>
          <a:bodyPr wrap="square" lIns="0" tIns="0" rIns="0" bIns="0" rtlCol="0" anchor="ctr"/>
          <a:lstStyle/>
          <a:p>
            <a:pPr indent="0" marL="0">
              <a:buNone/>
            </a:pPr>
            <a:r>
              <a:rPr lang="en-US" sz="1100" dirty="0">
                <a:solidFill>
                  <a:srgbClr val="333333"/>
                </a:solidFill>
                <a:latin typeface="Arial" pitchFamily="34" charset="0"/>
                <a:ea typeface="Arial" pitchFamily="34" charset="-122"/>
                <a:cs typeface="Arial" pitchFamily="34" charset="-120"/>
              </a:rPr>
              <a:t>$30B Series G (Feb); Google +$40B (Apr); ~$900B round reported closing (May)</a:t>
            </a:r>
            <a:endParaRPr lang="en-US" sz="1100" dirty="0"/>
          </a:p>
        </p:txBody>
      </p:sp>
      <p:sp>
        <p:nvSpPr>
          <p:cNvPr id="24" name="Shape 20"/>
          <p:cNvSpPr/>
          <p:nvPr/>
        </p:nvSpPr>
        <p:spPr>
          <a:xfrm>
            <a:off x="457200" y="3300984"/>
            <a:ext cx="8229600" cy="758952"/>
          </a:xfrm>
          <a:prstGeom prst="rect">
            <a:avLst/>
          </a:prstGeom>
          <a:solidFill>
            <a:srgbClr val="FFFFFF"/>
          </a:solidFill>
          <a:ln w="6350">
            <a:solidFill>
              <a:srgbClr val="E5E5E5"/>
            </a:solidFill>
            <a:prstDash val="solid"/>
          </a:ln>
        </p:spPr>
      </p:sp>
      <p:pic>
        <p:nvPicPr>
          <p:cNvPr id="25" name="Image 2" descr="logos/google.png">    </p:cNvPr>
          <p:cNvPicPr>
            <a:picLocks noChangeAspect="1"/>
          </p:cNvPicPr>
          <p:nvPr/>
        </p:nvPicPr>
        <p:blipFill>
          <a:blip r:embed="rId3"/>
          <a:srcRect l="0" r="0" t="0" b="0"/>
          <a:stretch/>
        </p:blipFill>
        <p:spPr>
          <a:xfrm>
            <a:off x="640080" y="3429000"/>
            <a:ext cx="502920" cy="502920"/>
          </a:xfrm>
          <a:prstGeom prst="rect">
            <a:avLst/>
          </a:prstGeom>
        </p:spPr>
      </p:pic>
      <p:sp>
        <p:nvSpPr>
          <p:cNvPr id="26" name="Text 21"/>
          <p:cNvSpPr/>
          <p:nvPr/>
        </p:nvSpPr>
        <p:spPr>
          <a:xfrm>
            <a:off x="1325880" y="3300984"/>
            <a:ext cx="1828800" cy="758952"/>
          </a:xfrm>
          <a:prstGeom prst="rect">
            <a:avLst/>
          </a:prstGeom>
          <a:noFill/>
          <a:ln/>
        </p:spPr>
        <p:txBody>
          <a:bodyPr wrap="square" lIns="0" tIns="0" rIns="0" bIns="0" rtlCol="0" anchor="ctr"/>
          <a:lstStyle/>
          <a:p>
            <a:pPr indent="0" marL="0">
              <a:buNone/>
            </a:pPr>
            <a:r>
              <a:rPr lang="en-US" sz="1500" b="1" dirty="0">
                <a:solidFill>
                  <a:srgbClr val="000000"/>
                </a:solidFill>
                <a:latin typeface="Arial" pitchFamily="34" charset="0"/>
                <a:ea typeface="Arial" pitchFamily="34" charset="-122"/>
                <a:cs typeface="Arial" pitchFamily="34" charset="-120"/>
              </a:rPr>
              <a:t>Google</a:t>
            </a:r>
            <a:endParaRPr lang="en-US" sz="1500" dirty="0"/>
          </a:p>
        </p:txBody>
      </p:sp>
      <p:sp>
        <p:nvSpPr>
          <p:cNvPr id="27" name="Text 22"/>
          <p:cNvSpPr/>
          <p:nvPr/>
        </p:nvSpPr>
        <p:spPr>
          <a:xfrm>
            <a:off x="3200400" y="3300984"/>
            <a:ext cx="1280160" cy="758952"/>
          </a:xfrm>
          <a:prstGeom prst="rect">
            <a:avLst/>
          </a:prstGeom>
          <a:noFill/>
          <a:ln/>
        </p:spPr>
        <p:txBody>
          <a:bodyPr wrap="square" lIns="0" tIns="0" rIns="0" bIns="0" rtlCol="0" anchor="ctr"/>
          <a:lstStyle/>
          <a:p>
            <a:pPr algn="ctr" indent="0" marL="0">
              <a:buNone/>
            </a:pPr>
            <a:r>
              <a:rPr lang="en-US" sz="2000" b="1" dirty="0">
                <a:solidFill>
                  <a:srgbClr val="F6693D"/>
                </a:solidFill>
                <a:latin typeface="Arial Black" pitchFamily="34" charset="0"/>
                <a:ea typeface="Arial Black" pitchFamily="34" charset="-122"/>
                <a:cs typeface="Arial Black" pitchFamily="34" charset="-120"/>
              </a:rPr>
              <a:t>$4.6T</a:t>
            </a:r>
            <a:pPr algn="ctr" indent="0" marL="0">
              <a:buNone/>
            </a:pPr>
            <a:r>
              <a:rPr lang="en-US" sz="1000" b="1" baseline="30000" dirty="0">
                <a:solidFill>
                  <a:srgbClr val="F6693D"/>
                </a:solidFill>
                <a:latin typeface="Arial Black" pitchFamily="34" charset="0"/>
                <a:ea typeface="Arial Black" pitchFamily="34" charset="-122"/>
                <a:cs typeface="Arial Black" pitchFamily="34" charset="-120"/>
              </a:rPr>
              <a:t> 3</a:t>
            </a:r>
            <a:endParaRPr lang="en-US" sz="2000" dirty="0"/>
          </a:p>
        </p:txBody>
      </p:sp>
      <p:sp>
        <p:nvSpPr>
          <p:cNvPr id="28" name="Text 23"/>
          <p:cNvSpPr/>
          <p:nvPr/>
        </p:nvSpPr>
        <p:spPr>
          <a:xfrm>
            <a:off x="4480560" y="3300984"/>
            <a:ext cx="1188720" cy="758952"/>
          </a:xfrm>
          <a:prstGeom prst="rect">
            <a:avLst/>
          </a:prstGeom>
          <a:noFill/>
          <a:ln/>
        </p:spPr>
        <p:txBody>
          <a:bodyPr wrap="square" lIns="0" tIns="0" rIns="0" bIns="0" rtlCol="0" anchor="ctr"/>
          <a:lstStyle/>
          <a:p>
            <a:pPr algn="ctr" indent="0" marL="0">
              <a:buNone/>
            </a:pPr>
            <a:r>
              <a:rPr lang="en-US" sz="1200" dirty="0">
                <a:solidFill>
                  <a:srgbClr val="666666"/>
                </a:solidFill>
                <a:latin typeface="Arial" pitchFamily="34" charset="0"/>
                <a:ea typeface="Arial" pitchFamily="34" charset="-122"/>
                <a:cs typeface="Arial" pitchFamily="34" charset="-120"/>
              </a:rPr>
              <a:t>~33× P/E</a:t>
            </a:r>
            <a:endParaRPr lang="en-US" sz="1200" dirty="0"/>
          </a:p>
        </p:txBody>
      </p:sp>
      <p:sp>
        <p:nvSpPr>
          <p:cNvPr id="29" name="Text 24"/>
          <p:cNvSpPr/>
          <p:nvPr/>
        </p:nvSpPr>
        <p:spPr>
          <a:xfrm>
            <a:off x="5760720" y="3300984"/>
            <a:ext cx="2834640" cy="758952"/>
          </a:xfrm>
          <a:prstGeom prst="rect">
            <a:avLst/>
          </a:prstGeom>
          <a:noFill/>
          <a:ln/>
        </p:spPr>
        <p:txBody>
          <a:bodyPr wrap="square" lIns="0" tIns="0" rIns="0" bIns="0" rtlCol="0" anchor="ctr"/>
          <a:lstStyle/>
          <a:p>
            <a:pPr indent="0" marL="0">
              <a:buNone/>
            </a:pPr>
            <a:r>
              <a:rPr lang="en-US" sz="1100" dirty="0">
                <a:solidFill>
                  <a:srgbClr val="333333"/>
                </a:solidFill>
                <a:latin typeface="Arial" pitchFamily="34" charset="0"/>
                <a:ea typeface="Arial" pitchFamily="34" charset="-122"/>
                <a:cs typeface="Arial" pitchFamily="34" charset="-120"/>
              </a:rPr>
              <a:t>Alphabet (public) · Gemini 3.5 / DeepMind · ~$185B 2026 capex</a:t>
            </a:r>
            <a:endParaRPr lang="en-US" sz="1100" dirty="0"/>
          </a:p>
        </p:txBody>
      </p:sp>
      <p:sp>
        <p:nvSpPr>
          <p:cNvPr id="30" name="Shape 25"/>
          <p:cNvSpPr/>
          <p:nvPr/>
        </p:nvSpPr>
        <p:spPr>
          <a:xfrm>
            <a:off x="457200" y="4105656"/>
            <a:ext cx="8229600" cy="758952"/>
          </a:xfrm>
          <a:prstGeom prst="rect">
            <a:avLst/>
          </a:prstGeom>
          <a:solidFill>
            <a:srgbClr val="F9F9F9"/>
          </a:solidFill>
          <a:ln w="6350">
            <a:solidFill>
              <a:srgbClr val="E5E5E5"/>
            </a:solidFill>
            <a:prstDash val="solid"/>
          </a:ln>
        </p:spPr>
      </p:sp>
      <p:pic>
        <p:nvPicPr>
          <p:cNvPr id="31" name="Image 3" descr="logos/xai.png">    </p:cNvPr>
          <p:cNvPicPr>
            <a:picLocks noChangeAspect="1"/>
          </p:cNvPicPr>
          <p:nvPr/>
        </p:nvPicPr>
        <p:blipFill>
          <a:blip r:embed="rId4"/>
          <a:srcRect l="0" r="0" t="0" b="0"/>
          <a:stretch/>
        </p:blipFill>
        <p:spPr>
          <a:xfrm>
            <a:off x="640080" y="4233672"/>
            <a:ext cx="502920" cy="502920"/>
          </a:xfrm>
          <a:prstGeom prst="rect">
            <a:avLst/>
          </a:prstGeom>
        </p:spPr>
      </p:pic>
      <p:sp>
        <p:nvSpPr>
          <p:cNvPr id="32" name="Text 26"/>
          <p:cNvSpPr/>
          <p:nvPr/>
        </p:nvSpPr>
        <p:spPr>
          <a:xfrm>
            <a:off x="1325880" y="4105656"/>
            <a:ext cx="1828800" cy="758952"/>
          </a:xfrm>
          <a:prstGeom prst="rect">
            <a:avLst/>
          </a:prstGeom>
          <a:noFill/>
          <a:ln/>
        </p:spPr>
        <p:txBody>
          <a:bodyPr wrap="square" lIns="0" tIns="0" rIns="0" bIns="0" rtlCol="0" anchor="ctr"/>
          <a:lstStyle/>
          <a:p>
            <a:pPr indent="0" marL="0">
              <a:buNone/>
            </a:pPr>
            <a:r>
              <a:rPr lang="en-US" sz="1500" b="1" dirty="0">
                <a:solidFill>
                  <a:srgbClr val="000000"/>
                </a:solidFill>
                <a:latin typeface="Arial" pitchFamily="34" charset="0"/>
                <a:ea typeface="Arial" pitchFamily="34" charset="-122"/>
                <a:cs typeface="Arial" pitchFamily="34" charset="-120"/>
              </a:rPr>
              <a:t>xAI / SpaceX</a:t>
            </a:r>
            <a:endParaRPr lang="en-US" sz="1500" dirty="0"/>
          </a:p>
        </p:txBody>
      </p:sp>
      <p:sp>
        <p:nvSpPr>
          <p:cNvPr id="33" name="Text 27"/>
          <p:cNvSpPr/>
          <p:nvPr/>
        </p:nvSpPr>
        <p:spPr>
          <a:xfrm>
            <a:off x="3200400" y="4105656"/>
            <a:ext cx="1280160" cy="758952"/>
          </a:xfrm>
          <a:prstGeom prst="rect">
            <a:avLst/>
          </a:prstGeom>
          <a:noFill/>
          <a:ln/>
        </p:spPr>
        <p:txBody>
          <a:bodyPr wrap="square" lIns="0" tIns="0" rIns="0" bIns="0" rtlCol="0" anchor="ctr"/>
          <a:lstStyle/>
          <a:p>
            <a:pPr algn="ctr" indent="0" marL="0">
              <a:buNone/>
            </a:pPr>
            <a:r>
              <a:rPr lang="en-US" sz="2000" b="1" dirty="0">
                <a:solidFill>
                  <a:srgbClr val="F6693D"/>
                </a:solidFill>
                <a:latin typeface="Arial Black" pitchFamily="34" charset="0"/>
                <a:ea typeface="Arial Black" pitchFamily="34" charset="-122"/>
                <a:cs typeface="Arial Black" pitchFamily="34" charset="-120"/>
              </a:rPr>
              <a:t>$1.25T</a:t>
            </a:r>
            <a:pPr algn="ctr" indent="0" marL="0">
              <a:buNone/>
            </a:pPr>
            <a:r>
              <a:rPr lang="en-US" sz="1000" b="1" baseline="30000" dirty="0">
                <a:solidFill>
                  <a:srgbClr val="F6693D"/>
                </a:solidFill>
                <a:latin typeface="Arial Black" pitchFamily="34" charset="0"/>
                <a:ea typeface="Arial Black" pitchFamily="34" charset="-122"/>
                <a:cs typeface="Arial Black" pitchFamily="34" charset="-120"/>
              </a:rPr>
              <a:t> 4</a:t>
            </a:r>
            <a:endParaRPr lang="en-US" sz="2000" dirty="0"/>
          </a:p>
        </p:txBody>
      </p:sp>
      <p:sp>
        <p:nvSpPr>
          <p:cNvPr id="34" name="Text 28"/>
          <p:cNvSpPr/>
          <p:nvPr/>
        </p:nvSpPr>
        <p:spPr>
          <a:xfrm>
            <a:off x="4480560" y="4105656"/>
            <a:ext cx="1188720" cy="758952"/>
          </a:xfrm>
          <a:prstGeom prst="rect">
            <a:avLst/>
          </a:prstGeom>
          <a:noFill/>
          <a:ln/>
        </p:spPr>
        <p:txBody>
          <a:bodyPr wrap="square" lIns="0" tIns="0" rIns="0" bIns="0" rtlCol="0" anchor="ctr"/>
          <a:lstStyle/>
          <a:p>
            <a:pPr algn="ctr" indent="0" marL="0">
              <a:buNone/>
            </a:pPr>
            <a:r>
              <a:rPr lang="en-US" sz="1200" dirty="0">
                <a:solidFill>
                  <a:srgbClr val="666666"/>
                </a:solidFill>
                <a:latin typeface="Arial" pitchFamily="34" charset="0"/>
                <a:ea typeface="Arial" pitchFamily="34" charset="-122"/>
                <a:cs typeface="Arial" pitchFamily="34" charset="-120"/>
              </a:rPr>
              <a:t>combined</a:t>
            </a:r>
            <a:endParaRPr lang="en-US" sz="1200" dirty="0"/>
          </a:p>
        </p:txBody>
      </p:sp>
      <p:sp>
        <p:nvSpPr>
          <p:cNvPr id="35" name="Text 29"/>
          <p:cNvSpPr/>
          <p:nvPr/>
        </p:nvSpPr>
        <p:spPr>
          <a:xfrm>
            <a:off x="5760720" y="4105656"/>
            <a:ext cx="2834640" cy="758952"/>
          </a:xfrm>
          <a:prstGeom prst="rect">
            <a:avLst/>
          </a:prstGeom>
          <a:noFill/>
          <a:ln/>
        </p:spPr>
        <p:txBody>
          <a:bodyPr wrap="square" lIns="0" tIns="0" rIns="0" bIns="0" rtlCol="0" anchor="ctr"/>
          <a:lstStyle/>
          <a:p>
            <a:pPr indent="0" marL="0">
              <a:buNone/>
            </a:pPr>
            <a:r>
              <a:rPr lang="en-US" sz="1100" dirty="0">
                <a:solidFill>
                  <a:srgbClr val="333333"/>
                </a:solidFill>
                <a:latin typeface="Arial" pitchFamily="34" charset="0"/>
                <a:ea typeface="Arial" pitchFamily="34" charset="-122"/>
                <a:cs typeface="Arial" pitchFamily="34" charset="-120"/>
              </a:rPr>
              <a:t>Feb 2 all-stock merger; SpaceX filed to IPO at ~$1.75T (May 20)</a:t>
            </a:r>
            <a:endParaRPr lang="en-US" sz="1100" dirty="0"/>
          </a:p>
        </p:txBody>
      </p:sp>
      <p:sp>
        <p:nvSpPr>
          <p:cNvPr id="36" name="Text 30"/>
          <p:cNvSpPr/>
          <p:nvPr/>
        </p:nvSpPr>
        <p:spPr>
          <a:xfrm>
            <a:off x="457200" y="4919472"/>
            <a:ext cx="8229600" cy="182880"/>
          </a:xfrm>
          <a:prstGeom prst="rect">
            <a:avLst/>
          </a:prstGeom>
          <a:noFill/>
          <a:ln/>
        </p:spPr>
        <p:txBody>
          <a:bodyPr wrap="square" lIns="0" tIns="0" rIns="0" bIns="0" rtlCol="0" anchor="t"/>
          <a:lstStyle/>
          <a:p>
            <a:pPr algn="r" indent="0" marL="0">
              <a:buNone/>
            </a:pPr>
            <a:r>
              <a:rPr lang="en-US" sz="800" i="1" dirty="0">
                <a:solidFill>
                  <a:srgbClr val="666666"/>
                </a:solidFill>
                <a:latin typeface="Arial" pitchFamily="34" charset="0"/>
                <a:ea typeface="Arial" pitchFamily="34" charset="-122"/>
                <a:cs typeface="Arial" pitchFamily="34" charset="-120"/>
              </a:rPr>
              <a:t>Valuations as of late May 2026 unless noted.</a:t>
            </a:r>
            <a:endParaRPr lang="en-US" sz="800" dirty="0"/>
          </a:p>
        </p:txBody>
      </p:sp>
      <p:sp>
        <p:nvSpPr>
          <p:cNvPr id="37" name="Shape 31"/>
          <p:cNvSpPr/>
          <p:nvPr/>
        </p:nvSpPr>
        <p:spPr>
          <a:xfrm>
            <a:off x="457200" y="5166360"/>
            <a:ext cx="8229600" cy="502920"/>
          </a:xfrm>
          <a:prstGeom prst="rect">
            <a:avLst/>
          </a:prstGeom>
          <a:solidFill>
            <a:srgbClr val="FFD100"/>
          </a:solidFill>
          <a:ln w="12700">
            <a:solidFill>
              <a:srgbClr val="FFD100"/>
            </a:solidFill>
            <a:prstDash val="solid"/>
          </a:ln>
        </p:spPr>
      </p:sp>
      <p:sp>
        <p:nvSpPr>
          <p:cNvPr id="38" name="Text 32"/>
          <p:cNvSpPr/>
          <p:nvPr/>
        </p:nvSpPr>
        <p:spPr>
          <a:xfrm>
            <a:off x="640080" y="5166360"/>
            <a:ext cx="7863840" cy="502920"/>
          </a:xfrm>
          <a:prstGeom prst="rect">
            <a:avLst/>
          </a:prstGeom>
          <a:noFill/>
          <a:ln/>
        </p:spPr>
        <p:txBody>
          <a:bodyPr wrap="square" lIns="0" tIns="0" rIns="0" bIns="0" rtlCol="0" anchor="ctr"/>
          <a:lstStyle/>
          <a:p>
            <a:pPr indent="0" marL="0">
              <a:buNone/>
            </a:pPr>
            <a:r>
              <a:rPr lang="en-US" sz="1400" b="1" dirty="0">
                <a:solidFill>
                  <a:srgbClr val="000000"/>
                </a:solidFill>
                <a:latin typeface="Arial" pitchFamily="34" charset="0"/>
                <a:ea typeface="Arial" pitchFamily="34" charset="-122"/>
                <a:cs typeface="Arial" pitchFamily="34" charset="-120"/>
              </a:rPr>
              <a:t>Q1 2026 funding to foundational AI startups was 2× all of 2025.</a:t>
            </a:r>
            <a:pPr indent="0" marL="0">
              <a:buNone/>
            </a:pPr>
            <a:r>
              <a:rPr lang="en-US" sz="800" b="1" baseline="30000" dirty="0">
                <a:solidFill>
                  <a:srgbClr val="000000"/>
                </a:solidFill>
                <a:latin typeface="Arial" pitchFamily="34" charset="0"/>
                <a:ea typeface="Arial" pitchFamily="34" charset="-122"/>
                <a:cs typeface="Arial" pitchFamily="34" charset="-120"/>
              </a:rPr>
              <a:t> 5</a:t>
            </a:r>
            <a:endParaRPr lang="en-US" sz="1400" dirty="0"/>
          </a:p>
        </p:txBody>
      </p:sp>
      <p:sp>
        <p:nvSpPr>
          <p:cNvPr id="39" name="Text 33"/>
          <p:cNvSpPr/>
          <p:nvPr/>
        </p:nvSpPr>
        <p:spPr>
          <a:xfrm>
            <a:off x="457200" y="5875020"/>
            <a:ext cx="8229600" cy="457200"/>
          </a:xfrm>
          <a:prstGeom prst="rect">
            <a:avLst/>
          </a:prstGeom>
          <a:noFill/>
          <a:ln/>
        </p:spPr>
        <p:txBody>
          <a:bodyPr wrap="square" lIns="0" tIns="0" rIns="0" bIns="0" rtlCol="0" anchor="t"/>
          <a:lstStyle/>
          <a:p>
            <a:pPr indent="0" marL="0">
              <a:buNone/>
            </a:pPr>
            <a:r>
              <a:rPr lang="en-US" sz="700" b="1" dirty="0">
                <a:solidFill>
                  <a:srgbClr val="999999"/>
                </a:solidFill>
                <a:latin typeface="Arial" pitchFamily="34" charset="0"/>
                <a:ea typeface="Arial" pitchFamily="34" charset="-122"/>
                <a:cs typeface="Arial" pitchFamily="34" charset="-120"/>
              </a:rPr>
              <a:t>(1) </a:t>
            </a:r>
            <a:pPr indent="0" marL="0">
              <a:buNone/>
            </a:pPr>
            <a:r>
              <a:rPr lang="en-US" sz="700" dirty="0">
                <a:solidFill>
                  <a:srgbClr val="999999"/>
                </a:solidFill>
                <a:latin typeface="Arial" pitchFamily="34" charset="0"/>
                <a:ea typeface="Arial" pitchFamily="34" charset="-122"/>
                <a:cs typeface="Arial" pitchFamily="34" charset="-120"/>
              </a:rPr>
              <a:t>Bloomberg / CNBC — OpenAI $122B round, Mar 2026, </a:t>
            </a:r>
            <a:pPr indent="0" marL="0">
              <a:buNone/>
            </a:pPr>
            <a:r>
              <a:rPr lang="en-US" sz="700" b="1" dirty="0">
                <a:solidFill>
                  <a:srgbClr val="999999"/>
                </a:solidFill>
                <a:latin typeface="Arial" pitchFamily="34" charset="0"/>
                <a:ea typeface="Arial" pitchFamily="34" charset="-122"/>
                <a:cs typeface="Arial" pitchFamily="34" charset="-120"/>
              </a:rPr>
              <a:t>(2) </a:t>
            </a:r>
            <a:pPr indent="0" marL="0">
              <a:buNone/>
            </a:pPr>
            <a:r>
              <a:rPr lang="en-US" sz="700" dirty="0">
                <a:solidFill>
                  <a:srgbClr val="999999"/>
                </a:solidFill>
                <a:latin typeface="Arial" pitchFamily="34" charset="0"/>
                <a:ea typeface="Arial" pitchFamily="34" charset="-122"/>
                <a:cs typeface="Arial" pitchFamily="34" charset="-120"/>
              </a:rPr>
              <a:t>Bloomberg — Anthropic Series G (Feb) &amp; ~$900B round reported May 2026, </a:t>
            </a:r>
            <a:pPr indent="0" marL="0">
              <a:buNone/>
            </a:pPr>
            <a:r>
              <a:rPr lang="en-US" sz="700" b="1" dirty="0">
                <a:solidFill>
                  <a:srgbClr val="999999"/>
                </a:solidFill>
                <a:latin typeface="Arial" pitchFamily="34" charset="0"/>
                <a:ea typeface="Arial" pitchFamily="34" charset="-122"/>
                <a:cs typeface="Arial" pitchFamily="34" charset="-120"/>
              </a:rPr>
              <a:t>(3) </a:t>
            </a:r>
            <a:pPr indent="0" marL="0">
              <a:buNone/>
            </a:pPr>
            <a:r>
              <a:rPr lang="en-US" sz="700" dirty="0">
                <a:solidFill>
                  <a:srgbClr val="999999"/>
                </a:solidFill>
                <a:latin typeface="Arial" pitchFamily="34" charset="0"/>
                <a:ea typeface="Arial" pitchFamily="34" charset="-122"/>
                <a:cs typeface="Arial" pitchFamily="34" charset="-120"/>
              </a:rPr>
              <a:t>companiesmarketcap.com; Alphabet 2026 capex guide, </a:t>
            </a:r>
            <a:pPr indent="0" marL="0">
              <a:buNone/>
            </a:pPr>
            <a:r>
              <a:rPr lang="en-US" sz="700" b="1" dirty="0">
                <a:solidFill>
                  <a:srgbClr val="999999"/>
                </a:solidFill>
                <a:latin typeface="Arial" pitchFamily="34" charset="0"/>
                <a:ea typeface="Arial" pitchFamily="34" charset="-122"/>
                <a:cs typeface="Arial" pitchFamily="34" charset="-120"/>
              </a:rPr>
              <a:t>(4) </a:t>
            </a:r>
            <a:pPr indent="0" marL="0">
              <a:buNone/>
            </a:pPr>
            <a:r>
              <a:rPr lang="en-US" sz="700" dirty="0">
                <a:solidFill>
                  <a:srgbClr val="999999"/>
                </a:solidFill>
                <a:latin typeface="Arial" pitchFamily="34" charset="0"/>
                <a:ea typeface="Arial" pitchFamily="34" charset="-122"/>
                <a:cs typeface="Arial" pitchFamily="34" charset="-120"/>
              </a:rPr>
              <a:t>CNBC / Bloomberg — xAI–SpaceX merger (Feb 2) &amp; SpaceX S-1 (May 20), </a:t>
            </a:r>
            <a:pPr indent="0" marL="0">
              <a:buNone/>
            </a:pPr>
            <a:r>
              <a:rPr lang="en-US" sz="700" b="1" dirty="0">
                <a:solidFill>
                  <a:srgbClr val="999999"/>
                </a:solidFill>
                <a:latin typeface="Arial" pitchFamily="34" charset="0"/>
                <a:ea typeface="Arial" pitchFamily="34" charset="-122"/>
                <a:cs typeface="Arial" pitchFamily="34" charset="-120"/>
              </a:rPr>
              <a:t>(5) </a:t>
            </a:r>
            <a:pPr indent="0" marL="0">
              <a:buNone/>
            </a:pPr>
            <a:r>
              <a:rPr lang="en-US" sz="700" dirty="0">
                <a:solidFill>
                  <a:srgbClr val="999999"/>
                </a:solidFill>
                <a:latin typeface="Arial" pitchFamily="34" charset="0"/>
                <a:ea typeface="Arial" pitchFamily="34" charset="-122"/>
                <a:cs typeface="Arial" pitchFamily="34" charset="-120"/>
              </a:rPr>
              <a:t>Crunchbase Q1 2026 VC data.</a:t>
            </a:r>
            <a:endParaRPr lang="en-US" sz="700" dirty="0"/>
          </a:p>
        </p:txBody>
      </p:sp>
      <p:sp>
        <p:nvSpPr>
          <p:cNvPr id="40" name="Shape 34"/>
          <p:cNvSpPr/>
          <p:nvPr/>
        </p:nvSpPr>
        <p:spPr>
          <a:xfrm>
            <a:off x="0" y="6286500"/>
            <a:ext cx="9144000" cy="571500"/>
          </a:xfrm>
          <a:prstGeom prst="rect">
            <a:avLst/>
          </a:prstGeom>
          <a:solidFill>
            <a:srgbClr val="000000"/>
          </a:solidFill>
          <a:ln w="12700">
            <a:solidFill>
              <a:srgbClr val="000000"/>
            </a:solidFill>
            <a:prstDash val="solid"/>
          </a:ln>
        </p:spPr>
      </p:sp>
      <p:sp>
        <p:nvSpPr>
          <p:cNvPr id="41" name="Text 35"/>
          <p:cNvSpPr/>
          <p:nvPr/>
        </p:nvSpPr>
        <p:spPr>
          <a:xfrm>
            <a:off x="1371600" y="6332220"/>
            <a:ext cx="6400800" cy="457200"/>
          </a:xfrm>
          <a:prstGeom prst="rect">
            <a:avLst/>
          </a:prstGeom>
          <a:noFill/>
          <a:ln/>
        </p:spPr>
        <p:txBody>
          <a:bodyPr wrap="square" lIns="0" tIns="0" rIns="0" bIns="0" rtlCol="0" anchor="ctr"/>
          <a:lstStyle/>
          <a:p>
            <a:pPr algn="ctr" indent="0" marL="0">
              <a:buNone/>
            </a:pPr>
            <a:r>
              <a:rPr lang="en-US" sz="650" b="1" dirty="0">
                <a:solidFill>
                  <a:srgbClr val="FFFFFF"/>
                </a:solidFill>
                <a:latin typeface="Arial" pitchFamily="34" charset="0"/>
                <a:ea typeface="Arial" pitchFamily="34" charset="-122"/>
                <a:cs typeface="Arial" pitchFamily="34" charset="-120"/>
              </a:rPr>
              <a:t>FOR INFORMATIONAL PURPOSES ONLY. NOT INVESTMENT ADVICE. PAST PERFORMANCE IS NOT INDICATIVE OF FUTURE RESULTS.</a:t>
            </a:r>
            <a:endParaRPr lang="en-US" sz="650" dirty="0"/>
          </a:p>
        </p:txBody>
      </p:sp>
      <p:sp>
        <p:nvSpPr>
          <p:cNvPr id="42" name="Text 36"/>
          <p:cNvSpPr/>
          <p:nvPr/>
        </p:nvSpPr>
        <p:spPr>
          <a:xfrm>
            <a:off x="8321040" y="6405372"/>
            <a:ext cx="548640" cy="274320"/>
          </a:xfrm>
          <a:prstGeom prst="rect">
            <a:avLst/>
          </a:prstGeom>
          <a:noFill/>
          <a:ln/>
        </p:spPr>
        <p:txBody>
          <a:bodyPr wrap="square" lIns="0" tIns="0" rIns="0" bIns="0" rtlCol="0" anchor="ctr"/>
          <a:lstStyle/>
          <a:p>
            <a:pPr algn="r" indent="0" marL="0">
              <a:buNone/>
            </a:pPr>
            <a:r>
              <a:rPr lang="en-US" sz="900" dirty="0">
                <a:solidFill>
                  <a:srgbClr val="FFFFFF"/>
                </a:solidFill>
                <a:latin typeface="Arial" pitchFamily="34" charset="0"/>
                <a:ea typeface="Arial" pitchFamily="34" charset="-122"/>
                <a:cs typeface="Arial" pitchFamily="34" charset="-120"/>
              </a:rPr>
              <a:t>10</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Shape 0"/>
          <p:cNvSpPr/>
          <p:nvPr/>
        </p:nvSpPr>
        <p:spPr>
          <a:xfrm>
            <a:off x="7132320" y="164592"/>
            <a:ext cx="1737360" cy="292608"/>
          </a:xfrm>
          <a:prstGeom prst="roundRect">
            <a:avLst>
              <a:gd name="adj" fmla="val 15625"/>
            </a:avLst>
          </a:prstGeom>
          <a:solidFill>
            <a:srgbClr val="FFB800"/>
          </a:solidFill>
          <a:ln w="12700">
            <a:solidFill>
              <a:srgbClr val="FFB800"/>
            </a:solidFill>
            <a:prstDash val="solid"/>
          </a:ln>
        </p:spPr>
      </p:sp>
      <p:sp>
        <p:nvSpPr>
          <p:cNvPr id="3" name="Text 1"/>
          <p:cNvSpPr/>
          <p:nvPr/>
        </p:nvSpPr>
        <p:spPr>
          <a:xfrm>
            <a:off x="7132320" y="164592"/>
            <a:ext cx="1737360" cy="292608"/>
          </a:xfrm>
          <a:prstGeom prst="rect">
            <a:avLst/>
          </a:prstGeom>
          <a:noFill/>
          <a:ln/>
        </p:spPr>
        <p:txBody>
          <a:bodyPr wrap="square" lIns="0" tIns="0" rIns="0" bIns="0" rtlCol="0" anchor="ctr"/>
          <a:lstStyle/>
          <a:p>
            <a:pPr algn="ctr" indent="0" marL="0">
              <a:buNone/>
            </a:pPr>
            <a:r>
              <a:rPr lang="en-US" sz="1000" b="1" spc="100" kern="0" dirty="0">
                <a:solidFill>
                  <a:srgbClr val="000000"/>
                </a:solidFill>
                <a:latin typeface="Arial" pitchFamily="34" charset="0"/>
                <a:ea typeface="Arial" pitchFamily="34" charset="-122"/>
                <a:cs typeface="Arial" pitchFamily="34" charset="-120"/>
              </a:rPr>
              <a:t>MARKET</a:t>
            </a:r>
            <a:endParaRPr lang="en-US" sz="1000" dirty="0"/>
          </a:p>
        </p:txBody>
      </p:sp>
      <p:sp>
        <p:nvSpPr>
          <p:cNvPr id="4" name="Text 2"/>
          <p:cNvSpPr/>
          <p:nvPr/>
        </p:nvSpPr>
        <p:spPr>
          <a:xfrm>
            <a:off x="457200" y="182880"/>
            <a:ext cx="6583680" cy="685800"/>
          </a:xfrm>
          <a:prstGeom prst="rect">
            <a:avLst/>
          </a:prstGeom>
          <a:noFill/>
          <a:ln/>
        </p:spPr>
        <p:txBody>
          <a:bodyPr wrap="square" lIns="0" tIns="0" rIns="0" bIns="0" rtlCol="0" anchor="t"/>
          <a:lstStyle/>
          <a:p>
            <a:pPr indent="0" marL="0">
              <a:buNone/>
            </a:pPr>
            <a:r>
              <a:rPr lang="en-US" sz="2400" b="1" dirty="0">
                <a:solidFill>
                  <a:srgbClr val="000000"/>
                </a:solidFill>
                <a:latin typeface="Arial Black" pitchFamily="34" charset="0"/>
                <a:ea typeface="Arial Black" pitchFamily="34" charset="-122"/>
                <a:cs typeface="Arial Black" pitchFamily="34" charset="-120"/>
              </a:rPr>
              <a:t>Top 10 Tech grow ~3× faster than Non-Tech — at a similar multiple</a:t>
            </a:r>
            <a:endParaRPr lang="en-US" sz="2400" dirty="0"/>
          </a:p>
        </p:txBody>
      </p:sp>
      <p:sp>
        <p:nvSpPr>
          <p:cNvPr id="5" name="Text 3"/>
          <p:cNvSpPr/>
          <p:nvPr/>
        </p:nvSpPr>
        <p:spPr>
          <a:xfrm>
            <a:off x="457200" y="914400"/>
            <a:ext cx="8229600" cy="457200"/>
          </a:xfrm>
          <a:prstGeom prst="rect">
            <a:avLst/>
          </a:prstGeom>
          <a:noFill/>
          <a:ln/>
        </p:spPr>
        <p:txBody>
          <a:bodyPr wrap="square" lIns="0" tIns="0" rIns="0" bIns="0" rtlCol="0" anchor="t"/>
          <a:lstStyle/>
          <a:p>
            <a:pPr indent="0" marL="0">
              <a:buNone/>
            </a:pPr>
            <a:r>
              <a:rPr lang="en-US" sz="1350" dirty="0">
                <a:solidFill>
                  <a:srgbClr val="666666"/>
                </a:solidFill>
                <a:latin typeface="Arial" pitchFamily="34" charset="0"/>
                <a:ea typeface="Arial" pitchFamily="34" charset="-122"/>
                <a:cs typeface="Arial" pitchFamily="34" charset="-120"/>
              </a:rPr>
              <a:t>Top 10 Tech firms are growing ~3× faster than the top 10 Non-Tech — at a similar multiple. The divergence in fundamentals has not been priced into valuations.</a:t>
            </a:r>
            <a:endParaRPr lang="en-US" sz="1350" dirty="0"/>
          </a:p>
        </p:txBody>
      </p:sp>
      <p:sp>
        <p:nvSpPr>
          <p:cNvPr id="6" name="Shape 4"/>
          <p:cNvSpPr/>
          <p:nvPr/>
        </p:nvSpPr>
        <p:spPr>
          <a:xfrm>
            <a:off x="457200" y="1325880"/>
            <a:ext cx="8229600" cy="0"/>
          </a:xfrm>
          <a:prstGeom prst="line">
            <a:avLst/>
          </a:prstGeom>
          <a:noFill/>
          <a:ln w="9525">
            <a:solidFill>
              <a:srgbClr val="E5E5E5"/>
            </a:solidFill>
            <a:prstDash val="solid"/>
          </a:ln>
        </p:spPr>
      </p:sp>
      <p:sp>
        <p:nvSpPr>
          <p:cNvPr id="7" name="Text 5"/>
          <p:cNvSpPr/>
          <p:nvPr/>
        </p:nvSpPr>
        <p:spPr>
          <a:xfrm>
            <a:off x="457200" y="1554480"/>
            <a:ext cx="3931920" cy="274320"/>
          </a:xfrm>
          <a:prstGeom prst="rect">
            <a:avLst/>
          </a:prstGeom>
          <a:noFill/>
          <a:ln/>
        </p:spPr>
        <p:txBody>
          <a:bodyPr wrap="square" lIns="0" tIns="0" rIns="0" bIns="0" rtlCol="0" anchor="b"/>
          <a:lstStyle/>
          <a:p>
            <a:pPr indent="0" marL="0">
              <a:buNone/>
            </a:pPr>
            <a:r>
              <a:rPr lang="en-US" sz="1400" b="1" dirty="0">
                <a:solidFill>
                  <a:srgbClr val="000000"/>
                </a:solidFill>
                <a:latin typeface="Arial" pitchFamily="34" charset="0"/>
                <a:ea typeface="Arial" pitchFamily="34" charset="-122"/>
                <a:cs typeface="Arial" pitchFamily="34" charset="-120"/>
              </a:rPr>
              <a:t>Top 10 Tech vs Top 10 Non-Tech — 2026E</a:t>
            </a:r>
            <a:endParaRPr lang="en-US" sz="1400" dirty="0"/>
          </a:p>
        </p:txBody>
      </p:sp>
      <p:sp>
        <p:nvSpPr>
          <p:cNvPr id="8" name="Shape 6"/>
          <p:cNvSpPr/>
          <p:nvPr/>
        </p:nvSpPr>
        <p:spPr>
          <a:xfrm>
            <a:off x="457200" y="1828800"/>
            <a:ext cx="3931920" cy="0"/>
          </a:xfrm>
          <a:prstGeom prst="line">
            <a:avLst/>
          </a:prstGeom>
          <a:noFill/>
          <a:ln w="19050">
            <a:solidFill>
              <a:srgbClr val="000000"/>
            </a:solidFill>
            <a:prstDash val="solid"/>
          </a:ln>
        </p:spPr>
      </p:sp>
      <p:sp>
        <p:nvSpPr>
          <p:cNvPr id="9" name="Shape 7"/>
          <p:cNvSpPr/>
          <p:nvPr/>
        </p:nvSpPr>
        <p:spPr>
          <a:xfrm>
            <a:off x="457200" y="2011680"/>
            <a:ext cx="3931920" cy="2926080"/>
          </a:xfrm>
          <a:prstGeom prst="rect">
            <a:avLst/>
          </a:prstGeom>
          <a:solidFill>
            <a:srgbClr val="FFFFFF"/>
          </a:solidFill>
          <a:ln w="6350">
            <a:solidFill>
              <a:srgbClr val="E5E5E5"/>
            </a:solidFill>
            <a:prstDash val="solid"/>
          </a:ln>
        </p:spPr>
      </p:sp>
      <p:sp>
        <p:nvSpPr>
          <p:cNvPr id="10" name="Shape 8"/>
          <p:cNvSpPr/>
          <p:nvPr/>
        </p:nvSpPr>
        <p:spPr>
          <a:xfrm>
            <a:off x="603504" y="3584448"/>
            <a:ext cx="512064" cy="621792"/>
          </a:xfrm>
          <a:prstGeom prst="rect">
            <a:avLst/>
          </a:prstGeom>
          <a:solidFill>
            <a:srgbClr val="F6693D"/>
          </a:solidFill>
          <a:ln w="12700">
            <a:solidFill>
              <a:srgbClr val="F6693D"/>
            </a:solidFill>
            <a:prstDash val="solid"/>
          </a:ln>
        </p:spPr>
      </p:sp>
      <p:sp>
        <p:nvSpPr>
          <p:cNvPr id="11" name="Text 9"/>
          <p:cNvSpPr/>
          <p:nvPr/>
        </p:nvSpPr>
        <p:spPr>
          <a:xfrm>
            <a:off x="603504" y="3310128"/>
            <a:ext cx="512064" cy="228600"/>
          </a:xfrm>
          <a:prstGeom prst="rect">
            <a:avLst/>
          </a:prstGeom>
          <a:noFill/>
          <a:ln/>
        </p:spPr>
        <p:txBody>
          <a:bodyPr wrap="square" lIns="0" tIns="0" rIns="0" bIns="0" rtlCol="0" anchor="ctr"/>
          <a:lstStyle/>
          <a:p>
            <a:pPr algn="ctr" indent="0" marL="0">
              <a:buNone/>
            </a:pPr>
            <a:r>
              <a:rPr lang="en-US" sz="1050" b="1" dirty="0">
                <a:solidFill>
                  <a:srgbClr val="F6693D"/>
                </a:solidFill>
                <a:latin typeface="Arial Black" pitchFamily="34" charset="0"/>
                <a:ea typeface="Arial Black" pitchFamily="34" charset="-122"/>
                <a:cs typeface="Arial Black" pitchFamily="34" charset="-120"/>
              </a:rPr>
              <a:t>17%</a:t>
            </a:r>
            <a:endParaRPr lang="en-US" sz="1050" dirty="0"/>
          </a:p>
        </p:txBody>
      </p:sp>
      <p:sp>
        <p:nvSpPr>
          <p:cNvPr id="12" name="Shape 10"/>
          <p:cNvSpPr/>
          <p:nvPr/>
        </p:nvSpPr>
        <p:spPr>
          <a:xfrm>
            <a:off x="1170432" y="4023360"/>
            <a:ext cx="512064" cy="182880"/>
          </a:xfrm>
          <a:prstGeom prst="rect">
            <a:avLst/>
          </a:prstGeom>
          <a:solidFill>
            <a:srgbClr val="666666"/>
          </a:solidFill>
          <a:ln w="12700">
            <a:solidFill>
              <a:srgbClr val="666666"/>
            </a:solidFill>
            <a:prstDash val="solid"/>
          </a:ln>
        </p:spPr>
      </p:sp>
      <p:sp>
        <p:nvSpPr>
          <p:cNvPr id="13" name="Text 11"/>
          <p:cNvSpPr/>
          <p:nvPr/>
        </p:nvSpPr>
        <p:spPr>
          <a:xfrm>
            <a:off x="1170432" y="3749040"/>
            <a:ext cx="512064" cy="228600"/>
          </a:xfrm>
          <a:prstGeom prst="rect">
            <a:avLst/>
          </a:prstGeom>
          <a:noFill/>
          <a:ln/>
        </p:spPr>
        <p:txBody>
          <a:bodyPr wrap="square" lIns="0" tIns="0" rIns="0" bIns="0" rtlCol="0" anchor="ctr"/>
          <a:lstStyle/>
          <a:p>
            <a:pPr algn="ctr" indent="0" marL="0">
              <a:buNone/>
            </a:pPr>
            <a:r>
              <a:rPr lang="en-US" sz="1050" b="1" dirty="0">
                <a:solidFill>
                  <a:srgbClr val="666666"/>
                </a:solidFill>
                <a:latin typeface="Arial Black" pitchFamily="34" charset="0"/>
                <a:ea typeface="Arial Black" pitchFamily="34" charset="-122"/>
                <a:cs typeface="Arial Black" pitchFamily="34" charset="-120"/>
              </a:rPr>
              <a:t>5%</a:t>
            </a:r>
            <a:endParaRPr lang="en-US" sz="1050" dirty="0"/>
          </a:p>
        </p:txBody>
      </p:sp>
      <p:sp>
        <p:nvSpPr>
          <p:cNvPr id="14" name="Shape 12"/>
          <p:cNvSpPr/>
          <p:nvPr/>
        </p:nvSpPr>
        <p:spPr>
          <a:xfrm>
            <a:off x="585216" y="4206240"/>
            <a:ext cx="1115568" cy="0"/>
          </a:xfrm>
          <a:prstGeom prst="line">
            <a:avLst/>
          </a:prstGeom>
          <a:noFill/>
          <a:ln w="9525">
            <a:solidFill>
              <a:srgbClr val="333333"/>
            </a:solidFill>
            <a:prstDash val="solid"/>
          </a:ln>
        </p:spPr>
      </p:sp>
      <p:sp>
        <p:nvSpPr>
          <p:cNvPr id="15" name="Text 13"/>
          <p:cNvSpPr/>
          <p:nvPr/>
        </p:nvSpPr>
        <p:spPr>
          <a:xfrm>
            <a:off x="548640" y="4315968"/>
            <a:ext cx="1188720" cy="256032"/>
          </a:xfrm>
          <a:prstGeom prst="rect">
            <a:avLst/>
          </a:prstGeom>
          <a:noFill/>
          <a:ln/>
        </p:spPr>
        <p:txBody>
          <a:bodyPr wrap="square" lIns="0" tIns="0" rIns="0" bIns="0" rtlCol="0" anchor="ctr"/>
          <a:lstStyle/>
          <a:p>
            <a:pPr algn="ctr" indent="0" marL="0">
              <a:buNone/>
            </a:pPr>
            <a:r>
              <a:rPr lang="en-US" sz="1000" b="1" dirty="0">
                <a:solidFill>
                  <a:srgbClr val="000000"/>
                </a:solidFill>
                <a:latin typeface="Arial" pitchFamily="34" charset="0"/>
                <a:ea typeface="Arial" pitchFamily="34" charset="-122"/>
                <a:cs typeface="Arial" pitchFamily="34" charset="-120"/>
              </a:rPr>
              <a:t>Revenue Growth</a:t>
            </a:r>
            <a:endParaRPr lang="en-US" sz="1000" dirty="0"/>
          </a:p>
        </p:txBody>
      </p:sp>
      <p:sp>
        <p:nvSpPr>
          <p:cNvPr id="16" name="Shape 14"/>
          <p:cNvSpPr/>
          <p:nvPr/>
        </p:nvSpPr>
        <p:spPr>
          <a:xfrm>
            <a:off x="1883664" y="2706624"/>
            <a:ext cx="512064" cy="1499616"/>
          </a:xfrm>
          <a:prstGeom prst="rect">
            <a:avLst/>
          </a:prstGeom>
          <a:solidFill>
            <a:srgbClr val="F6693D"/>
          </a:solidFill>
          <a:ln w="12700">
            <a:solidFill>
              <a:srgbClr val="F6693D"/>
            </a:solidFill>
            <a:prstDash val="solid"/>
          </a:ln>
        </p:spPr>
      </p:sp>
      <p:sp>
        <p:nvSpPr>
          <p:cNvPr id="17" name="Text 15"/>
          <p:cNvSpPr/>
          <p:nvPr/>
        </p:nvSpPr>
        <p:spPr>
          <a:xfrm>
            <a:off x="1883664" y="2432304"/>
            <a:ext cx="512064" cy="228600"/>
          </a:xfrm>
          <a:prstGeom prst="rect">
            <a:avLst/>
          </a:prstGeom>
          <a:noFill/>
          <a:ln/>
        </p:spPr>
        <p:txBody>
          <a:bodyPr wrap="square" lIns="0" tIns="0" rIns="0" bIns="0" rtlCol="0" anchor="ctr"/>
          <a:lstStyle/>
          <a:p>
            <a:pPr algn="ctr" indent="0" marL="0">
              <a:buNone/>
            </a:pPr>
            <a:r>
              <a:rPr lang="en-US" sz="1050" b="1" dirty="0">
                <a:solidFill>
                  <a:srgbClr val="F6693D"/>
                </a:solidFill>
                <a:latin typeface="Arial Black" pitchFamily="34" charset="0"/>
                <a:ea typeface="Arial Black" pitchFamily="34" charset="-122"/>
                <a:cs typeface="Arial Black" pitchFamily="34" charset="-120"/>
              </a:rPr>
              <a:t>41%</a:t>
            </a:r>
            <a:endParaRPr lang="en-US" sz="1050" dirty="0"/>
          </a:p>
        </p:txBody>
      </p:sp>
      <p:sp>
        <p:nvSpPr>
          <p:cNvPr id="18" name="Shape 16"/>
          <p:cNvSpPr/>
          <p:nvPr/>
        </p:nvSpPr>
        <p:spPr>
          <a:xfrm>
            <a:off x="2450592" y="3474720"/>
            <a:ext cx="512064" cy="731520"/>
          </a:xfrm>
          <a:prstGeom prst="rect">
            <a:avLst/>
          </a:prstGeom>
          <a:solidFill>
            <a:srgbClr val="666666"/>
          </a:solidFill>
          <a:ln w="12700">
            <a:solidFill>
              <a:srgbClr val="666666"/>
            </a:solidFill>
            <a:prstDash val="solid"/>
          </a:ln>
        </p:spPr>
      </p:sp>
      <p:sp>
        <p:nvSpPr>
          <p:cNvPr id="19" name="Text 17"/>
          <p:cNvSpPr/>
          <p:nvPr/>
        </p:nvSpPr>
        <p:spPr>
          <a:xfrm>
            <a:off x="2450592" y="3200400"/>
            <a:ext cx="512064" cy="228600"/>
          </a:xfrm>
          <a:prstGeom prst="rect">
            <a:avLst/>
          </a:prstGeom>
          <a:noFill/>
          <a:ln/>
        </p:spPr>
        <p:txBody>
          <a:bodyPr wrap="square" lIns="0" tIns="0" rIns="0" bIns="0" rtlCol="0" anchor="ctr"/>
          <a:lstStyle/>
          <a:p>
            <a:pPr algn="ctr" indent="0" marL="0">
              <a:buNone/>
            </a:pPr>
            <a:r>
              <a:rPr lang="en-US" sz="1050" b="1" dirty="0">
                <a:solidFill>
                  <a:srgbClr val="666666"/>
                </a:solidFill>
                <a:latin typeface="Arial Black" pitchFamily="34" charset="0"/>
                <a:ea typeface="Arial Black" pitchFamily="34" charset="-122"/>
                <a:cs typeface="Arial Black" pitchFamily="34" charset="-120"/>
              </a:rPr>
              <a:t>20%</a:t>
            </a:r>
            <a:endParaRPr lang="en-US" sz="1050" dirty="0"/>
          </a:p>
        </p:txBody>
      </p:sp>
      <p:sp>
        <p:nvSpPr>
          <p:cNvPr id="20" name="Shape 18"/>
          <p:cNvSpPr/>
          <p:nvPr/>
        </p:nvSpPr>
        <p:spPr>
          <a:xfrm>
            <a:off x="1865376" y="4206240"/>
            <a:ext cx="1115568" cy="0"/>
          </a:xfrm>
          <a:prstGeom prst="line">
            <a:avLst/>
          </a:prstGeom>
          <a:noFill/>
          <a:ln w="9525">
            <a:solidFill>
              <a:srgbClr val="333333"/>
            </a:solidFill>
            <a:prstDash val="solid"/>
          </a:ln>
        </p:spPr>
      </p:sp>
      <p:sp>
        <p:nvSpPr>
          <p:cNvPr id="21" name="Text 19"/>
          <p:cNvSpPr/>
          <p:nvPr/>
        </p:nvSpPr>
        <p:spPr>
          <a:xfrm>
            <a:off x="1828800" y="4315968"/>
            <a:ext cx="1188720" cy="256032"/>
          </a:xfrm>
          <a:prstGeom prst="rect">
            <a:avLst/>
          </a:prstGeom>
          <a:noFill/>
          <a:ln/>
        </p:spPr>
        <p:txBody>
          <a:bodyPr wrap="square" lIns="0" tIns="0" rIns="0" bIns="0" rtlCol="0" anchor="ctr"/>
          <a:lstStyle/>
          <a:p>
            <a:pPr algn="ctr" indent="0" marL="0">
              <a:buNone/>
            </a:pPr>
            <a:r>
              <a:rPr lang="en-US" sz="1000" b="1" dirty="0">
                <a:solidFill>
                  <a:srgbClr val="000000"/>
                </a:solidFill>
                <a:latin typeface="Arial" pitchFamily="34" charset="0"/>
                <a:ea typeface="Arial" pitchFamily="34" charset="-122"/>
                <a:cs typeface="Arial" pitchFamily="34" charset="-120"/>
              </a:rPr>
              <a:t>Op Margin</a:t>
            </a:r>
            <a:endParaRPr lang="en-US" sz="1000" dirty="0"/>
          </a:p>
        </p:txBody>
      </p:sp>
      <p:sp>
        <p:nvSpPr>
          <p:cNvPr id="22" name="Shape 20"/>
          <p:cNvSpPr/>
          <p:nvPr/>
        </p:nvSpPr>
        <p:spPr>
          <a:xfrm>
            <a:off x="3163824" y="2847703"/>
            <a:ext cx="512064" cy="1358537"/>
          </a:xfrm>
          <a:prstGeom prst="rect">
            <a:avLst/>
          </a:prstGeom>
          <a:solidFill>
            <a:srgbClr val="F6693D"/>
          </a:solidFill>
          <a:ln w="12700">
            <a:solidFill>
              <a:srgbClr val="F6693D"/>
            </a:solidFill>
            <a:prstDash val="solid"/>
          </a:ln>
        </p:spPr>
      </p:sp>
      <p:sp>
        <p:nvSpPr>
          <p:cNvPr id="23" name="Text 21"/>
          <p:cNvSpPr/>
          <p:nvPr/>
        </p:nvSpPr>
        <p:spPr>
          <a:xfrm>
            <a:off x="3163824" y="2573383"/>
            <a:ext cx="512064" cy="228600"/>
          </a:xfrm>
          <a:prstGeom prst="rect">
            <a:avLst/>
          </a:prstGeom>
          <a:noFill/>
          <a:ln/>
        </p:spPr>
        <p:txBody>
          <a:bodyPr wrap="square" lIns="0" tIns="0" rIns="0" bIns="0" rtlCol="0" anchor="ctr"/>
          <a:lstStyle/>
          <a:p>
            <a:pPr algn="ctr" indent="0" marL="0">
              <a:buNone/>
            </a:pPr>
            <a:r>
              <a:rPr lang="en-US" sz="1050" b="1" dirty="0">
                <a:solidFill>
                  <a:srgbClr val="F6693D"/>
                </a:solidFill>
                <a:latin typeface="Arial Black" pitchFamily="34" charset="0"/>
                <a:ea typeface="Arial Black" pitchFamily="34" charset="-122"/>
                <a:cs typeface="Arial Black" pitchFamily="34" charset="-120"/>
              </a:rPr>
              <a:t>26x</a:t>
            </a:r>
            <a:endParaRPr lang="en-US" sz="1050" dirty="0"/>
          </a:p>
        </p:txBody>
      </p:sp>
      <p:sp>
        <p:nvSpPr>
          <p:cNvPr id="24" name="Shape 22"/>
          <p:cNvSpPr/>
          <p:nvPr/>
        </p:nvSpPr>
        <p:spPr>
          <a:xfrm>
            <a:off x="3730752" y="3004457"/>
            <a:ext cx="512064" cy="1201783"/>
          </a:xfrm>
          <a:prstGeom prst="rect">
            <a:avLst/>
          </a:prstGeom>
          <a:solidFill>
            <a:srgbClr val="666666"/>
          </a:solidFill>
          <a:ln w="12700">
            <a:solidFill>
              <a:srgbClr val="666666"/>
            </a:solidFill>
            <a:prstDash val="solid"/>
          </a:ln>
        </p:spPr>
      </p:sp>
      <p:sp>
        <p:nvSpPr>
          <p:cNvPr id="25" name="Text 23"/>
          <p:cNvSpPr/>
          <p:nvPr/>
        </p:nvSpPr>
        <p:spPr>
          <a:xfrm>
            <a:off x="3730752" y="2730137"/>
            <a:ext cx="512064" cy="228600"/>
          </a:xfrm>
          <a:prstGeom prst="rect">
            <a:avLst/>
          </a:prstGeom>
          <a:noFill/>
          <a:ln/>
        </p:spPr>
        <p:txBody>
          <a:bodyPr wrap="square" lIns="0" tIns="0" rIns="0" bIns="0" rtlCol="0" anchor="ctr"/>
          <a:lstStyle/>
          <a:p>
            <a:pPr algn="ctr" indent="0" marL="0">
              <a:buNone/>
            </a:pPr>
            <a:r>
              <a:rPr lang="en-US" sz="1050" b="1" dirty="0">
                <a:solidFill>
                  <a:srgbClr val="666666"/>
                </a:solidFill>
                <a:latin typeface="Arial Black" pitchFamily="34" charset="0"/>
                <a:ea typeface="Arial Black" pitchFamily="34" charset="-122"/>
                <a:cs typeface="Arial Black" pitchFamily="34" charset="-120"/>
              </a:rPr>
              <a:t>23x</a:t>
            </a:r>
            <a:endParaRPr lang="en-US" sz="1050" dirty="0"/>
          </a:p>
        </p:txBody>
      </p:sp>
      <p:sp>
        <p:nvSpPr>
          <p:cNvPr id="26" name="Shape 24"/>
          <p:cNvSpPr/>
          <p:nvPr/>
        </p:nvSpPr>
        <p:spPr>
          <a:xfrm>
            <a:off x="3145536" y="4206240"/>
            <a:ext cx="1115568" cy="0"/>
          </a:xfrm>
          <a:prstGeom prst="line">
            <a:avLst/>
          </a:prstGeom>
          <a:noFill/>
          <a:ln w="9525">
            <a:solidFill>
              <a:srgbClr val="333333"/>
            </a:solidFill>
            <a:prstDash val="solid"/>
          </a:ln>
        </p:spPr>
      </p:sp>
      <p:sp>
        <p:nvSpPr>
          <p:cNvPr id="27" name="Text 25"/>
          <p:cNvSpPr/>
          <p:nvPr/>
        </p:nvSpPr>
        <p:spPr>
          <a:xfrm>
            <a:off x="3108960" y="4315968"/>
            <a:ext cx="1188720" cy="256032"/>
          </a:xfrm>
          <a:prstGeom prst="rect">
            <a:avLst/>
          </a:prstGeom>
          <a:noFill/>
          <a:ln/>
        </p:spPr>
        <p:txBody>
          <a:bodyPr wrap="square" lIns="0" tIns="0" rIns="0" bIns="0" rtlCol="0" anchor="ctr"/>
          <a:lstStyle/>
          <a:p>
            <a:pPr algn="ctr" indent="0" marL="0">
              <a:buNone/>
            </a:pPr>
            <a:r>
              <a:rPr lang="en-US" sz="1000" b="1" dirty="0">
                <a:solidFill>
                  <a:srgbClr val="000000"/>
                </a:solidFill>
                <a:latin typeface="Arial" pitchFamily="34" charset="0"/>
                <a:ea typeface="Arial" pitchFamily="34" charset="-122"/>
                <a:cs typeface="Arial" pitchFamily="34" charset="-120"/>
              </a:rPr>
              <a:t>P/E</a:t>
            </a:r>
            <a:endParaRPr lang="en-US" sz="1000" dirty="0"/>
          </a:p>
        </p:txBody>
      </p:sp>
      <p:sp>
        <p:nvSpPr>
          <p:cNvPr id="28" name="Shape 26"/>
          <p:cNvSpPr/>
          <p:nvPr/>
        </p:nvSpPr>
        <p:spPr>
          <a:xfrm>
            <a:off x="914400" y="5074920"/>
            <a:ext cx="164592" cy="109728"/>
          </a:xfrm>
          <a:prstGeom prst="rect">
            <a:avLst/>
          </a:prstGeom>
          <a:solidFill>
            <a:srgbClr val="F6693D"/>
          </a:solidFill>
          <a:ln w="12700">
            <a:solidFill>
              <a:srgbClr val="F6693D"/>
            </a:solidFill>
            <a:prstDash val="solid"/>
          </a:ln>
        </p:spPr>
      </p:sp>
      <p:sp>
        <p:nvSpPr>
          <p:cNvPr id="29" name="Text 27"/>
          <p:cNvSpPr/>
          <p:nvPr/>
        </p:nvSpPr>
        <p:spPr>
          <a:xfrm>
            <a:off x="1115568" y="5038344"/>
            <a:ext cx="1280160" cy="182880"/>
          </a:xfrm>
          <a:prstGeom prst="rect">
            <a:avLst/>
          </a:prstGeom>
          <a:noFill/>
          <a:ln/>
        </p:spPr>
        <p:txBody>
          <a:bodyPr wrap="square" lIns="0" tIns="0" rIns="0" bIns="0" rtlCol="0" anchor="ctr"/>
          <a:lstStyle/>
          <a:p>
            <a:pPr indent="0" marL="0">
              <a:buNone/>
            </a:pPr>
            <a:r>
              <a:rPr lang="en-US" sz="900" b="1" dirty="0">
                <a:solidFill>
                  <a:srgbClr val="000000"/>
                </a:solidFill>
                <a:latin typeface="Arial" pitchFamily="34" charset="0"/>
                <a:ea typeface="Arial" pitchFamily="34" charset="-122"/>
                <a:cs typeface="Arial" pitchFamily="34" charset="-120"/>
              </a:rPr>
              <a:t>Top 10 Tech</a:t>
            </a:r>
            <a:endParaRPr lang="en-US" sz="900" dirty="0"/>
          </a:p>
        </p:txBody>
      </p:sp>
      <p:sp>
        <p:nvSpPr>
          <p:cNvPr id="30" name="Shape 28"/>
          <p:cNvSpPr/>
          <p:nvPr/>
        </p:nvSpPr>
        <p:spPr>
          <a:xfrm>
            <a:off x="2468880" y="5074920"/>
            <a:ext cx="164592" cy="109728"/>
          </a:xfrm>
          <a:prstGeom prst="rect">
            <a:avLst/>
          </a:prstGeom>
          <a:solidFill>
            <a:srgbClr val="666666"/>
          </a:solidFill>
          <a:ln w="12700">
            <a:solidFill>
              <a:srgbClr val="666666"/>
            </a:solidFill>
            <a:prstDash val="solid"/>
          </a:ln>
        </p:spPr>
      </p:sp>
      <p:sp>
        <p:nvSpPr>
          <p:cNvPr id="31" name="Text 29"/>
          <p:cNvSpPr/>
          <p:nvPr/>
        </p:nvSpPr>
        <p:spPr>
          <a:xfrm>
            <a:off x="2670048" y="5038344"/>
            <a:ext cx="1554480" cy="182880"/>
          </a:xfrm>
          <a:prstGeom prst="rect">
            <a:avLst/>
          </a:prstGeom>
          <a:noFill/>
          <a:ln/>
        </p:spPr>
        <p:txBody>
          <a:bodyPr wrap="square" lIns="0" tIns="0" rIns="0" bIns="0" rtlCol="0" anchor="ctr"/>
          <a:lstStyle/>
          <a:p>
            <a:pPr indent="0" marL="0">
              <a:buNone/>
            </a:pPr>
            <a:r>
              <a:rPr lang="en-US" sz="900" b="1" dirty="0">
                <a:solidFill>
                  <a:srgbClr val="333333"/>
                </a:solidFill>
                <a:latin typeface="Arial" pitchFamily="34" charset="0"/>
                <a:ea typeface="Arial" pitchFamily="34" charset="-122"/>
                <a:cs typeface="Arial" pitchFamily="34" charset="-120"/>
              </a:rPr>
              <a:t>Top 10 Non-Tech</a:t>
            </a:r>
            <a:endParaRPr lang="en-US" sz="900" dirty="0"/>
          </a:p>
        </p:txBody>
      </p:sp>
      <p:sp>
        <p:nvSpPr>
          <p:cNvPr id="32" name="Text 30"/>
          <p:cNvSpPr/>
          <p:nvPr/>
        </p:nvSpPr>
        <p:spPr>
          <a:xfrm>
            <a:off x="4754880" y="1554480"/>
            <a:ext cx="3931920" cy="274320"/>
          </a:xfrm>
          <a:prstGeom prst="rect">
            <a:avLst/>
          </a:prstGeom>
          <a:noFill/>
          <a:ln/>
        </p:spPr>
        <p:txBody>
          <a:bodyPr wrap="square" lIns="0" tIns="0" rIns="0" bIns="0" rtlCol="0" anchor="b"/>
          <a:lstStyle/>
          <a:p>
            <a:pPr indent="0" marL="0">
              <a:buNone/>
            </a:pPr>
            <a:r>
              <a:rPr lang="en-US" sz="1400" b="1" dirty="0">
                <a:solidFill>
                  <a:srgbClr val="000000"/>
                </a:solidFill>
                <a:latin typeface="Arial" pitchFamily="34" charset="0"/>
                <a:ea typeface="Arial" pitchFamily="34" charset="-122"/>
                <a:cs typeface="Arial" pitchFamily="34" charset="-120"/>
              </a:rPr>
              <a:t>Top US — P/E vs revenue growth</a:t>
            </a:r>
            <a:endParaRPr lang="en-US" sz="1400" dirty="0"/>
          </a:p>
        </p:txBody>
      </p:sp>
      <p:sp>
        <p:nvSpPr>
          <p:cNvPr id="33" name="Shape 31"/>
          <p:cNvSpPr/>
          <p:nvPr/>
        </p:nvSpPr>
        <p:spPr>
          <a:xfrm>
            <a:off x="4754880" y="1828800"/>
            <a:ext cx="3931920" cy="0"/>
          </a:xfrm>
          <a:prstGeom prst="line">
            <a:avLst/>
          </a:prstGeom>
          <a:noFill/>
          <a:ln w="19050">
            <a:solidFill>
              <a:srgbClr val="000000"/>
            </a:solidFill>
            <a:prstDash val="solid"/>
          </a:ln>
        </p:spPr>
      </p:sp>
      <p:sp>
        <p:nvSpPr>
          <p:cNvPr id="34" name="Shape 32"/>
          <p:cNvSpPr/>
          <p:nvPr/>
        </p:nvSpPr>
        <p:spPr>
          <a:xfrm>
            <a:off x="4754880" y="2011680"/>
            <a:ext cx="3931920" cy="2926080"/>
          </a:xfrm>
          <a:prstGeom prst="rect">
            <a:avLst/>
          </a:prstGeom>
          <a:solidFill>
            <a:srgbClr val="FFFFFF"/>
          </a:solidFill>
          <a:ln w="6350">
            <a:solidFill>
              <a:srgbClr val="E5E5E5"/>
            </a:solidFill>
            <a:prstDash val="solid"/>
          </a:ln>
        </p:spPr>
      </p:sp>
      <p:sp>
        <p:nvSpPr>
          <p:cNvPr id="35" name="Shape 33"/>
          <p:cNvSpPr/>
          <p:nvPr/>
        </p:nvSpPr>
        <p:spPr>
          <a:xfrm>
            <a:off x="5074920" y="4151376"/>
            <a:ext cx="3520440" cy="0"/>
          </a:xfrm>
          <a:prstGeom prst="line">
            <a:avLst/>
          </a:prstGeom>
          <a:noFill/>
          <a:ln w="6350">
            <a:solidFill>
              <a:srgbClr val="EEEEEE"/>
            </a:solidFill>
            <a:prstDash val="solid"/>
          </a:ln>
        </p:spPr>
      </p:sp>
      <p:sp>
        <p:nvSpPr>
          <p:cNvPr id="36" name="Shape 34"/>
          <p:cNvSpPr/>
          <p:nvPr/>
        </p:nvSpPr>
        <p:spPr>
          <a:xfrm>
            <a:off x="5074920" y="3639312"/>
            <a:ext cx="3520440" cy="0"/>
          </a:xfrm>
          <a:prstGeom prst="line">
            <a:avLst/>
          </a:prstGeom>
          <a:noFill/>
          <a:ln w="6350">
            <a:solidFill>
              <a:srgbClr val="EEEEEE"/>
            </a:solidFill>
            <a:prstDash val="solid"/>
          </a:ln>
        </p:spPr>
      </p:sp>
      <p:sp>
        <p:nvSpPr>
          <p:cNvPr id="37" name="Shape 35"/>
          <p:cNvSpPr/>
          <p:nvPr/>
        </p:nvSpPr>
        <p:spPr>
          <a:xfrm>
            <a:off x="5074920" y="3127248"/>
            <a:ext cx="3520440" cy="0"/>
          </a:xfrm>
          <a:prstGeom prst="line">
            <a:avLst/>
          </a:prstGeom>
          <a:noFill/>
          <a:ln w="6350">
            <a:solidFill>
              <a:srgbClr val="EEEEEE"/>
            </a:solidFill>
            <a:prstDash val="solid"/>
          </a:ln>
        </p:spPr>
      </p:sp>
      <p:sp>
        <p:nvSpPr>
          <p:cNvPr id="38" name="Shape 36"/>
          <p:cNvSpPr/>
          <p:nvPr/>
        </p:nvSpPr>
        <p:spPr>
          <a:xfrm>
            <a:off x="5074920" y="2615184"/>
            <a:ext cx="3520440" cy="0"/>
          </a:xfrm>
          <a:prstGeom prst="line">
            <a:avLst/>
          </a:prstGeom>
          <a:noFill/>
          <a:ln w="6350">
            <a:solidFill>
              <a:srgbClr val="EEEEEE"/>
            </a:solidFill>
            <a:prstDash val="solid"/>
          </a:ln>
        </p:spPr>
      </p:sp>
      <p:sp>
        <p:nvSpPr>
          <p:cNvPr id="39" name="Shape 37"/>
          <p:cNvSpPr/>
          <p:nvPr/>
        </p:nvSpPr>
        <p:spPr>
          <a:xfrm>
            <a:off x="5074920" y="4663440"/>
            <a:ext cx="3520440" cy="0"/>
          </a:xfrm>
          <a:prstGeom prst="line">
            <a:avLst/>
          </a:prstGeom>
          <a:noFill/>
          <a:ln w="9525">
            <a:solidFill>
              <a:srgbClr val="666666"/>
            </a:solidFill>
            <a:prstDash val="solid"/>
          </a:ln>
        </p:spPr>
      </p:sp>
      <p:sp>
        <p:nvSpPr>
          <p:cNvPr id="40" name="Shape 38"/>
          <p:cNvSpPr/>
          <p:nvPr/>
        </p:nvSpPr>
        <p:spPr>
          <a:xfrm>
            <a:off x="5074920" y="2103120"/>
            <a:ext cx="0" cy="2560320"/>
          </a:xfrm>
          <a:prstGeom prst="line">
            <a:avLst/>
          </a:prstGeom>
          <a:noFill/>
          <a:ln w="9525">
            <a:solidFill>
              <a:srgbClr val="666666"/>
            </a:solidFill>
            <a:prstDash val="solid"/>
          </a:ln>
        </p:spPr>
      </p:sp>
      <p:sp>
        <p:nvSpPr>
          <p:cNvPr id="41" name="Text 39"/>
          <p:cNvSpPr/>
          <p:nvPr/>
        </p:nvSpPr>
        <p:spPr>
          <a:xfrm>
            <a:off x="4873752" y="4690872"/>
            <a:ext cx="402336" cy="146304"/>
          </a:xfrm>
          <a:prstGeom prst="rect">
            <a:avLst/>
          </a:prstGeom>
          <a:noFill/>
          <a:ln/>
        </p:spPr>
        <p:txBody>
          <a:bodyPr wrap="square" lIns="0" tIns="0" rIns="0" bIns="0" rtlCol="0" anchor="ctr"/>
          <a:lstStyle/>
          <a:p>
            <a:pPr algn="ctr" indent="0" marL="0">
              <a:buNone/>
            </a:pPr>
            <a:r>
              <a:rPr lang="en-US" sz="700" dirty="0">
                <a:solidFill>
                  <a:srgbClr val="999999"/>
                </a:solidFill>
                <a:latin typeface="Arial" pitchFamily="34" charset="0"/>
                <a:ea typeface="Arial" pitchFamily="34" charset="-122"/>
                <a:cs typeface="Arial" pitchFamily="34" charset="-120"/>
              </a:rPr>
              <a:t>-5%</a:t>
            </a:r>
            <a:endParaRPr lang="en-US" sz="700" dirty="0"/>
          </a:p>
        </p:txBody>
      </p:sp>
      <p:sp>
        <p:nvSpPr>
          <p:cNvPr id="42" name="Text 40"/>
          <p:cNvSpPr/>
          <p:nvPr/>
        </p:nvSpPr>
        <p:spPr>
          <a:xfrm>
            <a:off x="5193792" y="4690872"/>
            <a:ext cx="402336" cy="146304"/>
          </a:xfrm>
          <a:prstGeom prst="rect">
            <a:avLst/>
          </a:prstGeom>
          <a:noFill/>
          <a:ln/>
        </p:spPr>
        <p:txBody>
          <a:bodyPr wrap="square" lIns="0" tIns="0" rIns="0" bIns="0" rtlCol="0" anchor="ctr"/>
          <a:lstStyle/>
          <a:p>
            <a:pPr algn="ctr" indent="0" marL="0">
              <a:buNone/>
            </a:pPr>
            <a:r>
              <a:rPr lang="en-US" sz="700" dirty="0">
                <a:solidFill>
                  <a:srgbClr val="999999"/>
                </a:solidFill>
                <a:latin typeface="Arial" pitchFamily="34" charset="0"/>
                <a:ea typeface="Arial" pitchFamily="34" charset="-122"/>
                <a:cs typeface="Arial" pitchFamily="34" charset="-120"/>
              </a:rPr>
              <a:t>0%</a:t>
            </a:r>
            <a:endParaRPr lang="en-US" sz="700" dirty="0"/>
          </a:p>
        </p:txBody>
      </p:sp>
      <p:sp>
        <p:nvSpPr>
          <p:cNvPr id="43" name="Text 41"/>
          <p:cNvSpPr/>
          <p:nvPr/>
        </p:nvSpPr>
        <p:spPr>
          <a:xfrm>
            <a:off x="5833872" y="4690872"/>
            <a:ext cx="402336" cy="146304"/>
          </a:xfrm>
          <a:prstGeom prst="rect">
            <a:avLst/>
          </a:prstGeom>
          <a:noFill/>
          <a:ln/>
        </p:spPr>
        <p:txBody>
          <a:bodyPr wrap="square" lIns="0" tIns="0" rIns="0" bIns="0" rtlCol="0" anchor="ctr"/>
          <a:lstStyle/>
          <a:p>
            <a:pPr algn="ctr" indent="0" marL="0">
              <a:buNone/>
            </a:pPr>
            <a:r>
              <a:rPr lang="en-US" sz="700" dirty="0">
                <a:solidFill>
                  <a:srgbClr val="999999"/>
                </a:solidFill>
                <a:latin typeface="Arial" pitchFamily="34" charset="0"/>
                <a:ea typeface="Arial" pitchFamily="34" charset="-122"/>
                <a:cs typeface="Arial" pitchFamily="34" charset="-120"/>
              </a:rPr>
              <a:t>+10%</a:t>
            </a:r>
            <a:endParaRPr lang="en-US" sz="700" dirty="0"/>
          </a:p>
        </p:txBody>
      </p:sp>
      <p:sp>
        <p:nvSpPr>
          <p:cNvPr id="44" name="Text 42"/>
          <p:cNvSpPr/>
          <p:nvPr/>
        </p:nvSpPr>
        <p:spPr>
          <a:xfrm>
            <a:off x="6473952" y="4690872"/>
            <a:ext cx="402336" cy="146304"/>
          </a:xfrm>
          <a:prstGeom prst="rect">
            <a:avLst/>
          </a:prstGeom>
          <a:noFill/>
          <a:ln/>
        </p:spPr>
        <p:txBody>
          <a:bodyPr wrap="square" lIns="0" tIns="0" rIns="0" bIns="0" rtlCol="0" anchor="ctr"/>
          <a:lstStyle/>
          <a:p>
            <a:pPr algn="ctr" indent="0" marL="0">
              <a:buNone/>
            </a:pPr>
            <a:r>
              <a:rPr lang="en-US" sz="700" dirty="0">
                <a:solidFill>
                  <a:srgbClr val="999999"/>
                </a:solidFill>
                <a:latin typeface="Arial" pitchFamily="34" charset="0"/>
                <a:ea typeface="Arial" pitchFamily="34" charset="-122"/>
                <a:cs typeface="Arial" pitchFamily="34" charset="-120"/>
              </a:rPr>
              <a:t>+20%</a:t>
            </a:r>
            <a:endParaRPr lang="en-US" sz="700" dirty="0"/>
          </a:p>
        </p:txBody>
      </p:sp>
      <p:sp>
        <p:nvSpPr>
          <p:cNvPr id="45" name="Text 43"/>
          <p:cNvSpPr/>
          <p:nvPr/>
        </p:nvSpPr>
        <p:spPr>
          <a:xfrm>
            <a:off x="7114032" y="4690872"/>
            <a:ext cx="402336" cy="146304"/>
          </a:xfrm>
          <a:prstGeom prst="rect">
            <a:avLst/>
          </a:prstGeom>
          <a:noFill/>
          <a:ln/>
        </p:spPr>
        <p:txBody>
          <a:bodyPr wrap="square" lIns="0" tIns="0" rIns="0" bIns="0" rtlCol="0" anchor="ctr"/>
          <a:lstStyle/>
          <a:p>
            <a:pPr algn="ctr" indent="0" marL="0">
              <a:buNone/>
            </a:pPr>
            <a:r>
              <a:rPr lang="en-US" sz="700" dirty="0">
                <a:solidFill>
                  <a:srgbClr val="999999"/>
                </a:solidFill>
                <a:latin typeface="Arial" pitchFamily="34" charset="0"/>
                <a:ea typeface="Arial" pitchFamily="34" charset="-122"/>
                <a:cs typeface="Arial" pitchFamily="34" charset="-120"/>
              </a:rPr>
              <a:t>+30%</a:t>
            </a:r>
            <a:endParaRPr lang="en-US" sz="700" dirty="0"/>
          </a:p>
        </p:txBody>
      </p:sp>
      <p:sp>
        <p:nvSpPr>
          <p:cNvPr id="46" name="Text 44"/>
          <p:cNvSpPr/>
          <p:nvPr/>
        </p:nvSpPr>
        <p:spPr>
          <a:xfrm>
            <a:off x="7754112" y="4690872"/>
            <a:ext cx="402336" cy="146304"/>
          </a:xfrm>
          <a:prstGeom prst="rect">
            <a:avLst/>
          </a:prstGeom>
          <a:noFill/>
          <a:ln/>
        </p:spPr>
        <p:txBody>
          <a:bodyPr wrap="square" lIns="0" tIns="0" rIns="0" bIns="0" rtlCol="0" anchor="ctr"/>
          <a:lstStyle/>
          <a:p>
            <a:pPr algn="ctr" indent="0" marL="0">
              <a:buNone/>
            </a:pPr>
            <a:r>
              <a:rPr lang="en-US" sz="700" dirty="0">
                <a:solidFill>
                  <a:srgbClr val="999999"/>
                </a:solidFill>
                <a:latin typeface="Arial" pitchFamily="34" charset="0"/>
                <a:ea typeface="Arial" pitchFamily="34" charset="-122"/>
                <a:cs typeface="Arial" pitchFamily="34" charset="-120"/>
              </a:rPr>
              <a:t>+40%</a:t>
            </a:r>
            <a:endParaRPr lang="en-US" sz="700" dirty="0"/>
          </a:p>
        </p:txBody>
      </p:sp>
      <p:sp>
        <p:nvSpPr>
          <p:cNvPr id="47" name="Text 45"/>
          <p:cNvSpPr/>
          <p:nvPr/>
        </p:nvSpPr>
        <p:spPr>
          <a:xfrm>
            <a:off x="8394192" y="4690872"/>
            <a:ext cx="402336" cy="146304"/>
          </a:xfrm>
          <a:prstGeom prst="rect">
            <a:avLst/>
          </a:prstGeom>
          <a:noFill/>
          <a:ln/>
        </p:spPr>
        <p:txBody>
          <a:bodyPr wrap="square" lIns="0" tIns="0" rIns="0" bIns="0" rtlCol="0" anchor="ctr"/>
          <a:lstStyle/>
          <a:p>
            <a:pPr algn="ctr" indent="0" marL="0">
              <a:buNone/>
            </a:pPr>
            <a:r>
              <a:rPr lang="en-US" sz="700" dirty="0">
                <a:solidFill>
                  <a:srgbClr val="999999"/>
                </a:solidFill>
                <a:latin typeface="Arial" pitchFamily="34" charset="0"/>
                <a:ea typeface="Arial" pitchFamily="34" charset="-122"/>
                <a:cs typeface="Arial" pitchFamily="34" charset="-120"/>
              </a:rPr>
              <a:t>+50%</a:t>
            </a:r>
            <a:endParaRPr lang="en-US" sz="700" dirty="0"/>
          </a:p>
        </p:txBody>
      </p:sp>
      <p:sp>
        <p:nvSpPr>
          <p:cNvPr id="48" name="Text 46"/>
          <p:cNvSpPr/>
          <p:nvPr/>
        </p:nvSpPr>
        <p:spPr>
          <a:xfrm>
            <a:off x="4727448" y="4599432"/>
            <a:ext cx="301752" cy="128016"/>
          </a:xfrm>
          <a:prstGeom prst="rect">
            <a:avLst/>
          </a:prstGeom>
          <a:noFill/>
          <a:ln/>
        </p:spPr>
        <p:txBody>
          <a:bodyPr wrap="square" lIns="0" tIns="0" rIns="0" bIns="0" rtlCol="0" anchor="ctr"/>
          <a:lstStyle/>
          <a:p>
            <a:pPr algn="r" indent="0" marL="0">
              <a:buNone/>
            </a:pPr>
            <a:r>
              <a:rPr lang="en-US" sz="700" dirty="0">
                <a:solidFill>
                  <a:srgbClr val="999999"/>
                </a:solidFill>
                <a:latin typeface="Arial" pitchFamily="34" charset="0"/>
                <a:ea typeface="Arial" pitchFamily="34" charset="-122"/>
                <a:cs typeface="Arial" pitchFamily="34" charset="-120"/>
              </a:rPr>
              <a:t>0×</a:t>
            </a:r>
            <a:endParaRPr lang="en-US" sz="700" dirty="0"/>
          </a:p>
        </p:txBody>
      </p:sp>
      <p:sp>
        <p:nvSpPr>
          <p:cNvPr id="49" name="Text 47"/>
          <p:cNvSpPr/>
          <p:nvPr/>
        </p:nvSpPr>
        <p:spPr>
          <a:xfrm>
            <a:off x="4727448" y="4087368"/>
            <a:ext cx="301752" cy="128016"/>
          </a:xfrm>
          <a:prstGeom prst="rect">
            <a:avLst/>
          </a:prstGeom>
          <a:noFill/>
          <a:ln/>
        </p:spPr>
        <p:txBody>
          <a:bodyPr wrap="square" lIns="0" tIns="0" rIns="0" bIns="0" rtlCol="0" anchor="ctr"/>
          <a:lstStyle/>
          <a:p>
            <a:pPr algn="r" indent="0" marL="0">
              <a:buNone/>
            </a:pPr>
            <a:r>
              <a:rPr lang="en-US" sz="700" dirty="0">
                <a:solidFill>
                  <a:srgbClr val="999999"/>
                </a:solidFill>
                <a:latin typeface="Arial" pitchFamily="34" charset="0"/>
                <a:ea typeface="Arial" pitchFamily="34" charset="-122"/>
                <a:cs typeface="Arial" pitchFamily="34" charset="-120"/>
              </a:rPr>
              <a:t>10×</a:t>
            </a:r>
            <a:endParaRPr lang="en-US" sz="700" dirty="0"/>
          </a:p>
        </p:txBody>
      </p:sp>
      <p:sp>
        <p:nvSpPr>
          <p:cNvPr id="50" name="Text 48"/>
          <p:cNvSpPr/>
          <p:nvPr/>
        </p:nvSpPr>
        <p:spPr>
          <a:xfrm>
            <a:off x="4727448" y="3575304"/>
            <a:ext cx="301752" cy="128016"/>
          </a:xfrm>
          <a:prstGeom prst="rect">
            <a:avLst/>
          </a:prstGeom>
          <a:noFill/>
          <a:ln/>
        </p:spPr>
        <p:txBody>
          <a:bodyPr wrap="square" lIns="0" tIns="0" rIns="0" bIns="0" rtlCol="0" anchor="ctr"/>
          <a:lstStyle/>
          <a:p>
            <a:pPr algn="r" indent="0" marL="0">
              <a:buNone/>
            </a:pPr>
            <a:r>
              <a:rPr lang="en-US" sz="700" dirty="0">
                <a:solidFill>
                  <a:srgbClr val="999999"/>
                </a:solidFill>
                <a:latin typeface="Arial" pitchFamily="34" charset="0"/>
                <a:ea typeface="Arial" pitchFamily="34" charset="-122"/>
                <a:cs typeface="Arial" pitchFamily="34" charset="-120"/>
              </a:rPr>
              <a:t>20×</a:t>
            </a:r>
            <a:endParaRPr lang="en-US" sz="700" dirty="0"/>
          </a:p>
        </p:txBody>
      </p:sp>
      <p:sp>
        <p:nvSpPr>
          <p:cNvPr id="51" name="Text 49"/>
          <p:cNvSpPr/>
          <p:nvPr/>
        </p:nvSpPr>
        <p:spPr>
          <a:xfrm>
            <a:off x="4727448" y="3063240"/>
            <a:ext cx="301752" cy="128016"/>
          </a:xfrm>
          <a:prstGeom prst="rect">
            <a:avLst/>
          </a:prstGeom>
          <a:noFill/>
          <a:ln/>
        </p:spPr>
        <p:txBody>
          <a:bodyPr wrap="square" lIns="0" tIns="0" rIns="0" bIns="0" rtlCol="0" anchor="ctr"/>
          <a:lstStyle/>
          <a:p>
            <a:pPr algn="r" indent="0" marL="0">
              <a:buNone/>
            </a:pPr>
            <a:r>
              <a:rPr lang="en-US" sz="700" dirty="0">
                <a:solidFill>
                  <a:srgbClr val="999999"/>
                </a:solidFill>
                <a:latin typeface="Arial" pitchFamily="34" charset="0"/>
                <a:ea typeface="Arial" pitchFamily="34" charset="-122"/>
                <a:cs typeface="Arial" pitchFamily="34" charset="-120"/>
              </a:rPr>
              <a:t>30×</a:t>
            </a:r>
            <a:endParaRPr lang="en-US" sz="700" dirty="0"/>
          </a:p>
        </p:txBody>
      </p:sp>
      <p:sp>
        <p:nvSpPr>
          <p:cNvPr id="52" name="Text 50"/>
          <p:cNvSpPr/>
          <p:nvPr/>
        </p:nvSpPr>
        <p:spPr>
          <a:xfrm>
            <a:off x="4727448" y="2551176"/>
            <a:ext cx="301752" cy="128016"/>
          </a:xfrm>
          <a:prstGeom prst="rect">
            <a:avLst/>
          </a:prstGeom>
          <a:noFill/>
          <a:ln/>
        </p:spPr>
        <p:txBody>
          <a:bodyPr wrap="square" lIns="0" tIns="0" rIns="0" bIns="0" rtlCol="0" anchor="ctr"/>
          <a:lstStyle/>
          <a:p>
            <a:pPr algn="r" indent="0" marL="0">
              <a:buNone/>
            </a:pPr>
            <a:r>
              <a:rPr lang="en-US" sz="700" dirty="0">
                <a:solidFill>
                  <a:srgbClr val="999999"/>
                </a:solidFill>
                <a:latin typeface="Arial" pitchFamily="34" charset="0"/>
                <a:ea typeface="Arial" pitchFamily="34" charset="-122"/>
                <a:cs typeface="Arial" pitchFamily="34" charset="-120"/>
              </a:rPr>
              <a:t>40×</a:t>
            </a:r>
            <a:endParaRPr lang="en-US" sz="700" dirty="0"/>
          </a:p>
        </p:txBody>
      </p:sp>
      <p:sp>
        <p:nvSpPr>
          <p:cNvPr id="53" name="Text 51"/>
          <p:cNvSpPr/>
          <p:nvPr/>
        </p:nvSpPr>
        <p:spPr>
          <a:xfrm>
            <a:off x="4727448" y="2039112"/>
            <a:ext cx="301752" cy="128016"/>
          </a:xfrm>
          <a:prstGeom prst="rect">
            <a:avLst/>
          </a:prstGeom>
          <a:noFill/>
          <a:ln/>
        </p:spPr>
        <p:txBody>
          <a:bodyPr wrap="square" lIns="0" tIns="0" rIns="0" bIns="0" rtlCol="0" anchor="ctr"/>
          <a:lstStyle/>
          <a:p>
            <a:pPr algn="r" indent="0" marL="0">
              <a:buNone/>
            </a:pPr>
            <a:r>
              <a:rPr lang="en-US" sz="700" dirty="0">
                <a:solidFill>
                  <a:srgbClr val="999999"/>
                </a:solidFill>
                <a:latin typeface="Arial" pitchFamily="34" charset="0"/>
                <a:ea typeface="Arial" pitchFamily="34" charset="-122"/>
                <a:cs typeface="Arial" pitchFamily="34" charset="-120"/>
              </a:rPr>
              <a:t>50×</a:t>
            </a:r>
            <a:endParaRPr lang="en-US" sz="700" dirty="0"/>
          </a:p>
        </p:txBody>
      </p:sp>
      <p:sp>
        <p:nvSpPr>
          <p:cNvPr id="54" name="Text 52"/>
          <p:cNvSpPr/>
          <p:nvPr/>
        </p:nvSpPr>
        <p:spPr>
          <a:xfrm>
            <a:off x="5074920" y="4791456"/>
            <a:ext cx="3520440" cy="146304"/>
          </a:xfrm>
          <a:prstGeom prst="rect">
            <a:avLst/>
          </a:prstGeom>
          <a:noFill/>
          <a:ln/>
        </p:spPr>
        <p:txBody>
          <a:bodyPr wrap="square" lIns="0" tIns="0" rIns="0" bIns="0" rtlCol="0" anchor="ctr"/>
          <a:lstStyle/>
          <a:p>
            <a:pPr algn="ctr" indent="0" marL="0">
              <a:buNone/>
            </a:pPr>
            <a:r>
              <a:rPr lang="en-US" sz="800" i="1" dirty="0">
                <a:solidFill>
                  <a:srgbClr val="666666"/>
                </a:solidFill>
                <a:latin typeface="Arial" pitchFamily="34" charset="0"/>
                <a:ea typeface="Arial" pitchFamily="34" charset="-122"/>
                <a:cs typeface="Arial" pitchFamily="34" charset="-120"/>
              </a:rPr>
              <a:t>Forward revenue growth, 2026E → 2027E</a:t>
            </a:r>
            <a:endParaRPr lang="en-US" sz="800" dirty="0"/>
          </a:p>
        </p:txBody>
      </p:sp>
      <p:sp>
        <p:nvSpPr>
          <p:cNvPr id="55" name="Text 53"/>
          <p:cNvSpPr/>
          <p:nvPr/>
        </p:nvSpPr>
        <p:spPr>
          <a:xfrm>
            <a:off x="4754880" y="1801368"/>
            <a:ext cx="3931920" cy="128016"/>
          </a:xfrm>
          <a:prstGeom prst="rect">
            <a:avLst/>
          </a:prstGeom>
          <a:noFill/>
          <a:ln/>
        </p:spPr>
        <p:txBody>
          <a:bodyPr wrap="square" lIns="0" tIns="0" rIns="0" bIns="0" rtlCol="0" anchor="ctr"/>
          <a:lstStyle/>
          <a:p>
            <a:pPr indent="0" marL="0">
              <a:buNone/>
            </a:pPr>
            <a:r>
              <a:rPr lang="en-US" sz="800" i="1" dirty="0">
                <a:solidFill>
                  <a:srgbClr val="666666"/>
                </a:solidFill>
                <a:latin typeface="Arial" pitchFamily="34" charset="0"/>
                <a:ea typeface="Arial" pitchFamily="34" charset="-122"/>
                <a:cs typeface="Arial" pitchFamily="34" charset="-120"/>
              </a:rPr>
              <a:t>Forward P/E (2026E)</a:t>
            </a:r>
            <a:endParaRPr lang="en-US" sz="800" dirty="0"/>
          </a:p>
        </p:txBody>
      </p:sp>
      <p:sp>
        <p:nvSpPr>
          <p:cNvPr id="56" name="Shape 54"/>
          <p:cNvSpPr/>
          <p:nvPr/>
        </p:nvSpPr>
        <p:spPr>
          <a:xfrm>
            <a:off x="8535924" y="3375050"/>
            <a:ext cx="118872" cy="118872"/>
          </a:xfrm>
          <a:prstGeom prst="ellipse">
            <a:avLst/>
          </a:prstGeom>
          <a:solidFill>
            <a:srgbClr val="F6693D"/>
          </a:solidFill>
          <a:ln w="6350">
            <a:solidFill>
              <a:srgbClr val="FFFFFF"/>
            </a:solidFill>
            <a:prstDash val="solid"/>
          </a:ln>
        </p:spPr>
      </p:sp>
      <p:sp>
        <p:nvSpPr>
          <p:cNvPr id="57" name="Shape 55"/>
          <p:cNvSpPr/>
          <p:nvPr/>
        </p:nvSpPr>
        <p:spPr>
          <a:xfrm>
            <a:off x="6308130" y="3134380"/>
            <a:ext cx="118872" cy="118872"/>
          </a:xfrm>
          <a:prstGeom prst="ellipse">
            <a:avLst/>
          </a:prstGeom>
          <a:solidFill>
            <a:srgbClr val="F6693D"/>
          </a:solidFill>
          <a:ln w="6350">
            <a:solidFill>
              <a:srgbClr val="FFFFFF"/>
            </a:solidFill>
            <a:prstDash val="solid"/>
          </a:ln>
        </p:spPr>
      </p:sp>
      <p:sp>
        <p:nvSpPr>
          <p:cNvPr id="58" name="Shape 56"/>
          <p:cNvSpPr/>
          <p:nvPr/>
        </p:nvSpPr>
        <p:spPr>
          <a:xfrm>
            <a:off x="5780211" y="2991002"/>
            <a:ext cx="118872" cy="118872"/>
          </a:xfrm>
          <a:prstGeom prst="ellipse">
            <a:avLst/>
          </a:prstGeom>
          <a:solidFill>
            <a:srgbClr val="F6693D"/>
          </a:solidFill>
          <a:ln w="6350">
            <a:solidFill>
              <a:srgbClr val="FFFFFF"/>
            </a:solidFill>
            <a:prstDash val="solid"/>
          </a:ln>
        </p:spPr>
      </p:sp>
      <p:sp>
        <p:nvSpPr>
          <p:cNvPr id="59" name="Shape 57"/>
          <p:cNvSpPr/>
          <p:nvPr/>
        </p:nvSpPr>
        <p:spPr>
          <a:xfrm>
            <a:off x="6329081" y="3293120"/>
            <a:ext cx="118872" cy="118872"/>
          </a:xfrm>
          <a:prstGeom prst="ellipse">
            <a:avLst/>
          </a:prstGeom>
          <a:solidFill>
            <a:srgbClr val="F6693D"/>
          </a:solidFill>
          <a:ln w="6350">
            <a:solidFill>
              <a:srgbClr val="FFFFFF"/>
            </a:solidFill>
            <a:prstDash val="solid"/>
          </a:ln>
        </p:spPr>
      </p:sp>
      <p:sp>
        <p:nvSpPr>
          <p:cNvPr id="60" name="Shape 58"/>
          <p:cNvSpPr/>
          <p:nvPr/>
        </p:nvSpPr>
        <p:spPr>
          <a:xfrm>
            <a:off x="6090850" y="2960279"/>
            <a:ext cx="118872" cy="118872"/>
          </a:xfrm>
          <a:prstGeom prst="ellipse">
            <a:avLst/>
          </a:prstGeom>
          <a:solidFill>
            <a:srgbClr val="F6693D"/>
          </a:solidFill>
          <a:ln w="6350">
            <a:solidFill>
              <a:srgbClr val="FFFFFF"/>
            </a:solidFill>
            <a:prstDash val="solid"/>
          </a:ln>
        </p:spPr>
      </p:sp>
      <p:sp>
        <p:nvSpPr>
          <p:cNvPr id="61" name="Shape 59"/>
          <p:cNvSpPr/>
          <p:nvPr/>
        </p:nvSpPr>
        <p:spPr>
          <a:xfrm>
            <a:off x="8535924" y="2724729"/>
            <a:ext cx="118872" cy="118872"/>
          </a:xfrm>
          <a:prstGeom prst="ellipse">
            <a:avLst/>
          </a:prstGeom>
          <a:solidFill>
            <a:srgbClr val="F6693D"/>
          </a:solidFill>
          <a:ln w="6350">
            <a:solidFill>
              <a:srgbClr val="FFFFFF"/>
            </a:solidFill>
            <a:prstDash val="solid"/>
          </a:ln>
        </p:spPr>
      </p:sp>
      <p:sp>
        <p:nvSpPr>
          <p:cNvPr id="62" name="Shape 60"/>
          <p:cNvSpPr/>
          <p:nvPr/>
        </p:nvSpPr>
        <p:spPr>
          <a:xfrm>
            <a:off x="6515279" y="3467222"/>
            <a:ext cx="118872" cy="118872"/>
          </a:xfrm>
          <a:prstGeom prst="ellipse">
            <a:avLst/>
          </a:prstGeom>
          <a:solidFill>
            <a:srgbClr val="F6693D"/>
          </a:solidFill>
          <a:ln w="6350">
            <a:solidFill>
              <a:srgbClr val="FFFFFF"/>
            </a:solidFill>
            <a:prstDash val="solid"/>
          </a:ln>
        </p:spPr>
      </p:sp>
      <p:sp>
        <p:nvSpPr>
          <p:cNvPr id="63" name="Shape 61"/>
          <p:cNvSpPr/>
          <p:nvPr/>
        </p:nvSpPr>
        <p:spPr>
          <a:xfrm>
            <a:off x="6371844" y="2043684"/>
            <a:ext cx="118872" cy="118872"/>
          </a:xfrm>
          <a:prstGeom prst="ellipse">
            <a:avLst/>
          </a:prstGeom>
          <a:solidFill>
            <a:srgbClr val="333333"/>
          </a:solidFill>
          <a:ln w="6350">
            <a:solidFill>
              <a:srgbClr val="FFFFFF"/>
            </a:solidFill>
            <a:prstDash val="solid"/>
          </a:ln>
        </p:spPr>
      </p:sp>
      <p:sp>
        <p:nvSpPr>
          <p:cNvPr id="64" name="Shape 62"/>
          <p:cNvSpPr/>
          <p:nvPr/>
        </p:nvSpPr>
        <p:spPr>
          <a:xfrm>
            <a:off x="5721547" y="2340681"/>
            <a:ext cx="118872" cy="118872"/>
          </a:xfrm>
          <a:prstGeom prst="ellipse">
            <a:avLst/>
          </a:prstGeom>
          <a:solidFill>
            <a:srgbClr val="333333"/>
          </a:solidFill>
          <a:ln w="6350">
            <a:solidFill>
              <a:srgbClr val="FFFFFF"/>
            </a:solidFill>
            <a:prstDash val="solid"/>
          </a:ln>
        </p:spPr>
      </p:sp>
      <p:sp>
        <p:nvSpPr>
          <p:cNvPr id="65" name="Shape 63"/>
          <p:cNvSpPr/>
          <p:nvPr/>
        </p:nvSpPr>
        <p:spPr>
          <a:xfrm>
            <a:off x="5544246" y="3497946"/>
            <a:ext cx="118872" cy="118872"/>
          </a:xfrm>
          <a:prstGeom prst="ellipse">
            <a:avLst/>
          </a:prstGeom>
          <a:solidFill>
            <a:srgbClr val="333333"/>
          </a:solidFill>
          <a:ln w="6350">
            <a:solidFill>
              <a:srgbClr val="FFFFFF"/>
            </a:solidFill>
            <a:prstDash val="solid"/>
          </a:ln>
        </p:spPr>
      </p:sp>
      <p:sp>
        <p:nvSpPr>
          <p:cNvPr id="66" name="Shape 64"/>
          <p:cNvSpPr/>
          <p:nvPr/>
        </p:nvSpPr>
        <p:spPr>
          <a:xfrm>
            <a:off x="5625007" y="3871752"/>
            <a:ext cx="118872" cy="118872"/>
          </a:xfrm>
          <a:prstGeom prst="ellipse">
            <a:avLst/>
          </a:prstGeom>
          <a:solidFill>
            <a:srgbClr val="333333"/>
          </a:solidFill>
          <a:ln w="6350">
            <a:solidFill>
              <a:srgbClr val="FFFFFF"/>
            </a:solidFill>
            <a:prstDash val="solid"/>
          </a:ln>
        </p:spPr>
      </p:sp>
      <p:sp>
        <p:nvSpPr>
          <p:cNvPr id="67" name="Shape 65"/>
          <p:cNvSpPr/>
          <p:nvPr/>
        </p:nvSpPr>
        <p:spPr>
          <a:xfrm>
            <a:off x="6338059" y="3252155"/>
            <a:ext cx="118872" cy="118872"/>
          </a:xfrm>
          <a:prstGeom prst="ellipse">
            <a:avLst/>
          </a:prstGeom>
          <a:solidFill>
            <a:srgbClr val="333333"/>
          </a:solidFill>
          <a:ln w="6350">
            <a:solidFill>
              <a:srgbClr val="FFFFFF"/>
            </a:solidFill>
            <a:prstDash val="solid"/>
          </a:ln>
        </p:spPr>
      </p:sp>
      <p:sp>
        <p:nvSpPr>
          <p:cNvPr id="68" name="Shape 66"/>
          <p:cNvSpPr/>
          <p:nvPr/>
        </p:nvSpPr>
        <p:spPr>
          <a:xfrm>
            <a:off x="5131785" y="3641324"/>
            <a:ext cx="118872" cy="118872"/>
          </a:xfrm>
          <a:prstGeom prst="ellipse">
            <a:avLst/>
          </a:prstGeom>
          <a:solidFill>
            <a:srgbClr val="333333"/>
          </a:solidFill>
          <a:ln w="6350">
            <a:solidFill>
              <a:srgbClr val="FFFFFF"/>
            </a:solidFill>
            <a:prstDash val="solid"/>
          </a:ln>
        </p:spPr>
      </p:sp>
      <p:sp>
        <p:nvSpPr>
          <p:cNvPr id="69" name="Shape 67"/>
          <p:cNvSpPr/>
          <p:nvPr/>
        </p:nvSpPr>
        <p:spPr>
          <a:xfrm>
            <a:off x="5892115" y="3390412"/>
            <a:ext cx="118872" cy="118872"/>
          </a:xfrm>
          <a:prstGeom prst="ellipse">
            <a:avLst/>
          </a:prstGeom>
          <a:solidFill>
            <a:srgbClr val="333333"/>
          </a:solidFill>
          <a:ln w="6350">
            <a:solidFill>
              <a:srgbClr val="FFFFFF"/>
            </a:solidFill>
            <a:prstDash val="solid"/>
          </a:ln>
        </p:spPr>
      </p:sp>
      <p:sp>
        <p:nvSpPr>
          <p:cNvPr id="70" name="Text 68"/>
          <p:cNvSpPr/>
          <p:nvPr/>
        </p:nvSpPr>
        <p:spPr>
          <a:xfrm>
            <a:off x="7936992" y="3370478"/>
            <a:ext cx="822960" cy="118872"/>
          </a:xfrm>
          <a:prstGeom prst="rect">
            <a:avLst/>
          </a:prstGeom>
          <a:noFill/>
          <a:ln/>
        </p:spPr>
        <p:txBody>
          <a:bodyPr wrap="square" lIns="0" tIns="0" rIns="0" bIns="0" rtlCol="0" anchor="ctr"/>
          <a:lstStyle/>
          <a:p>
            <a:pPr indent="0" marL="0">
              <a:buNone/>
            </a:pPr>
            <a:r>
              <a:rPr lang="en-US" sz="700" b="1" dirty="0">
                <a:solidFill>
                  <a:srgbClr val="F6693D"/>
                </a:solidFill>
                <a:latin typeface="Arial" pitchFamily="34" charset="0"/>
                <a:ea typeface="Arial" pitchFamily="34" charset="-122"/>
                <a:cs typeface="Arial" pitchFamily="34" charset="-120"/>
              </a:rPr>
              <a:t>NVIDIA</a:t>
            </a:r>
            <a:endParaRPr lang="en-US" sz="700" dirty="0"/>
          </a:p>
        </p:txBody>
      </p:sp>
      <p:sp>
        <p:nvSpPr>
          <p:cNvPr id="71" name="Text 69"/>
          <p:cNvSpPr/>
          <p:nvPr/>
        </p:nvSpPr>
        <p:spPr>
          <a:xfrm>
            <a:off x="6440718" y="3056656"/>
            <a:ext cx="822960" cy="118872"/>
          </a:xfrm>
          <a:prstGeom prst="rect">
            <a:avLst/>
          </a:prstGeom>
          <a:noFill/>
          <a:ln/>
        </p:spPr>
        <p:txBody>
          <a:bodyPr wrap="square" lIns="0" tIns="0" rIns="0" bIns="0" rtlCol="0" anchor="ctr"/>
          <a:lstStyle/>
          <a:p>
            <a:pPr indent="0" marL="0">
              <a:buNone/>
            </a:pPr>
            <a:r>
              <a:rPr lang="en-US" sz="700" b="1" dirty="0">
                <a:solidFill>
                  <a:srgbClr val="F6693D"/>
                </a:solidFill>
                <a:latin typeface="Arial" pitchFamily="34" charset="0"/>
                <a:ea typeface="Arial" pitchFamily="34" charset="-122"/>
                <a:cs typeface="Arial" pitchFamily="34" charset="-120"/>
              </a:rPr>
              <a:t>Alphabet</a:t>
            </a:r>
            <a:endParaRPr lang="en-US" sz="700" dirty="0"/>
          </a:p>
        </p:txBody>
      </p:sp>
      <p:sp>
        <p:nvSpPr>
          <p:cNvPr id="72" name="Text 70"/>
          <p:cNvSpPr/>
          <p:nvPr/>
        </p:nvSpPr>
        <p:spPr>
          <a:xfrm>
            <a:off x="5455599" y="2986430"/>
            <a:ext cx="822960" cy="118872"/>
          </a:xfrm>
          <a:prstGeom prst="rect">
            <a:avLst/>
          </a:prstGeom>
          <a:noFill/>
          <a:ln/>
        </p:spPr>
        <p:txBody>
          <a:bodyPr wrap="square" lIns="0" tIns="0" rIns="0" bIns="0" rtlCol="0" anchor="ctr"/>
          <a:lstStyle/>
          <a:p>
            <a:pPr indent="0" marL="0">
              <a:buNone/>
            </a:pPr>
            <a:r>
              <a:rPr lang="en-US" sz="700" b="1" dirty="0">
                <a:solidFill>
                  <a:srgbClr val="F6693D"/>
                </a:solidFill>
                <a:latin typeface="Arial" pitchFamily="34" charset="0"/>
                <a:ea typeface="Arial" pitchFamily="34" charset="-122"/>
                <a:cs typeface="Arial" pitchFamily="34" charset="-120"/>
              </a:rPr>
              <a:t>Apple</a:t>
            </a:r>
            <a:endParaRPr lang="en-US" sz="700" dirty="0"/>
          </a:p>
        </p:txBody>
      </p:sp>
      <p:sp>
        <p:nvSpPr>
          <p:cNvPr id="73" name="Text 71"/>
          <p:cNvSpPr/>
          <p:nvPr/>
        </p:nvSpPr>
        <p:spPr>
          <a:xfrm>
            <a:off x="6461669" y="3407420"/>
            <a:ext cx="822960" cy="118872"/>
          </a:xfrm>
          <a:prstGeom prst="rect">
            <a:avLst/>
          </a:prstGeom>
          <a:noFill/>
          <a:ln/>
        </p:spPr>
        <p:txBody>
          <a:bodyPr wrap="square" lIns="0" tIns="0" rIns="0" bIns="0" rtlCol="0" anchor="ctr"/>
          <a:lstStyle/>
          <a:p>
            <a:pPr indent="0" marL="0">
              <a:buNone/>
            </a:pPr>
            <a:r>
              <a:rPr lang="en-US" sz="700" b="1" dirty="0">
                <a:solidFill>
                  <a:srgbClr val="F6693D"/>
                </a:solidFill>
                <a:latin typeface="Arial" pitchFamily="34" charset="0"/>
                <a:ea typeface="Arial" pitchFamily="34" charset="-122"/>
                <a:cs typeface="Arial" pitchFamily="34" charset="-120"/>
              </a:rPr>
              <a:t>Microsoft</a:t>
            </a:r>
            <a:endParaRPr lang="en-US" sz="700" dirty="0"/>
          </a:p>
        </p:txBody>
      </p:sp>
      <p:sp>
        <p:nvSpPr>
          <p:cNvPr id="74" name="Text 72"/>
          <p:cNvSpPr/>
          <p:nvPr/>
        </p:nvSpPr>
        <p:spPr>
          <a:xfrm>
            <a:off x="6223438" y="2955707"/>
            <a:ext cx="822960" cy="118872"/>
          </a:xfrm>
          <a:prstGeom prst="rect">
            <a:avLst/>
          </a:prstGeom>
          <a:noFill/>
          <a:ln/>
        </p:spPr>
        <p:txBody>
          <a:bodyPr wrap="square" lIns="0" tIns="0" rIns="0" bIns="0" rtlCol="0" anchor="ctr"/>
          <a:lstStyle/>
          <a:p>
            <a:pPr indent="0" marL="0">
              <a:buNone/>
            </a:pPr>
            <a:r>
              <a:rPr lang="en-US" sz="700" b="1" dirty="0">
                <a:solidFill>
                  <a:srgbClr val="F6693D"/>
                </a:solidFill>
                <a:latin typeface="Arial" pitchFamily="34" charset="0"/>
                <a:ea typeface="Arial" pitchFamily="34" charset="-122"/>
                <a:cs typeface="Arial" pitchFamily="34" charset="-120"/>
              </a:rPr>
              <a:t>Amazon</a:t>
            </a:r>
            <a:endParaRPr lang="en-US" sz="700" dirty="0"/>
          </a:p>
        </p:txBody>
      </p:sp>
      <p:sp>
        <p:nvSpPr>
          <p:cNvPr id="75" name="Text 73"/>
          <p:cNvSpPr/>
          <p:nvPr/>
        </p:nvSpPr>
        <p:spPr>
          <a:xfrm>
            <a:off x="7845552" y="2720157"/>
            <a:ext cx="822960" cy="118872"/>
          </a:xfrm>
          <a:prstGeom prst="rect">
            <a:avLst/>
          </a:prstGeom>
          <a:noFill/>
          <a:ln/>
        </p:spPr>
        <p:txBody>
          <a:bodyPr wrap="square" lIns="0" tIns="0" rIns="0" bIns="0" rtlCol="0" anchor="ctr"/>
          <a:lstStyle/>
          <a:p>
            <a:pPr indent="0" marL="0">
              <a:buNone/>
            </a:pPr>
            <a:r>
              <a:rPr lang="en-US" sz="700" b="1" dirty="0">
                <a:solidFill>
                  <a:srgbClr val="F6693D"/>
                </a:solidFill>
                <a:latin typeface="Arial" pitchFamily="34" charset="0"/>
                <a:ea typeface="Arial" pitchFamily="34" charset="-122"/>
                <a:cs typeface="Arial" pitchFamily="34" charset="-120"/>
              </a:rPr>
              <a:t>Broadcom</a:t>
            </a:r>
            <a:endParaRPr lang="en-US" sz="700" dirty="0"/>
          </a:p>
        </p:txBody>
      </p:sp>
      <p:sp>
        <p:nvSpPr>
          <p:cNvPr id="76" name="Text 74"/>
          <p:cNvSpPr/>
          <p:nvPr/>
        </p:nvSpPr>
        <p:spPr>
          <a:xfrm>
            <a:off x="6208955" y="3462650"/>
            <a:ext cx="822960" cy="118872"/>
          </a:xfrm>
          <a:prstGeom prst="rect">
            <a:avLst/>
          </a:prstGeom>
          <a:noFill/>
          <a:ln/>
        </p:spPr>
        <p:txBody>
          <a:bodyPr wrap="square" lIns="0" tIns="0" rIns="0" bIns="0" rtlCol="0" anchor="ctr"/>
          <a:lstStyle/>
          <a:p>
            <a:pPr indent="0" marL="0">
              <a:buNone/>
            </a:pPr>
            <a:r>
              <a:rPr lang="en-US" sz="700" b="1" dirty="0">
                <a:solidFill>
                  <a:srgbClr val="F6693D"/>
                </a:solidFill>
                <a:latin typeface="Arial" pitchFamily="34" charset="0"/>
                <a:ea typeface="Arial" pitchFamily="34" charset="-122"/>
                <a:cs typeface="Arial" pitchFamily="34" charset="-120"/>
              </a:rPr>
              <a:t>Meta</a:t>
            </a:r>
            <a:endParaRPr lang="en-US" sz="700" dirty="0"/>
          </a:p>
        </p:txBody>
      </p:sp>
      <p:sp>
        <p:nvSpPr>
          <p:cNvPr id="77" name="Text 75"/>
          <p:cNvSpPr/>
          <p:nvPr/>
        </p:nvSpPr>
        <p:spPr>
          <a:xfrm>
            <a:off x="6504432" y="2139696"/>
            <a:ext cx="822960" cy="118872"/>
          </a:xfrm>
          <a:prstGeom prst="rect">
            <a:avLst/>
          </a:prstGeom>
          <a:noFill/>
          <a:ln/>
        </p:spPr>
        <p:txBody>
          <a:bodyPr wrap="square" lIns="0" tIns="0" rIns="0" bIns="0" rtlCol="0" anchor="ctr"/>
          <a:lstStyle/>
          <a:p>
            <a:pPr indent="0" marL="0">
              <a:buNone/>
            </a:pPr>
            <a:r>
              <a:rPr lang="en-US" sz="700" b="1" dirty="0">
                <a:solidFill>
                  <a:srgbClr val="333333"/>
                </a:solidFill>
                <a:latin typeface="Arial" pitchFamily="34" charset="0"/>
                <a:ea typeface="Arial" pitchFamily="34" charset="-122"/>
                <a:cs typeface="Arial" pitchFamily="34" charset="-120"/>
              </a:rPr>
              <a:t>Tesla</a:t>
            </a:r>
            <a:endParaRPr lang="en-US" sz="700" dirty="0"/>
          </a:p>
        </p:txBody>
      </p:sp>
      <p:sp>
        <p:nvSpPr>
          <p:cNvPr id="78" name="Text 76"/>
          <p:cNvSpPr/>
          <p:nvPr/>
        </p:nvSpPr>
        <p:spPr>
          <a:xfrm>
            <a:off x="5854135" y="2454981"/>
            <a:ext cx="822960" cy="118872"/>
          </a:xfrm>
          <a:prstGeom prst="rect">
            <a:avLst/>
          </a:prstGeom>
          <a:noFill/>
          <a:ln/>
        </p:spPr>
        <p:txBody>
          <a:bodyPr wrap="square" lIns="0" tIns="0" rIns="0" bIns="0" rtlCol="0" anchor="ctr"/>
          <a:lstStyle/>
          <a:p>
            <a:pPr indent="0" marL="0">
              <a:buNone/>
            </a:pPr>
            <a:r>
              <a:rPr lang="en-US" sz="700" b="1" dirty="0">
                <a:solidFill>
                  <a:srgbClr val="333333"/>
                </a:solidFill>
                <a:latin typeface="Arial" pitchFamily="34" charset="0"/>
                <a:ea typeface="Arial" pitchFamily="34" charset="-122"/>
                <a:cs typeface="Arial" pitchFamily="34" charset="-120"/>
              </a:rPr>
              <a:t>Walmart</a:t>
            </a:r>
            <a:endParaRPr lang="en-US" sz="700" dirty="0"/>
          </a:p>
        </p:txBody>
      </p:sp>
      <p:sp>
        <p:nvSpPr>
          <p:cNvPr id="79" name="Text 77"/>
          <p:cNvSpPr/>
          <p:nvPr/>
        </p:nvSpPr>
        <p:spPr>
          <a:xfrm>
            <a:off x="5676834" y="3612246"/>
            <a:ext cx="822960" cy="118872"/>
          </a:xfrm>
          <a:prstGeom prst="rect">
            <a:avLst/>
          </a:prstGeom>
          <a:noFill/>
          <a:ln/>
        </p:spPr>
        <p:txBody>
          <a:bodyPr wrap="square" lIns="0" tIns="0" rIns="0" bIns="0" rtlCol="0" anchor="ctr"/>
          <a:lstStyle/>
          <a:p>
            <a:pPr indent="0" marL="0">
              <a:buNone/>
            </a:pPr>
            <a:r>
              <a:rPr lang="en-US" sz="700" b="1" dirty="0">
                <a:solidFill>
                  <a:srgbClr val="333333"/>
                </a:solidFill>
                <a:latin typeface="Arial" pitchFamily="34" charset="0"/>
                <a:ea typeface="Arial" pitchFamily="34" charset="-122"/>
                <a:cs typeface="Arial" pitchFamily="34" charset="-120"/>
              </a:rPr>
              <a:t>Berkshire</a:t>
            </a:r>
            <a:endParaRPr lang="en-US" sz="700" dirty="0"/>
          </a:p>
        </p:txBody>
      </p:sp>
      <p:sp>
        <p:nvSpPr>
          <p:cNvPr id="80" name="Text 78"/>
          <p:cNvSpPr/>
          <p:nvPr/>
        </p:nvSpPr>
        <p:spPr>
          <a:xfrm>
            <a:off x="5757595" y="3867180"/>
            <a:ext cx="822960" cy="118872"/>
          </a:xfrm>
          <a:prstGeom prst="rect">
            <a:avLst/>
          </a:prstGeom>
          <a:noFill/>
          <a:ln/>
        </p:spPr>
        <p:txBody>
          <a:bodyPr wrap="square" lIns="0" tIns="0" rIns="0" bIns="0" rtlCol="0" anchor="ctr"/>
          <a:lstStyle/>
          <a:p>
            <a:pPr indent="0" marL="0">
              <a:buNone/>
            </a:pPr>
            <a:r>
              <a:rPr lang="en-US" sz="700" b="1" dirty="0">
                <a:solidFill>
                  <a:srgbClr val="333333"/>
                </a:solidFill>
                <a:latin typeface="Arial" pitchFamily="34" charset="0"/>
                <a:ea typeface="Arial" pitchFamily="34" charset="-122"/>
                <a:cs typeface="Arial" pitchFamily="34" charset="-120"/>
              </a:rPr>
              <a:t>JPMorgan</a:t>
            </a:r>
            <a:endParaRPr lang="en-US" sz="700" dirty="0"/>
          </a:p>
        </p:txBody>
      </p:sp>
      <p:sp>
        <p:nvSpPr>
          <p:cNvPr id="81" name="Text 79"/>
          <p:cNvSpPr/>
          <p:nvPr/>
        </p:nvSpPr>
        <p:spPr>
          <a:xfrm>
            <a:off x="5922007" y="3357311"/>
            <a:ext cx="822960" cy="118872"/>
          </a:xfrm>
          <a:prstGeom prst="rect">
            <a:avLst/>
          </a:prstGeom>
          <a:noFill/>
          <a:ln/>
        </p:spPr>
        <p:txBody>
          <a:bodyPr wrap="square" lIns="0" tIns="0" rIns="0" bIns="0" rtlCol="0" anchor="ctr"/>
          <a:lstStyle/>
          <a:p>
            <a:pPr indent="0" marL="0">
              <a:buNone/>
            </a:pPr>
            <a:r>
              <a:rPr lang="en-US" sz="700" b="1" dirty="0">
                <a:solidFill>
                  <a:srgbClr val="333333"/>
                </a:solidFill>
                <a:latin typeface="Arial" pitchFamily="34" charset="0"/>
                <a:ea typeface="Arial" pitchFamily="34" charset="-122"/>
                <a:cs typeface="Arial" pitchFamily="34" charset="-120"/>
              </a:rPr>
              <a:t>Eli Lilly</a:t>
            </a:r>
            <a:endParaRPr lang="en-US" sz="700" dirty="0"/>
          </a:p>
        </p:txBody>
      </p:sp>
      <p:sp>
        <p:nvSpPr>
          <p:cNvPr id="82" name="Text 80"/>
          <p:cNvSpPr/>
          <p:nvPr/>
        </p:nvSpPr>
        <p:spPr>
          <a:xfrm>
            <a:off x="4825461" y="3636752"/>
            <a:ext cx="822960" cy="118872"/>
          </a:xfrm>
          <a:prstGeom prst="rect">
            <a:avLst/>
          </a:prstGeom>
          <a:noFill/>
          <a:ln/>
        </p:spPr>
        <p:txBody>
          <a:bodyPr wrap="square" lIns="0" tIns="0" rIns="0" bIns="0" rtlCol="0" anchor="ctr"/>
          <a:lstStyle/>
          <a:p>
            <a:pPr indent="0" marL="0">
              <a:buNone/>
            </a:pPr>
            <a:r>
              <a:rPr lang="en-US" sz="700" b="1" dirty="0">
                <a:solidFill>
                  <a:srgbClr val="333333"/>
                </a:solidFill>
                <a:latin typeface="Arial" pitchFamily="34" charset="0"/>
                <a:ea typeface="Arial" pitchFamily="34" charset="-122"/>
                <a:cs typeface="Arial" pitchFamily="34" charset="-120"/>
              </a:rPr>
              <a:t>Exxon</a:t>
            </a:r>
            <a:endParaRPr lang="en-US" sz="700" dirty="0"/>
          </a:p>
        </p:txBody>
      </p:sp>
      <p:sp>
        <p:nvSpPr>
          <p:cNvPr id="83" name="Text 81"/>
          <p:cNvSpPr/>
          <p:nvPr/>
        </p:nvSpPr>
        <p:spPr>
          <a:xfrm>
            <a:off x="6024703" y="3504712"/>
            <a:ext cx="822960" cy="118872"/>
          </a:xfrm>
          <a:prstGeom prst="rect">
            <a:avLst/>
          </a:prstGeom>
          <a:noFill/>
          <a:ln/>
        </p:spPr>
        <p:txBody>
          <a:bodyPr wrap="square" lIns="0" tIns="0" rIns="0" bIns="0" rtlCol="0" anchor="ctr"/>
          <a:lstStyle/>
          <a:p>
            <a:pPr indent="0" marL="0">
              <a:buNone/>
            </a:pPr>
            <a:r>
              <a:rPr lang="en-US" sz="700" b="1" dirty="0">
                <a:solidFill>
                  <a:srgbClr val="333333"/>
                </a:solidFill>
                <a:latin typeface="Arial" pitchFamily="34" charset="0"/>
                <a:ea typeface="Arial" pitchFamily="34" charset="-122"/>
                <a:cs typeface="Arial" pitchFamily="34" charset="-120"/>
              </a:rPr>
              <a:t>Visa</a:t>
            </a:r>
            <a:endParaRPr lang="en-US" sz="700" dirty="0"/>
          </a:p>
        </p:txBody>
      </p:sp>
      <p:sp>
        <p:nvSpPr>
          <p:cNvPr id="84" name="Shape 82"/>
          <p:cNvSpPr/>
          <p:nvPr/>
        </p:nvSpPr>
        <p:spPr>
          <a:xfrm>
            <a:off x="7818120" y="2157984"/>
            <a:ext cx="91440" cy="91440"/>
          </a:xfrm>
          <a:prstGeom prst="ellipse">
            <a:avLst/>
          </a:prstGeom>
          <a:solidFill>
            <a:srgbClr val="F6693D"/>
          </a:solidFill>
          <a:ln w="6350">
            <a:solidFill>
              <a:srgbClr val="FFFFFF"/>
            </a:solidFill>
            <a:prstDash val="solid"/>
          </a:ln>
        </p:spPr>
      </p:sp>
      <p:sp>
        <p:nvSpPr>
          <p:cNvPr id="85" name="Text 83"/>
          <p:cNvSpPr/>
          <p:nvPr/>
        </p:nvSpPr>
        <p:spPr>
          <a:xfrm>
            <a:off x="7936992" y="2130552"/>
            <a:ext cx="548640" cy="146304"/>
          </a:xfrm>
          <a:prstGeom prst="rect">
            <a:avLst/>
          </a:prstGeom>
          <a:noFill/>
          <a:ln/>
        </p:spPr>
        <p:txBody>
          <a:bodyPr wrap="square" lIns="0" tIns="0" rIns="0" bIns="0" rtlCol="0" anchor="ctr"/>
          <a:lstStyle/>
          <a:p>
            <a:pPr indent="0" marL="0">
              <a:buNone/>
            </a:pPr>
            <a:r>
              <a:rPr lang="en-US" sz="750" b="1" dirty="0">
                <a:solidFill>
                  <a:srgbClr val="333333"/>
                </a:solidFill>
                <a:latin typeface="Arial" pitchFamily="34" charset="0"/>
                <a:ea typeface="Arial" pitchFamily="34" charset="-122"/>
                <a:cs typeface="Arial" pitchFamily="34" charset="-120"/>
              </a:rPr>
              <a:t>Tech</a:t>
            </a:r>
            <a:endParaRPr lang="en-US" sz="750" dirty="0"/>
          </a:p>
        </p:txBody>
      </p:sp>
      <p:sp>
        <p:nvSpPr>
          <p:cNvPr id="86" name="Shape 84"/>
          <p:cNvSpPr/>
          <p:nvPr/>
        </p:nvSpPr>
        <p:spPr>
          <a:xfrm>
            <a:off x="7818120" y="2322576"/>
            <a:ext cx="91440" cy="91440"/>
          </a:xfrm>
          <a:prstGeom prst="ellipse">
            <a:avLst/>
          </a:prstGeom>
          <a:solidFill>
            <a:srgbClr val="333333"/>
          </a:solidFill>
          <a:ln w="6350">
            <a:solidFill>
              <a:srgbClr val="FFFFFF"/>
            </a:solidFill>
            <a:prstDash val="solid"/>
          </a:ln>
        </p:spPr>
      </p:sp>
      <p:sp>
        <p:nvSpPr>
          <p:cNvPr id="87" name="Text 85"/>
          <p:cNvSpPr/>
          <p:nvPr/>
        </p:nvSpPr>
        <p:spPr>
          <a:xfrm>
            <a:off x="7936992" y="2295144"/>
            <a:ext cx="777240" cy="146304"/>
          </a:xfrm>
          <a:prstGeom prst="rect">
            <a:avLst/>
          </a:prstGeom>
          <a:noFill/>
          <a:ln/>
        </p:spPr>
        <p:txBody>
          <a:bodyPr wrap="square" lIns="0" tIns="0" rIns="0" bIns="0" rtlCol="0" anchor="ctr"/>
          <a:lstStyle/>
          <a:p>
            <a:pPr indent="0" marL="0">
              <a:buNone/>
            </a:pPr>
            <a:r>
              <a:rPr lang="en-US" sz="750" b="1" dirty="0">
                <a:solidFill>
                  <a:srgbClr val="333333"/>
                </a:solidFill>
                <a:latin typeface="Arial" pitchFamily="34" charset="0"/>
                <a:ea typeface="Arial" pitchFamily="34" charset="-122"/>
                <a:cs typeface="Arial" pitchFamily="34" charset="-120"/>
              </a:rPr>
              <a:t>Non-Tech</a:t>
            </a:r>
            <a:endParaRPr lang="en-US" sz="750" dirty="0"/>
          </a:p>
        </p:txBody>
      </p:sp>
      <p:sp>
        <p:nvSpPr>
          <p:cNvPr id="88" name="Shape 86"/>
          <p:cNvSpPr/>
          <p:nvPr/>
        </p:nvSpPr>
        <p:spPr>
          <a:xfrm>
            <a:off x="457200" y="5394960"/>
            <a:ext cx="8229600" cy="411480"/>
          </a:xfrm>
          <a:prstGeom prst="rect">
            <a:avLst/>
          </a:prstGeom>
          <a:solidFill>
            <a:srgbClr val="333333"/>
          </a:solidFill>
          <a:ln w="12700">
            <a:solidFill>
              <a:srgbClr val="333333"/>
            </a:solidFill>
            <a:prstDash val="solid"/>
          </a:ln>
        </p:spPr>
      </p:sp>
      <p:sp>
        <p:nvSpPr>
          <p:cNvPr id="89" name="Text 87"/>
          <p:cNvSpPr/>
          <p:nvPr/>
        </p:nvSpPr>
        <p:spPr>
          <a:xfrm>
            <a:off x="640080" y="5394960"/>
            <a:ext cx="7863840" cy="411480"/>
          </a:xfrm>
          <a:prstGeom prst="rect">
            <a:avLst/>
          </a:prstGeom>
          <a:noFill/>
          <a:ln/>
        </p:spPr>
        <p:txBody>
          <a:bodyPr wrap="square" lIns="0" tIns="0" rIns="0" bIns="0" rtlCol="0" anchor="ctr"/>
          <a:lstStyle/>
          <a:p>
            <a:pPr indent="0" marL="0">
              <a:buNone/>
            </a:pPr>
            <a:r>
              <a:rPr lang="en-US" sz="1100" b="1" dirty="0">
                <a:solidFill>
                  <a:srgbClr val="FFFFFF"/>
                </a:solidFill>
                <a:latin typeface="Arial" pitchFamily="34" charset="0"/>
                <a:ea typeface="Arial" pitchFamily="34" charset="-122"/>
                <a:cs typeface="Arial" pitchFamily="34" charset="-120"/>
              </a:rPr>
              <a:t>Tech median: ~26× fwd P/E on ~17% forward revenue growth. Non-Tech: ~23× on ~5% (consensus, Apr 22, 2026). The divergence is in the engine, not the multiple.</a:t>
            </a:r>
            <a:endParaRPr lang="en-US" sz="1100" dirty="0"/>
          </a:p>
        </p:txBody>
      </p:sp>
      <p:sp>
        <p:nvSpPr>
          <p:cNvPr id="90" name="Text 88"/>
          <p:cNvSpPr/>
          <p:nvPr/>
        </p:nvSpPr>
        <p:spPr>
          <a:xfrm>
            <a:off x="457200" y="5875020"/>
            <a:ext cx="8229600" cy="320040"/>
          </a:xfrm>
          <a:prstGeom prst="rect">
            <a:avLst/>
          </a:prstGeom>
          <a:noFill/>
          <a:ln/>
        </p:spPr>
        <p:txBody>
          <a:bodyPr wrap="square" lIns="0" tIns="0" rIns="0" bIns="0" rtlCol="0" anchor="t"/>
          <a:lstStyle/>
          <a:p>
            <a:pPr indent="0" marL="0">
              <a:buNone/>
            </a:pPr>
            <a:r>
              <a:rPr lang="en-US" sz="700" dirty="0">
                <a:solidFill>
                  <a:srgbClr val="999999"/>
                </a:solidFill>
                <a:latin typeface="Arial" pitchFamily="34" charset="0"/>
                <a:ea typeface="Arial" pitchFamily="34" charset="-122"/>
                <a:cs typeface="Arial" pitchFamily="34" charset="-120"/>
              </a:rPr>
              <a:t>Sources: stockanalysis.com analyst consensus (AAPL/MSFT/GOOGL/AMZN/NVDA/META/AVGO/TSLA/LLY/JPM/V/XOM/BRK.B/WMT, as of Apr 22, 2026); companiesmarketcap.com (mkt caps, Apr 22, 2026). NVDA, AVGO clipped at +50% growth; TSLA at 50× fwd P/E.</a:t>
            </a:r>
            <a:endParaRPr lang="en-US" sz="700" dirty="0"/>
          </a:p>
        </p:txBody>
      </p:sp>
      <p:sp>
        <p:nvSpPr>
          <p:cNvPr id="91" name="Shape 89"/>
          <p:cNvSpPr/>
          <p:nvPr/>
        </p:nvSpPr>
        <p:spPr>
          <a:xfrm>
            <a:off x="0" y="6286500"/>
            <a:ext cx="9144000" cy="571500"/>
          </a:xfrm>
          <a:prstGeom prst="rect">
            <a:avLst/>
          </a:prstGeom>
          <a:solidFill>
            <a:srgbClr val="000000"/>
          </a:solidFill>
          <a:ln w="12700">
            <a:solidFill>
              <a:srgbClr val="000000"/>
            </a:solidFill>
            <a:prstDash val="solid"/>
          </a:ln>
        </p:spPr>
      </p:sp>
      <p:sp>
        <p:nvSpPr>
          <p:cNvPr id="92" name="Text 90"/>
          <p:cNvSpPr/>
          <p:nvPr/>
        </p:nvSpPr>
        <p:spPr>
          <a:xfrm>
            <a:off x="1371600" y="6332220"/>
            <a:ext cx="6400800" cy="457200"/>
          </a:xfrm>
          <a:prstGeom prst="rect">
            <a:avLst/>
          </a:prstGeom>
          <a:noFill/>
          <a:ln/>
        </p:spPr>
        <p:txBody>
          <a:bodyPr wrap="square" lIns="0" tIns="0" rIns="0" bIns="0" rtlCol="0" anchor="ctr"/>
          <a:lstStyle/>
          <a:p>
            <a:pPr algn="ctr" indent="0" marL="0">
              <a:buNone/>
            </a:pPr>
            <a:r>
              <a:rPr lang="en-US" sz="650" b="1" dirty="0">
                <a:solidFill>
                  <a:srgbClr val="FFFFFF"/>
                </a:solidFill>
                <a:latin typeface="Arial" pitchFamily="34" charset="0"/>
                <a:ea typeface="Arial" pitchFamily="34" charset="-122"/>
                <a:cs typeface="Arial" pitchFamily="34" charset="-120"/>
              </a:rPr>
              <a:t>FOR INFORMATIONAL PURPOSES ONLY. NOT INVESTMENT ADVICE. PAST PERFORMANCE IS NOT INDICATIVE OF FUTURE RESULTS.</a:t>
            </a:r>
            <a:endParaRPr lang="en-US" sz="650" dirty="0"/>
          </a:p>
        </p:txBody>
      </p:sp>
      <p:sp>
        <p:nvSpPr>
          <p:cNvPr id="93" name="Text 91"/>
          <p:cNvSpPr/>
          <p:nvPr/>
        </p:nvSpPr>
        <p:spPr>
          <a:xfrm>
            <a:off x="8321040" y="6405372"/>
            <a:ext cx="548640" cy="274320"/>
          </a:xfrm>
          <a:prstGeom prst="rect">
            <a:avLst/>
          </a:prstGeom>
          <a:noFill/>
          <a:ln/>
        </p:spPr>
        <p:txBody>
          <a:bodyPr wrap="square" lIns="0" tIns="0" rIns="0" bIns="0" rtlCol="0" anchor="ctr"/>
          <a:lstStyle/>
          <a:p>
            <a:pPr algn="r" indent="0" marL="0">
              <a:buNone/>
            </a:pPr>
            <a:r>
              <a:rPr lang="en-US" sz="900" dirty="0">
                <a:solidFill>
                  <a:srgbClr val="FFFFFF"/>
                </a:solidFill>
                <a:latin typeface="Arial" pitchFamily="34" charset="0"/>
                <a:ea typeface="Arial" pitchFamily="34" charset="-122"/>
                <a:cs typeface="Arial" pitchFamily="34" charset="-120"/>
              </a:rPr>
              <a:t>11</a:t>
            </a:r>
            <a:endParaRPr lang="en-US" sz="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Shape 0"/>
          <p:cNvSpPr/>
          <p:nvPr/>
        </p:nvSpPr>
        <p:spPr>
          <a:xfrm>
            <a:off x="7132320" y="164592"/>
            <a:ext cx="1737360" cy="292608"/>
          </a:xfrm>
          <a:prstGeom prst="roundRect">
            <a:avLst>
              <a:gd name="adj" fmla="val 15625"/>
            </a:avLst>
          </a:prstGeom>
          <a:solidFill>
            <a:srgbClr val="F6693D"/>
          </a:solidFill>
          <a:ln w="12700">
            <a:solidFill>
              <a:srgbClr val="F6693D"/>
            </a:solidFill>
            <a:prstDash val="solid"/>
          </a:ln>
        </p:spPr>
      </p:sp>
      <p:sp>
        <p:nvSpPr>
          <p:cNvPr id="3" name="Text 1"/>
          <p:cNvSpPr/>
          <p:nvPr/>
        </p:nvSpPr>
        <p:spPr>
          <a:xfrm>
            <a:off x="7132320" y="164592"/>
            <a:ext cx="1737360" cy="292608"/>
          </a:xfrm>
          <a:prstGeom prst="rect">
            <a:avLst/>
          </a:prstGeom>
          <a:noFill/>
          <a:ln/>
        </p:spPr>
        <p:txBody>
          <a:bodyPr wrap="square" lIns="0" tIns="0" rIns="0" bIns="0" rtlCol="0" anchor="ctr"/>
          <a:lstStyle/>
          <a:p>
            <a:pPr algn="ctr" indent="0" marL="0">
              <a:buNone/>
            </a:pPr>
            <a:r>
              <a:rPr lang="en-US" sz="1000" b="1" spc="100" kern="0" dirty="0">
                <a:solidFill>
                  <a:srgbClr val="000000"/>
                </a:solidFill>
                <a:latin typeface="Arial" pitchFamily="34" charset="0"/>
                <a:ea typeface="Arial" pitchFamily="34" charset="-122"/>
                <a:cs typeface="Arial" pitchFamily="34" charset="-120"/>
              </a:rPr>
              <a:t>SHIFTS</a:t>
            </a:r>
            <a:endParaRPr lang="en-US" sz="1000" dirty="0"/>
          </a:p>
        </p:txBody>
      </p:sp>
      <p:sp>
        <p:nvSpPr>
          <p:cNvPr id="4" name="Text 2"/>
          <p:cNvSpPr/>
          <p:nvPr/>
        </p:nvSpPr>
        <p:spPr>
          <a:xfrm>
            <a:off x="457200" y="182880"/>
            <a:ext cx="6583680" cy="685800"/>
          </a:xfrm>
          <a:prstGeom prst="rect">
            <a:avLst/>
          </a:prstGeom>
          <a:noFill/>
          <a:ln/>
        </p:spPr>
        <p:txBody>
          <a:bodyPr wrap="square" lIns="0" tIns="0" rIns="0" bIns="0" rtlCol="0" anchor="t"/>
          <a:lstStyle/>
          <a:p>
            <a:pPr indent="0" marL="0">
              <a:buNone/>
            </a:pPr>
            <a:r>
              <a:rPr lang="en-US" sz="2400" b="1" dirty="0">
                <a:solidFill>
                  <a:srgbClr val="000000"/>
                </a:solidFill>
                <a:latin typeface="Arial Black" pitchFamily="34" charset="0"/>
                <a:ea typeface="Arial Black" pitchFamily="34" charset="-122"/>
                <a:cs typeface="Arial Black" pitchFamily="34" charset="-120"/>
              </a:rPr>
              <a:t>Agentic AI uses 10–100× the compute per session — that's the capex thesis</a:t>
            </a:r>
            <a:endParaRPr lang="en-US" sz="2400" dirty="0"/>
          </a:p>
        </p:txBody>
      </p:sp>
      <p:sp>
        <p:nvSpPr>
          <p:cNvPr id="5" name="Text 3"/>
          <p:cNvSpPr/>
          <p:nvPr/>
        </p:nvSpPr>
        <p:spPr>
          <a:xfrm>
            <a:off x="457200" y="914400"/>
            <a:ext cx="8229600" cy="457200"/>
          </a:xfrm>
          <a:prstGeom prst="rect">
            <a:avLst/>
          </a:prstGeom>
          <a:noFill/>
          <a:ln/>
        </p:spPr>
        <p:txBody>
          <a:bodyPr wrap="square" lIns="0" tIns="0" rIns="0" bIns="0" rtlCol="0" anchor="t"/>
          <a:lstStyle/>
          <a:p>
            <a:pPr indent="0" marL="0">
              <a:buNone/>
            </a:pPr>
            <a:r>
              <a:rPr lang="en-US" sz="1350" dirty="0">
                <a:solidFill>
                  <a:srgbClr val="666666"/>
                </a:solidFill>
                <a:latin typeface="Arial" pitchFamily="34" charset="0"/>
                <a:ea typeface="Arial" pitchFamily="34" charset="-122"/>
                <a:cs typeface="Arial" pitchFamily="34" charset="-120"/>
              </a:rPr>
              <a:t>Agents set goals, use tools, and complete tasks end-to-end — each session uses 10–100× the compute of a chatbot query (analyst estimates), and inference demand is scaling with it.</a:t>
            </a:r>
            <a:endParaRPr lang="en-US" sz="1350" dirty="0"/>
          </a:p>
        </p:txBody>
      </p:sp>
      <p:sp>
        <p:nvSpPr>
          <p:cNvPr id="6" name="Shape 4"/>
          <p:cNvSpPr/>
          <p:nvPr/>
        </p:nvSpPr>
        <p:spPr>
          <a:xfrm>
            <a:off x="457200" y="1325880"/>
            <a:ext cx="8229600" cy="0"/>
          </a:xfrm>
          <a:prstGeom prst="line">
            <a:avLst/>
          </a:prstGeom>
          <a:noFill/>
          <a:ln w="9525">
            <a:solidFill>
              <a:srgbClr val="E5E5E5"/>
            </a:solidFill>
            <a:prstDash val="solid"/>
          </a:ln>
        </p:spPr>
      </p:sp>
      <p:pic>
        <p:nvPicPr>
          <p:cNvPr id="7" name="Image 0" descr="slides-images/slide12.png">    </p:cNvPr>
          <p:cNvPicPr>
            <a:picLocks noChangeAspect="1"/>
          </p:cNvPicPr>
          <p:nvPr/>
        </p:nvPicPr>
        <p:blipFill>
          <a:blip r:embed="rId1"/>
          <a:srcRect l="0" r="0" t="0" b="0"/>
          <a:stretch/>
        </p:blipFill>
        <p:spPr>
          <a:xfrm>
            <a:off x="457200" y="1691640"/>
            <a:ext cx="3017520" cy="2971800"/>
          </a:xfrm>
          <a:prstGeom prst="rect">
            <a:avLst/>
          </a:prstGeom>
        </p:spPr>
      </p:pic>
      <p:graphicFrame>
        <p:nvGraphicFramePr>
          <p:cNvPr id="13" name="Table 0"/>
          <p:cNvGraphicFramePr>
            <a:graphicFrameLocks noGrp="1"/>
          </p:cNvGraphicFramePr>
          <p:nvPr>
            <p:extLst>
              <p:ext uri="{D42A27DB-BD31-4B8C-83A1-F6EECF244321}">
                <p14:modId xmlns:p14="http://schemas.microsoft.com/office/powerpoint/2010/main" val="1579011935"/>
              </p:ext>
            </p:extLst>
          </p:nvPr>
        </p:nvGraphicFramePr>
        <p:xfrm>
          <a:off x="3611880" y="1691640"/>
          <a:ext cx="5074920" cy="914400"/>
        </p:xfrm>
        <a:graphic>
          <a:graphicData uri="http://schemas.openxmlformats.org/drawingml/2006/table">
            <a:tbl>
              <a:tblPr/>
              <a:tblGrid>
                <a:gridCol w="1325880"/>
                <a:gridCol w="1874520"/>
                <a:gridCol w="1874520"/>
              </a:tblGrid>
              <a:tr h="594360">
                <a:tc>
                  <a:txBody>
                    <a:bodyPr/>
                    <a:lstStyle/>
                    <a:p>
                      <a:pPr algn="ctr" indent="0" marL="0">
                        <a:buNone/>
                      </a:pPr>
                      <a:r>
                        <a:rPr lang="en-US" sz="950" b="1" dirty="0">
                          <a:solidFill>
                            <a:srgbClr val="FFFFFF"/>
                          </a:solidFill>
                          <a:latin typeface="Arial" pitchFamily="34" charset="0"/>
                          <a:ea typeface="Arial" pitchFamily="34" charset="-122"/>
                          <a:cs typeface="Arial" pitchFamily="34" charset="-120"/>
                        </a:rPr>
                        <a:t>Dimension</a:t>
                      </a:r>
                      <a:endParaRPr lang="en-US" sz="950" dirty="0">
                        <a:latin typeface="Arial" charset="0"/>
                        <a:ea typeface="Arial" charset="0"/>
                        <a:cs typeface="Arial" charset="0"/>
                      </a:endParaRPr>
                    </a:p>
                  </a:txBody>
                  <a:tcPr marL="91440" marR="91440" marT="45720" marB="45720" anchor="ctr">
                    <a:lnL w="6350" cap="flat" cmpd="sng" algn="ctr">
                      <a:solidFill>
                        <a:srgbClr val="E5E5E5"/>
                      </a:solidFill>
                      <a:prstDash val="solid"/>
                      <a:round/>
                      <a:headEnd type="none" w="med" len="med"/>
                      <a:tailEnd type="none" w="med" len="med"/>
                    </a:lnL>
                    <a:lnR w="6350" cap="flat" cmpd="sng" algn="ctr">
                      <a:solidFill>
                        <a:srgbClr val="E5E5E5"/>
                      </a:solidFill>
                      <a:prstDash val="solid"/>
                      <a:round/>
                      <a:headEnd type="none" w="med" len="med"/>
                      <a:tailEnd type="none" w="med" len="med"/>
                    </a:lnR>
                    <a:lnT w="6350" cap="flat" cmpd="sng" algn="ctr">
                      <a:solidFill>
                        <a:srgbClr val="E5E5E5"/>
                      </a:solidFill>
                      <a:prstDash val="solid"/>
                      <a:round/>
                      <a:headEnd type="none" w="med" len="med"/>
                      <a:tailEnd type="none" w="med" len="med"/>
                    </a:lnT>
                    <a:lnB w="6350" cap="flat" cmpd="sng" algn="ctr">
                      <a:solidFill>
                        <a:srgbClr val="E5E5E5"/>
                      </a:solidFill>
                      <a:prstDash val="solid"/>
                      <a:round/>
                      <a:headEnd type="none" w="med" len="med"/>
                      <a:tailEnd type="none" w="med" len="med"/>
                    </a:lnB>
                    <a:solidFill>
                      <a:srgbClr val="000000"/>
                    </a:solidFill>
                  </a:tcPr>
                </a:tc>
                <a:tc>
                  <a:txBody>
                    <a:bodyPr/>
                    <a:lstStyle/>
                    <a:p>
                      <a:pPr algn="ctr" indent="0" marL="0">
                        <a:buNone/>
                      </a:pPr>
                      <a:r>
                        <a:rPr lang="en-US" sz="950" b="1" dirty="0">
                          <a:solidFill>
                            <a:srgbClr val="FFFFFF"/>
                          </a:solidFill>
                          <a:latin typeface="Arial" pitchFamily="34" charset="0"/>
                          <a:ea typeface="Arial" pitchFamily="34" charset="-122"/>
                          <a:cs typeface="Arial" pitchFamily="34" charset="-120"/>
                        </a:rPr>
                        <a:t>Chatbot (2023–24)</a:t>
                      </a:r>
                      <a:endParaRPr lang="en-US" sz="950" dirty="0">
                        <a:latin typeface="Arial" charset="0"/>
                        <a:ea typeface="Arial" charset="0"/>
                        <a:cs typeface="Arial" charset="0"/>
                      </a:endParaRPr>
                    </a:p>
                  </a:txBody>
                  <a:tcPr marL="91440" marR="91440" marT="45720" marB="45720" anchor="ctr">
                    <a:lnL w="6350" cap="flat" cmpd="sng" algn="ctr">
                      <a:solidFill>
                        <a:srgbClr val="E5E5E5"/>
                      </a:solidFill>
                      <a:prstDash val="solid"/>
                      <a:round/>
                      <a:headEnd type="none" w="med" len="med"/>
                      <a:tailEnd type="none" w="med" len="med"/>
                    </a:lnL>
                    <a:lnR w="6350" cap="flat" cmpd="sng" algn="ctr">
                      <a:solidFill>
                        <a:srgbClr val="E5E5E5"/>
                      </a:solidFill>
                      <a:prstDash val="solid"/>
                      <a:round/>
                      <a:headEnd type="none" w="med" len="med"/>
                      <a:tailEnd type="none" w="med" len="med"/>
                    </a:lnR>
                    <a:lnT w="6350" cap="flat" cmpd="sng" algn="ctr">
                      <a:solidFill>
                        <a:srgbClr val="E5E5E5"/>
                      </a:solidFill>
                      <a:prstDash val="solid"/>
                      <a:round/>
                      <a:headEnd type="none" w="med" len="med"/>
                      <a:tailEnd type="none" w="med" len="med"/>
                    </a:lnT>
                    <a:lnB w="6350" cap="flat" cmpd="sng" algn="ctr">
                      <a:solidFill>
                        <a:srgbClr val="E5E5E5"/>
                      </a:solidFill>
                      <a:prstDash val="solid"/>
                      <a:round/>
                      <a:headEnd type="none" w="med" len="med"/>
                      <a:tailEnd type="none" w="med" len="med"/>
                    </a:lnB>
                    <a:solidFill>
                      <a:srgbClr val="000000"/>
                    </a:solidFill>
                  </a:tcPr>
                </a:tc>
                <a:tc>
                  <a:txBody>
                    <a:bodyPr/>
                    <a:lstStyle/>
                    <a:p>
                      <a:pPr algn="ctr" indent="0" marL="0">
                        <a:buNone/>
                      </a:pPr>
                      <a:r>
                        <a:rPr lang="en-US" sz="950" b="1" dirty="0">
                          <a:solidFill>
                            <a:srgbClr val="FFFFFF"/>
                          </a:solidFill>
                          <a:latin typeface="Arial" pitchFamily="34" charset="0"/>
                          <a:ea typeface="Arial" pitchFamily="34" charset="-122"/>
                          <a:cs typeface="Arial" pitchFamily="34" charset="-120"/>
                        </a:rPr>
                        <a:t>Agent (2025+)</a:t>
                      </a:r>
                      <a:endParaRPr lang="en-US" sz="950" dirty="0">
                        <a:latin typeface="Arial" charset="0"/>
                        <a:ea typeface="Arial" charset="0"/>
                        <a:cs typeface="Arial" charset="0"/>
                      </a:endParaRPr>
                    </a:p>
                  </a:txBody>
                  <a:tcPr marL="91440" marR="91440" marT="45720" marB="45720" anchor="ctr">
                    <a:lnL w="6350" cap="flat" cmpd="sng" algn="ctr">
                      <a:solidFill>
                        <a:srgbClr val="E5E5E5"/>
                      </a:solidFill>
                      <a:prstDash val="solid"/>
                      <a:round/>
                      <a:headEnd type="none" w="med" len="med"/>
                      <a:tailEnd type="none" w="med" len="med"/>
                    </a:lnL>
                    <a:lnR w="6350" cap="flat" cmpd="sng" algn="ctr">
                      <a:solidFill>
                        <a:srgbClr val="E5E5E5"/>
                      </a:solidFill>
                      <a:prstDash val="solid"/>
                      <a:round/>
                      <a:headEnd type="none" w="med" len="med"/>
                      <a:tailEnd type="none" w="med" len="med"/>
                    </a:lnR>
                    <a:lnT w="6350" cap="flat" cmpd="sng" algn="ctr">
                      <a:solidFill>
                        <a:srgbClr val="E5E5E5"/>
                      </a:solidFill>
                      <a:prstDash val="solid"/>
                      <a:round/>
                      <a:headEnd type="none" w="med" len="med"/>
                      <a:tailEnd type="none" w="med" len="med"/>
                    </a:lnT>
                    <a:lnB w="6350" cap="flat" cmpd="sng" algn="ctr">
                      <a:solidFill>
                        <a:srgbClr val="E5E5E5"/>
                      </a:solidFill>
                      <a:prstDash val="solid"/>
                      <a:round/>
                      <a:headEnd type="none" w="med" len="med"/>
                      <a:tailEnd type="none" w="med" len="med"/>
                    </a:lnB>
                    <a:solidFill>
                      <a:srgbClr val="000000"/>
                    </a:solidFill>
                  </a:tcPr>
                </a:tc>
              </a:tr>
              <a:tr h="594360">
                <a:tc>
                  <a:txBody>
                    <a:bodyPr/>
                    <a:lstStyle/>
                    <a:p>
                      <a:pPr algn="l" indent="0" marL="0">
                        <a:buNone/>
                      </a:pPr>
                      <a:r>
                        <a:rPr lang="en-US" sz="1000" b="1" dirty="0">
                          <a:solidFill>
                            <a:srgbClr val="000000"/>
                          </a:solidFill>
                          <a:latin typeface="Arial" pitchFamily="34" charset="0"/>
                          <a:ea typeface="Arial" pitchFamily="34" charset="-122"/>
                          <a:cs typeface="Arial" pitchFamily="34" charset="-120"/>
                        </a:rPr>
                        <a:t>Interaction</a:t>
                      </a:r>
                      <a:endParaRPr lang="en-US" sz="1000" dirty="0">
                        <a:latin typeface="Arial" charset="0"/>
                        <a:ea typeface="Arial" charset="0"/>
                        <a:cs typeface="Arial" charset="0"/>
                      </a:endParaRPr>
                    </a:p>
                  </a:txBody>
                  <a:tcPr marL="45720" marR="45720" marT="45720" marB="45720" anchor="ctr">
                    <a:lnL w="6350" cap="flat" cmpd="sng" algn="ctr">
                      <a:solidFill>
                        <a:srgbClr val="E5E5E5"/>
                      </a:solidFill>
                      <a:prstDash val="solid"/>
                      <a:round/>
                      <a:headEnd type="none" w="med" len="med"/>
                      <a:tailEnd type="none" w="med" len="med"/>
                    </a:lnL>
                    <a:lnR w="6350" cap="flat" cmpd="sng" algn="ctr">
                      <a:solidFill>
                        <a:srgbClr val="E5E5E5"/>
                      </a:solidFill>
                      <a:prstDash val="solid"/>
                      <a:round/>
                      <a:headEnd type="none" w="med" len="med"/>
                      <a:tailEnd type="none" w="med" len="med"/>
                    </a:lnR>
                    <a:lnT w="6350" cap="flat" cmpd="sng" algn="ctr">
                      <a:solidFill>
                        <a:srgbClr val="E5E5E5"/>
                      </a:solidFill>
                      <a:prstDash val="solid"/>
                      <a:round/>
                      <a:headEnd type="none" w="med" len="med"/>
                      <a:tailEnd type="none" w="med" len="med"/>
                    </a:lnT>
                    <a:lnB w="6350" cap="flat" cmpd="sng" algn="ctr">
                      <a:solidFill>
                        <a:srgbClr val="E5E5E5"/>
                      </a:solidFill>
                      <a:prstDash val="solid"/>
                      <a:round/>
                      <a:headEnd type="none" w="med" len="med"/>
                      <a:tailEnd type="none" w="med" len="med"/>
                    </a:lnB>
                    <a:solidFill>
                      <a:srgbClr val="F9F9F9"/>
                    </a:solidFill>
                  </a:tcPr>
                </a:tc>
                <a:tc>
                  <a:txBody>
                    <a:bodyPr/>
                    <a:lstStyle/>
                    <a:p>
                      <a:pPr algn="l" indent="0" marL="0">
                        <a:buNone/>
                      </a:pPr>
                      <a:r>
                        <a:rPr lang="en-US" sz="1000" dirty="0">
                          <a:solidFill>
                            <a:srgbClr val="333333"/>
                          </a:solidFill>
                          <a:latin typeface="Arial" pitchFamily="34" charset="0"/>
                          <a:ea typeface="Arial" pitchFamily="34" charset="-122"/>
                          <a:cs typeface="Arial" pitchFamily="34" charset="-120"/>
                        </a:rPr>
                        <a:t>You ask, it answers</a:t>
                      </a:r>
                      <a:endParaRPr lang="en-US" sz="1000" dirty="0">
                        <a:latin typeface="Arial" charset="0"/>
                        <a:ea typeface="Arial" charset="0"/>
                        <a:cs typeface="Arial" charset="0"/>
                      </a:endParaRPr>
                    </a:p>
                  </a:txBody>
                  <a:tcPr marL="45720" marR="45720" marT="45720" marB="45720" anchor="ctr">
                    <a:lnL w="6350" cap="flat" cmpd="sng" algn="ctr">
                      <a:solidFill>
                        <a:srgbClr val="E5E5E5"/>
                      </a:solidFill>
                      <a:prstDash val="solid"/>
                      <a:round/>
                      <a:headEnd type="none" w="med" len="med"/>
                      <a:tailEnd type="none" w="med" len="med"/>
                    </a:lnL>
                    <a:lnR w="6350" cap="flat" cmpd="sng" algn="ctr">
                      <a:solidFill>
                        <a:srgbClr val="E5E5E5"/>
                      </a:solidFill>
                      <a:prstDash val="solid"/>
                      <a:round/>
                      <a:headEnd type="none" w="med" len="med"/>
                      <a:tailEnd type="none" w="med" len="med"/>
                    </a:lnR>
                    <a:lnT w="6350" cap="flat" cmpd="sng" algn="ctr">
                      <a:solidFill>
                        <a:srgbClr val="E5E5E5"/>
                      </a:solidFill>
                      <a:prstDash val="solid"/>
                      <a:round/>
                      <a:headEnd type="none" w="med" len="med"/>
                      <a:tailEnd type="none" w="med" len="med"/>
                    </a:lnT>
                    <a:lnB w="6350" cap="flat" cmpd="sng" algn="ctr">
                      <a:solidFill>
                        <a:srgbClr val="E5E5E5"/>
                      </a:solidFill>
                      <a:prstDash val="solid"/>
                      <a:round/>
                      <a:headEnd type="none" w="med" len="med"/>
                      <a:tailEnd type="none" w="med" len="med"/>
                    </a:lnB>
                    <a:solidFill>
                      <a:srgbClr val="F9F9F9"/>
                    </a:solidFill>
                  </a:tcPr>
                </a:tc>
                <a:tc>
                  <a:txBody>
                    <a:bodyPr/>
                    <a:lstStyle/>
                    <a:p>
                      <a:pPr algn="l" indent="0" marL="0">
                        <a:buNone/>
                      </a:pPr>
                      <a:r>
                        <a:rPr lang="en-US" sz="1000" b="1" dirty="0">
                          <a:solidFill>
                            <a:srgbClr val="F6693D"/>
                          </a:solidFill>
                          <a:latin typeface="Arial" pitchFamily="34" charset="0"/>
                          <a:ea typeface="Arial" pitchFamily="34" charset="-122"/>
                          <a:cs typeface="Arial" pitchFamily="34" charset="-120"/>
                        </a:rPr>
                        <a:t>Sets goals, executes autonomously</a:t>
                      </a:r>
                      <a:endParaRPr lang="en-US" sz="1000" dirty="0">
                        <a:latin typeface="Arial" charset="0"/>
                        <a:ea typeface="Arial" charset="0"/>
                        <a:cs typeface="Arial" charset="0"/>
                      </a:endParaRPr>
                    </a:p>
                  </a:txBody>
                  <a:tcPr marL="45720" marR="45720" marT="45720" marB="45720" anchor="ctr">
                    <a:lnL w="6350" cap="flat" cmpd="sng" algn="ctr">
                      <a:solidFill>
                        <a:srgbClr val="E5E5E5"/>
                      </a:solidFill>
                      <a:prstDash val="solid"/>
                      <a:round/>
                      <a:headEnd type="none" w="med" len="med"/>
                      <a:tailEnd type="none" w="med" len="med"/>
                    </a:lnL>
                    <a:lnR w="6350" cap="flat" cmpd="sng" algn="ctr">
                      <a:solidFill>
                        <a:srgbClr val="E5E5E5"/>
                      </a:solidFill>
                      <a:prstDash val="solid"/>
                      <a:round/>
                      <a:headEnd type="none" w="med" len="med"/>
                      <a:tailEnd type="none" w="med" len="med"/>
                    </a:lnR>
                    <a:lnT w="6350" cap="flat" cmpd="sng" algn="ctr">
                      <a:solidFill>
                        <a:srgbClr val="E5E5E5"/>
                      </a:solidFill>
                      <a:prstDash val="solid"/>
                      <a:round/>
                      <a:headEnd type="none" w="med" len="med"/>
                      <a:tailEnd type="none" w="med" len="med"/>
                    </a:lnT>
                    <a:lnB w="6350" cap="flat" cmpd="sng" algn="ctr">
                      <a:solidFill>
                        <a:srgbClr val="E5E5E5"/>
                      </a:solidFill>
                      <a:prstDash val="solid"/>
                      <a:round/>
                      <a:headEnd type="none" w="med" len="med"/>
                      <a:tailEnd type="none" w="med" len="med"/>
                    </a:lnB>
                    <a:solidFill>
                      <a:srgbClr val="F9F9F9"/>
                    </a:solidFill>
                  </a:tcPr>
                </a:tc>
              </a:tr>
              <a:tr h="594360">
                <a:tc>
                  <a:txBody>
                    <a:bodyPr/>
                    <a:lstStyle/>
                    <a:p>
                      <a:pPr algn="l" indent="0" marL="0">
                        <a:buNone/>
                      </a:pPr>
                      <a:r>
                        <a:rPr lang="en-US" sz="1000" b="1" dirty="0">
                          <a:solidFill>
                            <a:srgbClr val="000000"/>
                          </a:solidFill>
                          <a:latin typeface="Arial" pitchFamily="34" charset="0"/>
                          <a:ea typeface="Arial" pitchFamily="34" charset="-122"/>
                          <a:cs typeface="Arial" pitchFamily="34" charset="-120"/>
                        </a:rPr>
                        <a:t>Tokens per session</a:t>
                      </a:r>
                      <a:endParaRPr lang="en-US" sz="1000" dirty="0">
                        <a:latin typeface="Arial" charset="0"/>
                        <a:ea typeface="Arial" charset="0"/>
                        <a:cs typeface="Arial" charset="0"/>
                      </a:endParaRPr>
                    </a:p>
                  </a:txBody>
                  <a:tcPr marL="45720" marR="45720" marT="45720" marB="45720" anchor="ctr">
                    <a:lnL w="6350" cap="flat" cmpd="sng" algn="ctr">
                      <a:solidFill>
                        <a:srgbClr val="E5E5E5"/>
                      </a:solidFill>
                      <a:prstDash val="solid"/>
                      <a:round/>
                      <a:headEnd type="none" w="med" len="med"/>
                      <a:tailEnd type="none" w="med" len="med"/>
                    </a:lnL>
                    <a:lnR w="6350" cap="flat" cmpd="sng" algn="ctr">
                      <a:solidFill>
                        <a:srgbClr val="E5E5E5"/>
                      </a:solidFill>
                      <a:prstDash val="solid"/>
                      <a:round/>
                      <a:headEnd type="none" w="med" len="med"/>
                      <a:tailEnd type="none" w="med" len="med"/>
                    </a:lnR>
                    <a:lnT w="6350" cap="flat" cmpd="sng" algn="ctr">
                      <a:solidFill>
                        <a:srgbClr val="E5E5E5"/>
                      </a:solidFill>
                      <a:prstDash val="solid"/>
                      <a:round/>
                      <a:headEnd type="none" w="med" len="med"/>
                      <a:tailEnd type="none" w="med" len="med"/>
                    </a:lnT>
                    <a:lnB w="6350" cap="flat" cmpd="sng" algn="ctr">
                      <a:solidFill>
                        <a:srgbClr val="E5E5E5"/>
                      </a:solidFill>
                      <a:prstDash val="solid"/>
                      <a:round/>
                      <a:headEnd type="none" w="med" len="med"/>
                      <a:tailEnd type="none" w="med" len="med"/>
                    </a:lnB>
                  </a:tcPr>
                </a:tc>
                <a:tc>
                  <a:txBody>
                    <a:bodyPr/>
                    <a:lstStyle/>
                    <a:p>
                      <a:pPr algn="l" indent="0" marL="0">
                        <a:buNone/>
                      </a:pPr>
                      <a:r>
                        <a:rPr lang="en-US" sz="1000" dirty="0">
                          <a:solidFill>
                            <a:srgbClr val="333333"/>
                          </a:solidFill>
                          <a:latin typeface="Arial" pitchFamily="34" charset="0"/>
                          <a:ea typeface="Arial" pitchFamily="34" charset="-122"/>
                          <a:cs typeface="Arial" pitchFamily="34" charset="-120"/>
                        </a:rPr>
                        <a:t>1K – 5K</a:t>
                      </a:r>
                      <a:endParaRPr lang="en-US" sz="1000" dirty="0">
                        <a:latin typeface="Arial" charset="0"/>
                        <a:ea typeface="Arial" charset="0"/>
                        <a:cs typeface="Arial" charset="0"/>
                      </a:endParaRPr>
                    </a:p>
                  </a:txBody>
                  <a:tcPr marL="45720" marR="45720" marT="45720" marB="45720" anchor="ctr">
                    <a:lnL w="6350" cap="flat" cmpd="sng" algn="ctr">
                      <a:solidFill>
                        <a:srgbClr val="E5E5E5"/>
                      </a:solidFill>
                      <a:prstDash val="solid"/>
                      <a:round/>
                      <a:headEnd type="none" w="med" len="med"/>
                      <a:tailEnd type="none" w="med" len="med"/>
                    </a:lnL>
                    <a:lnR w="6350" cap="flat" cmpd="sng" algn="ctr">
                      <a:solidFill>
                        <a:srgbClr val="E5E5E5"/>
                      </a:solidFill>
                      <a:prstDash val="solid"/>
                      <a:round/>
                      <a:headEnd type="none" w="med" len="med"/>
                      <a:tailEnd type="none" w="med" len="med"/>
                    </a:lnR>
                    <a:lnT w="6350" cap="flat" cmpd="sng" algn="ctr">
                      <a:solidFill>
                        <a:srgbClr val="E5E5E5"/>
                      </a:solidFill>
                      <a:prstDash val="solid"/>
                      <a:round/>
                      <a:headEnd type="none" w="med" len="med"/>
                      <a:tailEnd type="none" w="med" len="med"/>
                    </a:lnT>
                    <a:lnB w="6350" cap="flat" cmpd="sng" algn="ctr">
                      <a:solidFill>
                        <a:srgbClr val="E5E5E5"/>
                      </a:solidFill>
                      <a:prstDash val="solid"/>
                      <a:round/>
                      <a:headEnd type="none" w="med" len="med"/>
                      <a:tailEnd type="none" w="med" len="med"/>
                    </a:lnB>
                  </a:tcPr>
                </a:tc>
                <a:tc>
                  <a:txBody>
                    <a:bodyPr/>
                    <a:lstStyle/>
                    <a:p>
                      <a:pPr algn="l" indent="0" marL="0">
                        <a:buNone/>
                      </a:pPr>
                      <a:r>
                        <a:rPr lang="en-US" sz="1000" b="1" dirty="0">
                          <a:solidFill>
                            <a:srgbClr val="000000"/>
                          </a:solidFill>
                          <a:latin typeface="Arial" pitchFamily="34" charset="0"/>
                          <a:ea typeface="Arial" pitchFamily="34" charset="-122"/>
                          <a:cs typeface="Arial" pitchFamily="34" charset="-120"/>
                        </a:rPr>
                        <a:t>50K – 500K+</a:t>
                      </a:r>
                      <a:endParaRPr lang="en-US" sz="1000" dirty="0">
                        <a:latin typeface="Arial" charset="0"/>
                        <a:ea typeface="Arial" charset="0"/>
                        <a:cs typeface="Arial" charset="0"/>
                      </a:endParaRPr>
                    </a:p>
                  </a:txBody>
                  <a:tcPr marL="45720" marR="45720" marT="45720" marB="45720" anchor="ctr">
                    <a:lnL w="6350" cap="flat" cmpd="sng" algn="ctr">
                      <a:solidFill>
                        <a:srgbClr val="E5E5E5"/>
                      </a:solidFill>
                      <a:prstDash val="solid"/>
                      <a:round/>
                      <a:headEnd type="none" w="med" len="med"/>
                      <a:tailEnd type="none" w="med" len="med"/>
                    </a:lnL>
                    <a:lnR w="6350" cap="flat" cmpd="sng" algn="ctr">
                      <a:solidFill>
                        <a:srgbClr val="E5E5E5"/>
                      </a:solidFill>
                      <a:prstDash val="solid"/>
                      <a:round/>
                      <a:headEnd type="none" w="med" len="med"/>
                      <a:tailEnd type="none" w="med" len="med"/>
                    </a:lnR>
                    <a:lnT w="6350" cap="flat" cmpd="sng" algn="ctr">
                      <a:solidFill>
                        <a:srgbClr val="E5E5E5"/>
                      </a:solidFill>
                      <a:prstDash val="solid"/>
                      <a:round/>
                      <a:headEnd type="none" w="med" len="med"/>
                      <a:tailEnd type="none" w="med" len="med"/>
                    </a:lnT>
                    <a:lnB w="6350" cap="flat" cmpd="sng" algn="ctr">
                      <a:solidFill>
                        <a:srgbClr val="E5E5E5"/>
                      </a:solidFill>
                      <a:prstDash val="solid"/>
                      <a:round/>
                      <a:headEnd type="none" w="med" len="med"/>
                      <a:tailEnd type="none" w="med" len="med"/>
                    </a:lnB>
                  </a:tcPr>
                </a:tc>
              </a:tr>
              <a:tr h="594360">
                <a:tc>
                  <a:txBody>
                    <a:bodyPr/>
                    <a:lstStyle/>
                    <a:p>
                      <a:pPr algn="l" indent="0" marL="0">
                        <a:buNone/>
                      </a:pPr>
                      <a:r>
                        <a:rPr lang="en-US" sz="1000" b="1" dirty="0">
                          <a:solidFill>
                            <a:srgbClr val="000000"/>
                          </a:solidFill>
                          <a:latin typeface="Arial" pitchFamily="34" charset="0"/>
                          <a:ea typeface="Arial" pitchFamily="34" charset="-122"/>
                          <a:cs typeface="Arial" pitchFamily="34" charset="-120"/>
                        </a:rPr>
                        <a:t>Compute per user</a:t>
                      </a:r>
                      <a:endParaRPr lang="en-US" sz="1000" dirty="0">
                        <a:latin typeface="Arial" charset="0"/>
                        <a:ea typeface="Arial" charset="0"/>
                        <a:cs typeface="Arial" charset="0"/>
                      </a:endParaRPr>
                    </a:p>
                  </a:txBody>
                  <a:tcPr marL="45720" marR="45720" marT="45720" marB="45720" anchor="ctr">
                    <a:lnL w="6350" cap="flat" cmpd="sng" algn="ctr">
                      <a:solidFill>
                        <a:srgbClr val="E5E5E5"/>
                      </a:solidFill>
                      <a:prstDash val="solid"/>
                      <a:round/>
                      <a:headEnd type="none" w="med" len="med"/>
                      <a:tailEnd type="none" w="med" len="med"/>
                    </a:lnL>
                    <a:lnR w="6350" cap="flat" cmpd="sng" algn="ctr">
                      <a:solidFill>
                        <a:srgbClr val="E5E5E5"/>
                      </a:solidFill>
                      <a:prstDash val="solid"/>
                      <a:round/>
                      <a:headEnd type="none" w="med" len="med"/>
                      <a:tailEnd type="none" w="med" len="med"/>
                    </a:lnR>
                    <a:lnT w="6350" cap="flat" cmpd="sng" algn="ctr">
                      <a:solidFill>
                        <a:srgbClr val="E5E5E5"/>
                      </a:solidFill>
                      <a:prstDash val="solid"/>
                      <a:round/>
                      <a:headEnd type="none" w="med" len="med"/>
                      <a:tailEnd type="none" w="med" len="med"/>
                    </a:lnT>
                    <a:lnB w="6350" cap="flat" cmpd="sng" algn="ctr">
                      <a:solidFill>
                        <a:srgbClr val="E5E5E5"/>
                      </a:solidFill>
                      <a:prstDash val="solid"/>
                      <a:round/>
                      <a:headEnd type="none" w="med" len="med"/>
                      <a:tailEnd type="none" w="med" len="med"/>
                    </a:lnB>
                    <a:solidFill>
                      <a:srgbClr val="F9F9F9"/>
                    </a:solidFill>
                  </a:tcPr>
                </a:tc>
                <a:tc>
                  <a:txBody>
                    <a:bodyPr/>
                    <a:lstStyle/>
                    <a:p>
                      <a:pPr algn="l" indent="0" marL="0">
                        <a:buNone/>
                      </a:pPr>
                      <a:r>
                        <a:rPr lang="en-US" sz="1000" dirty="0">
                          <a:solidFill>
                            <a:srgbClr val="333333"/>
                          </a:solidFill>
                          <a:latin typeface="Arial" pitchFamily="34" charset="0"/>
                          <a:ea typeface="Arial" pitchFamily="34" charset="-122"/>
                          <a:cs typeface="Arial" pitchFamily="34" charset="-120"/>
                        </a:rPr>
                        <a:t>1×</a:t>
                      </a:r>
                      <a:endParaRPr lang="en-US" sz="1000" dirty="0">
                        <a:latin typeface="Arial" charset="0"/>
                        <a:ea typeface="Arial" charset="0"/>
                        <a:cs typeface="Arial" charset="0"/>
                      </a:endParaRPr>
                    </a:p>
                  </a:txBody>
                  <a:tcPr marL="45720" marR="45720" marT="45720" marB="45720" anchor="ctr">
                    <a:lnL w="6350" cap="flat" cmpd="sng" algn="ctr">
                      <a:solidFill>
                        <a:srgbClr val="E5E5E5"/>
                      </a:solidFill>
                      <a:prstDash val="solid"/>
                      <a:round/>
                      <a:headEnd type="none" w="med" len="med"/>
                      <a:tailEnd type="none" w="med" len="med"/>
                    </a:lnL>
                    <a:lnR w="6350" cap="flat" cmpd="sng" algn="ctr">
                      <a:solidFill>
                        <a:srgbClr val="E5E5E5"/>
                      </a:solidFill>
                      <a:prstDash val="solid"/>
                      <a:round/>
                      <a:headEnd type="none" w="med" len="med"/>
                      <a:tailEnd type="none" w="med" len="med"/>
                    </a:lnR>
                    <a:lnT w="6350" cap="flat" cmpd="sng" algn="ctr">
                      <a:solidFill>
                        <a:srgbClr val="E5E5E5"/>
                      </a:solidFill>
                      <a:prstDash val="solid"/>
                      <a:round/>
                      <a:headEnd type="none" w="med" len="med"/>
                      <a:tailEnd type="none" w="med" len="med"/>
                    </a:lnT>
                    <a:lnB w="6350" cap="flat" cmpd="sng" algn="ctr">
                      <a:solidFill>
                        <a:srgbClr val="E5E5E5"/>
                      </a:solidFill>
                      <a:prstDash val="solid"/>
                      <a:round/>
                      <a:headEnd type="none" w="med" len="med"/>
                      <a:tailEnd type="none" w="med" len="med"/>
                    </a:lnB>
                    <a:solidFill>
                      <a:srgbClr val="F9F9F9"/>
                    </a:solidFill>
                  </a:tcPr>
                </a:tc>
                <a:tc>
                  <a:txBody>
                    <a:bodyPr/>
                    <a:lstStyle/>
                    <a:p>
                      <a:pPr algn="l" indent="0" marL="0">
                        <a:buNone/>
                      </a:pPr>
                      <a:r>
                        <a:rPr lang="en-US" sz="1000" b="1" dirty="0">
                          <a:solidFill>
                            <a:srgbClr val="000000"/>
                          </a:solidFill>
                          <a:latin typeface="Arial" pitchFamily="34" charset="0"/>
                          <a:ea typeface="Arial" pitchFamily="34" charset="-122"/>
                          <a:cs typeface="Arial" pitchFamily="34" charset="-120"/>
                        </a:rPr>
                        <a:t>10 – 100×</a:t>
                      </a:r>
                      <a:endParaRPr lang="en-US" sz="1000" dirty="0">
                        <a:latin typeface="Arial" charset="0"/>
                        <a:ea typeface="Arial" charset="0"/>
                        <a:cs typeface="Arial" charset="0"/>
                      </a:endParaRPr>
                    </a:p>
                  </a:txBody>
                  <a:tcPr marL="45720" marR="45720" marT="45720" marB="45720" anchor="ctr">
                    <a:lnL w="6350" cap="flat" cmpd="sng" algn="ctr">
                      <a:solidFill>
                        <a:srgbClr val="E5E5E5"/>
                      </a:solidFill>
                      <a:prstDash val="solid"/>
                      <a:round/>
                      <a:headEnd type="none" w="med" len="med"/>
                      <a:tailEnd type="none" w="med" len="med"/>
                    </a:lnL>
                    <a:lnR w="6350" cap="flat" cmpd="sng" algn="ctr">
                      <a:solidFill>
                        <a:srgbClr val="E5E5E5"/>
                      </a:solidFill>
                      <a:prstDash val="solid"/>
                      <a:round/>
                      <a:headEnd type="none" w="med" len="med"/>
                      <a:tailEnd type="none" w="med" len="med"/>
                    </a:lnR>
                    <a:lnT w="6350" cap="flat" cmpd="sng" algn="ctr">
                      <a:solidFill>
                        <a:srgbClr val="E5E5E5"/>
                      </a:solidFill>
                      <a:prstDash val="solid"/>
                      <a:round/>
                      <a:headEnd type="none" w="med" len="med"/>
                      <a:tailEnd type="none" w="med" len="med"/>
                    </a:lnT>
                    <a:lnB w="6350" cap="flat" cmpd="sng" algn="ctr">
                      <a:solidFill>
                        <a:srgbClr val="E5E5E5"/>
                      </a:solidFill>
                      <a:prstDash val="solid"/>
                      <a:round/>
                      <a:headEnd type="none" w="med" len="med"/>
                      <a:tailEnd type="none" w="med" len="med"/>
                    </a:lnB>
                    <a:solidFill>
                      <a:srgbClr val="F9F9F9"/>
                    </a:solidFill>
                  </a:tcPr>
                </a:tc>
              </a:tr>
              <a:tr h="594360">
                <a:tc>
                  <a:txBody>
                    <a:bodyPr/>
                    <a:lstStyle/>
                    <a:p>
                      <a:pPr algn="l" indent="0" marL="0">
                        <a:buNone/>
                      </a:pPr>
                      <a:r>
                        <a:rPr lang="en-US" sz="1000" b="1" dirty="0">
                          <a:solidFill>
                            <a:srgbClr val="000000"/>
                          </a:solidFill>
                          <a:latin typeface="Arial" pitchFamily="34" charset="0"/>
                          <a:ea typeface="Arial" pitchFamily="34" charset="-122"/>
                          <a:cs typeface="Arial" pitchFamily="34" charset="-120"/>
                        </a:rPr>
                        <a:t>Tools</a:t>
                      </a:r>
                      <a:endParaRPr lang="en-US" sz="1000" dirty="0">
                        <a:latin typeface="Arial" charset="0"/>
                        <a:ea typeface="Arial" charset="0"/>
                        <a:cs typeface="Arial" charset="0"/>
                      </a:endParaRPr>
                    </a:p>
                  </a:txBody>
                  <a:tcPr marL="45720" marR="45720" marT="45720" marB="45720" anchor="ctr">
                    <a:lnL w="6350" cap="flat" cmpd="sng" algn="ctr">
                      <a:solidFill>
                        <a:srgbClr val="E5E5E5"/>
                      </a:solidFill>
                      <a:prstDash val="solid"/>
                      <a:round/>
                      <a:headEnd type="none" w="med" len="med"/>
                      <a:tailEnd type="none" w="med" len="med"/>
                    </a:lnL>
                    <a:lnR w="6350" cap="flat" cmpd="sng" algn="ctr">
                      <a:solidFill>
                        <a:srgbClr val="E5E5E5"/>
                      </a:solidFill>
                      <a:prstDash val="solid"/>
                      <a:round/>
                      <a:headEnd type="none" w="med" len="med"/>
                      <a:tailEnd type="none" w="med" len="med"/>
                    </a:lnR>
                    <a:lnT w="6350" cap="flat" cmpd="sng" algn="ctr">
                      <a:solidFill>
                        <a:srgbClr val="E5E5E5"/>
                      </a:solidFill>
                      <a:prstDash val="solid"/>
                      <a:round/>
                      <a:headEnd type="none" w="med" len="med"/>
                      <a:tailEnd type="none" w="med" len="med"/>
                    </a:lnT>
                    <a:lnB w="6350" cap="flat" cmpd="sng" algn="ctr">
                      <a:solidFill>
                        <a:srgbClr val="E5E5E5"/>
                      </a:solidFill>
                      <a:prstDash val="solid"/>
                      <a:round/>
                      <a:headEnd type="none" w="med" len="med"/>
                      <a:tailEnd type="none" w="med" len="med"/>
                    </a:lnB>
                  </a:tcPr>
                </a:tc>
                <a:tc>
                  <a:txBody>
                    <a:bodyPr/>
                    <a:lstStyle/>
                    <a:p>
                      <a:pPr algn="l" indent="0" marL="0">
                        <a:buNone/>
                      </a:pPr>
                      <a:r>
                        <a:rPr lang="en-US" sz="1000" dirty="0">
                          <a:solidFill>
                            <a:srgbClr val="333333"/>
                          </a:solidFill>
                          <a:latin typeface="Arial" pitchFamily="34" charset="0"/>
                          <a:ea typeface="Arial" pitchFamily="34" charset="-122"/>
                          <a:cs typeface="Arial" pitchFamily="34" charset="-120"/>
                        </a:rPr>
                        <a:t>None</a:t>
                      </a:r>
                      <a:endParaRPr lang="en-US" sz="1000" dirty="0">
                        <a:latin typeface="Arial" charset="0"/>
                        <a:ea typeface="Arial" charset="0"/>
                        <a:cs typeface="Arial" charset="0"/>
                      </a:endParaRPr>
                    </a:p>
                  </a:txBody>
                  <a:tcPr marL="45720" marR="45720" marT="45720" marB="45720" anchor="ctr">
                    <a:lnL w="6350" cap="flat" cmpd="sng" algn="ctr">
                      <a:solidFill>
                        <a:srgbClr val="E5E5E5"/>
                      </a:solidFill>
                      <a:prstDash val="solid"/>
                      <a:round/>
                      <a:headEnd type="none" w="med" len="med"/>
                      <a:tailEnd type="none" w="med" len="med"/>
                    </a:lnL>
                    <a:lnR w="6350" cap="flat" cmpd="sng" algn="ctr">
                      <a:solidFill>
                        <a:srgbClr val="E5E5E5"/>
                      </a:solidFill>
                      <a:prstDash val="solid"/>
                      <a:round/>
                      <a:headEnd type="none" w="med" len="med"/>
                      <a:tailEnd type="none" w="med" len="med"/>
                    </a:lnR>
                    <a:lnT w="6350" cap="flat" cmpd="sng" algn="ctr">
                      <a:solidFill>
                        <a:srgbClr val="E5E5E5"/>
                      </a:solidFill>
                      <a:prstDash val="solid"/>
                      <a:round/>
                      <a:headEnd type="none" w="med" len="med"/>
                      <a:tailEnd type="none" w="med" len="med"/>
                    </a:lnT>
                    <a:lnB w="6350" cap="flat" cmpd="sng" algn="ctr">
                      <a:solidFill>
                        <a:srgbClr val="E5E5E5"/>
                      </a:solidFill>
                      <a:prstDash val="solid"/>
                      <a:round/>
                      <a:headEnd type="none" w="med" len="med"/>
                      <a:tailEnd type="none" w="med" len="med"/>
                    </a:lnB>
                  </a:tcPr>
                </a:tc>
                <a:tc>
                  <a:txBody>
                    <a:bodyPr/>
                    <a:lstStyle/>
                    <a:p>
                      <a:pPr algn="l" indent="0" marL="0">
                        <a:buNone/>
                      </a:pPr>
                      <a:r>
                        <a:rPr lang="en-US" sz="1000" b="1" dirty="0">
                          <a:solidFill>
                            <a:srgbClr val="000000"/>
                          </a:solidFill>
                          <a:latin typeface="Arial" pitchFamily="34" charset="0"/>
                          <a:ea typeface="Arial" pitchFamily="34" charset="-122"/>
                          <a:cs typeface="Arial" pitchFamily="34" charset="-120"/>
                        </a:rPr>
                        <a:t>Code, APIs, browsers, databases</a:t>
                      </a:r>
                      <a:endParaRPr lang="en-US" sz="1000" dirty="0">
                        <a:latin typeface="Arial" charset="0"/>
                        <a:ea typeface="Arial" charset="0"/>
                        <a:cs typeface="Arial" charset="0"/>
                      </a:endParaRPr>
                    </a:p>
                  </a:txBody>
                  <a:tcPr marL="45720" marR="45720" marT="45720" marB="45720" anchor="ctr">
                    <a:lnL w="6350" cap="flat" cmpd="sng" algn="ctr">
                      <a:solidFill>
                        <a:srgbClr val="E5E5E5"/>
                      </a:solidFill>
                      <a:prstDash val="solid"/>
                      <a:round/>
                      <a:headEnd type="none" w="med" len="med"/>
                      <a:tailEnd type="none" w="med" len="med"/>
                    </a:lnL>
                    <a:lnR w="6350" cap="flat" cmpd="sng" algn="ctr">
                      <a:solidFill>
                        <a:srgbClr val="E5E5E5"/>
                      </a:solidFill>
                      <a:prstDash val="solid"/>
                      <a:round/>
                      <a:headEnd type="none" w="med" len="med"/>
                      <a:tailEnd type="none" w="med" len="med"/>
                    </a:lnR>
                    <a:lnT w="6350" cap="flat" cmpd="sng" algn="ctr">
                      <a:solidFill>
                        <a:srgbClr val="E5E5E5"/>
                      </a:solidFill>
                      <a:prstDash val="solid"/>
                      <a:round/>
                      <a:headEnd type="none" w="med" len="med"/>
                      <a:tailEnd type="none" w="med" len="med"/>
                    </a:lnT>
                    <a:lnB w="6350" cap="flat" cmpd="sng" algn="ctr">
                      <a:solidFill>
                        <a:srgbClr val="E5E5E5"/>
                      </a:solidFill>
                      <a:prstDash val="solid"/>
                      <a:round/>
                      <a:headEnd type="none" w="med" len="med"/>
                      <a:tailEnd type="none" w="med" len="med"/>
                    </a:lnB>
                  </a:tcPr>
                </a:tc>
              </a:tr>
            </a:tbl>
          </a:graphicData>
        </a:graphic>
      </p:graphicFrame>
      <p:sp>
        <p:nvSpPr>
          <p:cNvPr id="9" name="Text 5"/>
          <p:cNvSpPr/>
          <p:nvPr/>
        </p:nvSpPr>
        <p:spPr>
          <a:xfrm>
            <a:off x="3611880" y="4736592"/>
            <a:ext cx="5074920" cy="502920"/>
          </a:xfrm>
          <a:prstGeom prst="rect">
            <a:avLst/>
          </a:prstGeom>
          <a:noFill/>
          <a:ln/>
        </p:spPr>
        <p:txBody>
          <a:bodyPr wrap="square" lIns="0" tIns="0" rIns="0" bIns="0" rtlCol="0" anchor="ctr"/>
          <a:lstStyle/>
          <a:p>
            <a:pPr indent="0" marL="0">
              <a:buNone/>
            </a:pPr>
            <a:r>
              <a:rPr lang="en-US" sz="900" i="1" dirty="0">
                <a:solidFill>
                  <a:srgbClr val="333333"/>
                </a:solidFill>
                <a:latin typeface="Arial" pitchFamily="34" charset="0"/>
                <a:ea typeface="Arial" pitchFamily="34" charset="-122"/>
                <a:cs typeface="Arial" pitchFamily="34" charset="-120"/>
              </a:rPr>
              <a:t>“AI compute demand has risen roughly a million-fold in two years; the inference inflection has arrived.”</a:t>
            </a:r>
            <a:pPr indent="0" marL="0">
              <a:buNone/>
            </a:pPr>
            <a:r>
              <a:rPr lang="en-US" sz="900" i="1" dirty="0">
                <a:solidFill>
                  <a:srgbClr val="666666"/>
                </a:solidFill>
                <a:latin typeface="Arial" pitchFamily="34" charset="0"/>
                <a:ea typeface="Arial" pitchFamily="34" charset="-122"/>
                <a:cs typeface="Arial" pitchFamily="34" charset="-120"/>
              </a:rPr>
              <a:t>  — Jensen Huang, NVIDIA GTC 2026</a:t>
            </a:r>
            <a:endParaRPr lang="en-US" sz="900" dirty="0"/>
          </a:p>
        </p:txBody>
      </p:sp>
      <p:sp>
        <p:nvSpPr>
          <p:cNvPr id="10" name="Shape 6"/>
          <p:cNvSpPr/>
          <p:nvPr/>
        </p:nvSpPr>
        <p:spPr>
          <a:xfrm>
            <a:off x="457200" y="5349240"/>
            <a:ext cx="8229600" cy="457200"/>
          </a:xfrm>
          <a:prstGeom prst="rect">
            <a:avLst/>
          </a:prstGeom>
          <a:solidFill>
            <a:srgbClr val="F6693D"/>
          </a:solidFill>
          <a:ln w="12700">
            <a:solidFill>
              <a:srgbClr val="F6693D"/>
            </a:solidFill>
            <a:prstDash val="solid"/>
          </a:ln>
        </p:spPr>
      </p:sp>
      <p:sp>
        <p:nvSpPr>
          <p:cNvPr id="11" name="Text 7"/>
          <p:cNvSpPr/>
          <p:nvPr/>
        </p:nvSpPr>
        <p:spPr>
          <a:xfrm>
            <a:off x="640080" y="5349240"/>
            <a:ext cx="7863840" cy="457200"/>
          </a:xfrm>
          <a:prstGeom prst="rect">
            <a:avLst/>
          </a:prstGeom>
          <a:noFill/>
          <a:ln/>
        </p:spPr>
        <p:txBody>
          <a:bodyPr wrap="square" lIns="0" tIns="0" rIns="0" bIns="0" rtlCol="0" anchor="ctr"/>
          <a:lstStyle/>
          <a:p>
            <a:pPr indent="0" marL="0">
              <a:buNone/>
            </a:pPr>
            <a:r>
              <a:rPr lang="en-US" sz="1300" b="1" dirty="0">
                <a:solidFill>
                  <a:srgbClr val="FFFFFF"/>
                </a:solidFill>
                <a:latin typeface="Arial" pitchFamily="34" charset="0"/>
                <a:ea typeface="Arial" pitchFamily="34" charset="-122"/>
                <a:cs typeface="Arial" pitchFamily="34" charset="-120"/>
              </a:rPr>
              <a:t>This 10–100× step-up per session is what every 2026 AI capex number is pricing in.</a:t>
            </a:r>
            <a:endParaRPr lang="en-US" sz="1300" dirty="0"/>
          </a:p>
        </p:txBody>
      </p:sp>
      <p:sp>
        <p:nvSpPr>
          <p:cNvPr id="12" name="Text 8"/>
          <p:cNvSpPr/>
          <p:nvPr/>
        </p:nvSpPr>
        <p:spPr>
          <a:xfrm>
            <a:off x="457200" y="5875020"/>
            <a:ext cx="8229600" cy="320040"/>
          </a:xfrm>
          <a:prstGeom prst="rect">
            <a:avLst/>
          </a:prstGeom>
          <a:noFill/>
          <a:ln/>
        </p:spPr>
        <p:txBody>
          <a:bodyPr wrap="square" lIns="0" tIns="0" rIns="0" bIns="0" rtlCol="0" anchor="t"/>
          <a:lstStyle/>
          <a:p>
            <a:pPr indent="0" marL="0">
              <a:buNone/>
            </a:pPr>
            <a:r>
              <a:rPr lang="en-US" sz="700" dirty="0">
                <a:solidFill>
                  <a:srgbClr val="999999"/>
                </a:solidFill>
                <a:latin typeface="Arial" pitchFamily="34" charset="0"/>
                <a:ea typeface="Arial" pitchFamily="34" charset="-122"/>
                <a:cs typeface="Arial" pitchFamily="34" charset="-120"/>
              </a:rPr>
              <a:t>Sources: Jensen Huang (NVIDIA GTC 2026); IDC inference-demand forecast; Salesforce Agentforce &amp; Microsoft Copilot disclosures; Morgan Stanley CIO Survey.</a:t>
            </a:r>
            <a:endParaRPr lang="en-US" sz="700" dirty="0"/>
          </a:p>
        </p:txBody>
      </p:sp>
      <p:sp>
        <p:nvSpPr>
          <p:cNvPr id="13" name="Shape 9"/>
          <p:cNvSpPr/>
          <p:nvPr/>
        </p:nvSpPr>
        <p:spPr>
          <a:xfrm>
            <a:off x="0" y="6286500"/>
            <a:ext cx="9144000" cy="571500"/>
          </a:xfrm>
          <a:prstGeom prst="rect">
            <a:avLst/>
          </a:prstGeom>
          <a:solidFill>
            <a:srgbClr val="000000"/>
          </a:solidFill>
          <a:ln w="12700">
            <a:solidFill>
              <a:srgbClr val="000000"/>
            </a:solidFill>
            <a:prstDash val="solid"/>
          </a:ln>
        </p:spPr>
      </p:sp>
      <p:sp>
        <p:nvSpPr>
          <p:cNvPr id="14" name="Text 10"/>
          <p:cNvSpPr/>
          <p:nvPr/>
        </p:nvSpPr>
        <p:spPr>
          <a:xfrm>
            <a:off x="1371600" y="6332220"/>
            <a:ext cx="6400800" cy="457200"/>
          </a:xfrm>
          <a:prstGeom prst="rect">
            <a:avLst/>
          </a:prstGeom>
          <a:noFill/>
          <a:ln/>
        </p:spPr>
        <p:txBody>
          <a:bodyPr wrap="square" lIns="0" tIns="0" rIns="0" bIns="0" rtlCol="0" anchor="ctr"/>
          <a:lstStyle/>
          <a:p>
            <a:pPr algn="ctr" indent="0" marL="0">
              <a:buNone/>
            </a:pPr>
            <a:r>
              <a:rPr lang="en-US" sz="650" b="1" dirty="0">
                <a:solidFill>
                  <a:srgbClr val="FFFFFF"/>
                </a:solidFill>
                <a:latin typeface="Arial" pitchFamily="34" charset="0"/>
                <a:ea typeface="Arial" pitchFamily="34" charset="-122"/>
                <a:cs typeface="Arial" pitchFamily="34" charset="-120"/>
              </a:rPr>
              <a:t>FOR INFORMATIONAL PURPOSES ONLY. NOT INVESTMENT ADVICE. PAST PERFORMANCE IS NOT INDICATIVE OF FUTURE RESULTS.</a:t>
            </a:r>
            <a:endParaRPr lang="en-US" sz="650" dirty="0"/>
          </a:p>
        </p:txBody>
      </p:sp>
      <p:sp>
        <p:nvSpPr>
          <p:cNvPr id="15" name="Text 11"/>
          <p:cNvSpPr/>
          <p:nvPr/>
        </p:nvSpPr>
        <p:spPr>
          <a:xfrm>
            <a:off x="8321040" y="6405372"/>
            <a:ext cx="548640" cy="274320"/>
          </a:xfrm>
          <a:prstGeom prst="rect">
            <a:avLst/>
          </a:prstGeom>
          <a:noFill/>
          <a:ln/>
        </p:spPr>
        <p:txBody>
          <a:bodyPr wrap="square" lIns="0" tIns="0" rIns="0" bIns="0" rtlCol="0" anchor="ctr"/>
          <a:lstStyle/>
          <a:p>
            <a:pPr algn="r" indent="0" marL="0">
              <a:buNone/>
            </a:pPr>
            <a:r>
              <a:rPr lang="en-US" sz="900" dirty="0">
                <a:solidFill>
                  <a:srgbClr val="FFFFFF"/>
                </a:solidFill>
                <a:latin typeface="Arial" pitchFamily="34" charset="0"/>
                <a:ea typeface="Arial" pitchFamily="34" charset="-122"/>
                <a:cs typeface="Arial" pitchFamily="34" charset="-120"/>
              </a:rPr>
              <a:t>12</a:t>
            </a:r>
            <a:endParaRPr lang="en-US" sz="9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Shape 0"/>
          <p:cNvSpPr/>
          <p:nvPr/>
        </p:nvSpPr>
        <p:spPr>
          <a:xfrm>
            <a:off x="7132320" y="164592"/>
            <a:ext cx="1737360" cy="292608"/>
          </a:xfrm>
          <a:prstGeom prst="roundRect">
            <a:avLst>
              <a:gd name="adj" fmla="val 15625"/>
            </a:avLst>
          </a:prstGeom>
          <a:solidFill>
            <a:srgbClr val="F6693D"/>
          </a:solidFill>
          <a:ln w="12700">
            <a:solidFill>
              <a:srgbClr val="F6693D"/>
            </a:solidFill>
            <a:prstDash val="solid"/>
          </a:ln>
        </p:spPr>
      </p:sp>
      <p:sp>
        <p:nvSpPr>
          <p:cNvPr id="3" name="Text 1"/>
          <p:cNvSpPr/>
          <p:nvPr/>
        </p:nvSpPr>
        <p:spPr>
          <a:xfrm>
            <a:off x="7132320" y="164592"/>
            <a:ext cx="1737360" cy="292608"/>
          </a:xfrm>
          <a:prstGeom prst="rect">
            <a:avLst/>
          </a:prstGeom>
          <a:noFill/>
          <a:ln/>
        </p:spPr>
        <p:txBody>
          <a:bodyPr wrap="square" lIns="0" tIns="0" rIns="0" bIns="0" rtlCol="0" anchor="ctr"/>
          <a:lstStyle/>
          <a:p>
            <a:pPr algn="ctr" indent="0" marL="0">
              <a:buNone/>
            </a:pPr>
            <a:r>
              <a:rPr lang="en-US" sz="1000" b="1" spc="100" kern="0" dirty="0">
                <a:solidFill>
                  <a:srgbClr val="000000"/>
                </a:solidFill>
                <a:latin typeface="Arial" pitchFamily="34" charset="0"/>
                <a:ea typeface="Arial" pitchFamily="34" charset="-122"/>
                <a:cs typeface="Arial" pitchFamily="34" charset="-120"/>
              </a:rPr>
              <a:t>SHIFTS</a:t>
            </a:r>
            <a:endParaRPr lang="en-US" sz="1000" dirty="0"/>
          </a:p>
        </p:txBody>
      </p:sp>
      <p:sp>
        <p:nvSpPr>
          <p:cNvPr id="4" name="Text 2"/>
          <p:cNvSpPr/>
          <p:nvPr/>
        </p:nvSpPr>
        <p:spPr>
          <a:xfrm>
            <a:off x="457200" y="182880"/>
            <a:ext cx="6583680" cy="685800"/>
          </a:xfrm>
          <a:prstGeom prst="rect">
            <a:avLst/>
          </a:prstGeom>
          <a:noFill/>
          <a:ln/>
        </p:spPr>
        <p:txBody>
          <a:bodyPr wrap="square" lIns="0" tIns="0" rIns="0" bIns="0" rtlCol="0" anchor="t"/>
          <a:lstStyle/>
          <a:p>
            <a:pPr indent="0" marL="0">
              <a:buNone/>
            </a:pPr>
            <a:r>
              <a:rPr lang="en-US" sz="2400" b="1" dirty="0">
                <a:solidFill>
                  <a:srgbClr val="000000"/>
                </a:solidFill>
                <a:latin typeface="Arial Black" pitchFamily="34" charset="0"/>
                <a:ea typeface="Arial Black" pitchFamily="34" charset="-122"/>
                <a:cs typeface="Arial Black" pitchFamily="34" charset="-120"/>
              </a:rPr>
              <a:t>Semis up, software down — one theme, two outcomes</a:t>
            </a:r>
            <a:endParaRPr lang="en-US" sz="2400" dirty="0"/>
          </a:p>
        </p:txBody>
      </p:sp>
      <p:sp>
        <p:nvSpPr>
          <p:cNvPr id="5" name="Text 3"/>
          <p:cNvSpPr/>
          <p:nvPr/>
        </p:nvSpPr>
        <p:spPr>
          <a:xfrm>
            <a:off x="457200" y="914400"/>
            <a:ext cx="8229600" cy="457200"/>
          </a:xfrm>
          <a:prstGeom prst="rect">
            <a:avLst/>
          </a:prstGeom>
          <a:noFill/>
          <a:ln/>
        </p:spPr>
        <p:txBody>
          <a:bodyPr wrap="square" lIns="0" tIns="0" rIns="0" bIns="0" rtlCol="0" anchor="t"/>
          <a:lstStyle/>
          <a:p>
            <a:pPr indent="0" marL="0">
              <a:buNone/>
            </a:pPr>
            <a:r>
              <a:rPr lang="en-US" sz="1350" dirty="0">
                <a:solidFill>
                  <a:srgbClr val="666666"/>
                </a:solidFill>
                <a:latin typeface="Arial" pitchFamily="34" charset="0"/>
                <a:ea typeface="Arial" pitchFamily="34" charset="-122"/>
                <a:cs typeface="Arial" pitchFamily="34" charset="-120"/>
              </a:rPr>
              <a:t>A ~90-point spread inside one theme — software's Feb-2026 "SaaSpocalypse" wiped ~$285B in 48 hours, and the pain is bleeding into private credit and PE-held SaaS.</a:t>
            </a:r>
            <a:endParaRPr lang="en-US" sz="1350" dirty="0"/>
          </a:p>
        </p:txBody>
      </p:sp>
      <p:sp>
        <p:nvSpPr>
          <p:cNvPr id="6" name="Shape 4"/>
          <p:cNvSpPr/>
          <p:nvPr/>
        </p:nvSpPr>
        <p:spPr>
          <a:xfrm>
            <a:off x="457200" y="1325880"/>
            <a:ext cx="8229600" cy="0"/>
          </a:xfrm>
          <a:prstGeom prst="line">
            <a:avLst/>
          </a:prstGeom>
          <a:noFill/>
          <a:ln w="9525">
            <a:solidFill>
              <a:srgbClr val="E5E5E5"/>
            </a:solidFill>
            <a:prstDash val="solid"/>
          </a:ln>
        </p:spPr>
      </p:sp>
      <p:sp>
        <p:nvSpPr>
          <p:cNvPr id="7" name="Text 5"/>
          <p:cNvSpPr/>
          <p:nvPr/>
        </p:nvSpPr>
        <p:spPr>
          <a:xfrm>
            <a:off x="457200" y="1417320"/>
            <a:ext cx="3931920" cy="274320"/>
          </a:xfrm>
          <a:prstGeom prst="rect">
            <a:avLst/>
          </a:prstGeom>
          <a:noFill/>
          <a:ln/>
        </p:spPr>
        <p:txBody>
          <a:bodyPr wrap="square" lIns="0" tIns="0" rIns="0" bIns="0" rtlCol="0" anchor="b"/>
          <a:lstStyle/>
          <a:p>
            <a:pPr indent="0" marL="0">
              <a:buNone/>
            </a:pPr>
            <a:r>
              <a:rPr lang="en-US" sz="1400" b="1" dirty="0">
                <a:solidFill>
                  <a:srgbClr val="000000"/>
                </a:solidFill>
                <a:latin typeface="Arial" pitchFamily="34" charset="0"/>
                <a:ea typeface="Arial" pitchFamily="34" charset="-122"/>
                <a:cs typeface="Arial" pitchFamily="34" charset="-120"/>
              </a:rPr>
              <a:t>YTD price return, rebased to 100</a:t>
            </a:r>
            <a:endParaRPr lang="en-US" sz="1400" dirty="0"/>
          </a:p>
        </p:txBody>
      </p:sp>
      <p:sp>
        <p:nvSpPr>
          <p:cNvPr id="8" name="Shape 6"/>
          <p:cNvSpPr/>
          <p:nvPr/>
        </p:nvSpPr>
        <p:spPr>
          <a:xfrm>
            <a:off x="457200" y="1691640"/>
            <a:ext cx="3931920" cy="0"/>
          </a:xfrm>
          <a:prstGeom prst="line">
            <a:avLst/>
          </a:prstGeom>
          <a:noFill/>
          <a:ln w="19050">
            <a:solidFill>
              <a:srgbClr val="000000"/>
            </a:solidFill>
            <a:prstDash val="solid"/>
          </a:ln>
        </p:spPr>
      </p:sp>
      <p:graphicFrame>
        <p:nvGraphicFramePr>
          <p:cNvPr id="9" name="Chart 0" descr=""/>
          <p:cNvGraphicFramePr/>
          <p:nvPr/>
        </p:nvGraphicFramePr>
        <p:xfrm>
          <a:off x="457200" y="1783080"/>
          <a:ext cx="3931920" cy="3429000"/>
        </p:xfrm>
        <a:graphic xmlns:a="http://schemas.openxmlformats.org/drawingml/2006/main">
          <a:graphicData uri="http://schemas.openxmlformats.org/drawingml/2006/chart">
            <c:chart xmlns:c="http://schemas.openxmlformats.org/drawingml/2006/chart" r:id="rId1"/>
          </a:graphicData>
        </a:graphic>
      </p:graphicFrame>
      <p:sp>
        <p:nvSpPr>
          <p:cNvPr id="10" name="Shape 7"/>
          <p:cNvSpPr/>
          <p:nvPr/>
        </p:nvSpPr>
        <p:spPr>
          <a:xfrm>
            <a:off x="4754880" y="1783080"/>
            <a:ext cx="3931920" cy="1645920"/>
          </a:xfrm>
          <a:prstGeom prst="rect">
            <a:avLst/>
          </a:prstGeom>
          <a:solidFill>
            <a:srgbClr val="FFFFFF"/>
          </a:solidFill>
          <a:ln w="6350">
            <a:solidFill>
              <a:srgbClr val="E5E5E5"/>
            </a:solidFill>
            <a:prstDash val="solid"/>
          </a:ln>
        </p:spPr>
      </p:sp>
      <p:sp>
        <p:nvSpPr>
          <p:cNvPr id="11" name="Shape 8"/>
          <p:cNvSpPr/>
          <p:nvPr/>
        </p:nvSpPr>
        <p:spPr>
          <a:xfrm>
            <a:off x="4754880" y="1783080"/>
            <a:ext cx="3931920" cy="54864"/>
          </a:xfrm>
          <a:prstGeom prst="rect">
            <a:avLst/>
          </a:prstGeom>
          <a:solidFill>
            <a:srgbClr val="F6693D"/>
          </a:solidFill>
          <a:ln w="12700">
            <a:solidFill>
              <a:srgbClr val="F6693D"/>
            </a:solidFill>
            <a:prstDash val="solid"/>
          </a:ln>
        </p:spPr>
      </p:sp>
      <p:sp>
        <p:nvSpPr>
          <p:cNvPr id="12" name="Text 9"/>
          <p:cNvSpPr/>
          <p:nvPr/>
        </p:nvSpPr>
        <p:spPr>
          <a:xfrm>
            <a:off x="4937760" y="1874520"/>
            <a:ext cx="3566160" cy="182880"/>
          </a:xfrm>
          <a:prstGeom prst="rect">
            <a:avLst/>
          </a:prstGeom>
          <a:noFill/>
          <a:ln/>
        </p:spPr>
        <p:txBody>
          <a:bodyPr wrap="square" lIns="0" tIns="0" rIns="0" bIns="0" rtlCol="0" anchor="ctr"/>
          <a:lstStyle/>
          <a:p>
            <a:pPr algn="l" indent="0" marL="0">
              <a:buNone/>
            </a:pPr>
            <a:r>
              <a:rPr lang="en-US" sz="1000" b="1" spc="300" kern="0" dirty="0">
                <a:solidFill>
                  <a:srgbClr val="666666"/>
                </a:solidFill>
                <a:latin typeface="Arial" pitchFamily="34" charset="0"/>
                <a:ea typeface="Arial" pitchFamily="34" charset="-122"/>
                <a:cs typeface="Arial" pitchFamily="34" charset="-120"/>
              </a:rPr>
              <a:t>WHY SEMIS ARE UP</a:t>
            </a:r>
            <a:endParaRPr lang="en-US" sz="1000" dirty="0"/>
          </a:p>
        </p:txBody>
      </p:sp>
      <p:sp>
        <p:nvSpPr>
          <p:cNvPr id="13" name="Text 10"/>
          <p:cNvSpPr/>
          <p:nvPr/>
        </p:nvSpPr>
        <p:spPr>
          <a:xfrm>
            <a:off x="4937760" y="2057400"/>
            <a:ext cx="3566160" cy="347472"/>
          </a:xfrm>
          <a:prstGeom prst="rect">
            <a:avLst/>
          </a:prstGeom>
          <a:noFill/>
          <a:ln/>
        </p:spPr>
        <p:txBody>
          <a:bodyPr wrap="square" lIns="0" tIns="0" rIns="0" bIns="0" rtlCol="0" anchor="ctr"/>
          <a:lstStyle/>
          <a:p>
            <a:pPr algn="l" indent="0" marL="0">
              <a:buNone/>
            </a:pPr>
            <a:r>
              <a:rPr lang="en-US" sz="1200" b="1" dirty="0">
                <a:solidFill>
                  <a:srgbClr val="333333"/>
                </a:solidFill>
                <a:latin typeface="Arial" pitchFamily="34" charset="0"/>
                <a:ea typeface="Arial" pitchFamily="34" charset="-122"/>
                <a:cs typeface="Arial" pitchFamily="34" charset="-120"/>
              </a:rPr>
              <a:t>Sold out, with demand still building.</a:t>
            </a:r>
            <a:endParaRPr lang="en-US" sz="1200" dirty="0"/>
          </a:p>
        </p:txBody>
      </p:sp>
      <p:sp>
        <p:nvSpPr>
          <p:cNvPr id="14" name="Shape 11"/>
          <p:cNvSpPr/>
          <p:nvPr/>
        </p:nvSpPr>
        <p:spPr>
          <a:xfrm>
            <a:off x="4937760" y="2468880"/>
            <a:ext cx="274320" cy="274320"/>
          </a:xfrm>
          <a:prstGeom prst="ellipse">
            <a:avLst/>
          </a:prstGeom>
          <a:solidFill>
            <a:srgbClr val="F6693D"/>
          </a:solidFill>
          <a:ln w="12700">
            <a:solidFill>
              <a:srgbClr val="F6693D"/>
            </a:solidFill>
            <a:prstDash val="solid"/>
          </a:ln>
        </p:spPr>
      </p:sp>
      <p:sp>
        <p:nvSpPr>
          <p:cNvPr id="15" name="Text 12"/>
          <p:cNvSpPr/>
          <p:nvPr/>
        </p:nvSpPr>
        <p:spPr>
          <a:xfrm>
            <a:off x="4937760" y="2468880"/>
            <a:ext cx="274320" cy="274320"/>
          </a:xfrm>
          <a:prstGeom prst="rect">
            <a:avLst/>
          </a:prstGeom>
          <a:noFill/>
          <a:ln/>
        </p:spPr>
        <p:txBody>
          <a:bodyPr wrap="square" lIns="0" tIns="0" rIns="0" bIns="0" rtlCol="0" anchor="ctr"/>
          <a:lstStyle/>
          <a:p>
            <a:pPr algn="ctr" indent="0" marL="0">
              <a:buNone/>
            </a:pPr>
            <a:r>
              <a:rPr lang="en-US" sz="1100" b="1" dirty="0">
                <a:solidFill>
                  <a:srgbClr val="FFFFFF"/>
                </a:solidFill>
                <a:latin typeface="Arial Black" pitchFamily="34" charset="0"/>
                <a:ea typeface="Arial Black" pitchFamily="34" charset="-122"/>
                <a:cs typeface="Arial Black" pitchFamily="34" charset="-120"/>
              </a:rPr>
              <a:t>⚙</a:t>
            </a:r>
            <a:endParaRPr lang="en-US" sz="1100" dirty="0"/>
          </a:p>
        </p:txBody>
      </p:sp>
      <p:sp>
        <p:nvSpPr>
          <p:cNvPr id="16" name="Text 13"/>
          <p:cNvSpPr/>
          <p:nvPr/>
        </p:nvSpPr>
        <p:spPr>
          <a:xfrm>
            <a:off x="5303520" y="2441448"/>
            <a:ext cx="3200400" cy="329184"/>
          </a:xfrm>
          <a:prstGeom prst="rect">
            <a:avLst/>
          </a:prstGeom>
          <a:noFill/>
          <a:ln/>
        </p:spPr>
        <p:txBody>
          <a:bodyPr wrap="square" lIns="0" tIns="0" rIns="0" bIns="0" rtlCol="0" anchor="ctr"/>
          <a:lstStyle/>
          <a:p>
            <a:pPr algn="l" indent="0" marL="0">
              <a:buNone/>
            </a:pPr>
            <a:r>
              <a:rPr lang="en-US" sz="950" dirty="0">
                <a:solidFill>
                  <a:srgbClr val="333333"/>
                </a:solidFill>
                <a:latin typeface="Arial" pitchFamily="34" charset="0"/>
                <a:ea typeface="Arial" pitchFamily="34" charset="-122"/>
                <a:cs typeface="Arial" pitchFamily="34" charset="-120"/>
              </a:rPr>
              <a:t>HBM sold out through 2026; hyperscalers are locking in every GB of memory they can secure.</a:t>
            </a:r>
            <a:pPr algn="l" indent="0" marL="0">
              <a:buNone/>
            </a:pPr>
            <a:r>
              <a:rPr lang="en-US" sz="700" baseline="30000" dirty="0">
                <a:solidFill>
                  <a:srgbClr val="F6693D"/>
                </a:solidFill>
                <a:latin typeface="Arial" pitchFamily="34" charset="0"/>
                <a:ea typeface="Arial" pitchFamily="34" charset="-122"/>
                <a:cs typeface="Arial" pitchFamily="34" charset="-120"/>
              </a:rPr>
              <a:t> 1</a:t>
            </a:r>
            <a:endParaRPr lang="en-US" sz="950" dirty="0"/>
          </a:p>
        </p:txBody>
      </p:sp>
      <p:sp>
        <p:nvSpPr>
          <p:cNvPr id="17" name="Shape 14"/>
          <p:cNvSpPr/>
          <p:nvPr/>
        </p:nvSpPr>
        <p:spPr>
          <a:xfrm>
            <a:off x="4937760" y="2798064"/>
            <a:ext cx="274320" cy="274320"/>
          </a:xfrm>
          <a:prstGeom prst="ellipse">
            <a:avLst/>
          </a:prstGeom>
          <a:solidFill>
            <a:srgbClr val="F6693D"/>
          </a:solidFill>
          <a:ln w="12700">
            <a:solidFill>
              <a:srgbClr val="F6693D"/>
            </a:solidFill>
            <a:prstDash val="solid"/>
          </a:ln>
        </p:spPr>
      </p:sp>
      <p:sp>
        <p:nvSpPr>
          <p:cNvPr id="18" name="Text 15"/>
          <p:cNvSpPr/>
          <p:nvPr/>
        </p:nvSpPr>
        <p:spPr>
          <a:xfrm>
            <a:off x="4937760" y="2798064"/>
            <a:ext cx="274320" cy="274320"/>
          </a:xfrm>
          <a:prstGeom prst="rect">
            <a:avLst/>
          </a:prstGeom>
          <a:noFill/>
          <a:ln/>
        </p:spPr>
        <p:txBody>
          <a:bodyPr wrap="square" lIns="0" tIns="0" rIns="0" bIns="0" rtlCol="0" anchor="ctr"/>
          <a:lstStyle/>
          <a:p>
            <a:pPr algn="ctr" indent="0" marL="0">
              <a:buNone/>
            </a:pPr>
            <a:r>
              <a:rPr lang="en-US" sz="1100" b="1" dirty="0">
                <a:solidFill>
                  <a:srgbClr val="FFFFFF"/>
                </a:solidFill>
                <a:latin typeface="Arial Black" pitchFamily="34" charset="0"/>
                <a:ea typeface="Arial Black" pitchFamily="34" charset="-122"/>
                <a:cs typeface="Arial Black" pitchFamily="34" charset="-120"/>
              </a:rPr>
              <a:t>⚡</a:t>
            </a:r>
            <a:endParaRPr lang="en-US" sz="1100" dirty="0"/>
          </a:p>
        </p:txBody>
      </p:sp>
      <p:sp>
        <p:nvSpPr>
          <p:cNvPr id="19" name="Text 16"/>
          <p:cNvSpPr/>
          <p:nvPr/>
        </p:nvSpPr>
        <p:spPr>
          <a:xfrm>
            <a:off x="5303520" y="2770632"/>
            <a:ext cx="3200400" cy="329184"/>
          </a:xfrm>
          <a:prstGeom prst="rect">
            <a:avLst/>
          </a:prstGeom>
          <a:noFill/>
          <a:ln/>
        </p:spPr>
        <p:txBody>
          <a:bodyPr wrap="square" lIns="0" tIns="0" rIns="0" bIns="0" rtlCol="0" anchor="ctr"/>
          <a:lstStyle/>
          <a:p>
            <a:pPr algn="l" indent="0" marL="0">
              <a:buNone/>
            </a:pPr>
            <a:r>
              <a:rPr lang="en-US" sz="950" dirty="0">
                <a:solidFill>
                  <a:srgbClr val="333333"/>
                </a:solidFill>
                <a:latin typeface="Arial" pitchFamily="34" charset="0"/>
                <a:ea typeface="Arial" pitchFamily="34" charset="-122"/>
                <a:cs typeface="Arial" pitchFamily="34" charset="-120"/>
              </a:rPr>
              <a:t>Data-center power demand keeps pulling forward; each new model generation wants more silicon.</a:t>
            </a:r>
            <a:endParaRPr lang="en-US" sz="950" dirty="0"/>
          </a:p>
        </p:txBody>
      </p:sp>
      <p:sp>
        <p:nvSpPr>
          <p:cNvPr id="20" name="Shape 17"/>
          <p:cNvSpPr/>
          <p:nvPr/>
        </p:nvSpPr>
        <p:spPr>
          <a:xfrm>
            <a:off x="4937760" y="3127248"/>
            <a:ext cx="274320" cy="274320"/>
          </a:xfrm>
          <a:prstGeom prst="ellipse">
            <a:avLst/>
          </a:prstGeom>
          <a:solidFill>
            <a:srgbClr val="F6693D"/>
          </a:solidFill>
          <a:ln w="12700">
            <a:solidFill>
              <a:srgbClr val="F6693D"/>
            </a:solidFill>
            <a:prstDash val="solid"/>
          </a:ln>
        </p:spPr>
      </p:sp>
      <p:sp>
        <p:nvSpPr>
          <p:cNvPr id="21" name="Text 18"/>
          <p:cNvSpPr/>
          <p:nvPr/>
        </p:nvSpPr>
        <p:spPr>
          <a:xfrm>
            <a:off x="4937760" y="3127248"/>
            <a:ext cx="274320" cy="274320"/>
          </a:xfrm>
          <a:prstGeom prst="rect">
            <a:avLst/>
          </a:prstGeom>
          <a:noFill/>
          <a:ln/>
        </p:spPr>
        <p:txBody>
          <a:bodyPr wrap="square" lIns="0" tIns="0" rIns="0" bIns="0" rtlCol="0" anchor="ctr"/>
          <a:lstStyle/>
          <a:p>
            <a:pPr algn="ctr" indent="0" marL="0">
              <a:buNone/>
            </a:pPr>
            <a:r>
              <a:rPr lang="en-US" sz="1100" b="1" dirty="0">
                <a:solidFill>
                  <a:srgbClr val="FFFFFF"/>
                </a:solidFill>
                <a:latin typeface="Arial Black" pitchFamily="34" charset="0"/>
                <a:ea typeface="Arial Black" pitchFamily="34" charset="-122"/>
                <a:cs typeface="Arial Black" pitchFamily="34" charset="-120"/>
              </a:rPr>
              <a:t>↑</a:t>
            </a:r>
            <a:endParaRPr lang="en-US" sz="1100" dirty="0"/>
          </a:p>
        </p:txBody>
      </p:sp>
      <p:sp>
        <p:nvSpPr>
          <p:cNvPr id="22" name="Text 19"/>
          <p:cNvSpPr/>
          <p:nvPr/>
        </p:nvSpPr>
        <p:spPr>
          <a:xfrm>
            <a:off x="5303520" y="3099816"/>
            <a:ext cx="3200400" cy="329184"/>
          </a:xfrm>
          <a:prstGeom prst="rect">
            <a:avLst/>
          </a:prstGeom>
          <a:noFill/>
          <a:ln/>
        </p:spPr>
        <p:txBody>
          <a:bodyPr wrap="square" lIns="0" tIns="0" rIns="0" bIns="0" rtlCol="0" anchor="ctr"/>
          <a:lstStyle/>
          <a:p>
            <a:pPr algn="l" indent="0" marL="0">
              <a:buNone/>
            </a:pPr>
            <a:r>
              <a:rPr lang="en-US" sz="950" dirty="0">
                <a:solidFill>
                  <a:srgbClr val="333333"/>
                </a:solidFill>
                <a:latin typeface="Arial" pitchFamily="34" charset="0"/>
                <a:ea typeface="Arial" pitchFamily="34" charset="-122"/>
                <a:cs typeface="Arial" pitchFamily="34" charset="-120"/>
              </a:rPr>
              <a:t>ASPs and margins are expanding across memory and advanced-node logic.</a:t>
            </a:r>
            <a:endParaRPr lang="en-US" sz="950" dirty="0"/>
          </a:p>
        </p:txBody>
      </p:sp>
      <p:sp>
        <p:nvSpPr>
          <p:cNvPr id="23" name="Shape 20"/>
          <p:cNvSpPr/>
          <p:nvPr/>
        </p:nvSpPr>
        <p:spPr>
          <a:xfrm>
            <a:off x="4754880" y="3520440"/>
            <a:ext cx="3931920" cy="1645920"/>
          </a:xfrm>
          <a:prstGeom prst="rect">
            <a:avLst/>
          </a:prstGeom>
          <a:solidFill>
            <a:srgbClr val="FFFFFF"/>
          </a:solidFill>
          <a:ln w="6350">
            <a:solidFill>
              <a:srgbClr val="E5E5E5"/>
            </a:solidFill>
            <a:prstDash val="solid"/>
          </a:ln>
        </p:spPr>
      </p:sp>
      <p:sp>
        <p:nvSpPr>
          <p:cNvPr id="24" name="Shape 21"/>
          <p:cNvSpPr/>
          <p:nvPr/>
        </p:nvSpPr>
        <p:spPr>
          <a:xfrm>
            <a:off x="4754880" y="3520440"/>
            <a:ext cx="3931920" cy="54864"/>
          </a:xfrm>
          <a:prstGeom prst="rect">
            <a:avLst/>
          </a:prstGeom>
          <a:solidFill>
            <a:srgbClr val="CC0000"/>
          </a:solidFill>
          <a:ln w="12700">
            <a:solidFill>
              <a:srgbClr val="CC0000"/>
            </a:solidFill>
            <a:prstDash val="solid"/>
          </a:ln>
        </p:spPr>
      </p:sp>
      <p:sp>
        <p:nvSpPr>
          <p:cNvPr id="25" name="Text 22"/>
          <p:cNvSpPr/>
          <p:nvPr/>
        </p:nvSpPr>
        <p:spPr>
          <a:xfrm>
            <a:off x="4937760" y="3611880"/>
            <a:ext cx="3566160" cy="182880"/>
          </a:xfrm>
          <a:prstGeom prst="rect">
            <a:avLst/>
          </a:prstGeom>
          <a:noFill/>
          <a:ln/>
        </p:spPr>
        <p:txBody>
          <a:bodyPr wrap="square" lIns="0" tIns="0" rIns="0" bIns="0" rtlCol="0" anchor="ctr"/>
          <a:lstStyle/>
          <a:p>
            <a:pPr algn="l" indent="0" marL="0">
              <a:buNone/>
            </a:pPr>
            <a:r>
              <a:rPr lang="en-US" sz="1000" b="1" spc="300" kern="0" dirty="0">
                <a:solidFill>
                  <a:srgbClr val="666666"/>
                </a:solidFill>
                <a:latin typeface="Arial" pitchFamily="34" charset="0"/>
                <a:ea typeface="Arial" pitchFamily="34" charset="-122"/>
                <a:cs typeface="Arial" pitchFamily="34" charset="-120"/>
              </a:rPr>
              <a:t>WHY SOFTWARE IS DOWN</a:t>
            </a:r>
            <a:endParaRPr lang="en-US" sz="1000" dirty="0"/>
          </a:p>
        </p:txBody>
      </p:sp>
      <p:sp>
        <p:nvSpPr>
          <p:cNvPr id="26" name="Text 23"/>
          <p:cNvSpPr/>
          <p:nvPr/>
        </p:nvSpPr>
        <p:spPr>
          <a:xfrm>
            <a:off x="4937760" y="3794760"/>
            <a:ext cx="3566160" cy="347472"/>
          </a:xfrm>
          <a:prstGeom prst="rect">
            <a:avLst/>
          </a:prstGeom>
          <a:noFill/>
          <a:ln/>
        </p:spPr>
        <p:txBody>
          <a:bodyPr wrap="square" lIns="0" tIns="0" rIns="0" bIns="0" rtlCol="0" anchor="ctr"/>
          <a:lstStyle/>
          <a:p>
            <a:pPr algn="l" indent="0" marL="0">
              <a:buNone/>
            </a:pPr>
            <a:r>
              <a:rPr lang="en-US" sz="1200" b="1" dirty="0">
                <a:solidFill>
                  <a:srgbClr val="333333"/>
                </a:solidFill>
                <a:latin typeface="Arial" pitchFamily="34" charset="0"/>
                <a:ea typeface="Arial" pitchFamily="34" charset="-122"/>
                <a:cs typeface="Arial" pitchFamily="34" charset="-120"/>
              </a:rPr>
              <a:t>Per-seat pricing is under attack.</a:t>
            </a:r>
            <a:endParaRPr lang="en-US" sz="1200" dirty="0"/>
          </a:p>
        </p:txBody>
      </p:sp>
      <p:sp>
        <p:nvSpPr>
          <p:cNvPr id="27" name="Shape 24"/>
          <p:cNvSpPr/>
          <p:nvPr/>
        </p:nvSpPr>
        <p:spPr>
          <a:xfrm>
            <a:off x="4937760" y="4206240"/>
            <a:ext cx="274320" cy="274320"/>
          </a:xfrm>
          <a:prstGeom prst="ellipse">
            <a:avLst/>
          </a:prstGeom>
          <a:solidFill>
            <a:srgbClr val="CC0000"/>
          </a:solidFill>
          <a:ln w="12700">
            <a:solidFill>
              <a:srgbClr val="CC0000"/>
            </a:solidFill>
            <a:prstDash val="solid"/>
          </a:ln>
        </p:spPr>
      </p:sp>
      <p:sp>
        <p:nvSpPr>
          <p:cNvPr id="28" name="Text 25"/>
          <p:cNvSpPr/>
          <p:nvPr/>
        </p:nvSpPr>
        <p:spPr>
          <a:xfrm>
            <a:off x="4937760" y="4206240"/>
            <a:ext cx="274320" cy="274320"/>
          </a:xfrm>
          <a:prstGeom prst="rect">
            <a:avLst/>
          </a:prstGeom>
          <a:noFill/>
          <a:ln/>
        </p:spPr>
        <p:txBody>
          <a:bodyPr wrap="square" lIns="0" tIns="0" rIns="0" bIns="0" rtlCol="0" anchor="ctr"/>
          <a:lstStyle/>
          <a:p>
            <a:pPr algn="ctr" indent="0" marL="0">
              <a:buNone/>
            </a:pPr>
            <a:r>
              <a:rPr lang="en-US" sz="1100" b="1" dirty="0">
                <a:solidFill>
                  <a:srgbClr val="FFFFFF"/>
                </a:solidFill>
                <a:latin typeface="Arial Black" pitchFamily="34" charset="0"/>
                <a:ea typeface="Arial Black" pitchFamily="34" charset="-122"/>
                <a:cs typeface="Arial Black" pitchFamily="34" charset="-120"/>
              </a:rPr>
              <a:t>◉</a:t>
            </a:r>
            <a:endParaRPr lang="en-US" sz="1100" dirty="0"/>
          </a:p>
        </p:txBody>
      </p:sp>
      <p:sp>
        <p:nvSpPr>
          <p:cNvPr id="29" name="Text 26"/>
          <p:cNvSpPr/>
          <p:nvPr/>
        </p:nvSpPr>
        <p:spPr>
          <a:xfrm>
            <a:off x="5303520" y="4178808"/>
            <a:ext cx="3200400" cy="329184"/>
          </a:xfrm>
          <a:prstGeom prst="rect">
            <a:avLst/>
          </a:prstGeom>
          <a:noFill/>
          <a:ln/>
        </p:spPr>
        <p:txBody>
          <a:bodyPr wrap="square" lIns="0" tIns="0" rIns="0" bIns="0" rtlCol="0" anchor="ctr"/>
          <a:lstStyle/>
          <a:p>
            <a:pPr algn="l" indent="0" marL="0">
              <a:buNone/>
            </a:pPr>
            <a:r>
              <a:rPr lang="en-US" sz="950" dirty="0">
                <a:solidFill>
                  <a:srgbClr val="333333"/>
                </a:solidFill>
                <a:latin typeface="Arial" pitchFamily="34" charset="0"/>
                <a:ea typeface="Arial" pitchFamily="34" charset="-122"/>
                <a:cs typeface="Arial" pitchFamily="34" charset="-120"/>
              </a:rPr>
              <a:t>Anthropic's "Cowork" launch triggered a ~$285B SaaS selloff (Feb 2026); Atlassian booked its first-ever seat decline.</a:t>
            </a:r>
            <a:endParaRPr lang="en-US" sz="950" dirty="0"/>
          </a:p>
        </p:txBody>
      </p:sp>
      <p:sp>
        <p:nvSpPr>
          <p:cNvPr id="30" name="Shape 27"/>
          <p:cNvSpPr/>
          <p:nvPr/>
        </p:nvSpPr>
        <p:spPr>
          <a:xfrm>
            <a:off x="4937760" y="4535424"/>
            <a:ext cx="274320" cy="274320"/>
          </a:xfrm>
          <a:prstGeom prst="ellipse">
            <a:avLst/>
          </a:prstGeom>
          <a:solidFill>
            <a:srgbClr val="CC0000"/>
          </a:solidFill>
          <a:ln w="12700">
            <a:solidFill>
              <a:srgbClr val="CC0000"/>
            </a:solidFill>
            <a:prstDash val="solid"/>
          </a:ln>
        </p:spPr>
      </p:sp>
      <p:sp>
        <p:nvSpPr>
          <p:cNvPr id="31" name="Text 28"/>
          <p:cNvSpPr/>
          <p:nvPr/>
        </p:nvSpPr>
        <p:spPr>
          <a:xfrm>
            <a:off x="4937760" y="4535424"/>
            <a:ext cx="274320" cy="274320"/>
          </a:xfrm>
          <a:prstGeom prst="rect">
            <a:avLst/>
          </a:prstGeom>
          <a:noFill/>
          <a:ln/>
        </p:spPr>
        <p:txBody>
          <a:bodyPr wrap="square" lIns="0" tIns="0" rIns="0" bIns="0" rtlCol="0" anchor="ctr"/>
          <a:lstStyle/>
          <a:p>
            <a:pPr algn="ctr" indent="0" marL="0">
              <a:buNone/>
            </a:pPr>
            <a:r>
              <a:rPr lang="en-US" sz="1100" b="1" dirty="0">
                <a:solidFill>
                  <a:srgbClr val="FFFFFF"/>
                </a:solidFill>
                <a:latin typeface="Arial Black" pitchFamily="34" charset="0"/>
                <a:ea typeface="Arial Black" pitchFamily="34" charset="-122"/>
                <a:cs typeface="Arial Black" pitchFamily="34" charset="-120"/>
              </a:rPr>
              <a:t>✕</a:t>
            </a:r>
            <a:endParaRPr lang="en-US" sz="1100" dirty="0"/>
          </a:p>
        </p:txBody>
      </p:sp>
      <p:sp>
        <p:nvSpPr>
          <p:cNvPr id="32" name="Text 29"/>
          <p:cNvSpPr/>
          <p:nvPr/>
        </p:nvSpPr>
        <p:spPr>
          <a:xfrm>
            <a:off x="5303520" y="4507992"/>
            <a:ext cx="3200400" cy="329184"/>
          </a:xfrm>
          <a:prstGeom prst="rect">
            <a:avLst/>
          </a:prstGeom>
          <a:noFill/>
          <a:ln/>
        </p:spPr>
        <p:txBody>
          <a:bodyPr wrap="square" lIns="0" tIns="0" rIns="0" bIns="0" rtlCol="0" anchor="ctr"/>
          <a:lstStyle/>
          <a:p>
            <a:pPr algn="l" indent="0" marL="0">
              <a:buNone/>
            </a:pPr>
            <a:r>
              <a:rPr lang="en-US" sz="950" dirty="0">
                <a:solidFill>
                  <a:srgbClr val="333333"/>
                </a:solidFill>
                <a:latin typeface="Arial" pitchFamily="34" charset="0"/>
                <a:ea typeface="Arial" pitchFamily="34" charset="-122"/>
                <a:cs typeface="Arial" pitchFamily="34" charset="-120"/>
              </a:rPr>
              <a:t>Public SaaS multiples re-rated lower as buyers underwrite slower seat growth and pricing pressure.</a:t>
            </a:r>
            <a:pPr algn="l" indent="0" marL="0">
              <a:buNone/>
            </a:pPr>
            <a:r>
              <a:rPr lang="en-US" sz="700" baseline="30000" dirty="0">
                <a:solidFill>
                  <a:srgbClr val="CC0000"/>
                </a:solidFill>
                <a:latin typeface="Arial" pitchFamily="34" charset="0"/>
                <a:ea typeface="Arial" pitchFamily="34" charset="-122"/>
                <a:cs typeface="Arial" pitchFamily="34" charset="-120"/>
              </a:rPr>
              <a:t> 2</a:t>
            </a:r>
            <a:endParaRPr lang="en-US" sz="950" dirty="0"/>
          </a:p>
        </p:txBody>
      </p:sp>
      <p:sp>
        <p:nvSpPr>
          <p:cNvPr id="33" name="Shape 30"/>
          <p:cNvSpPr/>
          <p:nvPr/>
        </p:nvSpPr>
        <p:spPr>
          <a:xfrm>
            <a:off x="4937760" y="4864608"/>
            <a:ext cx="274320" cy="274320"/>
          </a:xfrm>
          <a:prstGeom prst="ellipse">
            <a:avLst/>
          </a:prstGeom>
          <a:solidFill>
            <a:srgbClr val="CC0000"/>
          </a:solidFill>
          <a:ln w="12700">
            <a:solidFill>
              <a:srgbClr val="CC0000"/>
            </a:solidFill>
            <a:prstDash val="solid"/>
          </a:ln>
        </p:spPr>
      </p:sp>
      <p:sp>
        <p:nvSpPr>
          <p:cNvPr id="34" name="Text 31"/>
          <p:cNvSpPr/>
          <p:nvPr/>
        </p:nvSpPr>
        <p:spPr>
          <a:xfrm>
            <a:off x="4937760" y="4864608"/>
            <a:ext cx="274320" cy="274320"/>
          </a:xfrm>
          <a:prstGeom prst="rect">
            <a:avLst/>
          </a:prstGeom>
          <a:noFill/>
          <a:ln/>
        </p:spPr>
        <p:txBody>
          <a:bodyPr wrap="square" lIns="0" tIns="0" rIns="0" bIns="0" rtlCol="0" anchor="ctr"/>
          <a:lstStyle/>
          <a:p>
            <a:pPr algn="ctr" indent="0" marL="0">
              <a:buNone/>
            </a:pPr>
            <a:r>
              <a:rPr lang="en-US" sz="1100" b="1" dirty="0">
                <a:solidFill>
                  <a:srgbClr val="FFFFFF"/>
                </a:solidFill>
                <a:latin typeface="Arial Black" pitchFamily="34" charset="0"/>
                <a:ea typeface="Arial Black" pitchFamily="34" charset="-122"/>
                <a:cs typeface="Arial Black" pitchFamily="34" charset="-120"/>
              </a:rPr>
              <a:t>↓</a:t>
            </a:r>
            <a:endParaRPr lang="en-US" sz="1100" dirty="0"/>
          </a:p>
        </p:txBody>
      </p:sp>
      <p:sp>
        <p:nvSpPr>
          <p:cNvPr id="35" name="Text 32"/>
          <p:cNvSpPr/>
          <p:nvPr/>
        </p:nvSpPr>
        <p:spPr>
          <a:xfrm>
            <a:off x="5303520" y="4837176"/>
            <a:ext cx="3200400" cy="329184"/>
          </a:xfrm>
          <a:prstGeom prst="rect">
            <a:avLst/>
          </a:prstGeom>
          <a:noFill/>
          <a:ln/>
        </p:spPr>
        <p:txBody>
          <a:bodyPr wrap="square" lIns="0" tIns="0" rIns="0" bIns="0" rtlCol="0" anchor="ctr"/>
          <a:lstStyle/>
          <a:p>
            <a:pPr algn="l" indent="0" marL="0">
              <a:buNone/>
            </a:pPr>
            <a:r>
              <a:rPr lang="en-US" sz="950" dirty="0">
                <a:solidFill>
                  <a:srgbClr val="333333"/>
                </a:solidFill>
                <a:latin typeface="Arial" pitchFamily="34" charset="0"/>
                <a:ea typeface="Arial" pitchFamily="34" charset="-122"/>
                <a:cs typeface="Arial" pitchFamily="34" charset="-120"/>
              </a:rPr>
              <a:t>Renewals slowing and deal cycles stretching as customers wait for vendor AI roadmaps to settle.</a:t>
            </a:r>
            <a:endParaRPr lang="en-US" sz="950" dirty="0"/>
          </a:p>
        </p:txBody>
      </p:sp>
      <p:sp>
        <p:nvSpPr>
          <p:cNvPr id="36" name="Text 33"/>
          <p:cNvSpPr/>
          <p:nvPr/>
        </p:nvSpPr>
        <p:spPr>
          <a:xfrm>
            <a:off x="457200" y="5349240"/>
            <a:ext cx="8229600" cy="274320"/>
          </a:xfrm>
          <a:prstGeom prst="rect">
            <a:avLst/>
          </a:prstGeom>
          <a:noFill/>
          <a:ln/>
        </p:spPr>
        <p:txBody>
          <a:bodyPr wrap="square" lIns="0" tIns="0" rIns="0" bIns="0" rtlCol="0" anchor="ctr"/>
          <a:lstStyle/>
          <a:p>
            <a:pPr algn="ctr" indent="0" marL="0">
              <a:buNone/>
            </a:pPr>
            <a:r>
              <a:rPr lang="en-US" sz="950" i="1" dirty="0">
                <a:solidFill>
                  <a:srgbClr val="666666"/>
                </a:solidFill>
                <a:latin typeface="Arial" pitchFamily="34" charset="0"/>
                <a:ea typeface="Arial" pitchFamily="34" charset="-122"/>
                <a:cs typeface="Arial" pitchFamily="34" charset="-120"/>
              </a:rPr>
              <a:t>One theme, two outcomes — and software's pain is now bleeding into private equity and private credit, both anchored in SaaS.</a:t>
            </a:r>
            <a:endParaRPr lang="en-US" sz="950" dirty="0"/>
          </a:p>
        </p:txBody>
      </p:sp>
      <p:sp>
        <p:nvSpPr>
          <p:cNvPr id="37" name="Text 34"/>
          <p:cNvSpPr/>
          <p:nvPr/>
        </p:nvSpPr>
        <p:spPr>
          <a:xfrm>
            <a:off x="457200" y="5875020"/>
            <a:ext cx="8229600" cy="457200"/>
          </a:xfrm>
          <a:prstGeom prst="rect">
            <a:avLst/>
          </a:prstGeom>
          <a:noFill/>
          <a:ln/>
        </p:spPr>
        <p:txBody>
          <a:bodyPr wrap="square" lIns="0" tIns="0" rIns="0" bIns="0" rtlCol="0" anchor="t"/>
          <a:lstStyle/>
          <a:p>
            <a:pPr indent="0" marL="0">
              <a:buNone/>
            </a:pPr>
            <a:r>
              <a:rPr lang="en-US" sz="700" b="1" dirty="0">
                <a:solidFill>
                  <a:srgbClr val="999999"/>
                </a:solidFill>
                <a:latin typeface="Arial" pitchFamily="34" charset="0"/>
                <a:ea typeface="Arial" pitchFamily="34" charset="-122"/>
                <a:cs typeface="Arial" pitchFamily="34" charset="-120"/>
              </a:rPr>
              <a:t>(1) </a:t>
            </a:r>
            <a:pPr indent="0" marL="0">
              <a:buNone/>
            </a:pPr>
            <a:r>
              <a:rPr lang="en-US" sz="700" dirty="0">
                <a:solidFill>
                  <a:srgbClr val="999999"/>
                </a:solidFill>
                <a:latin typeface="Arial" pitchFamily="34" charset="0"/>
                <a:ea typeface="Arial" pitchFamily="34" charset="-122"/>
                <a:cs typeface="Arial" pitchFamily="34" charset="-120"/>
              </a:rPr>
              <a:t>TrendForce via Data Center Dynamics, 2026, </a:t>
            </a:r>
            <a:pPr indent="0" marL="0">
              <a:buNone/>
            </a:pPr>
            <a:r>
              <a:rPr lang="en-US" sz="700" b="1" dirty="0">
                <a:solidFill>
                  <a:srgbClr val="999999"/>
                </a:solidFill>
                <a:latin typeface="Arial" pitchFamily="34" charset="0"/>
                <a:ea typeface="Arial" pitchFamily="34" charset="-122"/>
                <a:cs typeface="Arial" pitchFamily="34" charset="-120"/>
              </a:rPr>
              <a:t>(2) </a:t>
            </a:r>
            <a:pPr indent="0" marL="0">
              <a:buNone/>
            </a:pPr>
            <a:r>
              <a:rPr lang="en-US" sz="700" dirty="0">
                <a:solidFill>
                  <a:srgbClr val="999999"/>
                </a:solidFill>
                <a:latin typeface="Arial" pitchFamily="34" charset="0"/>
                <a:ea typeface="Arial" pitchFamily="34" charset="-122"/>
                <a:cs typeface="Arial" pitchFamily="34" charset="-120"/>
              </a:rPr>
              <a:t>multiples.vc software multiples; SaaS selloff coverage, Feb–May 2026.</a:t>
            </a:r>
            <a:endParaRPr lang="en-US" sz="700" dirty="0"/>
          </a:p>
        </p:txBody>
      </p:sp>
      <p:sp>
        <p:nvSpPr>
          <p:cNvPr id="38" name="Shape 35"/>
          <p:cNvSpPr/>
          <p:nvPr/>
        </p:nvSpPr>
        <p:spPr>
          <a:xfrm>
            <a:off x="0" y="6286500"/>
            <a:ext cx="9144000" cy="571500"/>
          </a:xfrm>
          <a:prstGeom prst="rect">
            <a:avLst/>
          </a:prstGeom>
          <a:solidFill>
            <a:srgbClr val="000000"/>
          </a:solidFill>
          <a:ln w="12700">
            <a:solidFill>
              <a:srgbClr val="000000"/>
            </a:solidFill>
            <a:prstDash val="solid"/>
          </a:ln>
        </p:spPr>
      </p:sp>
      <p:sp>
        <p:nvSpPr>
          <p:cNvPr id="39" name="Text 36"/>
          <p:cNvSpPr/>
          <p:nvPr/>
        </p:nvSpPr>
        <p:spPr>
          <a:xfrm>
            <a:off x="1371600" y="6332220"/>
            <a:ext cx="6400800" cy="457200"/>
          </a:xfrm>
          <a:prstGeom prst="rect">
            <a:avLst/>
          </a:prstGeom>
          <a:noFill/>
          <a:ln/>
        </p:spPr>
        <p:txBody>
          <a:bodyPr wrap="square" lIns="0" tIns="0" rIns="0" bIns="0" rtlCol="0" anchor="ctr"/>
          <a:lstStyle/>
          <a:p>
            <a:pPr algn="ctr" indent="0" marL="0">
              <a:buNone/>
            </a:pPr>
            <a:r>
              <a:rPr lang="en-US" sz="650" b="1" dirty="0">
                <a:solidFill>
                  <a:srgbClr val="FFFFFF"/>
                </a:solidFill>
                <a:latin typeface="Arial" pitchFamily="34" charset="0"/>
                <a:ea typeface="Arial" pitchFamily="34" charset="-122"/>
                <a:cs typeface="Arial" pitchFamily="34" charset="-120"/>
              </a:rPr>
              <a:t>FOR INFORMATIONAL PURPOSES ONLY. NOT INVESTMENT ADVICE. PAST PERFORMANCE IS NOT INDICATIVE OF FUTURE RESULTS.</a:t>
            </a:r>
            <a:endParaRPr lang="en-US" sz="650" dirty="0"/>
          </a:p>
        </p:txBody>
      </p:sp>
      <p:sp>
        <p:nvSpPr>
          <p:cNvPr id="40" name="Text 37"/>
          <p:cNvSpPr/>
          <p:nvPr/>
        </p:nvSpPr>
        <p:spPr>
          <a:xfrm>
            <a:off x="8321040" y="6405372"/>
            <a:ext cx="548640" cy="274320"/>
          </a:xfrm>
          <a:prstGeom prst="rect">
            <a:avLst/>
          </a:prstGeom>
          <a:noFill/>
          <a:ln/>
        </p:spPr>
        <p:txBody>
          <a:bodyPr wrap="square" lIns="0" tIns="0" rIns="0" bIns="0" rtlCol="0" anchor="ctr"/>
          <a:lstStyle/>
          <a:p>
            <a:pPr algn="r" indent="0" marL="0">
              <a:buNone/>
            </a:pPr>
            <a:r>
              <a:rPr lang="en-US" sz="900" dirty="0">
                <a:solidFill>
                  <a:srgbClr val="FFFFFF"/>
                </a:solidFill>
                <a:latin typeface="Arial" pitchFamily="34" charset="0"/>
                <a:ea typeface="Arial" pitchFamily="34" charset="-122"/>
                <a:cs typeface="Arial" pitchFamily="34" charset="-120"/>
              </a:rPr>
              <a:t>13</a:t>
            </a:r>
            <a:endParaRPr lang="en-US" sz="9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Shape 0"/>
          <p:cNvSpPr/>
          <p:nvPr/>
        </p:nvSpPr>
        <p:spPr>
          <a:xfrm>
            <a:off x="7132320" y="164592"/>
            <a:ext cx="1737360" cy="292608"/>
          </a:xfrm>
          <a:prstGeom prst="roundRect">
            <a:avLst>
              <a:gd name="adj" fmla="val 15625"/>
            </a:avLst>
          </a:prstGeom>
          <a:solidFill>
            <a:srgbClr val="F6693D"/>
          </a:solidFill>
          <a:ln w="12700">
            <a:solidFill>
              <a:srgbClr val="F6693D"/>
            </a:solidFill>
            <a:prstDash val="solid"/>
          </a:ln>
        </p:spPr>
      </p:sp>
      <p:sp>
        <p:nvSpPr>
          <p:cNvPr id="3" name="Text 1"/>
          <p:cNvSpPr/>
          <p:nvPr/>
        </p:nvSpPr>
        <p:spPr>
          <a:xfrm>
            <a:off x="7132320" y="164592"/>
            <a:ext cx="1737360" cy="292608"/>
          </a:xfrm>
          <a:prstGeom prst="rect">
            <a:avLst/>
          </a:prstGeom>
          <a:noFill/>
          <a:ln/>
        </p:spPr>
        <p:txBody>
          <a:bodyPr wrap="square" lIns="0" tIns="0" rIns="0" bIns="0" rtlCol="0" anchor="ctr"/>
          <a:lstStyle/>
          <a:p>
            <a:pPr algn="ctr" indent="0" marL="0">
              <a:buNone/>
            </a:pPr>
            <a:r>
              <a:rPr lang="en-US" sz="1000" b="1" spc="100" kern="0" dirty="0">
                <a:solidFill>
                  <a:srgbClr val="000000"/>
                </a:solidFill>
                <a:latin typeface="Arial" pitchFamily="34" charset="0"/>
                <a:ea typeface="Arial" pitchFamily="34" charset="-122"/>
                <a:cs typeface="Arial" pitchFamily="34" charset="-120"/>
              </a:rPr>
              <a:t>SHIFTS</a:t>
            </a:r>
            <a:endParaRPr lang="en-US" sz="1000" dirty="0"/>
          </a:p>
        </p:txBody>
      </p:sp>
      <p:sp>
        <p:nvSpPr>
          <p:cNvPr id="4" name="Text 2"/>
          <p:cNvSpPr/>
          <p:nvPr/>
        </p:nvSpPr>
        <p:spPr>
          <a:xfrm>
            <a:off x="457200" y="182880"/>
            <a:ext cx="6583680" cy="685800"/>
          </a:xfrm>
          <a:prstGeom prst="rect">
            <a:avLst/>
          </a:prstGeom>
          <a:noFill/>
          <a:ln/>
        </p:spPr>
        <p:txBody>
          <a:bodyPr wrap="square" lIns="0" tIns="0" rIns="0" bIns="0" rtlCol="0" anchor="t"/>
          <a:lstStyle/>
          <a:p>
            <a:pPr indent="0" marL="0">
              <a:buNone/>
            </a:pPr>
            <a:r>
              <a:rPr lang="en-US" sz="2400" b="1" dirty="0">
                <a:solidFill>
                  <a:srgbClr val="000000"/>
                </a:solidFill>
                <a:latin typeface="Arial Black" pitchFamily="34" charset="0"/>
                <a:ea typeface="Arial Black" pitchFamily="34" charset="-122"/>
                <a:cs typeface="Arial Black" pitchFamily="34" charset="-120"/>
              </a:rPr>
              <a:t>The model is no longer the moat — distribution is</a:t>
            </a:r>
            <a:endParaRPr lang="en-US" sz="2400" dirty="0"/>
          </a:p>
        </p:txBody>
      </p:sp>
      <p:sp>
        <p:nvSpPr>
          <p:cNvPr id="5" name="Text 3"/>
          <p:cNvSpPr/>
          <p:nvPr/>
        </p:nvSpPr>
        <p:spPr>
          <a:xfrm>
            <a:off x="457200" y="914400"/>
            <a:ext cx="8229600" cy="457200"/>
          </a:xfrm>
          <a:prstGeom prst="rect">
            <a:avLst/>
          </a:prstGeom>
          <a:noFill/>
          <a:ln/>
        </p:spPr>
        <p:txBody>
          <a:bodyPr wrap="square" lIns="0" tIns="0" rIns="0" bIns="0" rtlCol="0" anchor="t"/>
          <a:lstStyle/>
          <a:p>
            <a:pPr indent="0" marL="0">
              <a:buNone/>
            </a:pPr>
            <a:r>
              <a:rPr lang="en-US" sz="1350" dirty="0">
                <a:solidFill>
                  <a:srgbClr val="666666"/>
                </a:solidFill>
                <a:latin typeface="Arial" pitchFamily="34" charset="0"/>
                <a:ea typeface="Arial" pitchFamily="34" charset="-122"/>
                <a:cs typeface="Arial" pitchFamily="34" charset="-120"/>
              </a:rPr>
              <a:t>Frontier-class token prices have fallen ~99% in three years even as total AI bills rise. Intelligence is commoditizing; value migrates to whoever owns the customer and the workflow.</a:t>
            </a:r>
            <a:endParaRPr lang="en-US" sz="1350" dirty="0"/>
          </a:p>
        </p:txBody>
      </p:sp>
      <p:sp>
        <p:nvSpPr>
          <p:cNvPr id="6" name="Shape 4"/>
          <p:cNvSpPr/>
          <p:nvPr/>
        </p:nvSpPr>
        <p:spPr>
          <a:xfrm>
            <a:off x="457200" y="1325880"/>
            <a:ext cx="8229600" cy="0"/>
          </a:xfrm>
          <a:prstGeom prst="line">
            <a:avLst/>
          </a:prstGeom>
          <a:noFill/>
          <a:ln w="9525">
            <a:solidFill>
              <a:srgbClr val="E5E5E5"/>
            </a:solidFill>
            <a:prstDash val="solid"/>
          </a:ln>
        </p:spPr>
      </p:sp>
      <p:sp>
        <p:nvSpPr>
          <p:cNvPr id="7" name="Text 5"/>
          <p:cNvSpPr/>
          <p:nvPr/>
        </p:nvSpPr>
        <p:spPr>
          <a:xfrm>
            <a:off x="457200" y="1463040"/>
            <a:ext cx="3931920" cy="274320"/>
          </a:xfrm>
          <a:prstGeom prst="rect">
            <a:avLst/>
          </a:prstGeom>
          <a:noFill/>
          <a:ln/>
        </p:spPr>
        <p:txBody>
          <a:bodyPr wrap="square" lIns="0" tIns="0" rIns="0" bIns="0" rtlCol="0" anchor="b"/>
          <a:lstStyle/>
          <a:p>
            <a:pPr indent="0" marL="0">
              <a:buNone/>
            </a:pPr>
            <a:r>
              <a:rPr lang="en-US" sz="1400" b="1" dirty="0">
                <a:solidFill>
                  <a:srgbClr val="000000"/>
                </a:solidFill>
                <a:latin typeface="Arial" pitchFamily="34" charset="0"/>
                <a:ea typeface="Arial" pitchFamily="34" charset="-122"/>
                <a:cs typeface="Arial" pitchFamily="34" charset="-120"/>
              </a:rPr>
              <a:t>Cost per 1M tokens, frontier-class ($)</a:t>
            </a:r>
            <a:endParaRPr lang="en-US" sz="1400" dirty="0"/>
          </a:p>
        </p:txBody>
      </p:sp>
      <p:sp>
        <p:nvSpPr>
          <p:cNvPr id="8" name="Shape 6"/>
          <p:cNvSpPr/>
          <p:nvPr/>
        </p:nvSpPr>
        <p:spPr>
          <a:xfrm>
            <a:off x="457200" y="1737360"/>
            <a:ext cx="3931920" cy="0"/>
          </a:xfrm>
          <a:prstGeom prst="line">
            <a:avLst/>
          </a:prstGeom>
          <a:noFill/>
          <a:ln w="19050">
            <a:solidFill>
              <a:srgbClr val="000000"/>
            </a:solidFill>
            <a:prstDash val="solid"/>
          </a:ln>
        </p:spPr>
      </p:sp>
      <p:graphicFrame>
        <p:nvGraphicFramePr>
          <p:cNvPr id="9" name="Chart 0" descr=""/>
          <p:cNvGraphicFramePr/>
          <p:nvPr/>
        </p:nvGraphicFramePr>
        <p:xfrm>
          <a:off x="457200" y="1874520"/>
          <a:ext cx="3931920" cy="2788920"/>
        </p:xfrm>
        <a:graphic xmlns:a="http://schemas.openxmlformats.org/drawingml/2006/main">
          <a:graphicData uri="http://schemas.openxmlformats.org/drawingml/2006/chart">
            <c:chart xmlns:c="http://schemas.openxmlformats.org/drawingml/2006/chart" r:id="rId1"/>
          </a:graphicData>
        </a:graphic>
      </p:graphicFrame>
      <p:sp>
        <p:nvSpPr>
          <p:cNvPr id="10" name="Text 7"/>
          <p:cNvSpPr/>
          <p:nvPr/>
        </p:nvSpPr>
        <p:spPr>
          <a:xfrm>
            <a:off x="457200" y="4709160"/>
            <a:ext cx="3931920" cy="274320"/>
          </a:xfrm>
          <a:prstGeom prst="rect">
            <a:avLst/>
          </a:prstGeom>
          <a:noFill/>
          <a:ln/>
        </p:spPr>
        <p:txBody>
          <a:bodyPr wrap="square" lIns="0" tIns="0" rIns="0" bIns="0" rtlCol="0" anchor="ctr"/>
          <a:lstStyle/>
          <a:p>
            <a:pPr algn="ctr" indent="0" marL="0">
              <a:buNone/>
            </a:pPr>
            <a:r>
              <a:rPr lang="en-US" sz="1100" b="1" dirty="0">
                <a:solidFill>
                  <a:srgbClr val="F6693D"/>
                </a:solidFill>
                <a:latin typeface="Arial" pitchFamily="34" charset="0"/>
                <a:ea typeface="Arial" pitchFamily="34" charset="-122"/>
                <a:cs typeface="Arial" pitchFamily="34" charset="-120"/>
              </a:rPr>
              <a:t>~99% cheaper in three years.</a:t>
            </a:r>
            <a:endParaRPr lang="en-US" sz="1100" dirty="0"/>
          </a:p>
        </p:txBody>
      </p:sp>
      <p:sp>
        <p:nvSpPr>
          <p:cNvPr id="11" name="Shape 8"/>
          <p:cNvSpPr/>
          <p:nvPr/>
        </p:nvSpPr>
        <p:spPr>
          <a:xfrm>
            <a:off x="4526280" y="1874520"/>
            <a:ext cx="4160520" cy="1325880"/>
          </a:xfrm>
          <a:prstGeom prst="rect">
            <a:avLst/>
          </a:prstGeom>
          <a:solidFill>
            <a:srgbClr val="F9F9F9"/>
          </a:solidFill>
          <a:ln w="6350">
            <a:solidFill>
              <a:srgbClr val="E5E5E5"/>
            </a:solidFill>
            <a:prstDash val="solid"/>
          </a:ln>
        </p:spPr>
      </p:sp>
      <p:sp>
        <p:nvSpPr>
          <p:cNvPr id="12" name="Shape 9"/>
          <p:cNvSpPr/>
          <p:nvPr/>
        </p:nvSpPr>
        <p:spPr>
          <a:xfrm>
            <a:off x="4526280" y="1874520"/>
            <a:ext cx="4160520" cy="274320"/>
          </a:xfrm>
          <a:prstGeom prst="rect">
            <a:avLst/>
          </a:prstGeom>
          <a:solidFill>
            <a:srgbClr val="666666"/>
          </a:solidFill>
          <a:ln w="12700">
            <a:solidFill>
              <a:srgbClr val="666666"/>
            </a:solidFill>
            <a:prstDash val="solid"/>
          </a:ln>
        </p:spPr>
      </p:sp>
      <p:sp>
        <p:nvSpPr>
          <p:cNvPr id="13" name="Text 10"/>
          <p:cNvSpPr/>
          <p:nvPr/>
        </p:nvSpPr>
        <p:spPr>
          <a:xfrm>
            <a:off x="4526280" y="1874520"/>
            <a:ext cx="4160520" cy="274320"/>
          </a:xfrm>
          <a:prstGeom prst="rect">
            <a:avLst/>
          </a:prstGeom>
          <a:noFill/>
          <a:ln/>
        </p:spPr>
        <p:txBody>
          <a:bodyPr wrap="square" lIns="1524" tIns="1524" rIns="1524" bIns="1524" rtlCol="0" anchor="ctr"/>
          <a:lstStyle/>
          <a:p>
            <a:pPr algn="l" indent="0" marL="0">
              <a:buNone/>
            </a:pPr>
            <a:r>
              <a:rPr lang="en-US" sz="950" b="1" spc="100" kern="0" dirty="0">
                <a:solidFill>
                  <a:srgbClr val="FFFFFF"/>
                </a:solidFill>
                <a:latin typeface="Arial" pitchFamily="34" charset="0"/>
                <a:ea typeface="Arial" pitchFamily="34" charset="-122"/>
                <a:cs typeface="Arial" pitchFamily="34" charset="-120"/>
              </a:rPr>
              <a:t>COMMODITIZING — the model</a:t>
            </a:r>
            <a:endParaRPr lang="en-US" sz="950" dirty="0"/>
          </a:p>
        </p:txBody>
      </p:sp>
      <p:sp>
        <p:nvSpPr>
          <p:cNvPr id="14" name="Text 11"/>
          <p:cNvSpPr/>
          <p:nvPr/>
        </p:nvSpPr>
        <p:spPr>
          <a:xfrm>
            <a:off x="4663440" y="2221992"/>
            <a:ext cx="3886200" cy="914400"/>
          </a:xfrm>
          <a:prstGeom prst="rect">
            <a:avLst/>
          </a:prstGeom>
          <a:noFill/>
          <a:ln/>
        </p:spPr>
        <p:txBody>
          <a:bodyPr wrap="square" lIns="0" tIns="0" rIns="0" bIns="0" rtlCol="0" anchor="t"/>
          <a:lstStyle/>
          <a:p>
            <a:pPr indent="0" marL="0">
              <a:buNone/>
            </a:pPr>
            <a:r>
              <a:rPr lang="en-US" sz="1050" dirty="0">
                <a:solidFill>
                  <a:srgbClr val="333333"/>
                </a:solidFill>
                <a:latin typeface="Arial" pitchFamily="34" charset="0"/>
                <a:ea typeface="Arial" pitchFamily="34" charset="-122"/>
                <a:cs typeface="Arial" pitchFamily="34" charset="-120"/>
              </a:rPr>
              <a:t>Open weights (DeepSeek V4, Llama) reach frontier within months · price wars among labs · switching costs near zero.</a:t>
            </a:r>
            <a:endParaRPr lang="en-US" sz="1050" dirty="0"/>
          </a:p>
        </p:txBody>
      </p:sp>
      <p:sp>
        <p:nvSpPr>
          <p:cNvPr id="15" name="Shape 12"/>
          <p:cNvSpPr/>
          <p:nvPr/>
        </p:nvSpPr>
        <p:spPr>
          <a:xfrm>
            <a:off x="4526280" y="3291840"/>
            <a:ext cx="4160520" cy="1325880"/>
          </a:xfrm>
          <a:prstGeom prst="rect">
            <a:avLst/>
          </a:prstGeom>
          <a:solidFill>
            <a:srgbClr val="F9F9F9"/>
          </a:solidFill>
          <a:ln w="6350">
            <a:solidFill>
              <a:srgbClr val="E5E5E5"/>
            </a:solidFill>
            <a:prstDash val="solid"/>
          </a:ln>
        </p:spPr>
      </p:sp>
      <p:sp>
        <p:nvSpPr>
          <p:cNvPr id="16" name="Shape 13"/>
          <p:cNvSpPr/>
          <p:nvPr/>
        </p:nvSpPr>
        <p:spPr>
          <a:xfrm>
            <a:off x="4526280" y="3291840"/>
            <a:ext cx="4160520" cy="274320"/>
          </a:xfrm>
          <a:prstGeom prst="rect">
            <a:avLst/>
          </a:prstGeom>
          <a:solidFill>
            <a:srgbClr val="F6693D"/>
          </a:solidFill>
          <a:ln w="12700">
            <a:solidFill>
              <a:srgbClr val="F6693D"/>
            </a:solidFill>
            <a:prstDash val="solid"/>
          </a:ln>
        </p:spPr>
      </p:sp>
      <p:sp>
        <p:nvSpPr>
          <p:cNvPr id="17" name="Text 14"/>
          <p:cNvSpPr/>
          <p:nvPr/>
        </p:nvSpPr>
        <p:spPr>
          <a:xfrm>
            <a:off x="4526280" y="3291840"/>
            <a:ext cx="4160520" cy="274320"/>
          </a:xfrm>
          <a:prstGeom prst="rect">
            <a:avLst/>
          </a:prstGeom>
          <a:noFill/>
          <a:ln/>
        </p:spPr>
        <p:txBody>
          <a:bodyPr wrap="square" lIns="1524" tIns="1524" rIns="1524" bIns="1524" rtlCol="0" anchor="ctr"/>
          <a:lstStyle/>
          <a:p>
            <a:pPr algn="l" indent="0" marL="0">
              <a:buNone/>
            </a:pPr>
            <a:r>
              <a:rPr lang="en-US" sz="950" b="1" spc="100" kern="0" dirty="0">
                <a:solidFill>
                  <a:srgbClr val="FFFFFF"/>
                </a:solidFill>
                <a:latin typeface="Arial" pitchFamily="34" charset="0"/>
                <a:ea typeface="Arial" pitchFamily="34" charset="-122"/>
                <a:cs typeface="Arial" pitchFamily="34" charset="-120"/>
              </a:rPr>
              <a:t>COMPOUNDING — where value goes</a:t>
            </a:r>
            <a:endParaRPr lang="en-US" sz="950" dirty="0"/>
          </a:p>
        </p:txBody>
      </p:sp>
      <p:sp>
        <p:nvSpPr>
          <p:cNvPr id="18" name="Text 15"/>
          <p:cNvSpPr/>
          <p:nvPr/>
        </p:nvSpPr>
        <p:spPr>
          <a:xfrm>
            <a:off x="4663440" y="3639312"/>
            <a:ext cx="3886200" cy="914400"/>
          </a:xfrm>
          <a:prstGeom prst="rect">
            <a:avLst/>
          </a:prstGeom>
          <a:noFill/>
          <a:ln/>
        </p:spPr>
        <p:txBody>
          <a:bodyPr wrap="square" lIns="0" tIns="0" rIns="0" bIns="0" rtlCol="0" anchor="t"/>
          <a:lstStyle/>
          <a:p>
            <a:pPr indent="0" marL="0">
              <a:buNone/>
            </a:pPr>
            <a:r>
              <a:rPr lang="en-US" sz="1050" dirty="0">
                <a:solidFill>
                  <a:srgbClr val="333333"/>
                </a:solidFill>
                <a:latin typeface="Arial" pitchFamily="34" charset="0"/>
                <a:ea typeface="Arial" pitchFamily="34" charset="-122"/>
                <a:cs typeface="Arial" pitchFamily="34" charset="-120"/>
              </a:rPr>
              <a:t>Distribution and proprietary data · the compute / inference layer · workflow lock-in and agents that take action.</a:t>
            </a:r>
            <a:endParaRPr lang="en-US" sz="1050" dirty="0"/>
          </a:p>
        </p:txBody>
      </p:sp>
      <p:sp>
        <p:nvSpPr>
          <p:cNvPr id="19" name="Text 16"/>
          <p:cNvSpPr/>
          <p:nvPr/>
        </p:nvSpPr>
        <p:spPr>
          <a:xfrm>
            <a:off x="4526280" y="4709160"/>
            <a:ext cx="4160520" cy="457200"/>
          </a:xfrm>
          <a:prstGeom prst="rect">
            <a:avLst/>
          </a:prstGeom>
          <a:noFill/>
          <a:ln/>
        </p:spPr>
        <p:txBody>
          <a:bodyPr wrap="square" lIns="0" tIns="0" rIns="0" bIns="0" rtlCol="0" anchor="t"/>
          <a:lstStyle/>
          <a:p>
            <a:pPr indent="0" marL="0">
              <a:buNone/>
            </a:pPr>
            <a:r>
              <a:rPr lang="en-US" sz="850" i="1" dirty="0">
                <a:solidFill>
                  <a:srgbClr val="666666"/>
                </a:solidFill>
                <a:latin typeface="Arial" pitchFamily="34" charset="0"/>
                <a:ea typeface="Arial" pitchFamily="34" charset="-122"/>
                <a:cs typeface="Arial" pitchFamily="34" charset="-120"/>
              </a:rPr>
              <a:t>Counter-case (Ben Thompson): value may instead accrue to integrated model-plus-harness players, not modular layers.</a:t>
            </a:r>
            <a:endParaRPr lang="en-US" sz="850" dirty="0"/>
          </a:p>
        </p:txBody>
      </p:sp>
      <p:sp>
        <p:nvSpPr>
          <p:cNvPr id="20" name="Shape 17"/>
          <p:cNvSpPr/>
          <p:nvPr/>
        </p:nvSpPr>
        <p:spPr>
          <a:xfrm>
            <a:off x="457200" y="5394960"/>
            <a:ext cx="8229600" cy="457200"/>
          </a:xfrm>
          <a:prstGeom prst="rect">
            <a:avLst/>
          </a:prstGeom>
          <a:solidFill>
            <a:srgbClr val="F6693D"/>
          </a:solidFill>
          <a:ln w="12700">
            <a:solidFill>
              <a:srgbClr val="F6693D"/>
            </a:solidFill>
            <a:prstDash val="solid"/>
          </a:ln>
        </p:spPr>
      </p:sp>
      <p:sp>
        <p:nvSpPr>
          <p:cNvPr id="21" name="Text 18"/>
          <p:cNvSpPr/>
          <p:nvPr/>
        </p:nvSpPr>
        <p:spPr>
          <a:xfrm>
            <a:off x="640080" y="5394960"/>
            <a:ext cx="7863840" cy="457200"/>
          </a:xfrm>
          <a:prstGeom prst="rect">
            <a:avLst/>
          </a:prstGeom>
          <a:noFill/>
          <a:ln/>
        </p:spPr>
        <p:txBody>
          <a:bodyPr wrap="square" lIns="0" tIns="0" rIns="0" bIns="0" rtlCol="0" anchor="ctr"/>
          <a:lstStyle/>
          <a:p>
            <a:pPr indent="0" marL="0">
              <a:buNone/>
            </a:pPr>
            <a:r>
              <a:rPr lang="en-US" sz="1250" b="1" dirty="0">
                <a:solidFill>
                  <a:srgbClr val="FFFFFF"/>
                </a:solidFill>
                <a:latin typeface="Arial" pitchFamily="34" charset="0"/>
                <a:ea typeface="Arial" pitchFamily="34" charset="-122"/>
                <a:cs typeface="Arial" pitchFamily="34" charset="-120"/>
              </a:rPr>
              <a:t>Falling unit cost × exploding usage = the capex boom AND the SaaS margin squeeze. One mechanism, two outcomes.</a:t>
            </a:r>
            <a:endParaRPr lang="en-US" sz="1250" dirty="0"/>
          </a:p>
        </p:txBody>
      </p:sp>
      <p:sp>
        <p:nvSpPr>
          <p:cNvPr id="22" name="Text 19"/>
          <p:cNvSpPr/>
          <p:nvPr/>
        </p:nvSpPr>
        <p:spPr>
          <a:xfrm>
            <a:off x="457200" y="5875020"/>
            <a:ext cx="8229600" cy="320040"/>
          </a:xfrm>
          <a:prstGeom prst="rect">
            <a:avLst/>
          </a:prstGeom>
          <a:noFill/>
          <a:ln/>
        </p:spPr>
        <p:txBody>
          <a:bodyPr wrap="square" lIns="0" tIns="0" rIns="0" bIns="0" rtlCol="0" anchor="t"/>
          <a:lstStyle/>
          <a:p>
            <a:pPr indent="0" marL="0">
              <a:buNone/>
            </a:pPr>
            <a:r>
              <a:rPr lang="en-US" sz="700" dirty="0">
                <a:solidFill>
                  <a:srgbClr val="999999"/>
                </a:solidFill>
                <a:latin typeface="Arial" pitchFamily="34" charset="0"/>
                <a:ea typeface="Arial" pitchFamily="34" charset="-122"/>
                <a:cs typeface="Arial" pitchFamily="34" charset="-120"/>
              </a:rPr>
              <a:t>Sources: a16z / SemiAnalysis inference-economics; Stratechery, “Agents Over Bubbles” (Mar 2026); Strategy Research.</a:t>
            </a:r>
            <a:endParaRPr lang="en-US" sz="700" dirty="0"/>
          </a:p>
        </p:txBody>
      </p:sp>
      <p:sp>
        <p:nvSpPr>
          <p:cNvPr id="23" name="Shape 20"/>
          <p:cNvSpPr/>
          <p:nvPr/>
        </p:nvSpPr>
        <p:spPr>
          <a:xfrm>
            <a:off x="0" y="6286500"/>
            <a:ext cx="9144000" cy="571500"/>
          </a:xfrm>
          <a:prstGeom prst="rect">
            <a:avLst/>
          </a:prstGeom>
          <a:solidFill>
            <a:srgbClr val="000000"/>
          </a:solidFill>
          <a:ln w="12700">
            <a:solidFill>
              <a:srgbClr val="000000"/>
            </a:solidFill>
            <a:prstDash val="solid"/>
          </a:ln>
        </p:spPr>
      </p:sp>
      <p:sp>
        <p:nvSpPr>
          <p:cNvPr id="24" name="Text 21"/>
          <p:cNvSpPr/>
          <p:nvPr/>
        </p:nvSpPr>
        <p:spPr>
          <a:xfrm>
            <a:off x="1371600" y="6332220"/>
            <a:ext cx="6400800" cy="457200"/>
          </a:xfrm>
          <a:prstGeom prst="rect">
            <a:avLst/>
          </a:prstGeom>
          <a:noFill/>
          <a:ln/>
        </p:spPr>
        <p:txBody>
          <a:bodyPr wrap="square" lIns="0" tIns="0" rIns="0" bIns="0" rtlCol="0" anchor="ctr"/>
          <a:lstStyle/>
          <a:p>
            <a:pPr algn="ctr" indent="0" marL="0">
              <a:buNone/>
            </a:pPr>
            <a:r>
              <a:rPr lang="en-US" sz="650" b="1" dirty="0">
                <a:solidFill>
                  <a:srgbClr val="FFFFFF"/>
                </a:solidFill>
                <a:latin typeface="Arial" pitchFamily="34" charset="0"/>
                <a:ea typeface="Arial" pitchFamily="34" charset="-122"/>
                <a:cs typeface="Arial" pitchFamily="34" charset="-120"/>
              </a:rPr>
              <a:t>FOR INFORMATIONAL PURPOSES ONLY. NOT INVESTMENT ADVICE. PAST PERFORMANCE IS NOT INDICATIVE OF FUTURE RESULTS.</a:t>
            </a:r>
            <a:endParaRPr lang="en-US" sz="650" dirty="0"/>
          </a:p>
        </p:txBody>
      </p:sp>
      <p:sp>
        <p:nvSpPr>
          <p:cNvPr id="25" name="Text 22"/>
          <p:cNvSpPr/>
          <p:nvPr/>
        </p:nvSpPr>
        <p:spPr>
          <a:xfrm>
            <a:off x="8321040" y="6405372"/>
            <a:ext cx="548640" cy="274320"/>
          </a:xfrm>
          <a:prstGeom prst="rect">
            <a:avLst/>
          </a:prstGeom>
          <a:noFill/>
          <a:ln/>
        </p:spPr>
        <p:txBody>
          <a:bodyPr wrap="square" lIns="0" tIns="0" rIns="0" bIns="0" rtlCol="0" anchor="ctr"/>
          <a:lstStyle/>
          <a:p>
            <a:pPr algn="r" indent="0" marL="0">
              <a:buNone/>
            </a:pPr>
            <a:r>
              <a:rPr lang="en-US" sz="900" dirty="0">
                <a:solidFill>
                  <a:srgbClr val="FFFFFF"/>
                </a:solidFill>
                <a:latin typeface="Arial" pitchFamily="34" charset="0"/>
                <a:ea typeface="Arial" pitchFamily="34" charset="-122"/>
                <a:cs typeface="Arial" pitchFamily="34" charset="-120"/>
              </a:rPr>
              <a:t>14</a:t>
            </a:r>
            <a:endParaRPr lang="en-US" sz="9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Shape 0"/>
          <p:cNvSpPr/>
          <p:nvPr/>
        </p:nvSpPr>
        <p:spPr>
          <a:xfrm>
            <a:off x="7132320" y="164592"/>
            <a:ext cx="1737360" cy="292608"/>
          </a:xfrm>
          <a:prstGeom prst="roundRect">
            <a:avLst>
              <a:gd name="adj" fmla="val 15625"/>
            </a:avLst>
          </a:prstGeom>
          <a:solidFill>
            <a:srgbClr val="CC0000"/>
          </a:solidFill>
          <a:ln w="12700">
            <a:solidFill>
              <a:srgbClr val="CC0000"/>
            </a:solidFill>
            <a:prstDash val="solid"/>
          </a:ln>
        </p:spPr>
      </p:sp>
      <p:sp>
        <p:nvSpPr>
          <p:cNvPr id="3" name="Text 1"/>
          <p:cNvSpPr/>
          <p:nvPr/>
        </p:nvSpPr>
        <p:spPr>
          <a:xfrm>
            <a:off x="7132320" y="164592"/>
            <a:ext cx="1737360" cy="292608"/>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Arial" pitchFamily="34" charset="0"/>
                <a:ea typeface="Arial" pitchFamily="34" charset="-122"/>
                <a:cs typeface="Arial" pitchFamily="34" charset="-120"/>
              </a:rPr>
              <a:t>RISKS</a:t>
            </a:r>
            <a:endParaRPr lang="en-US" sz="1000" dirty="0"/>
          </a:p>
        </p:txBody>
      </p:sp>
      <p:sp>
        <p:nvSpPr>
          <p:cNvPr id="4" name="Text 2"/>
          <p:cNvSpPr/>
          <p:nvPr/>
        </p:nvSpPr>
        <p:spPr>
          <a:xfrm>
            <a:off x="457200" y="182880"/>
            <a:ext cx="6583680" cy="685800"/>
          </a:xfrm>
          <a:prstGeom prst="rect">
            <a:avLst/>
          </a:prstGeom>
          <a:noFill/>
          <a:ln/>
        </p:spPr>
        <p:txBody>
          <a:bodyPr wrap="square" lIns="0" tIns="0" rIns="0" bIns="0" rtlCol="0" anchor="t"/>
          <a:lstStyle/>
          <a:p>
            <a:pPr indent="0" marL="0">
              <a:buNone/>
            </a:pPr>
            <a:r>
              <a:rPr lang="en-US" sz="2400" b="1" dirty="0">
                <a:solidFill>
                  <a:srgbClr val="000000"/>
                </a:solidFill>
                <a:latin typeface="Arial Black" pitchFamily="34" charset="0"/>
                <a:ea typeface="Arial Black" pitchFamily="34" charset="-122"/>
                <a:cs typeface="Arial Black" pitchFamily="34" charset="-120"/>
              </a:rPr>
              <a:t>Stretched, not yet irrational — and supply is the reason</a:t>
            </a:r>
            <a:endParaRPr lang="en-US" sz="2400" dirty="0"/>
          </a:p>
        </p:txBody>
      </p:sp>
      <p:sp>
        <p:nvSpPr>
          <p:cNvPr id="5" name="Text 3"/>
          <p:cNvSpPr/>
          <p:nvPr/>
        </p:nvSpPr>
        <p:spPr>
          <a:xfrm>
            <a:off x="457200" y="914400"/>
            <a:ext cx="8229600" cy="457200"/>
          </a:xfrm>
          <a:prstGeom prst="rect">
            <a:avLst/>
          </a:prstGeom>
          <a:noFill/>
          <a:ln/>
        </p:spPr>
        <p:txBody>
          <a:bodyPr wrap="square" lIns="0" tIns="0" rIns="0" bIns="0" rtlCol="0" anchor="t"/>
          <a:lstStyle/>
          <a:p>
            <a:pPr indent="0" marL="0">
              <a:buNone/>
            </a:pPr>
            <a:r>
              <a:rPr lang="en-US" sz="1350" dirty="0">
                <a:solidFill>
                  <a:srgbClr val="666666"/>
                </a:solidFill>
                <a:latin typeface="Arial" pitchFamily="34" charset="0"/>
                <a:ea typeface="Arial" pitchFamily="34" charset="-122"/>
                <a:cs typeface="Arial" pitchFamily="34" charset="-120"/>
              </a:rPr>
              <a:t>Four tests investors asked about Cisco and the dotcoms — with what the bulls and bears say in 2026.</a:t>
            </a:r>
            <a:endParaRPr lang="en-US" sz="1350" dirty="0"/>
          </a:p>
        </p:txBody>
      </p:sp>
      <p:sp>
        <p:nvSpPr>
          <p:cNvPr id="6" name="Shape 4"/>
          <p:cNvSpPr/>
          <p:nvPr/>
        </p:nvSpPr>
        <p:spPr>
          <a:xfrm>
            <a:off x="457200" y="1325880"/>
            <a:ext cx="8229600" cy="0"/>
          </a:xfrm>
          <a:prstGeom prst="line">
            <a:avLst/>
          </a:prstGeom>
          <a:noFill/>
          <a:ln w="9525">
            <a:solidFill>
              <a:srgbClr val="E5E5E5"/>
            </a:solidFill>
            <a:prstDash val="solid"/>
          </a:ln>
        </p:spPr>
      </p:sp>
      <p:sp>
        <p:nvSpPr>
          <p:cNvPr id="7" name="Shape 5"/>
          <p:cNvSpPr/>
          <p:nvPr/>
        </p:nvSpPr>
        <p:spPr>
          <a:xfrm>
            <a:off x="457200" y="1737360"/>
            <a:ext cx="3108960" cy="320040"/>
          </a:xfrm>
          <a:prstGeom prst="rect">
            <a:avLst/>
          </a:prstGeom>
          <a:solidFill>
            <a:srgbClr val="333333"/>
          </a:solidFill>
          <a:ln w="12700">
            <a:solidFill>
              <a:srgbClr val="333333"/>
            </a:solidFill>
            <a:prstDash val="solid"/>
          </a:ln>
        </p:spPr>
      </p:sp>
      <p:sp>
        <p:nvSpPr>
          <p:cNvPr id="8" name="Text 6"/>
          <p:cNvSpPr/>
          <p:nvPr/>
        </p:nvSpPr>
        <p:spPr>
          <a:xfrm>
            <a:off x="457200" y="1737360"/>
            <a:ext cx="3108960" cy="320040"/>
          </a:xfrm>
          <a:prstGeom prst="rect">
            <a:avLst/>
          </a:prstGeom>
          <a:noFill/>
          <a:ln/>
        </p:spPr>
        <p:txBody>
          <a:bodyPr wrap="square" lIns="0" tIns="0" rIns="0" bIns="0" rtlCol="0" anchor="ctr"/>
          <a:lstStyle/>
          <a:p>
            <a:pPr algn="ctr" indent="0" marL="0">
              <a:buNone/>
            </a:pPr>
            <a:r>
              <a:rPr lang="en-US" sz="1050" b="1" spc="200" kern="0" dirty="0">
                <a:solidFill>
                  <a:srgbClr val="FFFFFF"/>
                </a:solidFill>
                <a:latin typeface="Arial" pitchFamily="34" charset="0"/>
                <a:ea typeface="Arial" pitchFamily="34" charset="-122"/>
                <a:cs typeface="Arial" pitchFamily="34" charset="-120"/>
              </a:rPr>
              <a:t>TEST</a:t>
            </a:r>
            <a:endParaRPr lang="en-US" sz="1050" dirty="0"/>
          </a:p>
        </p:txBody>
      </p:sp>
      <p:sp>
        <p:nvSpPr>
          <p:cNvPr id="9" name="Shape 7"/>
          <p:cNvSpPr/>
          <p:nvPr/>
        </p:nvSpPr>
        <p:spPr>
          <a:xfrm>
            <a:off x="3611880" y="1737360"/>
            <a:ext cx="2468880" cy="320040"/>
          </a:xfrm>
          <a:prstGeom prst="rect">
            <a:avLst/>
          </a:prstGeom>
          <a:solidFill>
            <a:srgbClr val="CC0000"/>
          </a:solidFill>
          <a:ln w="12700">
            <a:solidFill>
              <a:srgbClr val="CC0000"/>
            </a:solidFill>
            <a:prstDash val="solid"/>
          </a:ln>
        </p:spPr>
      </p:sp>
      <p:sp>
        <p:nvSpPr>
          <p:cNvPr id="10" name="Text 8"/>
          <p:cNvSpPr/>
          <p:nvPr/>
        </p:nvSpPr>
        <p:spPr>
          <a:xfrm>
            <a:off x="3611880" y="1737360"/>
            <a:ext cx="2468880" cy="320040"/>
          </a:xfrm>
          <a:prstGeom prst="rect">
            <a:avLst/>
          </a:prstGeom>
          <a:noFill/>
          <a:ln/>
        </p:spPr>
        <p:txBody>
          <a:bodyPr wrap="square" lIns="0" tIns="0" rIns="0" bIns="0" rtlCol="0" anchor="ctr"/>
          <a:lstStyle/>
          <a:p>
            <a:pPr algn="ctr" indent="0" marL="0">
              <a:buNone/>
            </a:pPr>
            <a:r>
              <a:rPr lang="en-US" sz="1050" b="1" spc="200" kern="0" dirty="0">
                <a:solidFill>
                  <a:srgbClr val="FFFFFF"/>
                </a:solidFill>
                <a:latin typeface="Arial" pitchFamily="34" charset="0"/>
                <a:ea typeface="Arial" pitchFamily="34" charset="-122"/>
                <a:cs typeface="Arial" pitchFamily="34" charset="-120"/>
              </a:rPr>
              <a:t>✗  DOTCOM 2000</a:t>
            </a:r>
            <a:endParaRPr lang="en-US" sz="1050" dirty="0"/>
          </a:p>
        </p:txBody>
      </p:sp>
      <p:sp>
        <p:nvSpPr>
          <p:cNvPr id="11" name="Shape 9"/>
          <p:cNvSpPr/>
          <p:nvPr/>
        </p:nvSpPr>
        <p:spPr>
          <a:xfrm>
            <a:off x="6126480" y="1737360"/>
            <a:ext cx="2560320" cy="320040"/>
          </a:xfrm>
          <a:prstGeom prst="rect">
            <a:avLst/>
          </a:prstGeom>
          <a:solidFill>
            <a:srgbClr val="00A854"/>
          </a:solidFill>
          <a:ln w="12700">
            <a:solidFill>
              <a:srgbClr val="00A854"/>
            </a:solidFill>
            <a:prstDash val="solid"/>
          </a:ln>
        </p:spPr>
      </p:sp>
      <p:sp>
        <p:nvSpPr>
          <p:cNvPr id="12" name="Text 10"/>
          <p:cNvSpPr/>
          <p:nvPr/>
        </p:nvSpPr>
        <p:spPr>
          <a:xfrm>
            <a:off x="6126480" y="1737360"/>
            <a:ext cx="2560320" cy="320040"/>
          </a:xfrm>
          <a:prstGeom prst="rect">
            <a:avLst/>
          </a:prstGeom>
          <a:noFill/>
          <a:ln/>
        </p:spPr>
        <p:txBody>
          <a:bodyPr wrap="square" lIns="0" tIns="0" rIns="0" bIns="0" rtlCol="0" anchor="ctr"/>
          <a:lstStyle/>
          <a:p>
            <a:pPr algn="ctr" indent="0" marL="0">
              <a:buNone/>
            </a:pPr>
            <a:r>
              <a:rPr lang="en-US" sz="1050" b="1" spc="200" kern="0" dirty="0">
                <a:solidFill>
                  <a:srgbClr val="FFFFFF"/>
                </a:solidFill>
                <a:latin typeface="Arial" pitchFamily="34" charset="0"/>
                <a:ea typeface="Arial" pitchFamily="34" charset="-122"/>
                <a:cs typeface="Arial" pitchFamily="34" charset="-120"/>
              </a:rPr>
              <a:t>✓  AI 2026</a:t>
            </a:r>
            <a:endParaRPr lang="en-US" sz="1050" dirty="0"/>
          </a:p>
        </p:txBody>
      </p:sp>
      <p:sp>
        <p:nvSpPr>
          <p:cNvPr id="13" name="Shape 11"/>
          <p:cNvSpPr/>
          <p:nvPr/>
        </p:nvSpPr>
        <p:spPr>
          <a:xfrm>
            <a:off x="594360" y="2249424"/>
            <a:ext cx="365760" cy="365760"/>
          </a:xfrm>
          <a:prstGeom prst="ellipse">
            <a:avLst/>
          </a:prstGeom>
          <a:solidFill>
            <a:srgbClr val="333333"/>
          </a:solidFill>
          <a:ln w="12700">
            <a:solidFill>
              <a:srgbClr val="333333"/>
            </a:solidFill>
            <a:prstDash val="solid"/>
          </a:ln>
        </p:spPr>
      </p:sp>
      <p:sp>
        <p:nvSpPr>
          <p:cNvPr id="14" name="Text 12"/>
          <p:cNvSpPr/>
          <p:nvPr/>
        </p:nvSpPr>
        <p:spPr>
          <a:xfrm>
            <a:off x="594360" y="2249424"/>
            <a:ext cx="365760" cy="365760"/>
          </a:xfrm>
          <a:prstGeom prst="rect">
            <a:avLst/>
          </a:prstGeom>
          <a:noFill/>
          <a:ln/>
        </p:spPr>
        <p:txBody>
          <a:bodyPr wrap="square" lIns="0" tIns="0" rIns="0" bIns="0" rtlCol="0" anchor="ctr"/>
          <a:lstStyle/>
          <a:p>
            <a:pPr algn="ctr" indent="0" marL="0">
              <a:buNone/>
            </a:pPr>
            <a:r>
              <a:rPr lang="en-US" sz="1400" b="1" dirty="0">
                <a:solidFill>
                  <a:srgbClr val="FFB800"/>
                </a:solidFill>
                <a:latin typeface="Arial Black" pitchFamily="34" charset="0"/>
                <a:ea typeface="Arial Black" pitchFamily="34" charset="-122"/>
                <a:cs typeface="Arial Black" pitchFamily="34" charset="-120"/>
              </a:rPr>
              <a:t>$</a:t>
            </a:r>
            <a:endParaRPr lang="en-US" sz="1400" dirty="0"/>
          </a:p>
        </p:txBody>
      </p:sp>
      <p:sp>
        <p:nvSpPr>
          <p:cNvPr id="15" name="Text 13"/>
          <p:cNvSpPr/>
          <p:nvPr/>
        </p:nvSpPr>
        <p:spPr>
          <a:xfrm>
            <a:off x="1051560" y="2103120"/>
            <a:ext cx="2514600" cy="658368"/>
          </a:xfrm>
          <a:prstGeom prst="rect">
            <a:avLst/>
          </a:prstGeom>
          <a:noFill/>
          <a:ln/>
        </p:spPr>
        <p:txBody>
          <a:bodyPr wrap="square" lIns="0" tIns="0" rIns="0" bIns="0" rtlCol="0" anchor="ctr"/>
          <a:lstStyle/>
          <a:p>
            <a:pPr indent="0" marL="0">
              <a:buNone/>
            </a:pPr>
            <a:r>
              <a:rPr lang="en-US" sz="1000" b="1" dirty="0">
                <a:solidFill>
                  <a:srgbClr val="000000"/>
                </a:solidFill>
                <a:latin typeface="Arial" pitchFamily="34" charset="0"/>
                <a:ea typeface="Arial" pitchFamily="34" charset="-122"/>
                <a:cs typeface="Arial" pitchFamily="34" charset="-120"/>
              </a:rPr>
              <a:t>PRICE PER DOLLAR OF EARNINGS</a:t>
            </a:r>
            <a:endParaRPr lang="en-US" sz="1000" dirty="0"/>
          </a:p>
        </p:txBody>
      </p:sp>
      <p:sp>
        <p:nvSpPr>
          <p:cNvPr id="16" name="Text 14"/>
          <p:cNvSpPr/>
          <p:nvPr/>
        </p:nvSpPr>
        <p:spPr>
          <a:xfrm>
            <a:off x="3611880" y="2103120"/>
            <a:ext cx="2468880" cy="658368"/>
          </a:xfrm>
          <a:prstGeom prst="rect">
            <a:avLst/>
          </a:prstGeom>
          <a:noFill/>
          <a:ln/>
        </p:spPr>
        <p:txBody>
          <a:bodyPr wrap="square" lIns="1016" tIns="1016" rIns="1016" bIns="1016" rtlCol="0" anchor="ctr"/>
          <a:lstStyle/>
          <a:p>
            <a:pPr indent="0" marL="0">
              <a:buNone/>
            </a:pPr>
            <a:r>
              <a:rPr lang="en-US" sz="1600" b="1" dirty="0">
                <a:solidFill>
                  <a:srgbClr val="CC0000"/>
                </a:solidFill>
                <a:latin typeface="Arial" pitchFamily="34" charset="0"/>
                <a:ea typeface="Arial" pitchFamily="34" charset="-122"/>
                <a:cs typeface="Arial" pitchFamily="34" charset="-120"/>
              </a:rPr>
              <a:t>131×</a:t>
            </a:r>
            <a:pPr indent="0" marL="0">
              <a:buNone/>
            </a:pPr>
            <a:r>
              <a:rPr lang="en-US" sz="900" baseline="30000" dirty="0">
                <a:solidFill>
                  <a:srgbClr val="CC0000"/>
                </a:solidFill>
                <a:latin typeface="Arial" pitchFamily="34" charset="0"/>
                <a:ea typeface="Arial" pitchFamily="34" charset="-122"/>
                <a:cs typeface="Arial" pitchFamily="34" charset="-120"/>
              </a:rPr>
              <a:t> 1</a:t>
            </a:r>
            <a:pPr indent="0" marL="0">
              <a:buNone/>
            </a:pPr>
            <a:r>
              <a:rPr lang="en-US" sz="900" dirty="0">
                <a:solidFill>
                  <a:srgbClr val="666666"/>
                </a:solidFill>
                <a:latin typeface="Arial" pitchFamily="34" charset="0"/>
                <a:ea typeface="Arial" pitchFamily="34" charset="-122"/>
                <a:cs typeface="Arial" pitchFamily="34" charset="-120"/>
              </a:rPr>
              <a:t>  Cisco fwd P/E, Mar 2000</a:t>
            </a:r>
            <a:endParaRPr lang="en-US" sz="1600" dirty="0"/>
          </a:p>
        </p:txBody>
      </p:sp>
      <p:sp>
        <p:nvSpPr>
          <p:cNvPr id="17" name="Text 15"/>
          <p:cNvSpPr/>
          <p:nvPr/>
        </p:nvSpPr>
        <p:spPr>
          <a:xfrm>
            <a:off x="6126480" y="2103120"/>
            <a:ext cx="2560320" cy="658368"/>
          </a:xfrm>
          <a:prstGeom prst="rect">
            <a:avLst/>
          </a:prstGeom>
          <a:noFill/>
          <a:ln/>
        </p:spPr>
        <p:txBody>
          <a:bodyPr wrap="square" lIns="1016" tIns="1016" rIns="1016" bIns="1016" rtlCol="0" anchor="ctr"/>
          <a:lstStyle/>
          <a:p>
            <a:pPr indent="0" marL="0">
              <a:buNone/>
            </a:pPr>
            <a:r>
              <a:rPr lang="en-US" sz="1600" b="1" dirty="0">
                <a:solidFill>
                  <a:srgbClr val="00A854"/>
                </a:solidFill>
                <a:latin typeface="Arial" pitchFamily="34" charset="0"/>
                <a:ea typeface="Arial" pitchFamily="34" charset="-122"/>
                <a:cs typeface="Arial" pitchFamily="34" charset="-120"/>
              </a:rPr>
              <a:t>~24×</a:t>
            </a:r>
            <a:pPr indent="0" marL="0">
              <a:buNone/>
            </a:pPr>
            <a:r>
              <a:rPr lang="en-US" sz="900" baseline="30000" dirty="0">
                <a:solidFill>
                  <a:srgbClr val="00A854"/>
                </a:solidFill>
                <a:latin typeface="Arial" pitchFamily="34" charset="0"/>
                <a:ea typeface="Arial" pitchFamily="34" charset="-122"/>
                <a:cs typeface="Arial" pitchFamily="34" charset="-120"/>
              </a:rPr>
              <a:t> 2</a:t>
            </a:r>
            <a:pPr indent="0" marL="0">
              <a:buNone/>
            </a:pPr>
            <a:r>
              <a:rPr lang="en-US" sz="900" dirty="0">
                <a:solidFill>
                  <a:srgbClr val="666666"/>
                </a:solidFill>
                <a:latin typeface="Arial" pitchFamily="34" charset="0"/>
                <a:ea typeface="Arial" pitchFamily="34" charset="-122"/>
                <a:cs typeface="Arial" pitchFamily="34" charset="-120"/>
              </a:rPr>
              <a:t>  NVIDIA fwd P/E, Apr 17, 2026</a:t>
            </a:r>
            <a:endParaRPr lang="en-US" sz="1600" dirty="0"/>
          </a:p>
        </p:txBody>
      </p:sp>
      <p:sp>
        <p:nvSpPr>
          <p:cNvPr id="18" name="Shape 16"/>
          <p:cNvSpPr/>
          <p:nvPr/>
        </p:nvSpPr>
        <p:spPr>
          <a:xfrm>
            <a:off x="457200" y="2761488"/>
            <a:ext cx="8229600" cy="658368"/>
          </a:xfrm>
          <a:prstGeom prst="rect">
            <a:avLst/>
          </a:prstGeom>
          <a:solidFill>
            <a:srgbClr val="F9F9F9"/>
          </a:solidFill>
          <a:ln w="12700">
            <a:solidFill>
              <a:srgbClr val="F9F9F9"/>
            </a:solidFill>
            <a:prstDash val="solid"/>
          </a:ln>
        </p:spPr>
      </p:sp>
      <p:sp>
        <p:nvSpPr>
          <p:cNvPr id="19" name="Shape 17"/>
          <p:cNvSpPr/>
          <p:nvPr/>
        </p:nvSpPr>
        <p:spPr>
          <a:xfrm>
            <a:off x="594360" y="2907792"/>
            <a:ext cx="365760" cy="365760"/>
          </a:xfrm>
          <a:prstGeom prst="ellipse">
            <a:avLst/>
          </a:prstGeom>
          <a:solidFill>
            <a:srgbClr val="333333"/>
          </a:solidFill>
          <a:ln w="12700">
            <a:solidFill>
              <a:srgbClr val="333333"/>
            </a:solidFill>
            <a:prstDash val="solid"/>
          </a:ln>
        </p:spPr>
      </p:sp>
      <p:sp>
        <p:nvSpPr>
          <p:cNvPr id="20" name="Text 18"/>
          <p:cNvSpPr/>
          <p:nvPr/>
        </p:nvSpPr>
        <p:spPr>
          <a:xfrm>
            <a:off x="594360" y="2907792"/>
            <a:ext cx="365760" cy="365760"/>
          </a:xfrm>
          <a:prstGeom prst="rect">
            <a:avLst/>
          </a:prstGeom>
          <a:noFill/>
          <a:ln/>
        </p:spPr>
        <p:txBody>
          <a:bodyPr wrap="square" lIns="0" tIns="0" rIns="0" bIns="0" rtlCol="0" anchor="ctr"/>
          <a:lstStyle/>
          <a:p>
            <a:pPr algn="ctr" indent="0" marL="0">
              <a:buNone/>
            </a:pPr>
            <a:r>
              <a:rPr lang="en-US" sz="1400" b="1" dirty="0">
                <a:solidFill>
                  <a:srgbClr val="FFB800"/>
                </a:solidFill>
                <a:latin typeface="Arial Black" pitchFamily="34" charset="0"/>
                <a:ea typeface="Arial Black" pitchFamily="34" charset="-122"/>
                <a:cs typeface="Arial Black" pitchFamily="34" charset="-120"/>
              </a:rPr>
              <a:t>%</a:t>
            </a:r>
            <a:endParaRPr lang="en-US" sz="1400" dirty="0"/>
          </a:p>
        </p:txBody>
      </p:sp>
      <p:sp>
        <p:nvSpPr>
          <p:cNvPr id="21" name="Text 19"/>
          <p:cNvSpPr/>
          <p:nvPr/>
        </p:nvSpPr>
        <p:spPr>
          <a:xfrm>
            <a:off x="1051560" y="2761488"/>
            <a:ext cx="2514600" cy="658368"/>
          </a:xfrm>
          <a:prstGeom prst="rect">
            <a:avLst/>
          </a:prstGeom>
          <a:noFill/>
          <a:ln/>
        </p:spPr>
        <p:txBody>
          <a:bodyPr wrap="square" lIns="0" tIns="0" rIns="0" bIns="0" rtlCol="0" anchor="ctr"/>
          <a:lstStyle/>
          <a:p>
            <a:pPr indent="0" marL="0">
              <a:buNone/>
            </a:pPr>
            <a:r>
              <a:rPr lang="en-US" sz="1000" b="1" dirty="0">
                <a:solidFill>
                  <a:srgbClr val="000000"/>
                </a:solidFill>
                <a:latin typeface="Arial" pitchFamily="34" charset="0"/>
                <a:ea typeface="Arial" pitchFamily="34" charset="-122"/>
                <a:cs typeface="Arial" pitchFamily="34" charset="-120"/>
              </a:rPr>
              <a:t>LEADER PROFITABILITY</a:t>
            </a:r>
            <a:endParaRPr lang="en-US" sz="1000" dirty="0"/>
          </a:p>
        </p:txBody>
      </p:sp>
      <p:sp>
        <p:nvSpPr>
          <p:cNvPr id="22" name="Text 20"/>
          <p:cNvSpPr/>
          <p:nvPr/>
        </p:nvSpPr>
        <p:spPr>
          <a:xfrm>
            <a:off x="3611880" y="2761488"/>
            <a:ext cx="2468880" cy="658368"/>
          </a:xfrm>
          <a:prstGeom prst="rect">
            <a:avLst/>
          </a:prstGeom>
          <a:noFill/>
          <a:ln/>
        </p:spPr>
        <p:txBody>
          <a:bodyPr wrap="square" lIns="1016" tIns="1016" rIns="1016" bIns="1016" rtlCol="0" anchor="ctr"/>
          <a:lstStyle/>
          <a:p>
            <a:pPr indent="0" marL="0">
              <a:buNone/>
            </a:pPr>
            <a:r>
              <a:rPr lang="en-US" sz="1600" b="1" dirty="0">
                <a:solidFill>
                  <a:srgbClr val="CC0000"/>
                </a:solidFill>
                <a:latin typeface="Arial" pitchFamily="34" charset="0"/>
                <a:ea typeface="Arial" pitchFamily="34" charset="-122"/>
                <a:cs typeface="Arial" pitchFamily="34" charset="-120"/>
              </a:rPr>
              <a:t>14%</a:t>
            </a:r>
            <a:pPr indent="0" marL="0">
              <a:buNone/>
            </a:pPr>
            <a:r>
              <a:rPr lang="en-US" sz="900" baseline="30000" dirty="0">
                <a:solidFill>
                  <a:srgbClr val="CC0000"/>
                </a:solidFill>
                <a:latin typeface="Arial" pitchFamily="34" charset="0"/>
                <a:ea typeface="Arial" pitchFamily="34" charset="-122"/>
                <a:cs typeface="Arial" pitchFamily="34" charset="-120"/>
              </a:rPr>
              <a:t> 3</a:t>
            </a:r>
            <a:pPr indent="0" marL="0">
              <a:buNone/>
            </a:pPr>
            <a:r>
              <a:rPr lang="en-US" sz="900" dirty="0">
                <a:solidFill>
                  <a:srgbClr val="666666"/>
                </a:solidFill>
                <a:latin typeface="Arial" pitchFamily="34" charset="0"/>
                <a:ea typeface="Arial" pitchFamily="34" charset="-122"/>
                <a:cs typeface="Arial" pitchFamily="34" charset="-120"/>
              </a:rPr>
              <a:t>  of tech IPOs were profitable</a:t>
            </a:r>
            <a:endParaRPr lang="en-US" sz="1600" dirty="0"/>
          </a:p>
        </p:txBody>
      </p:sp>
      <p:sp>
        <p:nvSpPr>
          <p:cNvPr id="23" name="Text 21"/>
          <p:cNvSpPr/>
          <p:nvPr/>
        </p:nvSpPr>
        <p:spPr>
          <a:xfrm>
            <a:off x="6126480" y="2761488"/>
            <a:ext cx="2560320" cy="658368"/>
          </a:xfrm>
          <a:prstGeom prst="rect">
            <a:avLst/>
          </a:prstGeom>
          <a:noFill/>
          <a:ln/>
        </p:spPr>
        <p:txBody>
          <a:bodyPr wrap="square" lIns="1016" tIns="1016" rIns="1016" bIns="1016" rtlCol="0" anchor="ctr"/>
          <a:lstStyle/>
          <a:p>
            <a:pPr indent="0" marL="0">
              <a:buNone/>
            </a:pPr>
            <a:r>
              <a:rPr lang="en-US" sz="1600" b="1" dirty="0">
                <a:solidFill>
                  <a:srgbClr val="00A854"/>
                </a:solidFill>
                <a:latin typeface="Arial" pitchFamily="34" charset="0"/>
                <a:ea typeface="Arial" pitchFamily="34" charset="-122"/>
                <a:cs typeface="Arial" pitchFamily="34" charset="-120"/>
              </a:rPr>
              <a:t>26%</a:t>
            </a:r>
            <a:pPr indent="0" marL="0">
              <a:buNone/>
            </a:pPr>
            <a:r>
              <a:rPr lang="en-US" sz="900" baseline="30000" dirty="0">
                <a:solidFill>
                  <a:srgbClr val="00A854"/>
                </a:solidFill>
                <a:latin typeface="Arial" pitchFamily="34" charset="0"/>
                <a:ea typeface="Arial" pitchFamily="34" charset="-122"/>
                <a:cs typeface="Arial" pitchFamily="34" charset="-120"/>
              </a:rPr>
              <a:t> 4</a:t>
            </a:r>
            <a:pPr indent="0" marL="0">
              <a:buNone/>
            </a:pPr>
            <a:r>
              <a:rPr lang="en-US" sz="900" dirty="0">
                <a:solidFill>
                  <a:srgbClr val="666666"/>
                </a:solidFill>
                <a:latin typeface="Arial" pitchFamily="34" charset="0"/>
                <a:ea typeface="Arial" pitchFamily="34" charset="-122"/>
                <a:cs typeface="Arial" pitchFamily="34" charset="-120"/>
              </a:rPr>
              <a:t>  Mag 7 avg net margin (2× S&amp;P)</a:t>
            </a:r>
            <a:endParaRPr lang="en-US" sz="1600" dirty="0"/>
          </a:p>
        </p:txBody>
      </p:sp>
      <p:sp>
        <p:nvSpPr>
          <p:cNvPr id="24" name="Shape 22"/>
          <p:cNvSpPr/>
          <p:nvPr/>
        </p:nvSpPr>
        <p:spPr>
          <a:xfrm>
            <a:off x="594360" y="3566160"/>
            <a:ext cx="365760" cy="365760"/>
          </a:xfrm>
          <a:prstGeom prst="ellipse">
            <a:avLst/>
          </a:prstGeom>
          <a:solidFill>
            <a:srgbClr val="333333"/>
          </a:solidFill>
          <a:ln w="12700">
            <a:solidFill>
              <a:srgbClr val="333333"/>
            </a:solidFill>
            <a:prstDash val="solid"/>
          </a:ln>
        </p:spPr>
      </p:sp>
      <p:sp>
        <p:nvSpPr>
          <p:cNvPr id="25" name="Text 23"/>
          <p:cNvSpPr/>
          <p:nvPr/>
        </p:nvSpPr>
        <p:spPr>
          <a:xfrm>
            <a:off x="594360" y="3566160"/>
            <a:ext cx="365760" cy="365760"/>
          </a:xfrm>
          <a:prstGeom prst="rect">
            <a:avLst/>
          </a:prstGeom>
          <a:noFill/>
          <a:ln/>
        </p:spPr>
        <p:txBody>
          <a:bodyPr wrap="square" lIns="0" tIns="0" rIns="0" bIns="0" rtlCol="0" anchor="ctr"/>
          <a:lstStyle/>
          <a:p>
            <a:pPr algn="ctr" indent="0" marL="0">
              <a:buNone/>
            </a:pPr>
            <a:r>
              <a:rPr lang="en-US" sz="1400" b="1" dirty="0">
                <a:solidFill>
                  <a:srgbClr val="FFB800"/>
                </a:solidFill>
                <a:latin typeface="Arial Black" pitchFamily="34" charset="0"/>
                <a:ea typeface="Arial Black" pitchFamily="34" charset="-122"/>
                <a:cs typeface="Arial Black" pitchFamily="34" charset="-120"/>
              </a:rPr>
              <a:t>⇅</a:t>
            </a:r>
            <a:endParaRPr lang="en-US" sz="1400" dirty="0"/>
          </a:p>
        </p:txBody>
      </p:sp>
      <p:sp>
        <p:nvSpPr>
          <p:cNvPr id="26" name="Text 24"/>
          <p:cNvSpPr/>
          <p:nvPr/>
        </p:nvSpPr>
        <p:spPr>
          <a:xfrm>
            <a:off x="1051560" y="3419856"/>
            <a:ext cx="2514600" cy="658368"/>
          </a:xfrm>
          <a:prstGeom prst="rect">
            <a:avLst/>
          </a:prstGeom>
          <a:noFill/>
          <a:ln/>
        </p:spPr>
        <p:txBody>
          <a:bodyPr wrap="square" lIns="0" tIns="0" rIns="0" bIns="0" rtlCol="0" anchor="ctr"/>
          <a:lstStyle/>
          <a:p>
            <a:pPr indent="0" marL="0">
              <a:buNone/>
            </a:pPr>
            <a:r>
              <a:rPr lang="en-US" sz="1000" b="1" dirty="0">
                <a:solidFill>
                  <a:srgbClr val="000000"/>
                </a:solidFill>
                <a:latin typeface="Arial" pitchFamily="34" charset="0"/>
                <a:ea typeface="Arial" pitchFamily="34" charset="-122"/>
                <a:cs typeface="Arial" pitchFamily="34" charset="-120"/>
              </a:rPr>
              <a:t>SUPPLY VS. DEMAND</a:t>
            </a:r>
            <a:endParaRPr lang="en-US" sz="1000" dirty="0"/>
          </a:p>
        </p:txBody>
      </p:sp>
      <p:sp>
        <p:nvSpPr>
          <p:cNvPr id="27" name="Text 25"/>
          <p:cNvSpPr/>
          <p:nvPr/>
        </p:nvSpPr>
        <p:spPr>
          <a:xfrm>
            <a:off x="3611880" y="3419856"/>
            <a:ext cx="2468880" cy="658368"/>
          </a:xfrm>
          <a:prstGeom prst="rect">
            <a:avLst/>
          </a:prstGeom>
          <a:noFill/>
          <a:ln/>
        </p:spPr>
        <p:txBody>
          <a:bodyPr wrap="square" lIns="1016" tIns="1016" rIns="1016" bIns="1016" rtlCol="0" anchor="ctr"/>
          <a:lstStyle/>
          <a:p>
            <a:pPr indent="0" marL="0">
              <a:buNone/>
            </a:pPr>
            <a:r>
              <a:rPr lang="en-US" sz="1600" b="1" dirty="0">
                <a:solidFill>
                  <a:srgbClr val="CC0000"/>
                </a:solidFill>
                <a:latin typeface="Arial" pitchFamily="34" charset="0"/>
                <a:ea typeface="Arial" pitchFamily="34" charset="-122"/>
                <a:cs typeface="Arial" pitchFamily="34" charset="-120"/>
              </a:rPr>
              <a:t>Oversupply</a:t>
            </a:r>
            <a:pPr indent="0" marL="0">
              <a:buNone/>
            </a:pPr>
            <a:r>
              <a:rPr lang="en-US" sz="900" baseline="30000" dirty="0">
                <a:solidFill>
                  <a:srgbClr val="CC0000"/>
                </a:solidFill>
                <a:latin typeface="Arial" pitchFamily="34" charset="0"/>
                <a:ea typeface="Arial" pitchFamily="34" charset="-122"/>
                <a:cs typeface="Arial" pitchFamily="34" charset="-120"/>
              </a:rPr>
              <a:t> 5</a:t>
            </a:r>
            <a:pPr indent="0" marL="0">
              <a:buNone/>
            </a:pPr>
            <a:r>
              <a:rPr lang="en-US" sz="900" dirty="0">
                <a:solidFill>
                  <a:srgbClr val="666666"/>
                </a:solidFill>
                <a:latin typeface="Arial" pitchFamily="34" charset="0"/>
                <a:ea typeface="Arial" pitchFamily="34" charset="-122"/>
                <a:cs typeface="Arial" pitchFamily="34" charset="-120"/>
              </a:rPr>
              <a:t>  $500B dark fiber unused</a:t>
            </a:r>
            <a:endParaRPr lang="en-US" sz="1600" dirty="0"/>
          </a:p>
        </p:txBody>
      </p:sp>
      <p:sp>
        <p:nvSpPr>
          <p:cNvPr id="28" name="Text 26"/>
          <p:cNvSpPr/>
          <p:nvPr/>
        </p:nvSpPr>
        <p:spPr>
          <a:xfrm>
            <a:off x="6126480" y="3419856"/>
            <a:ext cx="2560320" cy="658368"/>
          </a:xfrm>
          <a:prstGeom prst="rect">
            <a:avLst/>
          </a:prstGeom>
          <a:noFill/>
          <a:ln/>
        </p:spPr>
        <p:txBody>
          <a:bodyPr wrap="square" lIns="1016" tIns="1016" rIns="1016" bIns="1016" rtlCol="0" anchor="ctr"/>
          <a:lstStyle/>
          <a:p>
            <a:pPr indent="0" marL="0">
              <a:buNone/>
            </a:pPr>
            <a:r>
              <a:rPr lang="en-US" sz="1600" b="1" dirty="0">
                <a:solidFill>
                  <a:srgbClr val="00A854"/>
                </a:solidFill>
                <a:latin typeface="Arial" pitchFamily="34" charset="0"/>
                <a:ea typeface="Arial" pitchFamily="34" charset="-122"/>
                <a:cs typeface="Arial" pitchFamily="34" charset="-120"/>
              </a:rPr>
              <a:t>Sold out</a:t>
            </a:r>
            <a:pPr indent="0" marL="0">
              <a:buNone/>
            </a:pPr>
            <a:r>
              <a:rPr lang="en-US" sz="900" baseline="30000" dirty="0">
                <a:solidFill>
                  <a:srgbClr val="00A854"/>
                </a:solidFill>
                <a:latin typeface="Arial" pitchFamily="34" charset="0"/>
                <a:ea typeface="Arial" pitchFamily="34" charset="-122"/>
                <a:cs typeface="Arial" pitchFamily="34" charset="-120"/>
              </a:rPr>
              <a:t> 6</a:t>
            </a:r>
            <a:pPr indent="0" marL="0">
              <a:buNone/>
            </a:pPr>
            <a:r>
              <a:rPr lang="en-US" sz="900" dirty="0">
                <a:solidFill>
                  <a:srgbClr val="666666"/>
                </a:solidFill>
                <a:latin typeface="Arial" pitchFamily="34" charset="0"/>
                <a:ea typeface="Arial" pitchFamily="34" charset="-122"/>
                <a:cs typeface="Arial" pitchFamily="34" charset="-120"/>
              </a:rPr>
              <a:t>  GPU 2nd market 90–95% of list</a:t>
            </a:r>
            <a:endParaRPr lang="en-US" sz="1600" dirty="0"/>
          </a:p>
        </p:txBody>
      </p:sp>
      <p:sp>
        <p:nvSpPr>
          <p:cNvPr id="29" name="Shape 27"/>
          <p:cNvSpPr/>
          <p:nvPr/>
        </p:nvSpPr>
        <p:spPr>
          <a:xfrm>
            <a:off x="457200" y="4078224"/>
            <a:ext cx="8229600" cy="658368"/>
          </a:xfrm>
          <a:prstGeom prst="rect">
            <a:avLst/>
          </a:prstGeom>
          <a:solidFill>
            <a:srgbClr val="F9F9F9"/>
          </a:solidFill>
          <a:ln w="12700">
            <a:solidFill>
              <a:srgbClr val="F9F9F9"/>
            </a:solidFill>
            <a:prstDash val="solid"/>
          </a:ln>
        </p:spPr>
      </p:sp>
      <p:sp>
        <p:nvSpPr>
          <p:cNvPr id="30" name="Shape 28"/>
          <p:cNvSpPr/>
          <p:nvPr/>
        </p:nvSpPr>
        <p:spPr>
          <a:xfrm>
            <a:off x="594360" y="4224528"/>
            <a:ext cx="365760" cy="365760"/>
          </a:xfrm>
          <a:prstGeom prst="ellipse">
            <a:avLst/>
          </a:prstGeom>
          <a:solidFill>
            <a:srgbClr val="333333"/>
          </a:solidFill>
          <a:ln w="12700">
            <a:solidFill>
              <a:srgbClr val="333333"/>
            </a:solidFill>
            <a:prstDash val="solid"/>
          </a:ln>
        </p:spPr>
      </p:sp>
      <p:sp>
        <p:nvSpPr>
          <p:cNvPr id="31" name="Text 29"/>
          <p:cNvSpPr/>
          <p:nvPr/>
        </p:nvSpPr>
        <p:spPr>
          <a:xfrm>
            <a:off x="594360" y="4224528"/>
            <a:ext cx="365760" cy="365760"/>
          </a:xfrm>
          <a:prstGeom prst="rect">
            <a:avLst/>
          </a:prstGeom>
          <a:noFill/>
          <a:ln/>
        </p:spPr>
        <p:txBody>
          <a:bodyPr wrap="square" lIns="0" tIns="0" rIns="0" bIns="0" rtlCol="0" anchor="ctr"/>
          <a:lstStyle/>
          <a:p>
            <a:pPr algn="ctr" indent="0" marL="0">
              <a:buNone/>
            </a:pPr>
            <a:r>
              <a:rPr lang="en-US" sz="1400" b="1" dirty="0">
                <a:solidFill>
                  <a:srgbClr val="FFB800"/>
                </a:solidFill>
                <a:latin typeface="Arial Black" pitchFamily="34" charset="0"/>
                <a:ea typeface="Arial Black" pitchFamily="34" charset="-122"/>
                <a:cs typeface="Arial Black" pitchFamily="34" charset="-120"/>
              </a:rPr>
              <a:t>◨</a:t>
            </a:r>
            <a:endParaRPr lang="en-US" sz="1400" dirty="0"/>
          </a:p>
        </p:txBody>
      </p:sp>
      <p:sp>
        <p:nvSpPr>
          <p:cNvPr id="32" name="Text 30"/>
          <p:cNvSpPr/>
          <p:nvPr/>
        </p:nvSpPr>
        <p:spPr>
          <a:xfrm>
            <a:off x="1051560" y="4078224"/>
            <a:ext cx="2514600" cy="658368"/>
          </a:xfrm>
          <a:prstGeom prst="rect">
            <a:avLst/>
          </a:prstGeom>
          <a:noFill/>
          <a:ln/>
        </p:spPr>
        <p:txBody>
          <a:bodyPr wrap="square" lIns="0" tIns="0" rIns="0" bIns="0" rtlCol="0" anchor="ctr"/>
          <a:lstStyle/>
          <a:p>
            <a:pPr indent="0" marL="0">
              <a:buNone/>
            </a:pPr>
            <a:r>
              <a:rPr lang="en-US" sz="1000" b="1" dirty="0">
                <a:solidFill>
                  <a:srgbClr val="000000"/>
                </a:solidFill>
                <a:latin typeface="Arial" pitchFamily="34" charset="0"/>
                <a:ea typeface="Arial" pitchFamily="34" charset="-122"/>
                <a:cs typeface="Arial" pitchFamily="34" charset="-120"/>
              </a:rPr>
              <a:t>BUYER BALANCE SHEETS</a:t>
            </a:r>
            <a:endParaRPr lang="en-US" sz="1000" dirty="0"/>
          </a:p>
        </p:txBody>
      </p:sp>
      <p:sp>
        <p:nvSpPr>
          <p:cNvPr id="33" name="Text 31"/>
          <p:cNvSpPr/>
          <p:nvPr/>
        </p:nvSpPr>
        <p:spPr>
          <a:xfrm>
            <a:off x="3611880" y="4078224"/>
            <a:ext cx="2468880" cy="658368"/>
          </a:xfrm>
          <a:prstGeom prst="rect">
            <a:avLst/>
          </a:prstGeom>
          <a:noFill/>
          <a:ln/>
        </p:spPr>
        <p:txBody>
          <a:bodyPr wrap="square" lIns="1016" tIns="1016" rIns="1016" bIns="1016" rtlCol="0" anchor="ctr"/>
          <a:lstStyle/>
          <a:p>
            <a:pPr indent="0" marL="0">
              <a:buNone/>
            </a:pPr>
            <a:r>
              <a:rPr lang="en-US" sz="1600" b="1" dirty="0">
                <a:solidFill>
                  <a:srgbClr val="CC0000"/>
                </a:solidFill>
                <a:latin typeface="Arial" pitchFamily="34" charset="0"/>
                <a:ea typeface="Arial" pitchFamily="34" charset="-122"/>
                <a:cs typeface="Arial" pitchFamily="34" charset="-120"/>
              </a:rPr>
              <a:t>20+</a:t>
            </a:r>
            <a:pPr indent="0" marL="0">
              <a:buNone/>
            </a:pPr>
            <a:r>
              <a:rPr lang="en-US" sz="900" baseline="30000" dirty="0">
                <a:solidFill>
                  <a:srgbClr val="CC0000"/>
                </a:solidFill>
                <a:latin typeface="Arial" pitchFamily="34" charset="0"/>
                <a:ea typeface="Arial" pitchFamily="34" charset="-122"/>
                <a:cs typeface="Arial" pitchFamily="34" charset="-120"/>
              </a:rPr>
              <a:t> 7</a:t>
            </a:r>
            <a:pPr indent="0" marL="0">
              <a:buNone/>
            </a:pPr>
            <a:r>
              <a:rPr lang="en-US" sz="900" dirty="0">
                <a:solidFill>
                  <a:srgbClr val="666666"/>
                </a:solidFill>
                <a:latin typeface="Arial" pitchFamily="34" charset="0"/>
                <a:ea typeface="Arial" pitchFamily="34" charset="-122"/>
                <a:cs typeface="Arial" pitchFamily="34" charset="-120"/>
              </a:rPr>
              <a:t>  major telcos went bankrupt</a:t>
            </a:r>
            <a:endParaRPr lang="en-US" sz="1600" dirty="0"/>
          </a:p>
        </p:txBody>
      </p:sp>
      <p:sp>
        <p:nvSpPr>
          <p:cNvPr id="34" name="Text 32"/>
          <p:cNvSpPr/>
          <p:nvPr/>
        </p:nvSpPr>
        <p:spPr>
          <a:xfrm>
            <a:off x="6126480" y="4078224"/>
            <a:ext cx="2560320" cy="658368"/>
          </a:xfrm>
          <a:prstGeom prst="rect">
            <a:avLst/>
          </a:prstGeom>
          <a:noFill/>
          <a:ln/>
        </p:spPr>
        <p:txBody>
          <a:bodyPr wrap="square" lIns="1016" tIns="1016" rIns="1016" bIns="1016" rtlCol="0" anchor="ctr"/>
          <a:lstStyle/>
          <a:p>
            <a:pPr indent="0" marL="0">
              <a:buNone/>
            </a:pPr>
            <a:r>
              <a:rPr lang="en-US" sz="1600" b="1" dirty="0">
                <a:solidFill>
                  <a:srgbClr val="00A854"/>
                </a:solidFill>
                <a:latin typeface="Arial" pitchFamily="34" charset="0"/>
                <a:ea typeface="Arial" pitchFamily="34" charset="-122"/>
                <a:cs typeface="Arial" pitchFamily="34" charset="-120"/>
              </a:rPr>
              <a:t>~48%</a:t>
            </a:r>
            <a:pPr indent="0" marL="0">
              <a:buNone/>
            </a:pPr>
            <a:r>
              <a:rPr lang="en-US" sz="900" baseline="30000" dirty="0">
                <a:solidFill>
                  <a:srgbClr val="00A854"/>
                </a:solidFill>
                <a:latin typeface="Arial" pitchFamily="34" charset="0"/>
                <a:ea typeface="Arial" pitchFamily="34" charset="-122"/>
                <a:cs typeface="Arial" pitchFamily="34" charset="-120"/>
              </a:rPr>
              <a:t> 8</a:t>
            </a:r>
            <a:pPr indent="0" marL="0">
              <a:buNone/>
            </a:pPr>
            <a:r>
              <a:rPr lang="en-US" sz="900" dirty="0">
                <a:solidFill>
                  <a:srgbClr val="666666"/>
                </a:solidFill>
                <a:latin typeface="Arial" pitchFamily="34" charset="0"/>
                <a:ea typeface="Arial" pitchFamily="34" charset="-122"/>
                <a:cs typeface="Arial" pitchFamily="34" charset="-120"/>
              </a:rPr>
              <a:t>  hyperscaler net debt/EBITDA (vs ~80% S&amp;P)</a:t>
            </a:r>
            <a:endParaRPr lang="en-US" sz="1600" dirty="0"/>
          </a:p>
        </p:txBody>
      </p:sp>
      <p:sp>
        <p:nvSpPr>
          <p:cNvPr id="35" name="Shape 33"/>
          <p:cNvSpPr/>
          <p:nvPr/>
        </p:nvSpPr>
        <p:spPr>
          <a:xfrm>
            <a:off x="457200" y="4773168"/>
            <a:ext cx="3977640" cy="182880"/>
          </a:xfrm>
          <a:prstGeom prst="rect">
            <a:avLst/>
          </a:prstGeom>
          <a:solidFill>
            <a:srgbClr val="00A854"/>
          </a:solidFill>
          <a:ln w="12700">
            <a:solidFill>
              <a:srgbClr val="00A854"/>
            </a:solidFill>
            <a:prstDash val="solid"/>
          </a:ln>
        </p:spPr>
      </p:sp>
      <p:sp>
        <p:nvSpPr>
          <p:cNvPr id="36" name="Text 34"/>
          <p:cNvSpPr/>
          <p:nvPr/>
        </p:nvSpPr>
        <p:spPr>
          <a:xfrm>
            <a:off x="457200" y="4773168"/>
            <a:ext cx="3977640" cy="182880"/>
          </a:xfrm>
          <a:prstGeom prst="rect">
            <a:avLst/>
          </a:prstGeom>
          <a:noFill/>
          <a:ln/>
        </p:spPr>
        <p:txBody>
          <a:bodyPr wrap="square" lIns="0" tIns="0" rIns="0" bIns="0" rtlCol="0" anchor="ctr"/>
          <a:lstStyle/>
          <a:p>
            <a:pPr algn="ctr" indent="0" marL="0">
              <a:buNone/>
            </a:pPr>
            <a:r>
              <a:rPr lang="en-US" sz="850" b="1" spc="200" kern="0" dirty="0">
                <a:solidFill>
                  <a:srgbClr val="FFFFFF"/>
                </a:solidFill>
                <a:latin typeface="Arial" pitchFamily="34" charset="0"/>
                <a:ea typeface="Arial" pitchFamily="34" charset="-122"/>
                <a:cs typeface="Arial" pitchFamily="34" charset="-120"/>
              </a:rPr>
              <a:t>THE BULLS</a:t>
            </a:r>
            <a:endParaRPr lang="en-US" sz="850" dirty="0"/>
          </a:p>
        </p:txBody>
      </p:sp>
      <p:sp>
        <p:nvSpPr>
          <p:cNvPr id="37" name="Shape 35"/>
          <p:cNvSpPr/>
          <p:nvPr/>
        </p:nvSpPr>
        <p:spPr>
          <a:xfrm>
            <a:off x="457200" y="4956048"/>
            <a:ext cx="3977640" cy="384048"/>
          </a:xfrm>
          <a:prstGeom prst="rect">
            <a:avLst/>
          </a:prstGeom>
          <a:solidFill>
            <a:srgbClr val="F9F9F9"/>
          </a:solidFill>
          <a:ln w="6350">
            <a:solidFill>
              <a:srgbClr val="E5E5E5"/>
            </a:solidFill>
            <a:prstDash val="solid"/>
          </a:ln>
        </p:spPr>
      </p:sp>
      <p:sp>
        <p:nvSpPr>
          <p:cNvPr id="38" name="Text 36"/>
          <p:cNvSpPr/>
          <p:nvPr/>
        </p:nvSpPr>
        <p:spPr>
          <a:xfrm>
            <a:off x="548640" y="4974336"/>
            <a:ext cx="3794760" cy="347472"/>
          </a:xfrm>
          <a:prstGeom prst="rect">
            <a:avLst/>
          </a:prstGeom>
          <a:noFill/>
          <a:ln/>
        </p:spPr>
        <p:txBody>
          <a:bodyPr wrap="square" lIns="0" tIns="0" rIns="0" bIns="0" rtlCol="0" anchor="ctr"/>
          <a:lstStyle/>
          <a:p>
            <a:pPr indent="0" marL="0">
              <a:buNone/>
            </a:pPr>
            <a:r>
              <a:rPr lang="en-US" sz="850" dirty="0">
                <a:solidFill>
                  <a:srgbClr val="333333"/>
                </a:solidFill>
                <a:latin typeface="Arial" pitchFamily="34" charset="0"/>
                <a:ea typeface="Arial" pitchFamily="34" charset="-122"/>
                <a:cs typeface="Arial" pitchFamily="34" charset="-120"/>
              </a:rPr>
              <a:t>Huang: AI “factories” · Gerstner: capex is “locked in, not speculative” · Baker: the wafer shortage itself prevents a bubble.</a:t>
            </a:r>
            <a:endParaRPr lang="en-US" sz="850" dirty="0"/>
          </a:p>
        </p:txBody>
      </p:sp>
      <p:sp>
        <p:nvSpPr>
          <p:cNvPr id="39" name="Shape 37"/>
          <p:cNvSpPr/>
          <p:nvPr/>
        </p:nvSpPr>
        <p:spPr>
          <a:xfrm>
            <a:off x="4709160" y="4773168"/>
            <a:ext cx="3977640" cy="182880"/>
          </a:xfrm>
          <a:prstGeom prst="rect">
            <a:avLst/>
          </a:prstGeom>
          <a:solidFill>
            <a:srgbClr val="CC0000"/>
          </a:solidFill>
          <a:ln w="12700">
            <a:solidFill>
              <a:srgbClr val="CC0000"/>
            </a:solidFill>
            <a:prstDash val="solid"/>
          </a:ln>
        </p:spPr>
      </p:sp>
      <p:sp>
        <p:nvSpPr>
          <p:cNvPr id="40" name="Text 38"/>
          <p:cNvSpPr/>
          <p:nvPr/>
        </p:nvSpPr>
        <p:spPr>
          <a:xfrm>
            <a:off x="4709160" y="4773168"/>
            <a:ext cx="3977640" cy="182880"/>
          </a:xfrm>
          <a:prstGeom prst="rect">
            <a:avLst/>
          </a:prstGeom>
          <a:noFill/>
          <a:ln/>
        </p:spPr>
        <p:txBody>
          <a:bodyPr wrap="square" lIns="0" tIns="0" rIns="0" bIns="0" rtlCol="0" anchor="ctr"/>
          <a:lstStyle/>
          <a:p>
            <a:pPr algn="ctr" indent="0" marL="0">
              <a:buNone/>
            </a:pPr>
            <a:r>
              <a:rPr lang="en-US" sz="850" b="1" spc="200" kern="0" dirty="0">
                <a:solidFill>
                  <a:srgbClr val="FFFFFF"/>
                </a:solidFill>
                <a:latin typeface="Arial" pitchFamily="34" charset="0"/>
                <a:ea typeface="Arial" pitchFamily="34" charset="-122"/>
                <a:cs typeface="Arial" pitchFamily="34" charset="-120"/>
              </a:rPr>
              <a:t>THE BEARS</a:t>
            </a:r>
            <a:endParaRPr lang="en-US" sz="850" dirty="0"/>
          </a:p>
        </p:txBody>
      </p:sp>
      <p:sp>
        <p:nvSpPr>
          <p:cNvPr id="41" name="Shape 39"/>
          <p:cNvSpPr/>
          <p:nvPr/>
        </p:nvSpPr>
        <p:spPr>
          <a:xfrm>
            <a:off x="4709160" y="4956048"/>
            <a:ext cx="3977640" cy="384048"/>
          </a:xfrm>
          <a:prstGeom prst="rect">
            <a:avLst/>
          </a:prstGeom>
          <a:solidFill>
            <a:srgbClr val="F9F9F9"/>
          </a:solidFill>
          <a:ln w="6350">
            <a:solidFill>
              <a:srgbClr val="E5E5E5"/>
            </a:solidFill>
            <a:prstDash val="solid"/>
          </a:ln>
        </p:spPr>
      </p:sp>
      <p:sp>
        <p:nvSpPr>
          <p:cNvPr id="42" name="Text 40"/>
          <p:cNvSpPr/>
          <p:nvPr/>
        </p:nvSpPr>
        <p:spPr>
          <a:xfrm>
            <a:off x="4800600" y="4974336"/>
            <a:ext cx="3794760" cy="347472"/>
          </a:xfrm>
          <a:prstGeom prst="rect">
            <a:avLst/>
          </a:prstGeom>
          <a:noFill/>
          <a:ln/>
        </p:spPr>
        <p:txBody>
          <a:bodyPr wrap="square" lIns="0" tIns="0" rIns="0" bIns="0" rtlCol="0" anchor="ctr"/>
          <a:lstStyle/>
          <a:p>
            <a:pPr indent="0" marL="0">
              <a:buNone/>
            </a:pPr>
            <a:r>
              <a:rPr lang="en-US" sz="850" dirty="0">
                <a:solidFill>
                  <a:srgbClr val="333333"/>
                </a:solidFill>
                <a:latin typeface="Arial" pitchFamily="34" charset="0"/>
                <a:ea typeface="Arial" pitchFamily="34" charset="-122"/>
                <a:cs typeface="Arial" pitchFamily="34" charset="-120"/>
              </a:rPr>
              <a:t>Burry / Chanos: circular financing &amp; 2–3-yr GPU depreciation · The Information: the Nvidia→OpenAI→Oracle loop · PTJ: 252% mkt-cap/GDP vs 170% in 2000.</a:t>
            </a:r>
            <a:endParaRPr lang="en-US" sz="850" dirty="0"/>
          </a:p>
        </p:txBody>
      </p:sp>
      <p:sp>
        <p:nvSpPr>
          <p:cNvPr id="43" name="Shape 41"/>
          <p:cNvSpPr/>
          <p:nvPr/>
        </p:nvSpPr>
        <p:spPr>
          <a:xfrm>
            <a:off x="457200" y="5449824"/>
            <a:ext cx="8229600" cy="329184"/>
          </a:xfrm>
          <a:prstGeom prst="rect">
            <a:avLst/>
          </a:prstGeom>
          <a:solidFill>
            <a:srgbClr val="FFD100"/>
          </a:solidFill>
          <a:ln w="12700">
            <a:solidFill>
              <a:srgbClr val="FFD100"/>
            </a:solidFill>
            <a:prstDash val="solid"/>
          </a:ln>
        </p:spPr>
      </p:sp>
      <p:sp>
        <p:nvSpPr>
          <p:cNvPr id="44" name="Text 42"/>
          <p:cNvSpPr/>
          <p:nvPr/>
        </p:nvSpPr>
        <p:spPr>
          <a:xfrm>
            <a:off x="640080" y="5449824"/>
            <a:ext cx="7863840" cy="329184"/>
          </a:xfrm>
          <a:prstGeom prst="rect">
            <a:avLst/>
          </a:prstGeom>
          <a:noFill/>
          <a:ln/>
        </p:spPr>
        <p:txBody>
          <a:bodyPr wrap="square" lIns="0" tIns="0" rIns="0" bIns="0" rtlCol="0" anchor="ctr"/>
          <a:lstStyle/>
          <a:p>
            <a:pPr indent="0" marL="0">
              <a:buNone/>
            </a:pPr>
            <a:r>
              <a:rPr lang="en-US" sz="1050" b="1" dirty="0">
                <a:solidFill>
                  <a:srgbClr val="000000"/>
                </a:solidFill>
                <a:latin typeface="Arial" pitchFamily="34" charset="0"/>
                <a:ea typeface="Arial" pitchFamily="34" charset="-122"/>
                <a:cs typeface="Arial" pitchFamily="34" charset="-120"/>
              </a:rPr>
              <a:t>Howard Marks: “the question is whether the exuberance is irrational.”  </a:t>
            </a:r>
            <a:pPr indent="0" marL="0">
              <a:buNone/>
            </a:pPr>
            <a:r>
              <a:rPr lang="en-US" sz="1050" b="1" dirty="0">
                <a:solidFill>
                  <a:srgbClr val="CC0000"/>
                </a:solidFill>
                <a:latin typeface="Arial" pitchFamily="34" charset="0"/>
                <a:ea typeface="Arial" pitchFamily="34" charset="-122"/>
                <a:cs typeface="Arial" pitchFamily="34" charset="-120"/>
              </a:rPr>
              <a:t>Today — rich, but supply is constrained, not oversupplied.</a:t>
            </a:r>
            <a:endParaRPr lang="en-US" sz="1050" dirty="0"/>
          </a:p>
        </p:txBody>
      </p:sp>
      <p:sp>
        <p:nvSpPr>
          <p:cNvPr id="45" name="Text 43"/>
          <p:cNvSpPr/>
          <p:nvPr/>
        </p:nvSpPr>
        <p:spPr>
          <a:xfrm>
            <a:off x="457200" y="5907024"/>
            <a:ext cx="8229600" cy="457200"/>
          </a:xfrm>
          <a:prstGeom prst="rect">
            <a:avLst/>
          </a:prstGeom>
          <a:noFill/>
          <a:ln/>
        </p:spPr>
        <p:txBody>
          <a:bodyPr wrap="square" lIns="0" tIns="0" rIns="0" bIns="0" rtlCol="0" anchor="t"/>
          <a:lstStyle/>
          <a:p>
            <a:pPr indent="0" marL="0">
              <a:buNone/>
            </a:pPr>
            <a:r>
              <a:rPr lang="en-US" sz="700" b="1" dirty="0">
                <a:solidFill>
                  <a:srgbClr val="999999"/>
                </a:solidFill>
                <a:latin typeface="Arial" pitchFamily="34" charset="0"/>
                <a:ea typeface="Arial" pitchFamily="34" charset="-122"/>
                <a:cs typeface="Arial" pitchFamily="34" charset="-120"/>
              </a:rPr>
              <a:t>(1) </a:t>
            </a:r>
            <a:pPr indent="0" marL="0">
              <a:buNone/>
            </a:pPr>
            <a:r>
              <a:rPr lang="en-US" sz="700" dirty="0">
                <a:solidFill>
                  <a:srgbClr val="999999"/>
                </a:solidFill>
                <a:latin typeface="Arial" pitchFamily="34" charset="0"/>
                <a:ea typeface="Arial" pitchFamily="34" charset="-122"/>
                <a:cs typeface="Arial" pitchFamily="34" charset="-120"/>
              </a:rPr>
              <a:t>Harding Loevner retrospective, </a:t>
            </a:r>
            <a:pPr indent="0" marL="0">
              <a:buNone/>
            </a:pPr>
            <a:r>
              <a:rPr lang="en-US" sz="700" b="1" dirty="0">
                <a:solidFill>
                  <a:srgbClr val="999999"/>
                </a:solidFill>
                <a:latin typeface="Arial" pitchFamily="34" charset="0"/>
                <a:ea typeface="Arial" pitchFamily="34" charset="-122"/>
                <a:cs typeface="Arial" pitchFamily="34" charset="-120"/>
              </a:rPr>
              <a:t>(2) </a:t>
            </a:r>
            <a:pPr indent="0" marL="0">
              <a:buNone/>
            </a:pPr>
            <a:r>
              <a:rPr lang="en-US" sz="700" dirty="0">
                <a:solidFill>
                  <a:srgbClr val="999999"/>
                </a:solidFill>
                <a:latin typeface="Arial" pitchFamily="34" charset="0"/>
                <a:ea typeface="Arial" pitchFamily="34" charset="-122"/>
                <a:cs typeface="Arial" pitchFamily="34" charset="-120"/>
              </a:rPr>
              <a:t>GuruFocus (Apr 17, 2026), </a:t>
            </a:r>
            <a:pPr indent="0" marL="0">
              <a:buNone/>
            </a:pPr>
            <a:r>
              <a:rPr lang="en-US" sz="700" b="1" dirty="0">
                <a:solidFill>
                  <a:srgbClr val="999999"/>
                </a:solidFill>
                <a:latin typeface="Arial" pitchFamily="34" charset="0"/>
                <a:ea typeface="Arial" pitchFamily="34" charset="-122"/>
                <a:cs typeface="Arial" pitchFamily="34" charset="-120"/>
              </a:rPr>
              <a:t>(3) </a:t>
            </a:r>
            <a:pPr indent="0" marL="0">
              <a:buNone/>
            </a:pPr>
            <a:r>
              <a:rPr lang="en-US" sz="700" dirty="0">
                <a:solidFill>
                  <a:srgbClr val="999999"/>
                </a:solidFill>
                <a:latin typeface="Arial" pitchFamily="34" charset="0"/>
                <a:ea typeface="Arial" pitchFamily="34" charset="-122"/>
                <a:cs typeface="Arial" pitchFamily="34" charset="-120"/>
              </a:rPr>
              <a:t>Jay Ritter, Univ. of Florida IPO data, </a:t>
            </a:r>
            <a:pPr indent="0" marL="0">
              <a:buNone/>
            </a:pPr>
            <a:r>
              <a:rPr lang="en-US" sz="700" b="1" dirty="0">
                <a:solidFill>
                  <a:srgbClr val="999999"/>
                </a:solidFill>
                <a:latin typeface="Arial" pitchFamily="34" charset="0"/>
                <a:ea typeface="Arial" pitchFamily="34" charset="-122"/>
                <a:cs typeface="Arial" pitchFamily="34" charset="-120"/>
              </a:rPr>
              <a:t>(4) </a:t>
            </a:r>
            <a:pPr indent="0" marL="0">
              <a:buNone/>
            </a:pPr>
            <a:r>
              <a:rPr lang="en-US" sz="700" dirty="0">
                <a:solidFill>
                  <a:srgbClr val="999999"/>
                </a:solidFill>
                <a:latin typeface="Arial" pitchFamily="34" charset="0"/>
                <a:ea typeface="Arial" pitchFamily="34" charset="-122"/>
                <a:cs typeface="Arial" pitchFamily="34" charset="-120"/>
              </a:rPr>
              <a:t>Bloomberg / company filings, 2025 TTM, </a:t>
            </a:r>
            <a:pPr indent="0" marL="0">
              <a:buNone/>
            </a:pPr>
            <a:r>
              <a:rPr lang="en-US" sz="700" b="1" dirty="0">
                <a:solidFill>
                  <a:srgbClr val="999999"/>
                </a:solidFill>
                <a:latin typeface="Arial" pitchFamily="34" charset="0"/>
                <a:ea typeface="Arial" pitchFamily="34" charset="-122"/>
                <a:cs typeface="Arial" pitchFamily="34" charset="-120"/>
              </a:rPr>
              <a:t>(5) </a:t>
            </a:r>
            <a:pPr indent="0" marL="0">
              <a:buNone/>
            </a:pPr>
            <a:r>
              <a:rPr lang="en-US" sz="700" dirty="0">
                <a:solidFill>
                  <a:srgbClr val="999999"/>
                </a:solidFill>
                <a:latin typeface="Arial" pitchFamily="34" charset="0"/>
                <a:ea typeface="Arial" pitchFamily="34" charset="-122"/>
                <a:cs typeface="Arial" pitchFamily="34" charset="-120"/>
              </a:rPr>
              <a:t>FCC / industry retrospectives, </a:t>
            </a:r>
            <a:pPr indent="0" marL="0">
              <a:buNone/>
            </a:pPr>
            <a:r>
              <a:rPr lang="en-US" sz="700" b="1" dirty="0">
                <a:solidFill>
                  <a:srgbClr val="999999"/>
                </a:solidFill>
                <a:latin typeface="Arial" pitchFamily="34" charset="0"/>
                <a:ea typeface="Arial" pitchFamily="34" charset="-122"/>
                <a:cs typeface="Arial" pitchFamily="34" charset="-120"/>
              </a:rPr>
              <a:t>(6) </a:t>
            </a:r>
            <a:pPr indent="0" marL="0">
              <a:buNone/>
            </a:pPr>
            <a:r>
              <a:rPr lang="en-US" sz="700" dirty="0">
                <a:solidFill>
                  <a:srgbClr val="999999"/>
                </a:solidFill>
                <a:latin typeface="Arial" pitchFamily="34" charset="0"/>
                <a:ea typeface="Arial" pitchFamily="34" charset="-122"/>
                <a:cs typeface="Arial" pitchFamily="34" charset="-120"/>
              </a:rPr>
              <a:t>CoreWeave / 2nd-market trackers, 2026, </a:t>
            </a:r>
            <a:pPr indent="0" marL="0">
              <a:buNone/>
            </a:pPr>
            <a:r>
              <a:rPr lang="en-US" sz="700" b="1" dirty="0">
                <a:solidFill>
                  <a:srgbClr val="999999"/>
                </a:solidFill>
                <a:latin typeface="Arial" pitchFamily="34" charset="0"/>
                <a:ea typeface="Arial" pitchFamily="34" charset="-122"/>
                <a:cs typeface="Arial" pitchFamily="34" charset="-120"/>
              </a:rPr>
              <a:t>(7) </a:t>
            </a:r>
            <a:pPr indent="0" marL="0">
              <a:buNone/>
            </a:pPr>
            <a:r>
              <a:rPr lang="en-US" sz="700" dirty="0">
                <a:solidFill>
                  <a:srgbClr val="999999"/>
                </a:solidFill>
                <a:latin typeface="Arial" pitchFamily="34" charset="0"/>
                <a:ea typeface="Arial" pitchFamily="34" charset="-122"/>
                <a:cs typeface="Arial" pitchFamily="34" charset="-120"/>
              </a:rPr>
              <a:t>Public filings / press retrospectives, 2001–02, </a:t>
            </a:r>
            <a:pPr indent="0" marL="0">
              <a:buNone/>
            </a:pPr>
            <a:r>
              <a:rPr lang="en-US" sz="700" b="1" dirty="0">
                <a:solidFill>
                  <a:srgbClr val="999999"/>
                </a:solidFill>
                <a:latin typeface="Arial" pitchFamily="34" charset="0"/>
                <a:ea typeface="Arial" pitchFamily="34" charset="-122"/>
                <a:cs typeface="Arial" pitchFamily="34" charset="-120"/>
              </a:rPr>
              <a:t>(8) </a:t>
            </a:r>
            <a:pPr indent="0" marL="0">
              <a:buNone/>
            </a:pPr>
            <a:r>
              <a:rPr lang="en-US" sz="700" dirty="0">
                <a:solidFill>
                  <a:srgbClr val="999999"/>
                </a:solidFill>
                <a:latin typeface="Arial" pitchFamily="34" charset="0"/>
                <a:ea typeface="Arial" pitchFamily="34" charset="-122"/>
                <a:cs typeface="Arial" pitchFamily="34" charset="-120"/>
              </a:rPr>
              <a:t>Bloomberg, 2025 YE, </a:t>
            </a:r>
            <a:pPr indent="0" marL="0">
              <a:buNone/>
            </a:pPr>
            <a:r>
              <a:rPr lang="en-US" sz="700" b="1" dirty="0">
                <a:solidFill>
                  <a:srgbClr val="999999"/>
                </a:solidFill>
                <a:latin typeface="Arial" pitchFamily="34" charset="0"/>
                <a:ea typeface="Arial" pitchFamily="34" charset="-122"/>
                <a:cs typeface="Arial" pitchFamily="34" charset="-120"/>
              </a:rPr>
              <a:t>(9) </a:t>
            </a:r>
            <a:pPr indent="0" marL="0">
              <a:buNone/>
            </a:pPr>
            <a:r>
              <a:rPr lang="en-US" sz="700" dirty="0">
                <a:solidFill>
                  <a:srgbClr val="999999"/>
                </a:solidFill>
                <a:latin typeface="Arial" pitchFamily="34" charset="0"/>
                <a:ea typeface="Arial" pitchFamily="34" charset="-122"/>
                <a:cs typeface="Arial" pitchFamily="34" charset="-120"/>
              </a:rPr>
              <a:t>Investor views as attributed: Huang (GTC 2026), Gerstner (Altimeter), Baker (ILTB), Burry/Chanos, The Information, P. Tudor Jones, Marks (Oaktree).</a:t>
            </a:r>
            <a:endParaRPr lang="en-US" sz="700" dirty="0"/>
          </a:p>
        </p:txBody>
      </p:sp>
      <p:sp>
        <p:nvSpPr>
          <p:cNvPr id="46" name="Shape 44"/>
          <p:cNvSpPr/>
          <p:nvPr/>
        </p:nvSpPr>
        <p:spPr>
          <a:xfrm>
            <a:off x="0" y="6286500"/>
            <a:ext cx="9144000" cy="571500"/>
          </a:xfrm>
          <a:prstGeom prst="rect">
            <a:avLst/>
          </a:prstGeom>
          <a:solidFill>
            <a:srgbClr val="000000"/>
          </a:solidFill>
          <a:ln w="12700">
            <a:solidFill>
              <a:srgbClr val="000000"/>
            </a:solidFill>
            <a:prstDash val="solid"/>
          </a:ln>
        </p:spPr>
      </p:sp>
      <p:sp>
        <p:nvSpPr>
          <p:cNvPr id="47" name="Text 45"/>
          <p:cNvSpPr/>
          <p:nvPr/>
        </p:nvSpPr>
        <p:spPr>
          <a:xfrm>
            <a:off x="1371600" y="6332220"/>
            <a:ext cx="6400800" cy="457200"/>
          </a:xfrm>
          <a:prstGeom prst="rect">
            <a:avLst/>
          </a:prstGeom>
          <a:noFill/>
          <a:ln/>
        </p:spPr>
        <p:txBody>
          <a:bodyPr wrap="square" lIns="0" tIns="0" rIns="0" bIns="0" rtlCol="0" anchor="ctr"/>
          <a:lstStyle/>
          <a:p>
            <a:pPr algn="ctr" indent="0" marL="0">
              <a:buNone/>
            </a:pPr>
            <a:r>
              <a:rPr lang="en-US" sz="650" b="1" dirty="0">
                <a:solidFill>
                  <a:srgbClr val="FFFFFF"/>
                </a:solidFill>
                <a:latin typeface="Arial" pitchFamily="34" charset="0"/>
                <a:ea typeface="Arial" pitchFamily="34" charset="-122"/>
                <a:cs typeface="Arial" pitchFamily="34" charset="-120"/>
              </a:rPr>
              <a:t>FOR INFORMATIONAL PURPOSES ONLY. NOT INVESTMENT ADVICE. PAST PERFORMANCE IS NOT INDICATIVE OF FUTURE RESULTS.</a:t>
            </a:r>
            <a:endParaRPr lang="en-US" sz="650" dirty="0"/>
          </a:p>
        </p:txBody>
      </p:sp>
      <p:sp>
        <p:nvSpPr>
          <p:cNvPr id="48" name="Text 46"/>
          <p:cNvSpPr/>
          <p:nvPr/>
        </p:nvSpPr>
        <p:spPr>
          <a:xfrm>
            <a:off x="8321040" y="6405372"/>
            <a:ext cx="548640" cy="274320"/>
          </a:xfrm>
          <a:prstGeom prst="rect">
            <a:avLst/>
          </a:prstGeom>
          <a:noFill/>
          <a:ln/>
        </p:spPr>
        <p:txBody>
          <a:bodyPr wrap="square" lIns="0" tIns="0" rIns="0" bIns="0" rtlCol="0" anchor="ctr"/>
          <a:lstStyle/>
          <a:p>
            <a:pPr algn="r" indent="0" marL="0">
              <a:buNone/>
            </a:pPr>
            <a:r>
              <a:rPr lang="en-US" sz="900" dirty="0">
                <a:solidFill>
                  <a:srgbClr val="FFFFFF"/>
                </a:solidFill>
                <a:latin typeface="Arial" pitchFamily="34" charset="0"/>
                <a:ea typeface="Arial" pitchFamily="34" charset="-122"/>
                <a:cs typeface="Arial" pitchFamily="34" charset="-120"/>
              </a:rPr>
              <a:t>15</a:t>
            </a:r>
            <a:endParaRPr lang="en-US" sz="9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Shape 0"/>
          <p:cNvSpPr/>
          <p:nvPr/>
        </p:nvSpPr>
        <p:spPr>
          <a:xfrm>
            <a:off x="7132320" y="164592"/>
            <a:ext cx="1737360" cy="292608"/>
          </a:xfrm>
          <a:prstGeom prst="roundRect">
            <a:avLst>
              <a:gd name="adj" fmla="val 15625"/>
            </a:avLst>
          </a:prstGeom>
          <a:solidFill>
            <a:srgbClr val="CC0000"/>
          </a:solidFill>
          <a:ln w="12700">
            <a:solidFill>
              <a:srgbClr val="CC0000"/>
            </a:solidFill>
            <a:prstDash val="solid"/>
          </a:ln>
        </p:spPr>
      </p:sp>
      <p:sp>
        <p:nvSpPr>
          <p:cNvPr id="3" name="Text 1"/>
          <p:cNvSpPr/>
          <p:nvPr/>
        </p:nvSpPr>
        <p:spPr>
          <a:xfrm>
            <a:off x="7132320" y="164592"/>
            <a:ext cx="1737360" cy="292608"/>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Arial" pitchFamily="34" charset="0"/>
                <a:ea typeface="Arial" pitchFamily="34" charset="-122"/>
                <a:cs typeface="Arial" pitchFamily="34" charset="-120"/>
              </a:rPr>
              <a:t>RISKS</a:t>
            </a:r>
            <a:endParaRPr lang="en-US" sz="1000" dirty="0"/>
          </a:p>
        </p:txBody>
      </p:sp>
      <p:sp>
        <p:nvSpPr>
          <p:cNvPr id="4" name="Text 2"/>
          <p:cNvSpPr/>
          <p:nvPr/>
        </p:nvSpPr>
        <p:spPr>
          <a:xfrm>
            <a:off x="457200" y="182880"/>
            <a:ext cx="6583680" cy="685800"/>
          </a:xfrm>
          <a:prstGeom prst="rect">
            <a:avLst/>
          </a:prstGeom>
          <a:noFill/>
          <a:ln/>
        </p:spPr>
        <p:txBody>
          <a:bodyPr wrap="square" lIns="0" tIns="0" rIns="0" bIns="0" rtlCol="0" anchor="t"/>
          <a:lstStyle/>
          <a:p>
            <a:pPr indent="0" marL="0">
              <a:buNone/>
            </a:pPr>
            <a:r>
              <a:rPr lang="en-US" sz="2400" b="1" dirty="0">
                <a:solidFill>
                  <a:srgbClr val="000000"/>
                </a:solidFill>
                <a:latin typeface="Arial Black" pitchFamily="34" charset="0"/>
                <a:ea typeface="Arial Black" pitchFamily="34" charset="-122"/>
                <a:cs typeface="Arial Black" pitchFamily="34" charset="-120"/>
              </a:rPr>
              <a:t>Four single points of failure.</a:t>
            </a:r>
            <a:endParaRPr lang="en-US" sz="2400" dirty="0"/>
          </a:p>
        </p:txBody>
      </p:sp>
      <p:sp>
        <p:nvSpPr>
          <p:cNvPr id="5" name="Text 3"/>
          <p:cNvSpPr/>
          <p:nvPr/>
        </p:nvSpPr>
        <p:spPr>
          <a:xfrm>
            <a:off x="457200" y="914400"/>
            <a:ext cx="8229600" cy="457200"/>
          </a:xfrm>
          <a:prstGeom prst="rect">
            <a:avLst/>
          </a:prstGeom>
          <a:noFill/>
          <a:ln/>
        </p:spPr>
        <p:txBody>
          <a:bodyPr wrap="square" lIns="0" tIns="0" rIns="0" bIns="0" rtlCol="0" anchor="t"/>
          <a:lstStyle/>
          <a:p>
            <a:pPr indent="0" marL="0">
              <a:buNone/>
            </a:pPr>
            <a:r>
              <a:rPr lang="en-US" sz="1350" dirty="0">
                <a:solidFill>
                  <a:srgbClr val="666666"/>
                </a:solidFill>
                <a:latin typeface="Arial" pitchFamily="34" charset="0"/>
                <a:ea typeface="Arial" pitchFamily="34" charset="-122"/>
                <a:cs typeface="Arial" pitchFamily="34" charset="-120"/>
              </a:rPr>
              <a:t>Three of the four sit in Asia, and all four are single-sourced. US reshoring is real — but most leading-edge capacity doesn't ship until 2027+.</a:t>
            </a:r>
            <a:endParaRPr lang="en-US" sz="1350" dirty="0"/>
          </a:p>
        </p:txBody>
      </p:sp>
      <p:sp>
        <p:nvSpPr>
          <p:cNvPr id="6" name="Shape 4"/>
          <p:cNvSpPr/>
          <p:nvPr/>
        </p:nvSpPr>
        <p:spPr>
          <a:xfrm>
            <a:off x="457200" y="1325880"/>
            <a:ext cx="8229600" cy="0"/>
          </a:xfrm>
          <a:prstGeom prst="line">
            <a:avLst/>
          </a:prstGeom>
          <a:noFill/>
          <a:ln w="9525">
            <a:solidFill>
              <a:srgbClr val="E5E5E5"/>
            </a:solidFill>
            <a:prstDash val="solid"/>
          </a:ln>
        </p:spPr>
      </p:sp>
      <p:sp>
        <p:nvSpPr>
          <p:cNvPr id="7" name="Shape 5"/>
          <p:cNvSpPr/>
          <p:nvPr/>
        </p:nvSpPr>
        <p:spPr>
          <a:xfrm>
            <a:off x="457200" y="1783080"/>
            <a:ext cx="1920240" cy="274320"/>
          </a:xfrm>
          <a:prstGeom prst="rect">
            <a:avLst/>
          </a:prstGeom>
          <a:solidFill>
            <a:srgbClr val="CC0000"/>
          </a:solidFill>
          <a:ln w="12700">
            <a:solidFill>
              <a:srgbClr val="CC0000"/>
            </a:solidFill>
            <a:prstDash val="solid"/>
          </a:ln>
        </p:spPr>
      </p:sp>
      <p:sp>
        <p:nvSpPr>
          <p:cNvPr id="8" name="Text 6"/>
          <p:cNvSpPr/>
          <p:nvPr/>
        </p:nvSpPr>
        <p:spPr>
          <a:xfrm>
            <a:off x="457200" y="1783080"/>
            <a:ext cx="1920240" cy="274320"/>
          </a:xfrm>
          <a:prstGeom prst="rect">
            <a:avLst/>
          </a:prstGeom>
          <a:noFill/>
          <a:ln/>
        </p:spPr>
        <p:txBody>
          <a:bodyPr wrap="square" lIns="0" tIns="0" rIns="0" bIns="0" rtlCol="0" anchor="ctr"/>
          <a:lstStyle/>
          <a:p>
            <a:pPr algn="ctr" indent="0" marL="0">
              <a:buNone/>
            </a:pPr>
            <a:r>
              <a:rPr lang="en-US" sz="1000" b="1" spc="300" kern="0" dirty="0">
                <a:solidFill>
                  <a:srgbClr val="FFFFFF"/>
                </a:solidFill>
                <a:latin typeface="Arial" pitchFamily="34" charset="0"/>
                <a:ea typeface="Arial" pitchFamily="34" charset="-122"/>
                <a:cs typeface="Arial" pitchFamily="34" charset="-120"/>
              </a:rPr>
              <a:t>NETHERLANDS</a:t>
            </a:r>
            <a:endParaRPr lang="en-US" sz="1000" dirty="0"/>
          </a:p>
        </p:txBody>
      </p:sp>
      <p:sp>
        <p:nvSpPr>
          <p:cNvPr id="9" name="Shape 7"/>
          <p:cNvSpPr/>
          <p:nvPr/>
        </p:nvSpPr>
        <p:spPr>
          <a:xfrm>
            <a:off x="457200" y="2057400"/>
            <a:ext cx="1920240" cy="1645920"/>
          </a:xfrm>
          <a:prstGeom prst="rect">
            <a:avLst/>
          </a:prstGeom>
          <a:solidFill>
            <a:srgbClr val="FFFFFF"/>
          </a:solidFill>
          <a:ln w="6350">
            <a:solidFill>
              <a:srgbClr val="E5E5E5"/>
            </a:solidFill>
            <a:prstDash val="solid"/>
          </a:ln>
        </p:spPr>
      </p:sp>
      <p:sp>
        <p:nvSpPr>
          <p:cNvPr id="10" name="Text 8"/>
          <p:cNvSpPr/>
          <p:nvPr/>
        </p:nvSpPr>
        <p:spPr>
          <a:xfrm>
            <a:off x="457200" y="2103120"/>
            <a:ext cx="1920240" cy="457200"/>
          </a:xfrm>
          <a:prstGeom prst="rect">
            <a:avLst/>
          </a:prstGeom>
          <a:noFill/>
          <a:ln/>
        </p:spPr>
        <p:txBody>
          <a:bodyPr wrap="square" lIns="0" tIns="0" rIns="0" bIns="0" rtlCol="0" anchor="ctr"/>
          <a:lstStyle/>
          <a:p>
            <a:pPr algn="ctr" indent="0" marL="0">
              <a:buNone/>
            </a:pPr>
            <a:r>
              <a:rPr lang="en-US" sz="3600" b="1" dirty="0">
                <a:solidFill>
                  <a:srgbClr val="CC0000"/>
                </a:solidFill>
                <a:latin typeface="Arial Black" pitchFamily="34" charset="0"/>
                <a:ea typeface="Arial Black" pitchFamily="34" charset="-122"/>
                <a:cs typeface="Arial Black" pitchFamily="34" charset="-120"/>
              </a:rPr>
              <a:t>▲</a:t>
            </a:r>
            <a:endParaRPr lang="en-US" sz="3600" dirty="0"/>
          </a:p>
        </p:txBody>
      </p:sp>
      <p:sp>
        <p:nvSpPr>
          <p:cNvPr id="11" name="Text 9"/>
          <p:cNvSpPr/>
          <p:nvPr/>
        </p:nvSpPr>
        <p:spPr>
          <a:xfrm>
            <a:off x="457200" y="2587752"/>
            <a:ext cx="1920240" cy="274320"/>
          </a:xfrm>
          <a:prstGeom prst="rect">
            <a:avLst/>
          </a:prstGeom>
          <a:noFill/>
          <a:ln/>
        </p:spPr>
        <p:txBody>
          <a:bodyPr wrap="square" lIns="0" tIns="0" rIns="0" bIns="0" rtlCol="0" anchor="ctr"/>
          <a:lstStyle/>
          <a:p>
            <a:pPr algn="ctr" indent="0" marL="0">
              <a:buNone/>
            </a:pPr>
            <a:r>
              <a:rPr lang="en-US" sz="1300" b="1" dirty="0">
                <a:solidFill>
                  <a:srgbClr val="333333"/>
                </a:solidFill>
                <a:latin typeface="Arial" pitchFamily="34" charset="0"/>
                <a:ea typeface="Arial" pitchFamily="34" charset="-122"/>
                <a:cs typeface="Arial" pitchFamily="34" charset="-120"/>
              </a:rPr>
              <a:t>EUV Litho</a:t>
            </a:r>
            <a:endParaRPr lang="en-US" sz="1300" dirty="0"/>
          </a:p>
        </p:txBody>
      </p:sp>
      <p:sp>
        <p:nvSpPr>
          <p:cNvPr id="12" name="Shape 10"/>
          <p:cNvSpPr/>
          <p:nvPr/>
        </p:nvSpPr>
        <p:spPr>
          <a:xfrm>
            <a:off x="960120" y="2907792"/>
            <a:ext cx="914400" cy="0"/>
          </a:xfrm>
          <a:prstGeom prst="line">
            <a:avLst/>
          </a:prstGeom>
          <a:noFill/>
          <a:ln w="19050">
            <a:solidFill>
              <a:srgbClr val="CC0000"/>
            </a:solidFill>
            <a:prstDash val="solid"/>
          </a:ln>
        </p:spPr>
      </p:sp>
      <p:sp>
        <p:nvSpPr>
          <p:cNvPr id="13" name="Text 11"/>
          <p:cNvSpPr/>
          <p:nvPr/>
        </p:nvSpPr>
        <p:spPr>
          <a:xfrm>
            <a:off x="566928" y="2999232"/>
            <a:ext cx="1700784" cy="640080"/>
          </a:xfrm>
          <a:prstGeom prst="rect">
            <a:avLst/>
          </a:prstGeom>
          <a:noFill/>
          <a:ln/>
        </p:spPr>
        <p:txBody>
          <a:bodyPr wrap="square" lIns="0" tIns="0" rIns="0" bIns="0" rtlCol="0" anchor="t"/>
          <a:lstStyle/>
          <a:p>
            <a:pPr algn="l" indent="0" marL="0">
              <a:buNone/>
            </a:pPr>
            <a:r>
              <a:rPr lang="en-US" sz="900" dirty="0">
                <a:solidFill>
                  <a:srgbClr val="333333"/>
                </a:solidFill>
                <a:latin typeface="Arial" pitchFamily="34" charset="0"/>
                <a:ea typeface="Arial" pitchFamily="34" charset="-122"/>
                <a:cs typeface="Arial" pitchFamily="34" charset="-120"/>
              </a:rPr>
              <a:t>Only firm in the world building EUV scanners — new machines ship in dozens per year, not hundreds.</a:t>
            </a:r>
            <a:pPr algn="l" indent="0" marL="0">
              <a:buNone/>
            </a:pPr>
            <a:r>
              <a:rPr lang="en-US" sz="700" baseline="30000" dirty="0">
                <a:solidFill>
                  <a:srgbClr val="CC0000"/>
                </a:solidFill>
                <a:latin typeface="Arial" pitchFamily="34" charset="0"/>
                <a:ea typeface="Arial" pitchFamily="34" charset="-122"/>
                <a:cs typeface="Arial" pitchFamily="34" charset="-120"/>
              </a:rPr>
              <a:t> 1</a:t>
            </a:r>
            <a:endParaRPr lang="en-US" sz="900" dirty="0"/>
          </a:p>
        </p:txBody>
      </p:sp>
      <p:sp>
        <p:nvSpPr>
          <p:cNvPr id="14" name="Shape 12"/>
          <p:cNvSpPr/>
          <p:nvPr/>
        </p:nvSpPr>
        <p:spPr>
          <a:xfrm>
            <a:off x="2468880" y="1783080"/>
            <a:ext cx="1920240" cy="274320"/>
          </a:xfrm>
          <a:prstGeom prst="rect">
            <a:avLst/>
          </a:prstGeom>
          <a:solidFill>
            <a:srgbClr val="CC0000"/>
          </a:solidFill>
          <a:ln w="12700">
            <a:solidFill>
              <a:srgbClr val="CC0000"/>
            </a:solidFill>
            <a:prstDash val="solid"/>
          </a:ln>
        </p:spPr>
      </p:sp>
      <p:sp>
        <p:nvSpPr>
          <p:cNvPr id="15" name="Text 13"/>
          <p:cNvSpPr/>
          <p:nvPr/>
        </p:nvSpPr>
        <p:spPr>
          <a:xfrm>
            <a:off x="2468880" y="1783080"/>
            <a:ext cx="1920240" cy="274320"/>
          </a:xfrm>
          <a:prstGeom prst="rect">
            <a:avLst/>
          </a:prstGeom>
          <a:noFill/>
          <a:ln/>
        </p:spPr>
        <p:txBody>
          <a:bodyPr wrap="square" lIns="0" tIns="0" rIns="0" bIns="0" rtlCol="0" anchor="ctr"/>
          <a:lstStyle/>
          <a:p>
            <a:pPr algn="ctr" indent="0" marL="0">
              <a:buNone/>
            </a:pPr>
            <a:r>
              <a:rPr lang="en-US" sz="1000" b="1" spc="300" kern="0" dirty="0">
                <a:solidFill>
                  <a:srgbClr val="FFFFFF"/>
                </a:solidFill>
                <a:latin typeface="Arial" pitchFamily="34" charset="0"/>
                <a:ea typeface="Arial" pitchFamily="34" charset="-122"/>
                <a:cs typeface="Arial" pitchFamily="34" charset="-120"/>
              </a:rPr>
              <a:t>TAIWAN</a:t>
            </a:r>
            <a:endParaRPr lang="en-US" sz="1000" dirty="0"/>
          </a:p>
        </p:txBody>
      </p:sp>
      <p:sp>
        <p:nvSpPr>
          <p:cNvPr id="16" name="Shape 14"/>
          <p:cNvSpPr/>
          <p:nvPr/>
        </p:nvSpPr>
        <p:spPr>
          <a:xfrm>
            <a:off x="2468880" y="2057400"/>
            <a:ext cx="1920240" cy="1645920"/>
          </a:xfrm>
          <a:prstGeom prst="rect">
            <a:avLst/>
          </a:prstGeom>
          <a:solidFill>
            <a:srgbClr val="FFFFFF"/>
          </a:solidFill>
          <a:ln w="6350">
            <a:solidFill>
              <a:srgbClr val="E5E5E5"/>
            </a:solidFill>
            <a:prstDash val="solid"/>
          </a:ln>
        </p:spPr>
      </p:sp>
      <p:sp>
        <p:nvSpPr>
          <p:cNvPr id="17" name="Text 15"/>
          <p:cNvSpPr/>
          <p:nvPr/>
        </p:nvSpPr>
        <p:spPr>
          <a:xfrm>
            <a:off x="2468880" y="2103120"/>
            <a:ext cx="1920240" cy="457200"/>
          </a:xfrm>
          <a:prstGeom prst="rect">
            <a:avLst/>
          </a:prstGeom>
          <a:noFill/>
          <a:ln/>
        </p:spPr>
        <p:txBody>
          <a:bodyPr wrap="square" lIns="0" tIns="0" rIns="0" bIns="0" rtlCol="0" anchor="ctr"/>
          <a:lstStyle/>
          <a:p>
            <a:pPr algn="ctr" indent="0" marL="0">
              <a:buNone/>
            </a:pPr>
            <a:r>
              <a:rPr lang="en-US" sz="3600" b="1" dirty="0">
                <a:solidFill>
                  <a:srgbClr val="CC0000"/>
                </a:solidFill>
                <a:latin typeface="Arial Black" pitchFamily="34" charset="0"/>
                <a:ea typeface="Arial Black" pitchFamily="34" charset="-122"/>
                <a:cs typeface="Arial Black" pitchFamily="34" charset="-120"/>
              </a:rPr>
              <a:t>▦</a:t>
            </a:r>
            <a:endParaRPr lang="en-US" sz="3600" dirty="0"/>
          </a:p>
        </p:txBody>
      </p:sp>
      <p:sp>
        <p:nvSpPr>
          <p:cNvPr id="18" name="Text 16"/>
          <p:cNvSpPr/>
          <p:nvPr/>
        </p:nvSpPr>
        <p:spPr>
          <a:xfrm>
            <a:off x="2468880" y="2587752"/>
            <a:ext cx="1920240" cy="274320"/>
          </a:xfrm>
          <a:prstGeom prst="rect">
            <a:avLst/>
          </a:prstGeom>
          <a:noFill/>
          <a:ln/>
        </p:spPr>
        <p:txBody>
          <a:bodyPr wrap="square" lIns="0" tIns="0" rIns="0" bIns="0" rtlCol="0" anchor="ctr"/>
          <a:lstStyle/>
          <a:p>
            <a:pPr algn="ctr" indent="0" marL="0">
              <a:buNone/>
            </a:pPr>
            <a:r>
              <a:rPr lang="en-US" sz="1300" b="1" dirty="0">
                <a:solidFill>
                  <a:srgbClr val="333333"/>
                </a:solidFill>
                <a:latin typeface="Arial" pitchFamily="34" charset="0"/>
                <a:ea typeface="Arial" pitchFamily="34" charset="-122"/>
                <a:cs typeface="Arial" pitchFamily="34" charset="-120"/>
              </a:rPr>
              <a:t>Leading Logic</a:t>
            </a:r>
            <a:endParaRPr lang="en-US" sz="1300" dirty="0"/>
          </a:p>
        </p:txBody>
      </p:sp>
      <p:sp>
        <p:nvSpPr>
          <p:cNvPr id="19" name="Shape 17"/>
          <p:cNvSpPr/>
          <p:nvPr/>
        </p:nvSpPr>
        <p:spPr>
          <a:xfrm>
            <a:off x="2971800" y="2907792"/>
            <a:ext cx="914400" cy="0"/>
          </a:xfrm>
          <a:prstGeom prst="line">
            <a:avLst/>
          </a:prstGeom>
          <a:noFill/>
          <a:ln w="19050">
            <a:solidFill>
              <a:srgbClr val="CC0000"/>
            </a:solidFill>
            <a:prstDash val="solid"/>
          </a:ln>
        </p:spPr>
      </p:sp>
      <p:sp>
        <p:nvSpPr>
          <p:cNvPr id="20" name="Text 18"/>
          <p:cNvSpPr/>
          <p:nvPr/>
        </p:nvSpPr>
        <p:spPr>
          <a:xfrm>
            <a:off x="2578608" y="2999232"/>
            <a:ext cx="1700784" cy="640080"/>
          </a:xfrm>
          <a:prstGeom prst="rect">
            <a:avLst/>
          </a:prstGeom>
          <a:noFill/>
          <a:ln/>
        </p:spPr>
        <p:txBody>
          <a:bodyPr wrap="square" lIns="0" tIns="0" rIns="0" bIns="0" rtlCol="0" anchor="t"/>
          <a:lstStyle/>
          <a:p>
            <a:pPr algn="l" indent="0" marL="0">
              <a:buNone/>
            </a:pPr>
            <a:r>
              <a:rPr lang="en-US" sz="900" dirty="0">
                <a:solidFill>
                  <a:srgbClr val="333333"/>
                </a:solidFill>
                <a:latin typeface="Arial" pitchFamily="34" charset="0"/>
                <a:ea typeface="Arial" pitchFamily="34" charset="-122"/>
                <a:cs typeface="Arial" pitchFamily="34" charset="-120"/>
              </a:rPr>
              <a:t>Virtually every advanced-node chip runs through TSMC fabs in Hsinchu and Tainan — no real volume alternative exists.</a:t>
            </a:r>
            <a:pPr algn="l" indent="0" marL="0">
              <a:buNone/>
            </a:pPr>
            <a:r>
              <a:rPr lang="en-US" sz="700" baseline="30000" dirty="0">
                <a:solidFill>
                  <a:srgbClr val="CC0000"/>
                </a:solidFill>
                <a:latin typeface="Arial" pitchFamily="34" charset="0"/>
                <a:ea typeface="Arial" pitchFamily="34" charset="-122"/>
                <a:cs typeface="Arial" pitchFamily="34" charset="-120"/>
              </a:rPr>
              <a:t> 2</a:t>
            </a:r>
            <a:endParaRPr lang="en-US" sz="900" dirty="0"/>
          </a:p>
        </p:txBody>
      </p:sp>
      <p:sp>
        <p:nvSpPr>
          <p:cNvPr id="21" name="Shape 19"/>
          <p:cNvSpPr/>
          <p:nvPr/>
        </p:nvSpPr>
        <p:spPr>
          <a:xfrm>
            <a:off x="4480560" y="1783080"/>
            <a:ext cx="1920240" cy="274320"/>
          </a:xfrm>
          <a:prstGeom prst="rect">
            <a:avLst/>
          </a:prstGeom>
          <a:solidFill>
            <a:srgbClr val="CC0000"/>
          </a:solidFill>
          <a:ln w="12700">
            <a:solidFill>
              <a:srgbClr val="CC0000"/>
            </a:solidFill>
            <a:prstDash val="solid"/>
          </a:ln>
        </p:spPr>
      </p:sp>
      <p:sp>
        <p:nvSpPr>
          <p:cNvPr id="22" name="Text 20"/>
          <p:cNvSpPr/>
          <p:nvPr/>
        </p:nvSpPr>
        <p:spPr>
          <a:xfrm>
            <a:off x="4480560" y="1783080"/>
            <a:ext cx="1920240" cy="274320"/>
          </a:xfrm>
          <a:prstGeom prst="rect">
            <a:avLst/>
          </a:prstGeom>
          <a:noFill/>
          <a:ln/>
        </p:spPr>
        <p:txBody>
          <a:bodyPr wrap="square" lIns="0" tIns="0" rIns="0" bIns="0" rtlCol="0" anchor="ctr"/>
          <a:lstStyle/>
          <a:p>
            <a:pPr algn="ctr" indent="0" marL="0">
              <a:buNone/>
            </a:pPr>
            <a:r>
              <a:rPr lang="en-US" sz="1000" b="1" spc="300" kern="0" dirty="0">
                <a:solidFill>
                  <a:srgbClr val="FFFFFF"/>
                </a:solidFill>
                <a:latin typeface="Arial" pitchFamily="34" charset="0"/>
                <a:ea typeface="Arial" pitchFamily="34" charset="-122"/>
                <a:cs typeface="Arial" pitchFamily="34" charset="-120"/>
              </a:rPr>
              <a:t>KOREA</a:t>
            </a:r>
            <a:endParaRPr lang="en-US" sz="1000" dirty="0"/>
          </a:p>
        </p:txBody>
      </p:sp>
      <p:sp>
        <p:nvSpPr>
          <p:cNvPr id="23" name="Shape 21"/>
          <p:cNvSpPr/>
          <p:nvPr/>
        </p:nvSpPr>
        <p:spPr>
          <a:xfrm>
            <a:off x="4480560" y="2057400"/>
            <a:ext cx="1920240" cy="1645920"/>
          </a:xfrm>
          <a:prstGeom prst="rect">
            <a:avLst/>
          </a:prstGeom>
          <a:solidFill>
            <a:srgbClr val="FFFFFF"/>
          </a:solidFill>
          <a:ln w="6350">
            <a:solidFill>
              <a:srgbClr val="E5E5E5"/>
            </a:solidFill>
            <a:prstDash val="solid"/>
          </a:ln>
        </p:spPr>
      </p:sp>
      <p:sp>
        <p:nvSpPr>
          <p:cNvPr id="24" name="Text 22"/>
          <p:cNvSpPr/>
          <p:nvPr/>
        </p:nvSpPr>
        <p:spPr>
          <a:xfrm>
            <a:off x="4480560" y="2103120"/>
            <a:ext cx="1920240" cy="457200"/>
          </a:xfrm>
          <a:prstGeom prst="rect">
            <a:avLst/>
          </a:prstGeom>
          <a:noFill/>
          <a:ln/>
        </p:spPr>
        <p:txBody>
          <a:bodyPr wrap="square" lIns="0" tIns="0" rIns="0" bIns="0" rtlCol="0" anchor="ctr"/>
          <a:lstStyle/>
          <a:p>
            <a:pPr algn="ctr" indent="0" marL="0">
              <a:buNone/>
            </a:pPr>
            <a:r>
              <a:rPr lang="en-US" sz="3600" b="1" dirty="0">
                <a:solidFill>
                  <a:srgbClr val="CC0000"/>
                </a:solidFill>
                <a:latin typeface="Arial Black" pitchFamily="34" charset="0"/>
                <a:ea typeface="Arial Black" pitchFamily="34" charset="-122"/>
                <a:cs typeface="Arial Black" pitchFamily="34" charset="-120"/>
              </a:rPr>
              <a:t>☰</a:t>
            </a:r>
            <a:endParaRPr lang="en-US" sz="3600" dirty="0"/>
          </a:p>
        </p:txBody>
      </p:sp>
      <p:sp>
        <p:nvSpPr>
          <p:cNvPr id="25" name="Text 23"/>
          <p:cNvSpPr/>
          <p:nvPr/>
        </p:nvSpPr>
        <p:spPr>
          <a:xfrm>
            <a:off x="4480560" y="2587752"/>
            <a:ext cx="1920240" cy="274320"/>
          </a:xfrm>
          <a:prstGeom prst="rect">
            <a:avLst/>
          </a:prstGeom>
          <a:noFill/>
          <a:ln/>
        </p:spPr>
        <p:txBody>
          <a:bodyPr wrap="square" lIns="0" tIns="0" rIns="0" bIns="0" rtlCol="0" anchor="ctr"/>
          <a:lstStyle/>
          <a:p>
            <a:pPr algn="ctr" indent="0" marL="0">
              <a:buNone/>
            </a:pPr>
            <a:r>
              <a:rPr lang="en-US" sz="1300" b="1" dirty="0">
                <a:solidFill>
                  <a:srgbClr val="333333"/>
                </a:solidFill>
                <a:latin typeface="Arial" pitchFamily="34" charset="0"/>
                <a:ea typeface="Arial" pitchFamily="34" charset="-122"/>
                <a:cs typeface="Arial" pitchFamily="34" charset="-120"/>
              </a:rPr>
              <a:t>HBM Memory</a:t>
            </a:r>
            <a:endParaRPr lang="en-US" sz="1300" dirty="0"/>
          </a:p>
        </p:txBody>
      </p:sp>
      <p:sp>
        <p:nvSpPr>
          <p:cNvPr id="26" name="Shape 24"/>
          <p:cNvSpPr/>
          <p:nvPr/>
        </p:nvSpPr>
        <p:spPr>
          <a:xfrm>
            <a:off x="4983480" y="2907792"/>
            <a:ext cx="914400" cy="0"/>
          </a:xfrm>
          <a:prstGeom prst="line">
            <a:avLst/>
          </a:prstGeom>
          <a:noFill/>
          <a:ln w="19050">
            <a:solidFill>
              <a:srgbClr val="CC0000"/>
            </a:solidFill>
            <a:prstDash val="solid"/>
          </a:ln>
        </p:spPr>
      </p:sp>
      <p:sp>
        <p:nvSpPr>
          <p:cNvPr id="27" name="Text 25"/>
          <p:cNvSpPr/>
          <p:nvPr/>
        </p:nvSpPr>
        <p:spPr>
          <a:xfrm>
            <a:off x="4590288" y="2999232"/>
            <a:ext cx="1700784" cy="640080"/>
          </a:xfrm>
          <a:prstGeom prst="rect">
            <a:avLst/>
          </a:prstGeom>
          <a:noFill/>
          <a:ln/>
        </p:spPr>
        <p:txBody>
          <a:bodyPr wrap="square" lIns="0" tIns="0" rIns="0" bIns="0" rtlCol="0" anchor="t"/>
          <a:lstStyle/>
          <a:p>
            <a:pPr algn="l" indent="0" marL="0">
              <a:buNone/>
            </a:pPr>
            <a:r>
              <a:rPr lang="en-US" sz="900" dirty="0">
                <a:solidFill>
                  <a:srgbClr val="333333"/>
                </a:solidFill>
                <a:latin typeface="Arial" pitchFamily="34" charset="0"/>
                <a:ea typeface="Arial" pitchFamily="34" charset="-122"/>
                <a:cs typeface="Arial" pitchFamily="34" charset="-120"/>
              </a:rPr>
              <a:t>Two Korean firms supply nearly all the high-bandwidth memory AI accelerators depend on — both booked through 2026.</a:t>
            </a:r>
            <a:pPr algn="l" indent="0" marL="0">
              <a:buNone/>
            </a:pPr>
            <a:r>
              <a:rPr lang="en-US" sz="700" baseline="30000" dirty="0">
                <a:solidFill>
                  <a:srgbClr val="CC0000"/>
                </a:solidFill>
                <a:latin typeface="Arial" pitchFamily="34" charset="0"/>
                <a:ea typeface="Arial" pitchFamily="34" charset="-122"/>
                <a:cs typeface="Arial" pitchFamily="34" charset="-120"/>
              </a:rPr>
              <a:t> 3</a:t>
            </a:r>
            <a:endParaRPr lang="en-US" sz="900" dirty="0"/>
          </a:p>
        </p:txBody>
      </p:sp>
      <p:sp>
        <p:nvSpPr>
          <p:cNvPr id="28" name="Shape 26"/>
          <p:cNvSpPr/>
          <p:nvPr/>
        </p:nvSpPr>
        <p:spPr>
          <a:xfrm>
            <a:off x="6492240" y="1783080"/>
            <a:ext cx="1920240" cy="274320"/>
          </a:xfrm>
          <a:prstGeom prst="rect">
            <a:avLst/>
          </a:prstGeom>
          <a:solidFill>
            <a:srgbClr val="CC0000"/>
          </a:solidFill>
          <a:ln w="12700">
            <a:solidFill>
              <a:srgbClr val="CC0000"/>
            </a:solidFill>
            <a:prstDash val="solid"/>
          </a:ln>
        </p:spPr>
      </p:sp>
      <p:sp>
        <p:nvSpPr>
          <p:cNvPr id="29" name="Text 27"/>
          <p:cNvSpPr/>
          <p:nvPr/>
        </p:nvSpPr>
        <p:spPr>
          <a:xfrm>
            <a:off x="6492240" y="1783080"/>
            <a:ext cx="1920240" cy="274320"/>
          </a:xfrm>
          <a:prstGeom prst="rect">
            <a:avLst/>
          </a:prstGeom>
          <a:noFill/>
          <a:ln/>
        </p:spPr>
        <p:txBody>
          <a:bodyPr wrap="square" lIns="0" tIns="0" rIns="0" bIns="0" rtlCol="0" anchor="ctr"/>
          <a:lstStyle/>
          <a:p>
            <a:pPr algn="ctr" indent="0" marL="0">
              <a:buNone/>
            </a:pPr>
            <a:r>
              <a:rPr lang="en-US" sz="1000" b="1" spc="300" kern="0" dirty="0">
                <a:solidFill>
                  <a:srgbClr val="FFFFFF"/>
                </a:solidFill>
                <a:latin typeface="Arial" pitchFamily="34" charset="0"/>
                <a:ea typeface="Arial" pitchFamily="34" charset="-122"/>
                <a:cs typeface="Arial" pitchFamily="34" charset="-120"/>
              </a:rPr>
              <a:t>TAIWAN</a:t>
            </a:r>
            <a:endParaRPr lang="en-US" sz="1000" dirty="0"/>
          </a:p>
        </p:txBody>
      </p:sp>
      <p:sp>
        <p:nvSpPr>
          <p:cNvPr id="30" name="Shape 28"/>
          <p:cNvSpPr/>
          <p:nvPr/>
        </p:nvSpPr>
        <p:spPr>
          <a:xfrm>
            <a:off x="6492240" y="2057400"/>
            <a:ext cx="1920240" cy="1645920"/>
          </a:xfrm>
          <a:prstGeom prst="rect">
            <a:avLst/>
          </a:prstGeom>
          <a:solidFill>
            <a:srgbClr val="FFFFFF"/>
          </a:solidFill>
          <a:ln w="6350">
            <a:solidFill>
              <a:srgbClr val="E5E5E5"/>
            </a:solidFill>
            <a:prstDash val="solid"/>
          </a:ln>
        </p:spPr>
      </p:sp>
      <p:sp>
        <p:nvSpPr>
          <p:cNvPr id="31" name="Text 29"/>
          <p:cNvSpPr/>
          <p:nvPr/>
        </p:nvSpPr>
        <p:spPr>
          <a:xfrm>
            <a:off x="6492240" y="2103120"/>
            <a:ext cx="1920240" cy="457200"/>
          </a:xfrm>
          <a:prstGeom prst="rect">
            <a:avLst/>
          </a:prstGeom>
          <a:noFill/>
          <a:ln/>
        </p:spPr>
        <p:txBody>
          <a:bodyPr wrap="square" lIns="0" tIns="0" rIns="0" bIns="0" rtlCol="0" anchor="ctr"/>
          <a:lstStyle/>
          <a:p>
            <a:pPr algn="ctr" indent="0" marL="0">
              <a:buNone/>
            </a:pPr>
            <a:r>
              <a:rPr lang="en-US" sz="3600" b="1" dirty="0">
                <a:solidFill>
                  <a:srgbClr val="CC0000"/>
                </a:solidFill>
                <a:latin typeface="Arial Black" pitchFamily="34" charset="0"/>
                <a:ea typeface="Arial Black" pitchFamily="34" charset="-122"/>
                <a:cs typeface="Arial Black" pitchFamily="34" charset="-120"/>
              </a:rPr>
              <a:t>◫</a:t>
            </a:r>
            <a:endParaRPr lang="en-US" sz="3600" dirty="0"/>
          </a:p>
        </p:txBody>
      </p:sp>
      <p:sp>
        <p:nvSpPr>
          <p:cNvPr id="32" name="Text 30"/>
          <p:cNvSpPr/>
          <p:nvPr/>
        </p:nvSpPr>
        <p:spPr>
          <a:xfrm>
            <a:off x="6492240" y="2587752"/>
            <a:ext cx="1920240" cy="274320"/>
          </a:xfrm>
          <a:prstGeom prst="rect">
            <a:avLst/>
          </a:prstGeom>
          <a:noFill/>
          <a:ln/>
        </p:spPr>
        <p:txBody>
          <a:bodyPr wrap="square" lIns="0" tIns="0" rIns="0" bIns="0" rtlCol="0" anchor="ctr"/>
          <a:lstStyle/>
          <a:p>
            <a:pPr algn="ctr" indent="0" marL="0">
              <a:buNone/>
            </a:pPr>
            <a:r>
              <a:rPr lang="en-US" sz="1300" b="1" dirty="0">
                <a:solidFill>
                  <a:srgbClr val="333333"/>
                </a:solidFill>
                <a:latin typeface="Arial" pitchFamily="34" charset="0"/>
                <a:ea typeface="Arial" pitchFamily="34" charset="-122"/>
                <a:cs typeface="Arial" pitchFamily="34" charset="-120"/>
              </a:rPr>
              <a:t>Advanced Packaging</a:t>
            </a:r>
            <a:endParaRPr lang="en-US" sz="1300" dirty="0"/>
          </a:p>
        </p:txBody>
      </p:sp>
      <p:sp>
        <p:nvSpPr>
          <p:cNvPr id="33" name="Shape 31"/>
          <p:cNvSpPr/>
          <p:nvPr/>
        </p:nvSpPr>
        <p:spPr>
          <a:xfrm>
            <a:off x="6995160" y="2907792"/>
            <a:ext cx="914400" cy="0"/>
          </a:xfrm>
          <a:prstGeom prst="line">
            <a:avLst/>
          </a:prstGeom>
          <a:noFill/>
          <a:ln w="19050">
            <a:solidFill>
              <a:srgbClr val="CC0000"/>
            </a:solidFill>
            <a:prstDash val="solid"/>
          </a:ln>
        </p:spPr>
      </p:sp>
      <p:sp>
        <p:nvSpPr>
          <p:cNvPr id="34" name="Text 32"/>
          <p:cNvSpPr/>
          <p:nvPr/>
        </p:nvSpPr>
        <p:spPr>
          <a:xfrm>
            <a:off x="6601968" y="2999232"/>
            <a:ext cx="1700784" cy="640080"/>
          </a:xfrm>
          <a:prstGeom prst="rect">
            <a:avLst/>
          </a:prstGeom>
          <a:noFill/>
          <a:ln/>
        </p:spPr>
        <p:txBody>
          <a:bodyPr wrap="square" lIns="0" tIns="0" rIns="0" bIns="0" rtlCol="0" anchor="t"/>
          <a:lstStyle/>
          <a:p>
            <a:pPr algn="l" indent="0" marL="0">
              <a:buNone/>
            </a:pPr>
            <a:r>
              <a:rPr lang="en-US" sz="900" dirty="0">
                <a:solidFill>
                  <a:srgbClr val="333333"/>
                </a:solidFill>
                <a:latin typeface="Arial" pitchFamily="34" charset="0"/>
                <a:ea typeface="Arial" pitchFamily="34" charset="-122"/>
                <a:cs typeface="Arial" pitchFamily="34" charset="-120"/>
              </a:rPr>
              <a:t>TSMC's CoWoS step fuses the GPU die to its HBM stack — the only volume supplier, sold out through 2026.</a:t>
            </a:r>
            <a:pPr algn="l" indent="0" marL="0">
              <a:buNone/>
            </a:pPr>
            <a:r>
              <a:rPr lang="en-US" sz="700" baseline="30000" dirty="0">
                <a:solidFill>
                  <a:srgbClr val="CC0000"/>
                </a:solidFill>
                <a:latin typeface="Arial" pitchFamily="34" charset="0"/>
                <a:ea typeface="Arial" pitchFamily="34" charset="-122"/>
                <a:cs typeface="Arial" pitchFamily="34" charset="-120"/>
              </a:rPr>
              <a:t> 4</a:t>
            </a:r>
            <a:endParaRPr lang="en-US" sz="900" dirty="0"/>
          </a:p>
        </p:txBody>
      </p:sp>
      <p:sp>
        <p:nvSpPr>
          <p:cNvPr id="35" name="Text 33"/>
          <p:cNvSpPr/>
          <p:nvPr/>
        </p:nvSpPr>
        <p:spPr>
          <a:xfrm>
            <a:off x="457200" y="3931920"/>
            <a:ext cx="8229600" cy="228600"/>
          </a:xfrm>
          <a:prstGeom prst="rect">
            <a:avLst/>
          </a:prstGeom>
          <a:noFill/>
          <a:ln/>
        </p:spPr>
        <p:txBody>
          <a:bodyPr wrap="square" lIns="0" tIns="0" rIns="0" bIns="0" rtlCol="0" anchor="ctr"/>
          <a:lstStyle/>
          <a:p>
            <a:pPr algn="l" indent="0" marL="0">
              <a:buNone/>
            </a:pPr>
            <a:r>
              <a:rPr lang="en-US" sz="1000" b="1" spc="300" kern="0" dirty="0">
                <a:solidFill>
                  <a:srgbClr val="333333"/>
                </a:solidFill>
                <a:latin typeface="Arial" pitchFamily="34" charset="0"/>
                <a:ea typeface="Arial" pitchFamily="34" charset="-122"/>
                <a:cs typeface="Arial" pitchFamily="34" charset="-120"/>
              </a:rPr>
              <a:t>US RESHORING — WHEN LEADING-EDGE CAPACITY COMES ONLINE</a:t>
            </a:r>
            <a:endParaRPr lang="en-US" sz="1000" dirty="0"/>
          </a:p>
        </p:txBody>
      </p:sp>
      <p:sp>
        <p:nvSpPr>
          <p:cNvPr id="36" name="Shape 34"/>
          <p:cNvSpPr/>
          <p:nvPr/>
        </p:nvSpPr>
        <p:spPr>
          <a:xfrm>
            <a:off x="640080" y="4572000"/>
            <a:ext cx="7863840" cy="0"/>
          </a:xfrm>
          <a:prstGeom prst="line">
            <a:avLst/>
          </a:prstGeom>
          <a:noFill/>
          <a:ln w="19050">
            <a:solidFill>
              <a:srgbClr val="333333"/>
            </a:solidFill>
            <a:prstDash val="solid"/>
          </a:ln>
        </p:spPr>
      </p:sp>
      <p:sp>
        <p:nvSpPr>
          <p:cNvPr id="37" name="Shape 35"/>
          <p:cNvSpPr/>
          <p:nvPr/>
        </p:nvSpPr>
        <p:spPr>
          <a:xfrm>
            <a:off x="566928" y="4498848"/>
            <a:ext cx="146304" cy="146304"/>
          </a:xfrm>
          <a:prstGeom prst="ellipse">
            <a:avLst/>
          </a:prstGeom>
          <a:solidFill>
            <a:srgbClr val="CC0000"/>
          </a:solidFill>
          <a:ln w="12700">
            <a:solidFill>
              <a:srgbClr val="CC0000"/>
            </a:solidFill>
            <a:prstDash val="solid"/>
          </a:ln>
        </p:spPr>
      </p:sp>
      <p:sp>
        <p:nvSpPr>
          <p:cNvPr id="38" name="Text 36"/>
          <p:cNvSpPr/>
          <p:nvPr/>
        </p:nvSpPr>
        <p:spPr>
          <a:xfrm>
            <a:off x="457200" y="4206240"/>
            <a:ext cx="1280160" cy="274320"/>
          </a:xfrm>
          <a:prstGeom prst="rect">
            <a:avLst/>
          </a:prstGeom>
          <a:noFill/>
          <a:ln/>
        </p:spPr>
        <p:txBody>
          <a:bodyPr wrap="square" lIns="0" tIns="0" rIns="0" bIns="0" rtlCol="0" anchor="b"/>
          <a:lstStyle/>
          <a:p>
            <a:pPr algn="l" indent="0" marL="0">
              <a:buNone/>
            </a:pPr>
            <a:r>
              <a:rPr lang="en-US" sz="1000" b="1" dirty="0">
                <a:solidFill>
                  <a:srgbClr val="333333"/>
                </a:solidFill>
                <a:latin typeface="Arial" pitchFamily="34" charset="0"/>
                <a:ea typeface="Arial" pitchFamily="34" charset="-122"/>
                <a:cs typeface="Arial" pitchFamily="34" charset="-120"/>
              </a:rPr>
              <a:t>TSMC AZ Fab 1</a:t>
            </a:r>
            <a:endParaRPr lang="en-US" sz="1000" dirty="0"/>
          </a:p>
        </p:txBody>
      </p:sp>
      <p:sp>
        <p:nvSpPr>
          <p:cNvPr id="39" name="Text 37"/>
          <p:cNvSpPr/>
          <p:nvPr/>
        </p:nvSpPr>
        <p:spPr>
          <a:xfrm>
            <a:off x="365760" y="4709160"/>
            <a:ext cx="640080" cy="228600"/>
          </a:xfrm>
          <a:prstGeom prst="rect">
            <a:avLst/>
          </a:prstGeom>
          <a:noFill/>
          <a:ln/>
        </p:spPr>
        <p:txBody>
          <a:bodyPr wrap="square" lIns="0" tIns="0" rIns="0" bIns="0" rtlCol="0" anchor="t"/>
          <a:lstStyle/>
          <a:p>
            <a:pPr algn="l" indent="0" marL="0">
              <a:buNone/>
            </a:pPr>
            <a:r>
              <a:rPr lang="en-US" sz="1000" b="1" dirty="0">
                <a:solidFill>
                  <a:srgbClr val="CC0000"/>
                </a:solidFill>
                <a:latin typeface="Arial" pitchFamily="34" charset="0"/>
                <a:ea typeface="Arial" pitchFamily="34" charset="-122"/>
                <a:cs typeface="Arial" pitchFamily="34" charset="-120"/>
              </a:rPr>
              <a:t>2025</a:t>
            </a:r>
            <a:endParaRPr lang="en-US" sz="1000" dirty="0"/>
          </a:p>
        </p:txBody>
      </p:sp>
      <p:sp>
        <p:nvSpPr>
          <p:cNvPr id="40" name="Shape 38"/>
          <p:cNvSpPr/>
          <p:nvPr/>
        </p:nvSpPr>
        <p:spPr>
          <a:xfrm>
            <a:off x="2532888" y="4498848"/>
            <a:ext cx="146304" cy="146304"/>
          </a:xfrm>
          <a:prstGeom prst="ellipse">
            <a:avLst/>
          </a:prstGeom>
          <a:solidFill>
            <a:srgbClr val="CC0000"/>
          </a:solidFill>
          <a:ln w="12700">
            <a:solidFill>
              <a:srgbClr val="CC0000"/>
            </a:solidFill>
            <a:prstDash val="solid"/>
          </a:ln>
        </p:spPr>
      </p:sp>
      <p:sp>
        <p:nvSpPr>
          <p:cNvPr id="41" name="Text 39"/>
          <p:cNvSpPr/>
          <p:nvPr/>
        </p:nvSpPr>
        <p:spPr>
          <a:xfrm>
            <a:off x="1828800" y="4206240"/>
            <a:ext cx="1554480" cy="274320"/>
          </a:xfrm>
          <a:prstGeom prst="rect">
            <a:avLst/>
          </a:prstGeom>
          <a:noFill/>
          <a:ln/>
        </p:spPr>
        <p:txBody>
          <a:bodyPr wrap="square" lIns="0" tIns="0" rIns="0" bIns="0" rtlCol="0" anchor="b"/>
          <a:lstStyle/>
          <a:p>
            <a:pPr algn="ctr" indent="0" marL="0">
              <a:buNone/>
            </a:pPr>
            <a:r>
              <a:rPr lang="en-US" sz="1000" b="1" dirty="0">
                <a:solidFill>
                  <a:srgbClr val="333333"/>
                </a:solidFill>
                <a:latin typeface="Arial" pitchFamily="34" charset="0"/>
                <a:ea typeface="Arial" pitchFamily="34" charset="-122"/>
                <a:cs typeface="Arial" pitchFamily="34" charset="-120"/>
              </a:rPr>
              <a:t>Samsung Taylor</a:t>
            </a:r>
            <a:endParaRPr lang="en-US" sz="1000" dirty="0"/>
          </a:p>
        </p:txBody>
      </p:sp>
      <p:sp>
        <p:nvSpPr>
          <p:cNvPr id="42" name="Text 40"/>
          <p:cNvSpPr/>
          <p:nvPr/>
        </p:nvSpPr>
        <p:spPr>
          <a:xfrm>
            <a:off x="2240280" y="4709160"/>
            <a:ext cx="731520" cy="228600"/>
          </a:xfrm>
          <a:prstGeom prst="rect">
            <a:avLst/>
          </a:prstGeom>
          <a:noFill/>
          <a:ln/>
        </p:spPr>
        <p:txBody>
          <a:bodyPr wrap="square" lIns="0" tIns="0" rIns="0" bIns="0" rtlCol="0" anchor="t"/>
          <a:lstStyle/>
          <a:p>
            <a:pPr algn="ctr" indent="0" marL="0">
              <a:buNone/>
            </a:pPr>
            <a:r>
              <a:rPr lang="en-US" sz="1000" b="1" dirty="0">
                <a:solidFill>
                  <a:srgbClr val="CC0000"/>
                </a:solidFill>
                <a:latin typeface="Arial" pitchFamily="34" charset="0"/>
                <a:ea typeface="Arial" pitchFamily="34" charset="-122"/>
                <a:cs typeface="Arial" pitchFamily="34" charset="-120"/>
              </a:rPr>
              <a:t>2026</a:t>
            </a:r>
            <a:endParaRPr lang="en-US" sz="1000" dirty="0"/>
          </a:p>
        </p:txBody>
      </p:sp>
      <p:sp>
        <p:nvSpPr>
          <p:cNvPr id="43" name="Shape 41"/>
          <p:cNvSpPr/>
          <p:nvPr/>
        </p:nvSpPr>
        <p:spPr>
          <a:xfrm>
            <a:off x="4498848" y="4498848"/>
            <a:ext cx="146304" cy="146304"/>
          </a:xfrm>
          <a:prstGeom prst="ellipse">
            <a:avLst/>
          </a:prstGeom>
          <a:solidFill>
            <a:srgbClr val="CC0000"/>
          </a:solidFill>
          <a:ln w="12700">
            <a:solidFill>
              <a:srgbClr val="CC0000"/>
            </a:solidFill>
            <a:prstDash val="solid"/>
          </a:ln>
        </p:spPr>
      </p:sp>
      <p:sp>
        <p:nvSpPr>
          <p:cNvPr id="44" name="Text 42"/>
          <p:cNvSpPr/>
          <p:nvPr/>
        </p:nvSpPr>
        <p:spPr>
          <a:xfrm>
            <a:off x="3794760" y="4206240"/>
            <a:ext cx="1554480" cy="274320"/>
          </a:xfrm>
          <a:prstGeom prst="rect">
            <a:avLst/>
          </a:prstGeom>
          <a:noFill/>
          <a:ln/>
        </p:spPr>
        <p:txBody>
          <a:bodyPr wrap="square" lIns="0" tIns="0" rIns="0" bIns="0" rtlCol="0" anchor="b"/>
          <a:lstStyle/>
          <a:p>
            <a:pPr algn="ctr" indent="0" marL="0">
              <a:buNone/>
            </a:pPr>
            <a:r>
              <a:rPr lang="en-US" sz="1000" b="1" dirty="0">
                <a:solidFill>
                  <a:srgbClr val="333333"/>
                </a:solidFill>
                <a:latin typeface="Arial" pitchFamily="34" charset="0"/>
                <a:ea typeface="Arial" pitchFamily="34" charset="-122"/>
                <a:cs typeface="Arial" pitchFamily="34" charset="-120"/>
              </a:rPr>
              <a:t>TSMC AZ Fab 2</a:t>
            </a:r>
            <a:endParaRPr lang="en-US" sz="1000" dirty="0"/>
          </a:p>
        </p:txBody>
      </p:sp>
      <p:sp>
        <p:nvSpPr>
          <p:cNvPr id="45" name="Text 43"/>
          <p:cNvSpPr/>
          <p:nvPr/>
        </p:nvSpPr>
        <p:spPr>
          <a:xfrm>
            <a:off x="4206240" y="4709160"/>
            <a:ext cx="731520" cy="228600"/>
          </a:xfrm>
          <a:prstGeom prst="rect">
            <a:avLst/>
          </a:prstGeom>
          <a:noFill/>
          <a:ln/>
        </p:spPr>
        <p:txBody>
          <a:bodyPr wrap="square" lIns="0" tIns="0" rIns="0" bIns="0" rtlCol="0" anchor="t"/>
          <a:lstStyle/>
          <a:p>
            <a:pPr algn="ctr" indent="0" marL="0">
              <a:buNone/>
            </a:pPr>
            <a:r>
              <a:rPr lang="en-US" sz="1000" b="1" dirty="0">
                <a:solidFill>
                  <a:srgbClr val="CC0000"/>
                </a:solidFill>
                <a:latin typeface="Arial" pitchFamily="34" charset="0"/>
                <a:ea typeface="Arial" pitchFamily="34" charset="-122"/>
                <a:cs typeface="Arial" pitchFamily="34" charset="-120"/>
              </a:rPr>
              <a:t>2027</a:t>
            </a:r>
            <a:endParaRPr lang="en-US" sz="1000" dirty="0"/>
          </a:p>
        </p:txBody>
      </p:sp>
      <p:sp>
        <p:nvSpPr>
          <p:cNvPr id="46" name="Shape 44"/>
          <p:cNvSpPr/>
          <p:nvPr/>
        </p:nvSpPr>
        <p:spPr>
          <a:xfrm>
            <a:off x="6464808" y="4498848"/>
            <a:ext cx="146304" cy="146304"/>
          </a:xfrm>
          <a:prstGeom prst="ellipse">
            <a:avLst/>
          </a:prstGeom>
          <a:solidFill>
            <a:srgbClr val="CC0000"/>
          </a:solidFill>
          <a:ln w="12700">
            <a:solidFill>
              <a:srgbClr val="CC0000"/>
            </a:solidFill>
            <a:prstDash val="solid"/>
          </a:ln>
        </p:spPr>
      </p:sp>
      <p:sp>
        <p:nvSpPr>
          <p:cNvPr id="47" name="Text 45"/>
          <p:cNvSpPr/>
          <p:nvPr/>
        </p:nvSpPr>
        <p:spPr>
          <a:xfrm>
            <a:off x="5760720" y="4206240"/>
            <a:ext cx="1554480" cy="274320"/>
          </a:xfrm>
          <a:prstGeom prst="rect">
            <a:avLst/>
          </a:prstGeom>
          <a:noFill/>
          <a:ln/>
        </p:spPr>
        <p:txBody>
          <a:bodyPr wrap="square" lIns="0" tIns="0" rIns="0" bIns="0" rtlCol="0" anchor="b"/>
          <a:lstStyle/>
          <a:p>
            <a:pPr algn="ctr" indent="0" marL="0">
              <a:buNone/>
            </a:pPr>
            <a:r>
              <a:rPr lang="en-US" sz="1000" b="1" dirty="0">
                <a:solidFill>
                  <a:srgbClr val="333333"/>
                </a:solidFill>
                <a:latin typeface="Arial" pitchFamily="34" charset="0"/>
                <a:ea typeface="Arial" pitchFamily="34" charset="-122"/>
                <a:cs typeface="Arial" pitchFamily="34" charset="-120"/>
              </a:rPr>
              <a:t>Intel Ohio</a:t>
            </a:r>
            <a:endParaRPr lang="en-US" sz="1000" dirty="0"/>
          </a:p>
        </p:txBody>
      </p:sp>
      <p:sp>
        <p:nvSpPr>
          <p:cNvPr id="48" name="Text 46"/>
          <p:cNvSpPr/>
          <p:nvPr/>
        </p:nvSpPr>
        <p:spPr>
          <a:xfrm>
            <a:off x="6172200" y="4709160"/>
            <a:ext cx="731520" cy="228600"/>
          </a:xfrm>
          <a:prstGeom prst="rect">
            <a:avLst/>
          </a:prstGeom>
          <a:noFill/>
          <a:ln/>
        </p:spPr>
        <p:txBody>
          <a:bodyPr wrap="square" lIns="0" tIns="0" rIns="0" bIns="0" rtlCol="0" anchor="t"/>
          <a:lstStyle/>
          <a:p>
            <a:pPr algn="ctr" indent="0" marL="0">
              <a:buNone/>
            </a:pPr>
            <a:r>
              <a:rPr lang="en-US" sz="1000" b="1" dirty="0">
                <a:solidFill>
                  <a:srgbClr val="CC0000"/>
                </a:solidFill>
                <a:latin typeface="Arial" pitchFamily="34" charset="0"/>
                <a:ea typeface="Arial" pitchFamily="34" charset="-122"/>
                <a:cs typeface="Arial" pitchFamily="34" charset="-120"/>
              </a:rPr>
              <a:t>2028</a:t>
            </a:r>
            <a:endParaRPr lang="en-US" sz="1000" dirty="0"/>
          </a:p>
        </p:txBody>
      </p:sp>
      <p:sp>
        <p:nvSpPr>
          <p:cNvPr id="49" name="Shape 47"/>
          <p:cNvSpPr/>
          <p:nvPr/>
        </p:nvSpPr>
        <p:spPr>
          <a:xfrm>
            <a:off x="8430768" y="4498848"/>
            <a:ext cx="146304" cy="146304"/>
          </a:xfrm>
          <a:prstGeom prst="ellipse">
            <a:avLst/>
          </a:prstGeom>
          <a:solidFill>
            <a:srgbClr val="CC0000"/>
          </a:solidFill>
          <a:ln w="12700">
            <a:solidFill>
              <a:srgbClr val="CC0000"/>
            </a:solidFill>
            <a:prstDash val="solid"/>
          </a:ln>
        </p:spPr>
      </p:sp>
      <p:sp>
        <p:nvSpPr>
          <p:cNvPr id="50" name="Text 48"/>
          <p:cNvSpPr/>
          <p:nvPr/>
        </p:nvSpPr>
        <p:spPr>
          <a:xfrm>
            <a:off x="7406640" y="4206240"/>
            <a:ext cx="1280160" cy="274320"/>
          </a:xfrm>
          <a:prstGeom prst="rect">
            <a:avLst/>
          </a:prstGeom>
          <a:noFill/>
          <a:ln/>
        </p:spPr>
        <p:txBody>
          <a:bodyPr wrap="square" lIns="0" tIns="0" rIns="0" bIns="0" rtlCol="0" anchor="b"/>
          <a:lstStyle/>
          <a:p>
            <a:pPr algn="r" indent="0" marL="0">
              <a:buNone/>
            </a:pPr>
            <a:r>
              <a:rPr lang="en-US" sz="1000" b="1" dirty="0">
                <a:solidFill>
                  <a:srgbClr val="333333"/>
                </a:solidFill>
                <a:latin typeface="Arial" pitchFamily="34" charset="0"/>
                <a:ea typeface="Arial" pitchFamily="34" charset="-122"/>
                <a:cs typeface="Arial" pitchFamily="34" charset="-120"/>
              </a:rPr>
              <a:t>Micron Clay NY</a:t>
            </a:r>
            <a:endParaRPr lang="en-US" sz="1000" dirty="0"/>
          </a:p>
        </p:txBody>
      </p:sp>
      <p:sp>
        <p:nvSpPr>
          <p:cNvPr id="51" name="Text 49"/>
          <p:cNvSpPr/>
          <p:nvPr/>
        </p:nvSpPr>
        <p:spPr>
          <a:xfrm>
            <a:off x="7955280" y="4709160"/>
            <a:ext cx="731520" cy="228600"/>
          </a:xfrm>
          <a:prstGeom prst="rect">
            <a:avLst/>
          </a:prstGeom>
          <a:noFill/>
          <a:ln/>
        </p:spPr>
        <p:txBody>
          <a:bodyPr wrap="square" lIns="0" tIns="0" rIns="0" bIns="0" rtlCol="0" anchor="t"/>
          <a:lstStyle/>
          <a:p>
            <a:pPr algn="r" indent="0" marL="0">
              <a:buNone/>
            </a:pPr>
            <a:r>
              <a:rPr lang="en-US" sz="1000" b="1" dirty="0">
                <a:solidFill>
                  <a:srgbClr val="CC0000"/>
                </a:solidFill>
                <a:latin typeface="Arial" pitchFamily="34" charset="0"/>
                <a:ea typeface="Arial" pitchFamily="34" charset="-122"/>
                <a:cs typeface="Arial" pitchFamily="34" charset="-120"/>
              </a:rPr>
              <a:t>2030+</a:t>
            </a:r>
            <a:endParaRPr lang="en-US" sz="1000" dirty="0"/>
          </a:p>
        </p:txBody>
      </p:sp>
      <p:sp>
        <p:nvSpPr>
          <p:cNvPr id="52" name="Text 50"/>
          <p:cNvSpPr/>
          <p:nvPr/>
        </p:nvSpPr>
        <p:spPr>
          <a:xfrm>
            <a:off x="457200" y="5349240"/>
            <a:ext cx="8229600" cy="274320"/>
          </a:xfrm>
          <a:prstGeom prst="rect">
            <a:avLst/>
          </a:prstGeom>
          <a:noFill/>
          <a:ln/>
        </p:spPr>
        <p:txBody>
          <a:bodyPr wrap="square" lIns="0" tIns="0" rIns="0" bIns="0" rtlCol="0" anchor="ctr"/>
          <a:lstStyle/>
          <a:p>
            <a:pPr algn="ctr" indent="0" marL="0">
              <a:buNone/>
            </a:pPr>
            <a:r>
              <a:rPr lang="en-US" sz="950" i="1" dirty="0">
                <a:solidFill>
                  <a:srgbClr val="666666"/>
                </a:solidFill>
                <a:latin typeface="Arial" pitchFamily="34" charset="0"/>
                <a:ea typeface="Arial" pitchFamily="34" charset="-122"/>
                <a:cs typeface="Arial" pitchFamily="34" charset="-120"/>
              </a:rPr>
              <a:t>Each link is single-sourced — and there is no spare capacity in the chain to absorb a shock at any one of them.</a:t>
            </a:r>
            <a:endParaRPr lang="en-US" sz="950" dirty="0"/>
          </a:p>
        </p:txBody>
      </p:sp>
      <p:sp>
        <p:nvSpPr>
          <p:cNvPr id="53" name="Text 51"/>
          <p:cNvSpPr/>
          <p:nvPr/>
        </p:nvSpPr>
        <p:spPr>
          <a:xfrm>
            <a:off x="457200" y="5875020"/>
            <a:ext cx="8229600" cy="457200"/>
          </a:xfrm>
          <a:prstGeom prst="rect">
            <a:avLst/>
          </a:prstGeom>
          <a:noFill/>
          <a:ln/>
        </p:spPr>
        <p:txBody>
          <a:bodyPr wrap="square" lIns="0" tIns="0" rIns="0" bIns="0" rtlCol="0" anchor="t"/>
          <a:lstStyle/>
          <a:p>
            <a:pPr indent="0" marL="0">
              <a:buNone/>
            </a:pPr>
            <a:r>
              <a:rPr lang="en-US" sz="700" b="1" dirty="0">
                <a:solidFill>
                  <a:srgbClr val="999999"/>
                </a:solidFill>
                <a:latin typeface="Arial" pitchFamily="34" charset="0"/>
                <a:ea typeface="Arial" pitchFamily="34" charset="-122"/>
                <a:cs typeface="Arial" pitchFamily="34" charset="-120"/>
              </a:rPr>
              <a:t>(1) </a:t>
            </a:r>
            <a:pPr indent="0" marL="0">
              <a:buNone/>
            </a:pPr>
            <a:r>
              <a:rPr lang="en-US" sz="700" dirty="0">
                <a:solidFill>
                  <a:srgbClr val="999999"/>
                </a:solidFill>
                <a:latin typeface="Arial" pitchFamily="34" charset="0"/>
                <a:ea typeface="Arial" pitchFamily="34" charset="-122"/>
                <a:cs typeface="Arial" pitchFamily="34" charset="-120"/>
              </a:rPr>
              <a:t>ASML 2025 annual report, </a:t>
            </a:r>
            <a:pPr indent="0" marL="0">
              <a:buNone/>
            </a:pPr>
            <a:r>
              <a:rPr lang="en-US" sz="700" b="1" dirty="0">
                <a:solidFill>
                  <a:srgbClr val="999999"/>
                </a:solidFill>
                <a:latin typeface="Arial" pitchFamily="34" charset="0"/>
                <a:ea typeface="Arial" pitchFamily="34" charset="-122"/>
                <a:cs typeface="Arial" pitchFamily="34" charset="-120"/>
              </a:rPr>
              <a:t>(2) </a:t>
            </a:r>
            <a:pPr indent="0" marL="0">
              <a:buNone/>
            </a:pPr>
            <a:r>
              <a:rPr lang="en-US" sz="700" dirty="0">
                <a:solidFill>
                  <a:srgbClr val="999999"/>
                </a:solidFill>
                <a:latin typeface="Arial" pitchFamily="34" charset="0"/>
                <a:ea typeface="Arial" pitchFamily="34" charset="-122"/>
                <a:cs typeface="Arial" pitchFamily="34" charset="-120"/>
              </a:rPr>
              <a:t>TrendForce / Counterpoint, 2025, </a:t>
            </a:r>
            <a:pPr indent="0" marL="0">
              <a:buNone/>
            </a:pPr>
            <a:r>
              <a:rPr lang="en-US" sz="700" b="1" dirty="0">
                <a:solidFill>
                  <a:srgbClr val="999999"/>
                </a:solidFill>
                <a:latin typeface="Arial" pitchFamily="34" charset="0"/>
                <a:ea typeface="Arial" pitchFamily="34" charset="-122"/>
                <a:cs typeface="Arial" pitchFamily="34" charset="-120"/>
              </a:rPr>
              <a:t>(3) </a:t>
            </a:r>
            <a:pPr indent="0" marL="0">
              <a:buNone/>
            </a:pPr>
            <a:r>
              <a:rPr lang="en-US" sz="700" dirty="0">
                <a:solidFill>
                  <a:srgbClr val="999999"/>
                </a:solidFill>
                <a:latin typeface="Arial" pitchFamily="34" charset="0"/>
                <a:ea typeface="Arial" pitchFamily="34" charset="-122"/>
                <a:cs typeface="Arial" pitchFamily="34" charset="-120"/>
              </a:rPr>
              <a:t>TrendForce HBM tracker; SK Hynix Q1 2026 commentary, </a:t>
            </a:r>
            <a:pPr indent="0" marL="0">
              <a:buNone/>
            </a:pPr>
            <a:r>
              <a:rPr lang="en-US" sz="700" b="1" dirty="0">
                <a:solidFill>
                  <a:srgbClr val="999999"/>
                </a:solidFill>
                <a:latin typeface="Arial" pitchFamily="34" charset="0"/>
                <a:ea typeface="Arial" pitchFamily="34" charset="-122"/>
                <a:cs typeface="Arial" pitchFamily="34" charset="-120"/>
              </a:rPr>
              <a:t>(4) </a:t>
            </a:r>
            <a:pPr indent="0" marL="0">
              <a:buNone/>
            </a:pPr>
            <a:r>
              <a:rPr lang="en-US" sz="700" dirty="0">
                <a:solidFill>
                  <a:srgbClr val="999999"/>
                </a:solidFill>
                <a:latin typeface="Arial" pitchFamily="34" charset="0"/>
                <a:ea typeface="Arial" pitchFamily="34" charset="-122"/>
                <a:cs typeface="Arial" pitchFamily="34" charset="-120"/>
              </a:rPr>
              <a:t>TSMC Q4 2025 earnings commentary.</a:t>
            </a:r>
            <a:endParaRPr lang="en-US" sz="700" dirty="0"/>
          </a:p>
        </p:txBody>
      </p:sp>
      <p:sp>
        <p:nvSpPr>
          <p:cNvPr id="54" name="Shape 52"/>
          <p:cNvSpPr/>
          <p:nvPr/>
        </p:nvSpPr>
        <p:spPr>
          <a:xfrm>
            <a:off x="0" y="6286500"/>
            <a:ext cx="9144000" cy="571500"/>
          </a:xfrm>
          <a:prstGeom prst="rect">
            <a:avLst/>
          </a:prstGeom>
          <a:solidFill>
            <a:srgbClr val="000000"/>
          </a:solidFill>
          <a:ln w="12700">
            <a:solidFill>
              <a:srgbClr val="000000"/>
            </a:solidFill>
            <a:prstDash val="solid"/>
          </a:ln>
        </p:spPr>
      </p:sp>
      <p:sp>
        <p:nvSpPr>
          <p:cNvPr id="55" name="Text 53"/>
          <p:cNvSpPr/>
          <p:nvPr/>
        </p:nvSpPr>
        <p:spPr>
          <a:xfrm>
            <a:off x="1371600" y="6332220"/>
            <a:ext cx="6400800" cy="457200"/>
          </a:xfrm>
          <a:prstGeom prst="rect">
            <a:avLst/>
          </a:prstGeom>
          <a:noFill/>
          <a:ln/>
        </p:spPr>
        <p:txBody>
          <a:bodyPr wrap="square" lIns="0" tIns="0" rIns="0" bIns="0" rtlCol="0" anchor="ctr"/>
          <a:lstStyle/>
          <a:p>
            <a:pPr algn="ctr" indent="0" marL="0">
              <a:buNone/>
            </a:pPr>
            <a:r>
              <a:rPr lang="en-US" sz="650" b="1" dirty="0">
                <a:solidFill>
                  <a:srgbClr val="FFFFFF"/>
                </a:solidFill>
                <a:latin typeface="Arial" pitchFamily="34" charset="0"/>
                <a:ea typeface="Arial" pitchFamily="34" charset="-122"/>
                <a:cs typeface="Arial" pitchFamily="34" charset="-120"/>
              </a:rPr>
              <a:t>FOR INFORMATIONAL PURPOSES ONLY. NOT INVESTMENT ADVICE. PAST PERFORMANCE IS NOT INDICATIVE OF FUTURE RESULTS.</a:t>
            </a:r>
            <a:endParaRPr lang="en-US" sz="650" dirty="0"/>
          </a:p>
        </p:txBody>
      </p:sp>
      <p:sp>
        <p:nvSpPr>
          <p:cNvPr id="56" name="Text 54"/>
          <p:cNvSpPr/>
          <p:nvPr/>
        </p:nvSpPr>
        <p:spPr>
          <a:xfrm>
            <a:off x="8321040" y="6405372"/>
            <a:ext cx="548640" cy="274320"/>
          </a:xfrm>
          <a:prstGeom prst="rect">
            <a:avLst/>
          </a:prstGeom>
          <a:noFill/>
          <a:ln/>
        </p:spPr>
        <p:txBody>
          <a:bodyPr wrap="square" lIns="0" tIns="0" rIns="0" bIns="0" rtlCol="0" anchor="ctr"/>
          <a:lstStyle/>
          <a:p>
            <a:pPr algn="r" indent="0" marL="0">
              <a:buNone/>
            </a:pPr>
            <a:r>
              <a:rPr lang="en-US" sz="900" dirty="0">
                <a:solidFill>
                  <a:srgbClr val="FFFFFF"/>
                </a:solidFill>
                <a:latin typeface="Arial" pitchFamily="34" charset="0"/>
                <a:ea typeface="Arial" pitchFamily="34" charset="-122"/>
                <a:cs typeface="Arial" pitchFamily="34" charset="-120"/>
              </a:rPr>
              <a:t>16</a:t>
            </a:r>
            <a:endParaRPr lang="en-US" sz="9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Shape 0"/>
          <p:cNvSpPr/>
          <p:nvPr/>
        </p:nvSpPr>
        <p:spPr>
          <a:xfrm>
            <a:off x="7132320" y="164592"/>
            <a:ext cx="1737360" cy="292608"/>
          </a:xfrm>
          <a:prstGeom prst="roundRect">
            <a:avLst>
              <a:gd name="adj" fmla="val 15625"/>
            </a:avLst>
          </a:prstGeom>
          <a:solidFill>
            <a:srgbClr val="CC0000"/>
          </a:solidFill>
          <a:ln w="12700">
            <a:solidFill>
              <a:srgbClr val="CC0000"/>
            </a:solidFill>
            <a:prstDash val="solid"/>
          </a:ln>
        </p:spPr>
      </p:sp>
      <p:sp>
        <p:nvSpPr>
          <p:cNvPr id="3" name="Text 1"/>
          <p:cNvSpPr/>
          <p:nvPr/>
        </p:nvSpPr>
        <p:spPr>
          <a:xfrm>
            <a:off x="7132320" y="164592"/>
            <a:ext cx="1737360" cy="292608"/>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Arial" pitchFamily="34" charset="0"/>
                <a:ea typeface="Arial" pitchFamily="34" charset="-122"/>
                <a:cs typeface="Arial" pitchFamily="34" charset="-120"/>
              </a:rPr>
              <a:t>RISKS</a:t>
            </a:r>
            <a:endParaRPr lang="en-US" sz="1000" dirty="0"/>
          </a:p>
        </p:txBody>
      </p:sp>
      <p:sp>
        <p:nvSpPr>
          <p:cNvPr id="4" name="Text 2"/>
          <p:cNvSpPr/>
          <p:nvPr/>
        </p:nvSpPr>
        <p:spPr>
          <a:xfrm>
            <a:off x="457200" y="182880"/>
            <a:ext cx="6583680" cy="685800"/>
          </a:xfrm>
          <a:prstGeom prst="rect">
            <a:avLst/>
          </a:prstGeom>
          <a:noFill/>
          <a:ln/>
        </p:spPr>
        <p:txBody>
          <a:bodyPr wrap="square" lIns="0" tIns="0" rIns="0" bIns="0" rtlCol="0" anchor="t"/>
          <a:lstStyle/>
          <a:p>
            <a:pPr indent="0" marL="0">
              <a:buNone/>
            </a:pPr>
            <a:r>
              <a:rPr lang="en-US" sz="2400" b="1" dirty="0">
                <a:solidFill>
                  <a:srgbClr val="000000"/>
                </a:solidFill>
                <a:latin typeface="Arial Black" pitchFamily="34" charset="0"/>
                <a:ea typeface="Arial Black" pitchFamily="34" charset="-122"/>
                <a:cs typeface="Arial Black" pitchFamily="34" charset="-120"/>
              </a:rPr>
              <a:t>Export controls, EU rules, and rare-earths decide who sells what</a:t>
            </a:r>
            <a:endParaRPr lang="en-US" sz="2400" dirty="0"/>
          </a:p>
        </p:txBody>
      </p:sp>
      <p:sp>
        <p:nvSpPr>
          <p:cNvPr id="5" name="Text 3"/>
          <p:cNvSpPr/>
          <p:nvPr/>
        </p:nvSpPr>
        <p:spPr>
          <a:xfrm>
            <a:off x="457200" y="914400"/>
            <a:ext cx="8229600" cy="457200"/>
          </a:xfrm>
          <a:prstGeom prst="rect">
            <a:avLst/>
          </a:prstGeom>
          <a:noFill/>
          <a:ln/>
        </p:spPr>
        <p:txBody>
          <a:bodyPr wrap="square" lIns="0" tIns="0" rIns="0" bIns="0" rtlCol="0" anchor="t"/>
          <a:lstStyle/>
          <a:p>
            <a:pPr indent="0" marL="0">
              <a:buNone/>
            </a:pPr>
            <a:r>
              <a:rPr lang="en-US" sz="1350" dirty="0">
                <a:solidFill>
                  <a:srgbClr val="666666"/>
                </a:solidFill>
                <a:latin typeface="Arial" pitchFamily="34" charset="0"/>
                <a:ea typeface="Arial" pitchFamily="34" charset="-122"/>
                <a:cs typeface="Arial" pitchFamily="34" charset="-120"/>
              </a:rPr>
              <a:t>Export controls, EU compliance, and reshoring subsidies now decide who can sell what, to whom, from where.</a:t>
            </a:r>
            <a:endParaRPr lang="en-US" sz="1350" dirty="0"/>
          </a:p>
        </p:txBody>
      </p:sp>
      <p:sp>
        <p:nvSpPr>
          <p:cNvPr id="6" name="Shape 4"/>
          <p:cNvSpPr/>
          <p:nvPr/>
        </p:nvSpPr>
        <p:spPr>
          <a:xfrm>
            <a:off x="457200" y="1325880"/>
            <a:ext cx="8229600" cy="0"/>
          </a:xfrm>
          <a:prstGeom prst="line">
            <a:avLst/>
          </a:prstGeom>
          <a:noFill/>
          <a:ln w="9525">
            <a:solidFill>
              <a:srgbClr val="E5E5E5"/>
            </a:solidFill>
            <a:prstDash val="solid"/>
          </a:ln>
        </p:spPr>
      </p:sp>
      <p:sp>
        <p:nvSpPr>
          <p:cNvPr id="7" name="Shape 5"/>
          <p:cNvSpPr/>
          <p:nvPr/>
        </p:nvSpPr>
        <p:spPr>
          <a:xfrm>
            <a:off x="457200" y="1783080"/>
            <a:ext cx="2560320" cy="411480"/>
          </a:xfrm>
          <a:prstGeom prst="rect">
            <a:avLst/>
          </a:prstGeom>
          <a:solidFill>
            <a:srgbClr val="CC0000"/>
          </a:solidFill>
          <a:ln w="12700">
            <a:solidFill>
              <a:srgbClr val="CC0000"/>
            </a:solidFill>
            <a:prstDash val="solid"/>
          </a:ln>
        </p:spPr>
      </p:sp>
      <p:sp>
        <p:nvSpPr>
          <p:cNvPr id="8" name="Text 6"/>
          <p:cNvSpPr/>
          <p:nvPr/>
        </p:nvSpPr>
        <p:spPr>
          <a:xfrm>
            <a:off x="457200" y="1783080"/>
            <a:ext cx="2560320" cy="411480"/>
          </a:xfrm>
          <a:prstGeom prst="rect">
            <a:avLst/>
          </a:prstGeom>
          <a:noFill/>
          <a:ln/>
        </p:spPr>
        <p:txBody>
          <a:bodyPr wrap="square" lIns="0" tIns="0" rIns="0" bIns="0" rtlCol="0" anchor="ctr"/>
          <a:lstStyle/>
          <a:p>
            <a:pPr algn="ctr" indent="0" marL="0">
              <a:buNone/>
            </a:pPr>
            <a:r>
              <a:rPr lang="en-US" sz="1150" b="1" spc="200" kern="0" dirty="0">
                <a:solidFill>
                  <a:srgbClr val="FFFFFF"/>
                </a:solidFill>
                <a:latin typeface="Arial" pitchFamily="34" charset="0"/>
                <a:ea typeface="Arial" pitchFamily="34" charset="-122"/>
                <a:cs typeface="Arial" pitchFamily="34" charset="-120"/>
              </a:rPr>
              <a:t>EXPORT CONTROLS</a:t>
            </a:r>
            <a:endParaRPr lang="en-US" sz="1150" dirty="0"/>
          </a:p>
        </p:txBody>
      </p:sp>
      <p:sp>
        <p:nvSpPr>
          <p:cNvPr id="9" name="Shape 7"/>
          <p:cNvSpPr/>
          <p:nvPr/>
        </p:nvSpPr>
        <p:spPr>
          <a:xfrm>
            <a:off x="457200" y="2194560"/>
            <a:ext cx="2560320" cy="3474720"/>
          </a:xfrm>
          <a:prstGeom prst="rect">
            <a:avLst/>
          </a:prstGeom>
          <a:solidFill>
            <a:srgbClr val="F9F9F9"/>
          </a:solidFill>
          <a:ln w="6350">
            <a:solidFill>
              <a:srgbClr val="E5E5E5"/>
            </a:solidFill>
            <a:prstDash val="solid"/>
          </a:ln>
        </p:spPr>
      </p:sp>
      <p:sp>
        <p:nvSpPr>
          <p:cNvPr id="10" name="Text 8"/>
          <p:cNvSpPr/>
          <p:nvPr/>
        </p:nvSpPr>
        <p:spPr>
          <a:xfrm>
            <a:off x="457200" y="2331720"/>
            <a:ext cx="2560320" cy="914400"/>
          </a:xfrm>
          <a:prstGeom prst="rect">
            <a:avLst/>
          </a:prstGeom>
          <a:noFill/>
          <a:ln/>
        </p:spPr>
        <p:txBody>
          <a:bodyPr wrap="square" lIns="0" tIns="0" rIns="0" bIns="0" rtlCol="0" anchor="ctr"/>
          <a:lstStyle/>
          <a:p>
            <a:pPr algn="ctr" indent="0" marL="0">
              <a:buNone/>
            </a:pPr>
            <a:r>
              <a:rPr lang="en-US" sz="4800" b="1" dirty="0">
                <a:solidFill>
                  <a:srgbClr val="CC0000"/>
                </a:solidFill>
                <a:latin typeface="Arial Black" pitchFamily="34" charset="0"/>
                <a:ea typeface="Arial Black" pitchFamily="34" charset="-122"/>
                <a:cs typeface="Arial Black" pitchFamily="34" charset="-120"/>
              </a:rPr>
              <a:t>▣</a:t>
            </a:r>
            <a:endParaRPr lang="en-US" sz="4800" dirty="0"/>
          </a:p>
        </p:txBody>
      </p:sp>
      <p:sp>
        <p:nvSpPr>
          <p:cNvPr id="11" name="Shape 9"/>
          <p:cNvSpPr/>
          <p:nvPr/>
        </p:nvSpPr>
        <p:spPr>
          <a:xfrm>
            <a:off x="822960" y="3291840"/>
            <a:ext cx="1828800" cy="0"/>
          </a:xfrm>
          <a:prstGeom prst="line">
            <a:avLst/>
          </a:prstGeom>
          <a:noFill/>
          <a:ln w="19050">
            <a:solidFill>
              <a:srgbClr val="CC0000"/>
            </a:solidFill>
            <a:prstDash val="solid"/>
          </a:ln>
        </p:spPr>
      </p:sp>
      <p:sp>
        <p:nvSpPr>
          <p:cNvPr id="12" name="Text 10"/>
          <p:cNvSpPr/>
          <p:nvPr/>
        </p:nvSpPr>
        <p:spPr>
          <a:xfrm>
            <a:off x="640080" y="3429000"/>
            <a:ext cx="2240280" cy="1874520"/>
          </a:xfrm>
          <a:prstGeom prst="rect">
            <a:avLst/>
          </a:prstGeom>
          <a:noFill/>
          <a:ln/>
        </p:spPr>
        <p:txBody>
          <a:bodyPr wrap="square" rtlCol="0" anchor="t"/>
          <a:lstStyle/>
          <a:p>
            <a:pPr marL="342900" indent="-342900">
              <a:spcAft>
                <a:spcPts val="500"/>
              </a:spcAft>
              <a:buSzPct val="100000"/>
              <a:buChar char="•"/>
            </a:pPr>
            <a:r>
              <a:rPr lang="en-US" sz="1000" dirty="0">
                <a:solidFill>
                  <a:srgbClr val="333333"/>
                </a:solidFill>
                <a:latin typeface="Arial" pitchFamily="34" charset="0"/>
                <a:ea typeface="Arial" pitchFamily="34" charset="-122"/>
                <a:cs typeface="Arial" pitchFamily="34" charset="-120"/>
              </a:rPr>
              <a:t>H100 / H200 / Blackwell banned from China.</a:t>
            </a:r>
            <a:pPr indent="0" marL="0">
              <a:spcAft>
                <a:spcPts val="500"/>
              </a:spcAft>
              <a:buNone/>
            </a:pPr>
            <a:r>
              <a:rPr lang="en-US" sz="700" baseline="30000" dirty="0">
                <a:solidFill>
                  <a:srgbClr val="333333"/>
                </a:solidFill>
                <a:latin typeface="Arial" pitchFamily="34" charset="0"/>
                <a:ea typeface="Arial" pitchFamily="34" charset="-122"/>
                <a:cs typeface="Arial" pitchFamily="34" charset="-120"/>
              </a:rPr>
              <a:t> 1</a:t>
            </a:r>
            <a:endParaRPr lang="en-US" sz="1000" dirty="0"/>
          </a:p>
          <a:p>
            <a:pPr marL="342900" indent="-342900">
              <a:spcAft>
                <a:spcPts val="500"/>
              </a:spcAft>
              <a:buSzPct val="100000"/>
              <a:buChar char="•"/>
            </a:pPr>
            <a:r>
              <a:rPr lang="en-US" sz="1000" dirty="0">
                <a:solidFill>
                  <a:srgbClr val="333333"/>
                </a:solidFill>
                <a:latin typeface="Arial" pitchFamily="34" charset="0"/>
                <a:ea typeface="Arial" pitchFamily="34" charset="-122"/>
                <a:cs typeface="Arial" pitchFamily="34" charset="-120"/>
              </a:rPr>
              <a:t>H20 reinstated with a 15% Treasury fee.</a:t>
            </a:r>
            <a:pPr indent="0" marL="0">
              <a:spcAft>
                <a:spcPts val="500"/>
              </a:spcAft>
              <a:buNone/>
            </a:pPr>
            <a:r>
              <a:rPr lang="en-US" sz="700" baseline="30000" dirty="0">
                <a:solidFill>
                  <a:srgbClr val="333333"/>
                </a:solidFill>
                <a:latin typeface="Arial" pitchFamily="34" charset="0"/>
                <a:ea typeface="Arial" pitchFamily="34" charset="-122"/>
                <a:cs typeface="Arial" pitchFamily="34" charset="-120"/>
              </a:rPr>
              <a:t> 2</a:t>
            </a:r>
            <a:endParaRPr lang="en-US" sz="1000" dirty="0"/>
          </a:p>
          <a:p>
            <a:pPr marL="342900" indent="-342900">
              <a:spcAft>
                <a:spcPts val="500"/>
              </a:spcAft>
              <a:buSzPct val="100000"/>
              <a:buChar char="•"/>
            </a:pPr>
            <a:r>
              <a:rPr lang="en-US" sz="1000" dirty="0">
                <a:solidFill>
                  <a:srgbClr val="333333"/>
                </a:solidFill>
                <a:latin typeface="Arial" pitchFamily="34" charset="0"/>
                <a:ea typeface="Arial" pitchFamily="34" charset="-122"/>
                <a:cs typeface="Arial" pitchFamily="34" charset="-120"/>
              </a:rPr>
              <a:t>$5.5B NVIDIA H20 writedown.</a:t>
            </a:r>
            <a:pPr indent="0" marL="0">
              <a:spcAft>
                <a:spcPts val="500"/>
              </a:spcAft>
              <a:buNone/>
            </a:pPr>
            <a:r>
              <a:rPr lang="en-US" sz="700" baseline="30000" dirty="0">
                <a:solidFill>
                  <a:srgbClr val="333333"/>
                </a:solidFill>
                <a:latin typeface="Arial" pitchFamily="34" charset="0"/>
                <a:ea typeface="Arial" pitchFamily="34" charset="-122"/>
                <a:cs typeface="Arial" pitchFamily="34" charset="-120"/>
              </a:rPr>
              <a:t> 3</a:t>
            </a:r>
            <a:endParaRPr lang="en-US" sz="1000" dirty="0"/>
          </a:p>
          <a:p>
            <a:pPr marL="342900" indent="-342900">
              <a:spcAft>
                <a:spcPts val="500"/>
              </a:spcAft>
              <a:buSzPct val="100000"/>
              <a:buChar char="•"/>
            </a:pPr>
            <a:r>
              <a:rPr lang="en-US" sz="1000" dirty="0">
                <a:solidFill>
                  <a:srgbClr val="333333"/>
                </a:solidFill>
                <a:latin typeface="Arial" pitchFamily="34" charset="0"/>
                <a:ea typeface="Arial" pitchFamily="34" charset="-122"/>
                <a:cs typeface="Arial" pitchFamily="34" charset="-120"/>
              </a:rPr>
              <a:t>ASML DUV banned; China ~20% of revenue.</a:t>
            </a:r>
            <a:pPr indent="0" marL="0">
              <a:spcAft>
                <a:spcPts val="500"/>
              </a:spcAft>
              <a:buNone/>
            </a:pPr>
            <a:r>
              <a:rPr lang="en-US" sz="700" baseline="30000" dirty="0">
                <a:solidFill>
                  <a:srgbClr val="333333"/>
                </a:solidFill>
                <a:latin typeface="Arial" pitchFamily="34" charset="0"/>
                <a:ea typeface="Arial" pitchFamily="34" charset="-122"/>
                <a:cs typeface="Arial" pitchFamily="34" charset="-120"/>
              </a:rPr>
              <a:t> 4</a:t>
            </a:r>
            <a:endParaRPr lang="en-US" sz="1000" dirty="0"/>
          </a:p>
        </p:txBody>
      </p:sp>
      <p:sp>
        <p:nvSpPr>
          <p:cNvPr id="13" name="Shape 11"/>
          <p:cNvSpPr/>
          <p:nvPr/>
        </p:nvSpPr>
        <p:spPr>
          <a:xfrm>
            <a:off x="3291840" y="1783080"/>
            <a:ext cx="2560320" cy="411480"/>
          </a:xfrm>
          <a:prstGeom prst="rect">
            <a:avLst/>
          </a:prstGeom>
          <a:solidFill>
            <a:srgbClr val="F6693D"/>
          </a:solidFill>
          <a:ln w="12700">
            <a:solidFill>
              <a:srgbClr val="F6693D"/>
            </a:solidFill>
            <a:prstDash val="solid"/>
          </a:ln>
        </p:spPr>
      </p:sp>
      <p:sp>
        <p:nvSpPr>
          <p:cNvPr id="14" name="Text 12"/>
          <p:cNvSpPr/>
          <p:nvPr/>
        </p:nvSpPr>
        <p:spPr>
          <a:xfrm>
            <a:off x="3291840" y="1783080"/>
            <a:ext cx="2560320" cy="411480"/>
          </a:xfrm>
          <a:prstGeom prst="rect">
            <a:avLst/>
          </a:prstGeom>
          <a:noFill/>
          <a:ln/>
        </p:spPr>
        <p:txBody>
          <a:bodyPr wrap="square" lIns="0" tIns="0" rIns="0" bIns="0" rtlCol="0" anchor="ctr"/>
          <a:lstStyle/>
          <a:p>
            <a:pPr algn="ctr" indent="0" marL="0">
              <a:buNone/>
            </a:pPr>
            <a:r>
              <a:rPr lang="en-US" sz="1150" b="1" spc="200" kern="0" dirty="0">
                <a:solidFill>
                  <a:srgbClr val="FFFFFF"/>
                </a:solidFill>
                <a:latin typeface="Arial" pitchFamily="34" charset="0"/>
                <a:ea typeface="Arial" pitchFamily="34" charset="-122"/>
                <a:cs typeface="Arial" pitchFamily="34" charset="-120"/>
              </a:rPr>
              <a:t>AI REGULATION</a:t>
            </a:r>
            <a:endParaRPr lang="en-US" sz="1150" dirty="0"/>
          </a:p>
        </p:txBody>
      </p:sp>
      <p:sp>
        <p:nvSpPr>
          <p:cNvPr id="15" name="Shape 13"/>
          <p:cNvSpPr/>
          <p:nvPr/>
        </p:nvSpPr>
        <p:spPr>
          <a:xfrm>
            <a:off x="3291840" y="2194560"/>
            <a:ext cx="2560320" cy="3474720"/>
          </a:xfrm>
          <a:prstGeom prst="rect">
            <a:avLst/>
          </a:prstGeom>
          <a:solidFill>
            <a:srgbClr val="F9F9F9"/>
          </a:solidFill>
          <a:ln w="6350">
            <a:solidFill>
              <a:srgbClr val="E5E5E5"/>
            </a:solidFill>
            <a:prstDash val="solid"/>
          </a:ln>
        </p:spPr>
      </p:sp>
      <p:sp>
        <p:nvSpPr>
          <p:cNvPr id="16" name="Text 14"/>
          <p:cNvSpPr/>
          <p:nvPr/>
        </p:nvSpPr>
        <p:spPr>
          <a:xfrm>
            <a:off x="3291840" y="2331720"/>
            <a:ext cx="2560320" cy="914400"/>
          </a:xfrm>
          <a:prstGeom prst="rect">
            <a:avLst/>
          </a:prstGeom>
          <a:noFill/>
          <a:ln/>
        </p:spPr>
        <p:txBody>
          <a:bodyPr wrap="square" lIns="0" tIns="0" rIns="0" bIns="0" rtlCol="0" anchor="ctr"/>
          <a:lstStyle/>
          <a:p>
            <a:pPr algn="ctr" indent="0" marL="0">
              <a:buNone/>
            </a:pPr>
            <a:r>
              <a:rPr lang="en-US" sz="4800" b="1" dirty="0">
                <a:solidFill>
                  <a:srgbClr val="F6693D"/>
                </a:solidFill>
                <a:latin typeface="Arial Black" pitchFamily="34" charset="0"/>
                <a:ea typeface="Arial Black" pitchFamily="34" charset="-122"/>
                <a:cs typeface="Arial Black" pitchFamily="34" charset="-120"/>
              </a:rPr>
              <a:t>§</a:t>
            </a:r>
            <a:endParaRPr lang="en-US" sz="4800" dirty="0"/>
          </a:p>
        </p:txBody>
      </p:sp>
      <p:sp>
        <p:nvSpPr>
          <p:cNvPr id="17" name="Shape 15"/>
          <p:cNvSpPr/>
          <p:nvPr/>
        </p:nvSpPr>
        <p:spPr>
          <a:xfrm>
            <a:off x="3657600" y="3291840"/>
            <a:ext cx="1828800" cy="0"/>
          </a:xfrm>
          <a:prstGeom prst="line">
            <a:avLst/>
          </a:prstGeom>
          <a:noFill/>
          <a:ln w="19050">
            <a:solidFill>
              <a:srgbClr val="F6693D"/>
            </a:solidFill>
            <a:prstDash val="solid"/>
          </a:ln>
        </p:spPr>
      </p:sp>
      <p:sp>
        <p:nvSpPr>
          <p:cNvPr id="18" name="Text 16"/>
          <p:cNvSpPr/>
          <p:nvPr/>
        </p:nvSpPr>
        <p:spPr>
          <a:xfrm>
            <a:off x="3474720" y="3429000"/>
            <a:ext cx="2240280" cy="1874520"/>
          </a:xfrm>
          <a:prstGeom prst="rect">
            <a:avLst/>
          </a:prstGeom>
          <a:noFill/>
          <a:ln/>
        </p:spPr>
        <p:txBody>
          <a:bodyPr wrap="square" rtlCol="0" anchor="t"/>
          <a:lstStyle/>
          <a:p>
            <a:pPr marL="342900" indent="-342900">
              <a:spcAft>
                <a:spcPts val="500"/>
              </a:spcAft>
              <a:buSzPct val="100000"/>
              <a:buChar char="•"/>
            </a:pPr>
            <a:r>
              <a:rPr lang="en-US" sz="1000" dirty="0">
                <a:solidFill>
                  <a:srgbClr val="333333"/>
                </a:solidFill>
                <a:latin typeface="Arial" pitchFamily="34" charset="0"/>
                <a:ea typeface="Arial" pitchFamily="34" charset="-122"/>
                <a:cs typeface="Arial" pitchFamily="34" charset="-120"/>
              </a:rPr>
              <a:t>EU AI Act enforcement: Aug 2, 2026.</a:t>
            </a:r>
            <a:pPr indent="0" marL="0">
              <a:spcAft>
                <a:spcPts val="500"/>
              </a:spcAft>
              <a:buNone/>
            </a:pPr>
            <a:r>
              <a:rPr lang="en-US" sz="700" baseline="30000" dirty="0">
                <a:solidFill>
                  <a:srgbClr val="333333"/>
                </a:solidFill>
                <a:latin typeface="Arial" pitchFamily="34" charset="0"/>
                <a:ea typeface="Arial" pitchFamily="34" charset="-122"/>
                <a:cs typeface="Arial" pitchFamily="34" charset="-120"/>
              </a:rPr>
              <a:t> 5</a:t>
            </a:r>
            <a:endParaRPr lang="en-US" sz="1000" dirty="0"/>
          </a:p>
          <a:p>
            <a:pPr marL="342900" indent="-342900">
              <a:spcAft>
                <a:spcPts val="500"/>
              </a:spcAft>
              <a:buSzPct val="100000"/>
              <a:buChar char="•"/>
            </a:pPr>
            <a:r>
              <a:rPr lang="en-US" sz="1000" dirty="0">
                <a:solidFill>
                  <a:srgbClr val="333333"/>
                </a:solidFill>
                <a:latin typeface="Arial" pitchFamily="34" charset="0"/>
                <a:ea typeface="Arial" pitchFamily="34" charset="-122"/>
                <a:cs typeface="Arial" pitchFamily="34" charset="-120"/>
              </a:rPr>
              <a:t>Fines up to €35M or 7% of global revenue.</a:t>
            </a:r>
            <a:pPr indent="0" marL="0">
              <a:spcAft>
                <a:spcPts val="500"/>
              </a:spcAft>
              <a:buNone/>
            </a:pPr>
            <a:r>
              <a:rPr lang="en-US" sz="700" baseline="30000" dirty="0">
                <a:solidFill>
                  <a:srgbClr val="333333"/>
                </a:solidFill>
                <a:latin typeface="Arial" pitchFamily="34" charset="0"/>
                <a:ea typeface="Arial" pitchFamily="34" charset="-122"/>
                <a:cs typeface="Arial" pitchFamily="34" charset="-120"/>
              </a:rPr>
              <a:t> 6</a:t>
            </a:r>
            <a:endParaRPr lang="en-US" sz="1000" dirty="0"/>
          </a:p>
          <a:p>
            <a:pPr marL="342900" indent="-342900">
              <a:spcAft>
                <a:spcPts val="500"/>
              </a:spcAft>
              <a:buSzPct val="100000"/>
              <a:buChar char="•"/>
            </a:pPr>
            <a:r>
              <a:rPr lang="en-US" sz="1000" dirty="0">
                <a:solidFill>
                  <a:srgbClr val="333333"/>
                </a:solidFill>
                <a:latin typeface="Arial" pitchFamily="34" charset="0"/>
                <a:ea typeface="Arial" pitchFamily="34" charset="-122"/>
                <a:cs typeface="Arial" pitchFamily="34" charset="-120"/>
              </a:rPr>
              <a:t>Initial compliance: $8–15M per system.</a:t>
            </a:r>
            <a:pPr indent="0" marL="0">
              <a:spcAft>
                <a:spcPts val="500"/>
              </a:spcAft>
              <a:buNone/>
            </a:pPr>
            <a:r>
              <a:rPr lang="en-US" sz="700" baseline="30000" dirty="0">
                <a:solidFill>
                  <a:srgbClr val="333333"/>
                </a:solidFill>
                <a:latin typeface="Arial" pitchFamily="34" charset="0"/>
                <a:ea typeface="Arial" pitchFamily="34" charset="-122"/>
                <a:cs typeface="Arial" pitchFamily="34" charset="-120"/>
              </a:rPr>
              <a:t> 7</a:t>
            </a:r>
            <a:endParaRPr lang="en-US" sz="1000" dirty="0"/>
          </a:p>
          <a:p>
            <a:pPr marL="342900" indent="-342900">
              <a:spcAft>
                <a:spcPts val="500"/>
              </a:spcAft>
              <a:buSzPct val="100000"/>
              <a:buChar char="•"/>
            </a:pPr>
            <a:r>
              <a:rPr lang="en-US" sz="1000" dirty="0">
                <a:solidFill>
                  <a:srgbClr val="333333"/>
                </a:solidFill>
                <a:latin typeface="Arial" pitchFamily="34" charset="0"/>
                <a:ea typeface="Arial" pitchFamily="34" charset="-122"/>
                <a:cs typeface="Arial" pitchFamily="34" charset="-120"/>
              </a:rPr>
              <a:t>Only 36% of enterprises feel prepared.</a:t>
            </a:r>
            <a:pPr indent="0" marL="0">
              <a:spcAft>
                <a:spcPts val="500"/>
              </a:spcAft>
              <a:buNone/>
            </a:pPr>
            <a:r>
              <a:rPr lang="en-US" sz="700" baseline="30000" dirty="0">
                <a:solidFill>
                  <a:srgbClr val="333333"/>
                </a:solidFill>
                <a:latin typeface="Arial" pitchFamily="34" charset="0"/>
                <a:ea typeface="Arial" pitchFamily="34" charset="-122"/>
                <a:cs typeface="Arial" pitchFamily="34" charset="-120"/>
              </a:rPr>
              <a:t> 8</a:t>
            </a:r>
            <a:endParaRPr lang="en-US" sz="1000" dirty="0"/>
          </a:p>
        </p:txBody>
      </p:sp>
      <p:sp>
        <p:nvSpPr>
          <p:cNvPr id="19" name="Shape 17"/>
          <p:cNvSpPr/>
          <p:nvPr/>
        </p:nvSpPr>
        <p:spPr>
          <a:xfrm>
            <a:off x="6126480" y="1783080"/>
            <a:ext cx="2560320" cy="411480"/>
          </a:xfrm>
          <a:prstGeom prst="rect">
            <a:avLst/>
          </a:prstGeom>
          <a:solidFill>
            <a:srgbClr val="FFB800"/>
          </a:solidFill>
          <a:ln w="12700">
            <a:solidFill>
              <a:srgbClr val="FFB800"/>
            </a:solidFill>
            <a:prstDash val="solid"/>
          </a:ln>
        </p:spPr>
      </p:sp>
      <p:sp>
        <p:nvSpPr>
          <p:cNvPr id="20" name="Text 18"/>
          <p:cNvSpPr/>
          <p:nvPr/>
        </p:nvSpPr>
        <p:spPr>
          <a:xfrm>
            <a:off x="6126480" y="1783080"/>
            <a:ext cx="2560320" cy="411480"/>
          </a:xfrm>
          <a:prstGeom prst="rect">
            <a:avLst/>
          </a:prstGeom>
          <a:noFill/>
          <a:ln/>
        </p:spPr>
        <p:txBody>
          <a:bodyPr wrap="square" lIns="0" tIns="0" rIns="0" bIns="0" rtlCol="0" anchor="ctr"/>
          <a:lstStyle/>
          <a:p>
            <a:pPr algn="ctr" indent="0" marL="0">
              <a:buNone/>
            </a:pPr>
            <a:r>
              <a:rPr lang="en-US" sz="1150" b="1" spc="200" kern="0" dirty="0">
                <a:solidFill>
                  <a:srgbClr val="FFFFFF"/>
                </a:solidFill>
                <a:latin typeface="Arial" pitchFamily="34" charset="0"/>
                <a:ea typeface="Arial" pitchFamily="34" charset="-122"/>
                <a:cs typeface="Arial" pitchFamily="34" charset="-120"/>
              </a:rPr>
              <a:t>TRADE &amp; RESHORING</a:t>
            </a:r>
            <a:endParaRPr lang="en-US" sz="1150" dirty="0"/>
          </a:p>
        </p:txBody>
      </p:sp>
      <p:sp>
        <p:nvSpPr>
          <p:cNvPr id="21" name="Shape 19"/>
          <p:cNvSpPr/>
          <p:nvPr/>
        </p:nvSpPr>
        <p:spPr>
          <a:xfrm>
            <a:off x="6126480" y="2194560"/>
            <a:ext cx="2560320" cy="3474720"/>
          </a:xfrm>
          <a:prstGeom prst="rect">
            <a:avLst/>
          </a:prstGeom>
          <a:solidFill>
            <a:srgbClr val="F9F9F9"/>
          </a:solidFill>
          <a:ln w="6350">
            <a:solidFill>
              <a:srgbClr val="E5E5E5"/>
            </a:solidFill>
            <a:prstDash val="solid"/>
          </a:ln>
        </p:spPr>
      </p:sp>
      <p:sp>
        <p:nvSpPr>
          <p:cNvPr id="22" name="Text 20"/>
          <p:cNvSpPr/>
          <p:nvPr/>
        </p:nvSpPr>
        <p:spPr>
          <a:xfrm>
            <a:off x="6126480" y="2331720"/>
            <a:ext cx="2560320" cy="914400"/>
          </a:xfrm>
          <a:prstGeom prst="rect">
            <a:avLst/>
          </a:prstGeom>
          <a:noFill/>
          <a:ln/>
        </p:spPr>
        <p:txBody>
          <a:bodyPr wrap="square" lIns="0" tIns="0" rIns="0" bIns="0" rtlCol="0" anchor="ctr"/>
          <a:lstStyle/>
          <a:p>
            <a:pPr algn="ctr" indent="0" marL="0">
              <a:buNone/>
            </a:pPr>
            <a:r>
              <a:rPr lang="en-US" sz="4800" b="1" dirty="0">
                <a:solidFill>
                  <a:srgbClr val="FFB800"/>
                </a:solidFill>
                <a:latin typeface="Arial Black" pitchFamily="34" charset="0"/>
                <a:ea typeface="Arial Black" pitchFamily="34" charset="-122"/>
                <a:cs typeface="Arial Black" pitchFamily="34" charset="-120"/>
              </a:rPr>
              <a:t>⚒</a:t>
            </a:r>
            <a:endParaRPr lang="en-US" sz="4800" dirty="0"/>
          </a:p>
        </p:txBody>
      </p:sp>
      <p:sp>
        <p:nvSpPr>
          <p:cNvPr id="23" name="Shape 21"/>
          <p:cNvSpPr/>
          <p:nvPr/>
        </p:nvSpPr>
        <p:spPr>
          <a:xfrm>
            <a:off x="6492240" y="3291840"/>
            <a:ext cx="1828800" cy="0"/>
          </a:xfrm>
          <a:prstGeom prst="line">
            <a:avLst/>
          </a:prstGeom>
          <a:noFill/>
          <a:ln w="19050">
            <a:solidFill>
              <a:srgbClr val="FFB800"/>
            </a:solidFill>
            <a:prstDash val="solid"/>
          </a:ln>
        </p:spPr>
      </p:sp>
      <p:sp>
        <p:nvSpPr>
          <p:cNvPr id="24" name="Text 22"/>
          <p:cNvSpPr/>
          <p:nvPr/>
        </p:nvSpPr>
        <p:spPr>
          <a:xfrm>
            <a:off x="6309360" y="3429000"/>
            <a:ext cx="2240280" cy="1874520"/>
          </a:xfrm>
          <a:prstGeom prst="rect">
            <a:avLst/>
          </a:prstGeom>
          <a:noFill/>
          <a:ln/>
        </p:spPr>
        <p:txBody>
          <a:bodyPr wrap="square" rtlCol="0" anchor="t"/>
          <a:lstStyle/>
          <a:p>
            <a:pPr marL="342900" indent="-342900">
              <a:spcAft>
                <a:spcPts val="500"/>
              </a:spcAft>
              <a:buSzPct val="100000"/>
              <a:buChar char="•"/>
            </a:pPr>
            <a:r>
              <a:rPr lang="en-US" sz="1000" dirty="0">
                <a:solidFill>
                  <a:srgbClr val="333333"/>
                </a:solidFill>
                <a:latin typeface="Arial" pitchFamily="34" charset="0"/>
                <a:ea typeface="Arial" pitchFamily="34" charset="-122"/>
                <a:cs typeface="Arial" pitchFamily="34" charset="-120"/>
              </a:rPr>
              <a:t>CHIPS Act: ~$36B committed of $52.7B.</a:t>
            </a:r>
            <a:pPr indent="0" marL="0">
              <a:spcAft>
                <a:spcPts val="500"/>
              </a:spcAft>
              <a:buNone/>
            </a:pPr>
            <a:r>
              <a:rPr lang="en-US" sz="700" baseline="30000" dirty="0">
                <a:solidFill>
                  <a:srgbClr val="333333"/>
                </a:solidFill>
                <a:latin typeface="Arial" pitchFamily="34" charset="0"/>
                <a:ea typeface="Arial" pitchFamily="34" charset="-122"/>
                <a:cs typeface="Arial" pitchFamily="34" charset="-120"/>
              </a:rPr>
              <a:t> 9</a:t>
            </a:r>
            <a:endParaRPr lang="en-US" sz="1000" dirty="0"/>
          </a:p>
          <a:p>
            <a:pPr marL="342900" indent="-342900">
              <a:spcAft>
                <a:spcPts val="500"/>
              </a:spcAft>
              <a:buSzPct val="100000"/>
              <a:buChar char="•"/>
            </a:pPr>
            <a:r>
              <a:rPr lang="en-US" sz="1000" dirty="0">
                <a:solidFill>
                  <a:srgbClr val="333333"/>
                </a:solidFill>
                <a:latin typeface="Arial" pitchFamily="34" charset="0"/>
                <a:ea typeface="Arial" pitchFamily="34" charset="-122"/>
                <a:cs typeface="Arial" pitchFamily="34" charset="-120"/>
              </a:rPr>
              <a:t>China controls ~90% of rare-earth processing.</a:t>
            </a:r>
            <a:pPr indent="0" marL="0">
              <a:spcAft>
                <a:spcPts val="500"/>
              </a:spcAft>
              <a:buNone/>
            </a:pPr>
            <a:r>
              <a:rPr lang="en-US" sz="700" baseline="30000" dirty="0">
                <a:solidFill>
                  <a:srgbClr val="333333"/>
                </a:solidFill>
                <a:latin typeface="Arial" pitchFamily="34" charset="0"/>
                <a:ea typeface="Arial" pitchFamily="34" charset="-122"/>
                <a:cs typeface="Arial" pitchFamily="34" charset="-120"/>
              </a:rPr>
              <a:t> 10</a:t>
            </a:r>
            <a:endParaRPr lang="en-US" sz="1000" dirty="0"/>
          </a:p>
          <a:p>
            <a:pPr marL="342900" indent="-342900">
              <a:spcAft>
                <a:spcPts val="500"/>
              </a:spcAft>
              <a:buSzPct val="100000"/>
              <a:buChar char="•"/>
            </a:pPr>
            <a:r>
              <a:rPr lang="en-US" sz="1000" dirty="0">
                <a:solidFill>
                  <a:srgbClr val="333333"/>
                </a:solidFill>
                <a:latin typeface="Arial" pitchFamily="34" charset="0"/>
                <a:ea typeface="Arial" pitchFamily="34" charset="-122"/>
                <a:cs typeface="Arial" pitchFamily="34" charset="-120"/>
              </a:rPr>
              <a:t>Gallium / germanium controls since Jul 2023.</a:t>
            </a:r>
            <a:pPr indent="0" marL="0">
              <a:spcAft>
                <a:spcPts val="500"/>
              </a:spcAft>
              <a:buNone/>
            </a:pPr>
            <a:r>
              <a:rPr lang="en-US" sz="700" baseline="30000" dirty="0">
                <a:solidFill>
                  <a:srgbClr val="333333"/>
                </a:solidFill>
                <a:latin typeface="Arial" pitchFamily="34" charset="0"/>
                <a:ea typeface="Arial" pitchFamily="34" charset="-122"/>
                <a:cs typeface="Arial" pitchFamily="34" charset="-120"/>
              </a:rPr>
              <a:t> 11</a:t>
            </a:r>
            <a:endParaRPr lang="en-US" sz="1000" dirty="0"/>
          </a:p>
          <a:p>
            <a:pPr marL="342900" indent="-342900">
              <a:spcAft>
                <a:spcPts val="500"/>
              </a:spcAft>
              <a:buSzPct val="100000"/>
              <a:buChar char="•"/>
            </a:pPr>
            <a:r>
              <a:rPr lang="en-US" sz="1000" dirty="0">
                <a:solidFill>
                  <a:srgbClr val="333333"/>
                </a:solidFill>
                <a:latin typeface="Arial" pitchFamily="34" charset="0"/>
                <a:ea typeface="Arial" pitchFamily="34" charset="-122"/>
                <a:cs typeface="Arial" pitchFamily="34" charset="-120"/>
              </a:rPr>
              <a:t>SMIC 5nm yield ~20% vs &gt;70% threshold.</a:t>
            </a:r>
            <a:pPr indent="0" marL="0">
              <a:spcAft>
                <a:spcPts val="500"/>
              </a:spcAft>
              <a:buNone/>
            </a:pPr>
            <a:r>
              <a:rPr lang="en-US" sz="700" baseline="30000" dirty="0">
                <a:solidFill>
                  <a:srgbClr val="333333"/>
                </a:solidFill>
                <a:latin typeface="Arial" pitchFamily="34" charset="0"/>
                <a:ea typeface="Arial" pitchFamily="34" charset="-122"/>
                <a:cs typeface="Arial" pitchFamily="34" charset="-120"/>
              </a:rPr>
              <a:t> 12</a:t>
            </a:r>
            <a:endParaRPr lang="en-US" sz="1000" dirty="0"/>
          </a:p>
        </p:txBody>
      </p:sp>
      <p:sp>
        <p:nvSpPr>
          <p:cNvPr id="25" name="Text 23"/>
          <p:cNvSpPr/>
          <p:nvPr/>
        </p:nvSpPr>
        <p:spPr>
          <a:xfrm>
            <a:off x="457200" y="5875020"/>
            <a:ext cx="8229600" cy="457200"/>
          </a:xfrm>
          <a:prstGeom prst="rect">
            <a:avLst/>
          </a:prstGeom>
          <a:noFill/>
          <a:ln/>
        </p:spPr>
        <p:txBody>
          <a:bodyPr wrap="square" lIns="0" tIns="0" rIns="0" bIns="0" rtlCol="0" anchor="t"/>
          <a:lstStyle/>
          <a:p>
            <a:pPr indent="0" marL="0">
              <a:buNone/>
            </a:pPr>
            <a:r>
              <a:rPr lang="en-US" sz="700" b="1" dirty="0">
                <a:solidFill>
                  <a:srgbClr val="999999"/>
                </a:solidFill>
                <a:latin typeface="Arial" pitchFamily="34" charset="0"/>
                <a:ea typeface="Arial" pitchFamily="34" charset="-122"/>
                <a:cs typeface="Arial" pitchFamily="34" charset="-120"/>
              </a:rPr>
              <a:t>(1) </a:t>
            </a:r>
            <a:pPr indent="0" marL="0">
              <a:buNone/>
            </a:pPr>
            <a:r>
              <a:rPr lang="en-US" sz="700" dirty="0">
                <a:solidFill>
                  <a:srgbClr val="999999"/>
                </a:solidFill>
                <a:latin typeface="Arial" pitchFamily="34" charset="0"/>
                <a:ea typeface="Arial" pitchFamily="34" charset="-122"/>
                <a:cs typeface="Arial" pitchFamily="34" charset="-120"/>
              </a:rPr>
              <a:t>US BIS export rules, 2023–25, </a:t>
            </a:r>
            <a:pPr indent="0" marL="0">
              <a:buNone/>
            </a:pPr>
            <a:r>
              <a:rPr lang="en-US" sz="700" b="1" dirty="0">
                <a:solidFill>
                  <a:srgbClr val="999999"/>
                </a:solidFill>
                <a:latin typeface="Arial" pitchFamily="34" charset="0"/>
                <a:ea typeface="Arial" pitchFamily="34" charset="-122"/>
                <a:cs typeface="Arial" pitchFamily="34" charset="-120"/>
              </a:rPr>
              <a:t>(2) </a:t>
            </a:r>
            <a:pPr indent="0" marL="0">
              <a:buNone/>
            </a:pPr>
            <a:r>
              <a:rPr lang="en-US" sz="700" dirty="0">
                <a:solidFill>
                  <a:srgbClr val="999999"/>
                </a:solidFill>
                <a:latin typeface="Arial" pitchFamily="34" charset="0"/>
                <a:ea typeface="Arial" pitchFamily="34" charset="-122"/>
                <a:cs typeface="Arial" pitchFamily="34" charset="-120"/>
              </a:rPr>
              <a:t>US Treasury / NVIDIA, Jul 2025, </a:t>
            </a:r>
            <a:pPr indent="0" marL="0">
              <a:buNone/>
            </a:pPr>
            <a:r>
              <a:rPr lang="en-US" sz="700" b="1" dirty="0">
                <a:solidFill>
                  <a:srgbClr val="999999"/>
                </a:solidFill>
                <a:latin typeface="Arial" pitchFamily="34" charset="0"/>
                <a:ea typeface="Arial" pitchFamily="34" charset="-122"/>
                <a:cs typeface="Arial" pitchFamily="34" charset="-120"/>
              </a:rPr>
              <a:t>(3) </a:t>
            </a:r>
            <a:pPr indent="0" marL="0">
              <a:buNone/>
            </a:pPr>
            <a:r>
              <a:rPr lang="en-US" sz="700" dirty="0">
                <a:solidFill>
                  <a:srgbClr val="999999"/>
                </a:solidFill>
                <a:latin typeface="Arial" pitchFamily="34" charset="0"/>
                <a:ea typeface="Arial" pitchFamily="34" charset="-122"/>
                <a:cs typeface="Arial" pitchFamily="34" charset="-120"/>
              </a:rPr>
              <a:t>NVIDIA 10-Q, FY26 Q1, </a:t>
            </a:r>
            <a:pPr indent="0" marL="0">
              <a:buNone/>
            </a:pPr>
            <a:r>
              <a:rPr lang="en-US" sz="700" b="1" dirty="0">
                <a:solidFill>
                  <a:srgbClr val="999999"/>
                </a:solidFill>
                <a:latin typeface="Arial" pitchFamily="34" charset="0"/>
                <a:ea typeface="Arial" pitchFamily="34" charset="-122"/>
                <a:cs typeface="Arial" pitchFamily="34" charset="-120"/>
              </a:rPr>
              <a:t>(4) </a:t>
            </a:r>
            <a:pPr indent="0" marL="0">
              <a:buNone/>
            </a:pPr>
            <a:r>
              <a:rPr lang="en-US" sz="700" dirty="0">
                <a:solidFill>
                  <a:srgbClr val="999999"/>
                </a:solidFill>
                <a:latin typeface="Arial" pitchFamily="34" charset="0"/>
                <a:ea typeface="Arial" pitchFamily="34" charset="-122"/>
                <a:cs typeface="Arial" pitchFamily="34" charset="-120"/>
              </a:rPr>
              <a:t>ASML 2025 annual report, </a:t>
            </a:r>
            <a:pPr indent="0" marL="0">
              <a:buNone/>
            </a:pPr>
            <a:r>
              <a:rPr lang="en-US" sz="700" b="1" dirty="0">
                <a:solidFill>
                  <a:srgbClr val="999999"/>
                </a:solidFill>
                <a:latin typeface="Arial" pitchFamily="34" charset="0"/>
                <a:ea typeface="Arial" pitchFamily="34" charset="-122"/>
                <a:cs typeface="Arial" pitchFamily="34" charset="-120"/>
              </a:rPr>
              <a:t>(5) </a:t>
            </a:r>
            <a:pPr indent="0" marL="0">
              <a:buNone/>
            </a:pPr>
            <a:r>
              <a:rPr lang="en-US" sz="700" dirty="0">
                <a:solidFill>
                  <a:srgbClr val="999999"/>
                </a:solidFill>
                <a:latin typeface="Arial" pitchFamily="34" charset="0"/>
                <a:ea typeface="Arial" pitchFamily="34" charset="-122"/>
                <a:cs typeface="Arial" pitchFamily="34" charset="-120"/>
              </a:rPr>
              <a:t>EU AI Act, Article 99, </a:t>
            </a:r>
            <a:pPr indent="0" marL="0">
              <a:buNone/>
            </a:pPr>
            <a:r>
              <a:rPr lang="en-US" sz="700" b="1" dirty="0">
                <a:solidFill>
                  <a:srgbClr val="999999"/>
                </a:solidFill>
                <a:latin typeface="Arial" pitchFamily="34" charset="0"/>
                <a:ea typeface="Arial" pitchFamily="34" charset="-122"/>
                <a:cs typeface="Arial" pitchFamily="34" charset="-120"/>
              </a:rPr>
              <a:t>(6) </a:t>
            </a:r>
            <a:pPr indent="0" marL="0">
              <a:buNone/>
            </a:pPr>
            <a:r>
              <a:rPr lang="en-US" sz="700" dirty="0">
                <a:solidFill>
                  <a:srgbClr val="999999"/>
                </a:solidFill>
                <a:latin typeface="Arial" pitchFamily="34" charset="0"/>
                <a:ea typeface="Arial" pitchFamily="34" charset="-122"/>
                <a:cs typeface="Arial" pitchFamily="34" charset="-120"/>
              </a:rPr>
              <a:t>EU AI Act, Article 99, </a:t>
            </a:r>
            <a:pPr indent="0" marL="0">
              <a:buNone/>
            </a:pPr>
            <a:r>
              <a:rPr lang="en-US" sz="700" b="1" dirty="0">
                <a:solidFill>
                  <a:srgbClr val="999999"/>
                </a:solidFill>
                <a:latin typeface="Arial" pitchFamily="34" charset="0"/>
                <a:ea typeface="Arial" pitchFamily="34" charset="-122"/>
                <a:cs typeface="Arial" pitchFamily="34" charset="-120"/>
              </a:rPr>
              <a:t>(7) </a:t>
            </a:r>
            <a:pPr indent="0" marL="0">
              <a:buNone/>
            </a:pPr>
            <a:r>
              <a:rPr lang="en-US" sz="700" dirty="0">
                <a:solidFill>
                  <a:srgbClr val="999999"/>
                </a:solidFill>
                <a:latin typeface="Arial" pitchFamily="34" charset="0"/>
                <a:ea typeface="Arial" pitchFamily="34" charset="-122"/>
                <a:cs typeface="Arial" pitchFamily="34" charset="-120"/>
              </a:rPr>
              <a:t>EU Commission / law firm analyses, 2025, </a:t>
            </a:r>
            <a:pPr indent="0" marL="0">
              <a:buNone/>
            </a:pPr>
            <a:r>
              <a:rPr lang="en-US" sz="700" b="1" dirty="0">
                <a:solidFill>
                  <a:srgbClr val="999999"/>
                </a:solidFill>
                <a:latin typeface="Arial" pitchFamily="34" charset="0"/>
                <a:ea typeface="Arial" pitchFamily="34" charset="-122"/>
                <a:cs typeface="Arial" pitchFamily="34" charset="-120"/>
              </a:rPr>
              <a:t>(8) </a:t>
            </a:r>
            <a:pPr indent="0" marL="0">
              <a:buNone/>
            </a:pPr>
            <a:r>
              <a:rPr lang="en-US" sz="700" dirty="0">
                <a:solidFill>
                  <a:srgbClr val="999999"/>
                </a:solidFill>
                <a:latin typeface="Arial" pitchFamily="34" charset="0"/>
                <a:ea typeface="Arial" pitchFamily="34" charset="-122"/>
                <a:cs typeface="Arial" pitchFamily="34" charset="-120"/>
              </a:rPr>
              <a:t>Gartner enterprise AI readiness, 2026, </a:t>
            </a:r>
            <a:pPr indent="0" marL="0">
              <a:buNone/>
            </a:pPr>
            <a:r>
              <a:rPr lang="en-US" sz="700" b="1" dirty="0">
                <a:solidFill>
                  <a:srgbClr val="999999"/>
                </a:solidFill>
                <a:latin typeface="Arial" pitchFamily="34" charset="0"/>
                <a:ea typeface="Arial" pitchFamily="34" charset="-122"/>
                <a:cs typeface="Arial" pitchFamily="34" charset="-120"/>
              </a:rPr>
              <a:t>(9) </a:t>
            </a:r>
            <a:pPr indent="0" marL="0">
              <a:buNone/>
            </a:pPr>
            <a:r>
              <a:rPr lang="en-US" sz="700" dirty="0">
                <a:solidFill>
                  <a:srgbClr val="999999"/>
                </a:solidFill>
                <a:latin typeface="Arial" pitchFamily="34" charset="0"/>
                <a:ea typeface="Arial" pitchFamily="34" charset="-122"/>
                <a:cs typeface="Arial" pitchFamily="34" charset="-120"/>
              </a:rPr>
              <a:t>US Commerce Dept CHIPS Office, Nov 2025, </a:t>
            </a:r>
            <a:pPr indent="0" marL="0">
              <a:buNone/>
            </a:pPr>
            <a:r>
              <a:rPr lang="en-US" sz="700" b="1" dirty="0">
                <a:solidFill>
                  <a:srgbClr val="999999"/>
                </a:solidFill>
                <a:latin typeface="Arial" pitchFamily="34" charset="0"/>
                <a:ea typeface="Arial" pitchFamily="34" charset="-122"/>
                <a:cs typeface="Arial" pitchFamily="34" charset="-120"/>
              </a:rPr>
              <a:t>(10) </a:t>
            </a:r>
            <a:pPr indent="0" marL="0">
              <a:buNone/>
            </a:pPr>
            <a:r>
              <a:rPr lang="en-US" sz="700" dirty="0">
                <a:solidFill>
                  <a:srgbClr val="999999"/>
                </a:solidFill>
                <a:latin typeface="Arial" pitchFamily="34" charset="0"/>
                <a:ea typeface="Arial" pitchFamily="34" charset="-122"/>
                <a:cs typeface="Arial" pitchFamily="34" charset="-120"/>
              </a:rPr>
              <a:t>IEA / USGS rare-earth reports, 2025, </a:t>
            </a:r>
            <a:pPr indent="0" marL="0">
              <a:buNone/>
            </a:pPr>
            <a:r>
              <a:rPr lang="en-US" sz="700" b="1" dirty="0">
                <a:solidFill>
                  <a:srgbClr val="999999"/>
                </a:solidFill>
                <a:latin typeface="Arial" pitchFamily="34" charset="0"/>
                <a:ea typeface="Arial" pitchFamily="34" charset="-122"/>
                <a:cs typeface="Arial" pitchFamily="34" charset="-120"/>
              </a:rPr>
              <a:t>(11) </a:t>
            </a:r>
            <a:pPr indent="0" marL="0">
              <a:buNone/>
            </a:pPr>
            <a:r>
              <a:rPr lang="en-US" sz="700" dirty="0">
                <a:solidFill>
                  <a:srgbClr val="999999"/>
                </a:solidFill>
                <a:latin typeface="Arial" pitchFamily="34" charset="0"/>
                <a:ea typeface="Arial" pitchFamily="34" charset="-122"/>
                <a:cs typeface="Arial" pitchFamily="34" charset="-120"/>
              </a:rPr>
              <a:t>China MOFCOM, Jul 2023, </a:t>
            </a:r>
            <a:pPr indent="0" marL="0">
              <a:buNone/>
            </a:pPr>
            <a:r>
              <a:rPr lang="en-US" sz="700" b="1" dirty="0">
                <a:solidFill>
                  <a:srgbClr val="999999"/>
                </a:solidFill>
                <a:latin typeface="Arial" pitchFamily="34" charset="0"/>
                <a:ea typeface="Arial" pitchFamily="34" charset="-122"/>
                <a:cs typeface="Arial" pitchFamily="34" charset="-120"/>
              </a:rPr>
              <a:t>(12) </a:t>
            </a:r>
            <a:pPr indent="0" marL="0">
              <a:buNone/>
            </a:pPr>
            <a:r>
              <a:rPr lang="en-US" sz="700" dirty="0">
                <a:solidFill>
                  <a:srgbClr val="999999"/>
                </a:solidFill>
                <a:latin typeface="Arial" pitchFamily="34" charset="0"/>
                <a:ea typeface="Arial" pitchFamily="34" charset="-122"/>
                <a:cs typeface="Arial" pitchFamily="34" charset="-120"/>
              </a:rPr>
              <a:t>TechInsights / trade press, 2025–26.</a:t>
            </a:r>
            <a:endParaRPr lang="en-US" sz="700" dirty="0"/>
          </a:p>
        </p:txBody>
      </p:sp>
      <p:sp>
        <p:nvSpPr>
          <p:cNvPr id="26" name="Shape 24"/>
          <p:cNvSpPr/>
          <p:nvPr/>
        </p:nvSpPr>
        <p:spPr>
          <a:xfrm>
            <a:off x="0" y="6286500"/>
            <a:ext cx="9144000" cy="571500"/>
          </a:xfrm>
          <a:prstGeom prst="rect">
            <a:avLst/>
          </a:prstGeom>
          <a:solidFill>
            <a:srgbClr val="000000"/>
          </a:solidFill>
          <a:ln w="12700">
            <a:solidFill>
              <a:srgbClr val="000000"/>
            </a:solidFill>
            <a:prstDash val="solid"/>
          </a:ln>
        </p:spPr>
      </p:sp>
      <p:sp>
        <p:nvSpPr>
          <p:cNvPr id="27" name="Text 25"/>
          <p:cNvSpPr/>
          <p:nvPr/>
        </p:nvSpPr>
        <p:spPr>
          <a:xfrm>
            <a:off x="1371600" y="6332220"/>
            <a:ext cx="6400800" cy="457200"/>
          </a:xfrm>
          <a:prstGeom prst="rect">
            <a:avLst/>
          </a:prstGeom>
          <a:noFill/>
          <a:ln/>
        </p:spPr>
        <p:txBody>
          <a:bodyPr wrap="square" lIns="0" tIns="0" rIns="0" bIns="0" rtlCol="0" anchor="ctr"/>
          <a:lstStyle/>
          <a:p>
            <a:pPr algn="ctr" indent="0" marL="0">
              <a:buNone/>
            </a:pPr>
            <a:r>
              <a:rPr lang="en-US" sz="650" b="1" dirty="0">
                <a:solidFill>
                  <a:srgbClr val="FFFFFF"/>
                </a:solidFill>
                <a:latin typeface="Arial" pitchFamily="34" charset="0"/>
                <a:ea typeface="Arial" pitchFamily="34" charset="-122"/>
                <a:cs typeface="Arial" pitchFamily="34" charset="-120"/>
              </a:rPr>
              <a:t>FOR INFORMATIONAL PURPOSES ONLY. NOT INVESTMENT ADVICE. PAST PERFORMANCE IS NOT INDICATIVE OF FUTURE RESULTS.</a:t>
            </a:r>
            <a:endParaRPr lang="en-US" sz="650" dirty="0"/>
          </a:p>
        </p:txBody>
      </p:sp>
      <p:sp>
        <p:nvSpPr>
          <p:cNvPr id="28" name="Text 26"/>
          <p:cNvSpPr/>
          <p:nvPr/>
        </p:nvSpPr>
        <p:spPr>
          <a:xfrm>
            <a:off x="8321040" y="6405372"/>
            <a:ext cx="548640" cy="274320"/>
          </a:xfrm>
          <a:prstGeom prst="rect">
            <a:avLst/>
          </a:prstGeom>
          <a:noFill/>
          <a:ln/>
        </p:spPr>
        <p:txBody>
          <a:bodyPr wrap="square" lIns="0" tIns="0" rIns="0" bIns="0" rtlCol="0" anchor="ctr"/>
          <a:lstStyle/>
          <a:p>
            <a:pPr algn="r" indent="0" marL="0">
              <a:buNone/>
            </a:pPr>
            <a:r>
              <a:rPr lang="en-US" sz="900" dirty="0">
                <a:solidFill>
                  <a:srgbClr val="FFFFFF"/>
                </a:solidFill>
                <a:latin typeface="Arial" pitchFamily="34" charset="0"/>
                <a:ea typeface="Arial" pitchFamily="34" charset="-122"/>
                <a:cs typeface="Arial" pitchFamily="34" charset="-120"/>
              </a:rPr>
              <a:t>17</a:t>
            </a:r>
            <a:endParaRPr lang="en-US" sz="9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Shape 0"/>
          <p:cNvSpPr/>
          <p:nvPr/>
        </p:nvSpPr>
        <p:spPr>
          <a:xfrm>
            <a:off x="7132320" y="164592"/>
            <a:ext cx="1737360" cy="292608"/>
          </a:xfrm>
          <a:prstGeom prst="roundRect">
            <a:avLst>
              <a:gd name="adj" fmla="val 15625"/>
            </a:avLst>
          </a:prstGeom>
          <a:solidFill>
            <a:srgbClr val="CC0000"/>
          </a:solidFill>
          <a:ln w="12700">
            <a:solidFill>
              <a:srgbClr val="CC0000"/>
            </a:solidFill>
            <a:prstDash val="solid"/>
          </a:ln>
        </p:spPr>
      </p:sp>
      <p:sp>
        <p:nvSpPr>
          <p:cNvPr id="3" name="Text 1"/>
          <p:cNvSpPr/>
          <p:nvPr/>
        </p:nvSpPr>
        <p:spPr>
          <a:xfrm>
            <a:off x="7132320" y="164592"/>
            <a:ext cx="1737360" cy="292608"/>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Arial" pitchFamily="34" charset="0"/>
                <a:ea typeface="Arial" pitchFamily="34" charset="-122"/>
                <a:cs typeface="Arial" pitchFamily="34" charset="-120"/>
              </a:rPr>
              <a:t>RISKS</a:t>
            </a:r>
            <a:endParaRPr lang="en-US" sz="1000" dirty="0"/>
          </a:p>
        </p:txBody>
      </p:sp>
      <p:sp>
        <p:nvSpPr>
          <p:cNvPr id="4" name="Text 2"/>
          <p:cNvSpPr/>
          <p:nvPr/>
        </p:nvSpPr>
        <p:spPr>
          <a:xfrm>
            <a:off x="457200" y="182880"/>
            <a:ext cx="6583680" cy="685800"/>
          </a:xfrm>
          <a:prstGeom prst="rect">
            <a:avLst/>
          </a:prstGeom>
          <a:noFill/>
          <a:ln/>
        </p:spPr>
        <p:txBody>
          <a:bodyPr wrap="square" lIns="0" tIns="0" rIns="0" bIns="0" rtlCol="0" anchor="t"/>
          <a:lstStyle/>
          <a:p>
            <a:pPr indent="0" marL="0">
              <a:buNone/>
            </a:pPr>
            <a:r>
              <a:rPr lang="en-US" sz="2400" b="1" dirty="0">
                <a:solidFill>
                  <a:srgbClr val="000000"/>
                </a:solidFill>
                <a:latin typeface="Arial Black" pitchFamily="34" charset="0"/>
                <a:ea typeface="Arial Black" pitchFamily="34" charset="-122"/>
                <a:cs typeface="Arial Black" pitchFamily="34" charset="-120"/>
              </a:rPr>
              <a:t>AI is losing the public — and that's now a market risk</a:t>
            </a:r>
            <a:endParaRPr lang="en-US" sz="2400" dirty="0"/>
          </a:p>
        </p:txBody>
      </p:sp>
      <p:sp>
        <p:nvSpPr>
          <p:cNvPr id="5" name="Text 3"/>
          <p:cNvSpPr/>
          <p:nvPr/>
        </p:nvSpPr>
        <p:spPr>
          <a:xfrm>
            <a:off x="457200" y="914400"/>
            <a:ext cx="8229600" cy="457200"/>
          </a:xfrm>
          <a:prstGeom prst="rect">
            <a:avLst/>
          </a:prstGeom>
          <a:noFill/>
          <a:ln/>
        </p:spPr>
        <p:txBody>
          <a:bodyPr wrap="square" lIns="0" tIns="0" rIns="0" bIns="0" rtlCol="0" anchor="t"/>
          <a:lstStyle/>
          <a:p>
            <a:pPr indent="0" marL="0">
              <a:buNone/>
            </a:pPr>
            <a:r>
              <a:rPr lang="en-US" sz="1350" dirty="0">
                <a:solidFill>
                  <a:srgbClr val="666666"/>
                </a:solidFill>
                <a:latin typeface="Arial" pitchFamily="34" charset="0"/>
                <a:ea typeface="Arial" pitchFamily="34" charset="-122"/>
                <a:cs typeface="Arial" pitchFamily="34" charset="-120"/>
              </a:rPr>
              <a:t>Sentiment is sliding, the NIMBY revolt is quantified and accelerating, and AI has become a 2026 political issue.</a:t>
            </a:r>
            <a:endParaRPr lang="en-US" sz="1350" dirty="0"/>
          </a:p>
        </p:txBody>
      </p:sp>
      <p:sp>
        <p:nvSpPr>
          <p:cNvPr id="6" name="Shape 4"/>
          <p:cNvSpPr/>
          <p:nvPr/>
        </p:nvSpPr>
        <p:spPr>
          <a:xfrm>
            <a:off x="457200" y="1325880"/>
            <a:ext cx="8229600" cy="0"/>
          </a:xfrm>
          <a:prstGeom prst="line">
            <a:avLst/>
          </a:prstGeom>
          <a:noFill/>
          <a:ln w="9525">
            <a:solidFill>
              <a:srgbClr val="E5E5E5"/>
            </a:solidFill>
            <a:prstDash val="solid"/>
          </a:ln>
        </p:spPr>
      </p:sp>
      <p:sp>
        <p:nvSpPr>
          <p:cNvPr id="7" name="Text 5"/>
          <p:cNvSpPr/>
          <p:nvPr/>
        </p:nvSpPr>
        <p:spPr>
          <a:xfrm>
            <a:off x="457200" y="1463040"/>
            <a:ext cx="3931920" cy="274320"/>
          </a:xfrm>
          <a:prstGeom prst="rect">
            <a:avLst/>
          </a:prstGeom>
          <a:noFill/>
          <a:ln/>
        </p:spPr>
        <p:txBody>
          <a:bodyPr wrap="square" lIns="0" tIns="0" rIns="0" bIns="0" rtlCol="0" anchor="b"/>
          <a:lstStyle/>
          <a:p>
            <a:pPr indent="0" marL="0">
              <a:buNone/>
            </a:pPr>
            <a:r>
              <a:rPr lang="en-US" sz="1400" b="1" dirty="0">
                <a:solidFill>
                  <a:srgbClr val="000000"/>
                </a:solidFill>
                <a:latin typeface="Arial" pitchFamily="34" charset="0"/>
                <a:ea typeface="Arial" pitchFamily="34" charset="-122"/>
                <a:cs typeface="Arial" pitchFamily="34" charset="-120"/>
              </a:rPr>
              <a:t>More concerned than excited about AI (%)</a:t>
            </a:r>
            <a:endParaRPr lang="en-US" sz="1400" dirty="0"/>
          </a:p>
        </p:txBody>
      </p:sp>
      <p:sp>
        <p:nvSpPr>
          <p:cNvPr id="8" name="Shape 6"/>
          <p:cNvSpPr/>
          <p:nvPr/>
        </p:nvSpPr>
        <p:spPr>
          <a:xfrm>
            <a:off x="457200" y="1737360"/>
            <a:ext cx="3931920" cy="0"/>
          </a:xfrm>
          <a:prstGeom prst="line">
            <a:avLst/>
          </a:prstGeom>
          <a:noFill/>
          <a:ln w="19050">
            <a:solidFill>
              <a:srgbClr val="000000"/>
            </a:solidFill>
            <a:prstDash val="solid"/>
          </a:ln>
        </p:spPr>
      </p:sp>
      <p:graphicFrame>
        <p:nvGraphicFramePr>
          <p:cNvPr id="9" name="Chart 0" descr=""/>
          <p:cNvGraphicFramePr/>
          <p:nvPr/>
        </p:nvGraphicFramePr>
        <p:xfrm>
          <a:off x="457200" y="1874520"/>
          <a:ext cx="3931920" cy="1965960"/>
        </p:xfrm>
        <a:graphic xmlns:a="http://schemas.openxmlformats.org/drawingml/2006/main">
          <a:graphicData uri="http://schemas.openxmlformats.org/drawingml/2006/chart">
            <c:chart xmlns:c="http://schemas.openxmlformats.org/drawingml/2006/chart" r:id="rId1"/>
          </a:graphicData>
        </a:graphic>
      </p:graphicFrame>
      <p:sp>
        <p:nvSpPr>
          <p:cNvPr id="10" name="Text 7"/>
          <p:cNvSpPr/>
          <p:nvPr/>
        </p:nvSpPr>
        <p:spPr>
          <a:xfrm>
            <a:off x="457200" y="4069080"/>
            <a:ext cx="3931920" cy="274320"/>
          </a:xfrm>
          <a:prstGeom prst="rect">
            <a:avLst/>
          </a:prstGeom>
          <a:noFill/>
          <a:ln/>
        </p:spPr>
        <p:txBody>
          <a:bodyPr wrap="square" lIns="0" tIns="0" rIns="0" bIns="0" rtlCol="0" anchor="ctr"/>
          <a:lstStyle/>
          <a:p>
            <a:pPr indent="0" marL="0">
              <a:buNone/>
            </a:pPr>
            <a:r>
              <a:rPr lang="en-US" sz="1400" b="1" dirty="0">
                <a:solidFill>
                  <a:srgbClr val="CC0000"/>
                </a:solidFill>
                <a:latin typeface="Arial" pitchFamily="34" charset="0"/>
                <a:ea typeface="Arial" pitchFamily="34" charset="-122"/>
                <a:cs typeface="Arial" pitchFamily="34" charset="-120"/>
              </a:rPr>
              <a:t>70%+ </a:t>
            </a:r>
            <a:pPr indent="0" marL="0">
              <a:buNone/>
            </a:pPr>
            <a:r>
              <a:rPr lang="en-US" sz="1050" dirty="0">
                <a:solidFill>
                  <a:srgbClr val="333333"/>
                </a:solidFill>
                <a:latin typeface="Arial" pitchFamily="34" charset="0"/>
                <a:ea typeface="Arial" pitchFamily="34" charset="-122"/>
                <a:cs typeface="Arial" pitchFamily="34" charset="-120"/>
              </a:rPr>
              <a:t>say AI is advancing too quickly (bipartisan).</a:t>
            </a:r>
            <a:endParaRPr lang="en-US" sz="1400" dirty="0"/>
          </a:p>
        </p:txBody>
      </p:sp>
      <p:sp>
        <p:nvSpPr>
          <p:cNvPr id="11" name="Text 8"/>
          <p:cNvSpPr/>
          <p:nvPr/>
        </p:nvSpPr>
        <p:spPr>
          <a:xfrm>
            <a:off x="457200" y="4407408"/>
            <a:ext cx="3931920" cy="274320"/>
          </a:xfrm>
          <a:prstGeom prst="rect">
            <a:avLst/>
          </a:prstGeom>
          <a:noFill/>
          <a:ln/>
        </p:spPr>
        <p:txBody>
          <a:bodyPr wrap="square" lIns="0" tIns="0" rIns="0" bIns="0" rtlCol="0" anchor="ctr"/>
          <a:lstStyle/>
          <a:p>
            <a:pPr indent="0" marL="0">
              <a:buNone/>
            </a:pPr>
            <a:r>
              <a:rPr lang="en-US" sz="1400" b="1" dirty="0">
                <a:solidFill>
                  <a:srgbClr val="CC0000"/>
                </a:solidFill>
                <a:latin typeface="Arial" pitchFamily="34" charset="0"/>
                <a:ea typeface="Arial" pitchFamily="34" charset="-122"/>
                <a:cs typeface="Arial" pitchFamily="34" charset="-120"/>
              </a:rPr>
              <a:t>31% </a:t>
            </a:r>
            <a:pPr indent="0" marL="0">
              <a:buNone/>
            </a:pPr>
            <a:r>
              <a:rPr lang="en-US" sz="1050" dirty="0">
                <a:solidFill>
                  <a:srgbClr val="333333"/>
                </a:solidFill>
                <a:latin typeface="Arial" pitchFamily="34" charset="0"/>
                <a:ea typeface="Arial" pitchFamily="34" charset="-122"/>
                <a:cs typeface="Arial" pitchFamily="34" charset="-120"/>
              </a:rPr>
              <a:t>trust government to regulate AI responsibly.</a:t>
            </a:r>
            <a:endParaRPr lang="en-US" sz="1400" dirty="0"/>
          </a:p>
        </p:txBody>
      </p:sp>
      <p:sp>
        <p:nvSpPr>
          <p:cNvPr id="12" name="Text 9"/>
          <p:cNvSpPr/>
          <p:nvPr/>
        </p:nvSpPr>
        <p:spPr>
          <a:xfrm>
            <a:off x="457200" y="4745736"/>
            <a:ext cx="3931920" cy="274320"/>
          </a:xfrm>
          <a:prstGeom prst="rect">
            <a:avLst/>
          </a:prstGeom>
          <a:noFill/>
          <a:ln/>
        </p:spPr>
        <p:txBody>
          <a:bodyPr wrap="square" lIns="0" tIns="0" rIns="0" bIns="0" rtlCol="0" anchor="ctr"/>
          <a:lstStyle/>
          <a:p>
            <a:pPr indent="0" marL="0">
              <a:buNone/>
            </a:pPr>
            <a:r>
              <a:rPr lang="en-US" sz="1400" b="1" dirty="0">
                <a:solidFill>
                  <a:srgbClr val="CC0000"/>
                </a:solidFill>
                <a:latin typeface="Arial" pitchFamily="34" charset="0"/>
                <a:ea typeface="Arial" pitchFamily="34" charset="-122"/>
                <a:cs typeface="Arial" pitchFamily="34" charset="-120"/>
              </a:rPr>
              <a:t>18% </a:t>
            </a:r>
            <a:pPr indent="0" marL="0">
              <a:buNone/>
            </a:pPr>
            <a:r>
              <a:rPr lang="en-US" sz="1050" dirty="0">
                <a:solidFill>
                  <a:srgbClr val="333333"/>
                </a:solidFill>
                <a:latin typeface="Arial" pitchFamily="34" charset="0"/>
                <a:ea typeface="Arial" pitchFamily="34" charset="-122"/>
                <a:cs typeface="Arial" pitchFamily="34" charset="-120"/>
              </a:rPr>
              <a:t>of adults under 30 feel hopeful about AI.</a:t>
            </a:r>
            <a:endParaRPr lang="en-US" sz="1400" dirty="0"/>
          </a:p>
        </p:txBody>
      </p:sp>
      <p:sp>
        <p:nvSpPr>
          <p:cNvPr id="13" name="Shape 10"/>
          <p:cNvSpPr/>
          <p:nvPr/>
        </p:nvSpPr>
        <p:spPr>
          <a:xfrm>
            <a:off x="4526280" y="1828800"/>
            <a:ext cx="4160520" cy="1298448"/>
          </a:xfrm>
          <a:prstGeom prst="rect">
            <a:avLst/>
          </a:prstGeom>
          <a:solidFill>
            <a:srgbClr val="F9F9F9"/>
          </a:solidFill>
          <a:ln w="6350">
            <a:solidFill>
              <a:srgbClr val="E5E5E5"/>
            </a:solidFill>
            <a:prstDash val="solid"/>
          </a:ln>
        </p:spPr>
      </p:sp>
      <p:sp>
        <p:nvSpPr>
          <p:cNvPr id="14" name="Shape 11"/>
          <p:cNvSpPr/>
          <p:nvPr/>
        </p:nvSpPr>
        <p:spPr>
          <a:xfrm>
            <a:off x="4526280" y="1828800"/>
            <a:ext cx="4160520" cy="274320"/>
          </a:xfrm>
          <a:prstGeom prst="rect">
            <a:avLst/>
          </a:prstGeom>
          <a:solidFill>
            <a:srgbClr val="CC0000"/>
          </a:solidFill>
          <a:ln w="12700">
            <a:solidFill>
              <a:srgbClr val="CC0000"/>
            </a:solidFill>
            <a:prstDash val="solid"/>
          </a:ln>
        </p:spPr>
      </p:sp>
      <p:sp>
        <p:nvSpPr>
          <p:cNvPr id="15" name="Text 12"/>
          <p:cNvSpPr/>
          <p:nvPr/>
        </p:nvSpPr>
        <p:spPr>
          <a:xfrm>
            <a:off x="4526280" y="1828800"/>
            <a:ext cx="4160520" cy="274320"/>
          </a:xfrm>
          <a:prstGeom prst="rect">
            <a:avLst/>
          </a:prstGeom>
          <a:noFill/>
          <a:ln/>
        </p:spPr>
        <p:txBody>
          <a:bodyPr wrap="square" lIns="1524" tIns="1524" rIns="1524" bIns="1524" rtlCol="0" anchor="ctr"/>
          <a:lstStyle/>
          <a:p>
            <a:pPr algn="l" indent="0" marL="0">
              <a:buNone/>
            </a:pPr>
            <a:r>
              <a:rPr lang="en-US" sz="950" b="1" spc="100" kern="0" dirty="0">
                <a:solidFill>
                  <a:srgbClr val="FFFFFF"/>
                </a:solidFill>
                <a:latin typeface="Arial" pitchFamily="34" charset="0"/>
                <a:ea typeface="Arial" pitchFamily="34" charset="-122"/>
                <a:cs typeface="Arial" pitchFamily="34" charset="-120"/>
              </a:rPr>
              <a:t>NIMBY — QUANTIFIED &amp; ACCELERATING</a:t>
            </a:r>
            <a:endParaRPr lang="en-US" sz="950" dirty="0"/>
          </a:p>
        </p:txBody>
      </p:sp>
      <p:sp>
        <p:nvSpPr>
          <p:cNvPr id="16" name="Text 13"/>
          <p:cNvSpPr/>
          <p:nvPr/>
        </p:nvSpPr>
        <p:spPr>
          <a:xfrm>
            <a:off x="4663440" y="2176272"/>
            <a:ext cx="3886200" cy="877824"/>
          </a:xfrm>
          <a:prstGeom prst="rect">
            <a:avLst/>
          </a:prstGeom>
          <a:noFill/>
          <a:ln/>
        </p:spPr>
        <p:txBody>
          <a:bodyPr wrap="square" lIns="0" tIns="0" rIns="0" bIns="0" rtlCol="0" anchor="t"/>
          <a:lstStyle/>
          <a:p>
            <a:pPr indent="0" marL="0">
              <a:buNone/>
            </a:pPr>
            <a:r>
              <a:rPr lang="en-US" sz="1000" dirty="0">
                <a:solidFill>
                  <a:srgbClr val="333333"/>
                </a:solidFill>
                <a:latin typeface="Arial" pitchFamily="34" charset="0"/>
                <a:ea typeface="Arial" pitchFamily="34" charset="-122"/>
                <a:cs typeface="Arial" pitchFamily="34" charset="-120"/>
              </a:rPr>
              <a:t>~$64B of data-center projects blocked or delayed — now 188 activist groups across 40 states (was 142 / 24). 71% of Americans oppose a data center in their area — worse than nuclear.</a:t>
            </a:r>
            <a:endParaRPr lang="en-US" sz="1000" dirty="0"/>
          </a:p>
        </p:txBody>
      </p:sp>
      <p:sp>
        <p:nvSpPr>
          <p:cNvPr id="17" name="Shape 14"/>
          <p:cNvSpPr/>
          <p:nvPr/>
        </p:nvSpPr>
        <p:spPr>
          <a:xfrm>
            <a:off x="4526280" y="3218688"/>
            <a:ext cx="4160520" cy="1298448"/>
          </a:xfrm>
          <a:prstGeom prst="rect">
            <a:avLst/>
          </a:prstGeom>
          <a:solidFill>
            <a:srgbClr val="F9F9F9"/>
          </a:solidFill>
          <a:ln w="6350">
            <a:solidFill>
              <a:srgbClr val="E5E5E5"/>
            </a:solidFill>
            <a:prstDash val="solid"/>
          </a:ln>
        </p:spPr>
      </p:sp>
      <p:sp>
        <p:nvSpPr>
          <p:cNvPr id="18" name="Shape 15"/>
          <p:cNvSpPr/>
          <p:nvPr/>
        </p:nvSpPr>
        <p:spPr>
          <a:xfrm>
            <a:off x="4526280" y="3218688"/>
            <a:ext cx="4160520" cy="274320"/>
          </a:xfrm>
          <a:prstGeom prst="rect">
            <a:avLst/>
          </a:prstGeom>
          <a:solidFill>
            <a:srgbClr val="CC0000"/>
          </a:solidFill>
          <a:ln w="12700">
            <a:solidFill>
              <a:srgbClr val="CC0000"/>
            </a:solidFill>
            <a:prstDash val="solid"/>
          </a:ln>
        </p:spPr>
      </p:sp>
      <p:sp>
        <p:nvSpPr>
          <p:cNvPr id="19" name="Text 16"/>
          <p:cNvSpPr/>
          <p:nvPr/>
        </p:nvSpPr>
        <p:spPr>
          <a:xfrm>
            <a:off x="4526280" y="3218688"/>
            <a:ext cx="4160520" cy="274320"/>
          </a:xfrm>
          <a:prstGeom prst="rect">
            <a:avLst/>
          </a:prstGeom>
          <a:noFill/>
          <a:ln/>
        </p:spPr>
        <p:txBody>
          <a:bodyPr wrap="square" lIns="1524" tIns="1524" rIns="1524" bIns="1524" rtlCol="0" anchor="ctr"/>
          <a:lstStyle/>
          <a:p>
            <a:pPr algn="l" indent="0" marL="0">
              <a:buNone/>
            </a:pPr>
            <a:r>
              <a:rPr lang="en-US" sz="950" b="1" spc="100" kern="0" dirty="0">
                <a:solidFill>
                  <a:srgbClr val="FFFFFF"/>
                </a:solidFill>
                <a:latin typeface="Arial" pitchFamily="34" charset="0"/>
                <a:ea typeface="Arial" pitchFamily="34" charset="-122"/>
                <a:cs typeface="Arial" pitchFamily="34" charset="-120"/>
              </a:rPr>
              <a:t>NOW A 2026 POLITICAL ISSUE</a:t>
            </a:r>
            <a:endParaRPr lang="en-US" sz="950" dirty="0"/>
          </a:p>
        </p:txBody>
      </p:sp>
      <p:sp>
        <p:nvSpPr>
          <p:cNvPr id="20" name="Text 17"/>
          <p:cNvSpPr/>
          <p:nvPr/>
        </p:nvSpPr>
        <p:spPr>
          <a:xfrm>
            <a:off x="4663440" y="3566160"/>
            <a:ext cx="3886200" cy="877824"/>
          </a:xfrm>
          <a:prstGeom prst="rect">
            <a:avLst/>
          </a:prstGeom>
          <a:noFill/>
          <a:ln/>
        </p:spPr>
        <p:txBody>
          <a:bodyPr wrap="square" lIns="0" tIns="0" rIns="0" bIns="0" rtlCol="0" anchor="t"/>
          <a:lstStyle/>
          <a:p>
            <a:pPr indent="0" marL="0">
              <a:buNone/>
            </a:pPr>
            <a:r>
              <a:rPr lang="en-US" sz="1000" dirty="0">
                <a:solidFill>
                  <a:srgbClr val="333333"/>
                </a:solidFill>
                <a:latin typeface="Arial" pitchFamily="34" charset="0"/>
                <a:ea typeface="Arial" pitchFamily="34" charset="-122"/>
                <a:cs typeface="Arial" pitchFamily="34" charset="-120"/>
              </a:rPr>
              <a:t>Pro-AI super PAC “Leading the Future” has raised $125M+ for the midterms; a “Bernie-to-Bannon” coalition and state moratoria (Maine, Georgia, Vermont; an Ohio ballot measure) are forming.</a:t>
            </a:r>
            <a:endParaRPr lang="en-US" sz="1000" dirty="0"/>
          </a:p>
        </p:txBody>
      </p:sp>
      <p:sp>
        <p:nvSpPr>
          <p:cNvPr id="21" name="Shape 18"/>
          <p:cNvSpPr/>
          <p:nvPr/>
        </p:nvSpPr>
        <p:spPr>
          <a:xfrm>
            <a:off x="4526280" y="4608576"/>
            <a:ext cx="4160520" cy="658368"/>
          </a:xfrm>
          <a:prstGeom prst="rect">
            <a:avLst/>
          </a:prstGeom>
          <a:solidFill>
            <a:srgbClr val="F9F9F9"/>
          </a:solidFill>
          <a:ln w="6350">
            <a:solidFill>
              <a:srgbClr val="E5E5E5"/>
            </a:solidFill>
            <a:prstDash val="solid"/>
          </a:ln>
        </p:spPr>
      </p:sp>
      <p:sp>
        <p:nvSpPr>
          <p:cNvPr id="22" name="Shape 19"/>
          <p:cNvSpPr/>
          <p:nvPr/>
        </p:nvSpPr>
        <p:spPr>
          <a:xfrm>
            <a:off x="4526280" y="4608576"/>
            <a:ext cx="4160520" cy="274320"/>
          </a:xfrm>
          <a:prstGeom prst="rect">
            <a:avLst/>
          </a:prstGeom>
          <a:solidFill>
            <a:srgbClr val="CC0000"/>
          </a:solidFill>
          <a:ln w="12700">
            <a:solidFill>
              <a:srgbClr val="CC0000"/>
            </a:solidFill>
            <a:prstDash val="solid"/>
          </a:ln>
        </p:spPr>
      </p:sp>
      <p:sp>
        <p:nvSpPr>
          <p:cNvPr id="23" name="Text 20"/>
          <p:cNvSpPr/>
          <p:nvPr/>
        </p:nvSpPr>
        <p:spPr>
          <a:xfrm>
            <a:off x="4526280" y="4608576"/>
            <a:ext cx="4160520" cy="274320"/>
          </a:xfrm>
          <a:prstGeom prst="rect">
            <a:avLst/>
          </a:prstGeom>
          <a:noFill/>
          <a:ln/>
        </p:spPr>
        <p:txBody>
          <a:bodyPr wrap="square" lIns="1524" tIns="1524" rIns="1524" bIns="1524" rtlCol="0" anchor="ctr"/>
          <a:lstStyle/>
          <a:p>
            <a:pPr algn="l" indent="0" marL="0">
              <a:buNone/>
            </a:pPr>
            <a:r>
              <a:rPr lang="en-US" sz="950" b="1" spc="100" kern="0" dirty="0">
                <a:solidFill>
                  <a:srgbClr val="FFFFFF"/>
                </a:solidFill>
                <a:latin typeface="Arial" pitchFamily="34" charset="0"/>
                <a:ea typeface="Arial" pitchFamily="34" charset="-122"/>
                <a:cs typeface="Arial" pitchFamily="34" charset="-120"/>
              </a:rPr>
              <a:t>LABOR</a:t>
            </a:r>
            <a:endParaRPr lang="en-US" sz="950" dirty="0"/>
          </a:p>
        </p:txBody>
      </p:sp>
      <p:sp>
        <p:nvSpPr>
          <p:cNvPr id="24" name="Text 21"/>
          <p:cNvSpPr/>
          <p:nvPr/>
        </p:nvSpPr>
        <p:spPr>
          <a:xfrm>
            <a:off x="4663440" y="4956048"/>
            <a:ext cx="3886200" cy="237744"/>
          </a:xfrm>
          <a:prstGeom prst="rect">
            <a:avLst/>
          </a:prstGeom>
          <a:noFill/>
          <a:ln/>
        </p:spPr>
        <p:txBody>
          <a:bodyPr wrap="square" lIns="0" tIns="0" rIns="0" bIns="0" rtlCol="0" anchor="t"/>
          <a:lstStyle/>
          <a:p>
            <a:pPr indent="0" marL="0">
              <a:buNone/>
            </a:pPr>
            <a:r>
              <a:rPr lang="en-US" sz="1000" dirty="0">
                <a:solidFill>
                  <a:srgbClr val="333333"/>
                </a:solidFill>
                <a:latin typeface="Arial" pitchFamily="34" charset="0"/>
                <a:ea typeface="Arial" pitchFamily="34" charset="-122"/>
                <a:cs typeface="Arial" pitchFamily="34" charset="-120"/>
              </a:rPr>
              <a:t>~480K data-center workforce gap — talent, not capital, binds.</a:t>
            </a:r>
            <a:endParaRPr lang="en-US" sz="1000" dirty="0"/>
          </a:p>
        </p:txBody>
      </p:sp>
      <p:sp>
        <p:nvSpPr>
          <p:cNvPr id="25" name="Shape 22"/>
          <p:cNvSpPr/>
          <p:nvPr/>
        </p:nvSpPr>
        <p:spPr>
          <a:xfrm>
            <a:off x="457200" y="5394960"/>
            <a:ext cx="8229600" cy="365760"/>
          </a:xfrm>
          <a:prstGeom prst="rect">
            <a:avLst/>
          </a:prstGeom>
          <a:solidFill>
            <a:srgbClr val="CC0000"/>
          </a:solidFill>
          <a:ln w="12700">
            <a:solidFill>
              <a:srgbClr val="CC0000"/>
            </a:solidFill>
            <a:prstDash val="solid"/>
          </a:ln>
        </p:spPr>
      </p:sp>
      <p:sp>
        <p:nvSpPr>
          <p:cNvPr id="26" name="Text 23"/>
          <p:cNvSpPr/>
          <p:nvPr/>
        </p:nvSpPr>
        <p:spPr>
          <a:xfrm>
            <a:off x="640080" y="5394960"/>
            <a:ext cx="7863840" cy="365760"/>
          </a:xfrm>
          <a:prstGeom prst="rect">
            <a:avLst/>
          </a:prstGeom>
          <a:noFill/>
          <a:ln/>
        </p:spPr>
        <p:txBody>
          <a:bodyPr wrap="square" lIns="0" tIns="0" rIns="0" bIns="0" rtlCol="0" anchor="ctr"/>
          <a:lstStyle/>
          <a:p>
            <a:pPr indent="0" marL="0">
              <a:buNone/>
            </a:pPr>
            <a:r>
              <a:rPr lang="en-US" sz="1100" b="1" dirty="0">
                <a:solidFill>
                  <a:srgbClr val="FFFFFF"/>
                </a:solidFill>
                <a:latin typeface="Arial" pitchFamily="34" charset="0"/>
                <a:ea typeface="Arial" pitchFamily="34" charset="-122"/>
                <a:cs typeface="Arial" pitchFamily="34" charset="-120"/>
              </a:rPr>
              <a:t>The permitting layer is the new supply-chain layer — politically, not technically, constrained.</a:t>
            </a:r>
            <a:endParaRPr lang="en-US" sz="1100" dirty="0"/>
          </a:p>
        </p:txBody>
      </p:sp>
      <p:sp>
        <p:nvSpPr>
          <p:cNvPr id="27" name="Text 24"/>
          <p:cNvSpPr/>
          <p:nvPr/>
        </p:nvSpPr>
        <p:spPr>
          <a:xfrm>
            <a:off x="457200" y="5875020"/>
            <a:ext cx="8229600" cy="457200"/>
          </a:xfrm>
          <a:prstGeom prst="rect">
            <a:avLst/>
          </a:prstGeom>
          <a:noFill/>
          <a:ln/>
        </p:spPr>
        <p:txBody>
          <a:bodyPr wrap="square" lIns="0" tIns="0" rIns="0" bIns="0" rtlCol="0" anchor="t"/>
          <a:lstStyle/>
          <a:p>
            <a:pPr indent="0" marL="0">
              <a:buNone/>
            </a:pPr>
            <a:r>
              <a:rPr lang="en-US" sz="700" b="1" dirty="0">
                <a:solidFill>
                  <a:srgbClr val="999999"/>
                </a:solidFill>
                <a:latin typeface="Arial" pitchFamily="34" charset="0"/>
                <a:ea typeface="Arial" pitchFamily="34" charset="-122"/>
                <a:cs typeface="Arial" pitchFamily="34" charset="-120"/>
              </a:rPr>
              <a:t>(1) </a:t>
            </a:r>
            <a:pPr indent="0" marL="0">
              <a:buNone/>
            </a:pPr>
            <a:r>
              <a:rPr lang="en-US" sz="700" dirty="0">
                <a:solidFill>
                  <a:srgbClr val="999999"/>
                </a:solidFill>
                <a:latin typeface="Arial" pitchFamily="34" charset="0"/>
                <a:ea typeface="Arial" pitchFamily="34" charset="-122"/>
                <a:cs typeface="Arial" pitchFamily="34" charset="-120"/>
              </a:rPr>
              <a:t>Pew Research — Americans' views of AI (Mar 2026), </a:t>
            </a:r>
            <a:pPr indent="0" marL="0">
              <a:buNone/>
            </a:pPr>
            <a:r>
              <a:rPr lang="en-US" sz="700" b="1" dirty="0">
                <a:solidFill>
                  <a:srgbClr val="999999"/>
                </a:solidFill>
                <a:latin typeface="Arial" pitchFamily="34" charset="0"/>
                <a:ea typeface="Arial" pitchFamily="34" charset="-122"/>
                <a:cs typeface="Arial" pitchFamily="34" charset="-120"/>
              </a:rPr>
              <a:t>(2) </a:t>
            </a:r>
            <a:pPr indent="0" marL="0">
              <a:buNone/>
            </a:pPr>
            <a:r>
              <a:rPr lang="en-US" sz="700" dirty="0">
                <a:solidFill>
                  <a:srgbClr val="999999"/>
                </a:solidFill>
                <a:latin typeface="Arial" pitchFamily="34" charset="0"/>
                <a:ea typeface="Arial" pitchFamily="34" charset="-122"/>
                <a:cs typeface="Arial" pitchFamily="34" charset="-120"/>
              </a:rPr>
              <a:t>Economist/YouGov (May 2026); Stanford AI Index 2026; Gallup, </a:t>
            </a:r>
            <a:pPr indent="0" marL="0">
              <a:buNone/>
            </a:pPr>
            <a:r>
              <a:rPr lang="en-US" sz="700" b="1" dirty="0">
                <a:solidFill>
                  <a:srgbClr val="999999"/>
                </a:solidFill>
                <a:latin typeface="Arial" pitchFamily="34" charset="0"/>
                <a:ea typeface="Arial" pitchFamily="34" charset="-122"/>
                <a:cs typeface="Arial" pitchFamily="34" charset="-120"/>
              </a:rPr>
              <a:t>(3) </a:t>
            </a:r>
            <a:pPr indent="0" marL="0">
              <a:buNone/>
            </a:pPr>
            <a:r>
              <a:rPr lang="en-US" sz="700" dirty="0">
                <a:solidFill>
                  <a:srgbClr val="999999"/>
                </a:solidFill>
                <a:latin typeface="Arial" pitchFamily="34" charset="0"/>
                <a:ea typeface="Arial" pitchFamily="34" charset="-122"/>
                <a:cs typeface="Arial" pitchFamily="34" charset="-120"/>
              </a:rPr>
              <a:t>DataCenterWatch; Fortune (May 2026); Gallup data-center poll (Mar 2026), </a:t>
            </a:r>
            <a:pPr indent="0" marL="0">
              <a:buNone/>
            </a:pPr>
            <a:r>
              <a:rPr lang="en-US" sz="700" b="1" dirty="0">
                <a:solidFill>
                  <a:srgbClr val="999999"/>
                </a:solidFill>
                <a:latin typeface="Arial" pitchFamily="34" charset="0"/>
                <a:ea typeface="Arial" pitchFamily="34" charset="-122"/>
                <a:cs typeface="Arial" pitchFamily="34" charset="-120"/>
              </a:rPr>
              <a:t>(4) </a:t>
            </a:r>
            <a:pPr indent="0" marL="0">
              <a:buNone/>
            </a:pPr>
            <a:r>
              <a:rPr lang="en-US" sz="700" dirty="0">
                <a:solidFill>
                  <a:srgbClr val="999999"/>
                </a:solidFill>
                <a:latin typeface="Arial" pitchFamily="34" charset="0"/>
                <a:ea typeface="Arial" pitchFamily="34" charset="-122"/>
                <a:cs typeface="Arial" pitchFamily="34" charset="-120"/>
              </a:rPr>
              <a:t>“Leading the Future” super PAC — CNBC/NOTUS; MultiState (state measures, May 2026), </a:t>
            </a:r>
            <a:pPr indent="0" marL="0">
              <a:buNone/>
            </a:pPr>
            <a:r>
              <a:rPr lang="en-US" sz="700" b="1" dirty="0">
                <a:solidFill>
                  <a:srgbClr val="999999"/>
                </a:solidFill>
                <a:latin typeface="Arial" pitchFamily="34" charset="0"/>
                <a:ea typeface="Arial" pitchFamily="34" charset="-122"/>
                <a:cs typeface="Arial" pitchFamily="34" charset="-120"/>
              </a:rPr>
              <a:t>(5) </a:t>
            </a:r>
            <a:pPr indent="0" marL="0">
              <a:buNone/>
            </a:pPr>
            <a:r>
              <a:rPr lang="en-US" sz="700" dirty="0">
                <a:solidFill>
                  <a:srgbClr val="999999"/>
                </a:solidFill>
                <a:latin typeface="Arial" pitchFamily="34" charset="0"/>
                <a:ea typeface="Arial" pitchFamily="34" charset="-122"/>
                <a:cs typeface="Arial" pitchFamily="34" charset="-120"/>
              </a:rPr>
              <a:t>Data Center Frontier — workforce gap, </a:t>
            </a:r>
            <a:pPr indent="0" marL="0">
              <a:buNone/>
            </a:pPr>
            <a:r>
              <a:rPr lang="en-US" sz="700" b="1" dirty="0">
                <a:solidFill>
                  <a:srgbClr val="999999"/>
                </a:solidFill>
                <a:latin typeface="Arial" pitchFamily="34" charset="0"/>
                <a:ea typeface="Arial" pitchFamily="34" charset="-122"/>
                <a:cs typeface="Arial" pitchFamily="34" charset="-120"/>
              </a:rPr>
              <a:t>(6) </a:t>
            </a:r>
            <a:pPr indent="0" marL="0">
              <a:buNone/>
            </a:pPr>
            <a:r>
              <a:rPr lang="en-US" sz="700" dirty="0">
                <a:solidFill>
                  <a:srgbClr val="999999"/>
                </a:solidFill>
                <a:latin typeface="Arial" pitchFamily="34" charset="0"/>
                <a:ea typeface="Arial" pitchFamily="34" charset="-122"/>
                <a:cs typeface="Arial" pitchFamily="34" charset="-120"/>
              </a:rPr>
              <a:t>Escalation: “Stop the AI Race” march (Mar 2026); reported attack on a lab CEO's home (Apr 2026).</a:t>
            </a:r>
            <a:endParaRPr lang="en-US" sz="700" dirty="0"/>
          </a:p>
        </p:txBody>
      </p:sp>
      <p:sp>
        <p:nvSpPr>
          <p:cNvPr id="28" name="Shape 25"/>
          <p:cNvSpPr/>
          <p:nvPr/>
        </p:nvSpPr>
        <p:spPr>
          <a:xfrm>
            <a:off x="0" y="6286500"/>
            <a:ext cx="9144000" cy="571500"/>
          </a:xfrm>
          <a:prstGeom prst="rect">
            <a:avLst/>
          </a:prstGeom>
          <a:solidFill>
            <a:srgbClr val="000000"/>
          </a:solidFill>
          <a:ln w="12700">
            <a:solidFill>
              <a:srgbClr val="000000"/>
            </a:solidFill>
            <a:prstDash val="solid"/>
          </a:ln>
        </p:spPr>
      </p:sp>
      <p:sp>
        <p:nvSpPr>
          <p:cNvPr id="29" name="Text 26"/>
          <p:cNvSpPr/>
          <p:nvPr/>
        </p:nvSpPr>
        <p:spPr>
          <a:xfrm>
            <a:off x="1371600" y="6332220"/>
            <a:ext cx="6400800" cy="457200"/>
          </a:xfrm>
          <a:prstGeom prst="rect">
            <a:avLst/>
          </a:prstGeom>
          <a:noFill/>
          <a:ln/>
        </p:spPr>
        <p:txBody>
          <a:bodyPr wrap="square" lIns="0" tIns="0" rIns="0" bIns="0" rtlCol="0" anchor="ctr"/>
          <a:lstStyle/>
          <a:p>
            <a:pPr algn="ctr" indent="0" marL="0">
              <a:buNone/>
            </a:pPr>
            <a:r>
              <a:rPr lang="en-US" sz="650" b="1" dirty="0">
                <a:solidFill>
                  <a:srgbClr val="FFFFFF"/>
                </a:solidFill>
                <a:latin typeface="Arial" pitchFamily="34" charset="0"/>
                <a:ea typeface="Arial" pitchFamily="34" charset="-122"/>
                <a:cs typeface="Arial" pitchFamily="34" charset="-120"/>
              </a:rPr>
              <a:t>FOR INFORMATIONAL PURPOSES ONLY. NOT INVESTMENT ADVICE. PAST PERFORMANCE IS NOT INDICATIVE OF FUTURE RESULTS.</a:t>
            </a:r>
            <a:endParaRPr lang="en-US" sz="650" dirty="0"/>
          </a:p>
        </p:txBody>
      </p:sp>
      <p:sp>
        <p:nvSpPr>
          <p:cNvPr id="30" name="Text 27"/>
          <p:cNvSpPr/>
          <p:nvPr/>
        </p:nvSpPr>
        <p:spPr>
          <a:xfrm>
            <a:off x="8321040" y="6405372"/>
            <a:ext cx="548640" cy="274320"/>
          </a:xfrm>
          <a:prstGeom prst="rect">
            <a:avLst/>
          </a:prstGeom>
          <a:noFill/>
          <a:ln/>
        </p:spPr>
        <p:txBody>
          <a:bodyPr wrap="square" lIns="0" tIns="0" rIns="0" bIns="0" rtlCol="0" anchor="ctr"/>
          <a:lstStyle/>
          <a:p>
            <a:pPr algn="r" indent="0" marL="0">
              <a:buNone/>
            </a:pPr>
            <a:r>
              <a:rPr lang="en-US" sz="900" dirty="0">
                <a:solidFill>
                  <a:srgbClr val="FFFFFF"/>
                </a:solidFill>
                <a:latin typeface="Arial" pitchFamily="34" charset="0"/>
                <a:ea typeface="Arial" pitchFamily="34" charset="-122"/>
                <a:cs typeface="Arial" pitchFamily="34" charset="-120"/>
              </a:rPr>
              <a:t>18</a:t>
            </a:r>
            <a:endParaRPr lang="en-US" sz="9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Shape 0"/>
          <p:cNvSpPr/>
          <p:nvPr/>
        </p:nvSpPr>
        <p:spPr>
          <a:xfrm>
            <a:off x="7132320" y="164592"/>
            <a:ext cx="1737360" cy="292608"/>
          </a:xfrm>
          <a:prstGeom prst="roundRect">
            <a:avLst>
              <a:gd name="adj" fmla="val 15625"/>
            </a:avLst>
          </a:prstGeom>
          <a:solidFill>
            <a:srgbClr val="6B46C1"/>
          </a:solidFill>
          <a:ln w="12700">
            <a:solidFill>
              <a:srgbClr val="6B46C1"/>
            </a:solidFill>
            <a:prstDash val="solid"/>
          </a:ln>
        </p:spPr>
      </p:sp>
      <p:sp>
        <p:nvSpPr>
          <p:cNvPr id="3" name="Text 1"/>
          <p:cNvSpPr/>
          <p:nvPr/>
        </p:nvSpPr>
        <p:spPr>
          <a:xfrm>
            <a:off x="7132320" y="164592"/>
            <a:ext cx="1737360" cy="292608"/>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Arial" pitchFamily="34" charset="0"/>
                <a:ea typeface="Arial" pitchFamily="34" charset="-122"/>
                <a:cs typeface="Arial" pitchFamily="34" charset="-120"/>
              </a:rPr>
              <a:t>FRONTIER</a:t>
            </a:r>
            <a:endParaRPr lang="en-US" sz="1000" dirty="0"/>
          </a:p>
        </p:txBody>
      </p:sp>
      <p:sp>
        <p:nvSpPr>
          <p:cNvPr id="4" name="Text 2"/>
          <p:cNvSpPr/>
          <p:nvPr/>
        </p:nvSpPr>
        <p:spPr>
          <a:xfrm>
            <a:off x="457200" y="182880"/>
            <a:ext cx="6583680" cy="685800"/>
          </a:xfrm>
          <a:prstGeom prst="rect">
            <a:avLst/>
          </a:prstGeom>
          <a:noFill/>
          <a:ln/>
        </p:spPr>
        <p:txBody>
          <a:bodyPr wrap="square" lIns="0" tIns="0" rIns="0" bIns="0" rtlCol="0" anchor="t"/>
          <a:lstStyle/>
          <a:p>
            <a:pPr indent="0" marL="0">
              <a:buNone/>
            </a:pPr>
            <a:r>
              <a:rPr lang="en-US" sz="2400" b="1" dirty="0">
                <a:solidFill>
                  <a:srgbClr val="000000"/>
                </a:solidFill>
                <a:latin typeface="Arial Black" pitchFamily="34" charset="0"/>
                <a:ea typeface="Arial Black" pitchFamily="34" charset="-122"/>
                <a:cs typeface="Arial Black" pitchFamily="34" charset="-120"/>
              </a:rPr>
              <a:t>Orbital compute sidesteps Earth-bound bottlenecks — pilot stage today</a:t>
            </a:r>
            <a:endParaRPr lang="en-US" sz="2400" dirty="0"/>
          </a:p>
        </p:txBody>
      </p:sp>
      <p:sp>
        <p:nvSpPr>
          <p:cNvPr id="5" name="Text 3"/>
          <p:cNvSpPr/>
          <p:nvPr/>
        </p:nvSpPr>
        <p:spPr>
          <a:xfrm>
            <a:off x="457200" y="914400"/>
            <a:ext cx="8229600" cy="457200"/>
          </a:xfrm>
          <a:prstGeom prst="rect">
            <a:avLst/>
          </a:prstGeom>
          <a:noFill/>
          <a:ln/>
        </p:spPr>
        <p:txBody>
          <a:bodyPr wrap="square" lIns="0" tIns="0" rIns="0" bIns="0" rtlCol="0" anchor="t"/>
          <a:lstStyle/>
          <a:p>
            <a:pPr indent="0" marL="0">
              <a:buNone/>
            </a:pPr>
            <a:r>
              <a:rPr lang="en-US" sz="1350" dirty="0">
                <a:solidFill>
                  <a:srgbClr val="666666"/>
                </a:solidFill>
                <a:latin typeface="Arial" pitchFamily="34" charset="0"/>
                <a:ea typeface="Arial" pitchFamily="34" charset="-122"/>
                <a:cs typeface="Arial" pitchFamily="34" charset="-120"/>
              </a:rPr>
              <a:t>No interconnection queue. No permits. No water. 1,361 W/m²</a:t>
            </a:r>
            <a:pPr indent="0" marL="0">
              <a:buNone/>
            </a:pPr>
            <a:r>
              <a:rPr lang="en-US" sz="700" baseline="30000" dirty="0">
                <a:solidFill>
                  <a:srgbClr val="666666"/>
                </a:solidFill>
                <a:latin typeface="Arial" pitchFamily="34" charset="0"/>
                <a:ea typeface="Arial" pitchFamily="34" charset="-122"/>
                <a:cs typeface="Arial" pitchFamily="34" charset="-120"/>
              </a:rPr>
              <a:t> 1</a:t>
            </a:r>
            <a:pPr indent="0" marL="0">
              <a:buNone/>
            </a:pPr>
            <a:r>
              <a:rPr lang="en-US" sz="1350" dirty="0">
                <a:solidFill>
                  <a:srgbClr val="666666"/>
                </a:solidFill>
                <a:latin typeface="Arial" pitchFamily="34" charset="0"/>
                <a:ea typeface="Arial" pitchFamily="34" charset="-122"/>
                <a:cs typeface="Arial" pitchFamily="34" charset="-120"/>
              </a:rPr>
              <a:t> of unfiltered solar, 24/7. Orbital compute sidesteps Earth's bottlenecks.</a:t>
            </a:r>
            <a:endParaRPr lang="en-US" sz="1350" dirty="0"/>
          </a:p>
        </p:txBody>
      </p:sp>
      <p:sp>
        <p:nvSpPr>
          <p:cNvPr id="6" name="Shape 4"/>
          <p:cNvSpPr/>
          <p:nvPr/>
        </p:nvSpPr>
        <p:spPr>
          <a:xfrm>
            <a:off x="457200" y="1325880"/>
            <a:ext cx="8229600" cy="0"/>
          </a:xfrm>
          <a:prstGeom prst="line">
            <a:avLst/>
          </a:prstGeom>
          <a:noFill/>
          <a:ln w="9525">
            <a:solidFill>
              <a:srgbClr val="E5E5E5"/>
            </a:solidFill>
            <a:prstDash val="solid"/>
          </a:ln>
        </p:spPr>
      </p:sp>
      <p:pic>
        <p:nvPicPr>
          <p:cNvPr id="7" name="Image 0" descr="slides-images/orbital.png">    </p:cNvPr>
          <p:cNvPicPr>
            <a:picLocks noChangeAspect="1"/>
          </p:cNvPicPr>
          <p:nvPr/>
        </p:nvPicPr>
        <p:blipFill>
          <a:blip r:embed="rId1"/>
          <a:srcRect l="0" r="0" t="0" b="0"/>
          <a:stretch/>
        </p:blipFill>
        <p:spPr>
          <a:xfrm>
            <a:off x="5349240" y="1463040"/>
            <a:ext cx="3337560" cy="3474720"/>
          </a:xfrm>
          <a:prstGeom prst="rect">
            <a:avLst/>
          </a:prstGeom>
        </p:spPr>
      </p:pic>
      <p:sp>
        <p:nvSpPr>
          <p:cNvPr id="8" name="Shape 5"/>
          <p:cNvSpPr/>
          <p:nvPr/>
        </p:nvSpPr>
        <p:spPr>
          <a:xfrm>
            <a:off x="457200" y="1463040"/>
            <a:ext cx="4709160" cy="320040"/>
          </a:xfrm>
          <a:prstGeom prst="rect">
            <a:avLst/>
          </a:prstGeom>
          <a:solidFill>
            <a:srgbClr val="333333"/>
          </a:solidFill>
          <a:ln w="12700">
            <a:solidFill>
              <a:srgbClr val="333333"/>
            </a:solidFill>
            <a:prstDash val="solid"/>
          </a:ln>
        </p:spPr>
      </p:sp>
      <p:sp>
        <p:nvSpPr>
          <p:cNvPr id="9" name="Text 6"/>
          <p:cNvSpPr/>
          <p:nvPr/>
        </p:nvSpPr>
        <p:spPr>
          <a:xfrm>
            <a:off x="457200" y="1463040"/>
            <a:ext cx="4709160" cy="320040"/>
          </a:xfrm>
          <a:prstGeom prst="rect">
            <a:avLst/>
          </a:prstGeom>
          <a:noFill/>
          <a:ln/>
        </p:spPr>
        <p:txBody>
          <a:bodyPr wrap="square" lIns="3810" tIns="3810" rIns="3810" bIns="3810" rtlCol="0" anchor="ctr"/>
          <a:lstStyle/>
          <a:p>
            <a:pPr algn="l" indent="0" marL="0">
              <a:buNone/>
            </a:pPr>
            <a:r>
              <a:rPr lang="en-US" sz="1100" b="1" spc="300" kern="0" dirty="0">
                <a:solidFill>
                  <a:srgbClr val="FFFFFF"/>
                </a:solidFill>
                <a:latin typeface="Arial" pitchFamily="34" charset="0"/>
                <a:ea typeface="Arial" pitchFamily="34" charset="-122"/>
                <a:cs typeface="Arial" pitchFamily="34" charset="-120"/>
              </a:rPr>
              <a:t>NO GRID QUEUE</a:t>
            </a:r>
            <a:endParaRPr lang="en-US" sz="1100" dirty="0"/>
          </a:p>
        </p:txBody>
      </p:sp>
      <p:sp>
        <p:nvSpPr>
          <p:cNvPr id="10" name="Shape 7"/>
          <p:cNvSpPr/>
          <p:nvPr/>
        </p:nvSpPr>
        <p:spPr>
          <a:xfrm>
            <a:off x="457200" y="1783080"/>
            <a:ext cx="4709160" cy="731520"/>
          </a:xfrm>
          <a:prstGeom prst="rect">
            <a:avLst/>
          </a:prstGeom>
          <a:solidFill>
            <a:srgbClr val="F9F9F9"/>
          </a:solidFill>
          <a:ln w="6350">
            <a:solidFill>
              <a:srgbClr val="E5E5E5"/>
            </a:solidFill>
            <a:prstDash val="solid"/>
          </a:ln>
        </p:spPr>
      </p:sp>
      <p:sp>
        <p:nvSpPr>
          <p:cNvPr id="11" name="Text 8"/>
          <p:cNvSpPr/>
          <p:nvPr/>
        </p:nvSpPr>
        <p:spPr>
          <a:xfrm>
            <a:off x="685800" y="1828800"/>
            <a:ext cx="4343400" cy="658368"/>
          </a:xfrm>
          <a:prstGeom prst="rect">
            <a:avLst/>
          </a:prstGeom>
          <a:noFill/>
          <a:ln/>
        </p:spPr>
        <p:txBody>
          <a:bodyPr wrap="square" lIns="0" tIns="0" rIns="0" bIns="0" rtlCol="0" anchor="ctr"/>
          <a:lstStyle/>
          <a:p>
            <a:pPr indent="0" marL="0">
              <a:buNone/>
            </a:pPr>
            <a:r>
              <a:rPr lang="en-US" sz="1000" dirty="0">
                <a:solidFill>
                  <a:srgbClr val="333333"/>
                </a:solidFill>
                <a:latin typeface="Arial" pitchFamily="34" charset="0"/>
                <a:ea typeface="Arial" pitchFamily="34" charset="-122"/>
                <a:cs typeface="Arial" pitchFamily="34" charset="-120"/>
              </a:rPr>
              <a:t>Earth's interconnection backlogs, zoning battles, and cooling constraints don't exist in orbit.</a:t>
            </a:r>
            <a:endParaRPr lang="en-US" sz="1000" dirty="0"/>
          </a:p>
        </p:txBody>
      </p:sp>
      <p:sp>
        <p:nvSpPr>
          <p:cNvPr id="12" name="Shape 9"/>
          <p:cNvSpPr/>
          <p:nvPr/>
        </p:nvSpPr>
        <p:spPr>
          <a:xfrm>
            <a:off x="457200" y="2651760"/>
            <a:ext cx="4709160" cy="320040"/>
          </a:xfrm>
          <a:prstGeom prst="rect">
            <a:avLst/>
          </a:prstGeom>
          <a:solidFill>
            <a:srgbClr val="333333"/>
          </a:solidFill>
          <a:ln w="12700">
            <a:solidFill>
              <a:srgbClr val="333333"/>
            </a:solidFill>
            <a:prstDash val="solid"/>
          </a:ln>
        </p:spPr>
      </p:sp>
      <p:sp>
        <p:nvSpPr>
          <p:cNvPr id="13" name="Text 10"/>
          <p:cNvSpPr/>
          <p:nvPr/>
        </p:nvSpPr>
        <p:spPr>
          <a:xfrm>
            <a:off x="457200" y="2651760"/>
            <a:ext cx="4709160" cy="320040"/>
          </a:xfrm>
          <a:prstGeom prst="rect">
            <a:avLst/>
          </a:prstGeom>
          <a:noFill/>
          <a:ln/>
        </p:spPr>
        <p:txBody>
          <a:bodyPr wrap="square" lIns="3810" tIns="3810" rIns="3810" bIns="3810" rtlCol="0" anchor="ctr"/>
          <a:lstStyle/>
          <a:p>
            <a:pPr algn="l" indent="0" marL="0">
              <a:buNone/>
            </a:pPr>
            <a:r>
              <a:rPr lang="en-US" sz="1100" b="1" spc="300" kern="0" dirty="0">
                <a:solidFill>
                  <a:srgbClr val="FFFFFF"/>
                </a:solidFill>
                <a:latin typeface="Arial" pitchFamily="34" charset="0"/>
                <a:ea typeface="Arial" pitchFamily="34" charset="-122"/>
                <a:cs typeface="Arial" pitchFamily="34" charset="-120"/>
              </a:rPr>
              <a:t>UNLIMITED SOLAR</a:t>
            </a:r>
            <a:endParaRPr lang="en-US" sz="1100" dirty="0"/>
          </a:p>
        </p:txBody>
      </p:sp>
      <p:sp>
        <p:nvSpPr>
          <p:cNvPr id="14" name="Shape 11"/>
          <p:cNvSpPr/>
          <p:nvPr/>
        </p:nvSpPr>
        <p:spPr>
          <a:xfrm>
            <a:off x="457200" y="2971800"/>
            <a:ext cx="4709160" cy="731520"/>
          </a:xfrm>
          <a:prstGeom prst="rect">
            <a:avLst/>
          </a:prstGeom>
          <a:solidFill>
            <a:srgbClr val="F9F9F9"/>
          </a:solidFill>
          <a:ln w="6350">
            <a:solidFill>
              <a:srgbClr val="E5E5E5"/>
            </a:solidFill>
            <a:prstDash val="solid"/>
          </a:ln>
        </p:spPr>
      </p:sp>
      <p:sp>
        <p:nvSpPr>
          <p:cNvPr id="15" name="Text 12"/>
          <p:cNvSpPr/>
          <p:nvPr/>
        </p:nvSpPr>
        <p:spPr>
          <a:xfrm>
            <a:off x="685800" y="3017520"/>
            <a:ext cx="4343400" cy="658368"/>
          </a:xfrm>
          <a:prstGeom prst="rect">
            <a:avLst/>
          </a:prstGeom>
          <a:noFill/>
          <a:ln/>
        </p:spPr>
        <p:txBody>
          <a:bodyPr wrap="square" lIns="0" tIns="0" rIns="0" bIns="0" rtlCol="0" anchor="ctr"/>
          <a:lstStyle/>
          <a:p>
            <a:pPr indent="0" marL="0">
              <a:buNone/>
            </a:pPr>
            <a:r>
              <a:rPr lang="en-US" sz="1000" dirty="0">
                <a:solidFill>
                  <a:srgbClr val="333333"/>
                </a:solidFill>
                <a:latin typeface="Arial" pitchFamily="34" charset="0"/>
                <a:ea typeface="Arial" pitchFamily="34" charset="-122"/>
                <a:cs typeface="Arial" pitchFamily="34" charset="-120"/>
              </a:rPr>
              <a:t>1,361 W/m² of unfiltered sunlight, 24/7 — no intermittency, no capacity-factor limits.</a:t>
            </a:r>
            <a:endParaRPr lang="en-US" sz="1000" dirty="0"/>
          </a:p>
        </p:txBody>
      </p:sp>
      <p:sp>
        <p:nvSpPr>
          <p:cNvPr id="16" name="Shape 13"/>
          <p:cNvSpPr/>
          <p:nvPr/>
        </p:nvSpPr>
        <p:spPr>
          <a:xfrm>
            <a:off x="457200" y="3840480"/>
            <a:ext cx="4709160" cy="320040"/>
          </a:xfrm>
          <a:prstGeom prst="rect">
            <a:avLst/>
          </a:prstGeom>
          <a:solidFill>
            <a:srgbClr val="333333"/>
          </a:solidFill>
          <a:ln w="12700">
            <a:solidFill>
              <a:srgbClr val="333333"/>
            </a:solidFill>
            <a:prstDash val="solid"/>
          </a:ln>
        </p:spPr>
      </p:sp>
      <p:sp>
        <p:nvSpPr>
          <p:cNvPr id="17" name="Text 14"/>
          <p:cNvSpPr/>
          <p:nvPr/>
        </p:nvSpPr>
        <p:spPr>
          <a:xfrm>
            <a:off x="457200" y="3840480"/>
            <a:ext cx="4709160" cy="320040"/>
          </a:xfrm>
          <a:prstGeom prst="rect">
            <a:avLst/>
          </a:prstGeom>
          <a:noFill/>
          <a:ln/>
        </p:spPr>
        <p:txBody>
          <a:bodyPr wrap="square" lIns="3810" tIns="3810" rIns="3810" bIns="3810" rtlCol="0" anchor="ctr"/>
          <a:lstStyle/>
          <a:p>
            <a:pPr algn="l" indent="0" marL="0">
              <a:buNone/>
            </a:pPr>
            <a:r>
              <a:rPr lang="en-US" sz="1100" b="1" spc="300" kern="0" dirty="0">
                <a:solidFill>
                  <a:srgbClr val="FFFFFF"/>
                </a:solidFill>
                <a:latin typeface="Arial" pitchFamily="34" charset="0"/>
                <a:ea typeface="Arial" pitchFamily="34" charset="-122"/>
                <a:cs typeface="Arial" pitchFamily="34" charset="-120"/>
              </a:rPr>
              <a:t>BEYOND BORDERS</a:t>
            </a:r>
            <a:endParaRPr lang="en-US" sz="1100" dirty="0"/>
          </a:p>
        </p:txBody>
      </p:sp>
      <p:sp>
        <p:nvSpPr>
          <p:cNvPr id="18" name="Shape 15"/>
          <p:cNvSpPr/>
          <p:nvPr/>
        </p:nvSpPr>
        <p:spPr>
          <a:xfrm>
            <a:off x="457200" y="4160520"/>
            <a:ext cx="4709160" cy="731520"/>
          </a:xfrm>
          <a:prstGeom prst="rect">
            <a:avLst/>
          </a:prstGeom>
          <a:solidFill>
            <a:srgbClr val="F9F9F9"/>
          </a:solidFill>
          <a:ln w="6350">
            <a:solidFill>
              <a:srgbClr val="E5E5E5"/>
            </a:solidFill>
            <a:prstDash val="solid"/>
          </a:ln>
        </p:spPr>
      </p:sp>
      <p:sp>
        <p:nvSpPr>
          <p:cNvPr id="19" name="Text 16"/>
          <p:cNvSpPr/>
          <p:nvPr/>
        </p:nvSpPr>
        <p:spPr>
          <a:xfrm>
            <a:off x="685800" y="4206240"/>
            <a:ext cx="4343400" cy="658368"/>
          </a:xfrm>
          <a:prstGeom prst="rect">
            <a:avLst/>
          </a:prstGeom>
          <a:noFill/>
          <a:ln/>
        </p:spPr>
        <p:txBody>
          <a:bodyPr wrap="square" lIns="0" tIns="0" rIns="0" bIns="0" rtlCol="0" anchor="ctr"/>
          <a:lstStyle/>
          <a:p>
            <a:pPr indent="0" marL="0">
              <a:buNone/>
            </a:pPr>
            <a:r>
              <a:rPr lang="en-US" sz="1000" dirty="0">
                <a:solidFill>
                  <a:srgbClr val="333333"/>
                </a:solidFill>
                <a:latin typeface="Arial" pitchFamily="34" charset="0"/>
                <a:ea typeface="Arial" pitchFamily="34" charset="-122"/>
                <a:cs typeface="Arial" pitchFamily="34" charset="-120"/>
              </a:rPr>
              <a:t>Sidesteps data-localization laws, export controls, and the jurisdictional patchwork.</a:t>
            </a:r>
            <a:endParaRPr lang="en-US" sz="1000" dirty="0"/>
          </a:p>
        </p:txBody>
      </p:sp>
      <p:sp>
        <p:nvSpPr>
          <p:cNvPr id="20" name="Shape 17"/>
          <p:cNvSpPr/>
          <p:nvPr/>
        </p:nvSpPr>
        <p:spPr>
          <a:xfrm>
            <a:off x="457200" y="5349240"/>
            <a:ext cx="8229600" cy="365760"/>
          </a:xfrm>
          <a:prstGeom prst="rect">
            <a:avLst/>
          </a:prstGeom>
          <a:solidFill>
            <a:srgbClr val="333333"/>
          </a:solidFill>
          <a:ln w="12700">
            <a:solidFill>
              <a:srgbClr val="333333"/>
            </a:solidFill>
            <a:prstDash val="solid"/>
          </a:ln>
        </p:spPr>
      </p:sp>
      <p:sp>
        <p:nvSpPr>
          <p:cNvPr id="21" name="Text 18"/>
          <p:cNvSpPr/>
          <p:nvPr/>
        </p:nvSpPr>
        <p:spPr>
          <a:xfrm>
            <a:off x="640080" y="5349240"/>
            <a:ext cx="7863840" cy="365760"/>
          </a:xfrm>
          <a:prstGeom prst="rect">
            <a:avLst/>
          </a:prstGeom>
          <a:noFill/>
          <a:ln/>
        </p:spPr>
        <p:txBody>
          <a:bodyPr wrap="square" lIns="0" tIns="0" rIns="0" bIns="0" rtlCol="0" anchor="ctr"/>
          <a:lstStyle/>
          <a:p>
            <a:pPr indent="0" marL="0">
              <a:buNone/>
            </a:pPr>
            <a:r>
              <a:rPr lang="en-US" sz="950" b="1" spc="300" kern="0" dirty="0">
                <a:solidFill>
                  <a:srgbClr val="FFB800"/>
                </a:solidFill>
                <a:latin typeface="Arial" pitchFamily="34" charset="0"/>
                <a:ea typeface="Arial" pitchFamily="34" charset="-122"/>
                <a:cs typeface="Arial" pitchFamily="34" charset="-120"/>
              </a:rPr>
              <a:t>PLAYERS   </a:t>
            </a:r>
            <a:pPr indent="0" marL="0">
              <a:buNone/>
            </a:pPr>
            <a:r>
              <a:rPr lang="en-US" sz="1100" b="1" dirty="0">
                <a:solidFill>
                  <a:srgbClr val="FFFFFF"/>
                </a:solidFill>
                <a:latin typeface="Arial" pitchFamily="34" charset="0"/>
                <a:ea typeface="Arial" pitchFamily="34" charset="-122"/>
                <a:cs typeface="Arial" pitchFamily="34" charset="-120"/>
              </a:rPr>
              <a:t>Starcloud · SpaceX · Google Suncatcher · Aetherflux</a:t>
            </a:r>
            <a:pPr indent="0" marL="0">
              <a:buNone/>
            </a:pPr>
            <a:r>
              <a:rPr lang="en-US" sz="800" baseline="30000" dirty="0">
                <a:solidFill>
                  <a:srgbClr val="FFFFFF"/>
                </a:solidFill>
                <a:latin typeface="Arial" pitchFamily="34" charset="0"/>
                <a:ea typeface="Arial" pitchFamily="34" charset="-122"/>
                <a:cs typeface="Arial" pitchFamily="34" charset="-120"/>
              </a:rPr>
              <a:t> 2</a:t>
            </a:r>
            <a:endParaRPr lang="en-US" sz="950" dirty="0"/>
          </a:p>
        </p:txBody>
      </p:sp>
      <p:sp>
        <p:nvSpPr>
          <p:cNvPr id="22" name="Text 19"/>
          <p:cNvSpPr/>
          <p:nvPr/>
        </p:nvSpPr>
        <p:spPr>
          <a:xfrm>
            <a:off x="457200" y="5875020"/>
            <a:ext cx="8229600" cy="457200"/>
          </a:xfrm>
          <a:prstGeom prst="rect">
            <a:avLst/>
          </a:prstGeom>
          <a:noFill/>
          <a:ln/>
        </p:spPr>
        <p:txBody>
          <a:bodyPr wrap="square" lIns="0" tIns="0" rIns="0" bIns="0" rtlCol="0" anchor="t"/>
          <a:lstStyle/>
          <a:p>
            <a:pPr indent="0" marL="0">
              <a:buNone/>
            </a:pPr>
            <a:r>
              <a:rPr lang="en-US" sz="700" b="1" dirty="0">
                <a:solidFill>
                  <a:srgbClr val="999999"/>
                </a:solidFill>
                <a:latin typeface="Arial" pitchFamily="34" charset="0"/>
                <a:ea typeface="Arial" pitchFamily="34" charset="-122"/>
                <a:cs typeface="Arial" pitchFamily="34" charset="-120"/>
              </a:rPr>
              <a:t>(1) </a:t>
            </a:r>
            <a:pPr indent="0" marL="0">
              <a:buNone/>
            </a:pPr>
            <a:r>
              <a:rPr lang="en-US" sz="700" dirty="0">
                <a:solidFill>
                  <a:srgbClr val="999999"/>
                </a:solidFill>
                <a:latin typeface="Arial" pitchFamily="34" charset="0"/>
                <a:ea typeface="Arial" pitchFamily="34" charset="-122"/>
                <a:cs typeface="Arial" pitchFamily="34" charset="-120"/>
              </a:rPr>
              <a:t>NASA solar constant, 1,361 W/m² at 1 AU, </a:t>
            </a:r>
            <a:pPr indent="0" marL="0">
              <a:buNone/>
            </a:pPr>
            <a:r>
              <a:rPr lang="en-US" sz="700" b="1" dirty="0">
                <a:solidFill>
                  <a:srgbClr val="999999"/>
                </a:solidFill>
                <a:latin typeface="Arial" pitchFamily="34" charset="0"/>
                <a:ea typeface="Arial" pitchFamily="34" charset="-122"/>
                <a:cs typeface="Arial" pitchFamily="34" charset="-120"/>
              </a:rPr>
              <a:t>(2) </a:t>
            </a:r>
            <a:pPr indent="0" marL="0">
              <a:buNone/>
            </a:pPr>
            <a:r>
              <a:rPr lang="en-US" sz="700" dirty="0">
                <a:solidFill>
                  <a:srgbClr val="999999"/>
                </a:solidFill>
                <a:latin typeface="Arial" pitchFamily="34" charset="0"/>
                <a:ea typeface="Arial" pitchFamily="34" charset="-122"/>
                <a:cs typeface="Arial" pitchFamily="34" charset="-120"/>
              </a:rPr>
              <a:t>FCC filings; Starcloud, SpaceX, Google Suncatcher, Aetherflux announcements; CNBC.</a:t>
            </a:r>
            <a:endParaRPr lang="en-US" sz="700" dirty="0"/>
          </a:p>
        </p:txBody>
      </p:sp>
      <p:sp>
        <p:nvSpPr>
          <p:cNvPr id="23" name="Shape 20"/>
          <p:cNvSpPr/>
          <p:nvPr/>
        </p:nvSpPr>
        <p:spPr>
          <a:xfrm>
            <a:off x="0" y="6286500"/>
            <a:ext cx="9144000" cy="571500"/>
          </a:xfrm>
          <a:prstGeom prst="rect">
            <a:avLst/>
          </a:prstGeom>
          <a:solidFill>
            <a:srgbClr val="000000"/>
          </a:solidFill>
          <a:ln w="12700">
            <a:solidFill>
              <a:srgbClr val="000000"/>
            </a:solidFill>
            <a:prstDash val="solid"/>
          </a:ln>
        </p:spPr>
      </p:sp>
      <p:sp>
        <p:nvSpPr>
          <p:cNvPr id="24" name="Text 21"/>
          <p:cNvSpPr/>
          <p:nvPr/>
        </p:nvSpPr>
        <p:spPr>
          <a:xfrm>
            <a:off x="1371600" y="6332220"/>
            <a:ext cx="6400800" cy="457200"/>
          </a:xfrm>
          <a:prstGeom prst="rect">
            <a:avLst/>
          </a:prstGeom>
          <a:noFill/>
          <a:ln/>
        </p:spPr>
        <p:txBody>
          <a:bodyPr wrap="square" lIns="0" tIns="0" rIns="0" bIns="0" rtlCol="0" anchor="ctr"/>
          <a:lstStyle/>
          <a:p>
            <a:pPr algn="ctr" indent="0" marL="0">
              <a:buNone/>
            </a:pPr>
            <a:r>
              <a:rPr lang="en-US" sz="650" b="1" dirty="0">
                <a:solidFill>
                  <a:srgbClr val="FFFFFF"/>
                </a:solidFill>
                <a:latin typeface="Arial" pitchFamily="34" charset="0"/>
                <a:ea typeface="Arial" pitchFamily="34" charset="-122"/>
                <a:cs typeface="Arial" pitchFamily="34" charset="-120"/>
              </a:rPr>
              <a:t>FOR INFORMATIONAL PURPOSES ONLY. NOT INVESTMENT ADVICE. PAST PERFORMANCE IS NOT INDICATIVE OF FUTURE RESULTS.</a:t>
            </a:r>
            <a:endParaRPr lang="en-US" sz="650" dirty="0"/>
          </a:p>
        </p:txBody>
      </p:sp>
      <p:sp>
        <p:nvSpPr>
          <p:cNvPr id="25" name="Text 22"/>
          <p:cNvSpPr/>
          <p:nvPr/>
        </p:nvSpPr>
        <p:spPr>
          <a:xfrm>
            <a:off x="8321040" y="6405372"/>
            <a:ext cx="548640" cy="274320"/>
          </a:xfrm>
          <a:prstGeom prst="rect">
            <a:avLst/>
          </a:prstGeom>
          <a:noFill/>
          <a:ln/>
        </p:spPr>
        <p:txBody>
          <a:bodyPr wrap="square" lIns="0" tIns="0" rIns="0" bIns="0" rtlCol="0" anchor="ctr"/>
          <a:lstStyle/>
          <a:p>
            <a:pPr algn="r" indent="0" marL="0">
              <a:buNone/>
            </a:pPr>
            <a:r>
              <a:rPr lang="en-US" sz="900" dirty="0">
                <a:solidFill>
                  <a:srgbClr val="FFFFFF"/>
                </a:solidFill>
                <a:latin typeface="Arial" pitchFamily="34" charset="0"/>
                <a:ea typeface="Arial" pitchFamily="34" charset="-122"/>
                <a:cs typeface="Arial" pitchFamily="34" charset="-120"/>
              </a:rPr>
              <a:t>19</a:t>
            </a:r>
            <a:endParaRPr lang="en-US" sz="9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Shape 0"/>
          <p:cNvSpPr/>
          <p:nvPr/>
        </p:nvSpPr>
        <p:spPr>
          <a:xfrm>
            <a:off x="7132320" y="164592"/>
            <a:ext cx="1737360" cy="292608"/>
          </a:xfrm>
          <a:prstGeom prst="roundRect">
            <a:avLst>
              <a:gd name="adj" fmla="val 15625"/>
            </a:avLst>
          </a:prstGeom>
          <a:solidFill>
            <a:srgbClr val="6B46C1"/>
          </a:solidFill>
          <a:ln w="12700">
            <a:solidFill>
              <a:srgbClr val="6B46C1"/>
            </a:solidFill>
            <a:prstDash val="solid"/>
          </a:ln>
        </p:spPr>
      </p:sp>
      <p:sp>
        <p:nvSpPr>
          <p:cNvPr id="3" name="Text 1"/>
          <p:cNvSpPr/>
          <p:nvPr/>
        </p:nvSpPr>
        <p:spPr>
          <a:xfrm>
            <a:off x="7132320" y="164592"/>
            <a:ext cx="1737360" cy="292608"/>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Arial" pitchFamily="34" charset="0"/>
                <a:ea typeface="Arial" pitchFamily="34" charset="-122"/>
                <a:cs typeface="Arial" pitchFamily="34" charset="-120"/>
              </a:rPr>
              <a:t>FRONTIER</a:t>
            </a:r>
            <a:endParaRPr lang="en-US" sz="1000" dirty="0"/>
          </a:p>
        </p:txBody>
      </p:sp>
      <p:sp>
        <p:nvSpPr>
          <p:cNvPr id="4" name="Text 2"/>
          <p:cNvSpPr/>
          <p:nvPr/>
        </p:nvSpPr>
        <p:spPr>
          <a:xfrm>
            <a:off x="457200" y="182880"/>
            <a:ext cx="6583680" cy="685800"/>
          </a:xfrm>
          <a:prstGeom prst="rect">
            <a:avLst/>
          </a:prstGeom>
          <a:noFill/>
          <a:ln/>
        </p:spPr>
        <p:txBody>
          <a:bodyPr wrap="square" lIns="0" tIns="0" rIns="0" bIns="0" rtlCol="0" anchor="t"/>
          <a:lstStyle/>
          <a:p>
            <a:pPr indent="0" marL="0">
              <a:buNone/>
            </a:pPr>
            <a:r>
              <a:rPr lang="en-US" sz="2400" b="1" dirty="0">
                <a:solidFill>
                  <a:srgbClr val="000000"/>
                </a:solidFill>
                <a:latin typeface="Arial Black" pitchFamily="34" charset="0"/>
                <a:ea typeface="Arial Black" pitchFamily="34" charset="-122"/>
                <a:cs typeface="Arial Black" pitchFamily="34" charset="-120"/>
              </a:rPr>
              <a:t>Humanoids hit pilot scale — every robot is a walking inference endpoint</a:t>
            </a:r>
            <a:endParaRPr lang="en-US" sz="2400" dirty="0"/>
          </a:p>
        </p:txBody>
      </p:sp>
      <p:sp>
        <p:nvSpPr>
          <p:cNvPr id="5" name="Text 3"/>
          <p:cNvSpPr/>
          <p:nvPr/>
        </p:nvSpPr>
        <p:spPr>
          <a:xfrm>
            <a:off x="457200" y="914400"/>
            <a:ext cx="8229600" cy="457200"/>
          </a:xfrm>
          <a:prstGeom prst="rect">
            <a:avLst/>
          </a:prstGeom>
          <a:noFill/>
          <a:ln/>
        </p:spPr>
        <p:txBody>
          <a:bodyPr wrap="square" lIns="0" tIns="0" rIns="0" bIns="0" rtlCol="0" anchor="t"/>
          <a:lstStyle/>
          <a:p>
            <a:pPr indent="0" marL="0">
              <a:buNone/>
            </a:pPr>
            <a:r>
              <a:rPr lang="en-US" sz="1350" dirty="0">
                <a:solidFill>
                  <a:srgbClr val="666666"/>
                </a:solidFill>
                <a:latin typeface="Arial" pitchFamily="34" charset="0"/>
                <a:ea typeface="Arial" pitchFamily="34" charset="-122"/>
                <a:cs typeface="Arial" pitchFamily="34" charset="-120"/>
              </a:rPr>
              <a:t>Humanoids enter manufacturing, logistics, and healthcare at pilot scale. Every robot is a walking inference endpoint.</a:t>
            </a:r>
            <a:endParaRPr lang="en-US" sz="1350" dirty="0"/>
          </a:p>
        </p:txBody>
      </p:sp>
      <p:sp>
        <p:nvSpPr>
          <p:cNvPr id="6" name="Shape 4"/>
          <p:cNvSpPr/>
          <p:nvPr/>
        </p:nvSpPr>
        <p:spPr>
          <a:xfrm>
            <a:off x="457200" y="1325880"/>
            <a:ext cx="8229600" cy="0"/>
          </a:xfrm>
          <a:prstGeom prst="line">
            <a:avLst/>
          </a:prstGeom>
          <a:noFill/>
          <a:ln w="9525">
            <a:solidFill>
              <a:srgbClr val="E5E5E5"/>
            </a:solidFill>
            <a:prstDash val="solid"/>
          </a:ln>
        </p:spPr>
      </p:sp>
      <p:pic>
        <p:nvPicPr>
          <p:cNvPr id="7" name="Image 0" descr="slides-images/humanoid.png">    </p:cNvPr>
          <p:cNvPicPr>
            <a:picLocks noChangeAspect="1"/>
          </p:cNvPicPr>
          <p:nvPr/>
        </p:nvPicPr>
        <p:blipFill>
          <a:blip r:embed="rId1"/>
          <a:srcRect l="0" r="0" t="0" b="0"/>
          <a:stretch/>
        </p:blipFill>
        <p:spPr>
          <a:xfrm>
            <a:off x="1371600" y="1463040"/>
            <a:ext cx="6400800" cy="2011680"/>
          </a:xfrm>
          <a:prstGeom prst="rect">
            <a:avLst/>
          </a:prstGeom>
        </p:spPr>
      </p:pic>
      <p:sp>
        <p:nvSpPr>
          <p:cNvPr id="8" name="Shape 5"/>
          <p:cNvSpPr/>
          <p:nvPr/>
        </p:nvSpPr>
        <p:spPr>
          <a:xfrm>
            <a:off x="457200" y="3657600"/>
            <a:ext cx="2697480" cy="320040"/>
          </a:xfrm>
          <a:prstGeom prst="rect">
            <a:avLst/>
          </a:prstGeom>
          <a:solidFill>
            <a:srgbClr val="333333"/>
          </a:solidFill>
          <a:ln w="12700">
            <a:solidFill>
              <a:srgbClr val="333333"/>
            </a:solidFill>
            <a:prstDash val="solid"/>
          </a:ln>
        </p:spPr>
      </p:sp>
      <p:sp>
        <p:nvSpPr>
          <p:cNvPr id="9" name="Text 6"/>
          <p:cNvSpPr/>
          <p:nvPr/>
        </p:nvSpPr>
        <p:spPr>
          <a:xfrm>
            <a:off x="457200" y="3657600"/>
            <a:ext cx="2697480" cy="320040"/>
          </a:xfrm>
          <a:prstGeom prst="rect">
            <a:avLst/>
          </a:prstGeom>
          <a:noFill/>
          <a:ln/>
        </p:spPr>
        <p:txBody>
          <a:bodyPr wrap="square" lIns="0" tIns="0" rIns="0" bIns="0" rtlCol="0" anchor="ctr"/>
          <a:lstStyle/>
          <a:p>
            <a:pPr algn="ctr" indent="0" marL="0">
              <a:buNone/>
            </a:pPr>
            <a:r>
              <a:rPr lang="en-US" sz="1100" b="1" spc="200" kern="0" dirty="0">
                <a:solidFill>
                  <a:srgbClr val="FFFFFF"/>
                </a:solidFill>
                <a:latin typeface="Arial" pitchFamily="34" charset="0"/>
                <a:ea typeface="Arial" pitchFamily="34" charset="-122"/>
                <a:cs typeface="Arial" pitchFamily="34" charset="-120"/>
              </a:rPr>
              <a:t>PHYSICAL WORK</a:t>
            </a:r>
            <a:endParaRPr lang="en-US" sz="1100" dirty="0"/>
          </a:p>
        </p:txBody>
      </p:sp>
      <p:sp>
        <p:nvSpPr>
          <p:cNvPr id="10" name="Shape 7"/>
          <p:cNvSpPr/>
          <p:nvPr/>
        </p:nvSpPr>
        <p:spPr>
          <a:xfrm>
            <a:off x="457200" y="3977640"/>
            <a:ext cx="2697480" cy="1188720"/>
          </a:xfrm>
          <a:prstGeom prst="rect">
            <a:avLst/>
          </a:prstGeom>
          <a:solidFill>
            <a:srgbClr val="F9F9F9"/>
          </a:solidFill>
          <a:ln w="6350">
            <a:solidFill>
              <a:srgbClr val="E5E5E5"/>
            </a:solidFill>
            <a:prstDash val="solid"/>
          </a:ln>
        </p:spPr>
      </p:sp>
      <p:sp>
        <p:nvSpPr>
          <p:cNvPr id="11" name="Text 8"/>
          <p:cNvSpPr/>
          <p:nvPr/>
        </p:nvSpPr>
        <p:spPr>
          <a:xfrm>
            <a:off x="594360" y="4069080"/>
            <a:ext cx="2423160" cy="1051560"/>
          </a:xfrm>
          <a:prstGeom prst="rect">
            <a:avLst/>
          </a:prstGeom>
          <a:noFill/>
          <a:ln/>
        </p:spPr>
        <p:txBody>
          <a:bodyPr wrap="square" lIns="0" tIns="0" rIns="0" bIns="0" rtlCol="0" anchor="t"/>
          <a:lstStyle/>
          <a:p>
            <a:pPr indent="0" marL="0">
              <a:buNone/>
            </a:pPr>
            <a:r>
              <a:rPr lang="en-US" sz="1000" dirty="0">
                <a:solidFill>
                  <a:srgbClr val="333333"/>
                </a:solidFill>
                <a:latin typeface="Arial" pitchFamily="34" charset="0"/>
                <a:ea typeface="Arial" pitchFamily="34" charset="-122"/>
                <a:cs typeface="Arial" pitchFamily="34" charset="-120"/>
              </a:rPr>
              <a:t>Manufacturing, logistics, warehousing, agriculture, healthcare — pilots are underway.</a:t>
            </a:r>
            <a:pPr indent="0" marL="0">
              <a:buNone/>
            </a:pPr>
            <a:r>
              <a:rPr lang="en-US" sz="650" baseline="30000" dirty="0">
                <a:solidFill>
                  <a:srgbClr val="333333"/>
                </a:solidFill>
                <a:latin typeface="Arial" pitchFamily="34" charset="0"/>
                <a:ea typeface="Arial" pitchFamily="34" charset="-122"/>
                <a:cs typeface="Arial" pitchFamily="34" charset="-120"/>
              </a:rPr>
              <a:t> 1</a:t>
            </a:r>
            <a:endParaRPr lang="en-US" sz="1000" dirty="0"/>
          </a:p>
        </p:txBody>
      </p:sp>
      <p:sp>
        <p:nvSpPr>
          <p:cNvPr id="12" name="Shape 9"/>
          <p:cNvSpPr/>
          <p:nvPr/>
        </p:nvSpPr>
        <p:spPr>
          <a:xfrm>
            <a:off x="3291840" y="3657600"/>
            <a:ext cx="2697480" cy="320040"/>
          </a:xfrm>
          <a:prstGeom prst="rect">
            <a:avLst/>
          </a:prstGeom>
          <a:solidFill>
            <a:srgbClr val="333333"/>
          </a:solidFill>
          <a:ln w="12700">
            <a:solidFill>
              <a:srgbClr val="333333"/>
            </a:solidFill>
            <a:prstDash val="solid"/>
          </a:ln>
        </p:spPr>
      </p:sp>
      <p:sp>
        <p:nvSpPr>
          <p:cNvPr id="13" name="Text 10"/>
          <p:cNvSpPr/>
          <p:nvPr/>
        </p:nvSpPr>
        <p:spPr>
          <a:xfrm>
            <a:off x="3291840" y="3657600"/>
            <a:ext cx="2697480" cy="320040"/>
          </a:xfrm>
          <a:prstGeom prst="rect">
            <a:avLst/>
          </a:prstGeom>
          <a:noFill/>
          <a:ln/>
        </p:spPr>
        <p:txBody>
          <a:bodyPr wrap="square" lIns="0" tIns="0" rIns="0" bIns="0" rtlCol="0" anchor="ctr"/>
          <a:lstStyle/>
          <a:p>
            <a:pPr algn="ctr" indent="0" marL="0">
              <a:buNone/>
            </a:pPr>
            <a:r>
              <a:rPr lang="en-US" sz="1100" b="1" spc="200" kern="0" dirty="0">
                <a:solidFill>
                  <a:srgbClr val="FFFFFF"/>
                </a:solidFill>
                <a:latin typeface="Arial" pitchFamily="34" charset="0"/>
                <a:ea typeface="Arial" pitchFamily="34" charset="-122"/>
                <a:cs typeface="Arial" pitchFamily="34" charset="-120"/>
              </a:rPr>
              <a:t>TIRELESS COWORKERS</a:t>
            </a:r>
            <a:endParaRPr lang="en-US" sz="1100" dirty="0"/>
          </a:p>
        </p:txBody>
      </p:sp>
      <p:sp>
        <p:nvSpPr>
          <p:cNvPr id="14" name="Shape 11"/>
          <p:cNvSpPr/>
          <p:nvPr/>
        </p:nvSpPr>
        <p:spPr>
          <a:xfrm>
            <a:off x="3291840" y="3977640"/>
            <a:ext cx="2697480" cy="1188720"/>
          </a:xfrm>
          <a:prstGeom prst="rect">
            <a:avLst/>
          </a:prstGeom>
          <a:solidFill>
            <a:srgbClr val="F9F9F9"/>
          </a:solidFill>
          <a:ln w="6350">
            <a:solidFill>
              <a:srgbClr val="E5E5E5"/>
            </a:solidFill>
            <a:prstDash val="solid"/>
          </a:ln>
        </p:spPr>
      </p:sp>
      <p:sp>
        <p:nvSpPr>
          <p:cNvPr id="15" name="Text 12"/>
          <p:cNvSpPr/>
          <p:nvPr/>
        </p:nvSpPr>
        <p:spPr>
          <a:xfrm>
            <a:off x="3429000" y="4069080"/>
            <a:ext cx="2423160" cy="1051560"/>
          </a:xfrm>
          <a:prstGeom prst="rect">
            <a:avLst/>
          </a:prstGeom>
          <a:noFill/>
          <a:ln/>
        </p:spPr>
        <p:txBody>
          <a:bodyPr wrap="square" lIns="0" tIns="0" rIns="0" bIns="0" rtlCol="0" anchor="t"/>
          <a:lstStyle/>
          <a:p>
            <a:pPr indent="0" marL="0">
              <a:buNone/>
            </a:pPr>
            <a:r>
              <a:rPr lang="en-US" sz="1000" dirty="0">
                <a:solidFill>
                  <a:srgbClr val="333333"/>
                </a:solidFill>
                <a:latin typeface="Arial" pitchFamily="34" charset="0"/>
                <a:ea typeface="Arial" pitchFamily="34" charset="-122"/>
                <a:cs typeface="Arial" pitchFamily="34" charset="-120"/>
              </a:rPr>
              <a:t>Humanoids take hazardous and ergonomically punishing tasks. Humans keep judgment.</a:t>
            </a:r>
            <a:endParaRPr lang="en-US" sz="1000" dirty="0"/>
          </a:p>
        </p:txBody>
      </p:sp>
      <p:sp>
        <p:nvSpPr>
          <p:cNvPr id="16" name="Shape 13"/>
          <p:cNvSpPr/>
          <p:nvPr/>
        </p:nvSpPr>
        <p:spPr>
          <a:xfrm>
            <a:off x="6126480" y="3657600"/>
            <a:ext cx="2697480" cy="320040"/>
          </a:xfrm>
          <a:prstGeom prst="rect">
            <a:avLst/>
          </a:prstGeom>
          <a:solidFill>
            <a:srgbClr val="333333"/>
          </a:solidFill>
          <a:ln w="12700">
            <a:solidFill>
              <a:srgbClr val="333333"/>
            </a:solidFill>
            <a:prstDash val="solid"/>
          </a:ln>
        </p:spPr>
      </p:sp>
      <p:sp>
        <p:nvSpPr>
          <p:cNvPr id="17" name="Text 14"/>
          <p:cNvSpPr/>
          <p:nvPr/>
        </p:nvSpPr>
        <p:spPr>
          <a:xfrm>
            <a:off x="6126480" y="3657600"/>
            <a:ext cx="2697480" cy="320040"/>
          </a:xfrm>
          <a:prstGeom prst="rect">
            <a:avLst/>
          </a:prstGeom>
          <a:noFill/>
          <a:ln/>
        </p:spPr>
        <p:txBody>
          <a:bodyPr wrap="square" lIns="0" tIns="0" rIns="0" bIns="0" rtlCol="0" anchor="ctr"/>
          <a:lstStyle/>
          <a:p>
            <a:pPr algn="ctr" indent="0" marL="0">
              <a:buNone/>
            </a:pPr>
            <a:r>
              <a:rPr lang="en-US" sz="1100" b="1" spc="200" kern="0" dirty="0">
                <a:solidFill>
                  <a:srgbClr val="FFFFFF"/>
                </a:solidFill>
                <a:latin typeface="Arial" pitchFamily="34" charset="0"/>
                <a:ea typeface="Arial" pitchFamily="34" charset="-122"/>
                <a:cs typeface="Arial" pitchFamily="34" charset="-120"/>
              </a:rPr>
              <a:t>INFERENCE AT THE EDGE</a:t>
            </a:r>
            <a:endParaRPr lang="en-US" sz="1100" dirty="0"/>
          </a:p>
        </p:txBody>
      </p:sp>
      <p:sp>
        <p:nvSpPr>
          <p:cNvPr id="18" name="Shape 15"/>
          <p:cNvSpPr/>
          <p:nvPr/>
        </p:nvSpPr>
        <p:spPr>
          <a:xfrm>
            <a:off x="6126480" y="3977640"/>
            <a:ext cx="2697480" cy="1188720"/>
          </a:xfrm>
          <a:prstGeom prst="rect">
            <a:avLst/>
          </a:prstGeom>
          <a:solidFill>
            <a:srgbClr val="F9F9F9"/>
          </a:solidFill>
          <a:ln w="6350">
            <a:solidFill>
              <a:srgbClr val="E5E5E5"/>
            </a:solidFill>
            <a:prstDash val="solid"/>
          </a:ln>
        </p:spPr>
      </p:sp>
      <p:sp>
        <p:nvSpPr>
          <p:cNvPr id="19" name="Text 16"/>
          <p:cNvSpPr/>
          <p:nvPr/>
        </p:nvSpPr>
        <p:spPr>
          <a:xfrm>
            <a:off x="6263640" y="4069080"/>
            <a:ext cx="2423160" cy="1051560"/>
          </a:xfrm>
          <a:prstGeom prst="rect">
            <a:avLst/>
          </a:prstGeom>
          <a:noFill/>
          <a:ln/>
        </p:spPr>
        <p:txBody>
          <a:bodyPr wrap="square" lIns="0" tIns="0" rIns="0" bIns="0" rtlCol="0" anchor="t"/>
          <a:lstStyle/>
          <a:p>
            <a:pPr indent="0" marL="0">
              <a:buNone/>
            </a:pPr>
            <a:r>
              <a:rPr lang="en-US" sz="1000" dirty="0">
                <a:solidFill>
                  <a:srgbClr val="333333"/>
                </a:solidFill>
                <a:latin typeface="Arial" pitchFamily="34" charset="0"/>
                <a:ea typeface="Arial" pitchFamily="34" charset="-122"/>
                <a:cs typeface="Arial" pitchFamily="34" charset="-120"/>
              </a:rPr>
              <a:t>Every robot runs foundation models in real time. At scale, rivals LLM compute.</a:t>
            </a:r>
            <a:pPr indent="0" marL="0">
              <a:buNone/>
            </a:pPr>
            <a:r>
              <a:rPr lang="en-US" sz="650" baseline="30000" dirty="0">
                <a:solidFill>
                  <a:srgbClr val="333333"/>
                </a:solidFill>
                <a:latin typeface="Arial" pitchFamily="34" charset="0"/>
                <a:ea typeface="Arial" pitchFamily="34" charset="-122"/>
                <a:cs typeface="Arial" pitchFamily="34" charset="-120"/>
              </a:rPr>
              <a:t> 2</a:t>
            </a:r>
            <a:endParaRPr lang="en-US" sz="1000" dirty="0"/>
          </a:p>
        </p:txBody>
      </p:sp>
      <p:sp>
        <p:nvSpPr>
          <p:cNvPr id="20" name="Shape 17"/>
          <p:cNvSpPr/>
          <p:nvPr/>
        </p:nvSpPr>
        <p:spPr>
          <a:xfrm>
            <a:off x="457200" y="5349240"/>
            <a:ext cx="8229600" cy="365760"/>
          </a:xfrm>
          <a:prstGeom prst="rect">
            <a:avLst/>
          </a:prstGeom>
          <a:solidFill>
            <a:srgbClr val="333333"/>
          </a:solidFill>
          <a:ln w="12700">
            <a:solidFill>
              <a:srgbClr val="333333"/>
            </a:solidFill>
            <a:prstDash val="solid"/>
          </a:ln>
        </p:spPr>
      </p:sp>
      <p:sp>
        <p:nvSpPr>
          <p:cNvPr id="21" name="Text 18"/>
          <p:cNvSpPr/>
          <p:nvPr/>
        </p:nvSpPr>
        <p:spPr>
          <a:xfrm>
            <a:off x="640080" y="5349240"/>
            <a:ext cx="7863840" cy="365760"/>
          </a:xfrm>
          <a:prstGeom prst="rect">
            <a:avLst/>
          </a:prstGeom>
          <a:noFill/>
          <a:ln/>
        </p:spPr>
        <p:txBody>
          <a:bodyPr wrap="square" lIns="0" tIns="0" rIns="0" bIns="0" rtlCol="0" anchor="ctr"/>
          <a:lstStyle/>
          <a:p>
            <a:pPr indent="0" marL="0">
              <a:buNone/>
            </a:pPr>
            <a:r>
              <a:rPr lang="en-US" sz="950" b="1" spc="300" kern="0" dirty="0">
                <a:solidFill>
                  <a:srgbClr val="FFB800"/>
                </a:solidFill>
                <a:latin typeface="Arial" pitchFamily="34" charset="0"/>
                <a:ea typeface="Arial" pitchFamily="34" charset="-122"/>
                <a:cs typeface="Arial" pitchFamily="34" charset="-120"/>
              </a:rPr>
              <a:t>PLAYERS   </a:t>
            </a:r>
            <a:pPr indent="0" marL="0">
              <a:buNone/>
            </a:pPr>
            <a:r>
              <a:rPr lang="en-US" sz="1100" b="1" dirty="0">
                <a:solidFill>
                  <a:srgbClr val="FFFFFF"/>
                </a:solidFill>
                <a:latin typeface="Arial" pitchFamily="34" charset="0"/>
                <a:ea typeface="Arial" pitchFamily="34" charset="-122"/>
                <a:cs typeface="Arial" pitchFamily="34" charset="-120"/>
              </a:rPr>
              <a:t>Tesla Optimus · Figure · Boston Dynamics · Unitree · Agility</a:t>
            </a:r>
            <a:pPr indent="0" marL="0">
              <a:buNone/>
            </a:pPr>
            <a:r>
              <a:rPr lang="en-US" sz="800" baseline="30000" dirty="0">
                <a:solidFill>
                  <a:srgbClr val="FFFFFF"/>
                </a:solidFill>
                <a:latin typeface="Arial" pitchFamily="34" charset="0"/>
                <a:ea typeface="Arial" pitchFamily="34" charset="-122"/>
                <a:cs typeface="Arial" pitchFamily="34" charset="-120"/>
              </a:rPr>
              <a:t> 3</a:t>
            </a:r>
            <a:endParaRPr lang="en-US" sz="950" dirty="0"/>
          </a:p>
        </p:txBody>
      </p:sp>
      <p:sp>
        <p:nvSpPr>
          <p:cNvPr id="22" name="Text 19"/>
          <p:cNvSpPr/>
          <p:nvPr/>
        </p:nvSpPr>
        <p:spPr>
          <a:xfrm>
            <a:off x="457200" y="5875020"/>
            <a:ext cx="8229600" cy="457200"/>
          </a:xfrm>
          <a:prstGeom prst="rect">
            <a:avLst/>
          </a:prstGeom>
          <a:noFill/>
          <a:ln/>
        </p:spPr>
        <p:txBody>
          <a:bodyPr wrap="square" lIns="0" tIns="0" rIns="0" bIns="0" rtlCol="0" anchor="t"/>
          <a:lstStyle/>
          <a:p>
            <a:pPr indent="0" marL="0">
              <a:buNone/>
            </a:pPr>
            <a:r>
              <a:rPr lang="en-US" sz="700" b="1" dirty="0">
                <a:solidFill>
                  <a:srgbClr val="999999"/>
                </a:solidFill>
                <a:latin typeface="Arial" pitchFamily="34" charset="0"/>
                <a:ea typeface="Arial" pitchFamily="34" charset="-122"/>
                <a:cs typeface="Arial" pitchFamily="34" charset="-120"/>
              </a:rPr>
              <a:t>(1) </a:t>
            </a:r>
            <a:pPr indent="0" marL="0">
              <a:buNone/>
            </a:pPr>
            <a:r>
              <a:rPr lang="en-US" sz="700" dirty="0">
                <a:solidFill>
                  <a:srgbClr val="999999"/>
                </a:solidFill>
                <a:latin typeface="Arial" pitchFamily="34" charset="0"/>
                <a:ea typeface="Arial" pitchFamily="34" charset="-122"/>
                <a:cs typeface="Arial" pitchFamily="34" charset="-120"/>
              </a:rPr>
              <a:t>Goldman Sachs — humanoid robotics market outlook, </a:t>
            </a:r>
            <a:pPr indent="0" marL="0">
              <a:buNone/>
            </a:pPr>
            <a:r>
              <a:rPr lang="en-US" sz="700" b="1" dirty="0">
                <a:solidFill>
                  <a:srgbClr val="999999"/>
                </a:solidFill>
                <a:latin typeface="Arial" pitchFamily="34" charset="0"/>
                <a:ea typeface="Arial" pitchFamily="34" charset="-122"/>
                <a:cs typeface="Arial" pitchFamily="34" charset="-120"/>
              </a:rPr>
              <a:t>(2) </a:t>
            </a:r>
            <a:pPr indent="0" marL="0">
              <a:buNone/>
            </a:pPr>
            <a:r>
              <a:rPr lang="en-US" sz="700" dirty="0">
                <a:solidFill>
                  <a:srgbClr val="999999"/>
                </a:solidFill>
                <a:latin typeface="Arial" pitchFamily="34" charset="0"/>
                <a:ea typeface="Arial" pitchFamily="34" charset="-122"/>
                <a:cs typeface="Arial" pitchFamily="34" charset="-120"/>
              </a:rPr>
              <a:t>NVIDIA FY2026 — robotics compute keynotes, </a:t>
            </a:r>
            <a:pPr indent="0" marL="0">
              <a:buNone/>
            </a:pPr>
            <a:r>
              <a:rPr lang="en-US" sz="700" b="1" dirty="0">
                <a:solidFill>
                  <a:srgbClr val="999999"/>
                </a:solidFill>
                <a:latin typeface="Arial" pitchFamily="34" charset="0"/>
                <a:ea typeface="Arial" pitchFamily="34" charset="-122"/>
                <a:cs typeface="Arial" pitchFamily="34" charset="-120"/>
              </a:rPr>
              <a:t>(3) </a:t>
            </a:r>
            <a:pPr indent="0" marL="0">
              <a:buNone/>
            </a:pPr>
            <a:r>
              <a:rPr lang="en-US" sz="700" dirty="0">
                <a:solidFill>
                  <a:srgbClr val="999999"/>
                </a:solidFill>
                <a:latin typeface="Arial" pitchFamily="34" charset="0"/>
                <a:ea typeface="Arial" pitchFamily="34" charset="-122"/>
                <a:cs typeface="Arial" pitchFamily="34" charset="-120"/>
              </a:rPr>
              <a:t>Tesla, Figure AI, Hyundai/Boston Dynamics, Unitree, Agility — company announcements.</a:t>
            </a:r>
            <a:endParaRPr lang="en-US" sz="700" dirty="0"/>
          </a:p>
        </p:txBody>
      </p:sp>
      <p:sp>
        <p:nvSpPr>
          <p:cNvPr id="23" name="Shape 20"/>
          <p:cNvSpPr/>
          <p:nvPr/>
        </p:nvSpPr>
        <p:spPr>
          <a:xfrm>
            <a:off x="0" y="6286500"/>
            <a:ext cx="9144000" cy="571500"/>
          </a:xfrm>
          <a:prstGeom prst="rect">
            <a:avLst/>
          </a:prstGeom>
          <a:solidFill>
            <a:srgbClr val="000000"/>
          </a:solidFill>
          <a:ln w="12700">
            <a:solidFill>
              <a:srgbClr val="000000"/>
            </a:solidFill>
            <a:prstDash val="solid"/>
          </a:ln>
        </p:spPr>
      </p:sp>
      <p:sp>
        <p:nvSpPr>
          <p:cNvPr id="24" name="Text 21"/>
          <p:cNvSpPr/>
          <p:nvPr/>
        </p:nvSpPr>
        <p:spPr>
          <a:xfrm>
            <a:off x="1371600" y="6332220"/>
            <a:ext cx="6400800" cy="457200"/>
          </a:xfrm>
          <a:prstGeom prst="rect">
            <a:avLst/>
          </a:prstGeom>
          <a:noFill/>
          <a:ln/>
        </p:spPr>
        <p:txBody>
          <a:bodyPr wrap="square" lIns="0" tIns="0" rIns="0" bIns="0" rtlCol="0" anchor="ctr"/>
          <a:lstStyle/>
          <a:p>
            <a:pPr algn="ctr" indent="0" marL="0">
              <a:buNone/>
            </a:pPr>
            <a:r>
              <a:rPr lang="en-US" sz="650" b="1" dirty="0">
                <a:solidFill>
                  <a:srgbClr val="FFFFFF"/>
                </a:solidFill>
                <a:latin typeface="Arial" pitchFamily="34" charset="0"/>
                <a:ea typeface="Arial" pitchFamily="34" charset="-122"/>
                <a:cs typeface="Arial" pitchFamily="34" charset="-120"/>
              </a:rPr>
              <a:t>FOR INFORMATIONAL PURPOSES ONLY. NOT INVESTMENT ADVICE. PAST PERFORMANCE IS NOT INDICATIVE OF FUTURE RESULTS.</a:t>
            </a:r>
            <a:endParaRPr lang="en-US" sz="650" dirty="0"/>
          </a:p>
        </p:txBody>
      </p:sp>
      <p:sp>
        <p:nvSpPr>
          <p:cNvPr id="25" name="Text 22"/>
          <p:cNvSpPr/>
          <p:nvPr/>
        </p:nvSpPr>
        <p:spPr>
          <a:xfrm>
            <a:off x="8321040" y="6405372"/>
            <a:ext cx="548640" cy="274320"/>
          </a:xfrm>
          <a:prstGeom prst="rect">
            <a:avLst/>
          </a:prstGeom>
          <a:noFill/>
          <a:ln/>
        </p:spPr>
        <p:txBody>
          <a:bodyPr wrap="square" lIns="0" tIns="0" rIns="0" bIns="0" rtlCol="0" anchor="ctr"/>
          <a:lstStyle/>
          <a:p>
            <a:pPr algn="r" indent="0" marL="0">
              <a:buNone/>
            </a:pPr>
            <a:r>
              <a:rPr lang="en-US" sz="900" dirty="0">
                <a:solidFill>
                  <a:srgbClr val="FFFFFF"/>
                </a:solidFill>
                <a:latin typeface="Arial" pitchFamily="34" charset="0"/>
                <a:ea typeface="Arial" pitchFamily="34" charset="-122"/>
                <a:cs typeface="Arial" pitchFamily="34" charset="-120"/>
              </a:rPr>
              <a:t>20</a:t>
            </a:r>
            <a:endParaRPr lang="en-US" sz="9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Shape 0"/>
          <p:cNvSpPr/>
          <p:nvPr/>
        </p:nvSpPr>
        <p:spPr>
          <a:xfrm>
            <a:off x="7132320" y="164592"/>
            <a:ext cx="1737360" cy="292608"/>
          </a:xfrm>
          <a:prstGeom prst="roundRect">
            <a:avLst>
              <a:gd name="adj" fmla="val 15625"/>
            </a:avLst>
          </a:prstGeom>
          <a:solidFill>
            <a:srgbClr val="6B46C1"/>
          </a:solidFill>
          <a:ln w="12700">
            <a:solidFill>
              <a:srgbClr val="6B46C1"/>
            </a:solidFill>
            <a:prstDash val="solid"/>
          </a:ln>
        </p:spPr>
      </p:sp>
      <p:sp>
        <p:nvSpPr>
          <p:cNvPr id="3" name="Text 1"/>
          <p:cNvSpPr/>
          <p:nvPr/>
        </p:nvSpPr>
        <p:spPr>
          <a:xfrm>
            <a:off x="7132320" y="164592"/>
            <a:ext cx="1737360" cy="292608"/>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Arial" pitchFamily="34" charset="0"/>
                <a:ea typeface="Arial" pitchFamily="34" charset="-122"/>
                <a:cs typeface="Arial" pitchFamily="34" charset="-120"/>
              </a:rPr>
              <a:t>FRONTIER</a:t>
            </a:r>
            <a:endParaRPr lang="en-US" sz="1000" dirty="0"/>
          </a:p>
        </p:txBody>
      </p:sp>
      <p:sp>
        <p:nvSpPr>
          <p:cNvPr id="4" name="Text 2"/>
          <p:cNvSpPr/>
          <p:nvPr/>
        </p:nvSpPr>
        <p:spPr>
          <a:xfrm>
            <a:off x="457200" y="182880"/>
            <a:ext cx="6583680" cy="685800"/>
          </a:xfrm>
          <a:prstGeom prst="rect">
            <a:avLst/>
          </a:prstGeom>
          <a:noFill/>
          <a:ln/>
        </p:spPr>
        <p:txBody>
          <a:bodyPr wrap="square" lIns="0" tIns="0" rIns="0" bIns="0" rtlCol="0" anchor="t"/>
          <a:lstStyle/>
          <a:p>
            <a:pPr indent="0" marL="0">
              <a:buNone/>
            </a:pPr>
            <a:r>
              <a:rPr lang="en-US" sz="2400" b="1" dirty="0">
                <a:solidFill>
                  <a:srgbClr val="000000"/>
                </a:solidFill>
                <a:latin typeface="Arial Black" pitchFamily="34" charset="0"/>
                <a:ea typeface="Arial Black" pitchFamily="34" charset="-122"/>
                <a:cs typeface="Arial Black" pitchFamily="34" charset="-120"/>
              </a:rPr>
              <a:t>Every autonomous mile compounds — every AV runs frontier edge compute</a:t>
            </a:r>
            <a:endParaRPr lang="en-US" sz="2400" dirty="0"/>
          </a:p>
        </p:txBody>
      </p:sp>
      <p:sp>
        <p:nvSpPr>
          <p:cNvPr id="5" name="Text 3"/>
          <p:cNvSpPr/>
          <p:nvPr/>
        </p:nvSpPr>
        <p:spPr>
          <a:xfrm>
            <a:off x="457200" y="914400"/>
            <a:ext cx="8229600" cy="457200"/>
          </a:xfrm>
          <a:prstGeom prst="rect">
            <a:avLst/>
          </a:prstGeom>
          <a:noFill/>
          <a:ln/>
        </p:spPr>
        <p:txBody>
          <a:bodyPr wrap="square" lIns="0" tIns="0" rIns="0" bIns="0" rtlCol="0" anchor="t"/>
          <a:lstStyle/>
          <a:p>
            <a:pPr indent="0" marL="0">
              <a:buNone/>
            </a:pPr>
            <a:r>
              <a:rPr lang="en-US" sz="1350" dirty="0">
                <a:solidFill>
                  <a:srgbClr val="666666"/>
                </a:solidFill>
                <a:latin typeface="Arial" pitchFamily="34" charset="0"/>
                <a:ea typeface="Arial" pitchFamily="34" charset="-122"/>
                <a:cs typeface="Arial" pitchFamily="34" charset="-120"/>
              </a:rPr>
              <a:t>More miles → better models → more deployments. Every vehicle is a rolling inference machine consuming frontier-scale compute.</a:t>
            </a:r>
            <a:endParaRPr lang="en-US" sz="1350" dirty="0"/>
          </a:p>
        </p:txBody>
      </p:sp>
      <p:sp>
        <p:nvSpPr>
          <p:cNvPr id="6" name="Shape 4"/>
          <p:cNvSpPr/>
          <p:nvPr/>
        </p:nvSpPr>
        <p:spPr>
          <a:xfrm>
            <a:off x="457200" y="1325880"/>
            <a:ext cx="8229600" cy="0"/>
          </a:xfrm>
          <a:prstGeom prst="line">
            <a:avLst/>
          </a:prstGeom>
          <a:noFill/>
          <a:ln w="9525">
            <a:solidFill>
              <a:srgbClr val="E5E5E5"/>
            </a:solidFill>
            <a:prstDash val="solid"/>
          </a:ln>
        </p:spPr>
      </p:sp>
      <p:pic>
        <p:nvPicPr>
          <p:cNvPr id="7" name="Image 0" descr="slides-images/robotaxi.png">    </p:cNvPr>
          <p:cNvPicPr>
            <a:picLocks noChangeAspect="1"/>
          </p:cNvPicPr>
          <p:nvPr/>
        </p:nvPicPr>
        <p:blipFill>
          <a:blip r:embed="rId1"/>
          <a:srcRect l="0" r="0" t="0" b="0"/>
          <a:stretch/>
        </p:blipFill>
        <p:spPr>
          <a:xfrm>
            <a:off x="457200" y="1463040"/>
            <a:ext cx="2560320" cy="3794760"/>
          </a:xfrm>
          <a:prstGeom prst="rect">
            <a:avLst/>
          </a:prstGeom>
        </p:spPr>
      </p:pic>
      <p:sp>
        <p:nvSpPr>
          <p:cNvPr id="8" name="Shape 5"/>
          <p:cNvSpPr/>
          <p:nvPr/>
        </p:nvSpPr>
        <p:spPr>
          <a:xfrm>
            <a:off x="3200400" y="1463040"/>
            <a:ext cx="5486400" cy="320040"/>
          </a:xfrm>
          <a:prstGeom prst="rect">
            <a:avLst/>
          </a:prstGeom>
          <a:solidFill>
            <a:srgbClr val="333333"/>
          </a:solidFill>
          <a:ln w="12700">
            <a:solidFill>
              <a:srgbClr val="333333"/>
            </a:solidFill>
            <a:prstDash val="solid"/>
          </a:ln>
        </p:spPr>
      </p:sp>
      <p:sp>
        <p:nvSpPr>
          <p:cNvPr id="9" name="Text 6"/>
          <p:cNvSpPr/>
          <p:nvPr/>
        </p:nvSpPr>
        <p:spPr>
          <a:xfrm>
            <a:off x="3200400" y="1463040"/>
            <a:ext cx="5486400" cy="320040"/>
          </a:xfrm>
          <a:prstGeom prst="rect">
            <a:avLst/>
          </a:prstGeom>
          <a:noFill/>
          <a:ln/>
        </p:spPr>
        <p:txBody>
          <a:bodyPr wrap="square" lIns="1905" tIns="1905" rIns="1905" bIns="1905" rtlCol="0" anchor="ctr"/>
          <a:lstStyle/>
          <a:p>
            <a:pPr algn="l" indent="0" marL="0">
              <a:buNone/>
            </a:pPr>
            <a:r>
              <a:rPr lang="en-US" sz="1100" b="1" spc="200" kern="0" dirty="0">
                <a:solidFill>
                  <a:srgbClr val="FFFFFF"/>
                </a:solidFill>
                <a:latin typeface="Arial" pitchFamily="34" charset="0"/>
                <a:ea typeface="Arial" pitchFamily="34" charset="-122"/>
                <a:cs typeface="Arial" pitchFamily="34" charset="-120"/>
              </a:rPr>
              <a:t>THE SAFETY CASE</a:t>
            </a:r>
            <a:endParaRPr lang="en-US" sz="1100" dirty="0"/>
          </a:p>
        </p:txBody>
      </p:sp>
      <p:sp>
        <p:nvSpPr>
          <p:cNvPr id="10" name="Shape 7"/>
          <p:cNvSpPr/>
          <p:nvPr/>
        </p:nvSpPr>
        <p:spPr>
          <a:xfrm>
            <a:off x="3200400" y="1783080"/>
            <a:ext cx="5486400" cy="822960"/>
          </a:xfrm>
          <a:prstGeom prst="rect">
            <a:avLst/>
          </a:prstGeom>
          <a:solidFill>
            <a:srgbClr val="F9F9F9"/>
          </a:solidFill>
          <a:ln w="6350">
            <a:solidFill>
              <a:srgbClr val="E5E5E5"/>
            </a:solidFill>
            <a:prstDash val="solid"/>
          </a:ln>
        </p:spPr>
      </p:sp>
      <p:sp>
        <p:nvSpPr>
          <p:cNvPr id="11" name="Text 8"/>
          <p:cNvSpPr/>
          <p:nvPr/>
        </p:nvSpPr>
        <p:spPr>
          <a:xfrm>
            <a:off x="3337560" y="1828800"/>
            <a:ext cx="5212080" cy="731520"/>
          </a:xfrm>
          <a:prstGeom prst="rect">
            <a:avLst/>
          </a:prstGeom>
          <a:noFill/>
          <a:ln/>
        </p:spPr>
        <p:txBody>
          <a:bodyPr wrap="square" lIns="0" tIns="0" rIns="0" bIns="0" rtlCol="0" anchor="ctr"/>
          <a:lstStyle/>
          <a:p>
            <a:pPr indent="0" marL="0">
              <a:buNone/>
            </a:pPr>
            <a:r>
              <a:rPr lang="en-US" sz="1050" dirty="0">
                <a:solidFill>
                  <a:srgbClr val="333333"/>
                </a:solidFill>
                <a:latin typeface="Arial" pitchFamily="34" charset="0"/>
                <a:ea typeface="Arial" pitchFamily="34" charset="-122"/>
                <a:cs typeface="Arial" pitchFamily="34" charset="-120"/>
              </a:rPr>
              <a:t>Human drivers cause ~1.35M deaths a year.</a:t>
            </a:r>
            <a:pPr indent="0" marL="0">
              <a:buNone/>
            </a:pPr>
            <a:r>
              <a:rPr lang="en-US" sz="700" baseline="30000" dirty="0">
                <a:solidFill>
                  <a:srgbClr val="333333"/>
                </a:solidFill>
                <a:latin typeface="Arial" pitchFamily="34" charset="0"/>
                <a:ea typeface="Arial" pitchFamily="34" charset="-122"/>
                <a:cs typeface="Arial" pitchFamily="34" charset="-120"/>
              </a:rPr>
              <a:t> 1</a:t>
            </a:r>
            <a:pPr indent="0" marL="0">
              <a:buNone/>
            </a:pPr>
            <a:r>
              <a:rPr lang="en-US" sz="1050" dirty="0">
                <a:solidFill>
                  <a:srgbClr val="333333"/>
                </a:solidFill>
                <a:latin typeface="Arial" pitchFamily="34" charset="0"/>
                <a:ea typeface="Arial" pitchFamily="34" charset="-122"/>
                <a:cs typeface="Arial" pitchFamily="34" charset="-120"/>
              </a:rPr>
              <a:t> Autonomous systems don't tire or lose focus.</a:t>
            </a:r>
            <a:endParaRPr lang="en-US" sz="1050" dirty="0"/>
          </a:p>
        </p:txBody>
      </p:sp>
      <p:sp>
        <p:nvSpPr>
          <p:cNvPr id="12" name="Shape 9"/>
          <p:cNvSpPr/>
          <p:nvPr/>
        </p:nvSpPr>
        <p:spPr>
          <a:xfrm>
            <a:off x="3200400" y="2743200"/>
            <a:ext cx="5486400" cy="320040"/>
          </a:xfrm>
          <a:prstGeom prst="rect">
            <a:avLst/>
          </a:prstGeom>
          <a:solidFill>
            <a:srgbClr val="333333"/>
          </a:solidFill>
          <a:ln w="12700">
            <a:solidFill>
              <a:srgbClr val="333333"/>
            </a:solidFill>
            <a:prstDash val="solid"/>
          </a:ln>
        </p:spPr>
      </p:sp>
      <p:sp>
        <p:nvSpPr>
          <p:cNvPr id="13" name="Text 10"/>
          <p:cNvSpPr/>
          <p:nvPr/>
        </p:nvSpPr>
        <p:spPr>
          <a:xfrm>
            <a:off x="3200400" y="2743200"/>
            <a:ext cx="5486400" cy="320040"/>
          </a:xfrm>
          <a:prstGeom prst="rect">
            <a:avLst/>
          </a:prstGeom>
          <a:noFill/>
          <a:ln/>
        </p:spPr>
        <p:txBody>
          <a:bodyPr wrap="square" lIns="1905" tIns="1905" rIns="1905" bIns="1905" rtlCol="0" anchor="ctr"/>
          <a:lstStyle/>
          <a:p>
            <a:pPr algn="l" indent="0" marL="0">
              <a:buNone/>
            </a:pPr>
            <a:r>
              <a:rPr lang="en-US" sz="1100" b="1" spc="200" kern="0" dirty="0">
                <a:solidFill>
                  <a:srgbClr val="FFFFFF"/>
                </a:solidFill>
                <a:latin typeface="Arial" pitchFamily="34" charset="0"/>
                <a:ea typeface="Arial" pitchFamily="34" charset="-122"/>
                <a:cs typeface="Arial" pitchFamily="34" charset="-120"/>
              </a:rPr>
              <a:t>DATA FLYWHEEL</a:t>
            </a:r>
            <a:endParaRPr lang="en-US" sz="1100" dirty="0"/>
          </a:p>
        </p:txBody>
      </p:sp>
      <p:sp>
        <p:nvSpPr>
          <p:cNvPr id="14" name="Shape 11"/>
          <p:cNvSpPr/>
          <p:nvPr/>
        </p:nvSpPr>
        <p:spPr>
          <a:xfrm>
            <a:off x="3200400" y="3063240"/>
            <a:ext cx="5486400" cy="822960"/>
          </a:xfrm>
          <a:prstGeom prst="rect">
            <a:avLst/>
          </a:prstGeom>
          <a:solidFill>
            <a:srgbClr val="F9F9F9"/>
          </a:solidFill>
          <a:ln w="6350">
            <a:solidFill>
              <a:srgbClr val="E5E5E5"/>
            </a:solidFill>
            <a:prstDash val="solid"/>
          </a:ln>
        </p:spPr>
      </p:sp>
      <p:sp>
        <p:nvSpPr>
          <p:cNvPr id="15" name="Text 12"/>
          <p:cNvSpPr/>
          <p:nvPr/>
        </p:nvSpPr>
        <p:spPr>
          <a:xfrm>
            <a:off x="3337560" y="3108960"/>
            <a:ext cx="5212080" cy="731520"/>
          </a:xfrm>
          <a:prstGeom prst="rect">
            <a:avLst/>
          </a:prstGeom>
          <a:noFill/>
          <a:ln/>
        </p:spPr>
        <p:txBody>
          <a:bodyPr wrap="square" lIns="0" tIns="0" rIns="0" bIns="0" rtlCol="0" anchor="ctr"/>
          <a:lstStyle/>
          <a:p>
            <a:pPr indent="0" marL="0">
              <a:buNone/>
            </a:pPr>
            <a:r>
              <a:rPr lang="en-US" sz="1050" dirty="0">
                <a:solidFill>
                  <a:srgbClr val="333333"/>
                </a:solidFill>
                <a:latin typeface="Arial" pitchFamily="34" charset="0"/>
                <a:ea typeface="Arial" pitchFamily="34" charset="-122"/>
                <a:cs typeface="Arial" pitchFamily="34" charset="-120"/>
              </a:rPr>
              <a:t>Every mile generates training data. Better models unlock more cities. Flywheel self-reinforces.</a:t>
            </a:r>
            <a:endParaRPr lang="en-US" sz="1050" dirty="0"/>
          </a:p>
        </p:txBody>
      </p:sp>
      <p:sp>
        <p:nvSpPr>
          <p:cNvPr id="16" name="Shape 13"/>
          <p:cNvSpPr/>
          <p:nvPr/>
        </p:nvSpPr>
        <p:spPr>
          <a:xfrm>
            <a:off x="3200400" y="4023360"/>
            <a:ext cx="5486400" cy="320040"/>
          </a:xfrm>
          <a:prstGeom prst="rect">
            <a:avLst/>
          </a:prstGeom>
          <a:solidFill>
            <a:srgbClr val="333333"/>
          </a:solidFill>
          <a:ln w="12700">
            <a:solidFill>
              <a:srgbClr val="333333"/>
            </a:solidFill>
            <a:prstDash val="solid"/>
          </a:ln>
        </p:spPr>
      </p:sp>
      <p:sp>
        <p:nvSpPr>
          <p:cNvPr id="17" name="Text 14"/>
          <p:cNvSpPr/>
          <p:nvPr/>
        </p:nvSpPr>
        <p:spPr>
          <a:xfrm>
            <a:off x="3200400" y="4023360"/>
            <a:ext cx="5486400" cy="320040"/>
          </a:xfrm>
          <a:prstGeom prst="rect">
            <a:avLst/>
          </a:prstGeom>
          <a:noFill/>
          <a:ln/>
        </p:spPr>
        <p:txBody>
          <a:bodyPr wrap="square" lIns="1905" tIns="1905" rIns="1905" bIns="1905" rtlCol="0" anchor="ctr"/>
          <a:lstStyle/>
          <a:p>
            <a:pPr algn="l" indent="0" marL="0">
              <a:buNone/>
            </a:pPr>
            <a:r>
              <a:rPr lang="en-US" sz="1100" b="1" spc="200" kern="0" dirty="0">
                <a:solidFill>
                  <a:srgbClr val="FFFFFF"/>
                </a:solidFill>
                <a:latin typeface="Arial" pitchFamily="34" charset="0"/>
                <a:ea typeface="Arial" pitchFamily="34" charset="-122"/>
                <a:cs typeface="Arial" pitchFamily="34" charset="-120"/>
              </a:rPr>
              <a:t>EDGE INFERENCE</a:t>
            </a:r>
            <a:endParaRPr lang="en-US" sz="1100" dirty="0"/>
          </a:p>
        </p:txBody>
      </p:sp>
      <p:sp>
        <p:nvSpPr>
          <p:cNvPr id="18" name="Shape 15"/>
          <p:cNvSpPr/>
          <p:nvPr/>
        </p:nvSpPr>
        <p:spPr>
          <a:xfrm>
            <a:off x="3200400" y="4343400"/>
            <a:ext cx="5486400" cy="822960"/>
          </a:xfrm>
          <a:prstGeom prst="rect">
            <a:avLst/>
          </a:prstGeom>
          <a:solidFill>
            <a:srgbClr val="F9F9F9"/>
          </a:solidFill>
          <a:ln w="6350">
            <a:solidFill>
              <a:srgbClr val="E5E5E5"/>
            </a:solidFill>
            <a:prstDash val="solid"/>
          </a:ln>
        </p:spPr>
      </p:sp>
      <p:sp>
        <p:nvSpPr>
          <p:cNvPr id="19" name="Text 16"/>
          <p:cNvSpPr/>
          <p:nvPr/>
        </p:nvSpPr>
        <p:spPr>
          <a:xfrm>
            <a:off x="3337560" y="4389120"/>
            <a:ext cx="5212080" cy="731520"/>
          </a:xfrm>
          <a:prstGeom prst="rect">
            <a:avLst/>
          </a:prstGeom>
          <a:noFill/>
          <a:ln/>
        </p:spPr>
        <p:txBody>
          <a:bodyPr wrap="square" lIns="0" tIns="0" rIns="0" bIns="0" rtlCol="0" anchor="ctr"/>
          <a:lstStyle/>
          <a:p>
            <a:pPr indent="0" marL="0">
              <a:buNone/>
            </a:pPr>
            <a:r>
              <a:rPr lang="en-US" sz="1050" dirty="0">
                <a:solidFill>
                  <a:srgbClr val="333333"/>
                </a:solidFill>
                <a:latin typeface="Arial" pitchFamily="34" charset="0"/>
                <a:ea typeface="Arial" pitchFamily="34" charset="-122"/>
                <a:cs typeface="Arial" pitchFamily="34" charset="-120"/>
              </a:rPr>
              <a:t>Each AV runs thousands of AI ops / second across cameras, lidar, radar — frontier-scale compute.</a:t>
            </a:r>
            <a:pPr indent="0" marL="0">
              <a:buNone/>
            </a:pPr>
            <a:r>
              <a:rPr lang="en-US" sz="700" baseline="30000" dirty="0">
                <a:solidFill>
                  <a:srgbClr val="333333"/>
                </a:solidFill>
                <a:latin typeface="Arial" pitchFamily="34" charset="0"/>
                <a:ea typeface="Arial" pitchFamily="34" charset="-122"/>
                <a:cs typeface="Arial" pitchFamily="34" charset="-120"/>
              </a:rPr>
              <a:t> 2</a:t>
            </a:r>
            <a:endParaRPr lang="en-US" sz="1050" dirty="0"/>
          </a:p>
        </p:txBody>
      </p:sp>
      <p:sp>
        <p:nvSpPr>
          <p:cNvPr id="20" name="Shape 17"/>
          <p:cNvSpPr/>
          <p:nvPr/>
        </p:nvSpPr>
        <p:spPr>
          <a:xfrm>
            <a:off x="457200" y="5394960"/>
            <a:ext cx="8229600" cy="320040"/>
          </a:xfrm>
          <a:prstGeom prst="rect">
            <a:avLst/>
          </a:prstGeom>
          <a:solidFill>
            <a:srgbClr val="333333"/>
          </a:solidFill>
          <a:ln w="12700">
            <a:solidFill>
              <a:srgbClr val="333333"/>
            </a:solidFill>
            <a:prstDash val="solid"/>
          </a:ln>
        </p:spPr>
      </p:sp>
      <p:sp>
        <p:nvSpPr>
          <p:cNvPr id="21" name="Text 18"/>
          <p:cNvSpPr/>
          <p:nvPr/>
        </p:nvSpPr>
        <p:spPr>
          <a:xfrm>
            <a:off x="640080" y="5394960"/>
            <a:ext cx="7863840" cy="320040"/>
          </a:xfrm>
          <a:prstGeom prst="rect">
            <a:avLst/>
          </a:prstGeom>
          <a:noFill/>
          <a:ln/>
        </p:spPr>
        <p:txBody>
          <a:bodyPr wrap="square" lIns="0" tIns="0" rIns="0" bIns="0" rtlCol="0" anchor="ctr"/>
          <a:lstStyle/>
          <a:p>
            <a:pPr indent="0" marL="0">
              <a:buNone/>
            </a:pPr>
            <a:r>
              <a:rPr lang="en-US" sz="950" b="1" spc="300" kern="0" dirty="0">
                <a:solidFill>
                  <a:srgbClr val="FFB800"/>
                </a:solidFill>
                <a:latin typeface="Arial" pitchFamily="34" charset="0"/>
                <a:ea typeface="Arial" pitchFamily="34" charset="-122"/>
                <a:cs typeface="Arial" pitchFamily="34" charset="-120"/>
              </a:rPr>
              <a:t>PLAYERS   </a:t>
            </a:r>
            <a:pPr indent="0" marL="0">
              <a:buNone/>
            </a:pPr>
            <a:r>
              <a:rPr lang="en-US" sz="1100" b="1" dirty="0">
                <a:solidFill>
                  <a:srgbClr val="FFFFFF"/>
                </a:solidFill>
                <a:latin typeface="Arial" pitchFamily="34" charset="0"/>
                <a:ea typeface="Arial" pitchFamily="34" charset="-122"/>
                <a:cs typeface="Arial" pitchFamily="34" charset="-120"/>
              </a:rPr>
              <a:t>Waymo · Tesla FSD · Baidu Apollo · Aurora</a:t>
            </a:r>
            <a:pPr indent="0" marL="0">
              <a:buNone/>
            </a:pPr>
            <a:r>
              <a:rPr lang="en-US" sz="800" baseline="30000" dirty="0">
                <a:solidFill>
                  <a:srgbClr val="FFFFFF"/>
                </a:solidFill>
                <a:latin typeface="Arial" pitchFamily="34" charset="0"/>
                <a:ea typeface="Arial" pitchFamily="34" charset="-122"/>
                <a:cs typeface="Arial" pitchFamily="34" charset="-120"/>
              </a:rPr>
              <a:t> 3</a:t>
            </a:r>
            <a:endParaRPr lang="en-US" sz="950" dirty="0"/>
          </a:p>
        </p:txBody>
      </p:sp>
      <p:sp>
        <p:nvSpPr>
          <p:cNvPr id="22" name="Text 19"/>
          <p:cNvSpPr/>
          <p:nvPr/>
        </p:nvSpPr>
        <p:spPr>
          <a:xfrm>
            <a:off x="457200" y="5875020"/>
            <a:ext cx="8229600" cy="457200"/>
          </a:xfrm>
          <a:prstGeom prst="rect">
            <a:avLst/>
          </a:prstGeom>
          <a:noFill/>
          <a:ln/>
        </p:spPr>
        <p:txBody>
          <a:bodyPr wrap="square" lIns="0" tIns="0" rIns="0" bIns="0" rtlCol="0" anchor="t"/>
          <a:lstStyle/>
          <a:p>
            <a:pPr indent="0" marL="0">
              <a:buNone/>
            </a:pPr>
            <a:r>
              <a:rPr lang="en-US" sz="700" b="1" dirty="0">
                <a:solidFill>
                  <a:srgbClr val="999999"/>
                </a:solidFill>
                <a:latin typeface="Arial" pitchFamily="34" charset="0"/>
                <a:ea typeface="Arial" pitchFamily="34" charset="-122"/>
                <a:cs typeface="Arial" pitchFamily="34" charset="-120"/>
              </a:rPr>
              <a:t>(1) </a:t>
            </a:r>
            <a:pPr indent="0" marL="0">
              <a:buNone/>
            </a:pPr>
            <a:r>
              <a:rPr lang="en-US" sz="700" dirty="0">
                <a:solidFill>
                  <a:srgbClr val="999999"/>
                </a:solidFill>
                <a:latin typeface="Arial" pitchFamily="34" charset="0"/>
                <a:ea typeface="Arial" pitchFamily="34" charset="-122"/>
                <a:cs typeface="Arial" pitchFamily="34" charset="-120"/>
              </a:rPr>
              <a:t>WHO Global Road Safety report, </a:t>
            </a:r>
            <a:pPr indent="0" marL="0">
              <a:buNone/>
            </a:pPr>
            <a:r>
              <a:rPr lang="en-US" sz="700" b="1" dirty="0">
                <a:solidFill>
                  <a:srgbClr val="999999"/>
                </a:solidFill>
                <a:latin typeface="Arial" pitchFamily="34" charset="0"/>
                <a:ea typeface="Arial" pitchFamily="34" charset="-122"/>
                <a:cs typeface="Arial" pitchFamily="34" charset="-120"/>
              </a:rPr>
              <a:t>(2) </a:t>
            </a:r>
            <a:pPr indent="0" marL="0">
              <a:buNone/>
            </a:pPr>
            <a:r>
              <a:rPr lang="en-US" sz="700" dirty="0">
                <a:solidFill>
                  <a:srgbClr val="999999"/>
                </a:solidFill>
                <a:latin typeface="Arial" pitchFamily="34" charset="0"/>
                <a:ea typeface="Arial" pitchFamily="34" charset="-122"/>
                <a:cs typeface="Arial" pitchFamily="34" charset="-120"/>
              </a:rPr>
              <a:t>NVIDIA FY2026 — automotive/DRIVE platform, </a:t>
            </a:r>
            <a:pPr indent="0" marL="0">
              <a:buNone/>
            </a:pPr>
            <a:r>
              <a:rPr lang="en-US" sz="700" b="1" dirty="0">
                <a:solidFill>
                  <a:srgbClr val="999999"/>
                </a:solidFill>
                <a:latin typeface="Arial" pitchFamily="34" charset="0"/>
                <a:ea typeface="Arial" pitchFamily="34" charset="-122"/>
                <a:cs typeface="Arial" pitchFamily="34" charset="-120"/>
              </a:rPr>
              <a:t>(3) </a:t>
            </a:r>
            <a:pPr indent="0" marL="0">
              <a:buNone/>
            </a:pPr>
            <a:r>
              <a:rPr lang="en-US" sz="700" dirty="0">
                <a:solidFill>
                  <a:srgbClr val="999999"/>
                </a:solidFill>
                <a:latin typeface="Arial" pitchFamily="34" charset="0"/>
                <a:ea typeface="Arial" pitchFamily="34" charset="-122"/>
                <a:cs typeface="Arial" pitchFamily="34" charset="-120"/>
              </a:rPr>
              <a:t>Waymo, Tesla, Baidu Apollo, Aurora — company disclosures.</a:t>
            </a:r>
            <a:endParaRPr lang="en-US" sz="700" dirty="0"/>
          </a:p>
        </p:txBody>
      </p:sp>
      <p:sp>
        <p:nvSpPr>
          <p:cNvPr id="23" name="Shape 20"/>
          <p:cNvSpPr/>
          <p:nvPr/>
        </p:nvSpPr>
        <p:spPr>
          <a:xfrm>
            <a:off x="0" y="6286500"/>
            <a:ext cx="9144000" cy="571500"/>
          </a:xfrm>
          <a:prstGeom prst="rect">
            <a:avLst/>
          </a:prstGeom>
          <a:solidFill>
            <a:srgbClr val="000000"/>
          </a:solidFill>
          <a:ln w="12700">
            <a:solidFill>
              <a:srgbClr val="000000"/>
            </a:solidFill>
            <a:prstDash val="solid"/>
          </a:ln>
        </p:spPr>
      </p:sp>
      <p:sp>
        <p:nvSpPr>
          <p:cNvPr id="24" name="Text 21"/>
          <p:cNvSpPr/>
          <p:nvPr/>
        </p:nvSpPr>
        <p:spPr>
          <a:xfrm>
            <a:off x="1371600" y="6332220"/>
            <a:ext cx="6400800" cy="457200"/>
          </a:xfrm>
          <a:prstGeom prst="rect">
            <a:avLst/>
          </a:prstGeom>
          <a:noFill/>
          <a:ln/>
        </p:spPr>
        <p:txBody>
          <a:bodyPr wrap="square" lIns="0" tIns="0" rIns="0" bIns="0" rtlCol="0" anchor="ctr"/>
          <a:lstStyle/>
          <a:p>
            <a:pPr algn="ctr" indent="0" marL="0">
              <a:buNone/>
            </a:pPr>
            <a:r>
              <a:rPr lang="en-US" sz="650" b="1" dirty="0">
                <a:solidFill>
                  <a:srgbClr val="FFFFFF"/>
                </a:solidFill>
                <a:latin typeface="Arial" pitchFamily="34" charset="0"/>
                <a:ea typeface="Arial" pitchFamily="34" charset="-122"/>
                <a:cs typeface="Arial" pitchFamily="34" charset="-120"/>
              </a:rPr>
              <a:t>FOR INFORMATIONAL PURPOSES ONLY. NOT INVESTMENT ADVICE. PAST PERFORMANCE IS NOT INDICATIVE OF FUTURE RESULTS.</a:t>
            </a:r>
            <a:endParaRPr lang="en-US" sz="650" dirty="0"/>
          </a:p>
        </p:txBody>
      </p:sp>
      <p:sp>
        <p:nvSpPr>
          <p:cNvPr id="25" name="Text 22"/>
          <p:cNvSpPr/>
          <p:nvPr/>
        </p:nvSpPr>
        <p:spPr>
          <a:xfrm>
            <a:off x="8321040" y="6405372"/>
            <a:ext cx="548640" cy="274320"/>
          </a:xfrm>
          <a:prstGeom prst="rect">
            <a:avLst/>
          </a:prstGeom>
          <a:noFill/>
          <a:ln/>
        </p:spPr>
        <p:txBody>
          <a:bodyPr wrap="square" lIns="0" tIns="0" rIns="0" bIns="0" rtlCol="0" anchor="ctr"/>
          <a:lstStyle/>
          <a:p>
            <a:pPr algn="r" indent="0" marL="0">
              <a:buNone/>
            </a:pPr>
            <a:r>
              <a:rPr lang="en-US" sz="900" dirty="0">
                <a:solidFill>
                  <a:srgbClr val="FFFFFF"/>
                </a:solidFill>
                <a:latin typeface="Arial" pitchFamily="34" charset="0"/>
                <a:ea typeface="Arial" pitchFamily="34" charset="-122"/>
                <a:cs typeface="Arial" pitchFamily="34" charset="-120"/>
              </a:rPr>
              <a:t>21</a:t>
            </a:r>
            <a:endParaRPr lang="en-US" sz="9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Shape 0"/>
          <p:cNvSpPr/>
          <p:nvPr/>
        </p:nvSpPr>
        <p:spPr>
          <a:xfrm>
            <a:off x="7132320" y="164592"/>
            <a:ext cx="1737360" cy="292608"/>
          </a:xfrm>
          <a:prstGeom prst="roundRect">
            <a:avLst>
              <a:gd name="adj" fmla="val 15625"/>
            </a:avLst>
          </a:prstGeom>
          <a:solidFill>
            <a:srgbClr val="6B46C1"/>
          </a:solidFill>
          <a:ln w="12700">
            <a:solidFill>
              <a:srgbClr val="6B46C1"/>
            </a:solidFill>
            <a:prstDash val="solid"/>
          </a:ln>
        </p:spPr>
      </p:sp>
      <p:sp>
        <p:nvSpPr>
          <p:cNvPr id="3" name="Text 1"/>
          <p:cNvSpPr/>
          <p:nvPr/>
        </p:nvSpPr>
        <p:spPr>
          <a:xfrm>
            <a:off x="7132320" y="164592"/>
            <a:ext cx="1737360" cy="292608"/>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Arial" pitchFamily="34" charset="0"/>
                <a:ea typeface="Arial" pitchFamily="34" charset="-122"/>
                <a:cs typeface="Arial" pitchFamily="34" charset="-120"/>
              </a:rPr>
              <a:t>FRONTIER</a:t>
            </a:r>
            <a:endParaRPr lang="en-US" sz="1000" dirty="0"/>
          </a:p>
        </p:txBody>
      </p:sp>
      <p:sp>
        <p:nvSpPr>
          <p:cNvPr id="4" name="Text 2"/>
          <p:cNvSpPr/>
          <p:nvPr/>
        </p:nvSpPr>
        <p:spPr>
          <a:xfrm>
            <a:off x="457200" y="182880"/>
            <a:ext cx="6583680" cy="685800"/>
          </a:xfrm>
          <a:prstGeom prst="rect">
            <a:avLst/>
          </a:prstGeom>
          <a:noFill/>
          <a:ln/>
        </p:spPr>
        <p:txBody>
          <a:bodyPr wrap="square" lIns="0" tIns="0" rIns="0" bIns="0" rtlCol="0" anchor="t"/>
          <a:lstStyle/>
          <a:p>
            <a:pPr indent="0" marL="0">
              <a:buNone/>
            </a:pPr>
            <a:r>
              <a:rPr lang="en-US" sz="2400" b="1" dirty="0">
                <a:solidFill>
                  <a:srgbClr val="000000"/>
                </a:solidFill>
                <a:latin typeface="Arial Black" pitchFamily="34" charset="0"/>
                <a:ea typeface="Arial Black" pitchFamily="34" charset="-122"/>
                <a:cs typeface="Arial Black" pitchFamily="34" charset="-120"/>
              </a:rPr>
              <a:t>AI is rewriting drug discovery.</a:t>
            </a:r>
            <a:endParaRPr lang="en-US" sz="2400" dirty="0"/>
          </a:p>
        </p:txBody>
      </p:sp>
      <p:sp>
        <p:nvSpPr>
          <p:cNvPr id="5" name="Text 3"/>
          <p:cNvSpPr/>
          <p:nvPr/>
        </p:nvSpPr>
        <p:spPr>
          <a:xfrm>
            <a:off x="457200" y="914400"/>
            <a:ext cx="8229600" cy="457200"/>
          </a:xfrm>
          <a:prstGeom prst="rect">
            <a:avLst/>
          </a:prstGeom>
          <a:noFill/>
          <a:ln/>
        </p:spPr>
        <p:txBody>
          <a:bodyPr wrap="square" lIns="0" tIns="0" rIns="0" bIns="0" rtlCol="0" anchor="t"/>
          <a:lstStyle/>
          <a:p>
            <a:pPr indent="0" marL="0">
              <a:buNone/>
            </a:pPr>
            <a:r>
              <a:rPr lang="en-US" sz="1350" dirty="0">
                <a:solidFill>
                  <a:srgbClr val="666666"/>
                </a:solidFill>
                <a:latin typeface="Arial" pitchFamily="34" charset="0"/>
                <a:ea typeface="Arial" pitchFamily="34" charset="-122"/>
                <a:cs typeface="Arial" pitchFamily="34" charset="-120"/>
              </a:rPr>
              <a:t>Three mechanisms compress the R&amp;D cycle's earliest stages from years to hours. Clinical trials still take years — AI collapses the design stage, not the regulatory one.</a:t>
            </a:r>
            <a:endParaRPr lang="en-US" sz="1350" dirty="0"/>
          </a:p>
        </p:txBody>
      </p:sp>
      <p:sp>
        <p:nvSpPr>
          <p:cNvPr id="6" name="Shape 4"/>
          <p:cNvSpPr/>
          <p:nvPr/>
        </p:nvSpPr>
        <p:spPr>
          <a:xfrm>
            <a:off x="457200" y="1325880"/>
            <a:ext cx="8229600" cy="0"/>
          </a:xfrm>
          <a:prstGeom prst="line">
            <a:avLst/>
          </a:prstGeom>
          <a:noFill/>
          <a:ln w="9525">
            <a:solidFill>
              <a:srgbClr val="E5E5E5"/>
            </a:solidFill>
            <a:prstDash val="solid"/>
          </a:ln>
        </p:spPr>
      </p:sp>
      <p:pic>
        <p:nvPicPr>
          <p:cNvPr id="7" name="Image 0" descr="slides-images/protein.png">    </p:cNvPr>
          <p:cNvPicPr>
            <a:picLocks noChangeAspect="1"/>
          </p:cNvPicPr>
          <p:nvPr/>
        </p:nvPicPr>
        <p:blipFill>
          <a:blip r:embed="rId1"/>
          <a:srcRect l="0" r="0" t="0" b="0"/>
          <a:stretch/>
        </p:blipFill>
        <p:spPr>
          <a:xfrm>
            <a:off x="457200" y="1691640"/>
            <a:ext cx="3017520" cy="3355848"/>
          </a:xfrm>
          <a:prstGeom prst="rect">
            <a:avLst/>
          </a:prstGeom>
        </p:spPr>
      </p:pic>
      <p:sp>
        <p:nvSpPr>
          <p:cNvPr id="8" name="Shape 5"/>
          <p:cNvSpPr/>
          <p:nvPr/>
        </p:nvSpPr>
        <p:spPr>
          <a:xfrm>
            <a:off x="3657600" y="1691640"/>
            <a:ext cx="5029200" cy="1069848"/>
          </a:xfrm>
          <a:prstGeom prst="rect">
            <a:avLst/>
          </a:prstGeom>
          <a:solidFill>
            <a:srgbClr val="F9F9F9"/>
          </a:solidFill>
          <a:ln w="6350">
            <a:solidFill>
              <a:srgbClr val="E5E5E5"/>
            </a:solidFill>
            <a:prstDash val="solid"/>
          </a:ln>
        </p:spPr>
      </p:sp>
      <p:sp>
        <p:nvSpPr>
          <p:cNvPr id="9" name="Shape 6"/>
          <p:cNvSpPr/>
          <p:nvPr/>
        </p:nvSpPr>
        <p:spPr>
          <a:xfrm>
            <a:off x="3657600" y="1691640"/>
            <a:ext cx="5029200" cy="292608"/>
          </a:xfrm>
          <a:prstGeom prst="rect">
            <a:avLst/>
          </a:prstGeom>
          <a:solidFill>
            <a:srgbClr val="333333"/>
          </a:solidFill>
          <a:ln w="12700">
            <a:solidFill>
              <a:srgbClr val="333333"/>
            </a:solidFill>
            <a:prstDash val="solid"/>
          </a:ln>
        </p:spPr>
      </p:sp>
      <p:sp>
        <p:nvSpPr>
          <p:cNvPr id="10" name="Text 7"/>
          <p:cNvSpPr/>
          <p:nvPr/>
        </p:nvSpPr>
        <p:spPr>
          <a:xfrm>
            <a:off x="3822192" y="1691640"/>
            <a:ext cx="4754880" cy="292608"/>
          </a:xfrm>
          <a:prstGeom prst="rect">
            <a:avLst/>
          </a:prstGeom>
          <a:noFill/>
          <a:ln/>
        </p:spPr>
        <p:txBody>
          <a:bodyPr wrap="square" lIns="0" tIns="0" rIns="0" bIns="0" rtlCol="0" anchor="ctr"/>
          <a:lstStyle/>
          <a:p>
            <a:pPr indent="0" marL="0">
              <a:buNone/>
            </a:pPr>
            <a:r>
              <a:rPr lang="en-US" sz="1050" b="1" spc="200" kern="0" dirty="0">
                <a:solidFill>
                  <a:srgbClr val="FFB800"/>
                </a:solidFill>
                <a:latin typeface="Arial" pitchFamily="34" charset="0"/>
                <a:ea typeface="Arial" pitchFamily="34" charset="-122"/>
                <a:cs typeface="Arial" pitchFamily="34" charset="-120"/>
              </a:rPr>
              <a:t>01   </a:t>
            </a:r>
            <a:pPr indent="0" marL="0">
              <a:buNone/>
            </a:pPr>
            <a:r>
              <a:rPr lang="en-US" sz="1050" b="1" spc="200" kern="0" dirty="0">
                <a:solidFill>
                  <a:srgbClr val="FFFFFF"/>
                </a:solidFill>
                <a:latin typeface="Arial" pitchFamily="34" charset="0"/>
                <a:ea typeface="Arial" pitchFamily="34" charset="-122"/>
                <a:cs typeface="Arial" pitchFamily="34" charset="-120"/>
              </a:rPr>
              <a:t>STRUCTURE PREDICTION</a:t>
            </a:r>
            <a:endParaRPr lang="en-US" sz="1050" dirty="0"/>
          </a:p>
        </p:txBody>
      </p:sp>
      <p:sp>
        <p:nvSpPr>
          <p:cNvPr id="11" name="Text 8"/>
          <p:cNvSpPr/>
          <p:nvPr/>
        </p:nvSpPr>
        <p:spPr>
          <a:xfrm>
            <a:off x="3840480" y="2029968"/>
            <a:ext cx="4663440" cy="685800"/>
          </a:xfrm>
          <a:prstGeom prst="rect">
            <a:avLst/>
          </a:prstGeom>
          <a:noFill/>
          <a:ln/>
        </p:spPr>
        <p:txBody>
          <a:bodyPr wrap="square" lIns="0" tIns="0" rIns="0" bIns="0" rtlCol="0" anchor="t"/>
          <a:lstStyle/>
          <a:p>
            <a:pPr indent="0" marL="0">
              <a:buNone/>
            </a:pPr>
            <a:r>
              <a:rPr lang="en-US" sz="950" dirty="0">
                <a:solidFill>
                  <a:srgbClr val="333333"/>
                </a:solidFill>
                <a:latin typeface="Arial" pitchFamily="34" charset="0"/>
                <a:ea typeface="Arial" pitchFamily="34" charset="-122"/>
                <a:cs typeface="Arial" pitchFamily="34" charset="-120"/>
              </a:rPr>
              <a:t>Predicting a protein's 3D shape from its amino-acid sequence was a 50-year unsolved problem. Crystallography took months per protein. Deep learning now infers structure in seconds</a:t>
            </a:r>
            <a:pPr indent="0" marL="0">
              <a:buNone/>
            </a:pPr>
            <a:r>
              <a:rPr lang="en-US" sz="650" baseline="30000" dirty="0">
                <a:solidFill>
                  <a:srgbClr val="333333"/>
                </a:solidFill>
                <a:latin typeface="Arial" pitchFamily="34" charset="0"/>
                <a:ea typeface="Arial" pitchFamily="34" charset="-122"/>
                <a:cs typeface="Arial" pitchFamily="34" charset="-120"/>
              </a:rPr>
              <a:t> 1</a:t>
            </a:r>
            <a:pPr indent="0" marL="0">
              <a:buNone/>
            </a:pPr>
            <a:r>
              <a:rPr lang="en-US" sz="950" dirty="0">
                <a:solidFill>
                  <a:srgbClr val="333333"/>
                </a:solidFill>
                <a:latin typeface="Arial" pitchFamily="34" charset="0"/>
                <a:ea typeface="Arial" pitchFamily="34" charset="-122"/>
                <a:cs typeface="Arial" pitchFamily="34" charset="-120"/>
              </a:rPr>
              <a:t> — unlocking every drug target at once.</a:t>
            </a:r>
            <a:endParaRPr lang="en-US" sz="950" dirty="0"/>
          </a:p>
        </p:txBody>
      </p:sp>
      <p:sp>
        <p:nvSpPr>
          <p:cNvPr id="12" name="Shape 9"/>
          <p:cNvSpPr/>
          <p:nvPr/>
        </p:nvSpPr>
        <p:spPr>
          <a:xfrm>
            <a:off x="3657600" y="2834640"/>
            <a:ext cx="5029200" cy="1069848"/>
          </a:xfrm>
          <a:prstGeom prst="rect">
            <a:avLst/>
          </a:prstGeom>
          <a:solidFill>
            <a:srgbClr val="F9F9F9"/>
          </a:solidFill>
          <a:ln w="6350">
            <a:solidFill>
              <a:srgbClr val="E5E5E5"/>
            </a:solidFill>
            <a:prstDash val="solid"/>
          </a:ln>
        </p:spPr>
      </p:sp>
      <p:sp>
        <p:nvSpPr>
          <p:cNvPr id="13" name="Shape 10"/>
          <p:cNvSpPr/>
          <p:nvPr/>
        </p:nvSpPr>
        <p:spPr>
          <a:xfrm>
            <a:off x="3657600" y="2834640"/>
            <a:ext cx="5029200" cy="292608"/>
          </a:xfrm>
          <a:prstGeom prst="rect">
            <a:avLst/>
          </a:prstGeom>
          <a:solidFill>
            <a:srgbClr val="333333"/>
          </a:solidFill>
          <a:ln w="12700">
            <a:solidFill>
              <a:srgbClr val="333333"/>
            </a:solidFill>
            <a:prstDash val="solid"/>
          </a:ln>
        </p:spPr>
      </p:sp>
      <p:sp>
        <p:nvSpPr>
          <p:cNvPr id="14" name="Text 11"/>
          <p:cNvSpPr/>
          <p:nvPr/>
        </p:nvSpPr>
        <p:spPr>
          <a:xfrm>
            <a:off x="3822192" y="2834640"/>
            <a:ext cx="4754880" cy="292608"/>
          </a:xfrm>
          <a:prstGeom prst="rect">
            <a:avLst/>
          </a:prstGeom>
          <a:noFill/>
          <a:ln/>
        </p:spPr>
        <p:txBody>
          <a:bodyPr wrap="square" lIns="0" tIns="0" rIns="0" bIns="0" rtlCol="0" anchor="ctr"/>
          <a:lstStyle/>
          <a:p>
            <a:pPr indent="0" marL="0">
              <a:buNone/>
            </a:pPr>
            <a:r>
              <a:rPr lang="en-US" sz="1050" b="1" spc="200" kern="0" dirty="0">
                <a:solidFill>
                  <a:srgbClr val="FFB800"/>
                </a:solidFill>
                <a:latin typeface="Arial" pitchFamily="34" charset="0"/>
                <a:ea typeface="Arial" pitchFamily="34" charset="-122"/>
                <a:cs typeface="Arial" pitchFamily="34" charset="-120"/>
              </a:rPr>
              <a:t>02   </a:t>
            </a:r>
            <a:pPr indent="0" marL="0">
              <a:buNone/>
            </a:pPr>
            <a:r>
              <a:rPr lang="en-US" sz="1050" b="1" spc="200" kern="0" dirty="0">
                <a:solidFill>
                  <a:srgbClr val="FFFFFF"/>
                </a:solidFill>
                <a:latin typeface="Arial" pitchFamily="34" charset="0"/>
                <a:ea typeface="Arial" pitchFamily="34" charset="-122"/>
                <a:cs typeface="Arial" pitchFamily="34" charset="-120"/>
              </a:rPr>
              <a:t>GENERATIVE MOLECULE DESIGN</a:t>
            </a:r>
            <a:endParaRPr lang="en-US" sz="1050" dirty="0"/>
          </a:p>
        </p:txBody>
      </p:sp>
      <p:sp>
        <p:nvSpPr>
          <p:cNvPr id="15" name="Text 12"/>
          <p:cNvSpPr/>
          <p:nvPr/>
        </p:nvSpPr>
        <p:spPr>
          <a:xfrm>
            <a:off x="3840480" y="3172968"/>
            <a:ext cx="4663440" cy="685800"/>
          </a:xfrm>
          <a:prstGeom prst="rect">
            <a:avLst/>
          </a:prstGeom>
          <a:noFill/>
          <a:ln/>
        </p:spPr>
        <p:txBody>
          <a:bodyPr wrap="square" lIns="0" tIns="0" rIns="0" bIns="0" rtlCol="0" anchor="t"/>
          <a:lstStyle/>
          <a:p>
            <a:pPr indent="0" marL="0">
              <a:buNone/>
            </a:pPr>
            <a:r>
              <a:rPr lang="en-US" sz="950" dirty="0">
                <a:solidFill>
                  <a:srgbClr val="333333"/>
                </a:solidFill>
                <a:latin typeface="Arial" pitchFamily="34" charset="0"/>
                <a:ea typeface="Arial" pitchFamily="34" charset="-122"/>
                <a:cs typeface="Arial" pitchFamily="34" charset="-120"/>
              </a:rPr>
              <a:t>There are ~10⁶⁰ drug-like small molecules.</a:t>
            </a:r>
            <a:pPr indent="0" marL="0">
              <a:buNone/>
            </a:pPr>
            <a:r>
              <a:rPr lang="en-US" sz="650" baseline="30000" dirty="0">
                <a:solidFill>
                  <a:srgbClr val="333333"/>
                </a:solidFill>
                <a:latin typeface="Arial" pitchFamily="34" charset="0"/>
                <a:ea typeface="Arial" pitchFamily="34" charset="-122"/>
                <a:cs typeface="Arial" pitchFamily="34" charset="-120"/>
              </a:rPr>
              <a:t> 2</a:t>
            </a:r>
            <a:pPr indent="0" marL="0">
              <a:buNone/>
            </a:pPr>
            <a:r>
              <a:rPr lang="en-US" sz="950" dirty="0">
                <a:solidFill>
                  <a:srgbClr val="333333"/>
                </a:solidFill>
                <a:latin typeface="Arial" pitchFamily="34" charset="0"/>
                <a:ea typeface="Arial" pitchFamily="34" charset="-122"/>
                <a:cs typeface="Arial" pitchFamily="34" charset="-120"/>
              </a:rPr>
              <a:t> Wet labs can screen millions. Generative models search the rest — proposing novel binders optimized for selectivity, potency, and drug-like properties.</a:t>
            </a:r>
            <a:endParaRPr lang="en-US" sz="950" dirty="0"/>
          </a:p>
        </p:txBody>
      </p:sp>
      <p:sp>
        <p:nvSpPr>
          <p:cNvPr id="16" name="Shape 13"/>
          <p:cNvSpPr/>
          <p:nvPr/>
        </p:nvSpPr>
        <p:spPr>
          <a:xfrm>
            <a:off x="3657600" y="3977640"/>
            <a:ext cx="5029200" cy="1069848"/>
          </a:xfrm>
          <a:prstGeom prst="rect">
            <a:avLst/>
          </a:prstGeom>
          <a:solidFill>
            <a:srgbClr val="F9F9F9"/>
          </a:solidFill>
          <a:ln w="6350">
            <a:solidFill>
              <a:srgbClr val="E5E5E5"/>
            </a:solidFill>
            <a:prstDash val="solid"/>
          </a:ln>
        </p:spPr>
      </p:sp>
      <p:sp>
        <p:nvSpPr>
          <p:cNvPr id="17" name="Shape 14"/>
          <p:cNvSpPr/>
          <p:nvPr/>
        </p:nvSpPr>
        <p:spPr>
          <a:xfrm>
            <a:off x="3657600" y="3977640"/>
            <a:ext cx="5029200" cy="292608"/>
          </a:xfrm>
          <a:prstGeom prst="rect">
            <a:avLst/>
          </a:prstGeom>
          <a:solidFill>
            <a:srgbClr val="333333"/>
          </a:solidFill>
          <a:ln w="12700">
            <a:solidFill>
              <a:srgbClr val="333333"/>
            </a:solidFill>
            <a:prstDash val="solid"/>
          </a:ln>
        </p:spPr>
      </p:sp>
      <p:sp>
        <p:nvSpPr>
          <p:cNvPr id="18" name="Text 15"/>
          <p:cNvSpPr/>
          <p:nvPr/>
        </p:nvSpPr>
        <p:spPr>
          <a:xfrm>
            <a:off x="3822192" y="3977640"/>
            <a:ext cx="4754880" cy="292608"/>
          </a:xfrm>
          <a:prstGeom prst="rect">
            <a:avLst/>
          </a:prstGeom>
          <a:noFill/>
          <a:ln/>
        </p:spPr>
        <p:txBody>
          <a:bodyPr wrap="square" lIns="0" tIns="0" rIns="0" bIns="0" rtlCol="0" anchor="ctr"/>
          <a:lstStyle/>
          <a:p>
            <a:pPr indent="0" marL="0">
              <a:buNone/>
            </a:pPr>
            <a:r>
              <a:rPr lang="en-US" sz="1050" b="1" spc="200" kern="0" dirty="0">
                <a:solidFill>
                  <a:srgbClr val="FFB800"/>
                </a:solidFill>
                <a:latin typeface="Arial" pitchFamily="34" charset="0"/>
                <a:ea typeface="Arial" pitchFamily="34" charset="-122"/>
                <a:cs typeface="Arial" pitchFamily="34" charset="-120"/>
              </a:rPr>
              <a:t>03   </a:t>
            </a:r>
            <a:pPr indent="0" marL="0">
              <a:buNone/>
            </a:pPr>
            <a:r>
              <a:rPr lang="en-US" sz="1050" b="1" spc="200" kern="0" dirty="0">
                <a:solidFill>
                  <a:srgbClr val="FFFFFF"/>
                </a:solidFill>
                <a:latin typeface="Arial" pitchFamily="34" charset="0"/>
                <a:ea typeface="Arial" pitchFamily="34" charset="-122"/>
                <a:cs typeface="Arial" pitchFamily="34" charset="-120"/>
              </a:rPr>
              <a:t>IN SILICO VALIDATION</a:t>
            </a:r>
            <a:endParaRPr lang="en-US" sz="1050" dirty="0"/>
          </a:p>
        </p:txBody>
      </p:sp>
      <p:sp>
        <p:nvSpPr>
          <p:cNvPr id="19" name="Text 16"/>
          <p:cNvSpPr/>
          <p:nvPr/>
        </p:nvSpPr>
        <p:spPr>
          <a:xfrm>
            <a:off x="3840480" y="4315968"/>
            <a:ext cx="4663440" cy="685800"/>
          </a:xfrm>
          <a:prstGeom prst="rect">
            <a:avLst/>
          </a:prstGeom>
          <a:noFill/>
          <a:ln/>
        </p:spPr>
        <p:txBody>
          <a:bodyPr wrap="square" lIns="0" tIns="0" rIns="0" bIns="0" rtlCol="0" anchor="t"/>
          <a:lstStyle/>
          <a:p>
            <a:pPr indent="0" marL="0">
              <a:buNone/>
            </a:pPr>
            <a:r>
              <a:rPr lang="en-US" sz="950" dirty="0">
                <a:solidFill>
                  <a:srgbClr val="333333"/>
                </a:solidFill>
                <a:latin typeface="Arial" pitchFamily="34" charset="0"/>
                <a:ea typeface="Arial" pitchFamily="34" charset="-122"/>
                <a:cs typeface="Arial" pitchFamily="34" charset="-120"/>
              </a:rPr>
              <a:t>Molecular dynamics and binding-affinity prediction filter candidates before synthesis. Weeks of bench work become hours of GPU compute. Far fewer molecules reach animal testing.</a:t>
            </a:r>
            <a:endParaRPr lang="en-US" sz="950" dirty="0"/>
          </a:p>
        </p:txBody>
      </p:sp>
      <p:sp>
        <p:nvSpPr>
          <p:cNvPr id="20" name="Shape 17"/>
          <p:cNvSpPr/>
          <p:nvPr/>
        </p:nvSpPr>
        <p:spPr>
          <a:xfrm>
            <a:off x="457200" y="5193792"/>
            <a:ext cx="8229600" cy="384048"/>
          </a:xfrm>
          <a:prstGeom prst="rect">
            <a:avLst/>
          </a:prstGeom>
          <a:solidFill>
            <a:srgbClr val="FFD100"/>
          </a:solidFill>
          <a:ln w="12700">
            <a:solidFill>
              <a:srgbClr val="FFD100"/>
            </a:solidFill>
            <a:prstDash val="solid"/>
          </a:ln>
        </p:spPr>
      </p:sp>
      <p:sp>
        <p:nvSpPr>
          <p:cNvPr id="21" name="Text 18"/>
          <p:cNvSpPr/>
          <p:nvPr/>
        </p:nvSpPr>
        <p:spPr>
          <a:xfrm>
            <a:off x="640080" y="5193792"/>
            <a:ext cx="7863840" cy="384048"/>
          </a:xfrm>
          <a:prstGeom prst="rect">
            <a:avLst/>
          </a:prstGeom>
          <a:noFill/>
          <a:ln/>
        </p:spPr>
        <p:txBody>
          <a:bodyPr wrap="square" lIns="0" tIns="0" rIns="0" bIns="0" rtlCol="0" anchor="ctr"/>
          <a:lstStyle/>
          <a:p>
            <a:pPr indent="0" marL="0">
              <a:buNone/>
            </a:pPr>
            <a:r>
              <a:rPr lang="en-US" sz="1000" b="1" dirty="0">
                <a:solidFill>
                  <a:srgbClr val="000000"/>
                </a:solidFill>
                <a:latin typeface="Arial" pitchFamily="34" charset="0"/>
                <a:ea typeface="Arial" pitchFamily="34" charset="-122"/>
                <a:cs typeface="Arial" pitchFamily="34" charset="-120"/>
              </a:rPr>
              <a:t>Traditional pharma: 10–15 years, ~$2.6B per approved drug, &lt;10% Phase I success.</a:t>
            </a:r>
            <a:pPr indent="0" marL="0">
              <a:buNone/>
            </a:pPr>
            <a:r>
              <a:rPr lang="en-US" sz="700" b="1" baseline="30000" dirty="0">
                <a:solidFill>
                  <a:srgbClr val="000000"/>
                </a:solidFill>
                <a:latin typeface="Arial" pitchFamily="34" charset="0"/>
                <a:ea typeface="Arial" pitchFamily="34" charset="-122"/>
                <a:cs typeface="Arial" pitchFamily="34" charset="-120"/>
              </a:rPr>
              <a:t> 3</a:t>
            </a:r>
            <a:pPr indent="0" marL="0">
              <a:buNone/>
            </a:pPr>
            <a:r>
              <a:rPr lang="en-US" sz="1000" b="1" dirty="0">
                <a:solidFill>
                  <a:srgbClr val="000000"/>
                </a:solidFill>
                <a:latin typeface="Arial" pitchFamily="34" charset="0"/>
                <a:ea typeface="Arial" pitchFamily="34" charset="-122"/>
                <a:cs typeface="Arial" pitchFamily="34" charset="-120"/>
              </a:rPr>
              <a:t> AI collapses the design stage — clinical trials are still bound by biology and the FDA.</a:t>
            </a:r>
            <a:endParaRPr lang="en-US" sz="1000" dirty="0"/>
          </a:p>
        </p:txBody>
      </p:sp>
      <p:sp>
        <p:nvSpPr>
          <p:cNvPr id="22" name="Text 19"/>
          <p:cNvSpPr/>
          <p:nvPr/>
        </p:nvSpPr>
        <p:spPr>
          <a:xfrm>
            <a:off x="457200" y="5875020"/>
            <a:ext cx="8229600" cy="457200"/>
          </a:xfrm>
          <a:prstGeom prst="rect">
            <a:avLst/>
          </a:prstGeom>
          <a:noFill/>
          <a:ln/>
        </p:spPr>
        <p:txBody>
          <a:bodyPr wrap="square" lIns="0" tIns="0" rIns="0" bIns="0" rtlCol="0" anchor="t"/>
          <a:lstStyle/>
          <a:p>
            <a:pPr indent="0" marL="0">
              <a:buNone/>
            </a:pPr>
            <a:r>
              <a:rPr lang="en-US" sz="700" b="1" dirty="0">
                <a:solidFill>
                  <a:srgbClr val="999999"/>
                </a:solidFill>
                <a:latin typeface="Arial" pitchFamily="34" charset="0"/>
                <a:ea typeface="Arial" pitchFamily="34" charset="-122"/>
                <a:cs typeface="Arial" pitchFamily="34" charset="-120"/>
              </a:rPr>
              <a:t>(1) </a:t>
            </a:r>
            <a:pPr indent="0" marL="0">
              <a:buNone/>
            </a:pPr>
            <a:r>
              <a:rPr lang="en-US" sz="700" dirty="0">
                <a:solidFill>
                  <a:srgbClr val="999999"/>
                </a:solidFill>
                <a:latin typeface="Arial" pitchFamily="34" charset="0"/>
                <a:ea typeface="Arial" pitchFamily="34" charset="-122"/>
                <a:cs typeface="Arial" pitchFamily="34" charset="-120"/>
              </a:rPr>
              <a:t>Jumper et al., AlphaFold, Nature 2020, </a:t>
            </a:r>
            <a:pPr indent="0" marL="0">
              <a:buNone/>
            </a:pPr>
            <a:r>
              <a:rPr lang="en-US" sz="700" b="1" dirty="0">
                <a:solidFill>
                  <a:srgbClr val="999999"/>
                </a:solidFill>
                <a:latin typeface="Arial" pitchFamily="34" charset="0"/>
                <a:ea typeface="Arial" pitchFamily="34" charset="-122"/>
                <a:cs typeface="Arial" pitchFamily="34" charset="-120"/>
              </a:rPr>
              <a:t>(2) </a:t>
            </a:r>
            <a:pPr indent="0" marL="0">
              <a:buNone/>
            </a:pPr>
            <a:r>
              <a:rPr lang="en-US" sz="700" dirty="0">
                <a:solidFill>
                  <a:srgbClr val="999999"/>
                </a:solidFill>
                <a:latin typeface="Arial" pitchFamily="34" charset="0"/>
                <a:ea typeface="Arial" pitchFamily="34" charset="-122"/>
                <a:cs typeface="Arial" pitchFamily="34" charset="-120"/>
              </a:rPr>
              <a:t>Hughes et al., Br. J. Pharmacol. — screening scale, </a:t>
            </a:r>
            <a:pPr indent="0" marL="0">
              <a:buNone/>
            </a:pPr>
            <a:r>
              <a:rPr lang="en-US" sz="700" b="1" dirty="0">
                <a:solidFill>
                  <a:srgbClr val="999999"/>
                </a:solidFill>
                <a:latin typeface="Arial" pitchFamily="34" charset="0"/>
                <a:ea typeface="Arial" pitchFamily="34" charset="-122"/>
                <a:cs typeface="Arial" pitchFamily="34" charset="-120"/>
              </a:rPr>
              <a:t>(3) </a:t>
            </a:r>
            <a:pPr indent="0" marL="0">
              <a:buNone/>
            </a:pPr>
            <a:r>
              <a:rPr lang="en-US" sz="700" dirty="0">
                <a:solidFill>
                  <a:srgbClr val="999999"/>
                </a:solidFill>
                <a:latin typeface="Arial" pitchFamily="34" charset="0"/>
                <a:ea typeface="Arial" pitchFamily="34" charset="-122"/>
                <a:cs typeface="Arial" pitchFamily="34" charset="-120"/>
              </a:rPr>
              <a:t>Tufts CSDD — drug-development cost and timeline.</a:t>
            </a:r>
            <a:endParaRPr lang="en-US" sz="700" dirty="0"/>
          </a:p>
        </p:txBody>
      </p:sp>
      <p:sp>
        <p:nvSpPr>
          <p:cNvPr id="23" name="Shape 20"/>
          <p:cNvSpPr/>
          <p:nvPr/>
        </p:nvSpPr>
        <p:spPr>
          <a:xfrm>
            <a:off x="0" y="6286500"/>
            <a:ext cx="9144000" cy="571500"/>
          </a:xfrm>
          <a:prstGeom prst="rect">
            <a:avLst/>
          </a:prstGeom>
          <a:solidFill>
            <a:srgbClr val="000000"/>
          </a:solidFill>
          <a:ln w="12700">
            <a:solidFill>
              <a:srgbClr val="000000"/>
            </a:solidFill>
            <a:prstDash val="solid"/>
          </a:ln>
        </p:spPr>
      </p:sp>
      <p:sp>
        <p:nvSpPr>
          <p:cNvPr id="24" name="Text 21"/>
          <p:cNvSpPr/>
          <p:nvPr/>
        </p:nvSpPr>
        <p:spPr>
          <a:xfrm>
            <a:off x="1371600" y="6332220"/>
            <a:ext cx="6400800" cy="457200"/>
          </a:xfrm>
          <a:prstGeom prst="rect">
            <a:avLst/>
          </a:prstGeom>
          <a:noFill/>
          <a:ln/>
        </p:spPr>
        <p:txBody>
          <a:bodyPr wrap="square" lIns="0" tIns="0" rIns="0" bIns="0" rtlCol="0" anchor="ctr"/>
          <a:lstStyle/>
          <a:p>
            <a:pPr algn="ctr" indent="0" marL="0">
              <a:buNone/>
            </a:pPr>
            <a:r>
              <a:rPr lang="en-US" sz="650" b="1" dirty="0">
                <a:solidFill>
                  <a:srgbClr val="FFFFFF"/>
                </a:solidFill>
                <a:latin typeface="Arial" pitchFamily="34" charset="0"/>
                <a:ea typeface="Arial" pitchFamily="34" charset="-122"/>
                <a:cs typeface="Arial" pitchFamily="34" charset="-120"/>
              </a:rPr>
              <a:t>FOR INFORMATIONAL PURPOSES ONLY. NOT INVESTMENT ADVICE. PAST PERFORMANCE IS NOT INDICATIVE OF FUTURE RESULTS.</a:t>
            </a:r>
            <a:endParaRPr lang="en-US" sz="650" dirty="0"/>
          </a:p>
        </p:txBody>
      </p:sp>
      <p:sp>
        <p:nvSpPr>
          <p:cNvPr id="25" name="Text 22"/>
          <p:cNvSpPr/>
          <p:nvPr/>
        </p:nvSpPr>
        <p:spPr>
          <a:xfrm>
            <a:off x="8321040" y="6405372"/>
            <a:ext cx="548640" cy="274320"/>
          </a:xfrm>
          <a:prstGeom prst="rect">
            <a:avLst/>
          </a:prstGeom>
          <a:noFill/>
          <a:ln/>
        </p:spPr>
        <p:txBody>
          <a:bodyPr wrap="square" lIns="0" tIns="0" rIns="0" bIns="0" rtlCol="0" anchor="ctr"/>
          <a:lstStyle/>
          <a:p>
            <a:pPr algn="r" indent="0" marL="0">
              <a:buNone/>
            </a:pPr>
            <a:r>
              <a:rPr lang="en-US" sz="900" dirty="0">
                <a:solidFill>
                  <a:srgbClr val="FFFFFF"/>
                </a:solidFill>
                <a:latin typeface="Arial" pitchFamily="34" charset="0"/>
                <a:ea typeface="Arial" pitchFamily="34" charset="-122"/>
                <a:cs typeface="Arial" pitchFamily="34" charset="-120"/>
              </a:rPr>
              <a:t>22</a:t>
            </a:r>
            <a:endParaRPr lang="en-US" sz="9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182880"/>
            <a:ext cx="8229600" cy="685800"/>
          </a:xfrm>
          <a:prstGeom prst="rect">
            <a:avLst/>
          </a:prstGeom>
          <a:noFill/>
          <a:ln/>
        </p:spPr>
        <p:txBody>
          <a:bodyPr wrap="square" lIns="0" tIns="0" rIns="0" bIns="0" rtlCol="0" anchor="t"/>
          <a:lstStyle/>
          <a:p>
            <a:pPr indent="0" marL="0">
              <a:buNone/>
            </a:pPr>
            <a:r>
              <a:rPr lang="en-US" sz="2400" b="1" dirty="0">
                <a:solidFill>
                  <a:srgbClr val="000000"/>
                </a:solidFill>
                <a:latin typeface="Arial Black" pitchFamily="34" charset="0"/>
                <a:ea typeface="Arial Black" pitchFamily="34" charset="-122"/>
                <a:cs typeface="Arial Black" pitchFamily="34" charset="-120"/>
              </a:rPr>
              <a:t>Generational scale. Winners diverge. Trade evolves. Exposure is a thesis.</a:t>
            </a:r>
            <a:endParaRPr lang="en-US" sz="2400" dirty="0"/>
          </a:p>
        </p:txBody>
      </p:sp>
      <p:sp>
        <p:nvSpPr>
          <p:cNvPr id="3" name="Text 1"/>
          <p:cNvSpPr/>
          <p:nvPr/>
        </p:nvSpPr>
        <p:spPr>
          <a:xfrm>
            <a:off x="457200" y="914400"/>
            <a:ext cx="8229600" cy="457200"/>
          </a:xfrm>
          <a:prstGeom prst="rect">
            <a:avLst/>
          </a:prstGeom>
          <a:noFill/>
          <a:ln/>
        </p:spPr>
        <p:txBody>
          <a:bodyPr wrap="square" lIns="0" tIns="0" rIns="0" bIns="0" rtlCol="0" anchor="t"/>
          <a:lstStyle/>
          <a:p>
            <a:pPr indent="0" marL="0">
              <a:buNone/>
            </a:pPr>
            <a:r>
              <a:rPr lang="en-US" sz="1350" dirty="0">
                <a:solidFill>
                  <a:srgbClr val="666666"/>
                </a:solidFill>
                <a:latin typeface="Arial" pitchFamily="34" charset="0"/>
                <a:ea typeface="Arial" pitchFamily="34" charset="-122"/>
                <a:cs typeface="Arial" pitchFamily="34" charset="-120"/>
              </a:rPr>
              <a:t>Four big-picture takeaways.</a:t>
            </a:r>
            <a:endParaRPr lang="en-US" sz="1350" dirty="0"/>
          </a:p>
        </p:txBody>
      </p:sp>
      <p:sp>
        <p:nvSpPr>
          <p:cNvPr id="4" name="Shape 2"/>
          <p:cNvSpPr/>
          <p:nvPr/>
        </p:nvSpPr>
        <p:spPr>
          <a:xfrm>
            <a:off x="457200" y="1325880"/>
            <a:ext cx="8229600" cy="0"/>
          </a:xfrm>
          <a:prstGeom prst="line">
            <a:avLst/>
          </a:prstGeom>
          <a:noFill/>
          <a:ln w="9525">
            <a:solidFill>
              <a:srgbClr val="E5E5E5"/>
            </a:solidFill>
            <a:prstDash val="solid"/>
          </a:ln>
        </p:spPr>
      </p:sp>
      <p:sp>
        <p:nvSpPr>
          <p:cNvPr id="5" name="Shape 3"/>
          <p:cNvSpPr/>
          <p:nvPr/>
        </p:nvSpPr>
        <p:spPr>
          <a:xfrm>
            <a:off x="457200" y="1463040"/>
            <a:ext cx="868680" cy="868680"/>
          </a:xfrm>
          <a:prstGeom prst="rect">
            <a:avLst/>
          </a:prstGeom>
          <a:solidFill>
            <a:srgbClr val="008B8B"/>
          </a:solidFill>
          <a:ln w="12700">
            <a:solidFill>
              <a:srgbClr val="008B8B"/>
            </a:solidFill>
            <a:prstDash val="solid"/>
          </a:ln>
        </p:spPr>
      </p:sp>
      <p:sp>
        <p:nvSpPr>
          <p:cNvPr id="6" name="Text 4"/>
          <p:cNvSpPr/>
          <p:nvPr/>
        </p:nvSpPr>
        <p:spPr>
          <a:xfrm>
            <a:off x="457200" y="1463040"/>
            <a:ext cx="868680" cy="868680"/>
          </a:xfrm>
          <a:prstGeom prst="rect">
            <a:avLst/>
          </a:prstGeom>
          <a:noFill/>
          <a:ln/>
        </p:spPr>
        <p:txBody>
          <a:bodyPr wrap="square" lIns="0" tIns="0" rIns="0" bIns="0" rtlCol="0" anchor="ctr"/>
          <a:lstStyle/>
          <a:p>
            <a:pPr algn="ctr" indent="0" marL="0">
              <a:buNone/>
            </a:pPr>
            <a:r>
              <a:rPr lang="en-US" sz="2600" b="1" dirty="0">
                <a:solidFill>
                  <a:srgbClr val="FFFFFF"/>
                </a:solidFill>
                <a:latin typeface="Arial Black" pitchFamily="34" charset="0"/>
                <a:ea typeface="Arial Black" pitchFamily="34" charset="-122"/>
                <a:cs typeface="Arial Black" pitchFamily="34" charset="-120"/>
              </a:rPr>
              <a:t>01</a:t>
            </a:r>
            <a:endParaRPr lang="en-US" sz="2600" dirty="0"/>
          </a:p>
        </p:txBody>
      </p:sp>
      <p:sp>
        <p:nvSpPr>
          <p:cNvPr id="7" name="Text 5"/>
          <p:cNvSpPr/>
          <p:nvPr/>
        </p:nvSpPr>
        <p:spPr>
          <a:xfrm>
            <a:off x="1508760" y="1481328"/>
            <a:ext cx="7178040" cy="329184"/>
          </a:xfrm>
          <a:prstGeom prst="rect">
            <a:avLst/>
          </a:prstGeom>
          <a:noFill/>
          <a:ln/>
        </p:spPr>
        <p:txBody>
          <a:bodyPr wrap="square" lIns="0" tIns="0" rIns="0" bIns="0" rtlCol="0" anchor="t"/>
          <a:lstStyle/>
          <a:p>
            <a:pPr indent="0" marL="0">
              <a:buNone/>
            </a:pPr>
            <a:r>
              <a:rPr lang="en-US" sz="1500" b="1" dirty="0">
                <a:solidFill>
                  <a:srgbClr val="333333"/>
                </a:solidFill>
                <a:latin typeface="Arial" pitchFamily="34" charset="0"/>
                <a:ea typeface="Arial" pitchFamily="34" charset="-122"/>
                <a:cs typeface="Arial" pitchFamily="34" charset="-120"/>
              </a:rPr>
              <a:t>AI is the defining capital-allocation event of this decade.</a:t>
            </a:r>
            <a:endParaRPr lang="en-US" sz="1500" dirty="0"/>
          </a:p>
        </p:txBody>
      </p:sp>
      <p:sp>
        <p:nvSpPr>
          <p:cNvPr id="8" name="Text 6"/>
          <p:cNvSpPr/>
          <p:nvPr/>
        </p:nvSpPr>
        <p:spPr>
          <a:xfrm>
            <a:off x="1508760" y="1828800"/>
            <a:ext cx="7178040" cy="621792"/>
          </a:xfrm>
          <a:prstGeom prst="rect">
            <a:avLst/>
          </a:prstGeom>
          <a:noFill/>
          <a:ln/>
        </p:spPr>
        <p:txBody>
          <a:bodyPr wrap="square" lIns="0" tIns="0" rIns="0" bIns="0" rtlCol="0" anchor="t"/>
          <a:lstStyle/>
          <a:p>
            <a:pPr indent="0" marL="0">
              <a:buNone/>
            </a:pPr>
            <a:r>
              <a:rPr lang="en-US" sz="1050" dirty="0">
                <a:solidFill>
                  <a:srgbClr val="666666"/>
                </a:solidFill>
                <a:latin typeface="Arial" pitchFamily="34" charset="0"/>
                <a:ea typeface="Arial" pitchFamily="34" charset="-122"/>
                <a:cs typeface="Arial" pitchFamily="34" charset="-120"/>
              </a:rPr>
              <a:t>A handful of hyperscalers are deploying capital fast enough to reshape power grids, real estate, and global supply chains all at once. AI capex is now the dominant driver of US business investment — ~70% of hyperscaler operating cash flow, heading above 90% in 2026, increasingly funded by debt and leases. The scale itself is the story.</a:t>
            </a:r>
            <a:endParaRPr lang="en-US" sz="1050" dirty="0"/>
          </a:p>
        </p:txBody>
      </p:sp>
      <p:sp>
        <p:nvSpPr>
          <p:cNvPr id="9" name="Shape 7"/>
          <p:cNvSpPr/>
          <p:nvPr/>
        </p:nvSpPr>
        <p:spPr>
          <a:xfrm>
            <a:off x="457200" y="2487168"/>
            <a:ext cx="868680" cy="868680"/>
          </a:xfrm>
          <a:prstGeom prst="rect">
            <a:avLst/>
          </a:prstGeom>
          <a:solidFill>
            <a:srgbClr val="FFB800"/>
          </a:solidFill>
          <a:ln w="12700">
            <a:solidFill>
              <a:srgbClr val="FFB800"/>
            </a:solidFill>
            <a:prstDash val="solid"/>
          </a:ln>
        </p:spPr>
      </p:sp>
      <p:sp>
        <p:nvSpPr>
          <p:cNvPr id="10" name="Text 8"/>
          <p:cNvSpPr/>
          <p:nvPr/>
        </p:nvSpPr>
        <p:spPr>
          <a:xfrm>
            <a:off x="457200" y="2487168"/>
            <a:ext cx="868680" cy="868680"/>
          </a:xfrm>
          <a:prstGeom prst="rect">
            <a:avLst/>
          </a:prstGeom>
          <a:noFill/>
          <a:ln/>
        </p:spPr>
        <p:txBody>
          <a:bodyPr wrap="square" lIns="0" tIns="0" rIns="0" bIns="0" rtlCol="0" anchor="ctr"/>
          <a:lstStyle/>
          <a:p>
            <a:pPr algn="ctr" indent="0" marL="0">
              <a:buNone/>
            </a:pPr>
            <a:r>
              <a:rPr lang="en-US" sz="2600" b="1" dirty="0">
                <a:solidFill>
                  <a:srgbClr val="FFFFFF"/>
                </a:solidFill>
                <a:latin typeface="Arial Black" pitchFamily="34" charset="0"/>
                <a:ea typeface="Arial Black" pitchFamily="34" charset="-122"/>
                <a:cs typeface="Arial Black" pitchFamily="34" charset="-120"/>
              </a:rPr>
              <a:t>02</a:t>
            </a:r>
            <a:endParaRPr lang="en-US" sz="2600" dirty="0"/>
          </a:p>
        </p:txBody>
      </p:sp>
      <p:sp>
        <p:nvSpPr>
          <p:cNvPr id="11" name="Text 9"/>
          <p:cNvSpPr/>
          <p:nvPr/>
        </p:nvSpPr>
        <p:spPr>
          <a:xfrm>
            <a:off x="1508760" y="2505456"/>
            <a:ext cx="7178040" cy="329184"/>
          </a:xfrm>
          <a:prstGeom prst="rect">
            <a:avLst/>
          </a:prstGeom>
          <a:noFill/>
          <a:ln/>
        </p:spPr>
        <p:txBody>
          <a:bodyPr wrap="square" lIns="0" tIns="0" rIns="0" bIns="0" rtlCol="0" anchor="t"/>
          <a:lstStyle/>
          <a:p>
            <a:pPr indent="0" marL="0">
              <a:buNone/>
            </a:pPr>
            <a:r>
              <a:rPr lang="en-US" sz="1500" b="1" dirty="0">
                <a:solidFill>
                  <a:srgbClr val="333333"/>
                </a:solidFill>
                <a:latin typeface="Arial" pitchFamily="34" charset="0"/>
                <a:ea typeface="Arial" pitchFamily="34" charset="-122"/>
                <a:cs typeface="Arial" pitchFamily="34" charset="-120"/>
              </a:rPr>
              <a:t>The AI buildout is producing sharp winners and sharp losers.</a:t>
            </a:r>
            <a:endParaRPr lang="en-US" sz="1500" dirty="0"/>
          </a:p>
        </p:txBody>
      </p:sp>
      <p:sp>
        <p:nvSpPr>
          <p:cNvPr id="12" name="Text 10"/>
          <p:cNvSpPr/>
          <p:nvPr/>
        </p:nvSpPr>
        <p:spPr>
          <a:xfrm>
            <a:off x="1508760" y="2852928"/>
            <a:ext cx="7178040" cy="621792"/>
          </a:xfrm>
          <a:prstGeom prst="rect">
            <a:avLst/>
          </a:prstGeom>
          <a:noFill/>
          <a:ln/>
        </p:spPr>
        <p:txBody>
          <a:bodyPr wrap="square" lIns="0" tIns="0" rIns="0" bIns="0" rtlCol="0" anchor="t"/>
          <a:lstStyle/>
          <a:p>
            <a:pPr indent="0" marL="0">
              <a:buNone/>
            </a:pPr>
            <a:r>
              <a:rPr lang="en-US" sz="1050" dirty="0">
                <a:solidFill>
                  <a:srgbClr val="666666"/>
                </a:solidFill>
                <a:latin typeface="Arial" pitchFamily="34" charset="0"/>
                <a:ea typeface="Arial" pitchFamily="34" charset="-122"/>
                <a:cs typeface="Arial" pitchFamily="34" charset="-120"/>
              </a:rPr>
              <a:t>Foundries, memory, and the picks-and-shovels of AI infrastructure are surging, while parts of legacy software and SaaS are getting cannibalized by AI-native competitors. Returns inside the AI complex have dispersed sharply, and the spread keeps widening.</a:t>
            </a:r>
            <a:endParaRPr lang="en-US" sz="1050" dirty="0"/>
          </a:p>
        </p:txBody>
      </p:sp>
      <p:sp>
        <p:nvSpPr>
          <p:cNvPr id="13" name="Shape 11"/>
          <p:cNvSpPr/>
          <p:nvPr/>
        </p:nvSpPr>
        <p:spPr>
          <a:xfrm>
            <a:off x="457200" y="3511296"/>
            <a:ext cx="868680" cy="868680"/>
          </a:xfrm>
          <a:prstGeom prst="rect">
            <a:avLst/>
          </a:prstGeom>
          <a:solidFill>
            <a:srgbClr val="CC0000"/>
          </a:solidFill>
          <a:ln w="12700">
            <a:solidFill>
              <a:srgbClr val="CC0000"/>
            </a:solidFill>
            <a:prstDash val="solid"/>
          </a:ln>
        </p:spPr>
      </p:sp>
      <p:sp>
        <p:nvSpPr>
          <p:cNvPr id="14" name="Text 12"/>
          <p:cNvSpPr/>
          <p:nvPr/>
        </p:nvSpPr>
        <p:spPr>
          <a:xfrm>
            <a:off x="457200" y="3511296"/>
            <a:ext cx="868680" cy="868680"/>
          </a:xfrm>
          <a:prstGeom prst="rect">
            <a:avLst/>
          </a:prstGeom>
          <a:noFill/>
          <a:ln/>
        </p:spPr>
        <p:txBody>
          <a:bodyPr wrap="square" lIns="0" tIns="0" rIns="0" bIns="0" rtlCol="0" anchor="ctr"/>
          <a:lstStyle/>
          <a:p>
            <a:pPr algn="ctr" indent="0" marL="0">
              <a:buNone/>
            </a:pPr>
            <a:r>
              <a:rPr lang="en-US" sz="2600" b="1" dirty="0">
                <a:solidFill>
                  <a:srgbClr val="FFFFFF"/>
                </a:solidFill>
                <a:latin typeface="Arial Black" pitchFamily="34" charset="0"/>
                <a:ea typeface="Arial Black" pitchFamily="34" charset="-122"/>
                <a:cs typeface="Arial Black" pitchFamily="34" charset="-120"/>
              </a:rPr>
              <a:t>03</a:t>
            </a:r>
            <a:endParaRPr lang="en-US" sz="2600" dirty="0"/>
          </a:p>
        </p:txBody>
      </p:sp>
      <p:sp>
        <p:nvSpPr>
          <p:cNvPr id="15" name="Text 13"/>
          <p:cNvSpPr/>
          <p:nvPr/>
        </p:nvSpPr>
        <p:spPr>
          <a:xfrm>
            <a:off x="1508760" y="3529584"/>
            <a:ext cx="7178040" cy="329184"/>
          </a:xfrm>
          <a:prstGeom prst="rect">
            <a:avLst/>
          </a:prstGeom>
          <a:noFill/>
          <a:ln/>
        </p:spPr>
        <p:txBody>
          <a:bodyPr wrap="square" lIns="0" tIns="0" rIns="0" bIns="0" rtlCol="0" anchor="t"/>
          <a:lstStyle/>
          <a:p>
            <a:pPr indent="0" marL="0">
              <a:buNone/>
            </a:pPr>
            <a:r>
              <a:rPr lang="en-US" sz="1500" b="1" dirty="0">
                <a:solidFill>
                  <a:srgbClr val="333333"/>
                </a:solidFill>
                <a:latin typeface="Arial" pitchFamily="34" charset="0"/>
                <a:ea typeface="Arial" pitchFamily="34" charset="-122"/>
                <a:cs typeface="Arial" pitchFamily="34" charset="-120"/>
              </a:rPr>
              <a:t>The AI trade keeps evolving as bottlenecks shift through the stack.</a:t>
            </a:r>
            <a:endParaRPr lang="en-US" sz="1500" dirty="0"/>
          </a:p>
        </p:txBody>
      </p:sp>
      <p:sp>
        <p:nvSpPr>
          <p:cNvPr id="16" name="Text 14"/>
          <p:cNvSpPr/>
          <p:nvPr/>
        </p:nvSpPr>
        <p:spPr>
          <a:xfrm>
            <a:off x="1508760" y="3877056"/>
            <a:ext cx="7178040" cy="621792"/>
          </a:xfrm>
          <a:prstGeom prst="rect">
            <a:avLst/>
          </a:prstGeom>
          <a:noFill/>
          <a:ln/>
        </p:spPr>
        <p:txBody>
          <a:bodyPr wrap="square" lIns="0" tIns="0" rIns="0" bIns="0" rtlCol="0" anchor="t"/>
          <a:lstStyle/>
          <a:p>
            <a:pPr indent="0" marL="0">
              <a:buNone/>
            </a:pPr>
            <a:r>
              <a:rPr lang="en-US" sz="1050" dirty="0">
                <a:solidFill>
                  <a:srgbClr val="666666"/>
                </a:solidFill>
                <a:latin typeface="Arial" pitchFamily="34" charset="0"/>
                <a:ea typeface="Arial" pitchFamily="34" charset="-122"/>
                <a:cs typeface="Arial" pitchFamily="34" charset="-120"/>
              </a:rPr>
              <a:t>Yesterday it was foundry capacity. Today it is memory and advanced packaging. Tomorrow it will be power and the grid. The binding constraint keeps moving, and the names that lead the trade move with it.</a:t>
            </a:r>
            <a:endParaRPr lang="en-US" sz="1050" dirty="0"/>
          </a:p>
        </p:txBody>
      </p:sp>
      <p:sp>
        <p:nvSpPr>
          <p:cNvPr id="17" name="Shape 15"/>
          <p:cNvSpPr/>
          <p:nvPr/>
        </p:nvSpPr>
        <p:spPr>
          <a:xfrm>
            <a:off x="457200" y="4535424"/>
            <a:ext cx="868680" cy="868680"/>
          </a:xfrm>
          <a:prstGeom prst="rect">
            <a:avLst/>
          </a:prstGeom>
          <a:solidFill>
            <a:srgbClr val="6B46C1"/>
          </a:solidFill>
          <a:ln w="12700">
            <a:solidFill>
              <a:srgbClr val="6B46C1"/>
            </a:solidFill>
            <a:prstDash val="solid"/>
          </a:ln>
        </p:spPr>
      </p:sp>
      <p:sp>
        <p:nvSpPr>
          <p:cNvPr id="18" name="Text 16"/>
          <p:cNvSpPr/>
          <p:nvPr/>
        </p:nvSpPr>
        <p:spPr>
          <a:xfrm>
            <a:off x="457200" y="4535424"/>
            <a:ext cx="868680" cy="868680"/>
          </a:xfrm>
          <a:prstGeom prst="rect">
            <a:avLst/>
          </a:prstGeom>
          <a:noFill/>
          <a:ln/>
        </p:spPr>
        <p:txBody>
          <a:bodyPr wrap="square" lIns="0" tIns="0" rIns="0" bIns="0" rtlCol="0" anchor="ctr"/>
          <a:lstStyle/>
          <a:p>
            <a:pPr algn="ctr" indent="0" marL="0">
              <a:buNone/>
            </a:pPr>
            <a:r>
              <a:rPr lang="en-US" sz="2600" b="1" dirty="0">
                <a:solidFill>
                  <a:srgbClr val="FFFFFF"/>
                </a:solidFill>
                <a:latin typeface="Arial Black" pitchFamily="34" charset="0"/>
                <a:ea typeface="Arial Black" pitchFamily="34" charset="-122"/>
                <a:cs typeface="Arial Black" pitchFamily="34" charset="-120"/>
              </a:rPr>
              <a:t>04</a:t>
            </a:r>
            <a:endParaRPr lang="en-US" sz="2600" dirty="0"/>
          </a:p>
        </p:txBody>
      </p:sp>
      <p:sp>
        <p:nvSpPr>
          <p:cNvPr id="19" name="Text 17"/>
          <p:cNvSpPr/>
          <p:nvPr/>
        </p:nvSpPr>
        <p:spPr>
          <a:xfrm>
            <a:off x="1508760" y="4553712"/>
            <a:ext cx="7178040" cy="329184"/>
          </a:xfrm>
          <a:prstGeom prst="rect">
            <a:avLst/>
          </a:prstGeom>
          <a:noFill/>
          <a:ln/>
        </p:spPr>
        <p:txBody>
          <a:bodyPr wrap="square" lIns="0" tIns="0" rIns="0" bIns="0" rtlCol="0" anchor="t"/>
          <a:lstStyle/>
          <a:p>
            <a:pPr indent="0" marL="0">
              <a:buNone/>
            </a:pPr>
            <a:r>
              <a:rPr lang="en-US" sz="1500" b="1" dirty="0">
                <a:solidFill>
                  <a:srgbClr val="333333"/>
                </a:solidFill>
                <a:latin typeface="Arial" pitchFamily="34" charset="0"/>
                <a:ea typeface="Arial" pitchFamily="34" charset="-122"/>
                <a:cs typeface="Arial" pitchFamily="34" charset="-120"/>
              </a:rPr>
              <a:t>The question isn't whether you have AI exposure. It's whether you chose it.</a:t>
            </a:r>
            <a:endParaRPr lang="en-US" sz="1500" dirty="0"/>
          </a:p>
        </p:txBody>
      </p:sp>
      <p:sp>
        <p:nvSpPr>
          <p:cNvPr id="20" name="Text 18"/>
          <p:cNvSpPr/>
          <p:nvPr/>
        </p:nvSpPr>
        <p:spPr>
          <a:xfrm>
            <a:off x="1508760" y="4901184"/>
            <a:ext cx="7178040" cy="621792"/>
          </a:xfrm>
          <a:prstGeom prst="rect">
            <a:avLst/>
          </a:prstGeom>
          <a:noFill/>
          <a:ln/>
        </p:spPr>
        <p:txBody>
          <a:bodyPr wrap="square" lIns="0" tIns="0" rIns="0" bIns="0" rtlCol="0" anchor="t"/>
          <a:lstStyle/>
          <a:p>
            <a:pPr indent="0" marL="0">
              <a:buNone/>
            </a:pPr>
            <a:r>
              <a:rPr lang="en-US" sz="1050" dirty="0">
                <a:solidFill>
                  <a:srgbClr val="666666"/>
                </a:solidFill>
                <a:latin typeface="Arial" pitchFamily="34" charset="0"/>
                <a:ea typeface="Arial" pitchFamily="34" charset="-122"/>
                <a:cs typeface="Arial" pitchFamily="34" charset="-120"/>
              </a:rPr>
              <a:t>US large-cap indices already embed AI capex exposure at concentrated weights. Recognize that exposure, size it, or hedge it, but the position should be a deliberate choice rather than a default.</a:t>
            </a:r>
            <a:endParaRPr lang="en-US" sz="1050" dirty="0"/>
          </a:p>
        </p:txBody>
      </p:sp>
      <p:sp>
        <p:nvSpPr>
          <p:cNvPr id="21" name="Text 19"/>
          <p:cNvSpPr/>
          <p:nvPr/>
        </p:nvSpPr>
        <p:spPr>
          <a:xfrm>
            <a:off x="457200" y="5623560"/>
            <a:ext cx="8229600" cy="320040"/>
          </a:xfrm>
          <a:prstGeom prst="rect">
            <a:avLst/>
          </a:prstGeom>
          <a:noFill/>
          <a:ln/>
        </p:spPr>
        <p:txBody>
          <a:bodyPr wrap="square" lIns="0" tIns="0" rIns="0" bIns="0" rtlCol="0" anchor="t"/>
          <a:lstStyle/>
          <a:p>
            <a:pPr indent="0" marL="0">
              <a:buNone/>
            </a:pPr>
            <a:r>
              <a:rPr lang="en-US" sz="700" dirty="0">
                <a:solidFill>
                  <a:srgbClr val="999999"/>
                </a:solidFill>
                <a:latin typeface="Arial" pitchFamily="34" charset="0"/>
                <a:ea typeface="Arial" pitchFamily="34" charset="-122"/>
                <a:cs typeface="Arial" pitchFamily="34" charset="-120"/>
              </a:rPr>
              <a:t>Sources: company filings; Goldman Sachs; SemiAnalysis; BofA; TrendForce. See appendix for figure-by-figure citations.</a:t>
            </a:r>
            <a:endParaRPr lang="en-US" sz="700" dirty="0"/>
          </a:p>
        </p:txBody>
      </p:sp>
      <p:sp>
        <p:nvSpPr>
          <p:cNvPr id="22" name="Shape 20"/>
          <p:cNvSpPr/>
          <p:nvPr/>
        </p:nvSpPr>
        <p:spPr>
          <a:xfrm>
            <a:off x="0" y="6286500"/>
            <a:ext cx="9144000" cy="571500"/>
          </a:xfrm>
          <a:prstGeom prst="rect">
            <a:avLst/>
          </a:prstGeom>
          <a:solidFill>
            <a:srgbClr val="000000"/>
          </a:solidFill>
          <a:ln w="12700">
            <a:solidFill>
              <a:srgbClr val="000000"/>
            </a:solidFill>
            <a:prstDash val="solid"/>
          </a:ln>
        </p:spPr>
      </p:sp>
      <p:sp>
        <p:nvSpPr>
          <p:cNvPr id="23" name="Text 21"/>
          <p:cNvSpPr/>
          <p:nvPr/>
        </p:nvSpPr>
        <p:spPr>
          <a:xfrm>
            <a:off x="1371600" y="6332220"/>
            <a:ext cx="6400800" cy="457200"/>
          </a:xfrm>
          <a:prstGeom prst="rect">
            <a:avLst/>
          </a:prstGeom>
          <a:noFill/>
          <a:ln/>
        </p:spPr>
        <p:txBody>
          <a:bodyPr wrap="square" lIns="0" tIns="0" rIns="0" bIns="0" rtlCol="0" anchor="ctr"/>
          <a:lstStyle/>
          <a:p>
            <a:pPr algn="ctr" indent="0" marL="0">
              <a:buNone/>
            </a:pPr>
            <a:r>
              <a:rPr lang="en-US" sz="650" b="1" dirty="0">
                <a:solidFill>
                  <a:srgbClr val="FFFFFF"/>
                </a:solidFill>
                <a:latin typeface="Arial" pitchFamily="34" charset="0"/>
                <a:ea typeface="Arial" pitchFamily="34" charset="-122"/>
                <a:cs typeface="Arial" pitchFamily="34" charset="-120"/>
              </a:rPr>
              <a:t>FOR INFORMATIONAL PURPOSES ONLY. NOT INVESTMENT ADVICE. PAST PERFORMANCE IS NOT INDICATIVE OF FUTURE RESULTS.</a:t>
            </a:r>
            <a:endParaRPr lang="en-US" sz="650" dirty="0"/>
          </a:p>
        </p:txBody>
      </p:sp>
      <p:sp>
        <p:nvSpPr>
          <p:cNvPr id="24" name="Text 22"/>
          <p:cNvSpPr/>
          <p:nvPr/>
        </p:nvSpPr>
        <p:spPr>
          <a:xfrm>
            <a:off x="8321040" y="6405372"/>
            <a:ext cx="548640" cy="274320"/>
          </a:xfrm>
          <a:prstGeom prst="rect">
            <a:avLst/>
          </a:prstGeom>
          <a:noFill/>
          <a:ln/>
        </p:spPr>
        <p:txBody>
          <a:bodyPr wrap="square" lIns="0" tIns="0" rIns="0" bIns="0" rtlCol="0" anchor="ctr"/>
          <a:lstStyle/>
          <a:p>
            <a:pPr algn="r" indent="0" marL="0">
              <a:buNone/>
            </a:pPr>
            <a:r>
              <a:rPr lang="en-US" sz="900" dirty="0">
                <a:solidFill>
                  <a:srgbClr val="FFFFFF"/>
                </a:solidFill>
                <a:latin typeface="Arial" pitchFamily="34" charset="0"/>
                <a:ea typeface="Arial" pitchFamily="34" charset="-122"/>
                <a:cs typeface="Arial" pitchFamily="34" charset="-120"/>
              </a:rPr>
              <a:t>23</a:t>
            </a:r>
            <a:endParaRPr lang="en-US" sz="9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182880"/>
            <a:ext cx="6583680" cy="685800"/>
          </a:xfrm>
          <a:prstGeom prst="rect">
            <a:avLst/>
          </a:prstGeom>
          <a:noFill/>
          <a:ln/>
        </p:spPr>
        <p:txBody>
          <a:bodyPr wrap="square" lIns="0" tIns="0" rIns="0" bIns="0" rtlCol="0" anchor="t"/>
          <a:lstStyle/>
          <a:p>
            <a:pPr indent="0" marL="0">
              <a:buNone/>
            </a:pPr>
            <a:r>
              <a:rPr lang="en-US" sz="2400" b="1" dirty="0">
                <a:solidFill>
                  <a:srgbClr val="000000"/>
                </a:solidFill>
                <a:latin typeface="Arial Black" pitchFamily="34" charset="0"/>
                <a:ea typeface="Arial Black" pitchFamily="34" charset="-122"/>
                <a:cs typeface="Arial Black" pitchFamily="34" charset="-120"/>
              </a:rPr>
              <a:t>Appendix — sources (1 of 2).</a:t>
            </a:r>
            <a:endParaRPr lang="en-US" sz="2400" dirty="0"/>
          </a:p>
        </p:txBody>
      </p:sp>
      <p:sp>
        <p:nvSpPr>
          <p:cNvPr id="3" name="Text 1"/>
          <p:cNvSpPr/>
          <p:nvPr/>
        </p:nvSpPr>
        <p:spPr>
          <a:xfrm>
            <a:off x="457200" y="914400"/>
            <a:ext cx="8229600" cy="457200"/>
          </a:xfrm>
          <a:prstGeom prst="rect">
            <a:avLst/>
          </a:prstGeom>
          <a:noFill/>
          <a:ln/>
        </p:spPr>
        <p:txBody>
          <a:bodyPr wrap="square" lIns="0" tIns="0" rIns="0" bIns="0" rtlCol="0" anchor="t"/>
          <a:lstStyle/>
          <a:p>
            <a:pPr indent="0" marL="0">
              <a:buNone/>
            </a:pPr>
            <a:r>
              <a:rPr lang="en-US" sz="1350" dirty="0">
                <a:solidFill>
                  <a:srgbClr val="666666"/>
                </a:solidFill>
                <a:latin typeface="Arial" pitchFamily="34" charset="0"/>
                <a:ea typeface="Arial" pitchFamily="34" charset="-122"/>
                <a:cs typeface="Arial" pitchFamily="34" charset="-120"/>
              </a:rPr>
              <a:t>Every figure, where to find it. LANDSCAPE · MARKET · SHIFTS.</a:t>
            </a:r>
            <a:endParaRPr lang="en-US" sz="1350" dirty="0"/>
          </a:p>
        </p:txBody>
      </p:sp>
      <p:sp>
        <p:nvSpPr>
          <p:cNvPr id="4" name="Shape 2"/>
          <p:cNvSpPr/>
          <p:nvPr/>
        </p:nvSpPr>
        <p:spPr>
          <a:xfrm>
            <a:off x="457200" y="1325880"/>
            <a:ext cx="8229600" cy="0"/>
          </a:xfrm>
          <a:prstGeom prst="line">
            <a:avLst/>
          </a:prstGeom>
          <a:noFill/>
          <a:ln w="9525">
            <a:solidFill>
              <a:srgbClr val="E5E5E5"/>
            </a:solidFill>
            <a:prstDash val="solid"/>
          </a:ln>
        </p:spPr>
      </p:sp>
      <p:sp>
        <p:nvSpPr>
          <p:cNvPr id="5" name="Shape 3"/>
          <p:cNvSpPr/>
          <p:nvPr/>
        </p:nvSpPr>
        <p:spPr>
          <a:xfrm>
            <a:off x="457200" y="1417320"/>
            <a:ext cx="8229600" cy="320040"/>
          </a:xfrm>
          <a:prstGeom prst="rect">
            <a:avLst/>
          </a:prstGeom>
          <a:solidFill>
            <a:srgbClr val="F9F9F9"/>
          </a:solidFill>
          <a:ln w="6350">
            <a:solidFill>
              <a:srgbClr val="E5E5E5"/>
            </a:solidFill>
            <a:prstDash val="solid"/>
          </a:ln>
        </p:spPr>
      </p:sp>
      <p:sp>
        <p:nvSpPr>
          <p:cNvPr id="6" name="Text 4"/>
          <p:cNvSpPr/>
          <p:nvPr/>
        </p:nvSpPr>
        <p:spPr>
          <a:xfrm>
            <a:off x="640080" y="1417320"/>
            <a:ext cx="7863840" cy="320040"/>
          </a:xfrm>
          <a:prstGeom prst="rect">
            <a:avLst/>
          </a:prstGeom>
          <a:noFill/>
          <a:ln/>
        </p:spPr>
        <p:txBody>
          <a:bodyPr wrap="square" lIns="0" tIns="0" rIns="0" bIns="0" rtlCol="0" anchor="ctr"/>
          <a:lstStyle/>
          <a:p>
            <a:pPr indent="0" marL="0">
              <a:buNone/>
            </a:pPr>
            <a:r>
              <a:rPr lang="en-US" sz="850" dirty="0">
                <a:solidFill>
                  <a:srgbClr val="333333"/>
                </a:solidFill>
                <a:latin typeface="Arial" pitchFamily="34" charset="0"/>
                <a:ea typeface="Arial" pitchFamily="34" charset="-122"/>
                <a:cs typeface="Arial" pitchFamily="34" charset="-120"/>
              </a:rPr>
              <a:t>All figures retrieved Apr–May 2026 unless noted. Market caps &amp; consensus: companiesmarketcap.com · stockanalysis.com. YTD returns: Yahoo Finance (May 22, 2026).</a:t>
            </a:r>
            <a:endParaRPr lang="en-US" sz="850" dirty="0"/>
          </a:p>
        </p:txBody>
      </p:sp>
      <p:sp>
        <p:nvSpPr>
          <p:cNvPr id="7" name="Shape 5"/>
          <p:cNvSpPr/>
          <p:nvPr/>
        </p:nvSpPr>
        <p:spPr>
          <a:xfrm>
            <a:off x="457200" y="1874520"/>
            <a:ext cx="2624328" cy="201168"/>
          </a:xfrm>
          <a:prstGeom prst="rect">
            <a:avLst/>
          </a:prstGeom>
          <a:solidFill>
            <a:srgbClr val="008B8B"/>
          </a:solidFill>
          <a:ln w="12700">
            <a:solidFill>
              <a:srgbClr val="008B8B"/>
            </a:solidFill>
            <a:prstDash val="solid"/>
          </a:ln>
        </p:spPr>
      </p:sp>
      <p:sp>
        <p:nvSpPr>
          <p:cNvPr id="8" name="Text 6"/>
          <p:cNvSpPr/>
          <p:nvPr/>
        </p:nvSpPr>
        <p:spPr>
          <a:xfrm>
            <a:off x="457200" y="1874520"/>
            <a:ext cx="2624328" cy="201168"/>
          </a:xfrm>
          <a:prstGeom prst="rect">
            <a:avLst/>
          </a:prstGeom>
          <a:noFill/>
          <a:ln/>
        </p:spPr>
        <p:txBody>
          <a:bodyPr wrap="square" lIns="0" tIns="0" rIns="0" bIns="0" rtlCol="0" anchor="ctr"/>
          <a:lstStyle/>
          <a:p>
            <a:pPr algn="ctr" indent="0" marL="0">
              <a:buNone/>
            </a:pPr>
            <a:r>
              <a:rPr lang="en-US" sz="900" b="1" spc="200" kern="0" dirty="0">
                <a:solidFill>
                  <a:srgbClr val="FFFFFF"/>
                </a:solidFill>
                <a:latin typeface="Arial" pitchFamily="34" charset="0"/>
                <a:ea typeface="Arial" pitchFamily="34" charset="-122"/>
                <a:cs typeface="Arial" pitchFamily="34" charset="-120"/>
              </a:rPr>
              <a:t>LANDSCAPE  ·  3–6</a:t>
            </a:r>
            <a:endParaRPr lang="en-US" sz="900" dirty="0"/>
          </a:p>
        </p:txBody>
      </p:sp>
      <p:sp>
        <p:nvSpPr>
          <p:cNvPr id="9" name="Text 7"/>
          <p:cNvSpPr/>
          <p:nvPr/>
        </p:nvSpPr>
        <p:spPr>
          <a:xfrm>
            <a:off x="502920" y="2148840"/>
            <a:ext cx="2532888" cy="3566160"/>
          </a:xfrm>
          <a:prstGeom prst="rect">
            <a:avLst/>
          </a:prstGeom>
          <a:noFill/>
          <a:ln/>
        </p:spPr>
        <p:txBody>
          <a:bodyPr wrap="square" lIns="0" tIns="0" rIns="0" bIns="0" rtlCol="0" anchor="t"/>
          <a:lstStyle/>
          <a:p>
            <a:pPr indent="0" marL="0">
              <a:spcAft>
                <a:spcPts val="200"/>
              </a:spcAft>
              <a:buNone/>
            </a:pPr>
            <a:r>
              <a:rPr lang="en-US" sz="850" b="1" dirty="0">
                <a:solidFill>
                  <a:srgbClr val="000000"/>
                </a:solidFill>
                <a:latin typeface="Arial" pitchFamily="34" charset="0"/>
                <a:ea typeface="Arial" pitchFamily="34" charset="-122"/>
                <a:cs typeface="Arial" pitchFamily="34" charset="-120"/>
              </a:rPr>
              <a:t>Slide 3  ·  </a:t>
            </a:r>
            <a:pPr indent="0" marL="0">
              <a:spcAft>
                <a:spcPts val="200"/>
              </a:spcAft>
              <a:buNone/>
            </a:pPr>
            <a:r>
              <a:rPr lang="en-US" sz="850" dirty="0">
                <a:solidFill>
                  <a:srgbClr val="000000"/>
                </a:solidFill>
                <a:latin typeface="Arial" pitchFamily="34" charset="0"/>
                <a:ea typeface="Arial" pitchFamily="34" charset="-122"/>
                <a:cs typeface="Arial" pitchFamily="34" charset="-120"/>
              </a:rPr>
              <a:t>"~$750B hyperscaler capex, 2026"</a:t>
            </a:r>
            <a:pPr indent="0" marL="0">
              <a:spcAft>
                <a:spcPts val="200"/>
              </a:spcAft>
              <a:buNone/>
            </a:pPr>
            <a:r>
              <a:rPr lang="en-US" sz="850" dirty="0">
                <a:solidFill>
                  <a:srgbClr val="666666"/>
                </a:solidFill>
                <a:latin typeface="Arial" pitchFamily="34" charset="0"/>
                <a:ea typeface="Arial" pitchFamily="34" charset="-122"/>
                <a:cs typeface="Arial" pitchFamily="34" charset="-120"/>
              </a:rPr>
              <a:t>  —  </a:t>
            </a:r>
            <a:pPr indent="0" marL="0">
              <a:spcAft>
                <a:spcPts val="200"/>
              </a:spcAft>
              <a:buNone/>
            </a:pPr>
            <a:r>
              <a:rPr lang="en-US" sz="850" i="1" dirty="0">
                <a:solidFill>
                  <a:srgbClr val="666666"/>
                </a:solidFill>
                <a:latin typeface="Arial" pitchFamily="34" charset="0"/>
                <a:ea typeface="Arial" pitchFamily="34" charset="-122"/>
                <a:cs typeface="Arial" pitchFamily="34" charset="-120"/>
              </a:rPr>
              <a:t>CreditSights / MUFG estimates (Apr 2026)</a:t>
            </a:r>
            <a:endParaRPr lang="en-US" sz="850" dirty="0"/>
          </a:p>
          <a:p>
            <a:pPr indent="0" marL="0">
              <a:spcAft>
                <a:spcPts val="200"/>
              </a:spcAft>
              <a:buNone/>
            </a:pPr>
            <a:r>
              <a:rPr lang="en-US" sz="850" b="1" dirty="0">
                <a:solidFill>
                  <a:srgbClr val="000000"/>
                </a:solidFill>
                <a:latin typeface="Arial" pitchFamily="34" charset="0"/>
                <a:ea typeface="Arial" pitchFamily="34" charset="-122"/>
                <a:cs typeface="Arial" pitchFamily="34" charset="-120"/>
              </a:rPr>
              <a:t>Slide 3  ·  </a:t>
            </a:r>
            <a:pPr indent="0" marL="0">
              <a:spcAft>
                <a:spcPts val="200"/>
              </a:spcAft>
              <a:buNone/>
            </a:pPr>
            <a:r>
              <a:rPr lang="en-US" sz="850" dirty="0">
                <a:solidFill>
                  <a:srgbClr val="000000"/>
                </a:solidFill>
                <a:latin typeface="Arial" pitchFamily="34" charset="0"/>
                <a:ea typeface="Arial" pitchFamily="34" charset="-122"/>
                <a:cs typeface="Arial" pitchFamily="34" charset="-120"/>
              </a:rPr>
              <a:t>Jensen Huang "most important" remarks</a:t>
            </a:r>
            <a:pPr indent="0" marL="0">
              <a:spcAft>
                <a:spcPts val="200"/>
              </a:spcAft>
              <a:buNone/>
            </a:pPr>
            <a:r>
              <a:rPr lang="en-US" sz="850" dirty="0">
                <a:solidFill>
                  <a:srgbClr val="666666"/>
                </a:solidFill>
                <a:latin typeface="Arial" pitchFamily="34" charset="0"/>
                <a:ea typeface="Arial" pitchFamily="34" charset="-122"/>
                <a:cs typeface="Arial" pitchFamily="34" charset="-120"/>
              </a:rPr>
              <a:t>  —  </a:t>
            </a:r>
            <a:pPr indent="0" marL="0">
              <a:spcAft>
                <a:spcPts val="200"/>
              </a:spcAft>
              <a:buNone/>
            </a:pPr>
            <a:r>
              <a:rPr lang="en-US" sz="850" i="1" dirty="0">
                <a:solidFill>
                  <a:srgbClr val="666666"/>
                </a:solidFill>
                <a:latin typeface="Arial" pitchFamily="34" charset="0"/>
                <a:ea typeface="Arial" pitchFamily="34" charset="-122"/>
                <a:cs typeface="Arial" pitchFamily="34" charset="-120"/>
              </a:rPr>
              <a:t>public appearance, Sept 2025</a:t>
            </a:r>
            <a:endParaRPr lang="en-US" sz="850" dirty="0"/>
          </a:p>
          <a:p>
            <a:pPr indent="0" marL="0">
              <a:spcAft>
                <a:spcPts val="200"/>
              </a:spcAft>
              <a:buNone/>
            </a:pPr>
            <a:r>
              <a:rPr lang="en-US" sz="850" b="1" dirty="0">
                <a:solidFill>
                  <a:srgbClr val="000000"/>
                </a:solidFill>
                <a:latin typeface="Arial" pitchFamily="34" charset="0"/>
                <a:ea typeface="Arial" pitchFamily="34" charset="-122"/>
                <a:cs typeface="Arial" pitchFamily="34" charset="-120"/>
              </a:rPr>
              <a:t>Slide 4  ·  </a:t>
            </a:r>
            <a:pPr indent="0" marL="0">
              <a:spcAft>
                <a:spcPts val="200"/>
              </a:spcAft>
              <a:buNone/>
            </a:pPr>
            <a:r>
              <a:rPr lang="en-US" sz="850" dirty="0">
                <a:solidFill>
                  <a:srgbClr val="000000"/>
                </a:solidFill>
                <a:latin typeface="Arial" pitchFamily="34" charset="0"/>
                <a:ea typeface="Arial" pitchFamily="34" charset="-122"/>
                <a:cs typeface="Arial" pitchFamily="34" charset="-120"/>
              </a:rPr>
              <a:t>Six-phase evolution timeline</a:t>
            </a:r>
            <a:pPr indent="0" marL="0">
              <a:spcAft>
                <a:spcPts val="200"/>
              </a:spcAft>
              <a:buNone/>
            </a:pPr>
            <a:r>
              <a:rPr lang="en-US" sz="850" dirty="0">
                <a:solidFill>
                  <a:srgbClr val="666666"/>
                </a:solidFill>
                <a:latin typeface="Arial" pitchFamily="34" charset="0"/>
                <a:ea typeface="Arial" pitchFamily="34" charset="-122"/>
                <a:cs typeface="Arial" pitchFamily="34" charset="-120"/>
              </a:rPr>
              <a:t>  —  </a:t>
            </a:r>
            <a:pPr indent="0" marL="0">
              <a:spcAft>
                <a:spcPts val="200"/>
              </a:spcAft>
              <a:buNone/>
            </a:pPr>
            <a:r>
              <a:rPr lang="en-US" sz="850" i="1" dirty="0">
                <a:solidFill>
                  <a:srgbClr val="666666"/>
                </a:solidFill>
                <a:latin typeface="Arial" pitchFamily="34" charset="0"/>
                <a:ea typeface="Arial" pitchFamily="34" charset="-122"/>
                <a:cs typeface="Arial" pitchFamily="34" charset="-120"/>
              </a:rPr>
              <a:t>Strategy Research synthesis</a:t>
            </a:r>
            <a:endParaRPr lang="en-US" sz="850" dirty="0"/>
          </a:p>
          <a:p>
            <a:pPr indent="0" marL="0">
              <a:spcAft>
                <a:spcPts val="200"/>
              </a:spcAft>
              <a:buNone/>
            </a:pPr>
            <a:r>
              <a:rPr lang="en-US" sz="850" b="1" dirty="0">
                <a:solidFill>
                  <a:srgbClr val="000000"/>
                </a:solidFill>
                <a:latin typeface="Arial" pitchFamily="34" charset="0"/>
                <a:ea typeface="Arial" pitchFamily="34" charset="-122"/>
                <a:cs typeface="Arial" pitchFamily="34" charset="-120"/>
              </a:rPr>
              <a:t>Slide 5  ·  </a:t>
            </a:r>
            <a:pPr indent="0" marL="0">
              <a:spcAft>
                <a:spcPts val="200"/>
              </a:spcAft>
              <a:buNone/>
            </a:pPr>
            <a:r>
              <a:rPr lang="en-US" sz="850" dirty="0">
                <a:solidFill>
                  <a:srgbClr val="000000"/>
                </a:solidFill>
                <a:latin typeface="Arial" pitchFamily="34" charset="0"/>
                <a:ea typeface="Arial" pitchFamily="34" charset="-122"/>
                <a:cs typeface="Arial" pitchFamily="34" charset="-120"/>
              </a:rPr>
              <a:t>11-layer AI stack</a:t>
            </a:r>
            <a:pPr indent="0" marL="0">
              <a:spcAft>
                <a:spcPts val="200"/>
              </a:spcAft>
              <a:buNone/>
            </a:pPr>
            <a:r>
              <a:rPr lang="en-US" sz="850" dirty="0">
                <a:solidFill>
                  <a:srgbClr val="666666"/>
                </a:solidFill>
                <a:latin typeface="Arial" pitchFamily="34" charset="0"/>
                <a:ea typeface="Arial" pitchFamily="34" charset="-122"/>
                <a:cs typeface="Arial" pitchFamily="34" charset="-120"/>
              </a:rPr>
              <a:t>  —  </a:t>
            </a:r>
            <a:pPr indent="0" marL="0">
              <a:spcAft>
                <a:spcPts val="200"/>
              </a:spcAft>
              <a:buNone/>
            </a:pPr>
            <a:r>
              <a:rPr lang="en-US" sz="850" i="1" dirty="0">
                <a:solidFill>
                  <a:srgbClr val="666666"/>
                </a:solidFill>
                <a:latin typeface="Arial" pitchFamily="34" charset="0"/>
                <a:ea typeface="Arial" pitchFamily="34" charset="-122"/>
                <a:cs typeface="Arial" pitchFamily="34" charset="-120"/>
              </a:rPr>
              <a:t>Strategy Research</a:t>
            </a:r>
            <a:endParaRPr lang="en-US" sz="850" dirty="0"/>
          </a:p>
          <a:p>
            <a:pPr indent="0" marL="0">
              <a:spcAft>
                <a:spcPts val="200"/>
              </a:spcAft>
              <a:buNone/>
            </a:pPr>
            <a:r>
              <a:rPr lang="en-US" sz="850" b="1" dirty="0">
                <a:solidFill>
                  <a:srgbClr val="000000"/>
                </a:solidFill>
                <a:latin typeface="Arial" pitchFamily="34" charset="0"/>
                <a:ea typeface="Arial" pitchFamily="34" charset="-122"/>
                <a:cs typeface="Arial" pitchFamily="34" charset="-120"/>
              </a:rPr>
              <a:t>Slide 6  ·  </a:t>
            </a:r>
            <a:pPr indent="0" marL="0">
              <a:spcAft>
                <a:spcPts val="200"/>
              </a:spcAft>
              <a:buNone/>
            </a:pPr>
            <a:r>
              <a:rPr lang="en-US" sz="850" dirty="0">
                <a:solidFill>
                  <a:srgbClr val="000000"/>
                </a:solidFill>
                <a:latin typeface="Arial" pitchFamily="34" charset="0"/>
                <a:ea typeface="Arial" pitchFamily="34" charset="-122"/>
                <a:cs typeface="Arial" pitchFamily="34" charset="-120"/>
              </a:rPr>
              <a:t>Internet / PC adoption curves</a:t>
            </a:r>
            <a:pPr indent="0" marL="0">
              <a:spcAft>
                <a:spcPts val="200"/>
              </a:spcAft>
              <a:buNone/>
            </a:pPr>
            <a:r>
              <a:rPr lang="en-US" sz="850" dirty="0">
                <a:solidFill>
                  <a:srgbClr val="666666"/>
                </a:solidFill>
                <a:latin typeface="Arial" pitchFamily="34" charset="0"/>
                <a:ea typeface="Arial" pitchFamily="34" charset="-122"/>
                <a:cs typeface="Arial" pitchFamily="34" charset="-120"/>
              </a:rPr>
              <a:t>  —  </a:t>
            </a:r>
            <a:pPr indent="0" marL="0">
              <a:spcAft>
                <a:spcPts val="200"/>
              </a:spcAft>
              <a:buNone/>
            </a:pPr>
            <a:r>
              <a:rPr lang="en-US" sz="850" i="1" dirty="0">
                <a:solidFill>
                  <a:srgbClr val="666666"/>
                </a:solidFill>
                <a:latin typeface="Arial" pitchFamily="34" charset="0"/>
                <a:ea typeface="Arial" pitchFamily="34" charset="-122"/>
                <a:cs typeface="Arial" pitchFamily="34" charset="-120"/>
              </a:rPr>
              <a:t>Mary Meeker, Bond / KPCB Internet Trends 2019</a:t>
            </a:r>
            <a:endParaRPr lang="en-US" sz="850" dirty="0"/>
          </a:p>
          <a:p>
            <a:pPr indent="0" marL="0">
              <a:spcAft>
                <a:spcPts val="200"/>
              </a:spcAft>
              <a:buNone/>
            </a:pPr>
            <a:r>
              <a:rPr lang="en-US" sz="850" b="1" dirty="0">
                <a:solidFill>
                  <a:srgbClr val="000000"/>
                </a:solidFill>
                <a:latin typeface="Arial" pitchFamily="34" charset="0"/>
                <a:ea typeface="Arial" pitchFamily="34" charset="-122"/>
                <a:cs typeface="Arial" pitchFamily="34" charset="-120"/>
              </a:rPr>
              <a:t>Slide 6  ·  </a:t>
            </a:r>
            <a:pPr indent="0" marL="0">
              <a:spcAft>
                <a:spcPts val="200"/>
              </a:spcAft>
              <a:buNone/>
            </a:pPr>
            <a:r>
              <a:rPr lang="en-US" sz="850" dirty="0">
                <a:solidFill>
                  <a:srgbClr val="000000"/>
                </a:solidFill>
                <a:latin typeface="Arial" pitchFamily="34" charset="0"/>
                <a:ea typeface="Arial" pitchFamily="34" charset="-122"/>
                <a:cs typeface="Arial" pitchFamily="34" charset="-120"/>
              </a:rPr>
              <a:t>AI revenue Y0–Y4 trajectory</a:t>
            </a:r>
            <a:pPr indent="0" marL="0">
              <a:spcAft>
                <a:spcPts val="200"/>
              </a:spcAft>
              <a:buNone/>
            </a:pPr>
            <a:r>
              <a:rPr lang="en-US" sz="850" dirty="0">
                <a:solidFill>
                  <a:srgbClr val="666666"/>
                </a:solidFill>
                <a:latin typeface="Arial" pitchFamily="34" charset="0"/>
                <a:ea typeface="Arial" pitchFamily="34" charset="-122"/>
                <a:cs typeface="Arial" pitchFamily="34" charset="-120"/>
              </a:rPr>
              <a:t>  —  </a:t>
            </a:r>
            <a:pPr indent="0" marL="0">
              <a:spcAft>
                <a:spcPts val="200"/>
              </a:spcAft>
              <a:buNone/>
            </a:pPr>
            <a:r>
              <a:rPr lang="en-US" sz="850" i="1" dirty="0">
                <a:solidFill>
                  <a:srgbClr val="666666"/>
                </a:solidFill>
                <a:latin typeface="Arial" pitchFamily="34" charset="0"/>
                <a:ea typeface="Arial" pitchFamily="34" charset="-122"/>
                <a:cs typeface="Arial" pitchFamily="34" charset="-120"/>
              </a:rPr>
              <a:t>company filings and consensus estimates</a:t>
            </a:r>
            <a:endParaRPr lang="en-US" sz="850" dirty="0"/>
          </a:p>
        </p:txBody>
      </p:sp>
      <p:sp>
        <p:nvSpPr>
          <p:cNvPr id="10" name="Shape 8"/>
          <p:cNvSpPr/>
          <p:nvPr/>
        </p:nvSpPr>
        <p:spPr>
          <a:xfrm>
            <a:off x="3264408" y="1874520"/>
            <a:ext cx="2624328" cy="201168"/>
          </a:xfrm>
          <a:prstGeom prst="rect">
            <a:avLst/>
          </a:prstGeom>
          <a:solidFill>
            <a:srgbClr val="FFB800"/>
          </a:solidFill>
          <a:ln w="12700">
            <a:solidFill>
              <a:srgbClr val="FFB800"/>
            </a:solidFill>
            <a:prstDash val="solid"/>
          </a:ln>
        </p:spPr>
      </p:sp>
      <p:sp>
        <p:nvSpPr>
          <p:cNvPr id="11" name="Text 9"/>
          <p:cNvSpPr/>
          <p:nvPr/>
        </p:nvSpPr>
        <p:spPr>
          <a:xfrm>
            <a:off x="3264408" y="1874520"/>
            <a:ext cx="2624328" cy="201168"/>
          </a:xfrm>
          <a:prstGeom prst="rect">
            <a:avLst/>
          </a:prstGeom>
          <a:noFill/>
          <a:ln/>
        </p:spPr>
        <p:txBody>
          <a:bodyPr wrap="square" lIns="0" tIns="0" rIns="0" bIns="0" rtlCol="0" anchor="ctr"/>
          <a:lstStyle/>
          <a:p>
            <a:pPr algn="ctr" indent="0" marL="0">
              <a:buNone/>
            </a:pPr>
            <a:r>
              <a:rPr lang="en-US" sz="900" b="1" spc="200" kern="0" dirty="0">
                <a:solidFill>
                  <a:srgbClr val="000000"/>
                </a:solidFill>
                <a:latin typeface="Arial" pitchFamily="34" charset="0"/>
                <a:ea typeface="Arial" pitchFamily="34" charset="-122"/>
                <a:cs typeface="Arial" pitchFamily="34" charset="-120"/>
              </a:rPr>
              <a:t>MARKET  ·  7–11</a:t>
            </a:r>
            <a:endParaRPr lang="en-US" sz="900" dirty="0"/>
          </a:p>
        </p:txBody>
      </p:sp>
      <p:sp>
        <p:nvSpPr>
          <p:cNvPr id="12" name="Text 10"/>
          <p:cNvSpPr/>
          <p:nvPr/>
        </p:nvSpPr>
        <p:spPr>
          <a:xfrm>
            <a:off x="3310128" y="2148840"/>
            <a:ext cx="2532888" cy="3566160"/>
          </a:xfrm>
          <a:prstGeom prst="rect">
            <a:avLst/>
          </a:prstGeom>
          <a:noFill/>
          <a:ln/>
        </p:spPr>
        <p:txBody>
          <a:bodyPr wrap="square" lIns="0" tIns="0" rIns="0" bIns="0" rtlCol="0" anchor="t"/>
          <a:lstStyle/>
          <a:p>
            <a:pPr indent="0" marL="0">
              <a:spcAft>
                <a:spcPts val="200"/>
              </a:spcAft>
              <a:buNone/>
            </a:pPr>
            <a:r>
              <a:rPr lang="en-US" sz="850" b="1" dirty="0">
                <a:solidFill>
                  <a:srgbClr val="000000"/>
                </a:solidFill>
                <a:latin typeface="Arial" pitchFamily="34" charset="0"/>
                <a:ea typeface="Arial" pitchFamily="34" charset="-122"/>
                <a:cs typeface="Arial" pitchFamily="34" charset="-120"/>
              </a:rPr>
              <a:t>Slide 7  ·  </a:t>
            </a:r>
            <a:pPr indent="0" marL="0">
              <a:spcAft>
                <a:spcPts val="200"/>
              </a:spcAft>
              <a:buNone/>
            </a:pPr>
            <a:r>
              <a:rPr lang="en-US" sz="850" dirty="0">
                <a:solidFill>
                  <a:srgbClr val="000000"/>
                </a:solidFill>
                <a:latin typeface="Arial" pitchFamily="34" charset="0"/>
                <a:ea typeface="Arial" pitchFamily="34" charset="-122"/>
                <a:cs typeface="Arial" pitchFamily="34" charset="-120"/>
              </a:rPr>
              <a:t>Four-stage AI chipmaking process</a:t>
            </a:r>
            <a:pPr indent="0" marL="0">
              <a:spcAft>
                <a:spcPts val="200"/>
              </a:spcAft>
              <a:buNone/>
            </a:pPr>
            <a:r>
              <a:rPr lang="en-US" sz="850" dirty="0">
                <a:solidFill>
                  <a:srgbClr val="666666"/>
                </a:solidFill>
                <a:latin typeface="Arial" pitchFamily="34" charset="0"/>
                <a:ea typeface="Arial" pitchFamily="34" charset="-122"/>
                <a:cs typeface="Arial" pitchFamily="34" charset="-120"/>
              </a:rPr>
              <a:t>  —  </a:t>
            </a:r>
            <a:pPr indent="0" marL="0">
              <a:spcAft>
                <a:spcPts val="200"/>
              </a:spcAft>
              <a:buNone/>
            </a:pPr>
            <a:r>
              <a:rPr lang="en-US" sz="850" i="1" dirty="0">
                <a:solidFill>
                  <a:srgbClr val="666666"/>
                </a:solidFill>
                <a:latin typeface="Arial" pitchFamily="34" charset="0"/>
                <a:ea typeface="Arial" pitchFamily="34" charset="-122"/>
                <a:cs typeface="Arial" pitchFamily="34" charset="-120"/>
              </a:rPr>
              <a:t>SIA / SEMI industry taxonomy</a:t>
            </a:r>
            <a:endParaRPr lang="en-US" sz="850" dirty="0"/>
          </a:p>
          <a:p>
            <a:pPr indent="0" marL="0">
              <a:spcAft>
                <a:spcPts val="200"/>
              </a:spcAft>
              <a:buNone/>
            </a:pPr>
            <a:r>
              <a:rPr lang="en-US" sz="850" b="1" dirty="0">
                <a:solidFill>
                  <a:srgbClr val="000000"/>
                </a:solidFill>
                <a:latin typeface="Arial" pitchFamily="34" charset="0"/>
                <a:ea typeface="Arial" pitchFamily="34" charset="-122"/>
                <a:cs typeface="Arial" pitchFamily="34" charset="-120"/>
              </a:rPr>
              <a:t>Slide 7  ·  </a:t>
            </a:r>
            <a:pPr indent="0" marL="0">
              <a:spcAft>
                <a:spcPts val="200"/>
              </a:spcAft>
              <a:buNone/>
            </a:pPr>
            <a:r>
              <a:rPr lang="en-US" sz="850" dirty="0">
                <a:solidFill>
                  <a:srgbClr val="000000"/>
                </a:solidFill>
                <a:latin typeface="Arial" pitchFamily="34" charset="0"/>
                <a:ea typeface="Arial" pitchFamily="34" charset="-122"/>
                <a:cs typeface="Arial" pitchFamily="34" charset="-120"/>
              </a:rPr>
              <a:t>HBM + CoWoS advanced packaging</a:t>
            </a:r>
            <a:pPr indent="0" marL="0">
              <a:spcAft>
                <a:spcPts val="200"/>
              </a:spcAft>
              <a:buNone/>
            </a:pPr>
            <a:r>
              <a:rPr lang="en-US" sz="850" dirty="0">
                <a:solidFill>
                  <a:srgbClr val="666666"/>
                </a:solidFill>
                <a:latin typeface="Arial" pitchFamily="34" charset="0"/>
                <a:ea typeface="Arial" pitchFamily="34" charset="-122"/>
                <a:cs typeface="Arial" pitchFamily="34" charset="-120"/>
              </a:rPr>
              <a:t>  —  </a:t>
            </a:r>
            <a:pPr indent="0" marL="0">
              <a:spcAft>
                <a:spcPts val="200"/>
              </a:spcAft>
              <a:buNone/>
            </a:pPr>
            <a:r>
              <a:rPr lang="en-US" sz="850" i="1" dirty="0">
                <a:solidFill>
                  <a:srgbClr val="666666"/>
                </a:solidFill>
                <a:latin typeface="Arial" pitchFamily="34" charset="0"/>
                <a:ea typeface="Arial" pitchFamily="34" charset="-122"/>
                <a:cs typeface="Arial" pitchFamily="34" charset="-120"/>
              </a:rPr>
              <a:t>TrendForce; TSMC CoWoS capacity disclosures</a:t>
            </a:r>
            <a:endParaRPr lang="en-US" sz="850" dirty="0"/>
          </a:p>
          <a:p>
            <a:pPr indent="0" marL="0">
              <a:spcAft>
                <a:spcPts val="200"/>
              </a:spcAft>
              <a:buNone/>
            </a:pPr>
            <a:r>
              <a:rPr lang="en-US" sz="850" b="1" dirty="0">
                <a:solidFill>
                  <a:srgbClr val="000000"/>
                </a:solidFill>
                <a:latin typeface="Arial" pitchFamily="34" charset="0"/>
                <a:ea typeface="Arial" pitchFamily="34" charset="-122"/>
                <a:cs typeface="Arial" pitchFamily="34" charset="-120"/>
              </a:rPr>
              <a:t>Slide 8  ·  </a:t>
            </a:r>
            <a:pPr indent="0" marL="0">
              <a:spcAft>
                <a:spcPts val="200"/>
              </a:spcAft>
              <a:buNone/>
            </a:pPr>
            <a:r>
              <a:rPr lang="en-US" sz="850" dirty="0">
                <a:solidFill>
                  <a:srgbClr val="000000"/>
                </a:solidFill>
                <a:latin typeface="Arial" pitchFamily="34" charset="0"/>
                <a:ea typeface="Arial" pitchFamily="34" charset="-122"/>
                <a:cs typeface="Arial" pitchFamily="34" charset="-120"/>
              </a:rPr>
              <a:t>"~60% hyperscaler share of AI chips"</a:t>
            </a:r>
            <a:pPr indent="0" marL="0">
              <a:spcAft>
                <a:spcPts val="200"/>
              </a:spcAft>
              <a:buNone/>
            </a:pPr>
            <a:r>
              <a:rPr lang="en-US" sz="850" dirty="0">
                <a:solidFill>
                  <a:srgbClr val="666666"/>
                </a:solidFill>
                <a:latin typeface="Arial" pitchFamily="34" charset="0"/>
                <a:ea typeface="Arial" pitchFamily="34" charset="-122"/>
                <a:cs typeface="Arial" pitchFamily="34" charset="-120"/>
              </a:rPr>
              <a:t>  —  </a:t>
            </a:r>
            <a:pPr indent="0" marL="0">
              <a:spcAft>
                <a:spcPts val="200"/>
              </a:spcAft>
              <a:buNone/>
            </a:pPr>
            <a:r>
              <a:rPr lang="en-US" sz="850" i="1" dirty="0">
                <a:solidFill>
                  <a:srgbClr val="666666"/>
                </a:solidFill>
                <a:latin typeface="Arial" pitchFamily="34" charset="0"/>
                <a:ea typeface="Arial" pitchFamily="34" charset="-122"/>
                <a:cs typeface="Arial" pitchFamily="34" charset="-120"/>
              </a:rPr>
              <a:t>SemiAnalysis / Omdia 2026E estimates</a:t>
            </a:r>
            <a:endParaRPr lang="en-US" sz="850" dirty="0"/>
          </a:p>
          <a:p>
            <a:pPr indent="0" marL="0">
              <a:spcAft>
                <a:spcPts val="200"/>
              </a:spcAft>
              <a:buNone/>
            </a:pPr>
            <a:r>
              <a:rPr lang="en-US" sz="850" b="1" dirty="0">
                <a:solidFill>
                  <a:srgbClr val="000000"/>
                </a:solidFill>
                <a:latin typeface="Arial" pitchFamily="34" charset="0"/>
                <a:ea typeface="Arial" pitchFamily="34" charset="-122"/>
                <a:cs typeface="Arial" pitchFamily="34" charset="-120"/>
              </a:rPr>
              <a:t>Slide 8  ·  </a:t>
            </a:r>
            <a:pPr indent="0" marL="0">
              <a:spcAft>
                <a:spcPts val="200"/>
              </a:spcAft>
              <a:buNone/>
            </a:pPr>
            <a:r>
              <a:rPr lang="en-US" sz="850" dirty="0">
                <a:solidFill>
                  <a:srgbClr val="000000"/>
                </a:solidFill>
                <a:latin typeface="Arial" pitchFamily="34" charset="0"/>
                <a:ea typeface="Arial" pitchFamily="34" charset="-122"/>
                <a:cs typeface="Arial" pitchFamily="34" charset="-120"/>
              </a:rPr>
              <a:t>Hyperscaler 2026 capex guides</a:t>
            </a:r>
            <a:pPr indent="0" marL="0">
              <a:spcAft>
                <a:spcPts val="200"/>
              </a:spcAft>
              <a:buNone/>
            </a:pPr>
            <a:r>
              <a:rPr lang="en-US" sz="850" dirty="0">
                <a:solidFill>
                  <a:srgbClr val="666666"/>
                </a:solidFill>
                <a:latin typeface="Arial" pitchFamily="34" charset="0"/>
                <a:ea typeface="Arial" pitchFamily="34" charset="-122"/>
                <a:cs typeface="Arial" pitchFamily="34" charset="-120"/>
              </a:rPr>
              <a:t>  —  </a:t>
            </a:r>
            <a:pPr indent="0" marL="0">
              <a:spcAft>
                <a:spcPts val="200"/>
              </a:spcAft>
              <a:buNone/>
            </a:pPr>
            <a:r>
              <a:rPr lang="en-US" sz="850" i="1" dirty="0">
                <a:solidFill>
                  <a:srgbClr val="666666"/>
                </a:solidFill>
                <a:latin typeface="Arial" pitchFamily="34" charset="0"/>
                <a:ea typeface="Arial" pitchFamily="34" charset="-122"/>
                <a:cs typeface="Arial" pitchFamily="34" charset="-120"/>
              </a:rPr>
              <a:t>AWS, MSFT, GOOGL, META, ORCL filings</a:t>
            </a:r>
            <a:endParaRPr lang="en-US" sz="850" dirty="0"/>
          </a:p>
          <a:p>
            <a:pPr indent="0" marL="0">
              <a:spcAft>
                <a:spcPts val="200"/>
              </a:spcAft>
              <a:buNone/>
            </a:pPr>
            <a:r>
              <a:rPr lang="en-US" sz="850" b="1" dirty="0">
                <a:solidFill>
                  <a:srgbClr val="000000"/>
                </a:solidFill>
                <a:latin typeface="Arial" pitchFamily="34" charset="0"/>
                <a:ea typeface="Arial" pitchFamily="34" charset="-122"/>
                <a:cs typeface="Arial" pitchFamily="34" charset="-120"/>
              </a:rPr>
              <a:t>Slide 9  ·  </a:t>
            </a:r>
            <a:pPr indent="0" marL="0">
              <a:spcAft>
                <a:spcPts val="200"/>
              </a:spcAft>
              <a:buNone/>
            </a:pPr>
            <a:r>
              <a:rPr lang="en-US" sz="850" dirty="0">
                <a:solidFill>
                  <a:srgbClr val="000000"/>
                </a:solidFill>
                <a:latin typeface="Arial" pitchFamily="34" charset="0"/>
                <a:ea typeface="Arial" pitchFamily="34" charset="-122"/>
                <a:cs typeface="Arial" pitchFamily="34" charset="-120"/>
              </a:rPr>
              <a:t>"~12% US electricity by 2028"</a:t>
            </a:r>
            <a:pPr indent="0" marL="0">
              <a:spcAft>
                <a:spcPts val="200"/>
              </a:spcAft>
              <a:buNone/>
            </a:pPr>
            <a:r>
              <a:rPr lang="en-US" sz="850" dirty="0">
                <a:solidFill>
                  <a:srgbClr val="666666"/>
                </a:solidFill>
                <a:latin typeface="Arial" pitchFamily="34" charset="0"/>
                <a:ea typeface="Arial" pitchFamily="34" charset="-122"/>
                <a:cs typeface="Arial" pitchFamily="34" charset="-120"/>
              </a:rPr>
              <a:t>  —  </a:t>
            </a:r>
            <a:pPr indent="0" marL="0">
              <a:spcAft>
                <a:spcPts val="200"/>
              </a:spcAft>
              <a:buNone/>
            </a:pPr>
            <a:r>
              <a:rPr lang="en-US" sz="850" i="1" dirty="0">
                <a:solidFill>
                  <a:srgbClr val="666666"/>
                </a:solidFill>
                <a:latin typeface="Arial" pitchFamily="34" charset="0"/>
                <a:ea typeface="Arial" pitchFamily="34" charset="-122"/>
                <a:cs typeface="Arial" pitchFamily="34" charset="-120"/>
              </a:rPr>
              <a:t>EPRI (2024) data-center load forecast</a:t>
            </a:r>
            <a:endParaRPr lang="en-US" sz="850" dirty="0"/>
          </a:p>
          <a:p>
            <a:pPr indent="0" marL="0">
              <a:spcAft>
                <a:spcPts val="200"/>
              </a:spcAft>
              <a:buNone/>
            </a:pPr>
            <a:r>
              <a:rPr lang="en-US" sz="850" b="1" dirty="0">
                <a:solidFill>
                  <a:srgbClr val="000000"/>
                </a:solidFill>
                <a:latin typeface="Arial" pitchFamily="34" charset="0"/>
                <a:ea typeface="Arial" pitchFamily="34" charset="-122"/>
                <a:cs typeface="Arial" pitchFamily="34" charset="-120"/>
              </a:rPr>
              <a:t>Slide 9  ·  </a:t>
            </a:r>
            <a:pPr indent="0" marL="0">
              <a:spcAft>
                <a:spcPts val="200"/>
              </a:spcAft>
              <a:buNone/>
            </a:pPr>
            <a:r>
              <a:rPr lang="en-US" sz="850" dirty="0">
                <a:solidFill>
                  <a:srgbClr val="000000"/>
                </a:solidFill>
                <a:latin typeface="Arial" pitchFamily="34" charset="0"/>
                <a:ea typeface="Arial" pitchFamily="34" charset="-122"/>
                <a:cs typeface="Arial" pitchFamily="34" charset="-120"/>
              </a:rPr>
              <a:t>"1 GW typical AI campus"</a:t>
            </a:r>
            <a:pPr indent="0" marL="0">
              <a:spcAft>
                <a:spcPts val="200"/>
              </a:spcAft>
              <a:buNone/>
            </a:pPr>
            <a:r>
              <a:rPr lang="en-US" sz="850" dirty="0">
                <a:solidFill>
                  <a:srgbClr val="666666"/>
                </a:solidFill>
                <a:latin typeface="Arial" pitchFamily="34" charset="0"/>
                <a:ea typeface="Arial" pitchFamily="34" charset="-122"/>
                <a:cs typeface="Arial" pitchFamily="34" charset="-120"/>
              </a:rPr>
              <a:t>  —  </a:t>
            </a:r>
            <a:pPr indent="0" marL="0">
              <a:spcAft>
                <a:spcPts val="200"/>
              </a:spcAft>
              <a:buNone/>
            </a:pPr>
            <a:r>
              <a:rPr lang="en-US" sz="850" i="1" dirty="0">
                <a:solidFill>
                  <a:srgbClr val="666666"/>
                </a:solidFill>
                <a:latin typeface="Arial" pitchFamily="34" charset="0"/>
                <a:ea typeface="Arial" pitchFamily="34" charset="-122"/>
                <a:cs typeface="Arial" pitchFamily="34" charset="-120"/>
              </a:rPr>
              <a:t>LBNL, DOE</a:t>
            </a:r>
            <a:endParaRPr lang="en-US" sz="850" dirty="0"/>
          </a:p>
          <a:p>
            <a:pPr indent="0" marL="0">
              <a:spcAft>
                <a:spcPts val="200"/>
              </a:spcAft>
              <a:buNone/>
            </a:pPr>
            <a:r>
              <a:rPr lang="en-US" sz="850" b="1" dirty="0">
                <a:solidFill>
                  <a:srgbClr val="000000"/>
                </a:solidFill>
                <a:latin typeface="Arial" pitchFamily="34" charset="0"/>
                <a:ea typeface="Arial" pitchFamily="34" charset="-122"/>
                <a:cs typeface="Arial" pitchFamily="34" charset="-120"/>
              </a:rPr>
              <a:t>Slide 9  ·  </a:t>
            </a:r>
            <a:pPr indent="0" marL="0">
              <a:spcAft>
                <a:spcPts val="200"/>
              </a:spcAft>
              <a:buNone/>
            </a:pPr>
            <a:r>
              <a:rPr lang="en-US" sz="850" dirty="0">
                <a:solidFill>
                  <a:srgbClr val="000000"/>
                </a:solidFill>
                <a:latin typeface="Arial" pitchFamily="34" charset="0"/>
                <a:ea typeface="Arial" pitchFamily="34" charset="-122"/>
                <a:cs typeface="Arial" pitchFamily="34" charset="-120"/>
              </a:rPr>
              <a:t>"~5 yr interconnection wait"</a:t>
            </a:r>
            <a:pPr indent="0" marL="0">
              <a:spcAft>
                <a:spcPts val="200"/>
              </a:spcAft>
              <a:buNone/>
            </a:pPr>
            <a:r>
              <a:rPr lang="en-US" sz="850" dirty="0">
                <a:solidFill>
                  <a:srgbClr val="666666"/>
                </a:solidFill>
                <a:latin typeface="Arial" pitchFamily="34" charset="0"/>
                <a:ea typeface="Arial" pitchFamily="34" charset="-122"/>
                <a:cs typeface="Arial" pitchFamily="34" charset="-120"/>
              </a:rPr>
              <a:t>  —  </a:t>
            </a:r>
            <a:pPr indent="0" marL="0">
              <a:spcAft>
                <a:spcPts val="200"/>
              </a:spcAft>
              <a:buNone/>
            </a:pPr>
            <a:r>
              <a:rPr lang="en-US" sz="850" i="1" dirty="0">
                <a:solidFill>
                  <a:srgbClr val="666666"/>
                </a:solidFill>
                <a:latin typeface="Arial" pitchFamily="34" charset="0"/>
                <a:ea typeface="Arial" pitchFamily="34" charset="-122"/>
                <a:cs typeface="Arial" pitchFamily="34" charset="-120"/>
              </a:rPr>
              <a:t>PJM, ERCOT interconnection queues</a:t>
            </a:r>
            <a:endParaRPr lang="en-US" sz="850" dirty="0"/>
          </a:p>
          <a:p>
            <a:pPr indent="0" marL="0">
              <a:spcAft>
                <a:spcPts val="200"/>
              </a:spcAft>
              <a:buNone/>
            </a:pPr>
            <a:r>
              <a:rPr lang="en-US" sz="850" b="1" dirty="0">
                <a:solidFill>
                  <a:srgbClr val="000000"/>
                </a:solidFill>
                <a:latin typeface="Arial" pitchFamily="34" charset="0"/>
                <a:ea typeface="Arial" pitchFamily="34" charset="-122"/>
                <a:cs typeface="Arial" pitchFamily="34" charset="-120"/>
              </a:rPr>
              <a:t>Slide 9  ·  </a:t>
            </a:r>
            <a:pPr indent="0" marL="0">
              <a:spcAft>
                <a:spcPts val="200"/>
              </a:spcAft>
              <a:buNone/>
            </a:pPr>
            <a:r>
              <a:rPr lang="en-US" sz="850" dirty="0">
                <a:solidFill>
                  <a:srgbClr val="000000"/>
                </a:solidFill>
                <a:latin typeface="Arial" pitchFamily="34" charset="0"/>
                <a:ea typeface="Arial" pitchFamily="34" charset="-122"/>
                <a:cs typeface="Arial" pitchFamily="34" charset="-120"/>
              </a:rPr>
              <a:t>TMI reopening</a:t>
            </a:r>
            <a:pPr indent="0" marL="0">
              <a:spcAft>
                <a:spcPts val="200"/>
              </a:spcAft>
              <a:buNone/>
            </a:pPr>
            <a:r>
              <a:rPr lang="en-US" sz="850" dirty="0">
                <a:solidFill>
                  <a:srgbClr val="666666"/>
                </a:solidFill>
                <a:latin typeface="Arial" pitchFamily="34" charset="0"/>
                <a:ea typeface="Arial" pitchFamily="34" charset="-122"/>
                <a:cs typeface="Arial" pitchFamily="34" charset="-120"/>
              </a:rPr>
              <a:t>  —  </a:t>
            </a:r>
            <a:pPr indent="0" marL="0">
              <a:spcAft>
                <a:spcPts val="200"/>
              </a:spcAft>
              <a:buNone/>
            </a:pPr>
            <a:r>
              <a:rPr lang="en-US" sz="850" i="1" dirty="0">
                <a:solidFill>
                  <a:srgbClr val="666666"/>
                </a:solidFill>
                <a:latin typeface="Arial" pitchFamily="34" charset="0"/>
                <a:ea typeface="Arial" pitchFamily="34" charset="-122"/>
                <a:cs typeface="Arial" pitchFamily="34" charset="-120"/>
              </a:rPr>
              <a:t>Microsoft / Constellation (Sept 2024)</a:t>
            </a:r>
            <a:endParaRPr lang="en-US" sz="850" dirty="0"/>
          </a:p>
          <a:p>
            <a:pPr indent="0" marL="0">
              <a:spcAft>
                <a:spcPts val="200"/>
              </a:spcAft>
              <a:buNone/>
            </a:pPr>
            <a:r>
              <a:rPr lang="en-US" sz="850" b="1" dirty="0">
                <a:solidFill>
                  <a:srgbClr val="000000"/>
                </a:solidFill>
                <a:latin typeface="Arial" pitchFamily="34" charset="0"/>
                <a:ea typeface="Arial" pitchFamily="34" charset="-122"/>
                <a:cs typeface="Arial" pitchFamily="34" charset="-120"/>
              </a:rPr>
              <a:t>Slide 10  ·  </a:t>
            </a:r>
            <a:pPr indent="0" marL="0">
              <a:spcAft>
                <a:spcPts val="200"/>
              </a:spcAft>
              <a:buNone/>
            </a:pPr>
            <a:r>
              <a:rPr lang="en-US" sz="850" dirty="0">
                <a:solidFill>
                  <a:srgbClr val="000000"/>
                </a:solidFill>
                <a:latin typeface="Arial" pitchFamily="34" charset="0"/>
                <a:ea typeface="Arial" pitchFamily="34" charset="-122"/>
                <a:cs typeface="Arial" pitchFamily="34" charset="-120"/>
              </a:rPr>
              <a:t>OpenAI $852B @ ~35× ARR</a:t>
            </a:r>
            <a:pPr indent="0" marL="0">
              <a:spcAft>
                <a:spcPts val="200"/>
              </a:spcAft>
              <a:buNone/>
            </a:pPr>
            <a:r>
              <a:rPr lang="en-US" sz="850" dirty="0">
                <a:solidFill>
                  <a:srgbClr val="666666"/>
                </a:solidFill>
                <a:latin typeface="Arial" pitchFamily="34" charset="0"/>
                <a:ea typeface="Arial" pitchFamily="34" charset="-122"/>
                <a:cs typeface="Arial" pitchFamily="34" charset="-120"/>
              </a:rPr>
              <a:t>  —  </a:t>
            </a:r>
            <a:pPr indent="0" marL="0">
              <a:spcAft>
                <a:spcPts val="200"/>
              </a:spcAft>
              <a:buNone/>
            </a:pPr>
            <a:r>
              <a:rPr lang="en-US" sz="850" i="1" dirty="0">
                <a:solidFill>
                  <a:srgbClr val="666666"/>
                </a:solidFill>
                <a:latin typeface="Arial" pitchFamily="34" charset="0"/>
                <a:ea typeface="Arial" pitchFamily="34" charset="-122"/>
                <a:cs typeface="Arial" pitchFamily="34" charset="-120"/>
              </a:rPr>
              <a:t>Bloomberg / CNBC; Sacra ARR run-rates</a:t>
            </a:r>
            <a:endParaRPr lang="en-US" sz="850" dirty="0"/>
          </a:p>
          <a:p>
            <a:pPr indent="0" marL="0">
              <a:spcAft>
                <a:spcPts val="200"/>
              </a:spcAft>
              <a:buNone/>
            </a:pPr>
            <a:r>
              <a:rPr lang="en-US" sz="850" b="1" dirty="0">
                <a:solidFill>
                  <a:srgbClr val="000000"/>
                </a:solidFill>
                <a:latin typeface="Arial" pitchFamily="34" charset="0"/>
                <a:ea typeface="Arial" pitchFamily="34" charset="-122"/>
                <a:cs typeface="Arial" pitchFamily="34" charset="-120"/>
              </a:rPr>
              <a:t>Slide 10  ·  </a:t>
            </a:r>
            <a:pPr indent="0" marL="0">
              <a:spcAft>
                <a:spcPts val="200"/>
              </a:spcAft>
              <a:buNone/>
            </a:pPr>
            <a:r>
              <a:rPr lang="en-US" sz="850" dirty="0">
                <a:solidFill>
                  <a:srgbClr val="000000"/>
                </a:solidFill>
                <a:latin typeface="Arial" pitchFamily="34" charset="0"/>
                <a:ea typeface="Arial" pitchFamily="34" charset="-122"/>
                <a:cs typeface="Arial" pitchFamily="34" charset="-120"/>
              </a:rPr>
              <a:t>Anthropic $380B → ~$900B (reported)</a:t>
            </a:r>
            <a:pPr indent="0" marL="0">
              <a:spcAft>
                <a:spcPts val="200"/>
              </a:spcAft>
              <a:buNone/>
            </a:pPr>
            <a:r>
              <a:rPr lang="en-US" sz="850" dirty="0">
                <a:solidFill>
                  <a:srgbClr val="666666"/>
                </a:solidFill>
                <a:latin typeface="Arial" pitchFamily="34" charset="0"/>
                <a:ea typeface="Arial" pitchFamily="34" charset="-122"/>
                <a:cs typeface="Arial" pitchFamily="34" charset="-120"/>
              </a:rPr>
              <a:t>  —  </a:t>
            </a:r>
            <a:pPr indent="0" marL="0">
              <a:spcAft>
                <a:spcPts val="200"/>
              </a:spcAft>
              <a:buNone/>
            </a:pPr>
            <a:r>
              <a:rPr lang="en-US" sz="850" i="1" dirty="0">
                <a:solidFill>
                  <a:srgbClr val="666666"/>
                </a:solidFill>
                <a:latin typeface="Arial" pitchFamily="34" charset="0"/>
                <a:ea typeface="Arial" pitchFamily="34" charset="-122"/>
                <a:cs typeface="Arial" pitchFamily="34" charset="-120"/>
              </a:rPr>
              <a:t>Bloomberg (Feb &amp; May 2026)</a:t>
            </a:r>
            <a:endParaRPr lang="en-US" sz="850" dirty="0"/>
          </a:p>
          <a:p>
            <a:pPr indent="0" marL="0">
              <a:spcAft>
                <a:spcPts val="200"/>
              </a:spcAft>
              <a:buNone/>
            </a:pPr>
            <a:r>
              <a:rPr lang="en-US" sz="850" b="1" dirty="0">
                <a:solidFill>
                  <a:srgbClr val="000000"/>
                </a:solidFill>
                <a:latin typeface="Arial" pitchFamily="34" charset="0"/>
                <a:ea typeface="Arial" pitchFamily="34" charset="-122"/>
                <a:cs typeface="Arial" pitchFamily="34" charset="-120"/>
              </a:rPr>
              <a:t>Slide 10  ·  </a:t>
            </a:r>
            <a:pPr indent="0" marL="0">
              <a:spcAft>
                <a:spcPts val="200"/>
              </a:spcAft>
              <a:buNone/>
            </a:pPr>
            <a:r>
              <a:rPr lang="en-US" sz="850" dirty="0">
                <a:solidFill>
                  <a:srgbClr val="000000"/>
                </a:solidFill>
                <a:latin typeface="Arial" pitchFamily="34" charset="0"/>
                <a:ea typeface="Arial" pitchFamily="34" charset="-122"/>
                <a:cs typeface="Arial" pitchFamily="34" charset="-120"/>
              </a:rPr>
              <a:t>Alphabet ~$4.6T / ~$185B 2026 capex</a:t>
            </a:r>
            <a:pPr indent="0" marL="0">
              <a:spcAft>
                <a:spcPts val="200"/>
              </a:spcAft>
              <a:buNone/>
            </a:pPr>
            <a:r>
              <a:rPr lang="en-US" sz="850" dirty="0">
                <a:solidFill>
                  <a:srgbClr val="666666"/>
                </a:solidFill>
                <a:latin typeface="Arial" pitchFamily="34" charset="0"/>
                <a:ea typeface="Arial" pitchFamily="34" charset="-122"/>
                <a:cs typeface="Arial" pitchFamily="34" charset="-120"/>
              </a:rPr>
              <a:t>  —  </a:t>
            </a:r>
            <a:pPr indent="0" marL="0">
              <a:spcAft>
                <a:spcPts val="200"/>
              </a:spcAft>
              <a:buNone/>
            </a:pPr>
            <a:r>
              <a:rPr lang="en-US" sz="850" i="1" dirty="0">
                <a:solidFill>
                  <a:srgbClr val="666666"/>
                </a:solidFill>
                <a:latin typeface="Arial" pitchFamily="34" charset="0"/>
                <a:ea typeface="Arial" pitchFamily="34" charset="-122"/>
                <a:cs typeface="Arial" pitchFamily="34" charset="-120"/>
              </a:rPr>
              <a:t>companiesmarketcap; Alphabet guide</a:t>
            </a:r>
            <a:endParaRPr lang="en-US" sz="850" dirty="0"/>
          </a:p>
          <a:p>
            <a:pPr indent="0" marL="0">
              <a:spcAft>
                <a:spcPts val="200"/>
              </a:spcAft>
              <a:buNone/>
            </a:pPr>
            <a:r>
              <a:rPr lang="en-US" sz="850" b="1" dirty="0">
                <a:solidFill>
                  <a:srgbClr val="000000"/>
                </a:solidFill>
                <a:latin typeface="Arial" pitchFamily="34" charset="0"/>
                <a:ea typeface="Arial" pitchFamily="34" charset="-122"/>
                <a:cs typeface="Arial" pitchFamily="34" charset="-120"/>
              </a:rPr>
              <a:t>Slide 10  ·  </a:t>
            </a:r>
            <a:pPr indent="0" marL="0">
              <a:spcAft>
                <a:spcPts val="200"/>
              </a:spcAft>
              <a:buNone/>
            </a:pPr>
            <a:r>
              <a:rPr lang="en-US" sz="850" dirty="0">
                <a:solidFill>
                  <a:srgbClr val="000000"/>
                </a:solidFill>
                <a:latin typeface="Arial" pitchFamily="34" charset="0"/>
                <a:ea typeface="Arial" pitchFamily="34" charset="-122"/>
                <a:cs typeface="Arial" pitchFamily="34" charset="-120"/>
              </a:rPr>
              <a:t>xAI/SpaceX $1.25T; SpaceX S-1 (May 20)</a:t>
            </a:r>
            <a:pPr indent="0" marL="0">
              <a:spcAft>
                <a:spcPts val="200"/>
              </a:spcAft>
              <a:buNone/>
            </a:pPr>
            <a:r>
              <a:rPr lang="en-US" sz="850" dirty="0">
                <a:solidFill>
                  <a:srgbClr val="666666"/>
                </a:solidFill>
                <a:latin typeface="Arial" pitchFamily="34" charset="0"/>
                <a:ea typeface="Arial" pitchFamily="34" charset="-122"/>
                <a:cs typeface="Arial" pitchFamily="34" charset="-120"/>
              </a:rPr>
              <a:t>  —  </a:t>
            </a:r>
            <a:pPr indent="0" marL="0">
              <a:spcAft>
                <a:spcPts val="200"/>
              </a:spcAft>
              <a:buNone/>
            </a:pPr>
            <a:r>
              <a:rPr lang="en-US" sz="850" i="1" dirty="0">
                <a:solidFill>
                  <a:srgbClr val="666666"/>
                </a:solidFill>
                <a:latin typeface="Arial" pitchFamily="34" charset="0"/>
                <a:ea typeface="Arial" pitchFamily="34" charset="-122"/>
                <a:cs typeface="Arial" pitchFamily="34" charset="-120"/>
              </a:rPr>
              <a:t>CNBC, Bloomberg (2026)</a:t>
            </a:r>
            <a:endParaRPr lang="en-US" sz="850" dirty="0"/>
          </a:p>
          <a:p>
            <a:pPr indent="0" marL="0">
              <a:spcAft>
                <a:spcPts val="200"/>
              </a:spcAft>
              <a:buNone/>
            </a:pPr>
            <a:r>
              <a:rPr lang="en-US" sz="850" b="1" dirty="0">
                <a:solidFill>
                  <a:srgbClr val="000000"/>
                </a:solidFill>
                <a:latin typeface="Arial" pitchFamily="34" charset="0"/>
                <a:ea typeface="Arial" pitchFamily="34" charset="-122"/>
                <a:cs typeface="Arial" pitchFamily="34" charset="-120"/>
              </a:rPr>
              <a:t>Slide 10  ·  </a:t>
            </a:r>
            <a:pPr indent="0" marL="0">
              <a:spcAft>
                <a:spcPts val="200"/>
              </a:spcAft>
              <a:buNone/>
            </a:pPr>
            <a:r>
              <a:rPr lang="en-US" sz="850" dirty="0">
                <a:solidFill>
                  <a:srgbClr val="000000"/>
                </a:solidFill>
                <a:latin typeface="Arial" pitchFamily="34" charset="0"/>
                <a:ea typeface="Arial" pitchFamily="34" charset="-122"/>
                <a:cs typeface="Arial" pitchFamily="34" charset="-120"/>
              </a:rPr>
              <a:t>Q1 2026 funding 2× all of 2025</a:t>
            </a:r>
            <a:pPr indent="0" marL="0">
              <a:spcAft>
                <a:spcPts val="200"/>
              </a:spcAft>
              <a:buNone/>
            </a:pPr>
            <a:r>
              <a:rPr lang="en-US" sz="850" dirty="0">
                <a:solidFill>
                  <a:srgbClr val="666666"/>
                </a:solidFill>
                <a:latin typeface="Arial" pitchFamily="34" charset="0"/>
                <a:ea typeface="Arial" pitchFamily="34" charset="-122"/>
                <a:cs typeface="Arial" pitchFamily="34" charset="-120"/>
              </a:rPr>
              <a:t>  —  </a:t>
            </a:r>
            <a:pPr indent="0" marL="0">
              <a:spcAft>
                <a:spcPts val="200"/>
              </a:spcAft>
              <a:buNone/>
            </a:pPr>
            <a:r>
              <a:rPr lang="en-US" sz="850" i="1" dirty="0">
                <a:solidFill>
                  <a:srgbClr val="666666"/>
                </a:solidFill>
                <a:latin typeface="Arial" pitchFamily="34" charset="0"/>
                <a:ea typeface="Arial" pitchFamily="34" charset="-122"/>
                <a:cs typeface="Arial" pitchFamily="34" charset="-120"/>
              </a:rPr>
              <a:t>Crunchbase Q1 2026 VC data</a:t>
            </a:r>
            <a:endParaRPr lang="en-US" sz="850" dirty="0"/>
          </a:p>
          <a:p>
            <a:pPr indent="0" marL="0">
              <a:spcAft>
                <a:spcPts val="200"/>
              </a:spcAft>
              <a:buNone/>
            </a:pPr>
            <a:r>
              <a:rPr lang="en-US" sz="850" b="1" dirty="0">
                <a:solidFill>
                  <a:srgbClr val="000000"/>
                </a:solidFill>
                <a:latin typeface="Arial" pitchFamily="34" charset="0"/>
                <a:ea typeface="Arial" pitchFamily="34" charset="-122"/>
                <a:cs typeface="Arial" pitchFamily="34" charset="-120"/>
              </a:rPr>
              <a:t>Slide 11  ·  </a:t>
            </a:r>
            <a:pPr indent="0" marL="0">
              <a:spcAft>
                <a:spcPts val="200"/>
              </a:spcAft>
              <a:buNone/>
            </a:pPr>
            <a:r>
              <a:rPr lang="en-US" sz="850" dirty="0">
                <a:solidFill>
                  <a:srgbClr val="000000"/>
                </a:solidFill>
                <a:latin typeface="Arial" pitchFamily="34" charset="0"/>
                <a:ea typeface="Arial" pitchFamily="34" charset="-122"/>
                <a:cs typeface="Arial" pitchFamily="34" charset="-120"/>
              </a:rPr>
              <a:t>Top 10 Tech vs Non-Tech metrics</a:t>
            </a:r>
            <a:pPr indent="0" marL="0">
              <a:spcAft>
                <a:spcPts val="200"/>
              </a:spcAft>
              <a:buNone/>
            </a:pPr>
            <a:r>
              <a:rPr lang="en-US" sz="850" dirty="0">
                <a:solidFill>
                  <a:srgbClr val="666666"/>
                </a:solidFill>
                <a:latin typeface="Arial" pitchFamily="34" charset="0"/>
                <a:ea typeface="Arial" pitchFamily="34" charset="-122"/>
                <a:cs typeface="Arial" pitchFamily="34" charset="-120"/>
              </a:rPr>
              <a:t>  —  </a:t>
            </a:r>
            <a:pPr indent="0" marL="0">
              <a:spcAft>
                <a:spcPts val="200"/>
              </a:spcAft>
              <a:buNone/>
            </a:pPr>
            <a:r>
              <a:rPr lang="en-US" sz="850" i="1" dirty="0">
                <a:solidFill>
                  <a:srgbClr val="666666"/>
                </a:solidFill>
                <a:latin typeface="Arial" pitchFamily="34" charset="0"/>
                <a:ea typeface="Arial" pitchFamily="34" charset="-122"/>
                <a:cs typeface="Arial" pitchFamily="34" charset="-120"/>
              </a:rPr>
              <a:t>stockanalysis.com consensus (Apr 22, 2026)</a:t>
            </a:r>
            <a:endParaRPr lang="en-US" sz="850" dirty="0"/>
          </a:p>
          <a:p>
            <a:pPr indent="0" marL="0">
              <a:spcAft>
                <a:spcPts val="200"/>
              </a:spcAft>
              <a:buNone/>
            </a:pPr>
            <a:r>
              <a:rPr lang="en-US" sz="850" b="1" dirty="0">
                <a:solidFill>
                  <a:srgbClr val="000000"/>
                </a:solidFill>
                <a:latin typeface="Arial" pitchFamily="34" charset="0"/>
                <a:ea typeface="Arial" pitchFamily="34" charset="-122"/>
                <a:cs typeface="Arial" pitchFamily="34" charset="-120"/>
              </a:rPr>
              <a:t>Slide 11  ·  </a:t>
            </a:r>
            <a:pPr indent="0" marL="0">
              <a:spcAft>
                <a:spcPts val="200"/>
              </a:spcAft>
              <a:buNone/>
            </a:pPr>
            <a:r>
              <a:rPr lang="en-US" sz="850" dirty="0">
                <a:solidFill>
                  <a:srgbClr val="000000"/>
                </a:solidFill>
                <a:latin typeface="Arial" pitchFamily="34" charset="0"/>
                <a:ea typeface="Arial" pitchFamily="34" charset="-122"/>
                <a:cs typeface="Arial" pitchFamily="34" charset="-120"/>
              </a:rPr>
              <a:t>Market caps</a:t>
            </a:r>
            <a:pPr indent="0" marL="0">
              <a:spcAft>
                <a:spcPts val="200"/>
              </a:spcAft>
              <a:buNone/>
            </a:pPr>
            <a:r>
              <a:rPr lang="en-US" sz="850" dirty="0">
                <a:solidFill>
                  <a:srgbClr val="666666"/>
                </a:solidFill>
                <a:latin typeface="Arial" pitchFamily="34" charset="0"/>
                <a:ea typeface="Arial" pitchFamily="34" charset="-122"/>
                <a:cs typeface="Arial" pitchFamily="34" charset="-120"/>
              </a:rPr>
              <a:t>  —  </a:t>
            </a:r>
            <a:pPr indent="0" marL="0">
              <a:spcAft>
                <a:spcPts val="200"/>
              </a:spcAft>
              <a:buNone/>
            </a:pPr>
            <a:r>
              <a:rPr lang="en-US" sz="850" i="1" dirty="0">
                <a:solidFill>
                  <a:srgbClr val="666666"/>
                </a:solidFill>
                <a:latin typeface="Arial" pitchFamily="34" charset="0"/>
                <a:ea typeface="Arial" pitchFamily="34" charset="-122"/>
                <a:cs typeface="Arial" pitchFamily="34" charset="-120"/>
              </a:rPr>
              <a:t>companiesmarketcap.com (Apr 22, 2026)</a:t>
            </a:r>
            <a:endParaRPr lang="en-US" sz="850" dirty="0"/>
          </a:p>
        </p:txBody>
      </p:sp>
      <p:sp>
        <p:nvSpPr>
          <p:cNvPr id="13" name="Shape 11"/>
          <p:cNvSpPr/>
          <p:nvPr/>
        </p:nvSpPr>
        <p:spPr>
          <a:xfrm>
            <a:off x="6071616" y="1874520"/>
            <a:ext cx="2624328" cy="201168"/>
          </a:xfrm>
          <a:prstGeom prst="rect">
            <a:avLst/>
          </a:prstGeom>
          <a:solidFill>
            <a:srgbClr val="F6693D"/>
          </a:solidFill>
          <a:ln w="12700">
            <a:solidFill>
              <a:srgbClr val="F6693D"/>
            </a:solidFill>
            <a:prstDash val="solid"/>
          </a:ln>
        </p:spPr>
      </p:sp>
      <p:sp>
        <p:nvSpPr>
          <p:cNvPr id="14" name="Text 12"/>
          <p:cNvSpPr/>
          <p:nvPr/>
        </p:nvSpPr>
        <p:spPr>
          <a:xfrm>
            <a:off x="6071616" y="1874520"/>
            <a:ext cx="2624328" cy="201168"/>
          </a:xfrm>
          <a:prstGeom prst="rect">
            <a:avLst/>
          </a:prstGeom>
          <a:noFill/>
          <a:ln/>
        </p:spPr>
        <p:txBody>
          <a:bodyPr wrap="square" lIns="0" tIns="0" rIns="0" bIns="0" rtlCol="0" anchor="ctr"/>
          <a:lstStyle/>
          <a:p>
            <a:pPr algn="ctr" indent="0" marL="0">
              <a:buNone/>
            </a:pPr>
            <a:r>
              <a:rPr lang="en-US" sz="900" b="1" spc="200" kern="0" dirty="0">
                <a:solidFill>
                  <a:srgbClr val="FFFFFF"/>
                </a:solidFill>
                <a:latin typeface="Arial" pitchFamily="34" charset="0"/>
                <a:ea typeface="Arial" pitchFamily="34" charset="-122"/>
                <a:cs typeface="Arial" pitchFamily="34" charset="-120"/>
              </a:rPr>
              <a:t>SHIFTS  ·  12–14</a:t>
            </a:r>
            <a:endParaRPr lang="en-US" sz="900" dirty="0"/>
          </a:p>
        </p:txBody>
      </p:sp>
      <p:sp>
        <p:nvSpPr>
          <p:cNvPr id="15" name="Text 13"/>
          <p:cNvSpPr/>
          <p:nvPr/>
        </p:nvSpPr>
        <p:spPr>
          <a:xfrm>
            <a:off x="6117336" y="2148840"/>
            <a:ext cx="2532888" cy="3566160"/>
          </a:xfrm>
          <a:prstGeom prst="rect">
            <a:avLst/>
          </a:prstGeom>
          <a:noFill/>
          <a:ln/>
        </p:spPr>
        <p:txBody>
          <a:bodyPr wrap="square" lIns="0" tIns="0" rIns="0" bIns="0" rtlCol="0" anchor="t"/>
          <a:lstStyle/>
          <a:p>
            <a:pPr indent="0" marL="0">
              <a:spcAft>
                <a:spcPts val="200"/>
              </a:spcAft>
              <a:buNone/>
            </a:pPr>
            <a:r>
              <a:rPr lang="en-US" sz="850" b="1" dirty="0">
                <a:solidFill>
                  <a:srgbClr val="000000"/>
                </a:solidFill>
                <a:latin typeface="Arial" pitchFamily="34" charset="0"/>
                <a:ea typeface="Arial" pitchFamily="34" charset="-122"/>
                <a:cs typeface="Arial" pitchFamily="34" charset="-120"/>
              </a:rPr>
              <a:t>Slide 12  ·  </a:t>
            </a:r>
            <a:pPr indent="0" marL="0">
              <a:spcAft>
                <a:spcPts val="200"/>
              </a:spcAft>
              <a:buNone/>
            </a:pPr>
            <a:r>
              <a:rPr lang="en-US" sz="850" dirty="0">
                <a:solidFill>
                  <a:srgbClr val="000000"/>
                </a:solidFill>
                <a:latin typeface="Arial" pitchFamily="34" charset="0"/>
                <a:ea typeface="Arial" pitchFamily="34" charset="-122"/>
                <a:cs typeface="Arial" pitchFamily="34" charset="-120"/>
              </a:rPr>
              <a:t>"10–100× compute per session"</a:t>
            </a:r>
            <a:pPr indent="0" marL="0">
              <a:spcAft>
                <a:spcPts val="200"/>
              </a:spcAft>
              <a:buNone/>
            </a:pPr>
            <a:r>
              <a:rPr lang="en-US" sz="850" dirty="0">
                <a:solidFill>
                  <a:srgbClr val="666666"/>
                </a:solidFill>
                <a:latin typeface="Arial" pitchFamily="34" charset="0"/>
                <a:ea typeface="Arial" pitchFamily="34" charset="-122"/>
                <a:cs typeface="Arial" pitchFamily="34" charset="-120"/>
              </a:rPr>
              <a:t>  —  </a:t>
            </a:r>
            <a:pPr indent="0" marL="0">
              <a:spcAft>
                <a:spcPts val="200"/>
              </a:spcAft>
              <a:buNone/>
            </a:pPr>
            <a:r>
              <a:rPr lang="en-US" sz="850" i="1" dirty="0">
                <a:solidFill>
                  <a:srgbClr val="666666"/>
                </a:solidFill>
                <a:latin typeface="Arial" pitchFamily="34" charset="0"/>
                <a:ea typeface="Arial" pitchFamily="34" charset="-122"/>
                <a:cs typeface="Arial" pitchFamily="34" charset="-120"/>
              </a:rPr>
              <a:t>analyst est.; Morgan Stanley CIO Survey</a:t>
            </a:r>
            <a:endParaRPr lang="en-US" sz="850" dirty="0"/>
          </a:p>
          <a:p>
            <a:pPr indent="0" marL="0">
              <a:spcAft>
                <a:spcPts val="200"/>
              </a:spcAft>
              <a:buNone/>
            </a:pPr>
            <a:r>
              <a:rPr lang="en-US" sz="850" b="1" dirty="0">
                <a:solidFill>
                  <a:srgbClr val="000000"/>
                </a:solidFill>
                <a:latin typeface="Arial" pitchFamily="34" charset="0"/>
                <a:ea typeface="Arial" pitchFamily="34" charset="-122"/>
                <a:cs typeface="Arial" pitchFamily="34" charset="-120"/>
              </a:rPr>
              <a:t>Slide 12  ·  </a:t>
            </a:r>
            <a:pPr indent="0" marL="0">
              <a:spcAft>
                <a:spcPts val="200"/>
              </a:spcAft>
              <a:buNone/>
            </a:pPr>
            <a:r>
              <a:rPr lang="en-US" sz="850" dirty="0">
                <a:solidFill>
                  <a:srgbClr val="000000"/>
                </a:solidFill>
                <a:latin typeface="Arial" pitchFamily="34" charset="0"/>
                <a:ea typeface="Arial" pitchFamily="34" charset="-122"/>
                <a:cs typeface="Arial" pitchFamily="34" charset="-120"/>
              </a:rPr>
              <a:t>"million-fold demand / inference inflection"</a:t>
            </a:r>
            <a:pPr indent="0" marL="0">
              <a:spcAft>
                <a:spcPts val="200"/>
              </a:spcAft>
              <a:buNone/>
            </a:pPr>
            <a:r>
              <a:rPr lang="en-US" sz="850" dirty="0">
                <a:solidFill>
                  <a:srgbClr val="666666"/>
                </a:solidFill>
                <a:latin typeface="Arial" pitchFamily="34" charset="0"/>
                <a:ea typeface="Arial" pitchFamily="34" charset="-122"/>
                <a:cs typeface="Arial" pitchFamily="34" charset="-120"/>
              </a:rPr>
              <a:t>  —  </a:t>
            </a:r>
            <a:pPr indent="0" marL="0">
              <a:spcAft>
                <a:spcPts val="200"/>
              </a:spcAft>
              <a:buNone/>
            </a:pPr>
            <a:r>
              <a:rPr lang="en-US" sz="850" i="1" dirty="0">
                <a:solidFill>
                  <a:srgbClr val="666666"/>
                </a:solidFill>
                <a:latin typeface="Arial" pitchFamily="34" charset="0"/>
                <a:ea typeface="Arial" pitchFamily="34" charset="-122"/>
                <a:cs typeface="Arial" pitchFamily="34" charset="-120"/>
              </a:rPr>
              <a:t>Jensen Huang, NVIDIA GTC 2026</a:t>
            </a:r>
            <a:endParaRPr lang="en-US" sz="850" dirty="0"/>
          </a:p>
          <a:p>
            <a:pPr indent="0" marL="0">
              <a:spcAft>
                <a:spcPts val="200"/>
              </a:spcAft>
              <a:buNone/>
            </a:pPr>
            <a:r>
              <a:rPr lang="en-US" sz="850" b="1" dirty="0">
                <a:solidFill>
                  <a:srgbClr val="000000"/>
                </a:solidFill>
                <a:latin typeface="Arial" pitchFamily="34" charset="0"/>
                <a:ea typeface="Arial" pitchFamily="34" charset="-122"/>
                <a:cs typeface="Arial" pitchFamily="34" charset="-120"/>
              </a:rPr>
              <a:t>Slide 13  ·  </a:t>
            </a:r>
            <a:pPr indent="0" marL="0">
              <a:spcAft>
                <a:spcPts val="200"/>
              </a:spcAft>
              <a:buNone/>
            </a:pPr>
            <a:r>
              <a:rPr lang="en-US" sz="850" dirty="0">
                <a:solidFill>
                  <a:srgbClr val="000000"/>
                </a:solidFill>
                <a:latin typeface="Arial" pitchFamily="34" charset="0"/>
                <a:ea typeface="Arial" pitchFamily="34" charset="-122"/>
                <a:cs typeface="Arial" pitchFamily="34" charset="-120"/>
              </a:rPr>
              <a:t>YTD prices rebased to 100</a:t>
            </a:r>
            <a:pPr indent="0" marL="0">
              <a:spcAft>
                <a:spcPts val="200"/>
              </a:spcAft>
              <a:buNone/>
            </a:pPr>
            <a:r>
              <a:rPr lang="en-US" sz="850" dirty="0">
                <a:solidFill>
                  <a:srgbClr val="666666"/>
                </a:solidFill>
                <a:latin typeface="Arial" pitchFamily="34" charset="0"/>
                <a:ea typeface="Arial" pitchFamily="34" charset="-122"/>
                <a:cs typeface="Arial" pitchFamily="34" charset="-120"/>
              </a:rPr>
              <a:t>  —  </a:t>
            </a:r>
            <a:pPr indent="0" marL="0">
              <a:spcAft>
                <a:spcPts val="200"/>
              </a:spcAft>
              <a:buNone/>
            </a:pPr>
            <a:r>
              <a:rPr lang="en-US" sz="850" i="1" dirty="0">
                <a:solidFill>
                  <a:srgbClr val="666666"/>
                </a:solidFill>
                <a:latin typeface="Arial" pitchFamily="34" charset="0"/>
                <a:ea typeface="Arial" pitchFamily="34" charset="-122"/>
                <a:cs typeface="Arial" pitchFamily="34" charset="-120"/>
              </a:rPr>
              <a:t>Yahoo Finance (May 22, 2026)</a:t>
            </a:r>
            <a:endParaRPr lang="en-US" sz="850" dirty="0"/>
          </a:p>
          <a:p>
            <a:pPr indent="0" marL="0">
              <a:spcAft>
                <a:spcPts val="200"/>
              </a:spcAft>
              <a:buNone/>
            </a:pPr>
            <a:r>
              <a:rPr lang="en-US" sz="850" b="1" dirty="0">
                <a:solidFill>
                  <a:srgbClr val="000000"/>
                </a:solidFill>
                <a:latin typeface="Arial" pitchFamily="34" charset="0"/>
                <a:ea typeface="Arial" pitchFamily="34" charset="-122"/>
                <a:cs typeface="Arial" pitchFamily="34" charset="-120"/>
              </a:rPr>
              <a:t>Slide 13  ·  </a:t>
            </a:r>
            <a:pPr indent="0" marL="0">
              <a:spcAft>
                <a:spcPts val="200"/>
              </a:spcAft>
              <a:buNone/>
            </a:pPr>
            <a:r>
              <a:rPr lang="en-US" sz="850" dirty="0">
                <a:solidFill>
                  <a:srgbClr val="000000"/>
                </a:solidFill>
                <a:latin typeface="Arial" pitchFamily="34" charset="0"/>
                <a:ea typeface="Arial" pitchFamily="34" charset="-122"/>
                <a:cs typeface="Arial" pitchFamily="34" charset="-120"/>
              </a:rPr>
              <a:t>"SaaSpocalypse — ~$285B in 48h"</a:t>
            </a:r>
            <a:pPr indent="0" marL="0">
              <a:spcAft>
                <a:spcPts val="200"/>
              </a:spcAft>
              <a:buNone/>
            </a:pPr>
            <a:r>
              <a:rPr lang="en-US" sz="850" dirty="0">
                <a:solidFill>
                  <a:srgbClr val="666666"/>
                </a:solidFill>
                <a:latin typeface="Arial" pitchFamily="34" charset="0"/>
                <a:ea typeface="Arial" pitchFamily="34" charset="-122"/>
                <a:cs typeface="Arial" pitchFamily="34" charset="-120"/>
              </a:rPr>
              <a:t>  —  </a:t>
            </a:r>
            <a:pPr indent="0" marL="0">
              <a:spcAft>
                <a:spcPts val="200"/>
              </a:spcAft>
              <a:buNone/>
            </a:pPr>
            <a:r>
              <a:rPr lang="en-US" sz="850" i="1" dirty="0">
                <a:solidFill>
                  <a:srgbClr val="666666"/>
                </a:solidFill>
                <a:latin typeface="Arial" pitchFamily="34" charset="0"/>
                <a:ea typeface="Arial" pitchFamily="34" charset="-122"/>
                <a:cs typeface="Arial" pitchFamily="34" charset="-120"/>
              </a:rPr>
              <a:t>SaaS selloff coverage, Feb 2026</a:t>
            </a:r>
            <a:endParaRPr lang="en-US" sz="850" dirty="0"/>
          </a:p>
          <a:p>
            <a:pPr indent="0" marL="0">
              <a:spcAft>
                <a:spcPts val="200"/>
              </a:spcAft>
              <a:buNone/>
            </a:pPr>
            <a:r>
              <a:rPr lang="en-US" sz="850" b="1" dirty="0">
                <a:solidFill>
                  <a:srgbClr val="000000"/>
                </a:solidFill>
                <a:latin typeface="Arial" pitchFamily="34" charset="0"/>
                <a:ea typeface="Arial" pitchFamily="34" charset="-122"/>
                <a:cs typeface="Arial" pitchFamily="34" charset="-120"/>
              </a:rPr>
              <a:t>Slide 13  ·  </a:t>
            </a:r>
            <a:pPr indent="0" marL="0">
              <a:spcAft>
                <a:spcPts val="200"/>
              </a:spcAft>
              <a:buNone/>
            </a:pPr>
            <a:r>
              <a:rPr lang="en-US" sz="850" dirty="0">
                <a:solidFill>
                  <a:srgbClr val="000000"/>
                </a:solidFill>
                <a:latin typeface="Arial" pitchFamily="34" charset="0"/>
                <a:ea typeface="Arial" pitchFamily="34" charset="-122"/>
                <a:cs typeface="Arial" pitchFamily="34" charset="-120"/>
              </a:rPr>
              <a:t>Software single-stock YTDs</a:t>
            </a:r>
            <a:pPr indent="0" marL="0">
              <a:spcAft>
                <a:spcPts val="200"/>
              </a:spcAft>
              <a:buNone/>
            </a:pPr>
            <a:r>
              <a:rPr lang="en-US" sz="850" dirty="0">
                <a:solidFill>
                  <a:srgbClr val="666666"/>
                </a:solidFill>
                <a:latin typeface="Arial" pitchFamily="34" charset="0"/>
                <a:ea typeface="Arial" pitchFamily="34" charset="-122"/>
                <a:cs typeface="Arial" pitchFamily="34" charset="-120"/>
              </a:rPr>
              <a:t>  —  </a:t>
            </a:r>
            <a:pPr indent="0" marL="0">
              <a:spcAft>
                <a:spcPts val="200"/>
              </a:spcAft>
              <a:buNone/>
            </a:pPr>
            <a:r>
              <a:rPr lang="en-US" sz="850" i="1" dirty="0">
                <a:solidFill>
                  <a:srgbClr val="666666"/>
                </a:solidFill>
                <a:latin typeface="Arial" pitchFamily="34" charset="0"/>
                <a:ea typeface="Arial" pitchFamily="34" charset="-122"/>
                <a:cs typeface="Arial" pitchFamily="34" charset="-120"/>
              </a:rPr>
              <a:t>Yahoo Finance; Morgan Stanley CIO Survey</a:t>
            </a:r>
            <a:endParaRPr lang="en-US" sz="850" dirty="0"/>
          </a:p>
          <a:p>
            <a:pPr indent="0" marL="0">
              <a:spcAft>
                <a:spcPts val="200"/>
              </a:spcAft>
              <a:buNone/>
            </a:pPr>
            <a:r>
              <a:rPr lang="en-US" sz="850" b="1" dirty="0">
                <a:solidFill>
                  <a:srgbClr val="000000"/>
                </a:solidFill>
                <a:latin typeface="Arial" pitchFamily="34" charset="0"/>
                <a:ea typeface="Arial" pitchFamily="34" charset="-122"/>
                <a:cs typeface="Arial" pitchFamily="34" charset="-120"/>
              </a:rPr>
              <a:t>Slide 14  ·  </a:t>
            </a:r>
            <a:pPr indent="0" marL="0">
              <a:spcAft>
                <a:spcPts val="200"/>
              </a:spcAft>
              <a:buNone/>
            </a:pPr>
            <a:r>
              <a:rPr lang="en-US" sz="850" dirty="0">
                <a:solidFill>
                  <a:srgbClr val="000000"/>
                </a:solidFill>
                <a:latin typeface="Arial" pitchFamily="34" charset="0"/>
                <a:ea typeface="Arial" pitchFamily="34" charset="-122"/>
                <a:cs typeface="Arial" pitchFamily="34" charset="-120"/>
              </a:rPr>
              <a:t>Token-cost ~99% decline; commoditization</a:t>
            </a:r>
            <a:pPr indent="0" marL="0">
              <a:spcAft>
                <a:spcPts val="200"/>
              </a:spcAft>
              <a:buNone/>
            </a:pPr>
            <a:r>
              <a:rPr lang="en-US" sz="850" dirty="0">
                <a:solidFill>
                  <a:srgbClr val="666666"/>
                </a:solidFill>
                <a:latin typeface="Arial" pitchFamily="34" charset="0"/>
                <a:ea typeface="Arial" pitchFamily="34" charset="-122"/>
                <a:cs typeface="Arial" pitchFamily="34" charset="-120"/>
              </a:rPr>
              <a:t>  —  </a:t>
            </a:r>
            <a:pPr indent="0" marL="0">
              <a:spcAft>
                <a:spcPts val="200"/>
              </a:spcAft>
              <a:buNone/>
            </a:pPr>
            <a:r>
              <a:rPr lang="en-US" sz="850" i="1" dirty="0">
                <a:solidFill>
                  <a:srgbClr val="666666"/>
                </a:solidFill>
                <a:latin typeface="Arial" pitchFamily="34" charset="0"/>
                <a:ea typeface="Arial" pitchFamily="34" charset="-122"/>
                <a:cs typeface="Arial" pitchFamily="34" charset="-120"/>
              </a:rPr>
              <a:t>a16z, SemiAnalysis; Stratechery (Mar 2026)</a:t>
            </a:r>
            <a:endParaRPr lang="en-US" sz="850" dirty="0"/>
          </a:p>
        </p:txBody>
      </p:sp>
      <p:sp>
        <p:nvSpPr>
          <p:cNvPr id="16" name="Text 14"/>
          <p:cNvSpPr/>
          <p:nvPr/>
        </p:nvSpPr>
        <p:spPr>
          <a:xfrm>
            <a:off x="457200" y="5875020"/>
            <a:ext cx="8229600" cy="320040"/>
          </a:xfrm>
          <a:prstGeom prst="rect">
            <a:avLst/>
          </a:prstGeom>
          <a:noFill/>
          <a:ln/>
        </p:spPr>
        <p:txBody>
          <a:bodyPr wrap="square" lIns="0" tIns="0" rIns="0" bIns="0" rtlCol="0" anchor="t"/>
          <a:lstStyle/>
          <a:p>
            <a:pPr indent="0" marL="0">
              <a:buNone/>
            </a:pPr>
            <a:r>
              <a:rPr lang="en-US" sz="700" dirty="0">
                <a:solidFill>
                  <a:srgbClr val="999999"/>
                </a:solidFill>
                <a:latin typeface="Arial" pitchFamily="34" charset="0"/>
                <a:ea typeface="Arial" pitchFamily="34" charset="-122"/>
                <a:cs typeface="Arial" pitchFamily="34" charset="-120"/>
              </a:rPr>
              <a:t>Appendix 1 of 2 — continues on the next page with RISKS, FRONTIER, and TAKEAWAYS.</a:t>
            </a:r>
            <a:endParaRPr lang="en-US" sz="700" dirty="0"/>
          </a:p>
        </p:txBody>
      </p:sp>
      <p:sp>
        <p:nvSpPr>
          <p:cNvPr id="17" name="Shape 15"/>
          <p:cNvSpPr/>
          <p:nvPr/>
        </p:nvSpPr>
        <p:spPr>
          <a:xfrm>
            <a:off x="0" y="6286500"/>
            <a:ext cx="9144000" cy="571500"/>
          </a:xfrm>
          <a:prstGeom prst="rect">
            <a:avLst/>
          </a:prstGeom>
          <a:solidFill>
            <a:srgbClr val="000000"/>
          </a:solidFill>
          <a:ln w="12700">
            <a:solidFill>
              <a:srgbClr val="000000"/>
            </a:solidFill>
            <a:prstDash val="solid"/>
          </a:ln>
        </p:spPr>
      </p:sp>
      <p:sp>
        <p:nvSpPr>
          <p:cNvPr id="18" name="Text 16"/>
          <p:cNvSpPr/>
          <p:nvPr/>
        </p:nvSpPr>
        <p:spPr>
          <a:xfrm>
            <a:off x="1371600" y="6332220"/>
            <a:ext cx="6400800" cy="457200"/>
          </a:xfrm>
          <a:prstGeom prst="rect">
            <a:avLst/>
          </a:prstGeom>
          <a:noFill/>
          <a:ln/>
        </p:spPr>
        <p:txBody>
          <a:bodyPr wrap="square" lIns="0" tIns="0" rIns="0" bIns="0" rtlCol="0" anchor="ctr"/>
          <a:lstStyle/>
          <a:p>
            <a:pPr algn="ctr" indent="0" marL="0">
              <a:buNone/>
            </a:pPr>
            <a:r>
              <a:rPr lang="en-US" sz="650" b="1" dirty="0">
                <a:solidFill>
                  <a:srgbClr val="FFFFFF"/>
                </a:solidFill>
                <a:latin typeface="Arial" pitchFamily="34" charset="0"/>
                <a:ea typeface="Arial" pitchFamily="34" charset="-122"/>
                <a:cs typeface="Arial" pitchFamily="34" charset="-120"/>
              </a:rPr>
              <a:t>FOR INFORMATIONAL PURPOSES ONLY. NOT INVESTMENT ADVICE. PAST PERFORMANCE IS NOT INDICATIVE OF FUTURE RESULTS.</a:t>
            </a:r>
            <a:endParaRPr lang="en-US" sz="650" dirty="0"/>
          </a:p>
        </p:txBody>
      </p:sp>
      <p:sp>
        <p:nvSpPr>
          <p:cNvPr id="19" name="Text 17"/>
          <p:cNvSpPr/>
          <p:nvPr/>
        </p:nvSpPr>
        <p:spPr>
          <a:xfrm>
            <a:off x="8321040" y="6405372"/>
            <a:ext cx="548640" cy="274320"/>
          </a:xfrm>
          <a:prstGeom prst="rect">
            <a:avLst/>
          </a:prstGeom>
          <a:noFill/>
          <a:ln/>
        </p:spPr>
        <p:txBody>
          <a:bodyPr wrap="square" lIns="0" tIns="0" rIns="0" bIns="0" rtlCol="0" anchor="ctr"/>
          <a:lstStyle/>
          <a:p>
            <a:pPr algn="r" indent="0" marL="0">
              <a:buNone/>
            </a:pPr>
            <a:r>
              <a:rPr lang="en-US" sz="900" dirty="0">
                <a:solidFill>
                  <a:srgbClr val="FFFFFF"/>
                </a:solidFill>
                <a:latin typeface="Arial" pitchFamily="34" charset="0"/>
                <a:ea typeface="Arial" pitchFamily="34" charset="-122"/>
                <a:cs typeface="Arial" pitchFamily="34" charset="-120"/>
              </a:rPr>
              <a:t>24</a:t>
            </a:r>
            <a:endParaRPr lang="en-US" sz="9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182880"/>
            <a:ext cx="6583680" cy="685800"/>
          </a:xfrm>
          <a:prstGeom prst="rect">
            <a:avLst/>
          </a:prstGeom>
          <a:noFill/>
          <a:ln/>
        </p:spPr>
        <p:txBody>
          <a:bodyPr wrap="square" lIns="0" tIns="0" rIns="0" bIns="0" rtlCol="0" anchor="t"/>
          <a:lstStyle/>
          <a:p>
            <a:pPr indent="0" marL="0">
              <a:buNone/>
            </a:pPr>
            <a:r>
              <a:rPr lang="en-US" sz="2400" b="1" dirty="0">
                <a:solidFill>
                  <a:srgbClr val="000000"/>
                </a:solidFill>
                <a:latin typeface="Arial Black" pitchFamily="34" charset="0"/>
                <a:ea typeface="Arial Black" pitchFamily="34" charset="-122"/>
                <a:cs typeface="Arial Black" pitchFamily="34" charset="-120"/>
              </a:rPr>
              <a:t>Appendix — sources (2 of 2).</a:t>
            </a:r>
            <a:endParaRPr lang="en-US" sz="2400" dirty="0"/>
          </a:p>
        </p:txBody>
      </p:sp>
      <p:sp>
        <p:nvSpPr>
          <p:cNvPr id="3" name="Text 1"/>
          <p:cNvSpPr/>
          <p:nvPr/>
        </p:nvSpPr>
        <p:spPr>
          <a:xfrm>
            <a:off x="457200" y="914400"/>
            <a:ext cx="8229600" cy="457200"/>
          </a:xfrm>
          <a:prstGeom prst="rect">
            <a:avLst/>
          </a:prstGeom>
          <a:noFill/>
          <a:ln/>
        </p:spPr>
        <p:txBody>
          <a:bodyPr wrap="square" lIns="0" tIns="0" rIns="0" bIns="0" rtlCol="0" anchor="t"/>
          <a:lstStyle/>
          <a:p>
            <a:pPr indent="0" marL="0">
              <a:buNone/>
            </a:pPr>
            <a:r>
              <a:rPr lang="en-US" sz="1350" dirty="0">
                <a:solidFill>
                  <a:srgbClr val="666666"/>
                </a:solidFill>
                <a:latin typeface="Arial" pitchFamily="34" charset="0"/>
                <a:ea typeface="Arial" pitchFamily="34" charset="-122"/>
                <a:cs typeface="Arial" pitchFamily="34" charset="-120"/>
              </a:rPr>
              <a:t>Every figure, where to find it. RISKS · FRONTIER · TAKEAWAYS.</a:t>
            </a:r>
            <a:endParaRPr lang="en-US" sz="1350" dirty="0"/>
          </a:p>
        </p:txBody>
      </p:sp>
      <p:sp>
        <p:nvSpPr>
          <p:cNvPr id="4" name="Shape 2"/>
          <p:cNvSpPr/>
          <p:nvPr/>
        </p:nvSpPr>
        <p:spPr>
          <a:xfrm>
            <a:off x="457200" y="1325880"/>
            <a:ext cx="8229600" cy="0"/>
          </a:xfrm>
          <a:prstGeom prst="line">
            <a:avLst/>
          </a:prstGeom>
          <a:noFill/>
          <a:ln w="9525">
            <a:solidFill>
              <a:srgbClr val="E5E5E5"/>
            </a:solidFill>
            <a:prstDash val="solid"/>
          </a:ln>
        </p:spPr>
      </p:sp>
      <p:sp>
        <p:nvSpPr>
          <p:cNvPr id="5" name="Shape 3"/>
          <p:cNvSpPr/>
          <p:nvPr/>
        </p:nvSpPr>
        <p:spPr>
          <a:xfrm>
            <a:off x="457200" y="1417320"/>
            <a:ext cx="8229600" cy="320040"/>
          </a:xfrm>
          <a:prstGeom prst="rect">
            <a:avLst/>
          </a:prstGeom>
          <a:solidFill>
            <a:srgbClr val="F9F9F9"/>
          </a:solidFill>
          <a:ln w="6350">
            <a:solidFill>
              <a:srgbClr val="E5E5E5"/>
            </a:solidFill>
            <a:prstDash val="solid"/>
          </a:ln>
        </p:spPr>
      </p:sp>
      <p:sp>
        <p:nvSpPr>
          <p:cNvPr id="6" name="Text 4"/>
          <p:cNvSpPr/>
          <p:nvPr/>
        </p:nvSpPr>
        <p:spPr>
          <a:xfrm>
            <a:off x="640080" y="1417320"/>
            <a:ext cx="7863840" cy="320040"/>
          </a:xfrm>
          <a:prstGeom prst="rect">
            <a:avLst/>
          </a:prstGeom>
          <a:noFill/>
          <a:ln/>
        </p:spPr>
        <p:txBody>
          <a:bodyPr wrap="square" lIns="0" tIns="0" rIns="0" bIns="0" rtlCol="0" anchor="ctr"/>
          <a:lstStyle/>
          <a:p>
            <a:pPr indent="0" marL="0">
              <a:buNone/>
            </a:pPr>
            <a:r>
              <a:rPr lang="en-US" sz="850" dirty="0">
                <a:solidFill>
                  <a:srgbClr val="333333"/>
                </a:solidFill>
                <a:latin typeface="Arial" pitchFamily="34" charset="0"/>
                <a:ea typeface="Arial" pitchFamily="34" charset="-122"/>
                <a:cs typeface="Arial" pitchFamily="34" charset="-120"/>
              </a:rPr>
              <a:t>All figures retrieved Apr–May 2026 unless noted. Market caps &amp; consensus: companiesmarketcap.com · stockanalysis.com. YTD returns: Yahoo Finance (May 22, 2026).</a:t>
            </a:r>
            <a:endParaRPr lang="en-US" sz="850" dirty="0"/>
          </a:p>
        </p:txBody>
      </p:sp>
      <p:sp>
        <p:nvSpPr>
          <p:cNvPr id="7" name="Shape 5"/>
          <p:cNvSpPr/>
          <p:nvPr/>
        </p:nvSpPr>
        <p:spPr>
          <a:xfrm>
            <a:off x="457200" y="1874520"/>
            <a:ext cx="2624328" cy="201168"/>
          </a:xfrm>
          <a:prstGeom prst="rect">
            <a:avLst/>
          </a:prstGeom>
          <a:solidFill>
            <a:srgbClr val="CC0000"/>
          </a:solidFill>
          <a:ln w="12700">
            <a:solidFill>
              <a:srgbClr val="CC0000"/>
            </a:solidFill>
            <a:prstDash val="solid"/>
          </a:ln>
        </p:spPr>
      </p:sp>
      <p:sp>
        <p:nvSpPr>
          <p:cNvPr id="8" name="Text 6"/>
          <p:cNvSpPr/>
          <p:nvPr/>
        </p:nvSpPr>
        <p:spPr>
          <a:xfrm>
            <a:off x="457200" y="1874520"/>
            <a:ext cx="2624328" cy="201168"/>
          </a:xfrm>
          <a:prstGeom prst="rect">
            <a:avLst/>
          </a:prstGeom>
          <a:noFill/>
          <a:ln/>
        </p:spPr>
        <p:txBody>
          <a:bodyPr wrap="square" lIns="0" tIns="0" rIns="0" bIns="0" rtlCol="0" anchor="ctr"/>
          <a:lstStyle/>
          <a:p>
            <a:pPr algn="ctr" indent="0" marL="0">
              <a:buNone/>
            </a:pPr>
            <a:r>
              <a:rPr lang="en-US" sz="900" b="1" spc="200" kern="0" dirty="0">
                <a:solidFill>
                  <a:srgbClr val="FFFFFF"/>
                </a:solidFill>
                <a:latin typeface="Arial" pitchFamily="34" charset="0"/>
                <a:ea typeface="Arial" pitchFamily="34" charset="-122"/>
                <a:cs typeface="Arial" pitchFamily="34" charset="-120"/>
              </a:rPr>
              <a:t>RISKS  ·  15–18</a:t>
            </a:r>
            <a:endParaRPr lang="en-US" sz="900" dirty="0"/>
          </a:p>
        </p:txBody>
      </p:sp>
      <p:sp>
        <p:nvSpPr>
          <p:cNvPr id="9" name="Text 7"/>
          <p:cNvSpPr/>
          <p:nvPr/>
        </p:nvSpPr>
        <p:spPr>
          <a:xfrm>
            <a:off x="502920" y="2148840"/>
            <a:ext cx="2532888" cy="3566160"/>
          </a:xfrm>
          <a:prstGeom prst="rect">
            <a:avLst/>
          </a:prstGeom>
          <a:noFill/>
          <a:ln/>
        </p:spPr>
        <p:txBody>
          <a:bodyPr wrap="square" lIns="0" tIns="0" rIns="0" bIns="0" rtlCol="0" anchor="t"/>
          <a:lstStyle/>
          <a:p>
            <a:pPr indent="0" marL="0">
              <a:spcAft>
                <a:spcPts val="200"/>
              </a:spcAft>
              <a:buNone/>
            </a:pPr>
            <a:r>
              <a:rPr lang="en-US" sz="850" b="1" dirty="0">
                <a:solidFill>
                  <a:srgbClr val="000000"/>
                </a:solidFill>
                <a:latin typeface="Arial" pitchFamily="34" charset="0"/>
                <a:ea typeface="Arial" pitchFamily="34" charset="-122"/>
                <a:cs typeface="Arial" pitchFamily="34" charset="-120"/>
              </a:rPr>
              <a:t>Slide 15  ·  </a:t>
            </a:r>
            <a:pPr indent="0" marL="0">
              <a:spcAft>
                <a:spcPts val="200"/>
              </a:spcAft>
              <a:buNone/>
            </a:pPr>
            <a:r>
              <a:rPr lang="en-US" sz="850" dirty="0">
                <a:solidFill>
                  <a:srgbClr val="000000"/>
                </a:solidFill>
                <a:latin typeface="Arial" pitchFamily="34" charset="0"/>
                <a:ea typeface="Arial" pitchFamily="34" charset="-122"/>
                <a:cs typeface="Arial" pitchFamily="34" charset="-120"/>
              </a:rPr>
              <a:t>Cisco 131× vs NVDA ~24× fwd P/E</a:t>
            </a:r>
            <a:pPr indent="0" marL="0">
              <a:spcAft>
                <a:spcPts val="200"/>
              </a:spcAft>
              <a:buNone/>
            </a:pPr>
            <a:r>
              <a:rPr lang="en-US" sz="850" dirty="0">
                <a:solidFill>
                  <a:srgbClr val="666666"/>
                </a:solidFill>
                <a:latin typeface="Arial" pitchFamily="34" charset="0"/>
                <a:ea typeface="Arial" pitchFamily="34" charset="-122"/>
                <a:cs typeface="Arial" pitchFamily="34" charset="-120"/>
              </a:rPr>
              <a:t>  —  </a:t>
            </a:r>
            <a:pPr indent="0" marL="0">
              <a:spcAft>
                <a:spcPts val="200"/>
              </a:spcAft>
              <a:buNone/>
            </a:pPr>
            <a:r>
              <a:rPr lang="en-US" sz="850" i="1" dirty="0">
                <a:solidFill>
                  <a:srgbClr val="666666"/>
                </a:solidFill>
                <a:latin typeface="Arial" pitchFamily="34" charset="0"/>
                <a:ea typeface="Arial" pitchFamily="34" charset="-122"/>
                <a:cs typeface="Arial" pitchFamily="34" charset="-120"/>
              </a:rPr>
              <a:t>Harding Loevner; GuruFocus</a:t>
            </a:r>
            <a:endParaRPr lang="en-US" sz="850" dirty="0"/>
          </a:p>
          <a:p>
            <a:pPr indent="0" marL="0">
              <a:spcAft>
                <a:spcPts val="200"/>
              </a:spcAft>
              <a:buNone/>
            </a:pPr>
            <a:r>
              <a:rPr lang="en-US" sz="850" b="1" dirty="0">
                <a:solidFill>
                  <a:srgbClr val="000000"/>
                </a:solidFill>
                <a:latin typeface="Arial" pitchFamily="34" charset="0"/>
                <a:ea typeface="Arial" pitchFamily="34" charset="-122"/>
                <a:cs typeface="Arial" pitchFamily="34" charset="-120"/>
              </a:rPr>
              <a:t>Slide 15  ·  </a:t>
            </a:r>
            <a:pPr indent="0" marL="0">
              <a:spcAft>
                <a:spcPts val="200"/>
              </a:spcAft>
              <a:buNone/>
            </a:pPr>
            <a:r>
              <a:rPr lang="en-US" sz="850" dirty="0">
                <a:solidFill>
                  <a:srgbClr val="000000"/>
                </a:solidFill>
                <a:latin typeface="Arial" pitchFamily="34" charset="0"/>
                <a:ea typeface="Arial" pitchFamily="34" charset="-122"/>
                <a:cs typeface="Arial" pitchFamily="34" charset="-120"/>
              </a:rPr>
              <a:t>14% of 2000 tech IPOs profitable</a:t>
            </a:r>
            <a:pPr indent="0" marL="0">
              <a:spcAft>
                <a:spcPts val="200"/>
              </a:spcAft>
              <a:buNone/>
            </a:pPr>
            <a:r>
              <a:rPr lang="en-US" sz="850" dirty="0">
                <a:solidFill>
                  <a:srgbClr val="666666"/>
                </a:solidFill>
                <a:latin typeface="Arial" pitchFamily="34" charset="0"/>
                <a:ea typeface="Arial" pitchFamily="34" charset="-122"/>
                <a:cs typeface="Arial" pitchFamily="34" charset="-120"/>
              </a:rPr>
              <a:t>  —  </a:t>
            </a:r>
            <a:pPr indent="0" marL="0">
              <a:spcAft>
                <a:spcPts val="200"/>
              </a:spcAft>
              <a:buNone/>
            </a:pPr>
            <a:r>
              <a:rPr lang="en-US" sz="850" i="1" dirty="0">
                <a:solidFill>
                  <a:srgbClr val="666666"/>
                </a:solidFill>
                <a:latin typeface="Arial" pitchFamily="34" charset="0"/>
                <a:ea typeface="Arial" pitchFamily="34" charset="-122"/>
                <a:cs typeface="Arial" pitchFamily="34" charset="-120"/>
              </a:rPr>
              <a:t>J. Ritter, Univ. Florida</a:t>
            </a:r>
            <a:endParaRPr lang="en-US" sz="850" dirty="0"/>
          </a:p>
          <a:p>
            <a:pPr indent="0" marL="0">
              <a:spcAft>
                <a:spcPts val="200"/>
              </a:spcAft>
              <a:buNone/>
            </a:pPr>
            <a:r>
              <a:rPr lang="en-US" sz="850" b="1" dirty="0">
                <a:solidFill>
                  <a:srgbClr val="000000"/>
                </a:solidFill>
                <a:latin typeface="Arial" pitchFamily="34" charset="0"/>
                <a:ea typeface="Arial" pitchFamily="34" charset="-122"/>
                <a:cs typeface="Arial" pitchFamily="34" charset="-120"/>
              </a:rPr>
              <a:t>Slide 15  ·  </a:t>
            </a:r>
            <a:pPr indent="0" marL="0">
              <a:spcAft>
                <a:spcPts val="200"/>
              </a:spcAft>
              <a:buNone/>
            </a:pPr>
            <a:r>
              <a:rPr lang="en-US" sz="850" dirty="0">
                <a:solidFill>
                  <a:srgbClr val="000000"/>
                </a:solidFill>
                <a:latin typeface="Arial" pitchFamily="34" charset="0"/>
                <a:ea typeface="Arial" pitchFamily="34" charset="-122"/>
                <a:cs typeface="Arial" pitchFamily="34" charset="-120"/>
              </a:rPr>
              <a:t>GPU 2nd market 90–95% of list</a:t>
            </a:r>
            <a:pPr indent="0" marL="0">
              <a:spcAft>
                <a:spcPts val="200"/>
              </a:spcAft>
              <a:buNone/>
            </a:pPr>
            <a:r>
              <a:rPr lang="en-US" sz="850" dirty="0">
                <a:solidFill>
                  <a:srgbClr val="666666"/>
                </a:solidFill>
                <a:latin typeface="Arial" pitchFamily="34" charset="0"/>
                <a:ea typeface="Arial" pitchFamily="34" charset="-122"/>
                <a:cs typeface="Arial" pitchFamily="34" charset="-120"/>
              </a:rPr>
              <a:t>  —  </a:t>
            </a:r>
            <a:pPr indent="0" marL="0">
              <a:spcAft>
                <a:spcPts val="200"/>
              </a:spcAft>
              <a:buNone/>
            </a:pPr>
            <a:r>
              <a:rPr lang="en-US" sz="850" i="1" dirty="0">
                <a:solidFill>
                  <a:srgbClr val="666666"/>
                </a:solidFill>
                <a:latin typeface="Arial" pitchFamily="34" charset="0"/>
                <a:ea typeface="Arial" pitchFamily="34" charset="-122"/>
                <a:cs typeface="Arial" pitchFamily="34" charset="-120"/>
              </a:rPr>
              <a:t>CoreWeave pricing</a:t>
            </a:r>
            <a:endParaRPr lang="en-US" sz="850" dirty="0"/>
          </a:p>
          <a:p>
            <a:pPr indent="0" marL="0">
              <a:spcAft>
                <a:spcPts val="200"/>
              </a:spcAft>
              <a:buNone/>
            </a:pPr>
            <a:r>
              <a:rPr lang="en-US" sz="850" b="1" dirty="0">
                <a:solidFill>
                  <a:srgbClr val="000000"/>
                </a:solidFill>
                <a:latin typeface="Arial" pitchFamily="34" charset="0"/>
                <a:ea typeface="Arial" pitchFamily="34" charset="-122"/>
                <a:cs typeface="Arial" pitchFamily="34" charset="-120"/>
              </a:rPr>
              <a:t>Slide 15  ·  </a:t>
            </a:r>
            <a:pPr indent="0" marL="0">
              <a:spcAft>
                <a:spcPts val="200"/>
              </a:spcAft>
              <a:buNone/>
            </a:pPr>
            <a:r>
              <a:rPr lang="en-US" sz="850" dirty="0">
                <a:solidFill>
                  <a:srgbClr val="000000"/>
                </a:solidFill>
                <a:latin typeface="Arial" pitchFamily="34" charset="0"/>
                <a:ea typeface="Arial" pitchFamily="34" charset="-122"/>
                <a:cs typeface="Arial" pitchFamily="34" charset="-120"/>
              </a:rPr>
              <a:t>Hyperscaler net debt/EBITDA ~48%</a:t>
            </a:r>
            <a:pPr indent="0" marL="0">
              <a:spcAft>
                <a:spcPts val="200"/>
              </a:spcAft>
              <a:buNone/>
            </a:pPr>
            <a:r>
              <a:rPr lang="en-US" sz="850" dirty="0">
                <a:solidFill>
                  <a:srgbClr val="666666"/>
                </a:solidFill>
                <a:latin typeface="Arial" pitchFamily="34" charset="0"/>
                <a:ea typeface="Arial" pitchFamily="34" charset="-122"/>
                <a:cs typeface="Arial" pitchFamily="34" charset="-120"/>
              </a:rPr>
              <a:t>  —  </a:t>
            </a:r>
            <a:pPr indent="0" marL="0">
              <a:spcAft>
                <a:spcPts val="200"/>
              </a:spcAft>
              <a:buNone/>
            </a:pPr>
            <a:r>
              <a:rPr lang="en-US" sz="850" i="1" dirty="0">
                <a:solidFill>
                  <a:srgbClr val="666666"/>
                </a:solidFill>
                <a:latin typeface="Arial" pitchFamily="34" charset="0"/>
                <a:ea typeface="Arial" pitchFamily="34" charset="-122"/>
                <a:cs typeface="Arial" pitchFamily="34" charset="-120"/>
              </a:rPr>
              <a:t>Bloomberg</a:t>
            </a:r>
            <a:endParaRPr lang="en-US" sz="850" dirty="0"/>
          </a:p>
          <a:p>
            <a:pPr indent="0" marL="0">
              <a:spcAft>
                <a:spcPts val="200"/>
              </a:spcAft>
              <a:buNone/>
            </a:pPr>
            <a:r>
              <a:rPr lang="en-US" sz="850" b="1" dirty="0">
                <a:solidFill>
                  <a:srgbClr val="000000"/>
                </a:solidFill>
                <a:latin typeface="Arial" pitchFamily="34" charset="0"/>
                <a:ea typeface="Arial" pitchFamily="34" charset="-122"/>
                <a:cs typeface="Arial" pitchFamily="34" charset="-120"/>
              </a:rPr>
              <a:t>Slide 16  ·  </a:t>
            </a:r>
            <a:pPr indent="0" marL="0">
              <a:spcAft>
                <a:spcPts val="200"/>
              </a:spcAft>
              <a:buNone/>
            </a:pPr>
            <a:r>
              <a:rPr lang="en-US" sz="850" dirty="0">
                <a:solidFill>
                  <a:srgbClr val="000000"/>
                </a:solidFill>
                <a:latin typeface="Arial" pitchFamily="34" charset="0"/>
                <a:ea typeface="Arial" pitchFamily="34" charset="-122"/>
                <a:cs typeface="Arial" pitchFamily="34" charset="-120"/>
              </a:rPr>
              <a:t>TSMC ~90% advanced-node share</a:t>
            </a:r>
            <a:pPr indent="0" marL="0">
              <a:spcAft>
                <a:spcPts val="200"/>
              </a:spcAft>
              <a:buNone/>
            </a:pPr>
            <a:r>
              <a:rPr lang="en-US" sz="850" dirty="0">
                <a:solidFill>
                  <a:srgbClr val="666666"/>
                </a:solidFill>
                <a:latin typeface="Arial" pitchFamily="34" charset="0"/>
                <a:ea typeface="Arial" pitchFamily="34" charset="-122"/>
                <a:cs typeface="Arial" pitchFamily="34" charset="-120"/>
              </a:rPr>
              <a:t>  —  </a:t>
            </a:r>
            <a:pPr indent="0" marL="0">
              <a:spcAft>
                <a:spcPts val="200"/>
              </a:spcAft>
              <a:buNone/>
            </a:pPr>
            <a:r>
              <a:rPr lang="en-US" sz="850" i="1" dirty="0">
                <a:solidFill>
                  <a:srgbClr val="666666"/>
                </a:solidFill>
                <a:latin typeface="Arial" pitchFamily="34" charset="0"/>
                <a:ea typeface="Arial" pitchFamily="34" charset="-122"/>
                <a:cs typeface="Arial" pitchFamily="34" charset="-120"/>
              </a:rPr>
              <a:t>TSMC; SIA</a:t>
            </a:r>
            <a:endParaRPr lang="en-US" sz="850" dirty="0"/>
          </a:p>
          <a:p>
            <a:pPr indent="0" marL="0">
              <a:spcAft>
                <a:spcPts val="200"/>
              </a:spcAft>
              <a:buNone/>
            </a:pPr>
            <a:r>
              <a:rPr lang="en-US" sz="850" b="1" dirty="0">
                <a:solidFill>
                  <a:srgbClr val="000000"/>
                </a:solidFill>
                <a:latin typeface="Arial" pitchFamily="34" charset="0"/>
                <a:ea typeface="Arial" pitchFamily="34" charset="-122"/>
                <a:cs typeface="Arial" pitchFamily="34" charset="-120"/>
              </a:rPr>
              <a:t>Slide 16  ·  </a:t>
            </a:r>
            <a:pPr indent="0" marL="0">
              <a:spcAft>
                <a:spcPts val="200"/>
              </a:spcAft>
              <a:buNone/>
            </a:pPr>
            <a:r>
              <a:rPr lang="en-US" sz="850" dirty="0">
                <a:solidFill>
                  <a:srgbClr val="000000"/>
                </a:solidFill>
                <a:latin typeface="Arial" pitchFamily="34" charset="0"/>
                <a:ea typeface="Arial" pitchFamily="34" charset="-122"/>
                <a:cs typeface="Arial" pitchFamily="34" charset="-120"/>
              </a:rPr>
              <a:t>SK Hynix + Samsung ~76% DRAM</a:t>
            </a:r>
            <a:pPr indent="0" marL="0">
              <a:spcAft>
                <a:spcPts val="200"/>
              </a:spcAft>
              <a:buNone/>
            </a:pPr>
            <a:r>
              <a:rPr lang="en-US" sz="850" dirty="0">
                <a:solidFill>
                  <a:srgbClr val="666666"/>
                </a:solidFill>
                <a:latin typeface="Arial" pitchFamily="34" charset="0"/>
                <a:ea typeface="Arial" pitchFamily="34" charset="-122"/>
                <a:cs typeface="Arial" pitchFamily="34" charset="-120"/>
              </a:rPr>
              <a:t>  —  </a:t>
            </a:r>
            <a:pPr indent="0" marL="0">
              <a:spcAft>
                <a:spcPts val="200"/>
              </a:spcAft>
              <a:buNone/>
            </a:pPr>
            <a:r>
              <a:rPr lang="en-US" sz="850" i="1" dirty="0">
                <a:solidFill>
                  <a:srgbClr val="666666"/>
                </a:solidFill>
                <a:latin typeface="Arial" pitchFamily="34" charset="0"/>
                <a:ea typeface="Arial" pitchFamily="34" charset="-122"/>
                <a:cs typeface="Arial" pitchFamily="34" charset="-120"/>
              </a:rPr>
              <a:t>TrendForce; SIA</a:t>
            </a:r>
            <a:endParaRPr lang="en-US" sz="850" dirty="0"/>
          </a:p>
          <a:p>
            <a:pPr indent="0" marL="0">
              <a:spcAft>
                <a:spcPts val="200"/>
              </a:spcAft>
              <a:buNone/>
            </a:pPr>
            <a:r>
              <a:rPr lang="en-US" sz="850" b="1" dirty="0">
                <a:solidFill>
                  <a:srgbClr val="000000"/>
                </a:solidFill>
                <a:latin typeface="Arial" pitchFamily="34" charset="0"/>
                <a:ea typeface="Arial" pitchFamily="34" charset="-122"/>
                <a:cs typeface="Arial" pitchFamily="34" charset="-120"/>
              </a:rPr>
              <a:t>Slide 16  ·  </a:t>
            </a:r>
            <a:pPr indent="0" marL="0">
              <a:spcAft>
                <a:spcPts val="200"/>
              </a:spcAft>
              <a:buNone/>
            </a:pPr>
            <a:r>
              <a:rPr lang="en-US" sz="850" dirty="0">
                <a:solidFill>
                  <a:srgbClr val="000000"/>
                </a:solidFill>
                <a:latin typeface="Arial" pitchFamily="34" charset="0"/>
                <a:ea typeface="Arial" pitchFamily="34" charset="-122"/>
                <a:cs typeface="Arial" pitchFamily="34" charset="-120"/>
              </a:rPr>
              <a:t>ASML &lt;100 EUV/yr; reshoring</a:t>
            </a:r>
            <a:pPr indent="0" marL="0">
              <a:spcAft>
                <a:spcPts val="200"/>
              </a:spcAft>
              <a:buNone/>
            </a:pPr>
            <a:r>
              <a:rPr lang="en-US" sz="850" dirty="0">
                <a:solidFill>
                  <a:srgbClr val="666666"/>
                </a:solidFill>
                <a:latin typeface="Arial" pitchFamily="34" charset="0"/>
                <a:ea typeface="Arial" pitchFamily="34" charset="-122"/>
                <a:cs typeface="Arial" pitchFamily="34" charset="-120"/>
              </a:rPr>
              <a:t>  —  </a:t>
            </a:r>
            <a:pPr indent="0" marL="0">
              <a:spcAft>
                <a:spcPts val="200"/>
              </a:spcAft>
              <a:buNone/>
            </a:pPr>
            <a:r>
              <a:rPr lang="en-US" sz="850" i="1" dirty="0">
                <a:solidFill>
                  <a:srgbClr val="666666"/>
                </a:solidFill>
                <a:latin typeface="Arial" pitchFamily="34" charset="0"/>
                <a:ea typeface="Arial" pitchFamily="34" charset="-122"/>
                <a:cs typeface="Arial" pitchFamily="34" charset="-120"/>
              </a:rPr>
              <a:t>ASML; TSMC, Samsung, Intel</a:t>
            </a:r>
            <a:endParaRPr lang="en-US" sz="850" dirty="0"/>
          </a:p>
          <a:p>
            <a:pPr indent="0" marL="0">
              <a:spcAft>
                <a:spcPts val="200"/>
              </a:spcAft>
              <a:buNone/>
            </a:pPr>
            <a:r>
              <a:rPr lang="en-US" sz="850" b="1" dirty="0">
                <a:solidFill>
                  <a:srgbClr val="000000"/>
                </a:solidFill>
                <a:latin typeface="Arial" pitchFamily="34" charset="0"/>
                <a:ea typeface="Arial" pitchFamily="34" charset="-122"/>
                <a:cs typeface="Arial" pitchFamily="34" charset="-120"/>
              </a:rPr>
              <a:t>Slide 16  ·  </a:t>
            </a:r>
            <a:pPr indent="0" marL="0">
              <a:spcAft>
                <a:spcPts val="200"/>
              </a:spcAft>
              <a:buNone/>
            </a:pPr>
            <a:r>
              <a:rPr lang="en-US" sz="850" dirty="0">
                <a:solidFill>
                  <a:srgbClr val="000000"/>
                </a:solidFill>
                <a:latin typeface="Arial" pitchFamily="34" charset="0"/>
                <a:ea typeface="Arial" pitchFamily="34" charset="-122"/>
                <a:cs typeface="Arial" pitchFamily="34" charset="-120"/>
              </a:rPr>
              <a:t>CHIPS $36B of $52.7B committed</a:t>
            </a:r>
            <a:pPr indent="0" marL="0">
              <a:spcAft>
                <a:spcPts val="200"/>
              </a:spcAft>
              <a:buNone/>
            </a:pPr>
            <a:r>
              <a:rPr lang="en-US" sz="850" dirty="0">
                <a:solidFill>
                  <a:srgbClr val="666666"/>
                </a:solidFill>
                <a:latin typeface="Arial" pitchFamily="34" charset="0"/>
                <a:ea typeface="Arial" pitchFamily="34" charset="-122"/>
                <a:cs typeface="Arial" pitchFamily="34" charset="-120"/>
              </a:rPr>
              <a:t>  —  </a:t>
            </a:r>
            <a:pPr indent="0" marL="0">
              <a:spcAft>
                <a:spcPts val="200"/>
              </a:spcAft>
              <a:buNone/>
            </a:pPr>
            <a:r>
              <a:rPr lang="en-US" sz="850" i="1" dirty="0">
                <a:solidFill>
                  <a:srgbClr val="666666"/>
                </a:solidFill>
                <a:latin typeface="Arial" pitchFamily="34" charset="0"/>
                <a:ea typeface="Arial" pitchFamily="34" charset="-122"/>
                <a:cs typeface="Arial" pitchFamily="34" charset="-120"/>
              </a:rPr>
              <a:t>US Commerce Dept</a:t>
            </a:r>
            <a:endParaRPr lang="en-US" sz="850" dirty="0"/>
          </a:p>
          <a:p>
            <a:pPr indent="0" marL="0">
              <a:spcAft>
                <a:spcPts val="200"/>
              </a:spcAft>
              <a:buNone/>
            </a:pPr>
            <a:r>
              <a:rPr lang="en-US" sz="850" b="1" dirty="0">
                <a:solidFill>
                  <a:srgbClr val="000000"/>
                </a:solidFill>
                <a:latin typeface="Arial" pitchFamily="34" charset="0"/>
                <a:ea typeface="Arial" pitchFamily="34" charset="-122"/>
                <a:cs typeface="Arial" pitchFamily="34" charset="-120"/>
              </a:rPr>
              <a:t>Slide 17  ·  </a:t>
            </a:r>
            <a:pPr indent="0" marL="0">
              <a:spcAft>
                <a:spcPts val="200"/>
              </a:spcAft>
              <a:buNone/>
            </a:pPr>
            <a:r>
              <a:rPr lang="en-US" sz="850" dirty="0">
                <a:solidFill>
                  <a:srgbClr val="000000"/>
                </a:solidFill>
                <a:latin typeface="Arial" pitchFamily="34" charset="0"/>
                <a:ea typeface="Arial" pitchFamily="34" charset="-122"/>
                <a:cs typeface="Arial" pitchFamily="34" charset="-120"/>
              </a:rPr>
              <a:t>H100/H200/Blackwell China ban</a:t>
            </a:r>
            <a:pPr indent="0" marL="0">
              <a:spcAft>
                <a:spcPts val="200"/>
              </a:spcAft>
              <a:buNone/>
            </a:pPr>
            <a:r>
              <a:rPr lang="en-US" sz="850" dirty="0">
                <a:solidFill>
                  <a:srgbClr val="666666"/>
                </a:solidFill>
                <a:latin typeface="Arial" pitchFamily="34" charset="0"/>
                <a:ea typeface="Arial" pitchFamily="34" charset="-122"/>
                <a:cs typeface="Arial" pitchFamily="34" charset="-120"/>
              </a:rPr>
              <a:t>  —  </a:t>
            </a:r>
            <a:pPr indent="0" marL="0">
              <a:spcAft>
                <a:spcPts val="200"/>
              </a:spcAft>
              <a:buNone/>
            </a:pPr>
            <a:r>
              <a:rPr lang="en-US" sz="850" i="1" dirty="0">
                <a:solidFill>
                  <a:srgbClr val="666666"/>
                </a:solidFill>
                <a:latin typeface="Arial" pitchFamily="34" charset="0"/>
                <a:ea typeface="Arial" pitchFamily="34" charset="-122"/>
                <a:cs typeface="Arial" pitchFamily="34" charset="-120"/>
              </a:rPr>
              <a:t>US BIS</a:t>
            </a:r>
            <a:endParaRPr lang="en-US" sz="850" dirty="0"/>
          </a:p>
          <a:p>
            <a:pPr indent="0" marL="0">
              <a:spcAft>
                <a:spcPts val="200"/>
              </a:spcAft>
              <a:buNone/>
            </a:pPr>
            <a:r>
              <a:rPr lang="en-US" sz="850" b="1" dirty="0">
                <a:solidFill>
                  <a:srgbClr val="000000"/>
                </a:solidFill>
                <a:latin typeface="Arial" pitchFamily="34" charset="0"/>
                <a:ea typeface="Arial" pitchFamily="34" charset="-122"/>
                <a:cs typeface="Arial" pitchFamily="34" charset="-120"/>
              </a:rPr>
              <a:t>Slide 17  ·  </a:t>
            </a:r>
            <a:pPr indent="0" marL="0">
              <a:spcAft>
                <a:spcPts val="200"/>
              </a:spcAft>
              <a:buNone/>
            </a:pPr>
            <a:r>
              <a:rPr lang="en-US" sz="850" dirty="0">
                <a:solidFill>
                  <a:srgbClr val="000000"/>
                </a:solidFill>
                <a:latin typeface="Arial" pitchFamily="34" charset="0"/>
                <a:ea typeface="Arial" pitchFamily="34" charset="-122"/>
                <a:cs typeface="Arial" pitchFamily="34" charset="-120"/>
              </a:rPr>
              <a:t>NVIDIA $5.5B H20 writedown</a:t>
            </a:r>
            <a:pPr indent="0" marL="0">
              <a:spcAft>
                <a:spcPts val="200"/>
              </a:spcAft>
              <a:buNone/>
            </a:pPr>
            <a:r>
              <a:rPr lang="en-US" sz="850" dirty="0">
                <a:solidFill>
                  <a:srgbClr val="666666"/>
                </a:solidFill>
                <a:latin typeface="Arial" pitchFamily="34" charset="0"/>
                <a:ea typeface="Arial" pitchFamily="34" charset="-122"/>
                <a:cs typeface="Arial" pitchFamily="34" charset="-120"/>
              </a:rPr>
              <a:t>  —  </a:t>
            </a:r>
            <a:pPr indent="0" marL="0">
              <a:spcAft>
                <a:spcPts val="200"/>
              </a:spcAft>
              <a:buNone/>
            </a:pPr>
            <a:r>
              <a:rPr lang="en-US" sz="850" i="1" dirty="0">
                <a:solidFill>
                  <a:srgbClr val="666666"/>
                </a:solidFill>
                <a:latin typeface="Arial" pitchFamily="34" charset="0"/>
                <a:ea typeface="Arial" pitchFamily="34" charset="-122"/>
                <a:cs typeface="Arial" pitchFamily="34" charset="-120"/>
              </a:rPr>
              <a:t>NVIDIA 10-Q</a:t>
            </a:r>
            <a:endParaRPr lang="en-US" sz="850" dirty="0"/>
          </a:p>
          <a:p>
            <a:pPr indent="0" marL="0">
              <a:spcAft>
                <a:spcPts val="200"/>
              </a:spcAft>
              <a:buNone/>
            </a:pPr>
            <a:r>
              <a:rPr lang="en-US" sz="850" b="1" dirty="0">
                <a:solidFill>
                  <a:srgbClr val="000000"/>
                </a:solidFill>
                <a:latin typeface="Arial" pitchFamily="34" charset="0"/>
                <a:ea typeface="Arial" pitchFamily="34" charset="-122"/>
                <a:cs typeface="Arial" pitchFamily="34" charset="-120"/>
              </a:rPr>
              <a:t>Slide 17  ·  </a:t>
            </a:r>
            <a:pPr indent="0" marL="0">
              <a:spcAft>
                <a:spcPts val="200"/>
              </a:spcAft>
              <a:buNone/>
            </a:pPr>
            <a:r>
              <a:rPr lang="en-US" sz="850" dirty="0">
                <a:solidFill>
                  <a:srgbClr val="000000"/>
                </a:solidFill>
                <a:latin typeface="Arial" pitchFamily="34" charset="0"/>
                <a:ea typeface="Arial" pitchFamily="34" charset="-122"/>
                <a:cs typeface="Arial" pitchFamily="34" charset="-120"/>
              </a:rPr>
              <a:t>EU AI Act enforcement Aug 2026</a:t>
            </a:r>
            <a:pPr indent="0" marL="0">
              <a:spcAft>
                <a:spcPts val="200"/>
              </a:spcAft>
              <a:buNone/>
            </a:pPr>
            <a:r>
              <a:rPr lang="en-US" sz="850" dirty="0">
                <a:solidFill>
                  <a:srgbClr val="666666"/>
                </a:solidFill>
                <a:latin typeface="Arial" pitchFamily="34" charset="0"/>
                <a:ea typeface="Arial" pitchFamily="34" charset="-122"/>
                <a:cs typeface="Arial" pitchFamily="34" charset="-120"/>
              </a:rPr>
              <a:t>  —  </a:t>
            </a:r>
            <a:pPr indent="0" marL="0">
              <a:spcAft>
                <a:spcPts val="200"/>
              </a:spcAft>
              <a:buNone/>
            </a:pPr>
            <a:r>
              <a:rPr lang="en-US" sz="850" i="1" dirty="0">
                <a:solidFill>
                  <a:srgbClr val="666666"/>
                </a:solidFill>
                <a:latin typeface="Arial" pitchFamily="34" charset="0"/>
                <a:ea typeface="Arial" pitchFamily="34" charset="-122"/>
                <a:cs typeface="Arial" pitchFamily="34" charset="-120"/>
              </a:rPr>
              <a:t>EU AI Act Ch. V</a:t>
            </a:r>
            <a:endParaRPr lang="en-US" sz="850" dirty="0"/>
          </a:p>
          <a:p>
            <a:pPr indent="0" marL="0">
              <a:spcAft>
                <a:spcPts val="200"/>
              </a:spcAft>
              <a:buNone/>
            </a:pPr>
            <a:r>
              <a:rPr lang="en-US" sz="850" b="1" dirty="0">
                <a:solidFill>
                  <a:srgbClr val="000000"/>
                </a:solidFill>
                <a:latin typeface="Arial" pitchFamily="34" charset="0"/>
                <a:ea typeface="Arial" pitchFamily="34" charset="-122"/>
                <a:cs typeface="Arial" pitchFamily="34" charset="-120"/>
              </a:rPr>
              <a:t>Slide 17  ·  </a:t>
            </a:r>
            <a:pPr indent="0" marL="0">
              <a:spcAft>
                <a:spcPts val="200"/>
              </a:spcAft>
              <a:buNone/>
            </a:pPr>
            <a:r>
              <a:rPr lang="en-US" sz="850" dirty="0">
                <a:solidFill>
                  <a:srgbClr val="000000"/>
                </a:solidFill>
                <a:latin typeface="Arial" pitchFamily="34" charset="0"/>
                <a:ea typeface="Arial" pitchFamily="34" charset="-122"/>
                <a:cs typeface="Arial" pitchFamily="34" charset="-120"/>
              </a:rPr>
              <a:t>SMIC 5nm yield ~20%</a:t>
            </a:r>
            <a:pPr indent="0" marL="0">
              <a:spcAft>
                <a:spcPts val="200"/>
              </a:spcAft>
              <a:buNone/>
            </a:pPr>
            <a:r>
              <a:rPr lang="en-US" sz="850" dirty="0">
                <a:solidFill>
                  <a:srgbClr val="666666"/>
                </a:solidFill>
                <a:latin typeface="Arial" pitchFamily="34" charset="0"/>
                <a:ea typeface="Arial" pitchFamily="34" charset="-122"/>
                <a:cs typeface="Arial" pitchFamily="34" charset="-120"/>
              </a:rPr>
              <a:t>  —  </a:t>
            </a:r>
            <a:pPr indent="0" marL="0">
              <a:spcAft>
                <a:spcPts val="200"/>
              </a:spcAft>
              <a:buNone/>
            </a:pPr>
            <a:r>
              <a:rPr lang="en-US" sz="850" i="1" dirty="0">
                <a:solidFill>
                  <a:srgbClr val="666666"/>
                </a:solidFill>
                <a:latin typeface="Arial" pitchFamily="34" charset="0"/>
                <a:ea typeface="Arial" pitchFamily="34" charset="-122"/>
                <a:cs typeface="Arial" pitchFamily="34" charset="-120"/>
              </a:rPr>
              <a:t>industry reports</a:t>
            </a:r>
            <a:endParaRPr lang="en-US" sz="850" dirty="0"/>
          </a:p>
          <a:p>
            <a:pPr indent="0" marL="0">
              <a:spcAft>
                <a:spcPts val="200"/>
              </a:spcAft>
              <a:buNone/>
            </a:pPr>
            <a:r>
              <a:rPr lang="en-US" sz="850" b="1" dirty="0">
                <a:solidFill>
                  <a:srgbClr val="000000"/>
                </a:solidFill>
                <a:latin typeface="Arial" pitchFamily="34" charset="0"/>
                <a:ea typeface="Arial" pitchFamily="34" charset="-122"/>
                <a:cs typeface="Arial" pitchFamily="34" charset="-120"/>
              </a:rPr>
              <a:t>Slide 18  ·  </a:t>
            </a:r>
            <a:pPr indent="0" marL="0">
              <a:spcAft>
                <a:spcPts val="200"/>
              </a:spcAft>
              <a:buNone/>
            </a:pPr>
            <a:r>
              <a:rPr lang="en-US" sz="850" dirty="0">
                <a:solidFill>
                  <a:srgbClr val="000000"/>
                </a:solidFill>
                <a:latin typeface="Arial" pitchFamily="34" charset="0"/>
                <a:ea typeface="Arial" pitchFamily="34" charset="-122"/>
                <a:cs typeface="Arial" pitchFamily="34" charset="-120"/>
              </a:rPr>
              <a:t>Sentiment 37%→50% concerned</a:t>
            </a:r>
            <a:pPr indent="0" marL="0">
              <a:spcAft>
                <a:spcPts val="200"/>
              </a:spcAft>
              <a:buNone/>
            </a:pPr>
            <a:r>
              <a:rPr lang="en-US" sz="850" dirty="0">
                <a:solidFill>
                  <a:srgbClr val="666666"/>
                </a:solidFill>
                <a:latin typeface="Arial" pitchFamily="34" charset="0"/>
                <a:ea typeface="Arial" pitchFamily="34" charset="-122"/>
                <a:cs typeface="Arial" pitchFamily="34" charset="-120"/>
              </a:rPr>
              <a:t>  —  </a:t>
            </a:r>
            <a:pPr indent="0" marL="0">
              <a:spcAft>
                <a:spcPts val="200"/>
              </a:spcAft>
              <a:buNone/>
            </a:pPr>
            <a:r>
              <a:rPr lang="en-US" sz="850" i="1" dirty="0">
                <a:solidFill>
                  <a:srgbClr val="666666"/>
                </a:solidFill>
                <a:latin typeface="Arial" pitchFamily="34" charset="0"/>
                <a:ea typeface="Arial" pitchFamily="34" charset="-122"/>
                <a:cs typeface="Arial" pitchFamily="34" charset="-120"/>
              </a:rPr>
              <a:t>Pew; YouGov 2026</a:t>
            </a:r>
            <a:endParaRPr lang="en-US" sz="850" dirty="0"/>
          </a:p>
          <a:p>
            <a:pPr indent="0" marL="0">
              <a:spcAft>
                <a:spcPts val="200"/>
              </a:spcAft>
              <a:buNone/>
            </a:pPr>
            <a:r>
              <a:rPr lang="en-US" sz="850" b="1" dirty="0">
                <a:solidFill>
                  <a:srgbClr val="000000"/>
                </a:solidFill>
                <a:latin typeface="Arial" pitchFamily="34" charset="0"/>
                <a:ea typeface="Arial" pitchFamily="34" charset="-122"/>
                <a:cs typeface="Arial" pitchFamily="34" charset="-120"/>
              </a:rPr>
              <a:t>Slide 18  ·  </a:t>
            </a:r>
            <a:pPr indent="0" marL="0">
              <a:spcAft>
                <a:spcPts val="200"/>
              </a:spcAft>
              <a:buNone/>
            </a:pPr>
            <a:r>
              <a:rPr lang="en-US" sz="850" dirty="0">
                <a:solidFill>
                  <a:srgbClr val="000000"/>
                </a:solidFill>
                <a:latin typeface="Arial" pitchFamily="34" charset="0"/>
                <a:ea typeface="Arial" pitchFamily="34" charset="-122"/>
                <a:cs typeface="Arial" pitchFamily="34" charset="-120"/>
              </a:rPr>
              <a:t>~$64B NIMBY blocked/delayed; 71% oppose</a:t>
            </a:r>
            <a:pPr indent="0" marL="0">
              <a:spcAft>
                <a:spcPts val="200"/>
              </a:spcAft>
              <a:buNone/>
            </a:pPr>
            <a:r>
              <a:rPr lang="en-US" sz="850" dirty="0">
                <a:solidFill>
                  <a:srgbClr val="666666"/>
                </a:solidFill>
                <a:latin typeface="Arial" pitchFamily="34" charset="0"/>
                <a:ea typeface="Arial" pitchFamily="34" charset="-122"/>
                <a:cs typeface="Arial" pitchFamily="34" charset="-120"/>
              </a:rPr>
              <a:t>  —  </a:t>
            </a:r>
            <a:pPr indent="0" marL="0">
              <a:spcAft>
                <a:spcPts val="200"/>
              </a:spcAft>
              <a:buNone/>
            </a:pPr>
            <a:r>
              <a:rPr lang="en-US" sz="850" i="1" dirty="0">
                <a:solidFill>
                  <a:srgbClr val="666666"/>
                </a:solidFill>
                <a:latin typeface="Arial" pitchFamily="34" charset="0"/>
                <a:ea typeface="Arial" pitchFamily="34" charset="-122"/>
                <a:cs typeface="Arial" pitchFamily="34" charset="-120"/>
              </a:rPr>
              <a:t>DataCenterWatch; Gallup</a:t>
            </a:r>
            <a:endParaRPr lang="en-US" sz="850" dirty="0"/>
          </a:p>
          <a:p>
            <a:pPr indent="0" marL="0">
              <a:spcAft>
                <a:spcPts val="200"/>
              </a:spcAft>
              <a:buNone/>
            </a:pPr>
            <a:r>
              <a:rPr lang="en-US" sz="850" b="1" dirty="0">
                <a:solidFill>
                  <a:srgbClr val="000000"/>
                </a:solidFill>
                <a:latin typeface="Arial" pitchFamily="34" charset="0"/>
                <a:ea typeface="Arial" pitchFamily="34" charset="-122"/>
                <a:cs typeface="Arial" pitchFamily="34" charset="-120"/>
              </a:rPr>
              <a:t>Slide 18  ·  </a:t>
            </a:r>
            <a:pPr indent="0" marL="0">
              <a:spcAft>
                <a:spcPts val="200"/>
              </a:spcAft>
              <a:buNone/>
            </a:pPr>
            <a:r>
              <a:rPr lang="en-US" sz="850" dirty="0">
                <a:solidFill>
                  <a:srgbClr val="000000"/>
                </a:solidFill>
                <a:latin typeface="Arial" pitchFamily="34" charset="0"/>
                <a:ea typeface="Arial" pitchFamily="34" charset="-122"/>
                <a:cs typeface="Arial" pitchFamily="34" charset="-120"/>
              </a:rPr>
              <a:t>"Leading the Future" PAC; moratoria</a:t>
            </a:r>
            <a:pPr indent="0" marL="0">
              <a:spcAft>
                <a:spcPts val="200"/>
              </a:spcAft>
              <a:buNone/>
            </a:pPr>
            <a:r>
              <a:rPr lang="en-US" sz="850" dirty="0">
                <a:solidFill>
                  <a:srgbClr val="666666"/>
                </a:solidFill>
                <a:latin typeface="Arial" pitchFamily="34" charset="0"/>
                <a:ea typeface="Arial" pitchFamily="34" charset="-122"/>
                <a:cs typeface="Arial" pitchFamily="34" charset="-120"/>
              </a:rPr>
              <a:t>  —  </a:t>
            </a:r>
            <a:pPr indent="0" marL="0">
              <a:spcAft>
                <a:spcPts val="200"/>
              </a:spcAft>
              <a:buNone/>
            </a:pPr>
            <a:r>
              <a:rPr lang="en-US" sz="850" i="1" dirty="0">
                <a:solidFill>
                  <a:srgbClr val="666666"/>
                </a:solidFill>
                <a:latin typeface="Arial" pitchFamily="34" charset="0"/>
                <a:ea typeface="Arial" pitchFamily="34" charset="-122"/>
                <a:cs typeface="Arial" pitchFamily="34" charset="-120"/>
              </a:rPr>
              <a:t>CNBC/NOTUS; MultiState</a:t>
            </a:r>
            <a:endParaRPr lang="en-US" sz="850" dirty="0"/>
          </a:p>
        </p:txBody>
      </p:sp>
      <p:sp>
        <p:nvSpPr>
          <p:cNvPr id="10" name="Shape 8"/>
          <p:cNvSpPr/>
          <p:nvPr/>
        </p:nvSpPr>
        <p:spPr>
          <a:xfrm>
            <a:off x="3264408" y="1874520"/>
            <a:ext cx="2624328" cy="201168"/>
          </a:xfrm>
          <a:prstGeom prst="rect">
            <a:avLst/>
          </a:prstGeom>
          <a:solidFill>
            <a:srgbClr val="6B46C1"/>
          </a:solidFill>
          <a:ln w="12700">
            <a:solidFill>
              <a:srgbClr val="6B46C1"/>
            </a:solidFill>
            <a:prstDash val="solid"/>
          </a:ln>
        </p:spPr>
      </p:sp>
      <p:sp>
        <p:nvSpPr>
          <p:cNvPr id="11" name="Text 9"/>
          <p:cNvSpPr/>
          <p:nvPr/>
        </p:nvSpPr>
        <p:spPr>
          <a:xfrm>
            <a:off x="3264408" y="1874520"/>
            <a:ext cx="2624328" cy="201168"/>
          </a:xfrm>
          <a:prstGeom prst="rect">
            <a:avLst/>
          </a:prstGeom>
          <a:noFill/>
          <a:ln/>
        </p:spPr>
        <p:txBody>
          <a:bodyPr wrap="square" lIns="0" tIns="0" rIns="0" bIns="0" rtlCol="0" anchor="ctr"/>
          <a:lstStyle/>
          <a:p>
            <a:pPr algn="ctr" indent="0" marL="0">
              <a:buNone/>
            </a:pPr>
            <a:r>
              <a:rPr lang="en-US" sz="900" b="1" spc="200" kern="0" dirty="0">
                <a:solidFill>
                  <a:srgbClr val="FFFFFF"/>
                </a:solidFill>
                <a:latin typeface="Arial" pitchFamily="34" charset="0"/>
                <a:ea typeface="Arial" pitchFamily="34" charset="-122"/>
                <a:cs typeface="Arial" pitchFamily="34" charset="-120"/>
              </a:rPr>
              <a:t>FRONTIER  ·  19–22</a:t>
            </a:r>
            <a:endParaRPr lang="en-US" sz="900" dirty="0"/>
          </a:p>
        </p:txBody>
      </p:sp>
      <p:sp>
        <p:nvSpPr>
          <p:cNvPr id="12" name="Text 10"/>
          <p:cNvSpPr/>
          <p:nvPr/>
        </p:nvSpPr>
        <p:spPr>
          <a:xfrm>
            <a:off x="3310128" y="2148840"/>
            <a:ext cx="2532888" cy="3566160"/>
          </a:xfrm>
          <a:prstGeom prst="rect">
            <a:avLst/>
          </a:prstGeom>
          <a:noFill/>
          <a:ln/>
        </p:spPr>
        <p:txBody>
          <a:bodyPr wrap="square" lIns="0" tIns="0" rIns="0" bIns="0" rtlCol="0" anchor="t"/>
          <a:lstStyle/>
          <a:p>
            <a:pPr indent="0" marL="0">
              <a:spcAft>
                <a:spcPts val="200"/>
              </a:spcAft>
              <a:buNone/>
            </a:pPr>
            <a:r>
              <a:rPr lang="en-US" sz="850" b="1" dirty="0">
                <a:solidFill>
                  <a:srgbClr val="000000"/>
                </a:solidFill>
                <a:latin typeface="Arial" pitchFamily="34" charset="0"/>
                <a:ea typeface="Arial" pitchFamily="34" charset="-122"/>
                <a:cs typeface="Arial" pitchFamily="34" charset="-120"/>
              </a:rPr>
              <a:t>Slide 19  ·  </a:t>
            </a:r>
            <a:pPr indent="0" marL="0">
              <a:spcAft>
                <a:spcPts val="200"/>
              </a:spcAft>
              <a:buNone/>
            </a:pPr>
            <a:r>
              <a:rPr lang="en-US" sz="850" dirty="0">
                <a:solidFill>
                  <a:srgbClr val="000000"/>
                </a:solidFill>
                <a:latin typeface="Arial" pitchFamily="34" charset="0"/>
                <a:ea typeface="Arial" pitchFamily="34" charset="-122"/>
                <a:cs typeface="Arial" pitchFamily="34" charset="-120"/>
              </a:rPr>
              <a:t>"1,361 W/m² unfiltered solar"</a:t>
            </a:r>
            <a:pPr indent="0" marL="0">
              <a:spcAft>
                <a:spcPts val="200"/>
              </a:spcAft>
              <a:buNone/>
            </a:pPr>
            <a:r>
              <a:rPr lang="en-US" sz="850" dirty="0">
                <a:solidFill>
                  <a:srgbClr val="666666"/>
                </a:solidFill>
                <a:latin typeface="Arial" pitchFamily="34" charset="0"/>
                <a:ea typeface="Arial" pitchFamily="34" charset="-122"/>
                <a:cs typeface="Arial" pitchFamily="34" charset="-120"/>
              </a:rPr>
              <a:t>  —  </a:t>
            </a:r>
            <a:pPr indent="0" marL="0">
              <a:spcAft>
                <a:spcPts val="200"/>
              </a:spcAft>
              <a:buNone/>
            </a:pPr>
            <a:r>
              <a:rPr lang="en-US" sz="850" i="1" dirty="0">
                <a:solidFill>
                  <a:srgbClr val="666666"/>
                </a:solidFill>
                <a:latin typeface="Arial" pitchFamily="34" charset="0"/>
                <a:ea typeface="Arial" pitchFamily="34" charset="-122"/>
                <a:cs typeface="Arial" pitchFamily="34" charset="-120"/>
              </a:rPr>
              <a:t>solar constant (physical)</a:t>
            </a:r>
            <a:endParaRPr lang="en-US" sz="850" dirty="0"/>
          </a:p>
          <a:p>
            <a:pPr indent="0" marL="0">
              <a:spcAft>
                <a:spcPts val="200"/>
              </a:spcAft>
              <a:buNone/>
            </a:pPr>
            <a:r>
              <a:rPr lang="en-US" sz="850" b="1" dirty="0">
                <a:solidFill>
                  <a:srgbClr val="000000"/>
                </a:solidFill>
                <a:latin typeface="Arial" pitchFamily="34" charset="0"/>
                <a:ea typeface="Arial" pitchFamily="34" charset="-122"/>
                <a:cs typeface="Arial" pitchFamily="34" charset="-120"/>
              </a:rPr>
              <a:t>Slide 19  ·  </a:t>
            </a:r>
            <a:pPr indent="0" marL="0">
              <a:spcAft>
                <a:spcPts val="200"/>
              </a:spcAft>
              <a:buNone/>
            </a:pPr>
            <a:r>
              <a:rPr lang="en-US" sz="850" dirty="0">
                <a:solidFill>
                  <a:srgbClr val="000000"/>
                </a:solidFill>
                <a:latin typeface="Arial" pitchFamily="34" charset="0"/>
                <a:ea typeface="Arial" pitchFamily="34" charset="-122"/>
                <a:cs typeface="Arial" pitchFamily="34" charset="-120"/>
              </a:rPr>
              <a:t>Orbital players &amp; pilots</a:t>
            </a:r>
            <a:pPr indent="0" marL="0">
              <a:spcAft>
                <a:spcPts val="200"/>
              </a:spcAft>
              <a:buNone/>
            </a:pPr>
            <a:r>
              <a:rPr lang="en-US" sz="850" dirty="0">
                <a:solidFill>
                  <a:srgbClr val="666666"/>
                </a:solidFill>
                <a:latin typeface="Arial" pitchFamily="34" charset="0"/>
                <a:ea typeface="Arial" pitchFamily="34" charset="-122"/>
                <a:cs typeface="Arial" pitchFamily="34" charset="-120"/>
              </a:rPr>
              <a:t>  —  </a:t>
            </a:r>
            <a:pPr indent="0" marL="0">
              <a:spcAft>
                <a:spcPts val="200"/>
              </a:spcAft>
              <a:buNone/>
            </a:pPr>
            <a:r>
              <a:rPr lang="en-US" sz="850" i="1" dirty="0">
                <a:solidFill>
                  <a:srgbClr val="666666"/>
                </a:solidFill>
                <a:latin typeface="Arial" pitchFamily="34" charset="0"/>
                <a:ea typeface="Arial" pitchFamily="34" charset="-122"/>
                <a:cs typeface="Arial" pitchFamily="34" charset="-120"/>
              </a:rPr>
              <a:t>FCC filings; Starcloud ($1.1B, 2026), SpaceX, Google Suncatcher, Aetherflux</a:t>
            </a:r>
            <a:endParaRPr lang="en-US" sz="850" dirty="0"/>
          </a:p>
          <a:p>
            <a:pPr indent="0" marL="0">
              <a:spcAft>
                <a:spcPts val="200"/>
              </a:spcAft>
              <a:buNone/>
            </a:pPr>
            <a:r>
              <a:rPr lang="en-US" sz="850" b="1" dirty="0">
                <a:solidFill>
                  <a:srgbClr val="000000"/>
                </a:solidFill>
                <a:latin typeface="Arial" pitchFamily="34" charset="0"/>
                <a:ea typeface="Arial" pitchFamily="34" charset="-122"/>
                <a:cs typeface="Arial" pitchFamily="34" charset="-120"/>
              </a:rPr>
              <a:t>Slide 20  ·  </a:t>
            </a:r>
            <a:pPr indent="0" marL="0">
              <a:spcAft>
                <a:spcPts val="200"/>
              </a:spcAft>
              <a:buNone/>
            </a:pPr>
            <a:r>
              <a:rPr lang="en-US" sz="850" dirty="0">
                <a:solidFill>
                  <a:srgbClr val="000000"/>
                </a:solidFill>
                <a:latin typeface="Arial" pitchFamily="34" charset="0"/>
                <a:ea typeface="Arial" pitchFamily="34" charset="-122"/>
                <a:cs typeface="Arial" pitchFamily="34" charset="-120"/>
              </a:rPr>
              <a:t>Humanoid deployments in pilots</a:t>
            </a:r>
            <a:pPr indent="0" marL="0">
              <a:spcAft>
                <a:spcPts val="200"/>
              </a:spcAft>
              <a:buNone/>
            </a:pPr>
            <a:r>
              <a:rPr lang="en-US" sz="850" dirty="0">
                <a:solidFill>
                  <a:srgbClr val="666666"/>
                </a:solidFill>
                <a:latin typeface="Arial" pitchFamily="34" charset="0"/>
                <a:ea typeface="Arial" pitchFamily="34" charset="-122"/>
                <a:cs typeface="Arial" pitchFamily="34" charset="-120"/>
              </a:rPr>
              <a:t>  —  </a:t>
            </a:r>
            <a:pPr indent="0" marL="0">
              <a:spcAft>
                <a:spcPts val="200"/>
              </a:spcAft>
              <a:buNone/>
            </a:pPr>
            <a:r>
              <a:rPr lang="en-US" sz="850" i="1" dirty="0">
                <a:solidFill>
                  <a:srgbClr val="666666"/>
                </a:solidFill>
                <a:latin typeface="Arial" pitchFamily="34" charset="0"/>
                <a:ea typeface="Arial" pitchFamily="34" charset="-122"/>
                <a:cs typeface="Arial" pitchFamily="34" charset="-120"/>
              </a:rPr>
              <a:t>Goldman Sachs humanoid research</a:t>
            </a:r>
            <a:endParaRPr lang="en-US" sz="850" dirty="0"/>
          </a:p>
          <a:p>
            <a:pPr indent="0" marL="0">
              <a:spcAft>
                <a:spcPts val="200"/>
              </a:spcAft>
              <a:buNone/>
            </a:pPr>
            <a:r>
              <a:rPr lang="en-US" sz="850" b="1" dirty="0">
                <a:solidFill>
                  <a:srgbClr val="000000"/>
                </a:solidFill>
                <a:latin typeface="Arial" pitchFamily="34" charset="0"/>
                <a:ea typeface="Arial" pitchFamily="34" charset="-122"/>
                <a:cs typeface="Arial" pitchFamily="34" charset="-120"/>
              </a:rPr>
              <a:t>Slide 20  ·  </a:t>
            </a:r>
            <a:pPr indent="0" marL="0">
              <a:spcAft>
                <a:spcPts val="200"/>
              </a:spcAft>
              <a:buNone/>
            </a:pPr>
            <a:r>
              <a:rPr lang="en-US" sz="850" dirty="0">
                <a:solidFill>
                  <a:srgbClr val="000000"/>
                </a:solidFill>
                <a:latin typeface="Arial" pitchFamily="34" charset="0"/>
                <a:ea typeface="Arial" pitchFamily="34" charset="-122"/>
                <a:cs typeface="Arial" pitchFamily="34" charset="-120"/>
              </a:rPr>
              <a:t>Player list</a:t>
            </a:r>
            <a:pPr indent="0" marL="0">
              <a:spcAft>
                <a:spcPts val="200"/>
              </a:spcAft>
              <a:buNone/>
            </a:pPr>
            <a:r>
              <a:rPr lang="en-US" sz="850" dirty="0">
                <a:solidFill>
                  <a:srgbClr val="666666"/>
                </a:solidFill>
                <a:latin typeface="Arial" pitchFamily="34" charset="0"/>
                <a:ea typeface="Arial" pitchFamily="34" charset="-122"/>
                <a:cs typeface="Arial" pitchFamily="34" charset="-120"/>
              </a:rPr>
              <a:t>  —  </a:t>
            </a:r>
            <a:pPr indent="0" marL="0">
              <a:spcAft>
                <a:spcPts val="200"/>
              </a:spcAft>
              <a:buNone/>
            </a:pPr>
            <a:r>
              <a:rPr lang="en-US" sz="850" i="1" dirty="0">
                <a:solidFill>
                  <a:srgbClr val="666666"/>
                </a:solidFill>
                <a:latin typeface="Arial" pitchFamily="34" charset="0"/>
                <a:ea typeface="Arial" pitchFamily="34" charset="-122"/>
                <a:cs typeface="Arial" pitchFamily="34" charset="-120"/>
              </a:rPr>
              <a:t>Tesla, Figure, Boston Dynamics, Unitree, Agility announcements</a:t>
            </a:r>
            <a:endParaRPr lang="en-US" sz="850" dirty="0"/>
          </a:p>
          <a:p>
            <a:pPr indent="0" marL="0">
              <a:spcAft>
                <a:spcPts val="200"/>
              </a:spcAft>
              <a:buNone/>
            </a:pPr>
            <a:r>
              <a:rPr lang="en-US" sz="850" b="1" dirty="0">
                <a:solidFill>
                  <a:srgbClr val="000000"/>
                </a:solidFill>
                <a:latin typeface="Arial" pitchFamily="34" charset="0"/>
                <a:ea typeface="Arial" pitchFamily="34" charset="-122"/>
                <a:cs typeface="Arial" pitchFamily="34" charset="-120"/>
              </a:rPr>
              <a:t>Slide 21  ·  </a:t>
            </a:r>
            <a:pPr indent="0" marL="0">
              <a:spcAft>
                <a:spcPts val="200"/>
              </a:spcAft>
              <a:buNone/>
            </a:pPr>
            <a:r>
              <a:rPr lang="en-US" sz="850" dirty="0">
                <a:solidFill>
                  <a:srgbClr val="000000"/>
                </a:solidFill>
                <a:latin typeface="Arial" pitchFamily="34" charset="0"/>
                <a:ea typeface="Arial" pitchFamily="34" charset="-122"/>
                <a:cs typeface="Arial" pitchFamily="34" charset="-120"/>
              </a:rPr>
              <a:t>"~1.35M road deaths / year"</a:t>
            </a:r>
            <a:pPr indent="0" marL="0">
              <a:spcAft>
                <a:spcPts val="200"/>
              </a:spcAft>
              <a:buNone/>
            </a:pPr>
            <a:r>
              <a:rPr lang="en-US" sz="850" dirty="0">
                <a:solidFill>
                  <a:srgbClr val="666666"/>
                </a:solidFill>
                <a:latin typeface="Arial" pitchFamily="34" charset="0"/>
                <a:ea typeface="Arial" pitchFamily="34" charset="-122"/>
                <a:cs typeface="Arial" pitchFamily="34" charset="-120"/>
              </a:rPr>
              <a:t>  —  </a:t>
            </a:r>
            <a:pPr indent="0" marL="0">
              <a:spcAft>
                <a:spcPts val="200"/>
              </a:spcAft>
              <a:buNone/>
            </a:pPr>
            <a:r>
              <a:rPr lang="en-US" sz="850" i="1" dirty="0">
                <a:solidFill>
                  <a:srgbClr val="666666"/>
                </a:solidFill>
                <a:latin typeface="Arial" pitchFamily="34" charset="0"/>
                <a:ea typeface="Arial" pitchFamily="34" charset="-122"/>
                <a:cs typeface="Arial" pitchFamily="34" charset="-120"/>
              </a:rPr>
              <a:t>WHO Global Road Safety</a:t>
            </a:r>
            <a:endParaRPr lang="en-US" sz="850" dirty="0"/>
          </a:p>
          <a:p>
            <a:pPr indent="0" marL="0">
              <a:spcAft>
                <a:spcPts val="200"/>
              </a:spcAft>
              <a:buNone/>
            </a:pPr>
            <a:r>
              <a:rPr lang="en-US" sz="850" b="1" dirty="0">
                <a:solidFill>
                  <a:srgbClr val="000000"/>
                </a:solidFill>
                <a:latin typeface="Arial" pitchFamily="34" charset="0"/>
                <a:ea typeface="Arial" pitchFamily="34" charset="-122"/>
                <a:cs typeface="Arial" pitchFamily="34" charset="-120"/>
              </a:rPr>
              <a:t>Slide 21  ·  </a:t>
            </a:r>
            <a:pPr indent="0" marL="0">
              <a:spcAft>
                <a:spcPts val="200"/>
              </a:spcAft>
              <a:buNone/>
            </a:pPr>
            <a:r>
              <a:rPr lang="en-US" sz="850" dirty="0">
                <a:solidFill>
                  <a:srgbClr val="000000"/>
                </a:solidFill>
                <a:latin typeface="Arial" pitchFamily="34" charset="0"/>
                <a:ea typeface="Arial" pitchFamily="34" charset="-122"/>
                <a:cs typeface="Arial" pitchFamily="34" charset="-120"/>
              </a:rPr>
              <a:t>AV inference compute scale</a:t>
            </a:r>
            <a:pPr indent="0" marL="0">
              <a:spcAft>
                <a:spcPts val="200"/>
              </a:spcAft>
              <a:buNone/>
            </a:pPr>
            <a:r>
              <a:rPr lang="en-US" sz="850" dirty="0">
                <a:solidFill>
                  <a:srgbClr val="666666"/>
                </a:solidFill>
                <a:latin typeface="Arial" pitchFamily="34" charset="0"/>
                <a:ea typeface="Arial" pitchFamily="34" charset="-122"/>
                <a:cs typeface="Arial" pitchFamily="34" charset="-120"/>
              </a:rPr>
              <a:t>  —  </a:t>
            </a:r>
            <a:pPr indent="0" marL="0">
              <a:spcAft>
                <a:spcPts val="200"/>
              </a:spcAft>
              <a:buNone/>
            </a:pPr>
            <a:r>
              <a:rPr lang="en-US" sz="850" i="1" dirty="0">
                <a:solidFill>
                  <a:srgbClr val="666666"/>
                </a:solidFill>
                <a:latin typeface="Arial" pitchFamily="34" charset="0"/>
                <a:ea typeface="Arial" pitchFamily="34" charset="-122"/>
                <a:cs typeface="Arial" pitchFamily="34" charset="-120"/>
              </a:rPr>
              <a:t>NVIDIA FY2026</a:t>
            </a:r>
            <a:endParaRPr lang="en-US" sz="850" dirty="0"/>
          </a:p>
          <a:p>
            <a:pPr indent="0" marL="0">
              <a:spcAft>
                <a:spcPts val="200"/>
              </a:spcAft>
              <a:buNone/>
            </a:pPr>
            <a:r>
              <a:rPr lang="en-US" sz="850" b="1" dirty="0">
                <a:solidFill>
                  <a:srgbClr val="000000"/>
                </a:solidFill>
                <a:latin typeface="Arial" pitchFamily="34" charset="0"/>
                <a:ea typeface="Arial" pitchFamily="34" charset="-122"/>
                <a:cs typeface="Arial" pitchFamily="34" charset="-120"/>
              </a:rPr>
              <a:t>Slide 22  ·  </a:t>
            </a:r>
            <a:pPr indent="0" marL="0">
              <a:spcAft>
                <a:spcPts val="200"/>
              </a:spcAft>
              <a:buNone/>
            </a:pPr>
            <a:r>
              <a:rPr lang="en-US" sz="850" dirty="0">
                <a:solidFill>
                  <a:srgbClr val="000000"/>
                </a:solidFill>
                <a:latin typeface="Arial" pitchFamily="34" charset="0"/>
                <a:ea typeface="Arial" pitchFamily="34" charset="-122"/>
                <a:cs typeface="Arial" pitchFamily="34" charset="-120"/>
              </a:rPr>
              <a:t>AlphaFold structure prediction</a:t>
            </a:r>
            <a:pPr indent="0" marL="0">
              <a:spcAft>
                <a:spcPts val="200"/>
              </a:spcAft>
              <a:buNone/>
            </a:pPr>
            <a:r>
              <a:rPr lang="en-US" sz="850" dirty="0">
                <a:solidFill>
                  <a:srgbClr val="666666"/>
                </a:solidFill>
                <a:latin typeface="Arial" pitchFamily="34" charset="0"/>
                <a:ea typeface="Arial" pitchFamily="34" charset="-122"/>
                <a:cs typeface="Arial" pitchFamily="34" charset="-120"/>
              </a:rPr>
              <a:t>  —  </a:t>
            </a:r>
            <a:pPr indent="0" marL="0">
              <a:spcAft>
                <a:spcPts val="200"/>
              </a:spcAft>
              <a:buNone/>
            </a:pPr>
            <a:r>
              <a:rPr lang="en-US" sz="850" i="1" dirty="0">
                <a:solidFill>
                  <a:srgbClr val="666666"/>
                </a:solidFill>
                <a:latin typeface="Arial" pitchFamily="34" charset="0"/>
                <a:ea typeface="Arial" pitchFamily="34" charset="-122"/>
                <a:cs typeface="Arial" pitchFamily="34" charset="-120"/>
              </a:rPr>
              <a:t>Jumper et al., Nature 2020</a:t>
            </a:r>
            <a:endParaRPr lang="en-US" sz="850" dirty="0"/>
          </a:p>
          <a:p>
            <a:pPr indent="0" marL="0">
              <a:spcAft>
                <a:spcPts val="200"/>
              </a:spcAft>
              <a:buNone/>
            </a:pPr>
            <a:r>
              <a:rPr lang="en-US" sz="850" b="1" dirty="0">
                <a:solidFill>
                  <a:srgbClr val="000000"/>
                </a:solidFill>
                <a:latin typeface="Arial" pitchFamily="34" charset="0"/>
                <a:ea typeface="Arial" pitchFamily="34" charset="-122"/>
                <a:cs typeface="Arial" pitchFamily="34" charset="-120"/>
              </a:rPr>
              <a:t>Slide 22  ·  </a:t>
            </a:r>
            <a:pPr indent="0" marL="0">
              <a:spcAft>
                <a:spcPts val="200"/>
              </a:spcAft>
              <a:buNone/>
            </a:pPr>
            <a:r>
              <a:rPr lang="en-US" sz="850" dirty="0">
                <a:solidFill>
                  <a:srgbClr val="000000"/>
                </a:solidFill>
                <a:latin typeface="Arial" pitchFamily="34" charset="0"/>
                <a:ea typeface="Arial" pitchFamily="34" charset="-122"/>
                <a:cs typeface="Arial" pitchFamily="34" charset="-120"/>
              </a:rPr>
              <a:t>"IsoDDE 50% vs AlphaFold3 23.3%"</a:t>
            </a:r>
            <a:pPr indent="0" marL="0">
              <a:spcAft>
                <a:spcPts val="200"/>
              </a:spcAft>
              <a:buNone/>
            </a:pPr>
            <a:r>
              <a:rPr lang="en-US" sz="850" dirty="0">
                <a:solidFill>
                  <a:srgbClr val="666666"/>
                </a:solidFill>
                <a:latin typeface="Arial" pitchFamily="34" charset="0"/>
                <a:ea typeface="Arial" pitchFamily="34" charset="-122"/>
                <a:cs typeface="Arial" pitchFamily="34" charset="-120"/>
              </a:rPr>
              <a:t>  —  </a:t>
            </a:r>
            <a:pPr indent="0" marL="0">
              <a:spcAft>
                <a:spcPts val="200"/>
              </a:spcAft>
              <a:buNone/>
            </a:pPr>
            <a:r>
              <a:rPr lang="en-US" sz="850" i="1" dirty="0">
                <a:solidFill>
                  <a:srgbClr val="666666"/>
                </a:solidFill>
                <a:latin typeface="Arial" pitchFamily="34" charset="0"/>
                <a:ea typeface="Arial" pitchFamily="34" charset="-122"/>
                <a:cs typeface="Arial" pitchFamily="34" charset="-120"/>
              </a:rPr>
              <a:t>Isomorphic Labs (Feb 2026)</a:t>
            </a:r>
            <a:endParaRPr lang="en-US" sz="850" dirty="0"/>
          </a:p>
          <a:p>
            <a:pPr indent="0" marL="0">
              <a:spcAft>
                <a:spcPts val="200"/>
              </a:spcAft>
              <a:buNone/>
            </a:pPr>
            <a:r>
              <a:rPr lang="en-US" sz="850" b="1" dirty="0">
                <a:solidFill>
                  <a:srgbClr val="000000"/>
                </a:solidFill>
                <a:latin typeface="Arial" pitchFamily="34" charset="0"/>
                <a:ea typeface="Arial" pitchFamily="34" charset="-122"/>
                <a:cs typeface="Arial" pitchFamily="34" charset="-120"/>
              </a:rPr>
              <a:t>Slide 22  ·  </a:t>
            </a:r>
            <a:pPr indent="0" marL="0">
              <a:spcAft>
                <a:spcPts val="200"/>
              </a:spcAft>
              <a:buNone/>
            </a:pPr>
            <a:r>
              <a:rPr lang="en-US" sz="850" dirty="0">
                <a:solidFill>
                  <a:srgbClr val="000000"/>
                </a:solidFill>
                <a:latin typeface="Arial" pitchFamily="34" charset="0"/>
                <a:ea typeface="Arial" pitchFamily="34" charset="-122"/>
                <a:cs typeface="Arial" pitchFamily="34" charset="-120"/>
              </a:rPr>
              <a:t>"10–15 yrs / ~$2.6B per drug"</a:t>
            </a:r>
            <a:pPr indent="0" marL="0">
              <a:spcAft>
                <a:spcPts val="200"/>
              </a:spcAft>
              <a:buNone/>
            </a:pPr>
            <a:r>
              <a:rPr lang="en-US" sz="850" dirty="0">
                <a:solidFill>
                  <a:srgbClr val="666666"/>
                </a:solidFill>
                <a:latin typeface="Arial" pitchFamily="34" charset="0"/>
                <a:ea typeface="Arial" pitchFamily="34" charset="-122"/>
                <a:cs typeface="Arial" pitchFamily="34" charset="-120"/>
              </a:rPr>
              <a:t>  —  </a:t>
            </a:r>
            <a:pPr indent="0" marL="0">
              <a:spcAft>
                <a:spcPts val="200"/>
              </a:spcAft>
              <a:buNone/>
            </a:pPr>
            <a:r>
              <a:rPr lang="en-US" sz="850" i="1" dirty="0">
                <a:solidFill>
                  <a:srgbClr val="666666"/>
                </a:solidFill>
                <a:latin typeface="Arial" pitchFamily="34" charset="0"/>
                <a:ea typeface="Arial" pitchFamily="34" charset="-122"/>
                <a:cs typeface="Arial" pitchFamily="34" charset="-120"/>
              </a:rPr>
              <a:t>Tufts CSDD drug-development studies</a:t>
            </a:r>
            <a:endParaRPr lang="en-US" sz="850" dirty="0"/>
          </a:p>
          <a:p>
            <a:pPr indent="0" marL="0">
              <a:spcAft>
                <a:spcPts val="200"/>
              </a:spcAft>
              <a:buNone/>
            </a:pPr>
            <a:r>
              <a:rPr lang="en-US" sz="850" b="1" dirty="0">
                <a:solidFill>
                  <a:srgbClr val="000000"/>
                </a:solidFill>
                <a:latin typeface="Arial" pitchFamily="34" charset="0"/>
                <a:ea typeface="Arial" pitchFamily="34" charset="-122"/>
                <a:cs typeface="Arial" pitchFamily="34" charset="-120"/>
              </a:rPr>
              <a:t>Slide 22  ·  </a:t>
            </a:r>
            <a:pPr indent="0" marL="0">
              <a:spcAft>
                <a:spcPts val="200"/>
              </a:spcAft>
              <a:buNone/>
            </a:pPr>
            <a:r>
              <a:rPr lang="en-US" sz="850" dirty="0">
                <a:solidFill>
                  <a:srgbClr val="000000"/>
                </a:solidFill>
                <a:latin typeface="Arial" pitchFamily="34" charset="0"/>
                <a:ea typeface="Arial" pitchFamily="34" charset="-122"/>
                <a:cs typeface="Arial" pitchFamily="34" charset="-120"/>
              </a:rPr>
              <a:t>"&lt;10% Phase I success"</a:t>
            </a:r>
            <a:pPr indent="0" marL="0">
              <a:spcAft>
                <a:spcPts val="200"/>
              </a:spcAft>
              <a:buNone/>
            </a:pPr>
            <a:r>
              <a:rPr lang="en-US" sz="850" dirty="0">
                <a:solidFill>
                  <a:srgbClr val="666666"/>
                </a:solidFill>
                <a:latin typeface="Arial" pitchFamily="34" charset="0"/>
                <a:ea typeface="Arial" pitchFamily="34" charset="-122"/>
                <a:cs typeface="Arial" pitchFamily="34" charset="-120"/>
              </a:rPr>
              <a:t>  —  </a:t>
            </a:r>
            <a:pPr indent="0" marL="0">
              <a:spcAft>
                <a:spcPts val="200"/>
              </a:spcAft>
              <a:buNone/>
            </a:pPr>
            <a:r>
              <a:rPr lang="en-US" sz="850" i="1" dirty="0">
                <a:solidFill>
                  <a:srgbClr val="666666"/>
                </a:solidFill>
                <a:latin typeface="Arial" pitchFamily="34" charset="0"/>
                <a:ea typeface="Arial" pitchFamily="34" charset="-122"/>
                <a:cs typeface="Arial" pitchFamily="34" charset="-120"/>
              </a:rPr>
              <a:t>Hughes et al., Br. J. Pharmacol.</a:t>
            </a:r>
            <a:endParaRPr lang="en-US" sz="850" dirty="0"/>
          </a:p>
        </p:txBody>
      </p:sp>
      <p:sp>
        <p:nvSpPr>
          <p:cNvPr id="13" name="Shape 11"/>
          <p:cNvSpPr/>
          <p:nvPr/>
        </p:nvSpPr>
        <p:spPr>
          <a:xfrm>
            <a:off x="6071616" y="1874520"/>
            <a:ext cx="2624328" cy="201168"/>
          </a:xfrm>
          <a:prstGeom prst="rect">
            <a:avLst/>
          </a:prstGeom>
          <a:solidFill>
            <a:srgbClr val="000000"/>
          </a:solidFill>
          <a:ln w="12700">
            <a:solidFill>
              <a:srgbClr val="000000"/>
            </a:solidFill>
            <a:prstDash val="solid"/>
          </a:ln>
        </p:spPr>
      </p:sp>
      <p:sp>
        <p:nvSpPr>
          <p:cNvPr id="14" name="Text 12"/>
          <p:cNvSpPr/>
          <p:nvPr/>
        </p:nvSpPr>
        <p:spPr>
          <a:xfrm>
            <a:off x="6071616" y="1874520"/>
            <a:ext cx="2624328" cy="201168"/>
          </a:xfrm>
          <a:prstGeom prst="rect">
            <a:avLst/>
          </a:prstGeom>
          <a:noFill/>
          <a:ln/>
        </p:spPr>
        <p:txBody>
          <a:bodyPr wrap="square" lIns="0" tIns="0" rIns="0" bIns="0" rtlCol="0" anchor="ctr"/>
          <a:lstStyle/>
          <a:p>
            <a:pPr algn="ctr" indent="0" marL="0">
              <a:buNone/>
            </a:pPr>
            <a:r>
              <a:rPr lang="en-US" sz="900" b="1" spc="200" kern="0" dirty="0">
                <a:solidFill>
                  <a:srgbClr val="FFFFFF"/>
                </a:solidFill>
                <a:latin typeface="Arial" pitchFamily="34" charset="0"/>
                <a:ea typeface="Arial" pitchFamily="34" charset="-122"/>
                <a:cs typeface="Arial" pitchFamily="34" charset="-120"/>
              </a:rPr>
              <a:t>TAKEAWAYS  ·  23</a:t>
            </a:r>
            <a:endParaRPr lang="en-US" sz="900" dirty="0"/>
          </a:p>
        </p:txBody>
      </p:sp>
      <p:sp>
        <p:nvSpPr>
          <p:cNvPr id="15" name="Text 13"/>
          <p:cNvSpPr/>
          <p:nvPr/>
        </p:nvSpPr>
        <p:spPr>
          <a:xfrm>
            <a:off x="6117336" y="2148840"/>
            <a:ext cx="2532888" cy="3566160"/>
          </a:xfrm>
          <a:prstGeom prst="rect">
            <a:avLst/>
          </a:prstGeom>
          <a:noFill/>
          <a:ln/>
        </p:spPr>
        <p:txBody>
          <a:bodyPr wrap="square" lIns="0" tIns="0" rIns="0" bIns="0" rtlCol="0" anchor="t"/>
          <a:lstStyle/>
          <a:p>
            <a:pPr indent="0" marL="0">
              <a:spcAft>
                <a:spcPts val="200"/>
              </a:spcAft>
              <a:buNone/>
            </a:pPr>
            <a:r>
              <a:rPr lang="en-US" sz="850" b="1" dirty="0">
                <a:solidFill>
                  <a:srgbClr val="000000"/>
                </a:solidFill>
                <a:latin typeface="Arial" pitchFamily="34" charset="0"/>
                <a:ea typeface="Arial" pitchFamily="34" charset="-122"/>
                <a:cs typeface="Arial" pitchFamily="34" charset="-120"/>
              </a:rPr>
              <a:t>Slide 23  ·  </a:t>
            </a:r>
            <a:pPr indent="0" marL="0">
              <a:spcAft>
                <a:spcPts val="200"/>
              </a:spcAft>
              <a:buNone/>
            </a:pPr>
            <a:r>
              <a:rPr lang="en-US" sz="850" dirty="0">
                <a:solidFill>
                  <a:srgbClr val="000000"/>
                </a:solidFill>
                <a:latin typeface="Arial" pitchFamily="34" charset="0"/>
                <a:ea typeface="Arial" pitchFamily="34" charset="-122"/>
                <a:cs typeface="Arial" pitchFamily="34" charset="-120"/>
              </a:rPr>
              <a:t>"~$750B hyperscaler 2026 capex"</a:t>
            </a:r>
            <a:pPr indent="0" marL="0">
              <a:spcAft>
                <a:spcPts val="200"/>
              </a:spcAft>
              <a:buNone/>
            </a:pPr>
            <a:r>
              <a:rPr lang="en-US" sz="850" dirty="0">
                <a:solidFill>
                  <a:srgbClr val="666666"/>
                </a:solidFill>
                <a:latin typeface="Arial" pitchFamily="34" charset="0"/>
                <a:ea typeface="Arial" pitchFamily="34" charset="-122"/>
                <a:cs typeface="Arial" pitchFamily="34" charset="-120"/>
              </a:rPr>
              <a:t>  —  </a:t>
            </a:r>
            <a:pPr indent="0" marL="0">
              <a:spcAft>
                <a:spcPts val="200"/>
              </a:spcAft>
              <a:buNone/>
            </a:pPr>
            <a:r>
              <a:rPr lang="en-US" sz="850" i="1" dirty="0">
                <a:solidFill>
                  <a:srgbClr val="666666"/>
                </a:solidFill>
                <a:latin typeface="Arial" pitchFamily="34" charset="0"/>
                <a:ea typeface="Arial" pitchFamily="34" charset="-122"/>
                <a:cs typeface="Arial" pitchFamily="34" charset="-120"/>
              </a:rPr>
              <a:t>CreditSights / MUFG (2026)</a:t>
            </a:r>
            <a:endParaRPr lang="en-US" sz="850" dirty="0"/>
          </a:p>
          <a:p>
            <a:pPr indent="0" marL="0">
              <a:spcAft>
                <a:spcPts val="200"/>
              </a:spcAft>
              <a:buNone/>
            </a:pPr>
            <a:r>
              <a:rPr lang="en-US" sz="850" b="1" dirty="0">
                <a:solidFill>
                  <a:srgbClr val="000000"/>
                </a:solidFill>
                <a:latin typeface="Arial" pitchFamily="34" charset="0"/>
                <a:ea typeface="Arial" pitchFamily="34" charset="-122"/>
                <a:cs typeface="Arial" pitchFamily="34" charset="-120"/>
              </a:rPr>
              <a:t>Slide 23  ·  </a:t>
            </a:r>
            <a:pPr indent="0" marL="0">
              <a:spcAft>
                <a:spcPts val="200"/>
              </a:spcAft>
              <a:buNone/>
            </a:pPr>
            <a:r>
              <a:rPr lang="en-US" sz="850" dirty="0">
                <a:solidFill>
                  <a:srgbClr val="000000"/>
                </a:solidFill>
                <a:latin typeface="Arial" pitchFamily="34" charset="0"/>
                <a:ea typeface="Arial" pitchFamily="34" charset="-122"/>
                <a:cs typeface="Arial" pitchFamily="34" charset="-120"/>
              </a:rPr>
              <a:t>"capex ~70%→90% of op. cash flow"</a:t>
            </a:r>
            <a:pPr indent="0" marL="0">
              <a:spcAft>
                <a:spcPts val="200"/>
              </a:spcAft>
              <a:buNone/>
            </a:pPr>
            <a:r>
              <a:rPr lang="en-US" sz="850" dirty="0">
                <a:solidFill>
                  <a:srgbClr val="666666"/>
                </a:solidFill>
                <a:latin typeface="Arial" pitchFamily="34" charset="0"/>
                <a:ea typeface="Arial" pitchFamily="34" charset="-122"/>
                <a:cs typeface="Arial" pitchFamily="34" charset="-120"/>
              </a:rPr>
              <a:t>  —  </a:t>
            </a:r>
            <a:pPr indent="0" marL="0">
              <a:spcAft>
                <a:spcPts val="200"/>
              </a:spcAft>
              <a:buNone/>
            </a:pPr>
            <a:r>
              <a:rPr lang="en-US" sz="850" i="1" dirty="0">
                <a:solidFill>
                  <a:srgbClr val="666666"/>
                </a:solidFill>
                <a:latin typeface="Arial" pitchFamily="34" charset="0"/>
                <a:ea typeface="Arial" pitchFamily="34" charset="-122"/>
                <a:cs typeface="Arial" pitchFamily="34" charset="-120"/>
              </a:rPr>
              <a:t>BofA; company 10-Qs (2026)</a:t>
            </a:r>
            <a:endParaRPr lang="en-US" sz="850" dirty="0"/>
          </a:p>
          <a:p>
            <a:pPr indent="0" marL="0">
              <a:spcAft>
                <a:spcPts val="200"/>
              </a:spcAft>
              <a:buNone/>
            </a:pPr>
            <a:r>
              <a:rPr lang="en-US" sz="850" b="1" dirty="0">
                <a:solidFill>
                  <a:srgbClr val="000000"/>
                </a:solidFill>
                <a:latin typeface="Arial" pitchFamily="34" charset="0"/>
                <a:ea typeface="Arial" pitchFamily="34" charset="-122"/>
                <a:cs typeface="Arial" pitchFamily="34" charset="-120"/>
              </a:rPr>
              <a:t>Slide 23  ·  </a:t>
            </a:r>
            <a:pPr indent="0" marL="0">
              <a:spcAft>
                <a:spcPts val="200"/>
              </a:spcAft>
              <a:buNone/>
            </a:pPr>
            <a:r>
              <a:rPr lang="en-US" sz="850" dirty="0">
                <a:solidFill>
                  <a:srgbClr val="000000"/>
                </a:solidFill>
                <a:latin typeface="Arial" pitchFamily="34" charset="0"/>
                <a:ea typeface="Arial" pitchFamily="34" charset="-122"/>
                <a:cs typeface="Arial" pitchFamily="34" charset="-120"/>
              </a:rPr>
              <a:t>"Semis +74% / software ~–15% YTD"</a:t>
            </a:r>
            <a:pPr indent="0" marL="0">
              <a:spcAft>
                <a:spcPts val="200"/>
              </a:spcAft>
              <a:buNone/>
            </a:pPr>
            <a:r>
              <a:rPr lang="en-US" sz="850" dirty="0">
                <a:solidFill>
                  <a:srgbClr val="666666"/>
                </a:solidFill>
                <a:latin typeface="Arial" pitchFamily="34" charset="0"/>
                <a:ea typeface="Arial" pitchFamily="34" charset="-122"/>
                <a:cs typeface="Arial" pitchFamily="34" charset="-120"/>
              </a:rPr>
              <a:t>  —  </a:t>
            </a:r>
            <a:pPr indent="0" marL="0">
              <a:spcAft>
                <a:spcPts val="200"/>
              </a:spcAft>
              <a:buNone/>
            </a:pPr>
            <a:r>
              <a:rPr lang="en-US" sz="850" i="1" dirty="0">
                <a:solidFill>
                  <a:srgbClr val="666666"/>
                </a:solidFill>
                <a:latin typeface="Arial" pitchFamily="34" charset="0"/>
                <a:ea typeface="Arial" pitchFamily="34" charset="-122"/>
                <a:cs typeface="Arial" pitchFamily="34" charset="-120"/>
              </a:rPr>
              <a:t>Yahoo Finance (May 22, 2026)</a:t>
            </a:r>
            <a:endParaRPr lang="en-US" sz="850" dirty="0"/>
          </a:p>
          <a:p>
            <a:pPr indent="0" marL="0">
              <a:spcAft>
                <a:spcPts val="200"/>
              </a:spcAft>
              <a:buNone/>
            </a:pPr>
            <a:r>
              <a:rPr lang="en-US" sz="850" b="1" dirty="0">
                <a:solidFill>
                  <a:srgbClr val="000000"/>
                </a:solidFill>
                <a:latin typeface="Arial" pitchFamily="34" charset="0"/>
                <a:ea typeface="Arial" pitchFamily="34" charset="-122"/>
                <a:cs typeface="Arial" pitchFamily="34" charset="-120"/>
              </a:rPr>
              <a:t>Slide 23  ·  </a:t>
            </a:r>
            <a:pPr indent="0" marL="0">
              <a:spcAft>
                <a:spcPts val="200"/>
              </a:spcAft>
              <a:buNone/>
            </a:pPr>
            <a:r>
              <a:rPr lang="en-US" sz="850" dirty="0">
                <a:solidFill>
                  <a:srgbClr val="000000"/>
                </a:solidFill>
                <a:latin typeface="Arial" pitchFamily="34" charset="0"/>
                <a:ea typeface="Arial" pitchFamily="34" charset="-122"/>
                <a:cs typeface="Arial" pitchFamily="34" charset="-120"/>
              </a:rPr>
              <a:t>"HBM TAM $35B → $100B, 2025–28"</a:t>
            </a:r>
            <a:pPr indent="0" marL="0">
              <a:spcAft>
                <a:spcPts val="200"/>
              </a:spcAft>
              <a:buNone/>
            </a:pPr>
            <a:r>
              <a:rPr lang="en-US" sz="850" dirty="0">
                <a:solidFill>
                  <a:srgbClr val="666666"/>
                </a:solidFill>
                <a:latin typeface="Arial" pitchFamily="34" charset="0"/>
                <a:ea typeface="Arial" pitchFamily="34" charset="-122"/>
                <a:cs typeface="Arial" pitchFamily="34" charset="-120"/>
              </a:rPr>
              <a:t>  —  </a:t>
            </a:r>
            <a:pPr indent="0" marL="0">
              <a:spcAft>
                <a:spcPts val="200"/>
              </a:spcAft>
              <a:buNone/>
            </a:pPr>
            <a:r>
              <a:rPr lang="en-US" sz="850" i="1" dirty="0">
                <a:solidFill>
                  <a:srgbClr val="666666"/>
                </a:solidFill>
                <a:latin typeface="Arial" pitchFamily="34" charset="0"/>
                <a:ea typeface="Arial" pitchFamily="34" charset="-122"/>
                <a:cs typeface="Arial" pitchFamily="34" charset="-120"/>
              </a:rPr>
              <a:t>BofA HBM TAM; TrendForce</a:t>
            </a:r>
            <a:endParaRPr lang="en-US" sz="850" dirty="0"/>
          </a:p>
          <a:p>
            <a:pPr indent="0" marL="0">
              <a:spcAft>
                <a:spcPts val="200"/>
              </a:spcAft>
              <a:buNone/>
            </a:pPr>
            <a:r>
              <a:rPr lang="en-US" sz="850" b="1" dirty="0">
                <a:solidFill>
                  <a:srgbClr val="000000"/>
                </a:solidFill>
                <a:latin typeface="Arial" pitchFamily="34" charset="0"/>
                <a:ea typeface="Arial" pitchFamily="34" charset="-122"/>
                <a:cs typeface="Arial" pitchFamily="34" charset="-120"/>
              </a:rPr>
              <a:t>Slide 23  ·  </a:t>
            </a:r>
            <a:pPr indent="0" marL="0">
              <a:spcAft>
                <a:spcPts val="200"/>
              </a:spcAft>
              <a:buNone/>
            </a:pPr>
            <a:r>
              <a:rPr lang="en-US" sz="850" dirty="0">
                <a:solidFill>
                  <a:srgbClr val="000000"/>
                </a:solidFill>
                <a:latin typeface="Arial" pitchFamily="34" charset="0"/>
                <a:ea typeface="Arial" pitchFamily="34" charset="-122"/>
                <a:cs typeface="Arial" pitchFamily="34" charset="-120"/>
              </a:rPr>
              <a:t>Hyperscaler FCF / lease impact</a:t>
            </a:r>
            <a:pPr indent="0" marL="0">
              <a:spcAft>
                <a:spcPts val="200"/>
              </a:spcAft>
              <a:buNone/>
            </a:pPr>
            <a:r>
              <a:rPr lang="en-US" sz="850" dirty="0">
                <a:solidFill>
                  <a:srgbClr val="666666"/>
                </a:solidFill>
                <a:latin typeface="Arial" pitchFamily="34" charset="0"/>
                <a:ea typeface="Arial" pitchFamily="34" charset="-122"/>
                <a:cs typeface="Arial" pitchFamily="34" charset="-120"/>
              </a:rPr>
              <a:t>  —  </a:t>
            </a:r>
            <a:pPr indent="0" marL="0">
              <a:spcAft>
                <a:spcPts val="200"/>
              </a:spcAft>
              <a:buNone/>
            </a:pPr>
            <a:r>
              <a:rPr lang="en-US" sz="850" i="1" dirty="0">
                <a:solidFill>
                  <a:srgbClr val="666666"/>
                </a:solidFill>
                <a:latin typeface="Arial" pitchFamily="34" charset="0"/>
                <a:ea typeface="Arial" pitchFamily="34" charset="-122"/>
                <a:cs typeface="Arial" pitchFamily="34" charset="-120"/>
              </a:rPr>
              <a:t>Amazon, Meta 10-Qs; Moody's</a:t>
            </a:r>
            <a:endParaRPr lang="en-US" sz="850" dirty="0"/>
          </a:p>
        </p:txBody>
      </p:sp>
      <p:sp>
        <p:nvSpPr>
          <p:cNvPr id="16" name="Text 14"/>
          <p:cNvSpPr/>
          <p:nvPr/>
        </p:nvSpPr>
        <p:spPr>
          <a:xfrm>
            <a:off x="457200" y="5875020"/>
            <a:ext cx="8229600" cy="320040"/>
          </a:xfrm>
          <a:prstGeom prst="rect">
            <a:avLst/>
          </a:prstGeom>
          <a:noFill/>
          <a:ln/>
        </p:spPr>
        <p:txBody>
          <a:bodyPr wrap="square" lIns="0" tIns="0" rIns="0" bIns="0" rtlCol="0" anchor="t"/>
          <a:lstStyle/>
          <a:p>
            <a:pPr indent="0" marL="0">
              <a:buNone/>
            </a:pPr>
            <a:r>
              <a:rPr lang="en-US" sz="700" dirty="0">
                <a:solidFill>
                  <a:srgbClr val="999999"/>
                </a:solidFill>
                <a:latin typeface="Arial" pitchFamily="34" charset="0"/>
                <a:ea typeface="Arial" pitchFamily="34" charset="-122"/>
                <a:cs typeface="Arial" pitchFamily="34" charset="-120"/>
              </a:rPr>
              <a:t>Appendix 2 of 2. End of deck.</a:t>
            </a:r>
            <a:endParaRPr lang="en-US" sz="700" dirty="0"/>
          </a:p>
        </p:txBody>
      </p:sp>
      <p:sp>
        <p:nvSpPr>
          <p:cNvPr id="17" name="Shape 15"/>
          <p:cNvSpPr/>
          <p:nvPr/>
        </p:nvSpPr>
        <p:spPr>
          <a:xfrm>
            <a:off x="0" y="6286500"/>
            <a:ext cx="9144000" cy="571500"/>
          </a:xfrm>
          <a:prstGeom prst="rect">
            <a:avLst/>
          </a:prstGeom>
          <a:solidFill>
            <a:srgbClr val="000000"/>
          </a:solidFill>
          <a:ln w="12700">
            <a:solidFill>
              <a:srgbClr val="000000"/>
            </a:solidFill>
            <a:prstDash val="solid"/>
          </a:ln>
        </p:spPr>
      </p:sp>
      <p:sp>
        <p:nvSpPr>
          <p:cNvPr id="18" name="Text 16"/>
          <p:cNvSpPr/>
          <p:nvPr/>
        </p:nvSpPr>
        <p:spPr>
          <a:xfrm>
            <a:off x="1371600" y="6332220"/>
            <a:ext cx="6400800" cy="457200"/>
          </a:xfrm>
          <a:prstGeom prst="rect">
            <a:avLst/>
          </a:prstGeom>
          <a:noFill/>
          <a:ln/>
        </p:spPr>
        <p:txBody>
          <a:bodyPr wrap="square" lIns="0" tIns="0" rIns="0" bIns="0" rtlCol="0" anchor="ctr"/>
          <a:lstStyle/>
          <a:p>
            <a:pPr algn="ctr" indent="0" marL="0">
              <a:buNone/>
            </a:pPr>
            <a:r>
              <a:rPr lang="en-US" sz="650" b="1" dirty="0">
                <a:solidFill>
                  <a:srgbClr val="FFFFFF"/>
                </a:solidFill>
                <a:latin typeface="Arial" pitchFamily="34" charset="0"/>
                <a:ea typeface="Arial" pitchFamily="34" charset="-122"/>
                <a:cs typeface="Arial" pitchFamily="34" charset="-120"/>
              </a:rPr>
              <a:t>FOR INFORMATIONAL PURPOSES ONLY. NOT INVESTMENT ADVICE. PAST PERFORMANCE IS NOT INDICATIVE OF FUTURE RESULTS.</a:t>
            </a:r>
            <a:endParaRPr lang="en-US" sz="650" dirty="0"/>
          </a:p>
        </p:txBody>
      </p:sp>
      <p:sp>
        <p:nvSpPr>
          <p:cNvPr id="19" name="Text 17"/>
          <p:cNvSpPr/>
          <p:nvPr/>
        </p:nvSpPr>
        <p:spPr>
          <a:xfrm>
            <a:off x="8321040" y="6405372"/>
            <a:ext cx="548640" cy="274320"/>
          </a:xfrm>
          <a:prstGeom prst="rect">
            <a:avLst/>
          </a:prstGeom>
          <a:noFill/>
          <a:ln/>
        </p:spPr>
        <p:txBody>
          <a:bodyPr wrap="square" lIns="0" tIns="0" rIns="0" bIns="0" rtlCol="0" anchor="ctr"/>
          <a:lstStyle/>
          <a:p>
            <a:pPr algn="r" indent="0" marL="0">
              <a:buNone/>
            </a:pPr>
            <a:r>
              <a:rPr lang="en-US" sz="900" dirty="0">
                <a:solidFill>
                  <a:srgbClr val="FFFFFF"/>
                </a:solidFill>
                <a:latin typeface="Arial" pitchFamily="34" charset="0"/>
                <a:ea typeface="Arial" pitchFamily="34" charset="-122"/>
                <a:cs typeface="Arial" pitchFamily="34" charset="-120"/>
              </a:rPr>
              <a:t>25</a:t>
            </a:r>
            <a:endParaRPr lang="en-US" sz="9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25</Slides>
  <Notes>25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25</vt:i4>
      </vt:variant>
    </vt:vector>
  </HeadingPairs>
  <TitlesOfParts>
    <vt:vector size="2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AI Markets — May 2026</dc:title>
  <dc:subject>PptxGenJS Presentation</dc:subject>
  <dc:creator>Strategy</dc:creator>
  <cp:lastModifiedBy>Strategy</cp:lastModifiedBy>
  <cp:revision>1</cp:revision>
  <dcterms:created xsi:type="dcterms:W3CDTF">2026-05-25T00:25:48Z</dcterms:created>
  <dcterms:modified xsi:type="dcterms:W3CDTF">2026-05-25T00:25:48Z</dcterms:modified>
</cp:coreProperties>
</file>