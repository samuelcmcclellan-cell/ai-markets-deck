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18</c:v>
                </c:pt>
                <c:pt idx="2">
                  <c:v>38</c:v>
                </c:pt>
                <c:pt idx="3">
                  <c:v>56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ln w="38100" cap="flat">
              <a:solidFill>
                <a:srgbClr val="008B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B8B"/>
              </a:solidFill>
              <a:ln w="9525" cap="flat">
                <a:solidFill>
                  <a:srgbClr val="008B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</c:v>
                </c:pt>
                <c:pt idx="1">
                  <c:v>2</c:v>
                </c:pt>
                <c:pt idx="2">
                  <c:v>5</c:v>
                </c:pt>
                <c:pt idx="3">
                  <c:v>10</c:v>
                </c:pt>
                <c:pt idx="4">
                  <c:v>16</c:v>
                </c:pt>
                <c:pt idx="5">
                  <c:v>24</c:v>
                </c:pt>
                <c:pt idx="6">
                  <c:v>32</c:v>
                </c:pt>
                <c:pt idx="7">
                  <c:v>40</c:v>
                </c:pt>
                <c:pt idx="8">
                  <c:v>47</c:v>
                </c:pt>
                <c:pt idx="9">
                  <c:v>53</c:v>
                </c:pt>
                <c:pt idx="10">
                  <c:v>58</c:v>
                </c:pt>
                <c:pt idx="11">
                  <c:v>62</c:v>
                </c:pt>
                <c:pt idx="12">
                  <c:v>64</c:v>
                </c:pt>
                <c:pt idx="13">
                  <c:v>66</c:v>
                </c:pt>
                <c:pt idx="14">
                  <c:v>67</c:v>
                </c:pt>
                <c:pt idx="15">
                  <c:v>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PC</c:v>
                </c:pt>
              </c:strCache>
            </c:strRef>
          </c:tx>
          <c:spPr>
            <a:solidFill>
              <a:srgbClr val="666666"/>
            </a:solidFill>
            <a:ln w="38100" cap="flat">
              <a:solidFill>
                <a:srgbClr val="6666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66666"/>
              </a:solidFill>
              <a:ln w="9525" cap="flat">
                <a:solidFill>
                  <a:srgbClr val="6666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</c:v>
                </c:pt>
                <c:pt idx="1">
                  <c:v>1</c:v>
                </c:pt>
                <c:pt idx="2">
                  <c:v>3</c:v>
                </c:pt>
                <c:pt idx="3">
                  <c:v>6</c:v>
                </c:pt>
                <c:pt idx="4">
                  <c:v>9</c:v>
                </c:pt>
                <c:pt idx="5">
                  <c:v>13</c:v>
                </c:pt>
                <c:pt idx="6">
                  <c:v>18</c:v>
                </c:pt>
                <c:pt idx="7">
                  <c:v>23</c:v>
                </c:pt>
                <c:pt idx="8">
                  <c:v>28</c:v>
                </c:pt>
                <c:pt idx="9">
                  <c:v>32</c:v>
                </c:pt>
                <c:pt idx="10">
                  <c:v>36</c:v>
                </c:pt>
                <c:pt idx="11">
                  <c:v>40</c:v>
                </c:pt>
                <c:pt idx="12">
                  <c:v>43</c:v>
                </c:pt>
                <c:pt idx="13">
                  <c:v>46</c:v>
                </c:pt>
                <c:pt idx="14">
                  <c:v>48</c:v>
                </c:pt>
                <c:pt idx="15">
                  <c:v>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16</c:v>
                </c:pt>
                <c:pt idx="3">
                  <c:v>42</c:v>
                </c:pt>
                <c:pt idx="4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</c:v>
                </c:pt>
              </c:strCache>
            </c:strRef>
          </c:tx>
          <c:spPr>
            <a:solidFill>
              <a:srgbClr val="FFB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7</c:v>
                </c:pt>
                <c:pt idx="4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Semis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110</c:v>
                </c:pt>
                <c:pt idx="2">
                  <c:v>118</c:v>
                </c:pt>
                <c:pt idx="3">
                  <c:v>128</c:v>
                </c:pt>
                <c:pt idx="4">
                  <c:v>138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Nasdaq</c:v>
                </c:pt>
              </c:strCache>
            </c:strRef>
          </c:tx>
          <c:spPr>
            <a:solidFill>
              <a:srgbClr val="333333"/>
            </a:solidFill>
            <a:ln w="38100" cap="flat">
              <a:solidFill>
                <a:srgbClr val="333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33333"/>
              </a:solidFill>
              <a:ln w="9525" cap="flat">
                <a:solidFill>
                  <a:srgbClr val="333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98</c:v>
                </c:pt>
                <c:pt idx="2">
                  <c:v>96</c:v>
                </c:pt>
                <c:pt idx="3">
                  <c:v>99</c:v>
                </c:pt>
                <c:pt idx="4">
                  <c:v>104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Software</c:v>
                </c:pt>
              </c:strCache>
            </c:strRef>
          </c:tx>
          <c:spPr>
            <a:solidFill>
              <a:srgbClr val="CC0000"/>
            </a:solidFill>
            <a:ln w="38100" cap="flat">
              <a:solidFill>
                <a:srgbClr val="CC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0000"/>
              </a:solidFill>
              <a:ln w="9525" cap="flat">
                <a:solidFill>
                  <a:srgbClr val="CC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</c:v>
                </c:pt>
                <c:pt idx="1">
                  <c:v>88</c:v>
                </c:pt>
                <c:pt idx="2">
                  <c:v>78</c:v>
                </c:pt>
                <c:pt idx="3">
                  <c:v>76</c:v>
                </c:pt>
                <c:pt idx="4">
                  <c:v>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1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88920"/>
            <a:ext cx="1005840" cy="1280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0632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Markets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2026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Contents.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737360"/>
            <a:ext cx="109728" cy="493776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822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737360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LANDSCAPE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0" y="173736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267712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304288"/>
            <a:ext cx="109728" cy="493776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04288"/>
            <a:ext cx="822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2304288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0" y="230428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11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2834640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871216"/>
            <a:ext cx="109728" cy="49377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871216"/>
            <a:ext cx="822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45920" y="2871216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SHIFTS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315200" y="287121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– 13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3401568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438144"/>
            <a:ext cx="109728" cy="49377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438144"/>
            <a:ext cx="822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45920" y="3438144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RISKS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315200" y="343814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– 17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3968496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4005072"/>
            <a:ext cx="109728" cy="493776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005072"/>
            <a:ext cx="822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46C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45920" y="4005072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FRONTIER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0" y="40050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– 21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4535424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4572000"/>
            <a:ext cx="109728" cy="493776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4572000"/>
            <a:ext cx="822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645920" y="4572000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TAKEAWAYS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315200" y="457200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31520" y="5102352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5138928"/>
            <a:ext cx="109728" cy="493776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5138928"/>
            <a:ext cx="822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138928"/>
            <a:ext cx="5943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7315200" y="513892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– 24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24 slides, read top to bottom.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AI matters to markets.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783080" y="182880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largest capex cycle in history.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83080" y="228600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5 hyperscalers are pouring roughly $750B into AI infrastructure in 2026 alone — more than the entire US energy buildout at its peak.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783080" y="315468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touches every layer of the economy.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83080" y="361188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raw silicon and power generation through data centers, models, and the apps on your phone — AI is now the connective tissue of modern business.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783080" y="448056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is repricing everything — in both directions.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83080" y="493776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wave that lifts semis, memory, and power is cracking software seat models, content moats, and legacy services. Winners and losers, inside one theme.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CreditSights / MUFG hyperscaler capex 2026 estimates; Jensen Huang (Sept 2025); Strategy Research.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Sixty years of AI in six steps — and we are now in step six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that learns from data, reasons through problems, and — increasingly — takes action without human direction.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011680"/>
            <a:ext cx="7863840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6528" y="1892808"/>
            <a:ext cx="237744" cy="237744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629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6293" y="2212848"/>
            <a:ext cx="54864" cy="329184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43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1950s–80s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43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 AI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43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Hand-coded rules. Expert systems with narrow recall.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87168" y="1892808"/>
            <a:ext cx="237744" cy="237744"/>
          </a:xfrm>
          <a:prstGeom prst="ellipse">
            <a:avLst/>
          </a:prstGeom>
          <a:solidFill>
            <a:srgbClr val="008B8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7693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76933" y="2212848"/>
            <a:ext cx="54864" cy="329184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494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1990s–2000s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494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0494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learn patterns from data, not rules.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97808" y="1892808"/>
            <a:ext cx="237744" cy="237744"/>
          </a:xfrm>
          <a:prstGeom prst="ellipse">
            <a:avLst/>
          </a:prstGeom>
          <a:solidFill>
            <a:srgbClr val="FFB8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8757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87573" y="2212848"/>
            <a:ext cx="54864" cy="32918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1558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1558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1558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go deep. AlexNet, the first breakthrough.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08448" y="1892808"/>
            <a:ext cx="237744" cy="237744"/>
          </a:xfrm>
          <a:prstGeom prst="ellipse">
            <a:avLst/>
          </a:prstGeom>
          <a:solidFill>
            <a:srgbClr val="F669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9821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98213" y="2212848"/>
            <a:ext cx="54864" cy="32918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2622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2022–24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2622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chatbots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2622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hits 100M users in 2 months. Claude, Gemini follow.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19088" y="1892808"/>
            <a:ext cx="237744" cy="237744"/>
          </a:xfrm>
          <a:prstGeom prst="ellipse">
            <a:avLst/>
          </a:prstGeom>
          <a:solidFill>
            <a:srgbClr val="E8478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0885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8853" y="2212848"/>
            <a:ext cx="54864" cy="32918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686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2023–24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3686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03686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Multi-step logic, chain-of-thought. o1, DeepSeek R1.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729728" y="1892808"/>
            <a:ext cx="237744" cy="237744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1949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9493" y="2212848"/>
            <a:ext cx="54864" cy="32918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475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2025+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475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475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uses tools and acts autonomously. Claude Code, agents.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Eleven layers, four power blocs — your exposure depends on which layer you own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256032" cy="10972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00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256032" cy="10972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256032" cy="109728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86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5029200"/>
            <a:ext cx="256032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0292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40280" y="173736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1645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that acts on your behalf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103120" y="2011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40280" y="210312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2011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0" y="2011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built on foundation models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03120" y="2377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40280" y="246888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68880" y="2377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0" y="2377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intelligence layer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103120" y="2788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288036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2788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Warehouses of compute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03120" y="3154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24612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68880" y="3154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0" y="3154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constraint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103120" y="3520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0280" y="361188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68880" y="3520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0" y="3520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data at terabit speed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03120" y="3931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40280" y="402336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68880" y="3931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572000" y="3931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chiplets (CoWoS, HBM)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103120" y="4297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40280" y="438912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68880" y="4297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design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572000" y="4297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TPUs, ASICs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103120" y="4663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40280" y="475488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68880" y="4663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72000" y="4663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Fabricating at nanometer scale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103120" y="5074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240280" y="516636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68880" y="5074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572000" y="5074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that make machines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03120" y="5440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240280" y="553212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468880" y="5440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572000" y="5440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Silicon, neon, rare earths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Ordered top (closest to user) to bottom (closest to atoms).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growth rates are unprecedented.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 — a once-in-a-generation S-curve, compressed into a handful of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after first mass-market launch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US population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after first $1B year ($B)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475488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475488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($B)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5394960"/>
            <a:ext cx="8229600" cy="21945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40080" y="539496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Anthropic    </a:t>
            </a:r>
            <a:pPr indent="0" marL="0">
              <a:buNone/>
            </a:pPr>
            <a:r>
              <a:rPr lang="en-US" sz="8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Cloud    </a:t>
            </a:r>
            <a:pPr indent="0" marL="0">
              <a:buNone/>
            </a:pPr>
            <a:r>
              <a:rPr lang="en-US" sz="85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· Google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5650992"/>
            <a:ext cx="8229600" cy="20116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565099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technologies.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Mary Meeker (Bond Capital / KPCB Internet Trends 2019); company filings and consensus estimates. Cloud and Internet trajectories are illustrative. 2026E shown for AI.</a:t>
            </a:r>
            <a:endParaRPr lang="en-US" sz="700" dirty="0"/>
          </a:p>
        </p:txBody>
      </p:sp>
      <p:sp>
        <p:nvSpPr>
          <p:cNvPr id="20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an AI chip is made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AI accelerator inside a data center, from training GPUs to custom inference silicon, passes through the same four stages.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554480"/>
            <a:ext cx="4023360" cy="39319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554480"/>
            <a:ext cx="38404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Photo: AI accelerator package close-up, NVIDIA H100/H200 or Blackwell style. Large central logic die surrounded by HBM memory stacks on a CoWoS substrate, gold contact pads visible, dramatic studio lighting on dark backdrop, square framing.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55595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accelerator package: a large processor chip surrounded by high-speed memory chips, all wired into one unit.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617720" y="1554480"/>
            <a:ext cx="4069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STAGES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17720" y="1783080"/>
            <a:ext cx="40690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1911096"/>
            <a:ext cx="384048" cy="384048"/>
          </a:xfrm>
          <a:prstGeom prst="ellipse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166360" y="187452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66360" y="214884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 draft the chip's blueprint in software, mapping where each of tens of billions of microscopic switches will sit.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17720" y="2816352"/>
            <a:ext cx="40690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17720" y="2871216"/>
            <a:ext cx="384048" cy="384048"/>
          </a:xfrm>
          <a:prstGeom prst="ellipse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17720" y="2871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166360" y="28346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166360" y="310896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Highly specialized machines are built to print circuit patterns at near-atomic scale using ultraviolet light.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17720" y="3776472"/>
            <a:ext cx="40690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17720" y="3831336"/>
            <a:ext cx="384048" cy="384048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7720" y="3831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66360" y="379476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166360" y="406908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 wafers pass through more than a thousand precise steps inside ultra-clean factories that take years to build.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617720" y="4736592"/>
            <a:ext cx="40690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4791456"/>
            <a:ext cx="384048" cy="384048"/>
          </a:xfrm>
          <a:prstGeom prst="ellipse">
            <a:avLst/>
          </a:prstGeom>
          <a:solidFill>
            <a:srgbClr val="051A3D"/>
          </a:solidFill>
          <a:ln w="12700">
            <a:solidFill>
              <a:srgbClr val="051A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17720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166360" y="475488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166360" y="502920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finished chip is bonded with high-speed memory into a single package ready to plug into a server.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SIA / SEMI industry taxonomy; SEMI World Fab Forecast; TSMC, NVIDIA, ASML disclosures. Process descriptions are plain-English simplifications.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Five hyperscalers fund ~60% of AI chip demand — their capex IS the market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hyperscalers fund roughly 60% of advanced-AI chip demand — sovereigns, enterprise, and edge devices split the rest.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128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share of advanced-AI chip demand, 2026E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521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frontier models and renting compute to everyone else.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21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8521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· Meta · Oracle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746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66547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AI programs building sovereign access to frontier compute.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2034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547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6547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UAE G42 · Saudi HUMAIN · UK AIRR · Japan METI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1772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74573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Banks, pharma, and Fortune 500s deploying on-prem for regulated data.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0060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4573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74573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 · Novartis · Walmart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69798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82599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inference moves into phones, PCs, cars, and factory robots.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88086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2599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82599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· Samsung · Tesla · humanoid OEMs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" y="525780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" y="5257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buyers fund most of the AI compute cycle — their capex IS the market.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SemiAnalysis and Omdia estimates of AI accelerator end-demand; TrendForce; hyperscaler 2026 capex guides (AWS, Microsoft, Google, Meta, Oracle); IDC. Shares are directional 2026E estimates.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Power is the new bottleneck.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hyperscale AI campus now draws as much electricity as a mid-sized city. The grid, not the chip, is starting to set the pace of buildouts.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~12%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8006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US electricity demand will go to data centers by 2028 — up from ~4% in 2023 (EPRI high case, 2024)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6898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GW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6898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new AI campus — the draw of ~750K US homes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5790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~5 yr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05790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wait for a new grid interconnection in PJM &amp; ERCOT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to build, dispatchable. New CCGT contracts up sharply; GE Vernova backlog at record highs.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 Vernova · Siemens Energy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NUCLEAR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9184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Mile Island reopening for Microsoft. SMRs (Oklo, X-Energy) signed to hyperscaler PPAs.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2900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Constellation · Oklo · NuScale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RENEWABLES + STORAGE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2648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6364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+ battery hybrids now the cheapest new capacity. Hyperscalers signing 24/7 PPAs.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6364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NextEra · AES · Fluence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are useless without electrons. Power names are trading like semis.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EPRI (US data-center load forecast, 2024); DOE; Lawrence Berkeley National Lab; Microsoft / Constellation TMI announcement (Sep 2024); PJM, ERCOT interconnection queues.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Q1 funding doubled all of 2025 — two giants, one public, one merger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private labs, one public giant, and xAI — now inside SpaceX after February's $1.25T all-stock merger.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8" name="Image 0" descr="logos/opena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19656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691640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0" y="1691640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$852B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1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480560" y="1691640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~35× ARR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60720" y="1691640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$122B round · AMZN / NVDA / SoftBank · Apr 2026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96312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14" name="Image 1" descr="logos/anthrop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2624328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2496312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200400" y="2496312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$380B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2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4480560" y="2496312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~13× ARR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760720" y="2496312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Series G (Feb); VCs now offering $800B+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57200" y="3300984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0" name="Image 2" descr="logos/goog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3429000"/>
            <a:ext cx="502920" cy="5029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325880" y="3300984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3200400" y="3300984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$2.3T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3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4480560" y="3300984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~20× P/E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760720" y="3300984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(public) · Gemini 3 / DeepMind · ~$85B 2026 capex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57200" y="4105656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6" name="Image 3" descr="logos/xai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0080" y="4233672"/>
            <a:ext cx="502920" cy="5029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325880" y="4105656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3200400" y="4105656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$1.25T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4</a:t>
            </a:r>
            <a:endParaRPr lang="en-US" sz="2000" dirty="0"/>
          </a:p>
        </p:txBody>
      </p:sp>
      <p:sp>
        <p:nvSpPr>
          <p:cNvPr id="29" name="Text 23"/>
          <p:cNvSpPr/>
          <p:nvPr/>
        </p:nvSpPr>
        <p:spPr>
          <a:xfrm>
            <a:off x="4480560" y="4105656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760720" y="4105656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All-stock merger closed Feb 2, 2026 — xAI now a SpaceX subsidiary</a:t>
            </a:r>
            <a:endParaRPr lang="en-US" sz="1100" dirty="0"/>
          </a:p>
        </p:txBody>
      </p:sp>
      <p:sp>
        <p:nvSpPr>
          <p:cNvPr id="31" name="Text 25"/>
          <p:cNvSpPr/>
          <p:nvPr/>
        </p:nvSpPr>
        <p:spPr>
          <a:xfrm>
            <a:off x="457200" y="491947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valuations as of Apr 22, 2026.</a:t>
            </a:r>
            <a:endParaRPr lang="en-US" sz="800" dirty="0"/>
          </a:p>
        </p:txBody>
      </p:sp>
      <p:sp>
        <p:nvSpPr>
          <p:cNvPr id="32" name="Shape 26"/>
          <p:cNvSpPr/>
          <p:nvPr/>
        </p:nvSpPr>
        <p:spPr>
          <a:xfrm>
            <a:off x="457200" y="5166360"/>
            <a:ext cx="8229600" cy="50292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640080" y="51663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to foundational AI startups was 2× all of 2025.</a:t>
            </a:r>
            <a:pPr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endParaRPr lang="en-US" sz="1400" dirty="0"/>
          </a:p>
        </p:txBody>
      </p:sp>
      <p:sp>
        <p:nvSpPr>
          <p:cNvPr id="34" name="Text 28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/ CNBC — OpenAI $122B round, Apr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Sacra / Bloomberg — Anthropic Series G, Feb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10-K + 2026 capex guide,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 / CNBC — xAI-SpaceX merger, Feb 2,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Crunchbase Q1 2026 VC data.</a:t>
            </a:r>
            <a:endParaRPr lang="en-US" sz="700" dirty="0"/>
          </a:p>
        </p:txBody>
      </p:sp>
      <p:sp>
        <p:nvSpPr>
          <p:cNvPr id="35" name="Shape 29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7" name="Text 31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Top 10 Tech grow 4× faster than Top 10 Non-Tech — at a similar multiple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firms are growing 4× faster than the top 10 Non-Tech — at a similar multiple. The divergence in fundamentals has not been priced into valuations.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Top 10 Non-Tech — 2026E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3401568"/>
            <a:ext cx="512064" cy="80467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3127248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70432" y="4023360"/>
            <a:ext cx="51206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7490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521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Growth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83664" y="2706624"/>
            <a:ext cx="512064" cy="14996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3664" y="243230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41%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50592" y="3474720"/>
            <a:ext cx="512064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50592" y="320040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86537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Margin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63824" y="3004457"/>
            <a:ext cx="512064" cy="1201783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63824" y="2730137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23x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30752" y="2795451"/>
            <a:ext cx="512064" cy="1410789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30752" y="2521131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27x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4553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P/E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5074920"/>
            <a:ext cx="164592" cy="10972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5568" y="503834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68880" y="5074920"/>
            <a:ext cx="164592" cy="10972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50383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Non-Tech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US — P/E vs revenue growth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4920" y="4151376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74920" y="3639312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74920" y="3127248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74920" y="2615184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74920" y="4663440"/>
            <a:ext cx="3520440" cy="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4920" y="2103120"/>
            <a:ext cx="0" cy="256032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737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-5%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1937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83387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+10%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4739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711403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75411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3941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727448" y="459943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0×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727448" y="4087368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10×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27448" y="3575304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20×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727448" y="3063240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30×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727448" y="2551176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40×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4727448" y="203911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50×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074920" y="4791456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revenue growth, 2026E → 2027E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754880" y="1801368"/>
            <a:ext cx="3931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P/E (2026E)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535924" y="337505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308130" y="313438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780211" y="299100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329081" y="329312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90850" y="296027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35924" y="272472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515279" y="346722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71844" y="204368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721547" y="2340681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544246" y="3497946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625007" y="387175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38059" y="3252155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131785" y="364132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892115" y="339041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36992" y="3370478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440718" y="305665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455599" y="298643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461669" y="340742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6223438" y="295570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7845552" y="272015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Broadcom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6208955" y="346265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6504432" y="213969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854135" y="245498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Walmart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76834" y="361224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Berkshire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5757595" y="386718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5922007" y="335731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 Lilly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4825461" y="363675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Exxon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6024703" y="350471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Visa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7818120" y="2157984"/>
            <a:ext cx="91440" cy="91440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936992" y="213055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7818120" y="2322576"/>
            <a:ext cx="91440" cy="91440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936992" y="2295144"/>
            <a:ext cx="777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Non-Tech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median: ~26× fwd P/E on ~17% forward revenue growth. Non-Tech: ~23× on ~5% (consensus, Apr 22, 2026). The divergence is in the engine, not the multiple.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stockanalysis.com analyst consensus (AAPL/MSFT/GOOGL/AMZN/NVDA/META/AVGO/TSLA/LLY/JPM/V/XOM/BRK.B/WMT, as of Apr 22, 2026); companiesmarketcap.com (mkt caps, Apr 22, 2026). NVDA, AVGO clipped at +50% growth; TSLA at 50× fwd P/E.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Agentic AI uses 10–100× the compute per session — that's the capex thesis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set goals, use tools, and complete tasks end-to-end. Each session uses 10–100× the compute of a chatbot query.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29718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Screenshot — dark-mode IDE, AI agent editing Python code live, glowing orange cursor, 'Claude is editing' pill, streaming test output in a terminal pane, square framing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874520"/>
                <a:gridCol w="187452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Chatbot (2023–24)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(2025+)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ask, it answers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Sets goals, executes autonomously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per session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1K – 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50K – 500K+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 per user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– 100×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Code, APIs, browsers, databases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10–100× compute step-up per session is what every AI capex forecast is pricing in.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Anthropic, OpenAI, GitHub Trending; Morgan Stanley CIO Survey; Strategy Research.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Semis up, software down — one theme, two outcomes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50+ point spread inside a single theme — and the pain is now bleeding into private credit and PE-held SaaS.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 return, rebased to 100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1783080"/>
          <a:ext cx="393192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4754880" y="1783080"/>
            <a:ext cx="393192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54880" y="1783080"/>
            <a:ext cx="3931920" cy="54864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937760" y="187452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SEMIS ARE UP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937760" y="2057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out, with demand still building.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937760" y="2468880"/>
            <a:ext cx="274320" cy="27432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937760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⚙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303520" y="24414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sold out through 2026; hyperscalers are locking in every GB of memory they can secure.</a:t>
            </a:r>
            <a:pPr algn="l" indent="0" marL="0">
              <a:buNone/>
            </a:pPr>
            <a:r>
              <a:rPr lang="en-US" sz="700" baseline="300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37760" y="2798064"/>
            <a:ext cx="274320" cy="27432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37760" y="2798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⚡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303520" y="27706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Data-center power demand keeps pulling forward; each new model generation wants more silicon.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937760" y="3127248"/>
            <a:ext cx="274320" cy="27432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937760" y="3127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↑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303520" y="309981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ASPs and margins are expanding across memory and advanced-node logic.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754880" y="3520440"/>
            <a:ext cx="393192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754880" y="3520440"/>
            <a:ext cx="393192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937760" y="361188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SOFTWARE IS DOWN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937760" y="3794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Per-seat pricing is under attack.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937760" y="4206240"/>
            <a:ext cx="274320" cy="27432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937760" y="4206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◉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303520" y="41788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threatens per-seat pricing; 2026 CIO surveys flag displacement risk on horizontal SaaS.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937760" y="4535424"/>
            <a:ext cx="274320" cy="27432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937760" y="4535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303520" y="450799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SaaS multiples re-rated lower as buyers underwrite slower seat growth and pricing pressure.</a:t>
            </a:r>
            <a:pPr algn="l" indent="0" marL="0">
              <a:buNone/>
            </a:pPr>
            <a:r>
              <a:rPr lang="en-US" sz="7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4937760" y="4864608"/>
            <a:ext cx="274320" cy="27432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937760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↓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303520" y="483717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Renewals slowing and deal cycles stretching as customers wait for vendor AI roadmaps to settle.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457200" y="5349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theme, two outcomes — and software's pain is now bleeding into private equity and private credit, both anchored in SaaS.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 via Data Center Dynamics,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multiples.vc public software multiples, Apr 2026.</a:t>
            </a:r>
            <a:endParaRPr lang="en-US" sz="700" dirty="0"/>
          </a:p>
        </p:txBody>
      </p:sp>
      <p:sp>
        <p:nvSpPr>
          <p:cNvPr id="38" name="Shape 3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0" name="Text 3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bubble question.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tests. Same questions investors asked about Cisco and the dotcoms. Different answers today.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DOTCOM 2000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AI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2249424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249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10312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PER DOLLAR OF EARNINGS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11880" y="2103120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131×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Cisco fwd P/E, Mar 2000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2103120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~24×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NVIDIA fwd P/E, Apr 17, 2026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2761488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907792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%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2761488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PROFITABILITY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11880" y="2761488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of tech IPOs were profitable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126480" y="2761488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Mag 7 avg net margin (2× S&amp;P)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94360" y="3566160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⇅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9856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VS. DEMAND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11880" y="3419856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Oversupply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$500B dark fiber unused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126480" y="3419856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GPU 2nd market 90–95% of list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57200" y="4078224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4224528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◨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51560" y="4078224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BALANCE SHEETS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1880" y="4078224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major telcos went bankrupt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126480" y="4078224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~48%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hyperscaler net debt/EBITDA (vs ~80% S&amp;P)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" y="5074920"/>
            <a:ext cx="8229600" cy="36576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0749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happen. Bubbles require stretched valuations AND supply exceeding demand. </a:t>
            </a:r>
            <a:pPr indent="0" marL="0">
              <a:buNone/>
            </a:pPr>
            <a:r>
              <a:rPr lang="en-US" sz="11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condition holds today.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Harding Loevner retrospective,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GuruFocus (Apr 17, 2026),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Ritter, Univ. of Florida IPO data,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/ company filings, 2025 TTM,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/ industry retrospectives,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CoreWeave / 2nd-market trackers,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filings / press retrospectives, 2001–02,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Bloomberg, 2025 YE.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Four single points of failure.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of the four sit in Asia, and all four are single-sourced. US reshoring is real — but most leading-edge capacity doesn't ship until 2027+.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192024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NETHERLANDS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192024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▲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57200" y="2587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EUV Litho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60120" y="2907792"/>
            <a:ext cx="9144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99923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firm in the world building EUV scanners — new machines ship in dozens per year, not hundreds.</a:t>
            </a:r>
            <a:pPr algn="l" indent="0" marL="0">
              <a:buNone/>
            </a:pPr>
            <a:r>
              <a:rPr lang="en-US" sz="7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468880" y="1783080"/>
            <a:ext cx="192024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68880" y="1783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TAIWAN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468880" y="2057400"/>
            <a:ext cx="192024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6888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▦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2468880" y="2587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Leading Logic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2907792"/>
            <a:ext cx="9144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78608" y="299923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Virtually every advanced-node chip runs through TSMC fabs in Hsinchu and Tainan — no real volume alternative exists.</a:t>
            </a:r>
            <a:pPr algn="l" indent="0" marL="0">
              <a:buNone/>
            </a:pPr>
            <a:r>
              <a:rPr lang="en-US" sz="7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480560" y="1783080"/>
            <a:ext cx="192024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1783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480560" y="2057400"/>
            <a:ext cx="192024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8056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☰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4480560" y="2587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Memory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983480" y="2907792"/>
            <a:ext cx="9144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90288" y="299923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Korean firms supply nearly all the high-bandwidth memory AI accelerators depend on — both booked through 2026.</a:t>
            </a:r>
            <a:pPr algn="l" indent="0" marL="0">
              <a:buNone/>
            </a:pPr>
            <a:r>
              <a:rPr lang="en-US" sz="7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492240" y="1783080"/>
            <a:ext cx="192024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1783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TAIWAN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92240" y="2057400"/>
            <a:ext cx="192024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◫</a:t>
            </a:r>
            <a:endParaRPr lang="en-US" sz="3600" dirty="0"/>
          </a:p>
        </p:txBody>
      </p:sp>
      <p:sp>
        <p:nvSpPr>
          <p:cNvPr id="32" name="Text 30"/>
          <p:cNvSpPr/>
          <p:nvPr/>
        </p:nvSpPr>
        <p:spPr>
          <a:xfrm>
            <a:off x="6492240" y="2587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Packaging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995160" y="2907792"/>
            <a:ext cx="9144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01968" y="299923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TSMC's CoWoS step fuses the GPU die to its HBM stack — the only volume supplier, sold out through 2026.</a:t>
            </a:r>
            <a:pPr algn="l" indent="0" marL="0">
              <a:buNone/>
            </a:pPr>
            <a:r>
              <a:rPr lang="en-US" sz="7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3931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— WHEN LEADING-EDGE CAPACITY COMES ONLINE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40080" y="4572000"/>
            <a:ext cx="7863840" cy="0"/>
          </a:xfrm>
          <a:prstGeom prst="line">
            <a:avLst/>
          </a:prstGeom>
          <a:noFill/>
          <a:ln w="1905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498848"/>
            <a:ext cx="146304" cy="146304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206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AZ Fab 1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65760" y="47091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32888" y="4498848"/>
            <a:ext cx="146304" cy="146304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828800" y="4206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Taylor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224028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498848" y="4498848"/>
            <a:ext cx="146304" cy="146304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794760" y="4206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AZ Fab 2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20624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464808" y="4498848"/>
            <a:ext cx="146304" cy="146304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60720" y="4206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Ohio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7220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430768" y="4498848"/>
            <a:ext cx="146304" cy="146304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06640" y="4206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 Clay NY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95528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2030+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57200" y="5349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link is single-sourced — and there is no spare capacity in the chain to absorb a shock at any one of them.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2025 annual report,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 / Counterpoint,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 HBM tracker; SK Hynix Q1 2026 commentary,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Q4 2025 earnings commentary.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Export controls, EU rules, and rare-earths decide who sells what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controls, EU compliance, and reshoring subsidies now decide who can sell what, to whom, from where.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▣</a:t>
            </a:r>
            <a:endParaRPr lang="en-US" sz="4800" dirty="0"/>
          </a:p>
        </p:txBody>
      </p:sp>
      <p:sp>
        <p:nvSpPr>
          <p:cNvPr id="11" name="Shape 9"/>
          <p:cNvSpPr/>
          <p:nvPr/>
        </p:nvSpPr>
        <p:spPr>
          <a:xfrm>
            <a:off x="822960" y="3291840"/>
            <a:ext cx="18288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429000"/>
            <a:ext cx="2240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 / H200 / Blackwell banned from China.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 reinstated with a 15% Treasury fee.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$5.5B NVIDIA H20 writedown.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banned; China ~20% of revenue.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REGULATION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9184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§</a:t>
            </a:r>
            <a:endParaRPr lang="en-US" sz="4800" dirty="0"/>
          </a:p>
        </p:txBody>
      </p:sp>
      <p:sp>
        <p:nvSpPr>
          <p:cNvPr id="17" name="Shape 15"/>
          <p:cNvSpPr/>
          <p:nvPr/>
        </p:nvSpPr>
        <p:spPr>
          <a:xfrm>
            <a:off x="3657600" y="3291840"/>
            <a:ext cx="1828800" cy="0"/>
          </a:xfrm>
          <a:prstGeom prst="line">
            <a:avLst/>
          </a:prstGeom>
          <a:noFill/>
          <a:ln w="19050">
            <a:solidFill>
              <a:srgbClr val="F669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3429000"/>
            <a:ext cx="2240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enforcement: Aug 2, 2026.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Fines up to €35M or 7% of global revenue.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compliance: $8–15M per system.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36% of enterprises feel prepared.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&amp; RESHORING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2648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⚒</a:t>
            </a:r>
            <a:endParaRPr lang="en-US" sz="4800" dirty="0"/>
          </a:p>
        </p:txBody>
      </p:sp>
      <p:sp>
        <p:nvSpPr>
          <p:cNvPr id="23" name="Shape 21"/>
          <p:cNvSpPr/>
          <p:nvPr/>
        </p:nvSpPr>
        <p:spPr>
          <a:xfrm>
            <a:off x="6492240" y="3291840"/>
            <a:ext cx="1828800" cy="0"/>
          </a:xfrm>
          <a:prstGeom prst="line">
            <a:avLst/>
          </a:prstGeom>
          <a:noFill/>
          <a:ln w="19050">
            <a:solidFill>
              <a:srgbClr val="FFB8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3429000"/>
            <a:ext cx="2240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Act: ~$36B committed of $52.7B.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controls ~90% of rare-earth processing.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Gallium / germanium controls since Jul 2023.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11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SMIC 5nm yield ~20% vs &gt;70% threshold.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BIS export rules, 2023–25,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Treasury / NVIDIA, Jul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10-Q, FY26 Q1,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2025 annual report,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Act, Article 99,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Act, Article 99,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Commission / law firm analyses,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 enterprise AI readiness,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Commerce Dept CHIPS Office, Nov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IEA / USGS rare-earth reports,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MOFCOM, Jul 2023,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TechInsights / trade press, 2025–26.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Communities, voters, and labor are pricing the AI infrastructure bet lower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revolt, anti-AI sentiment, and a labor shortage are each capable of pricing the infrastructure bet lower.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2004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Photojournalism — 'STOP THE AI RACE' hand-lettered protest signs at a dusk rally, shoulder-height crowd POV, warm golden-hour sky, faces in shadow, signs in sharp focus, square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forces now price the AI infrastructure bet lower: communities blocking the builds, voters souring on the technology, and a shortage of the skilled workers who wire it all up.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886200" y="2514600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023360" y="2880360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$18B halted, $46B delayed. 142 activist groups across 24 states — Virginia leads with 42 chapters.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86200" y="3456432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ANTI-AI SENTIMENT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23360" y="3822192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26%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(Echelon Insights, Mar 2026) of Americans view AI positively. March 2026 "Stop the AI Race" protests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hit lab HQs in SF and DC.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86200" y="4398264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SHORTAGE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023360" y="4764024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~480K data-center workforce gap against 400+ sites under construction.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Talent, not capital, is binding.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5394960"/>
            <a:ext cx="8229600" cy="3657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394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permitting layer is the new supply-chain layer — and it is politically, not technically, constrained.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Watch, 2026 NIMBY tracker,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Echelon Insights, Mar 2026 AI sentiment poll,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Fortune / TIME / CNN / NBC News — Stop the AI Race coverage,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Frontier — workforce gap analysis.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Orbital compute sidesteps Earth-bound bottlenecks — pilot stage today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interconnection queue. No permits. No water. 1,361 W/m²</a:t>
            </a:r>
            <a:pPr indent="0" marL="0">
              <a:buNone/>
            </a:pPr>
            <a:r>
              <a:rPr lang="en-US" sz="700" baseline="30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unfiltered solar, 24/7. Orbital compute sidesteps Earth's bottlenecks.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49240" y="1463040"/>
            <a:ext cx="3337560" cy="34747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40680" y="14630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modular orbital data-center satellite with 50-meter solar wings catching a violet tint, above Earth's dawn limb with atmospheric glow, deep indigo space, hyperrealistic Octane quality, slightly portrait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GRID QUEUE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82880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Earth's interconnection backlogs, zoning battles, and cooling constraints don't exist in orbit.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SOLAR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01752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1,361 W/m² of unfiltered sunlight, 24/7 — no intermittency, no capacity-factor limits.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BORDERS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20624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Sidesteps data-localization laws, export controls, and the jurisdictional patchwork.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Starcloud · SpaceX · Google Suncatcher · Aetherflux</a:t>
            </a:r>
            <a:pPr indent="0" marL="0">
              <a:buNone/>
            </a:pPr>
            <a:r>
              <a:rPr lang="en-US" sz="800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solar constant, 1,361 W/m² at 1 AU,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filings; Starcloud, SpaceX, Google Suncatcher, Aetherflux announcements; CNBC.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Humanoids hit pilot scale — every robot is a walking inference endpoint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enter manufacturing, logistics, and healthcare at pilot scale. Every robot is a walking inference endpoint.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463040"/>
            <a:ext cx="6400800" cy="201168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463040" y="1463040"/>
            <a:ext cx="6217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Panoramic photo — humanoid robot mid-stride on a factory floor, matte-white body with violet joint accents, motion blur on limbs, amber work-lights, a blurred human worker in a safety vest in the background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WORK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Manufacturing, logistics, warehousing, agriculture, healthcare — pilots are underway.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TIRELESS COWORKERS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take hazardous and ergonomically punishing tasks. Humans keep judgment.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AT THE EDGE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robot runs foundation models in real time. At scale, rivals LLM compute.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Optimus · Figure · Boston Dynamics · Unitree · Agility</a:t>
            </a:r>
            <a:pPr indent="0" marL="0">
              <a:buNone/>
            </a:pPr>
            <a:r>
              <a:rPr lang="en-US" sz="800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— humanoid robotics market outlook,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 — robotics compute keynotes,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Figure AI, Hyundai/Boston Dynamics, Unitree, Agility — company announcements.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 autonomous mile compounds — every AV runs frontier edge compute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miles → better models → more deployments. Every vehicle is a rolling inference machine consuming frontier-scale compute.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2560320" cy="379476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63040"/>
            <a:ext cx="2377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Long-exposure photo — white minivan robotaxi with a violet-glowing roof lidar on a rainy dusk city street, red and white traffic light trails, wet asphalt reflecting neon storefronts, tall portrait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CASE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78308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8288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drivers cause ~1.35M deaths a year.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Autonomous systems don't tire or lose focus.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FLYWHEEL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306324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31089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 generates training data. Better models unlock more cities. Flywheel self-reinforces.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INFERENCE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434340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3891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AV runs thousands of AI ops / second across cameras, lidar, radar — frontier-scale compute.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539496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94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· Tesla FSD · Baidu Apollo · Aurora</a:t>
            </a:r>
            <a:pPr indent="0" marL="0">
              <a:buNone/>
            </a:pPr>
            <a:r>
              <a:rPr lang="en-US" sz="800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Global Road Safety report,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 — automotive/DRIVE platform,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Waymo, Tesla, Baidu Apollo, Aurora — company disclosures.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is rewriting drug discovery.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mechanisms compress the R&amp;D cycle's earliest stages from years to hours. Clinical trials still take years — AI collapses the design stage, not the regulatory one.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3355848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3355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protein ribbon diagram in a violet-to-magenta-to-gold gradient on graphite black, razor-sharp front with softly-blurred back, faint electron-density mesh around the structure, no labels or annotations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0" y="1691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1691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22192" y="1691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PREDICTION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40480" y="2029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Predicting a protein's 3D shape from its amino-acid sequence was a 50-year unsolved problem. Crystallography took months per protein. Deep learning now infers structure in seconds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unlocking every drug target at once.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0" y="2834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2834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22192" y="2834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MOLECULE DESIGN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840480" y="3172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are ~10⁶⁰ drug-like small molecules.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Wet labs can screen millions. Generative models search the rest — proposing novel binders optimized for selectivity, potency, and drug-like properties.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0" y="3977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0" y="3977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22192" y="3977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SILICO VALIDATION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840480" y="4315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Molecular dynamics and binding-affinity prediction filter candidates before synthesis. Weeks of bench work become hours of GPU compute. Far fewer molecules reach animal testing.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5193792"/>
            <a:ext cx="8229600" cy="38404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19379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pharma: 10–15 years, ~$2.6B per approved drug, &lt;10% Phase I success.</a:t>
            </a:r>
            <a:pPr indent="0" marL="0">
              <a:buNone/>
            </a:pPr>
            <a:r>
              <a:rPr lang="en-US" sz="7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collapses the design stage — clinical trials are still bound by biology and the FDA.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Jumper et al., AlphaFold, Nature 2020,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 — screening scale,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Tufts CSDD — drug-development cost and timeline.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Capex on credit. Basket over. Bottleneck moves. Exposure is a thesis.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big-picture takeaways.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91640"/>
            <a:ext cx="868680" cy="86868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91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508760" y="1691640"/>
            <a:ext cx="7178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capex cycle in history is going on credit.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868680" cy="8686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517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508760" y="2651760"/>
            <a:ext cx="7178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basket trade is over. The market picks winners.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868680" cy="8686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6118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508760" y="3611880"/>
            <a:ext cx="7178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keeps moving. That is the opportunity.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57200" y="4572000"/>
            <a:ext cx="868680" cy="868680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5720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1508760" y="4572000"/>
            <a:ext cx="7178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index, you own the thesis. Choose it deliberately.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" y="5623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filings; CreditSights / MUFG; Goldman Sachs; SemiAnalysis; BofA; TrendForce. See appendix for figure-by-figure citations.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(1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LANDSCAPE · MARKET · SHIFTS.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  ·  3–6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capex,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estimates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Jensen Huang "most important" remarks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appearance, Sept 2025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Six-phase evolution timeline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 synthesis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11-layer AI stack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/ PC adoption curves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Mary Meeker, Bond / KPCB Internet Trends 2019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revenue Y0–Y4 trajectory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filings and consensus estimates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 ·  7–11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Four-stage AI chipmaking process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 / SEMI industry taxonomy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"$20B fab" cost benchmark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 World Fab Forecast; TSMC / Samsung capex disclosures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+ CoWoS advanced packaging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TrendForce; TSMC CoWoS capacity disclosures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"~60% hyperscaler share of AI chips"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SemiAnalysis / Omdia 2026E estimates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2026 capex guides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AWS, MSFT, GOOGL, META, ORCL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"~12% US electricity by 2028"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EPRI (2024) data-center load forecast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 GW typical AI campus"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LBNL, DOE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"~5 yr interconnection wait"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PJM, ERCOT interconnection queues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 reopening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/ Constellation (Sept 2024)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$852B @ ~35× ARR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Sacra ARR run-rates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$380B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Bloomberg (Feb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$2.3T / ~$85B 2026 capex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10-K and 2026 capex guide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 $1.25T merger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CNBC, TechCrunch (Feb 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2× all of 2025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Crunchbase Q1 2026 VC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Non-Tech metrics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stockanalysis.com consensus (Apr 22,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caps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companiesmarketcap.com (Apr 22, 2026)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  ·  12–13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"10–100× compute per session"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vs agent token counts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GitHub Trending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prices rebased to 100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supercycle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Counterpoint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BDC index / PE SaaS 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BDC; PitchBook secondary marks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1 of 2 — continues on the next page with RISKS, FRONTIER, and TAKEAWAYS.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(2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RISKS · FRONTIER · TAKEAWAYS.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 ·  14–17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"131× Cisco fwd P/E, Mar 2000"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Harding Loevner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"~24× NVDA fwd P/E, Apr 17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GuruFocus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"14% of 2000 tech IPOs profitable"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Ritter, University of Florida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"$500B dark fiber unused"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dark-fiber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"GPU 2nd market 90–95% list"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CoreWeave 2nd-market pricing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"Hyperscaler net debt/EBITDA ~48%"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"TSMC ~90% advanced-node share"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filings;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"SK Hynix + Samsung ~76% DRAM"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"ASML &lt;100 EUV / yr"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fab timelines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TSMC, Samsung, Micron, Intel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"CHIPS $36B of $52.7B committed"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Commerce Dept (Nov 2025)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H100/H200/Blackwell export ban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Bureau of Industry and Security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"NVIDIA $5.5B H20 writedown"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10-Q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ban; China ~20% revenue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"EU AI Act Aug 2, 2026 enforcement"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Article 99 / Chapter V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"SMIC 5nm yield ~20%"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industry reports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"$18B halted / $46B delayed"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"142 activist groups, 24 states"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"26% of Americans positive on AI"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Echelon Insights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"Stop the AI Race" Mar 2026 protests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the AI Race; TIME; CNN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"~480K data-center workforce gap"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Frontier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 ·  18–21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"1,361 W/m² unfiltered solar"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constant (physical)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Orbital compute players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filings; Starcloud, SpaceX, Google Suncatcher, Aetherflux; CNBC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 deployments in pilots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humanoid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 list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Figure, Boston Dynamics, Unitree, Agility announcements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"~1.35M road deaths / year"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Global Road Safety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 inference compute scale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AlphaFold structure prediction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Jumper et al., Nature 2020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"~10⁶⁰ drug-like small molecules"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"10–15 yrs / ~$2.6B per drug"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Tufts CSDD drug-development studies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"&lt;10% Phase I success"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  ·  22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2026 capex"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 correlation 80% → 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correlation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"Semis +38% / software –20% YTD"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"HBM TAM $35B → $100B, 2025–28"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BofA HBM TAM; TrendForce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FCF impact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Amazon, Meta 10-Qs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2 of 2. End of deck.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Markets — May 2026</dc:title>
  <dc:subject>PptxGenJS Presentation</dc:subject>
  <dc:creator>Strategy</dc:creator>
  <cp:lastModifiedBy>Strategy</cp:lastModifiedBy>
  <cp:revision>1</cp:revision>
  <dcterms:created xsi:type="dcterms:W3CDTF">2026-04-27T19:53:47Z</dcterms:created>
  <dcterms:modified xsi:type="dcterms:W3CDTF">2026-04-27T19:53:47Z</dcterms:modified>
</cp:coreProperties>
</file>