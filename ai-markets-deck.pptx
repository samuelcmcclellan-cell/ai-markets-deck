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88920"/>
            <a:ext cx="1005840" cy="1280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Contents.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737360"/>
            <a:ext cx="109728" cy="585216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3736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LANDSCAPE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0" y="173736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5915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395728"/>
            <a:ext cx="109728" cy="585216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95728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395728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0" y="2395728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11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054096"/>
            <a:ext cx="109728" cy="5852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054096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054096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SHIFTS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0" y="3054096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– 13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675888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712464"/>
            <a:ext cx="109728" cy="5852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712464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15200" y="3712464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– 17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334256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370832"/>
            <a:ext cx="109728" cy="585216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37083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45920" y="4370832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FRONTIER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370832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– 21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992624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5029200"/>
            <a:ext cx="109728" cy="58521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02920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502920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15200" y="502920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22 slides, read top to bottom.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783080" y="182880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largest capex cycle in history.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83080" y="228600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5 hyperscalers are pouring roughly $750B into AI infrastructure in 2026 alone — more than the entire US energy buildout at its peak.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touches every layer of the economy.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61188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silicon and power generation through data centers, models, and the apps on your phone — AI is now the connective tissue of modern business.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783080" y="448056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is repricing everything — in both directions.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3776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wave that lifts semis, memory, and power is cracking software seat models, content moats, and legacy services. Winners and losers, inside one theme.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Strategy Research.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evolution from chatbots to agents.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56032" cy="10972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56032" cy="10972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256032" cy="10972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256032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029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40280" y="173736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03120" y="2011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0312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2011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03120" y="2377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0280" y="246888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2788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288036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24612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3154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03120" y="3520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0280" y="361188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0" y="3520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03120" y="3931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40280" y="402336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68880" y="3931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0" y="3931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03120" y="4297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0280" y="438912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6888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03120" y="4663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475488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03120" y="5074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40280" y="516636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074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03120" y="5440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40280" y="553212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572000" y="5440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Ordered top (closest to user) to bottom (closest to atoms).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Semiconductors, explained.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pass through four making stages before reaching six product markets. AI capex piles into just two categories — but flows through bottlenecks at every stage.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772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92224"/>
            <a:ext cx="128016" cy="128016"/>
          </a:xfrm>
          <a:prstGeom prst="ellipse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 the chip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Apple · AMD · Broadcom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591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697480" y="1792224"/>
            <a:ext cx="128016" cy="128016"/>
          </a:xfrm>
          <a:prstGeom prst="ellipse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803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974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the tools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157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974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· Applied Materials · Lam · KLA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165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754880" y="1792224"/>
            <a:ext cx="128016" cy="128016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prints the wafer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731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· Samsung · Intel Foundry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739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812280" y="1792224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951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122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stacks the dies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305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122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CoWoS · ASE · Amkor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436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computation happens — the chips that run code and move data.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9436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AI accelerators, ASICs, FPGAs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4008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AMD · Broadcom · TSMC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24612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328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data so logic can read it at terabit speeds.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38328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DRAM, HBM, NAND — every AI server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42900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4612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· Samsung · Micron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03504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7220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General-purpose silicon that runs your operating system.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7220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CPUs in every phone and PC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21792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3504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· AMD · Apple · Qualcomm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5720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solidFill>
            <a:srgbClr val="051A3D"/>
          </a:solidFill>
          <a:ln w="12700">
            <a:solidFill>
              <a:srgbClr val="051A3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9436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bridge between silicon and the real world — voltages, signals, RF.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9436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management, radio, audio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4008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· Analog Devices · Infineon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24612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+ OPTO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38328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chips see, hear, and communicate with photons.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38328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cameras, lidar, fiber optics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42900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4612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 · Samsung · STMicro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03504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+ POWER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17220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Heavy-current switching for machines, grids, and vehicles.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617220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EVs, industrial motors, chargers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21792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03504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Infineon · ON Semi · Wolfspeed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57200" y="5285232"/>
            <a:ext cx="8229600" cy="402336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5285232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and memory absorb the AI capex — but every chip flows through ASML tools, TSMC fabs, and advanced packaging, where bottlenecks decide who ships.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SIA category taxonomy; WSTS Fall 2025; SEMI World Fab Forecast; TrendForce; company disclosures. Category descriptions are plain-English simplifications.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Who's buying the chips.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hyperscalers fund roughly 60% of advanced-AI chip demand — sovereigns, enterprise, and edge devices split the rest.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128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share of advanced-AI chip demand, 2026E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frontier models and renting compute to everyone else.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8521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· Meta · Oracle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746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66547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AI programs building sovereign access to frontier compute.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2034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547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6547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UAE G42 · Saudi HUMAIN · UK AIRR · Japan METI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4573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Banks, pharma, and Fortune 500s deploying on-prem for regulated data.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4573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74573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 · Novartis · Walmart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9798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82599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inference moves into phones, PCs, cars, and factory robots.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88086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2599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82599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· Samsung · Tesla · humanoid OEMs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525780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5257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buyers fund most of the AI compute cycle — their capex IS the market.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SemiAnalysis and Omdia estimates of AI accelerator end-demand; TrendForce; hyperscaler 2026 capex guides (AWS, Microsoft, Google, Meta, Oracle); IDC. Shares are directional 2026E estimates.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is the new bottleneck.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hyperscale AI campus now draws as much electricity as a mid-sized city. The grid, not the chip, is starting to set the pace of buildouts.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~12%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 electricity demand will go to data centers by 2028 — up from ~4% in 2023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GW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new AI campus — the draw of ~750K US homes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~5 yr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wait for a new grid interconnection in PJM &amp; ERCOT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to build, dispatchable. New CCGT contracts up sharply; GE Vernova backlog at record highs.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· Siemens Energy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Mile Island reopening for Microsoft. SMRs (Oklo, X-Energy) signed to hyperscaler PPAs.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Constellation · Oklo · NuScale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RENEWABLES + STORAGE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+ battery hybrids now the cheapest new capacity. Hyperscalers signing 24/7 PPAs.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NextEra · AES · Fluence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are useless without electrons. Power names are trading like semis.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EPRI (US data-center load forecast, 2024); DOE; Lawrence Berkeley National Lab; Microsoft / Constellation TMI announcement (Sep 2024); PJM, ERCOT interconnection queues.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private labs, one public giant, and xAI — now inside SpaceX after February's $1.25T all-stock merger.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19656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9164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0" y="1691640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$852B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691640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~35× ARR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691640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$122B round · AMZN / NVDA / SoftBank · Apr 2026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96312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4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262432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49631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00400" y="2496312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$380B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480560" y="2496312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~13× ARR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760720" y="2496312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Series G (Feb); VCs now offering $800B+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3300984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42900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33009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00400" y="3300984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$2.3T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480560" y="3300984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~20× P/E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760720" y="3300984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(public) · Gemini 3 / DeepMind · ~$85B 2026 capex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4105656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6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233672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325880" y="410565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3200400" y="4105656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$1.25T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4480560" y="4105656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760720" y="4105656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All-stock merger closed Feb 2, 2026 — xAI now a SpaceX subsidiary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5166360"/>
            <a:ext cx="8229600" cy="54864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640080" y="5166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TechCrunch, CNBC (Feb 2, 2026 xAI/SpaceX merger); Crunchbase Q1 2026 VC data; Sacra ARR run-rates; Bloomberg; Alphabet 10-K &amp; 2026 capex guide.</a:t>
            </a:r>
            <a:endParaRPr lang="en-US" sz="700" dirty="0"/>
          </a:p>
        </p:txBody>
      </p:sp>
      <p:sp>
        <p:nvSpPr>
          <p:cNvPr id="34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Earnings &amp; valuations.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 — P/E vs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4920" y="4151376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4920" y="3639312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127248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74920" y="2615184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4663440"/>
            <a:ext cx="3520440" cy="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2103120"/>
            <a:ext cx="0" cy="256032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737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-5%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1937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83387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4739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1403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75411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41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727448" y="459943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0×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727448" y="4087368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27448" y="3575304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27448" y="3063240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30×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727448" y="2551176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40×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27448" y="203911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50×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4920" y="479145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revenue growth, 2026E → 2027E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754880" y="1801368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(2026E)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535924" y="337505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8130" y="313438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80211" y="299100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29081" y="329312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90850" y="296027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35924" y="272472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15279" y="346722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71844" y="204368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21547" y="2340681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44246" y="3497946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25007" y="387175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38059" y="3252155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31785" y="364132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2115" y="339041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36992" y="3370478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440718" y="305665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455599" y="298643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61669" y="340742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223438" y="295570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845552" y="272015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Broadcom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208955" y="346265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6504432" y="213969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54135" y="245498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76834" y="361224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Berkshire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757595" y="386718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922007" y="335731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Lilly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825461" y="363675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Exxon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024703" y="350471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818120" y="2157984"/>
            <a:ext cx="91440" cy="9144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936992" y="213055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818120" y="2322576"/>
            <a:ext cx="91440" cy="914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936992" y="2295144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median: ~26× fwd P/E on ~17% forward revenue growth. Non-Tech: ~23× on ~5%. The divergence is in the engine, not the multiple.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stockanalysis.com analyst consensus (AAPL/MSFT/GOOGL/AMZN/NVDA/META/AVGO/TSLA/LLY/JPM/V/XOM/BRK.B/WMT, as of Apr 22, 2026); companiesmarketcap.com (mkt caps, Apr 22, 2026). NVDA, AVGO clipped at +50% growth; TSLA at 50× fwd P/E.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agentic AI?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Screenshot — dark-mode IDE, AI agent editing Python code live, glowing orange cursor, 'Claude is editing' pill, streaming test output in a terminal pane, square framing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874520"/>
                <a:gridCol w="18745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10–100× compute step-up per session is what every AI capex forecast is pricing in.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Morgan Stanley CIO Survey; Strategy Research.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divergence.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are up, software is down — a ~58-point spread inside one theme. Private credit and PE-owned software names are now selling off in sympathy.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83080"/>
          <a:ext cx="39319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1737360"/>
            <a:ext cx="3931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54880" y="1737360"/>
            <a:ext cx="3931920" cy="27432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54880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919472" y="204825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108192" y="204825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+72%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67728" y="204825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capacity +50% in 2026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919472" y="231800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19472" y="23225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108192" y="232257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967728" y="232257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out; $8B run-rate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4919472" y="259232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19472" y="259689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108192" y="25968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+62%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967728" y="25968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HBM share; HBM4 ramp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4754880" y="2971800"/>
            <a:ext cx="39319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754880" y="2971800"/>
            <a:ext cx="393192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754880" y="2971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UNDER PRESSURE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919472" y="328269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108192" y="32826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–22%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967728" y="328269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 model under agent threat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4919472" y="355244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919472" y="35570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108192" y="35570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–24%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967728" y="355701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Gen-AI erodes content moat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919472" y="382676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919472" y="38313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108192" y="38313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–19%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967728" y="383133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Workflows disrupted by agents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4754880" y="4206240"/>
            <a:ext cx="39319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54880" y="4206240"/>
            <a:ext cx="39319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754880" y="42062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CREDIT &amp; PE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919472" y="45171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6108192" y="4517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–11%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6967728" y="451713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loan books re-marked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4919472" y="4786884"/>
            <a:ext cx="3602736" cy="0"/>
          </a:xfrm>
          <a:prstGeom prst="line">
            <a:avLst/>
          </a:prstGeom>
          <a:noFill/>
          <a:ln w="5080">
            <a:solidFill>
              <a:srgbClr val="E5E5E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919472" y="479145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 SaaS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6108192" y="479145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–15%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6967728" y="479145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marks written down in Q1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457200" y="528523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40080" y="52852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software sell-off is now a private-credit problem — PE shops are writing down 2021-marked SaaS.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Yahoo Finance YTD total returns (Apr 17, 2026); Counterpoint Research; Morgan Stanley CIO Survey; Bloomberg BDC and PE secondary marks; PitchBook. Single-stock YTDs indicative.</a:t>
            </a:r>
            <a:endParaRPr lang="en-US" sz="700" dirty="0"/>
          </a:p>
        </p:txBody>
      </p:sp>
      <p:sp>
        <p:nvSpPr>
          <p:cNvPr id="51" name="Shape 4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53" name="Text 5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249424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1031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fwd P/E, Mar 2000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fwd P/E, Apr 17, 2026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07792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76148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tech IPOs were profitable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 7 avg net margin (2× S&amp;P)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3566160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985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$500B dark fiber unused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2nd market 90–95% of list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4224528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40782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telcos went bankrupt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net debt/EBITDA (vs ~80% S&amp;P)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Harding Loevner (Cisco); GuruFocus (NVDA fwd P/E Apr 17, 2026); Jay Ritter / UF; Bloomberg; CoreWeave 2nd market; FCC dark fiber data.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fragility.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countries control the advanced semiconductor stack. US reshoring is real but slow — most leading-edge fabs come online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Cinematic — two bunny-suited technicians in front of an EUV lithography tool, warm amber photolith glow, shallow DOF on a gloved hand at a control, stainless-steel cleanroom, near-square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8620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advanced-node chips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4652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76%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DRAM share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86200" y="338328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leading-edge chip crosses 70+ borders and six countries before reaching a data center. ASML builds fewer than 100 EUV machines a year.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ACTUAL STATUS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 1 at 4nm; Fab 2 ~2026–27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3746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8318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8318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2nm fab, pushed to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61772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broken; online ~2028–30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0654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5226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5226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fabs; online ~2027–28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TSMC, Samsung, Micron, Intel filings; US Commerce Dept CHIPS Program Office (Nov 2025 — $36B+ committed of $52.7B); SIA.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&amp; regulation.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▣</a:t>
            </a:r>
            <a:endParaRPr lang="en-US" sz="4800" dirty="0"/>
          </a:p>
        </p:txBody>
      </p:sp>
      <p:sp>
        <p:nvSpPr>
          <p:cNvPr id="11" name="Shape 9"/>
          <p:cNvSpPr/>
          <p:nvPr/>
        </p:nvSpPr>
        <p:spPr>
          <a:xfrm>
            <a:off x="822960" y="3291840"/>
            <a:ext cx="18288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 / H200 / Blackwell banned from China.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$5.5B NVIDIA H20 writedown.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~20% of revenue.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§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3657600" y="3291840"/>
            <a:ext cx="1828800" cy="0"/>
          </a:xfrm>
          <a:prstGeom prst="line">
            <a:avLst/>
          </a:prstGeom>
          <a:noFill/>
          <a:ln w="19050">
            <a:solidFill>
              <a:srgbClr val="F669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enforcement: Aug 2, 2026.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36% of enterprises feel prepared.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⚒</a:t>
            </a:r>
            <a:endParaRPr lang="en-US" sz="4800" dirty="0"/>
          </a:p>
        </p:txBody>
      </p:sp>
      <p:sp>
        <p:nvSpPr>
          <p:cNvPr id="23" name="Shape 21"/>
          <p:cNvSpPr/>
          <p:nvPr/>
        </p:nvSpPr>
        <p:spPr>
          <a:xfrm>
            <a:off x="6492240" y="3291840"/>
            <a:ext cx="1828800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Act: ~$36B committed of $52.7B.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NVIDIA 10-Q; ASML filings; EU AI Act Article 99 / Chapter V (Aug 2, 2026 enforcement); US Bureau of Industry and Security; Commerce Dept (Nov 2025).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backlash.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2004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Photojournalism — 'STOP THE AI RACE' hand-lettered protest signs at a dusk rally, shoulder-height crowd POV, warm golden-hour sky, faces in shadow, signs in sharp focus, 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forces now price the AI infrastructure bet lower: communities blocking the builds, voters souring on the technology, and a shortage of the skilled workers who wire it all up.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86200" y="2514600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23360" y="2880360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leads with 42 chapters.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3456432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23360" y="3822192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26% of Americans view AI positively. March 2026 "Stop the AI Race" protests hit lab HQs in SF and DC.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4398264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4764024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~480K data-center workforce gap against 400+ sites under construction. Talent, not capital, is binding.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permitting layer is the new supply-chain layer — and it is politically, not technically, constrained.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Data Center Watch ($18B halted, $46B delayed, 142 groups); Echelon Insights; Stop the AI Race; Fortune; TIME; CNN; NBC News; Data Center Frontier.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Beyond the grid.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modular orbital data-center satellite with 50-meter solar wings catching a violet tint, above Earth's dawn limb with atmospheric glow, deep indigo space, hyperrealistic Octane quality, slightly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82880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01752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20624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FCC filings; Starcloud, Google, SpaceX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Panoramic photo — humanoid robot mid-stride on a factory floor, matte-white body with violet joint accents, motion blur on limbs, amber work-lights, a blurred human worker in a safety vest in the background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Goldman Sachs; Figure AI, Tesla, Hyundai, NVIDIA;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Long-exposure photo — white minivan robotaxi with a violet-glowing roof lidar on a rainy dusk city street, red and white traffic light trails, wet asphalt reflecting neon storefronts, tall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Waymo, Tesla, Baidu, Aurora; WHO Global Road Safety; NVIDIA FY2026.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 compress the R&amp;D cycle's earliest stages from years to hours. Clinical trials still take years — AI collapses the design stage, not the regulatory one.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3355848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protein ribbon diagram in a violet-to-magenta-to-gold gradient on graphite black, razor-sharp front with softly-blurred back, faint electron-density mesh around the structure, no labels or annotations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0" y="1691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691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22192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PREDICTION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0" y="2029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a protein's 3D shape from its amino-acid sequence was a 50-year unsolved problem. Crystallography took months per protein. Deep learning now infers structure in seconds — unlocking every drug target at once.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0" y="2834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2834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834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MOLECULE DESIGN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0" y="3172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~10⁶⁰ drug-like small molecules. Wet labs can screen millions. Generative models search the rest — proposing novel binders optimized for selectivity, potency, and drug-like properties.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0" y="3977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3977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2192" y="3977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SILICO VALIDATION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4315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dynamics and binding-affinity prediction filter candidates before synthesis. Weeks of bench work become hours of GPU compute. Far fewer molecules reach animal testing.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19379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1937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pharma: 10–15 years, ~$2.6B per approved drug, &lt;10% Phase I success. AI collapses the design stage — clinical trials are still bound by biology and the FDA.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Jumper et al. (AlphaFold, Nature 2020); Tufts CSDD drug-development cost and timeline studies; Hughes et al., Br. J. Pharmacol. on screening scale; Strategy Research.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+38% YTD, software –20% YTD — a 58-point spread.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Yahoo Finance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(1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LANDSCAPE · MARKET · SHIFTS.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 ·  3–6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capex,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estimates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Jensen Huang "most important" remarks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appearance, Sept 2025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Six-phase evolution timeline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 synthesis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11-layer AI stack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/ PC adoption curves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Mary Meeker, Bond / KPCB Internet Trends 2019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revenue Y0–Y4 trajectory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filings and consensus estimates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 ·  7–11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"$975B 2026E semi market"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WSTS Fall 2025 forecast (Nov 2025 release)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Six-category chip taxonomy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market-structure breakdown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"~60% hyperscaler share of AI chips"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SemiAnalysis / Omdia 2026E estimates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2026 capex guides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AWS, MSFT, GOOGL, META, ORCL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"~12% US electricity by 2028"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EPRI (2024) data-center load forecast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 GW typical AI campus"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LBNL, DOE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"~5 yr interconnection wait"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PJM, ERCOT interconnection queues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 reopening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/ Constellation (Sept 2024)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$852B @ ~35× ARR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Sacra ARR run-rates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$380B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Bloomberg (Feb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$2.3T / ~$85B 2026 capex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and 2026 capex guide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 $1.25T merger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TechCrunch (Feb 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2× all of 2025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Non-Tech metrics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stockanalysis.com consensus (Apr 22,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companiesmarketcap.com (Apr 22, 2026)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  ·  12–13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"10–100× compute per session"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vs agent token counts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GitHub Trending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prices rebased to 100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Counterpoint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 / PE SaaS 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BDC; PitchBook secondary marks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of 2 — continues on the next page with RISKS, FRONTIER, and TAKEAWAYS.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(2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RISKS · FRONTIER · TAKEAWAYS.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 ·  14–17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"131× Cisco fwd P/E, Mar 2000"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"~24× NVDA fwd P/E, Apr 17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"14% of 2000 tech IPOs profitable"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University of Florida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"$500B dark fiber unused"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dark-fiber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"GPU 2nd market 90–95% list"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2nd-market pricing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"Hyperscaler net debt/EBITDA ~48%"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"TSMC ~90% advanced-node share"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filings;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"SK Hynix + Samsung ~76% DRAM"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"ASML &lt;100 EUV / yr"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fab timelines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TSMC, Samsung, Micron, Intel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"CHIPS $36B of $52.7B committed"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(Nov 2025)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export ban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Bureau of Industry and Security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"NVIDIA $5.5B H20 writedown"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ban; China ~20% revenue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"EU AI Act Aug 2, 2026 enforcement"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Article 99 / Chapter V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"SMIC 5nm yield ~20%"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industry reports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"$18B halted / $46B delayed"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"142 activist groups, 24 states"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"26% of Americans positive on AI"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"Stop the AI Race" Mar 2026 protests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AI Race; TIME; CNN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"~480K data-center workforce gap"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 ·  18–21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"1,361 W/m² unfiltered solar"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constant (physical)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 compute players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Aetherflux; CNBC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 deployments in pilots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humanoid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list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Figure, Boston Dynamics, Unitree, Agility announcements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"~1.35M road deaths / year"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inference compute scale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structure prediction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Nature 2020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"~10⁶⁰ drug-like small molecules"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"10–15 yrs / ~$2.6B per drug"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drug-development studies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"&lt;10% Phase I success"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 ·  22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2026 capex"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correlation 80% → 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correlation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"Semis +38% / software –20% YTD"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"HBM TAM $35B → $100B, 2025–28"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BofA HBM TAM; TrendForce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FCF impact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Amazon, Meta 10-Qs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of 2. End of deck.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2026-04-23T21:50:29Z</dcterms:created>
  <dcterms:modified xsi:type="dcterms:W3CDTF">2026-04-23T21:50:29Z</dcterms:modified>
</cp:coreProperties>
</file>