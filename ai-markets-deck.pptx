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22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explained.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 wafers etched with billions of microscopic switches. A handful of categories do very different jobs — and AI demand concentrates in just two.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847088"/>
            <a:ext cx="146304" cy="146304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16916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 </a:t>
            </a:r>
            <a:pPr indent="0" marL="0">
              <a:buNone/>
            </a:pPr>
            <a:r>
              <a:rPr lang="en-US" sz="10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14600" y="1764792"/>
            <a:ext cx="0" cy="310896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15768" y="1847088"/>
            <a:ext cx="146304" cy="146304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16936" y="16916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 </a:t>
            </a:r>
            <a:pPr indent="0" marL="0">
              <a:buNone/>
            </a:pPr>
            <a:r>
              <a:rPr lang="en-US" sz="10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764792"/>
            <a:ext cx="0" cy="310896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73168" y="1847088"/>
            <a:ext cx="146304" cy="146304"/>
          </a:xfrm>
          <a:prstGeom prst="ellipse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74336" y="16916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  </a:t>
            </a:r>
            <a:pPr indent="0" marL="0">
              <a:buNone/>
            </a:pPr>
            <a:r>
              <a:rPr lang="en-US" sz="10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629400" y="1764792"/>
            <a:ext cx="0" cy="310896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30568" y="1847088"/>
            <a:ext cx="146304" cy="146304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31736" y="16916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</a:t>
            </a:r>
            <a:pPr indent="0" marL="0">
              <a:buNone/>
            </a:pPr>
            <a:r>
              <a:rPr lang="en-US" sz="10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331720"/>
            <a:ext cx="2651760" cy="13716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331720"/>
            <a:ext cx="2651760" cy="27432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331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94360" y="26791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" y="31729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0080" y="3447288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46557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3246120" y="2331720"/>
            <a:ext cx="2651760" cy="13716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331720"/>
            <a:ext cx="2651760" cy="27432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2331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83280" y="26791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83280" y="31729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29000" y="3447288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46120" y="346557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035040" y="2331720"/>
            <a:ext cx="2651760" cy="13716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35040" y="2331720"/>
            <a:ext cx="2651760" cy="27432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2331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72200" y="26791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72200" y="31729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447288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35040" y="346557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3813048"/>
            <a:ext cx="2651760" cy="13716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813048"/>
            <a:ext cx="2651760" cy="274320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4360" y="416052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4360" y="46542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080" y="492861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94690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246120" y="3813048"/>
            <a:ext cx="2651760" cy="13716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46120" y="3813048"/>
            <a:ext cx="2651760" cy="27432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4612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383280" y="416052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383280" y="46542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29000" y="492861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46120" y="494690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035040" y="3813048"/>
            <a:ext cx="2651760" cy="13716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3813048"/>
            <a:ext cx="2651760" cy="2743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3504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172200" y="416052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172200" y="46542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217920" y="492861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0" y="494690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are the only two categories where AI capex concentrates — the rest of silicon serves the rest of the economy.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 forecast for market-size context. Category descriptions are plain-English simplifications.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Who's buying the chips.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 (Feb 2, 2026 xAI/SpaceX merger); Crunchbase Q1 2026 VC data; Sacra ARR run-rates; Bloomberg; Alphabet 10-K &amp; 2026 capex guide.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dark-themed IDE with AI coworker editing code, orange accents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~58-point spread inside one theme. Private credit and PE-owned software names are now selling off in sympathy.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3736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37360"/>
            <a:ext cx="3931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737360"/>
            <a:ext cx="3931920" cy="27432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548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919472" y="20482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108192" y="204825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67728" y="204825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capacity +50% in 2026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919472" y="231800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19472" y="2322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108192" y="232257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967728" y="232257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out; $8B run-rate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919472" y="259232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19472" y="25968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08192" y="25968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+62%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967728" y="25968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HBM share; HBM4 ramp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54880" y="2971800"/>
            <a:ext cx="3931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754880" y="2971800"/>
            <a:ext cx="393192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54880" y="2971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UNDER PRESSURE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919472" y="32826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108192" y="32826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–22%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967728" y="32826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model under agent threat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919472" y="355244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19472" y="3557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108192" y="35570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–24%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967728" y="355701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Gen-AI erodes content moat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919472" y="382676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919472" y="38313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108192" y="38313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–19%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967728" y="383133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disrupted by agents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4754880" y="420624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54880" y="4206240"/>
            <a:ext cx="39319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75488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CREDIT &amp; PE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919472" y="45171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6108192" y="4517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–11%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967728" y="451713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loan books re-marked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919472" y="478688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19472" y="47914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 SaaS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108192" y="479145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–15%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6967728" y="479145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marks written down in Q1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57200" y="528523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40080" y="52852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software sell-off is now a private-credit problem — PE shops are writing down 2021-marked SaaS.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Yahoo Finance YTD total returns (Apr 17, 2026); Counterpoint Research; Morgan Stanley CIO Survey; Bloomberg BDC and PE secondary marks; PitchBook. Single-stock YTDs indicative.</a:t>
            </a:r>
            <a:endParaRPr lang="en-US" sz="700" dirty="0"/>
          </a:p>
        </p:txBody>
      </p:sp>
      <p:sp>
        <p:nvSpPr>
          <p:cNvPr id="51" name="Shape 4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3" name="Text 5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Harding Loevner (Cisco); GuruFocus (NVDA fwd P/E Apr 17, 2026); Jay Ritter / UF; Bloomberg; CoreWeave 2nd market; FCC dark fiber data.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bunny-suited techs on fab floor, orange photolith glow, tall aspect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 ASML builds fewer than 100 EUV machines a year.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signs at a dusk rally, tall aspect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 of Americans view AI positively. March 2026 "Stop the AI Race" protests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orbital data-center satellite with solar wings above Earth's limb at dawn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82880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01752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062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humanoid robot mid-stride on a factory floor, warm work-light, motion blur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Waymo robotaxi on a rainy city street at dusk, sensor pod lit, long exposure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ribbon-diagram protein structure against graphite black, shallow DOF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Jumper et al. (AlphaFold, Nature 2020); Tufts CSDD drug-development cost and timeline studies; Hughes et al., Br. J. Pharmacol. on screening scale; Strategy Research.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2026-04-23T19:07:44Z</dcterms:created>
  <dcterms:modified xsi:type="dcterms:W3CDTF">2026-04-23T19:07:44Z</dcterms:modified>
</cp:coreProperties>
</file>