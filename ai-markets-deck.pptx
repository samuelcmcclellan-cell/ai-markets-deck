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2026E $B</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Logic / AI accel.</c:v>
                  </c:pt>
                  <c:pt idx="1">
                    <c:v>Memory</c:v>
                  </c:pt>
                  <c:pt idx="2">
                    <c:v>Analog</c:v>
                  </c:pt>
                  <c:pt idx="3">
                    <c:v>Micro / MCU</c:v>
                  </c:pt>
                  <c:pt idx="4">
                    <c:v>Discrete &amp; Power</c:v>
                  </c:pt>
                </c:lvl>
              </c:multiLvlStrCache>
            </c:multiLvlStrRef>
          </c:cat>
          <c:val>
            <c:numRef>
              <c:f>Sheet1!$B$2:$B$6</c:f>
              <c:numCache>
                <c:formatCode>General</c:formatCode>
                <c:ptCount val="5"/>
                <c:pt idx="0">
                  <c:v>390</c:v>
                </c:pt>
                <c:pt idx="1">
                  <c:v>295</c:v>
                </c:pt>
                <c:pt idx="2">
                  <c:v>95</c:v>
                </c:pt>
                <c:pt idx="3">
                  <c:v>85</c:v>
                </c:pt>
                <c:pt idx="4">
                  <c:v>45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HBM TAM $B</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2023</c:v>
                  </c:pt>
                  <c:pt idx="1">
                    <c:v>2024</c:v>
                  </c:pt>
                  <c:pt idx="2">
                    <c:v>2025</c:v>
                  </c:pt>
                  <c:pt idx="3">
                    <c:v>2026E</c:v>
                  </c:pt>
                  <c:pt idx="4">
                    <c:v>2027E</c:v>
                  </c:pt>
                  <c:pt idx="5">
                    <c:v>2028E</c:v>
                  </c:pt>
                </c:lvl>
              </c:multiLvlStrCache>
            </c:multiLvlStrRef>
          </c:cat>
          <c:val>
            <c:numRef>
              <c:f>Sheet1!$B$2:$B$7</c:f>
              <c:numCache>
                <c:formatCode>General</c:formatCode>
                <c:ptCount val="6"/>
                <c:pt idx="0">
                  <c:v>4</c:v>
                </c:pt>
                <c:pt idx="1">
                  <c:v>16</c:v>
                </c:pt>
                <c:pt idx="2">
                  <c:v>38</c:v>
                </c:pt>
                <c:pt idx="3">
                  <c:v>60</c:v>
                </c:pt>
                <c:pt idx="4">
                  <c:v>82</c:v>
                </c:pt>
                <c:pt idx="5">
                  <c:v>100</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c:v>
                </c:pt>
              </c:strCache>
            </c:strRef>
          </c:tx>
          <c:spPr>
            <a:solidFill>
              <a:srgbClr val="FFB800"/>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Sheet1!$A$2:$A$4</c:f>
              <c:multiLvlStrCache>
                <c:ptCount val="3"/>
                <c:lvl>
                  <c:pt idx="0">
                    <c:v>SK Hynix</c:v>
                  </c:pt>
                  <c:pt idx="1">
                    <c:v>Micron</c:v>
                  </c:pt>
                  <c:pt idx="2">
                    <c:v>Samsung</c:v>
                  </c:pt>
                </c:lvl>
              </c:multiLvlStrCache>
            </c:multiLvlStrRef>
          </c:cat>
          <c:val>
            <c:numRef>
              <c:f>Sheet1!$B$2:$B$4</c:f>
              <c:numCache>
                <c:formatCode>General</c:formatCode>
                <c:ptCount val="3"/>
                <c:pt idx="0">
                  <c:v>62</c:v>
                </c:pt>
                <c:pt idx="1">
                  <c:v>21</c:v>
                </c:pt>
                <c:pt idx="2">
                  <c:v>17</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 (SOXX)</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Sheet1!$A$2:$A$7</c:f>
              <c:multiLvlStrCache>
                <c:ptCount val="6"/>
                <c:lvl>
                  <c:pt idx="0">
                    <c:v>Jan 1</c:v>
                  </c:pt>
                  <c:pt idx="1">
                    <c:v>Jan 17</c:v>
                  </c:pt>
                  <c:pt idx="2">
                    <c:v>Jan 31</c:v>
                  </c:pt>
                  <c:pt idx="3">
                    <c:v>Feb 14</c:v>
                  </c:pt>
                  <c:pt idx="4">
                    <c:v>Feb 28</c:v>
                  </c:pt>
                  <c:pt idx="5">
                    <c:v>Mar 14</c:v>
                  </c:pt>
                </c:lvl>
              </c:multiLvlStrCache>
            </c:multiLvlStrRef>
          </c:cat>
          <c:val>
            <c:numRef>
              <c:f>Sheet1!$B$2:$B$7</c:f>
              <c:numCache>
                <c:formatCode>General</c:formatCode>
                <c:ptCount val="6"/>
                <c:pt idx="0">
                  <c:v>100</c:v>
                </c:pt>
                <c:pt idx="1">
                  <c:v>106</c:v>
                </c:pt>
                <c:pt idx="2">
                  <c:v>110</c:v>
                </c:pt>
                <c:pt idx="3">
                  <c:v>112</c:v>
                </c:pt>
                <c:pt idx="4">
                  <c:v>114</c:v>
                </c:pt>
                <c:pt idx="5">
                  <c:v>115</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Sheet1!$A$2:$A$7</c:f>
              <c:multiLvlStrCache>
                <c:ptCount val="6"/>
                <c:lvl>
                  <c:pt idx="0">
                    <c:v>Jan 1</c:v>
                  </c:pt>
                  <c:pt idx="1">
                    <c:v>Jan 17</c:v>
                  </c:pt>
                  <c:pt idx="2">
                    <c:v>Jan 31</c:v>
                  </c:pt>
                  <c:pt idx="3">
                    <c:v>Feb 14</c:v>
                  </c:pt>
                  <c:pt idx="4">
                    <c:v>Feb 28</c:v>
                  </c:pt>
                  <c:pt idx="5">
                    <c:v>Mar 14</c:v>
                  </c:pt>
                </c:lvl>
              </c:multiLvlStrCache>
            </c:multiLvlStrRef>
          </c:cat>
          <c:val>
            <c:numRef>
              <c:f>Sheet1!$C$2:$C$7</c:f>
              <c:numCache>
                <c:formatCode>General</c:formatCode>
                <c:ptCount val="6"/>
                <c:pt idx="0">
                  <c:v>100</c:v>
                </c:pt>
                <c:pt idx="1">
                  <c:v>99</c:v>
                </c:pt>
                <c:pt idx="2">
                  <c:v>97</c:v>
                </c:pt>
                <c:pt idx="3">
                  <c:v>96</c:v>
                </c:pt>
                <c:pt idx="4">
                  <c:v>95</c:v>
                </c:pt>
                <c:pt idx="5">
                  <c:v>95</c:v>
                </c:pt>
              </c:numCache>
            </c:numRef>
          </c:val>
          <c:smooth val="0"/>
        </c:ser>
        <c:ser>
          <c:idx val="2"/>
          <c:order val="2"/>
          <c:tx>
            <c:strRef>
              <c:f>Sheet1!$D$1</c:f>
              <c:strCache>
                <c:ptCount val="1"/>
                <c:pt idx="0">
                  <c:v>Software (IGV)</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Sheet1!$A$2:$A$7</c:f>
              <c:multiLvlStrCache>
                <c:ptCount val="6"/>
                <c:lvl>
                  <c:pt idx="0">
                    <c:v>Jan 1</c:v>
                  </c:pt>
                  <c:pt idx="1">
                    <c:v>Jan 17</c:v>
                  </c:pt>
                  <c:pt idx="2">
                    <c:v>Jan 31</c:v>
                  </c:pt>
                  <c:pt idx="3">
                    <c:v>Feb 14</c:v>
                  </c:pt>
                  <c:pt idx="4">
                    <c:v>Feb 28</c:v>
                  </c:pt>
                  <c:pt idx="5">
                    <c:v>Mar 14</c:v>
                  </c:pt>
                </c:lvl>
              </c:multiLvlStrCache>
            </c:multiLvlStrRef>
          </c:cat>
          <c:val>
            <c:numRef>
              <c:f>Sheet1!$D$2:$D$7</c:f>
              <c:numCache>
                <c:formatCode>General</c:formatCode>
                <c:ptCount val="6"/>
                <c:pt idx="0">
                  <c:v>100</c:v>
                </c:pt>
                <c:pt idx="1">
                  <c:v>93</c:v>
                </c:pt>
                <c:pt idx="2">
                  <c:v>86</c:v>
                </c:pt>
                <c:pt idx="3">
                  <c:v>80</c:v>
                </c:pt>
                <c:pt idx="4">
                  <c:v>78</c:v>
                </c:pt>
                <c:pt idx="5">
                  <c:v>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Text 0"/>
          <p:cNvSpPr/>
          <p:nvPr/>
        </p:nvSpPr>
        <p:spPr>
          <a:xfrm>
            <a:off x="7223760" y="320040"/>
            <a:ext cx="1554480" cy="32004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March 2026</a:t>
            </a:r>
            <a:endParaRPr lang="en-US" sz="1400" dirty="0"/>
          </a:p>
        </p:txBody>
      </p:sp>
      <p:sp>
        <p:nvSpPr>
          <p:cNvPr id="3" name="Shape 1"/>
          <p:cNvSpPr/>
          <p:nvPr/>
        </p:nvSpPr>
        <p:spPr>
          <a:xfrm>
            <a:off x="7223760" y="685800"/>
            <a:ext cx="1554480" cy="0"/>
          </a:xfrm>
          <a:prstGeom prst="line">
            <a:avLst/>
          </a:prstGeom>
          <a:noFill/>
          <a:ln w="12700">
            <a:solidFill>
              <a:srgbClr val="000000"/>
            </a:solidFill>
            <a:prstDash val="solid"/>
          </a:ln>
        </p:spPr>
      </p:sp>
      <p:sp>
        <p:nvSpPr>
          <p:cNvPr id="4" name="Text 2"/>
          <p:cNvSpPr/>
          <p:nvPr/>
        </p:nvSpPr>
        <p:spPr>
          <a:xfrm>
            <a:off x="457200" y="1463040"/>
            <a:ext cx="8229600" cy="1097280"/>
          </a:xfrm>
          <a:prstGeom prst="rect">
            <a:avLst/>
          </a:prstGeom>
          <a:noFill/>
          <a:ln/>
        </p:spPr>
        <p:txBody>
          <a:bodyPr wrap="square" lIns="0" tIns="0" rIns="0" bIns="0" rtlCol="0" anchor="t"/>
          <a:lstStyle/>
          <a:p>
            <a:pPr indent="0" marL="0">
              <a:buNone/>
            </a:pPr>
            <a:r>
              <a:rPr lang="en-US" sz="7200" b="1" dirty="0">
                <a:solidFill>
                  <a:srgbClr val="000000"/>
                </a:solidFill>
                <a:latin typeface="Arial Black" pitchFamily="34" charset="0"/>
                <a:ea typeface="Arial Black" pitchFamily="34" charset="-122"/>
                <a:cs typeface="Arial Black" pitchFamily="34" charset="-120"/>
              </a:rPr>
              <a:t>AI Markets</a:t>
            </a:r>
            <a:endParaRPr lang="en-US" sz="7200" dirty="0"/>
          </a:p>
        </p:txBody>
      </p:sp>
      <p:sp>
        <p:nvSpPr>
          <p:cNvPr id="5" name="Text 3"/>
          <p:cNvSpPr/>
          <p:nvPr/>
        </p:nvSpPr>
        <p:spPr>
          <a:xfrm>
            <a:off x="457200" y="2514600"/>
            <a:ext cx="8229600" cy="548640"/>
          </a:xfrm>
          <a:prstGeom prst="rect">
            <a:avLst/>
          </a:prstGeom>
          <a:noFill/>
          <a:ln/>
        </p:spPr>
        <p:txBody>
          <a:bodyPr wrap="square" lIns="0" tIns="0" rIns="0" bIns="0" rtlCol="0" anchor="t"/>
          <a:lstStyle/>
          <a:p>
            <a:pPr indent="0" marL="0">
              <a:buNone/>
            </a:pPr>
            <a:r>
              <a:rPr lang="en-US" sz="2200" b="1" dirty="0">
                <a:solidFill>
                  <a:srgbClr val="000000"/>
                </a:solidFill>
                <a:latin typeface="Arial Black" pitchFamily="34" charset="0"/>
                <a:ea typeface="Arial Black" pitchFamily="34" charset="-122"/>
                <a:cs typeface="Arial Black" pitchFamily="34" charset="-120"/>
              </a:rPr>
              <a:t>The largest capex cycle in history — and the market picking winners inside it.</a:t>
            </a:r>
            <a:endParaRPr lang="en-US" sz="2200" dirty="0"/>
          </a:p>
        </p:txBody>
      </p:sp>
      <p:sp>
        <p:nvSpPr>
          <p:cNvPr id="6" name="Text 4"/>
          <p:cNvSpPr/>
          <p:nvPr/>
        </p:nvSpPr>
        <p:spPr>
          <a:xfrm>
            <a:off x="457200" y="3246120"/>
            <a:ext cx="7680960" cy="822960"/>
          </a:xfrm>
          <a:prstGeom prst="rect">
            <a:avLst/>
          </a:prstGeom>
          <a:noFill/>
          <a:ln/>
        </p:spPr>
        <p:txBody>
          <a:bodyPr wrap="square" lIns="0" tIns="0" rIns="0" bIns="0" rtlCol="0" anchor="t"/>
          <a:lstStyle/>
          <a:p>
            <a:pPr indent="0" marL="0">
              <a:buNone/>
            </a:pPr>
            <a:r>
              <a:rPr lang="en-US" sz="1300" dirty="0">
                <a:solidFill>
                  <a:srgbClr val="333333"/>
                </a:solidFill>
                <a:latin typeface="Arial" pitchFamily="34" charset="0"/>
                <a:ea typeface="Arial" pitchFamily="34" charset="-122"/>
                <a:cs typeface="Arial" pitchFamily="34" charset="-120"/>
              </a:rPr>
              <a:t>$685B in 2026 hyperscaler capex. A 39-point YTD spread between semis and software. A market that has stopped trading AI as a basket.</a:t>
            </a:r>
            <a:endParaRPr lang="en-US" sz="1300" dirty="0"/>
          </a:p>
        </p:txBody>
      </p:sp>
      <p:sp>
        <p:nvSpPr>
          <p:cNvPr id="7" name="Text 5"/>
          <p:cNvSpPr/>
          <p:nvPr/>
        </p:nvSpPr>
        <p:spPr>
          <a:xfrm>
            <a:off x="457200" y="4023360"/>
            <a:ext cx="5486400" cy="320040"/>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Strategy Note  |  Equity Research</a:t>
            </a:r>
            <a:endParaRPr lang="en-US" sz="1100" dirty="0"/>
          </a:p>
        </p:txBody>
      </p:sp>
      <p:sp>
        <p:nvSpPr>
          <p:cNvPr id="8" name="Shape 6"/>
          <p:cNvSpPr/>
          <p:nvPr/>
        </p:nvSpPr>
        <p:spPr>
          <a:xfrm>
            <a:off x="0" y="4526280"/>
            <a:ext cx="9144000" cy="617220"/>
          </a:xfrm>
          <a:prstGeom prst="rect">
            <a:avLst/>
          </a:prstGeom>
          <a:solidFill>
            <a:srgbClr val="333333"/>
          </a:solidFill>
          <a:ln w="12700">
            <a:solidFill>
              <a:srgbClr val="333333"/>
            </a:solidFill>
            <a:prstDash val="solid"/>
          </a:ln>
        </p:spPr>
      </p:sp>
      <p:sp>
        <p:nvSpPr>
          <p:cNvPr id="9" name="Text 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argument, in five parts.</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Landscape, Market, Shifts, Risks, Frontier. Each answers a different question about the same $685B capex cycle.</a:t>
            </a:r>
            <a:endParaRPr lang="en-US" sz="1350" dirty="0"/>
          </a:p>
        </p:txBody>
      </p:sp>
      <p:sp>
        <p:nvSpPr>
          <p:cNvPr id="4" name="Shape 2"/>
          <p:cNvSpPr/>
          <p:nvPr/>
        </p:nvSpPr>
        <p:spPr>
          <a:xfrm>
            <a:off x="0" y="1874520"/>
            <a:ext cx="9144000" cy="2148840"/>
          </a:xfrm>
          <a:prstGeom prst="rect">
            <a:avLst/>
          </a:prstGeom>
          <a:solidFill>
            <a:srgbClr val="333333"/>
          </a:solidFill>
          <a:ln w="12700">
            <a:solidFill>
              <a:srgbClr val="333333"/>
            </a:solidFill>
            <a:prstDash val="solid"/>
          </a:ln>
        </p:spPr>
      </p:sp>
      <p:sp>
        <p:nvSpPr>
          <p:cNvPr id="5" name="Text 3"/>
          <p:cNvSpPr/>
          <p:nvPr/>
        </p:nvSpPr>
        <p:spPr>
          <a:xfrm>
            <a:off x="457200" y="2011680"/>
            <a:ext cx="8229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THE DECK AT A GLANCE</a:t>
            </a:r>
            <a:endParaRPr lang="en-US" sz="900" dirty="0"/>
          </a:p>
        </p:txBody>
      </p:sp>
      <p:sp>
        <p:nvSpPr>
          <p:cNvPr id="6" name="Shape 4"/>
          <p:cNvSpPr/>
          <p:nvPr/>
        </p:nvSpPr>
        <p:spPr>
          <a:xfrm>
            <a:off x="283464" y="2423160"/>
            <a:ext cx="1627632" cy="1417320"/>
          </a:xfrm>
          <a:prstGeom prst="rect">
            <a:avLst/>
          </a:prstGeom>
          <a:solidFill>
            <a:srgbClr val="444444"/>
          </a:solidFill>
          <a:ln w="12700">
            <a:solidFill>
              <a:srgbClr val="444444"/>
            </a:solidFill>
            <a:prstDash val="solid"/>
          </a:ln>
        </p:spPr>
      </p:sp>
      <p:sp>
        <p:nvSpPr>
          <p:cNvPr id="7" name="Shape 5"/>
          <p:cNvSpPr/>
          <p:nvPr/>
        </p:nvSpPr>
        <p:spPr>
          <a:xfrm>
            <a:off x="283464" y="2423160"/>
            <a:ext cx="1627632" cy="54864"/>
          </a:xfrm>
          <a:prstGeom prst="rect">
            <a:avLst/>
          </a:prstGeom>
          <a:solidFill>
            <a:srgbClr val="008B8B"/>
          </a:solidFill>
          <a:ln w="12700">
            <a:solidFill>
              <a:srgbClr val="008B8B"/>
            </a:solidFill>
            <a:prstDash val="solid"/>
          </a:ln>
        </p:spPr>
      </p:sp>
      <p:sp>
        <p:nvSpPr>
          <p:cNvPr id="8" name="Text 6"/>
          <p:cNvSpPr/>
          <p:nvPr/>
        </p:nvSpPr>
        <p:spPr>
          <a:xfrm>
            <a:off x="283464" y="2560320"/>
            <a:ext cx="1627632" cy="457200"/>
          </a:xfrm>
          <a:prstGeom prst="rect">
            <a:avLst/>
          </a:prstGeom>
          <a:noFill/>
          <a:ln/>
        </p:spPr>
        <p:txBody>
          <a:bodyPr wrap="square" lIns="0" tIns="0" rIns="0" bIns="0" rtlCol="0" anchor="ctr"/>
          <a:lstStyle/>
          <a:p>
            <a:pPr algn="ctr" indent="0" marL="0">
              <a:buNone/>
            </a:pPr>
            <a:r>
              <a:rPr lang="en-US" sz="2400" b="1" dirty="0">
                <a:solidFill>
                  <a:srgbClr val="008B8B"/>
                </a:solidFill>
                <a:latin typeface="Arial Black" pitchFamily="34" charset="0"/>
                <a:ea typeface="Arial Black" pitchFamily="34" charset="-122"/>
                <a:cs typeface="Arial Black" pitchFamily="34" charset="-120"/>
              </a:rPr>
              <a:t>01</a:t>
            </a:r>
            <a:endParaRPr lang="en-US" sz="2400" dirty="0"/>
          </a:p>
        </p:txBody>
      </p:sp>
      <p:sp>
        <p:nvSpPr>
          <p:cNvPr id="9" name="Text 7"/>
          <p:cNvSpPr/>
          <p:nvPr/>
        </p:nvSpPr>
        <p:spPr>
          <a:xfrm>
            <a:off x="283464" y="2990088"/>
            <a:ext cx="1627632"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LANDSCAPE</a:t>
            </a:r>
            <a:endParaRPr lang="en-US" sz="1050" dirty="0"/>
          </a:p>
        </p:txBody>
      </p:sp>
      <p:sp>
        <p:nvSpPr>
          <p:cNvPr id="10" name="Text 8"/>
          <p:cNvSpPr/>
          <p:nvPr/>
        </p:nvSpPr>
        <p:spPr>
          <a:xfrm>
            <a:off x="356616" y="3273552"/>
            <a:ext cx="1481328" cy="457200"/>
          </a:xfrm>
          <a:prstGeom prst="rect">
            <a:avLst/>
          </a:prstGeom>
          <a:noFill/>
          <a:ln/>
        </p:spPr>
        <p:txBody>
          <a:bodyPr wrap="square" lIns="0" tIns="0" rIns="0" bIns="0" rtlCol="0" anchor="ctr"/>
          <a:lstStyle/>
          <a:p>
            <a:pPr algn="ctr" indent="0" marL="0">
              <a:buNone/>
            </a:pPr>
            <a:r>
              <a:rPr lang="en-US" sz="800" dirty="0">
                <a:solidFill>
                  <a:srgbClr val="CCCCCC"/>
                </a:solidFill>
                <a:latin typeface="Arial" pitchFamily="34" charset="0"/>
                <a:ea typeface="Arial" pitchFamily="34" charset="-122"/>
                <a:cs typeface="Arial" pitchFamily="34" charset="-120"/>
              </a:rPr>
              <a:t>What AI is, where it runs, who fabs it.</a:t>
            </a:r>
            <a:endParaRPr lang="en-US" sz="800" dirty="0"/>
          </a:p>
        </p:txBody>
      </p:sp>
      <p:sp>
        <p:nvSpPr>
          <p:cNvPr id="11" name="Text 9"/>
          <p:cNvSpPr/>
          <p:nvPr/>
        </p:nvSpPr>
        <p:spPr>
          <a:xfrm>
            <a:off x="283464" y="3648456"/>
            <a:ext cx="1627632" cy="182880"/>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3–7</a:t>
            </a:r>
            <a:endParaRPr lang="en-US" sz="750" dirty="0"/>
          </a:p>
        </p:txBody>
      </p:sp>
      <p:sp>
        <p:nvSpPr>
          <p:cNvPr id="12" name="Shape 10"/>
          <p:cNvSpPr/>
          <p:nvPr/>
        </p:nvSpPr>
        <p:spPr>
          <a:xfrm>
            <a:off x="2020824" y="2423160"/>
            <a:ext cx="1627632" cy="1417320"/>
          </a:xfrm>
          <a:prstGeom prst="rect">
            <a:avLst/>
          </a:prstGeom>
          <a:solidFill>
            <a:srgbClr val="444444"/>
          </a:solidFill>
          <a:ln w="12700">
            <a:solidFill>
              <a:srgbClr val="444444"/>
            </a:solidFill>
            <a:prstDash val="solid"/>
          </a:ln>
        </p:spPr>
      </p:sp>
      <p:sp>
        <p:nvSpPr>
          <p:cNvPr id="13" name="Shape 11"/>
          <p:cNvSpPr/>
          <p:nvPr/>
        </p:nvSpPr>
        <p:spPr>
          <a:xfrm>
            <a:off x="2020824" y="2423160"/>
            <a:ext cx="1627632" cy="54864"/>
          </a:xfrm>
          <a:prstGeom prst="rect">
            <a:avLst/>
          </a:prstGeom>
          <a:solidFill>
            <a:srgbClr val="FFB800"/>
          </a:solidFill>
          <a:ln w="12700">
            <a:solidFill>
              <a:srgbClr val="FFB800"/>
            </a:solidFill>
            <a:prstDash val="solid"/>
          </a:ln>
        </p:spPr>
      </p:sp>
      <p:sp>
        <p:nvSpPr>
          <p:cNvPr id="14" name="Text 12"/>
          <p:cNvSpPr/>
          <p:nvPr/>
        </p:nvSpPr>
        <p:spPr>
          <a:xfrm>
            <a:off x="2020824" y="2560320"/>
            <a:ext cx="1627632" cy="457200"/>
          </a:xfrm>
          <a:prstGeom prst="rect">
            <a:avLst/>
          </a:prstGeom>
          <a:noFill/>
          <a:ln/>
        </p:spPr>
        <p:txBody>
          <a:bodyPr wrap="square" lIns="0" tIns="0" rIns="0" bIns="0" rtlCol="0" anchor="ctr"/>
          <a:lstStyle/>
          <a:p>
            <a:pPr algn="ctr" indent="0" marL="0">
              <a:buNone/>
            </a:pPr>
            <a:r>
              <a:rPr lang="en-US" sz="2400" b="1" dirty="0">
                <a:solidFill>
                  <a:srgbClr val="FFB800"/>
                </a:solidFill>
                <a:latin typeface="Arial Black" pitchFamily="34" charset="0"/>
                <a:ea typeface="Arial Black" pitchFamily="34" charset="-122"/>
                <a:cs typeface="Arial Black" pitchFamily="34" charset="-120"/>
              </a:rPr>
              <a:t>02</a:t>
            </a:r>
            <a:endParaRPr lang="en-US" sz="2400" dirty="0"/>
          </a:p>
        </p:txBody>
      </p:sp>
      <p:sp>
        <p:nvSpPr>
          <p:cNvPr id="15" name="Text 13"/>
          <p:cNvSpPr/>
          <p:nvPr/>
        </p:nvSpPr>
        <p:spPr>
          <a:xfrm>
            <a:off x="2020824" y="2990088"/>
            <a:ext cx="1627632"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MARKET</a:t>
            </a:r>
            <a:endParaRPr lang="en-US" sz="1050" dirty="0"/>
          </a:p>
        </p:txBody>
      </p:sp>
      <p:sp>
        <p:nvSpPr>
          <p:cNvPr id="16" name="Text 14"/>
          <p:cNvSpPr/>
          <p:nvPr/>
        </p:nvSpPr>
        <p:spPr>
          <a:xfrm>
            <a:off x="2093976" y="3273552"/>
            <a:ext cx="1481328" cy="457200"/>
          </a:xfrm>
          <a:prstGeom prst="rect">
            <a:avLst/>
          </a:prstGeom>
          <a:noFill/>
          <a:ln/>
        </p:spPr>
        <p:txBody>
          <a:bodyPr wrap="square" lIns="0" tIns="0" rIns="0" bIns="0" rtlCol="0" anchor="ctr"/>
          <a:lstStyle/>
          <a:p>
            <a:pPr algn="ctr" indent="0" marL="0">
              <a:buNone/>
            </a:pPr>
            <a:r>
              <a:rPr lang="en-US" sz="800" dirty="0">
                <a:solidFill>
                  <a:srgbClr val="CCCCCC"/>
                </a:solidFill>
                <a:latin typeface="Arial" pitchFamily="34" charset="0"/>
                <a:ea typeface="Arial" pitchFamily="34" charset="-122"/>
                <a:cs typeface="Arial" pitchFamily="34" charset="-120"/>
              </a:rPr>
              <a:t>Who buys the chips and who builds the models.</a:t>
            </a:r>
            <a:endParaRPr lang="en-US" sz="800" dirty="0"/>
          </a:p>
        </p:txBody>
      </p:sp>
      <p:sp>
        <p:nvSpPr>
          <p:cNvPr id="17" name="Text 15"/>
          <p:cNvSpPr/>
          <p:nvPr/>
        </p:nvSpPr>
        <p:spPr>
          <a:xfrm>
            <a:off x="2020824" y="3648456"/>
            <a:ext cx="1627632" cy="182880"/>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8–11</a:t>
            </a:r>
            <a:endParaRPr lang="en-US" sz="750" dirty="0"/>
          </a:p>
        </p:txBody>
      </p:sp>
      <p:sp>
        <p:nvSpPr>
          <p:cNvPr id="18" name="Shape 16"/>
          <p:cNvSpPr/>
          <p:nvPr/>
        </p:nvSpPr>
        <p:spPr>
          <a:xfrm>
            <a:off x="3758184" y="2423160"/>
            <a:ext cx="1627632" cy="1417320"/>
          </a:xfrm>
          <a:prstGeom prst="rect">
            <a:avLst/>
          </a:prstGeom>
          <a:solidFill>
            <a:srgbClr val="444444"/>
          </a:solidFill>
          <a:ln w="12700">
            <a:solidFill>
              <a:srgbClr val="444444"/>
            </a:solidFill>
            <a:prstDash val="solid"/>
          </a:ln>
        </p:spPr>
      </p:sp>
      <p:sp>
        <p:nvSpPr>
          <p:cNvPr id="19" name="Shape 17"/>
          <p:cNvSpPr/>
          <p:nvPr/>
        </p:nvSpPr>
        <p:spPr>
          <a:xfrm>
            <a:off x="3758184" y="2423160"/>
            <a:ext cx="1627632" cy="54864"/>
          </a:xfrm>
          <a:prstGeom prst="rect">
            <a:avLst/>
          </a:prstGeom>
          <a:solidFill>
            <a:srgbClr val="F6693D"/>
          </a:solidFill>
          <a:ln w="12700">
            <a:solidFill>
              <a:srgbClr val="F6693D"/>
            </a:solidFill>
            <a:prstDash val="solid"/>
          </a:ln>
        </p:spPr>
      </p:sp>
      <p:sp>
        <p:nvSpPr>
          <p:cNvPr id="20" name="Text 18"/>
          <p:cNvSpPr/>
          <p:nvPr/>
        </p:nvSpPr>
        <p:spPr>
          <a:xfrm>
            <a:off x="3758184" y="2560320"/>
            <a:ext cx="1627632" cy="457200"/>
          </a:xfrm>
          <a:prstGeom prst="rect">
            <a:avLst/>
          </a:prstGeom>
          <a:noFill/>
          <a:ln/>
        </p:spPr>
        <p:txBody>
          <a:bodyPr wrap="square" lIns="0" tIns="0" rIns="0" bIns="0" rtlCol="0" anchor="ctr"/>
          <a:lstStyle/>
          <a:p>
            <a:pPr algn="ctr" indent="0" marL="0">
              <a:buNone/>
            </a:pPr>
            <a:r>
              <a:rPr lang="en-US" sz="2400" b="1" dirty="0">
                <a:solidFill>
                  <a:srgbClr val="F6693D"/>
                </a:solidFill>
                <a:latin typeface="Arial Black" pitchFamily="34" charset="0"/>
                <a:ea typeface="Arial Black" pitchFamily="34" charset="-122"/>
                <a:cs typeface="Arial Black" pitchFamily="34" charset="-120"/>
              </a:rPr>
              <a:t>03</a:t>
            </a:r>
            <a:endParaRPr lang="en-US" sz="2400" dirty="0"/>
          </a:p>
        </p:txBody>
      </p:sp>
      <p:sp>
        <p:nvSpPr>
          <p:cNvPr id="21" name="Text 19"/>
          <p:cNvSpPr/>
          <p:nvPr/>
        </p:nvSpPr>
        <p:spPr>
          <a:xfrm>
            <a:off x="3758184" y="2990088"/>
            <a:ext cx="1627632"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SHIFTS</a:t>
            </a:r>
            <a:endParaRPr lang="en-US" sz="1050" dirty="0"/>
          </a:p>
        </p:txBody>
      </p:sp>
      <p:sp>
        <p:nvSpPr>
          <p:cNvPr id="22" name="Text 20"/>
          <p:cNvSpPr/>
          <p:nvPr/>
        </p:nvSpPr>
        <p:spPr>
          <a:xfrm>
            <a:off x="3831336" y="3273552"/>
            <a:ext cx="1481328" cy="457200"/>
          </a:xfrm>
          <a:prstGeom prst="rect">
            <a:avLst/>
          </a:prstGeom>
          <a:noFill/>
          <a:ln/>
        </p:spPr>
        <p:txBody>
          <a:bodyPr wrap="square" lIns="0" tIns="0" rIns="0" bIns="0" rtlCol="0" anchor="ctr"/>
          <a:lstStyle/>
          <a:p>
            <a:pPr algn="ctr" indent="0" marL="0">
              <a:buNone/>
            </a:pPr>
            <a:r>
              <a:rPr lang="en-US" sz="800" dirty="0">
                <a:solidFill>
                  <a:srgbClr val="CCCCCC"/>
                </a:solidFill>
                <a:latin typeface="Arial" pitchFamily="34" charset="0"/>
                <a:ea typeface="Arial" pitchFamily="34" charset="-122"/>
                <a:cs typeface="Arial" pitchFamily="34" charset="-120"/>
              </a:rPr>
              <a:t>The agent era and the great divergence in tech.</a:t>
            </a:r>
            <a:endParaRPr lang="en-US" sz="800" dirty="0"/>
          </a:p>
        </p:txBody>
      </p:sp>
      <p:sp>
        <p:nvSpPr>
          <p:cNvPr id="23" name="Text 21"/>
          <p:cNvSpPr/>
          <p:nvPr/>
        </p:nvSpPr>
        <p:spPr>
          <a:xfrm>
            <a:off x="3758184" y="3648456"/>
            <a:ext cx="1627632" cy="182880"/>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12–13</a:t>
            </a:r>
            <a:endParaRPr lang="en-US" sz="750" dirty="0"/>
          </a:p>
        </p:txBody>
      </p:sp>
      <p:sp>
        <p:nvSpPr>
          <p:cNvPr id="24" name="Shape 22"/>
          <p:cNvSpPr/>
          <p:nvPr/>
        </p:nvSpPr>
        <p:spPr>
          <a:xfrm>
            <a:off x="5495544" y="2423160"/>
            <a:ext cx="1627632" cy="1417320"/>
          </a:xfrm>
          <a:prstGeom prst="rect">
            <a:avLst/>
          </a:prstGeom>
          <a:solidFill>
            <a:srgbClr val="444444"/>
          </a:solidFill>
          <a:ln w="12700">
            <a:solidFill>
              <a:srgbClr val="444444"/>
            </a:solidFill>
            <a:prstDash val="solid"/>
          </a:ln>
        </p:spPr>
      </p:sp>
      <p:sp>
        <p:nvSpPr>
          <p:cNvPr id="25" name="Shape 23"/>
          <p:cNvSpPr/>
          <p:nvPr/>
        </p:nvSpPr>
        <p:spPr>
          <a:xfrm>
            <a:off x="5495544" y="2423160"/>
            <a:ext cx="1627632" cy="54864"/>
          </a:xfrm>
          <a:prstGeom prst="rect">
            <a:avLst/>
          </a:prstGeom>
          <a:solidFill>
            <a:srgbClr val="CC0000"/>
          </a:solidFill>
          <a:ln w="12700">
            <a:solidFill>
              <a:srgbClr val="CC0000"/>
            </a:solidFill>
            <a:prstDash val="solid"/>
          </a:ln>
        </p:spPr>
      </p:sp>
      <p:sp>
        <p:nvSpPr>
          <p:cNvPr id="26" name="Text 24"/>
          <p:cNvSpPr/>
          <p:nvPr/>
        </p:nvSpPr>
        <p:spPr>
          <a:xfrm>
            <a:off x="5495544" y="2560320"/>
            <a:ext cx="1627632" cy="457200"/>
          </a:xfrm>
          <a:prstGeom prst="rect">
            <a:avLst/>
          </a:prstGeom>
          <a:noFill/>
          <a:ln/>
        </p:spPr>
        <p:txBody>
          <a:bodyPr wrap="square" lIns="0" tIns="0" rIns="0" bIns="0" rtlCol="0" anchor="ctr"/>
          <a:lstStyle/>
          <a:p>
            <a:pPr algn="ctr" indent="0" marL="0">
              <a:buNone/>
            </a:pPr>
            <a:r>
              <a:rPr lang="en-US" sz="2400" b="1" dirty="0">
                <a:solidFill>
                  <a:srgbClr val="CC0000"/>
                </a:solidFill>
                <a:latin typeface="Arial Black" pitchFamily="34" charset="0"/>
                <a:ea typeface="Arial Black" pitchFamily="34" charset="-122"/>
                <a:cs typeface="Arial Black" pitchFamily="34" charset="-120"/>
              </a:rPr>
              <a:t>04</a:t>
            </a:r>
            <a:endParaRPr lang="en-US" sz="2400" dirty="0"/>
          </a:p>
        </p:txBody>
      </p:sp>
      <p:sp>
        <p:nvSpPr>
          <p:cNvPr id="27" name="Text 25"/>
          <p:cNvSpPr/>
          <p:nvPr/>
        </p:nvSpPr>
        <p:spPr>
          <a:xfrm>
            <a:off x="5495544" y="2990088"/>
            <a:ext cx="1627632"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RISKS</a:t>
            </a:r>
            <a:endParaRPr lang="en-US" sz="1050" dirty="0"/>
          </a:p>
        </p:txBody>
      </p:sp>
      <p:sp>
        <p:nvSpPr>
          <p:cNvPr id="28" name="Text 26"/>
          <p:cNvSpPr/>
          <p:nvPr/>
        </p:nvSpPr>
        <p:spPr>
          <a:xfrm>
            <a:off x="5568696" y="3273552"/>
            <a:ext cx="1481328" cy="457200"/>
          </a:xfrm>
          <a:prstGeom prst="rect">
            <a:avLst/>
          </a:prstGeom>
          <a:noFill/>
          <a:ln/>
        </p:spPr>
        <p:txBody>
          <a:bodyPr wrap="square" lIns="0" tIns="0" rIns="0" bIns="0" rtlCol="0" anchor="ctr"/>
          <a:lstStyle/>
          <a:p>
            <a:pPr algn="ctr" indent="0" marL="0">
              <a:buNone/>
            </a:pPr>
            <a:r>
              <a:rPr lang="en-US" sz="800" dirty="0">
                <a:solidFill>
                  <a:srgbClr val="CCCCCC"/>
                </a:solidFill>
                <a:latin typeface="Arial" pitchFamily="34" charset="0"/>
                <a:ea typeface="Arial" pitchFamily="34" charset="-122"/>
                <a:cs typeface="Arial" pitchFamily="34" charset="-120"/>
              </a:rPr>
              <a:t>Bubble, supply chain, policy, backlash.</a:t>
            </a:r>
            <a:endParaRPr lang="en-US" sz="800" dirty="0"/>
          </a:p>
        </p:txBody>
      </p:sp>
      <p:sp>
        <p:nvSpPr>
          <p:cNvPr id="29" name="Text 27"/>
          <p:cNvSpPr/>
          <p:nvPr/>
        </p:nvSpPr>
        <p:spPr>
          <a:xfrm>
            <a:off x="5495544" y="3648456"/>
            <a:ext cx="1627632" cy="182880"/>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14–17</a:t>
            </a:r>
            <a:endParaRPr lang="en-US" sz="750" dirty="0"/>
          </a:p>
        </p:txBody>
      </p:sp>
      <p:sp>
        <p:nvSpPr>
          <p:cNvPr id="30" name="Shape 28"/>
          <p:cNvSpPr/>
          <p:nvPr/>
        </p:nvSpPr>
        <p:spPr>
          <a:xfrm>
            <a:off x="7232904" y="2423160"/>
            <a:ext cx="1627632" cy="1417320"/>
          </a:xfrm>
          <a:prstGeom prst="rect">
            <a:avLst/>
          </a:prstGeom>
          <a:solidFill>
            <a:srgbClr val="444444"/>
          </a:solidFill>
          <a:ln w="12700">
            <a:solidFill>
              <a:srgbClr val="444444"/>
            </a:solidFill>
            <a:prstDash val="solid"/>
          </a:ln>
        </p:spPr>
      </p:sp>
      <p:sp>
        <p:nvSpPr>
          <p:cNvPr id="31" name="Shape 29"/>
          <p:cNvSpPr/>
          <p:nvPr/>
        </p:nvSpPr>
        <p:spPr>
          <a:xfrm>
            <a:off x="7232904" y="2423160"/>
            <a:ext cx="1627632" cy="54864"/>
          </a:xfrm>
          <a:prstGeom prst="rect">
            <a:avLst/>
          </a:prstGeom>
          <a:solidFill>
            <a:srgbClr val="E8478D"/>
          </a:solidFill>
          <a:ln w="12700">
            <a:solidFill>
              <a:srgbClr val="E8478D"/>
            </a:solidFill>
            <a:prstDash val="solid"/>
          </a:ln>
        </p:spPr>
      </p:sp>
      <p:sp>
        <p:nvSpPr>
          <p:cNvPr id="32" name="Text 30"/>
          <p:cNvSpPr/>
          <p:nvPr/>
        </p:nvSpPr>
        <p:spPr>
          <a:xfrm>
            <a:off x="7232904" y="2560320"/>
            <a:ext cx="1627632" cy="457200"/>
          </a:xfrm>
          <a:prstGeom prst="rect">
            <a:avLst/>
          </a:prstGeom>
          <a:noFill/>
          <a:ln/>
        </p:spPr>
        <p:txBody>
          <a:bodyPr wrap="square" lIns="0" tIns="0" rIns="0" bIns="0" rtlCol="0" anchor="ctr"/>
          <a:lstStyle/>
          <a:p>
            <a:pPr algn="ctr" indent="0" marL="0">
              <a:buNone/>
            </a:pPr>
            <a:r>
              <a:rPr lang="en-US" sz="2400" b="1" dirty="0">
                <a:solidFill>
                  <a:srgbClr val="E8478D"/>
                </a:solidFill>
                <a:latin typeface="Arial Black" pitchFamily="34" charset="0"/>
                <a:ea typeface="Arial Black" pitchFamily="34" charset="-122"/>
                <a:cs typeface="Arial Black" pitchFamily="34" charset="-120"/>
              </a:rPr>
              <a:t>05</a:t>
            </a:r>
            <a:endParaRPr lang="en-US" sz="2400" dirty="0"/>
          </a:p>
        </p:txBody>
      </p:sp>
      <p:sp>
        <p:nvSpPr>
          <p:cNvPr id="33" name="Text 31"/>
          <p:cNvSpPr/>
          <p:nvPr/>
        </p:nvSpPr>
        <p:spPr>
          <a:xfrm>
            <a:off x="7232904" y="2990088"/>
            <a:ext cx="1627632" cy="27432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FRONTIER</a:t>
            </a:r>
            <a:endParaRPr lang="en-US" sz="1050" dirty="0"/>
          </a:p>
        </p:txBody>
      </p:sp>
      <p:sp>
        <p:nvSpPr>
          <p:cNvPr id="34" name="Text 32"/>
          <p:cNvSpPr/>
          <p:nvPr/>
        </p:nvSpPr>
        <p:spPr>
          <a:xfrm>
            <a:off x="7306056" y="3273552"/>
            <a:ext cx="1481328" cy="457200"/>
          </a:xfrm>
          <a:prstGeom prst="rect">
            <a:avLst/>
          </a:prstGeom>
          <a:noFill/>
          <a:ln/>
        </p:spPr>
        <p:txBody>
          <a:bodyPr wrap="square" lIns="0" tIns="0" rIns="0" bIns="0" rtlCol="0" anchor="ctr"/>
          <a:lstStyle/>
          <a:p>
            <a:pPr algn="ctr" indent="0" marL="0">
              <a:buNone/>
            </a:pPr>
            <a:r>
              <a:rPr lang="en-US" sz="800" dirty="0">
                <a:solidFill>
                  <a:srgbClr val="CCCCCC"/>
                </a:solidFill>
                <a:latin typeface="Arial" pitchFamily="34" charset="0"/>
                <a:ea typeface="Arial" pitchFamily="34" charset="-122"/>
                <a:cs typeface="Arial" pitchFamily="34" charset="-120"/>
              </a:rPr>
              <a:t>Orbital, physical, autonomous, biology.</a:t>
            </a:r>
            <a:endParaRPr lang="en-US" sz="800" dirty="0"/>
          </a:p>
        </p:txBody>
      </p:sp>
      <p:sp>
        <p:nvSpPr>
          <p:cNvPr id="35" name="Text 33"/>
          <p:cNvSpPr/>
          <p:nvPr/>
        </p:nvSpPr>
        <p:spPr>
          <a:xfrm>
            <a:off x="7232904" y="3648456"/>
            <a:ext cx="1627632" cy="182880"/>
          </a:xfrm>
          <a:prstGeom prst="rect">
            <a:avLst/>
          </a:prstGeom>
          <a:noFill/>
          <a:ln/>
        </p:spPr>
        <p:txBody>
          <a:bodyPr wrap="square" lIns="0" tIns="0" rIns="0" bIns="0" rtlCol="0" anchor="ctr"/>
          <a:lstStyle/>
          <a:p>
            <a:pPr algn="ctr" indent="0" marL="0">
              <a:buNone/>
            </a:pPr>
            <a:r>
              <a:rPr lang="en-US" sz="750" i="1" dirty="0">
                <a:solidFill>
                  <a:srgbClr val="AAAAAA"/>
                </a:solidFill>
                <a:latin typeface="Arial" pitchFamily="34" charset="0"/>
                <a:ea typeface="Arial" pitchFamily="34" charset="-122"/>
                <a:cs typeface="Arial" pitchFamily="34" charset="-120"/>
              </a:rPr>
              <a:t>Slides 18–21</a:t>
            </a:r>
            <a:endParaRPr lang="en-US" sz="750" dirty="0"/>
          </a:p>
        </p:txBody>
      </p:sp>
      <p:sp>
        <p:nvSpPr>
          <p:cNvPr id="36" name="Text 34"/>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22 slides, read top to bottom.</a:t>
            </a:r>
            <a:endParaRPr lang="en-US" sz="700" dirty="0"/>
          </a:p>
        </p:txBody>
      </p:sp>
      <p:sp>
        <p:nvSpPr>
          <p:cNvPr id="37" name="Shape 35"/>
          <p:cNvSpPr/>
          <p:nvPr/>
        </p:nvSpPr>
        <p:spPr>
          <a:xfrm>
            <a:off x="0" y="4526280"/>
            <a:ext cx="9144000" cy="617220"/>
          </a:xfrm>
          <a:prstGeom prst="rect">
            <a:avLst/>
          </a:prstGeom>
          <a:solidFill>
            <a:srgbClr val="333333"/>
          </a:solidFill>
          <a:ln w="12700">
            <a:solidFill>
              <a:srgbClr val="333333"/>
            </a:solidFill>
            <a:prstDash val="solid"/>
          </a:ln>
        </p:spPr>
      </p:sp>
      <p:sp>
        <p:nvSpPr>
          <p:cNvPr id="38" name="Text 3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Why AI matters to markets.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is the largest capex cycle in history, it touches every layer of the economy, and it is repricing everything — in both directions.</a:t>
            </a:r>
            <a:endParaRPr lang="en-US" sz="1350" dirty="0"/>
          </a:p>
        </p:txBody>
      </p:sp>
      <p:sp>
        <p:nvSpPr>
          <p:cNvPr id="6" name="Text 4"/>
          <p:cNvSpPr/>
          <p:nvPr/>
        </p:nvSpPr>
        <p:spPr>
          <a:xfrm>
            <a:off x="457200" y="1874520"/>
            <a:ext cx="19202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$685B</a:t>
            </a:r>
            <a:endParaRPr lang="en-US" sz="4000" dirty="0"/>
          </a:p>
        </p:txBody>
      </p:sp>
      <p:sp>
        <p:nvSpPr>
          <p:cNvPr id="7" name="Text 5"/>
          <p:cNvSpPr/>
          <p:nvPr/>
        </p:nvSpPr>
        <p:spPr>
          <a:xfrm>
            <a:off x="45720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2026 hyperscaler capex (Amazon, Alphabet, Microsoft, Meta, Oracle)</a:t>
            </a:r>
            <a:endParaRPr lang="en-US" sz="1100" dirty="0"/>
          </a:p>
        </p:txBody>
      </p:sp>
      <p:sp>
        <p:nvSpPr>
          <p:cNvPr id="8" name="Text 6"/>
          <p:cNvSpPr/>
          <p:nvPr/>
        </p:nvSpPr>
        <p:spPr>
          <a:xfrm>
            <a:off x="2560320" y="1874520"/>
            <a:ext cx="19202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$4T</a:t>
            </a:r>
            <a:endParaRPr lang="en-US" sz="4000" dirty="0"/>
          </a:p>
        </p:txBody>
      </p:sp>
      <p:sp>
        <p:nvSpPr>
          <p:cNvPr id="9" name="Text 7"/>
          <p:cNvSpPr/>
          <p:nvPr/>
        </p:nvSpPr>
        <p:spPr>
          <a:xfrm>
            <a:off x="256032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cumulative AI data-center investment through 2030 (Huang; DB est.)</a:t>
            </a:r>
            <a:endParaRPr lang="en-US" sz="1100" dirty="0"/>
          </a:p>
        </p:txBody>
      </p:sp>
      <p:sp>
        <p:nvSpPr>
          <p:cNvPr id="10" name="Text 8"/>
          <p:cNvSpPr/>
          <p:nvPr/>
        </p:nvSpPr>
        <p:spPr>
          <a:xfrm>
            <a:off x="4663440" y="1874520"/>
            <a:ext cx="1920240" cy="685800"/>
          </a:xfrm>
          <a:prstGeom prst="rect">
            <a:avLst/>
          </a:prstGeom>
          <a:noFill/>
          <a:ln/>
        </p:spPr>
        <p:txBody>
          <a:bodyPr wrap="square" lIns="0" tIns="0" rIns="0" bIns="0" rtlCol="0" anchor="ctr"/>
          <a:lstStyle/>
          <a:p>
            <a:pPr algn="ctr" indent="0" marL="0">
              <a:buNone/>
            </a:pPr>
            <a:r>
              <a:rPr lang="en-US" sz="4000" b="1" dirty="0">
                <a:solidFill>
                  <a:srgbClr val="00A854"/>
                </a:solidFill>
                <a:latin typeface="Arial Black" pitchFamily="34" charset="0"/>
                <a:ea typeface="Arial Black" pitchFamily="34" charset="-122"/>
                <a:cs typeface="Arial Black" pitchFamily="34" charset="-120"/>
              </a:rPr>
              <a:t>+15%</a:t>
            </a:r>
            <a:endParaRPr lang="en-US" sz="4000" dirty="0"/>
          </a:p>
        </p:txBody>
      </p:sp>
      <p:sp>
        <p:nvSpPr>
          <p:cNvPr id="11" name="Text 9"/>
          <p:cNvSpPr/>
          <p:nvPr/>
        </p:nvSpPr>
        <p:spPr>
          <a:xfrm>
            <a:off x="466344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semiconductors (SOXX) YTD</a:t>
            </a:r>
            <a:endParaRPr lang="en-US" sz="1100" dirty="0"/>
          </a:p>
        </p:txBody>
      </p:sp>
      <p:sp>
        <p:nvSpPr>
          <p:cNvPr id="12" name="Text 10"/>
          <p:cNvSpPr/>
          <p:nvPr/>
        </p:nvSpPr>
        <p:spPr>
          <a:xfrm>
            <a:off x="6766560" y="187452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–24%</a:t>
            </a:r>
            <a:endParaRPr lang="en-US" sz="4000" dirty="0"/>
          </a:p>
        </p:txBody>
      </p:sp>
      <p:sp>
        <p:nvSpPr>
          <p:cNvPr id="13" name="Text 11"/>
          <p:cNvSpPr/>
          <p:nvPr/>
        </p:nvSpPr>
        <p:spPr>
          <a:xfrm>
            <a:off x="6766560" y="260604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software (IGV) YTD</a:t>
            </a:r>
            <a:endParaRPr lang="en-US" sz="1100" dirty="0"/>
          </a:p>
        </p:txBody>
      </p:sp>
      <p:sp>
        <p:nvSpPr>
          <p:cNvPr id="14" name="Shape 12"/>
          <p:cNvSpPr/>
          <p:nvPr/>
        </p:nvSpPr>
        <p:spPr>
          <a:xfrm>
            <a:off x="457200" y="3520440"/>
            <a:ext cx="8229600" cy="457200"/>
          </a:xfrm>
          <a:prstGeom prst="rect">
            <a:avLst/>
          </a:prstGeom>
          <a:solidFill>
            <a:srgbClr val="FFD100"/>
          </a:solidFill>
          <a:ln w="12700">
            <a:solidFill>
              <a:srgbClr val="FFD100"/>
            </a:solidFill>
            <a:prstDash val="solid"/>
          </a:ln>
        </p:spPr>
      </p:sp>
      <p:sp>
        <p:nvSpPr>
          <p:cNvPr id="15" name="Text 13"/>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 39-point spread between semis and software. The same AI wave is creating winners and losers simultaneously.</a:t>
            </a:r>
            <a:endParaRPr lang="en-US" sz="1250" dirty="0"/>
          </a:p>
        </p:txBody>
      </p:sp>
      <p:sp>
        <p:nvSpPr>
          <p:cNvPr id="16" name="Text 14"/>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Amazon, Alphabet, Microsoft, Meta, Oracle Q4 2025 guidance; Jensen Huang (Sept 2025); Deutsche Bank; Bloomberg YTD as of Mar 25, 2026.</a:t>
            </a:r>
            <a:endParaRPr lang="en-US" sz="700" dirty="0"/>
          </a:p>
        </p:txBody>
      </p:sp>
      <p:sp>
        <p:nvSpPr>
          <p:cNvPr id="17" name="Shape 15"/>
          <p:cNvSpPr/>
          <p:nvPr/>
        </p:nvSpPr>
        <p:spPr>
          <a:xfrm>
            <a:off x="0" y="4526280"/>
            <a:ext cx="9144000" cy="617220"/>
          </a:xfrm>
          <a:prstGeom prst="rect">
            <a:avLst/>
          </a:prstGeom>
          <a:solidFill>
            <a:srgbClr val="333333"/>
          </a:solidFill>
          <a:ln w="12700">
            <a:solidFill>
              <a:srgbClr val="333333"/>
            </a:solidFill>
            <a:prstDash val="solid"/>
          </a:ln>
        </p:spPr>
      </p:sp>
      <p:sp>
        <p:nvSpPr>
          <p:cNvPr id="18" name="Text 1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is AI.</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640080" y="2286000"/>
            <a:ext cx="7863840" cy="0"/>
          </a:xfrm>
          <a:prstGeom prst="line">
            <a:avLst/>
          </a:prstGeom>
          <a:noFill/>
          <a:ln w="38100">
            <a:solidFill>
              <a:srgbClr val="333333"/>
            </a:solidFill>
            <a:prstDash val="solid"/>
          </a:ln>
        </p:spPr>
      </p:sp>
      <p:sp>
        <p:nvSpPr>
          <p:cNvPr id="7" name="Shape 5"/>
          <p:cNvSpPr/>
          <p:nvPr/>
        </p:nvSpPr>
        <p:spPr>
          <a:xfrm>
            <a:off x="1213104" y="2203704"/>
            <a:ext cx="164592" cy="164592"/>
          </a:xfrm>
          <a:prstGeom prst="ellipse">
            <a:avLst/>
          </a:prstGeom>
          <a:solidFill>
            <a:srgbClr val="666666"/>
          </a:solidFill>
          <a:ln w="12700">
            <a:solidFill>
              <a:srgbClr val="666666"/>
            </a:solidFill>
            <a:prstDash val="solid"/>
          </a:ln>
        </p:spPr>
      </p:sp>
      <p:sp>
        <p:nvSpPr>
          <p:cNvPr id="8" name="Shape 6"/>
          <p:cNvSpPr/>
          <p:nvPr/>
        </p:nvSpPr>
        <p:spPr>
          <a:xfrm>
            <a:off x="666293" y="2487168"/>
            <a:ext cx="1258214" cy="1417320"/>
          </a:xfrm>
          <a:prstGeom prst="rect">
            <a:avLst/>
          </a:prstGeom>
          <a:solidFill>
            <a:srgbClr val="F9F9F9"/>
          </a:solidFill>
          <a:ln w="6350">
            <a:solidFill>
              <a:srgbClr val="E5E5E5"/>
            </a:solidFill>
            <a:prstDash val="solid"/>
          </a:ln>
        </p:spPr>
      </p:sp>
      <p:sp>
        <p:nvSpPr>
          <p:cNvPr id="9" name="Shape 7"/>
          <p:cNvSpPr/>
          <p:nvPr/>
        </p:nvSpPr>
        <p:spPr>
          <a:xfrm>
            <a:off x="666293" y="2487168"/>
            <a:ext cx="54864" cy="1417320"/>
          </a:xfrm>
          <a:prstGeom prst="rect">
            <a:avLst/>
          </a:prstGeom>
          <a:solidFill>
            <a:srgbClr val="666666"/>
          </a:solidFill>
          <a:ln w="12700">
            <a:solidFill>
              <a:srgbClr val="666666"/>
            </a:solidFill>
            <a:prstDash val="solid"/>
          </a:ln>
        </p:spPr>
      </p:sp>
      <p:sp>
        <p:nvSpPr>
          <p:cNvPr id="10" name="Text 8"/>
          <p:cNvSpPr/>
          <p:nvPr/>
        </p:nvSpPr>
        <p:spPr>
          <a:xfrm>
            <a:off x="7943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1950s–80s</a:t>
            </a:r>
            <a:endParaRPr lang="en-US" sz="850" dirty="0"/>
          </a:p>
        </p:txBody>
      </p:sp>
      <p:sp>
        <p:nvSpPr>
          <p:cNvPr id="11" name="Text 9"/>
          <p:cNvSpPr/>
          <p:nvPr/>
        </p:nvSpPr>
        <p:spPr>
          <a:xfrm>
            <a:off x="7943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Symbolic AI</a:t>
            </a:r>
            <a:endParaRPr lang="en-US" sz="1150" dirty="0"/>
          </a:p>
        </p:txBody>
      </p:sp>
      <p:sp>
        <p:nvSpPr>
          <p:cNvPr id="12" name="Text 10"/>
          <p:cNvSpPr/>
          <p:nvPr/>
        </p:nvSpPr>
        <p:spPr>
          <a:xfrm>
            <a:off x="79430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Hand-coded rules and expert systems.</a:t>
            </a:r>
            <a:endParaRPr lang="en-US" sz="850" dirty="0"/>
          </a:p>
        </p:txBody>
      </p:sp>
      <p:sp>
        <p:nvSpPr>
          <p:cNvPr id="13" name="Shape 11"/>
          <p:cNvSpPr/>
          <p:nvPr/>
        </p:nvSpPr>
        <p:spPr>
          <a:xfrm>
            <a:off x="2523744" y="2203704"/>
            <a:ext cx="164592" cy="164592"/>
          </a:xfrm>
          <a:prstGeom prst="ellipse">
            <a:avLst/>
          </a:prstGeom>
          <a:solidFill>
            <a:srgbClr val="008B8B"/>
          </a:solidFill>
          <a:ln w="12700">
            <a:solidFill>
              <a:srgbClr val="008B8B"/>
            </a:solidFill>
            <a:prstDash val="solid"/>
          </a:ln>
        </p:spPr>
      </p:sp>
      <p:sp>
        <p:nvSpPr>
          <p:cNvPr id="14" name="Shape 12"/>
          <p:cNvSpPr/>
          <p:nvPr/>
        </p:nvSpPr>
        <p:spPr>
          <a:xfrm>
            <a:off x="1976933" y="2487168"/>
            <a:ext cx="1258214" cy="1417320"/>
          </a:xfrm>
          <a:prstGeom prst="rect">
            <a:avLst/>
          </a:prstGeom>
          <a:solidFill>
            <a:srgbClr val="F9F9F9"/>
          </a:solidFill>
          <a:ln w="6350">
            <a:solidFill>
              <a:srgbClr val="E5E5E5"/>
            </a:solidFill>
            <a:prstDash val="solid"/>
          </a:ln>
        </p:spPr>
      </p:sp>
      <p:sp>
        <p:nvSpPr>
          <p:cNvPr id="15" name="Shape 13"/>
          <p:cNvSpPr/>
          <p:nvPr/>
        </p:nvSpPr>
        <p:spPr>
          <a:xfrm>
            <a:off x="1976933" y="2487168"/>
            <a:ext cx="54864" cy="1417320"/>
          </a:xfrm>
          <a:prstGeom prst="rect">
            <a:avLst/>
          </a:prstGeom>
          <a:solidFill>
            <a:srgbClr val="008B8B"/>
          </a:solidFill>
          <a:ln w="12700">
            <a:solidFill>
              <a:srgbClr val="008B8B"/>
            </a:solidFill>
            <a:prstDash val="solid"/>
          </a:ln>
        </p:spPr>
      </p:sp>
      <p:sp>
        <p:nvSpPr>
          <p:cNvPr id="16" name="Text 14"/>
          <p:cNvSpPr/>
          <p:nvPr/>
        </p:nvSpPr>
        <p:spPr>
          <a:xfrm>
            <a:off x="210494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1990s–2000s</a:t>
            </a:r>
            <a:endParaRPr lang="en-US" sz="850" dirty="0"/>
          </a:p>
        </p:txBody>
      </p:sp>
      <p:sp>
        <p:nvSpPr>
          <p:cNvPr id="17" name="Text 15"/>
          <p:cNvSpPr/>
          <p:nvPr/>
        </p:nvSpPr>
        <p:spPr>
          <a:xfrm>
            <a:off x="210494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Machine Learning</a:t>
            </a:r>
            <a:endParaRPr lang="en-US" sz="1150" dirty="0"/>
          </a:p>
        </p:txBody>
      </p:sp>
      <p:sp>
        <p:nvSpPr>
          <p:cNvPr id="18" name="Text 16"/>
          <p:cNvSpPr/>
          <p:nvPr/>
        </p:nvSpPr>
        <p:spPr>
          <a:xfrm>
            <a:off x="210494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Systems learn patterns from data.</a:t>
            </a:r>
            <a:endParaRPr lang="en-US" sz="850" dirty="0"/>
          </a:p>
        </p:txBody>
      </p:sp>
      <p:sp>
        <p:nvSpPr>
          <p:cNvPr id="19" name="Shape 17"/>
          <p:cNvSpPr/>
          <p:nvPr/>
        </p:nvSpPr>
        <p:spPr>
          <a:xfrm>
            <a:off x="3834384" y="2203704"/>
            <a:ext cx="164592" cy="164592"/>
          </a:xfrm>
          <a:prstGeom prst="ellipse">
            <a:avLst/>
          </a:prstGeom>
          <a:solidFill>
            <a:srgbClr val="FFB800"/>
          </a:solidFill>
          <a:ln w="12700">
            <a:solidFill>
              <a:srgbClr val="FFB800"/>
            </a:solidFill>
            <a:prstDash val="solid"/>
          </a:ln>
        </p:spPr>
      </p:sp>
      <p:sp>
        <p:nvSpPr>
          <p:cNvPr id="20" name="Shape 18"/>
          <p:cNvSpPr/>
          <p:nvPr/>
        </p:nvSpPr>
        <p:spPr>
          <a:xfrm>
            <a:off x="3287573" y="2487168"/>
            <a:ext cx="1258214" cy="1417320"/>
          </a:xfrm>
          <a:prstGeom prst="rect">
            <a:avLst/>
          </a:prstGeom>
          <a:solidFill>
            <a:srgbClr val="F9F9F9"/>
          </a:solidFill>
          <a:ln w="6350">
            <a:solidFill>
              <a:srgbClr val="E5E5E5"/>
            </a:solidFill>
            <a:prstDash val="solid"/>
          </a:ln>
        </p:spPr>
      </p:sp>
      <p:sp>
        <p:nvSpPr>
          <p:cNvPr id="21" name="Shape 19"/>
          <p:cNvSpPr/>
          <p:nvPr/>
        </p:nvSpPr>
        <p:spPr>
          <a:xfrm>
            <a:off x="3287573" y="2487168"/>
            <a:ext cx="54864" cy="1417320"/>
          </a:xfrm>
          <a:prstGeom prst="rect">
            <a:avLst/>
          </a:prstGeom>
          <a:solidFill>
            <a:srgbClr val="FFB800"/>
          </a:solidFill>
          <a:ln w="12700">
            <a:solidFill>
              <a:srgbClr val="FFB800"/>
            </a:solidFill>
            <a:prstDash val="solid"/>
          </a:ln>
        </p:spPr>
      </p:sp>
      <p:sp>
        <p:nvSpPr>
          <p:cNvPr id="22" name="Text 20"/>
          <p:cNvSpPr/>
          <p:nvPr/>
        </p:nvSpPr>
        <p:spPr>
          <a:xfrm>
            <a:off x="341558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2012</a:t>
            </a:r>
            <a:endParaRPr lang="en-US" sz="850" dirty="0"/>
          </a:p>
        </p:txBody>
      </p:sp>
      <p:sp>
        <p:nvSpPr>
          <p:cNvPr id="23" name="Text 21"/>
          <p:cNvSpPr/>
          <p:nvPr/>
        </p:nvSpPr>
        <p:spPr>
          <a:xfrm>
            <a:off x="341558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Deep Learning</a:t>
            </a:r>
            <a:endParaRPr lang="en-US" sz="1150" dirty="0"/>
          </a:p>
        </p:txBody>
      </p:sp>
      <p:sp>
        <p:nvSpPr>
          <p:cNvPr id="24" name="Text 22"/>
          <p:cNvSpPr/>
          <p:nvPr/>
        </p:nvSpPr>
        <p:spPr>
          <a:xfrm>
            <a:off x="341558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Neural networks go deep. AlexNet moment.</a:t>
            </a:r>
            <a:endParaRPr lang="en-US" sz="850" dirty="0"/>
          </a:p>
        </p:txBody>
      </p:sp>
      <p:sp>
        <p:nvSpPr>
          <p:cNvPr id="25" name="Shape 23"/>
          <p:cNvSpPr/>
          <p:nvPr/>
        </p:nvSpPr>
        <p:spPr>
          <a:xfrm>
            <a:off x="5145024" y="2203704"/>
            <a:ext cx="164592" cy="164592"/>
          </a:xfrm>
          <a:prstGeom prst="ellipse">
            <a:avLst/>
          </a:prstGeom>
          <a:solidFill>
            <a:srgbClr val="F6693D"/>
          </a:solidFill>
          <a:ln w="12700">
            <a:solidFill>
              <a:srgbClr val="F6693D"/>
            </a:solidFill>
            <a:prstDash val="solid"/>
          </a:ln>
        </p:spPr>
      </p:sp>
      <p:sp>
        <p:nvSpPr>
          <p:cNvPr id="26" name="Shape 24"/>
          <p:cNvSpPr/>
          <p:nvPr/>
        </p:nvSpPr>
        <p:spPr>
          <a:xfrm>
            <a:off x="4598213" y="2487168"/>
            <a:ext cx="1258214" cy="1417320"/>
          </a:xfrm>
          <a:prstGeom prst="rect">
            <a:avLst/>
          </a:prstGeom>
          <a:solidFill>
            <a:srgbClr val="F9F9F9"/>
          </a:solidFill>
          <a:ln w="6350">
            <a:solidFill>
              <a:srgbClr val="E5E5E5"/>
            </a:solidFill>
            <a:prstDash val="solid"/>
          </a:ln>
        </p:spPr>
      </p:sp>
      <p:sp>
        <p:nvSpPr>
          <p:cNvPr id="27" name="Shape 25"/>
          <p:cNvSpPr/>
          <p:nvPr/>
        </p:nvSpPr>
        <p:spPr>
          <a:xfrm>
            <a:off x="4598213" y="2487168"/>
            <a:ext cx="54864" cy="1417320"/>
          </a:xfrm>
          <a:prstGeom prst="rect">
            <a:avLst/>
          </a:prstGeom>
          <a:solidFill>
            <a:srgbClr val="F6693D"/>
          </a:solidFill>
          <a:ln w="12700">
            <a:solidFill>
              <a:srgbClr val="F6693D"/>
            </a:solidFill>
            <a:prstDash val="solid"/>
          </a:ln>
        </p:spPr>
      </p:sp>
      <p:sp>
        <p:nvSpPr>
          <p:cNvPr id="28" name="Text 26"/>
          <p:cNvSpPr/>
          <p:nvPr/>
        </p:nvSpPr>
        <p:spPr>
          <a:xfrm>
            <a:off x="472622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2022–24</a:t>
            </a:r>
            <a:endParaRPr lang="en-US" sz="850" dirty="0"/>
          </a:p>
        </p:txBody>
      </p:sp>
      <p:sp>
        <p:nvSpPr>
          <p:cNvPr id="29" name="Text 27"/>
          <p:cNvSpPr/>
          <p:nvPr/>
        </p:nvSpPr>
        <p:spPr>
          <a:xfrm>
            <a:off x="472622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LLM chatbots</a:t>
            </a:r>
            <a:endParaRPr lang="en-US" sz="1150" dirty="0"/>
          </a:p>
        </p:txBody>
      </p:sp>
      <p:sp>
        <p:nvSpPr>
          <p:cNvPr id="30" name="Text 28"/>
          <p:cNvSpPr/>
          <p:nvPr/>
        </p:nvSpPr>
        <p:spPr>
          <a:xfrm>
            <a:off x="472622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ChatGPT hits 100M users in 2 months. Claude, Gemini, Copilot.</a:t>
            </a:r>
            <a:endParaRPr lang="en-US" sz="850" dirty="0"/>
          </a:p>
        </p:txBody>
      </p:sp>
      <p:sp>
        <p:nvSpPr>
          <p:cNvPr id="31" name="Shape 29"/>
          <p:cNvSpPr/>
          <p:nvPr/>
        </p:nvSpPr>
        <p:spPr>
          <a:xfrm>
            <a:off x="6455664" y="2203704"/>
            <a:ext cx="164592" cy="164592"/>
          </a:xfrm>
          <a:prstGeom prst="ellipse">
            <a:avLst/>
          </a:prstGeom>
          <a:solidFill>
            <a:srgbClr val="E8478D"/>
          </a:solidFill>
          <a:ln w="12700">
            <a:solidFill>
              <a:srgbClr val="E8478D"/>
            </a:solidFill>
            <a:prstDash val="solid"/>
          </a:ln>
        </p:spPr>
      </p:sp>
      <p:sp>
        <p:nvSpPr>
          <p:cNvPr id="32" name="Shape 30"/>
          <p:cNvSpPr/>
          <p:nvPr/>
        </p:nvSpPr>
        <p:spPr>
          <a:xfrm>
            <a:off x="5908853" y="2487168"/>
            <a:ext cx="1258214" cy="1417320"/>
          </a:xfrm>
          <a:prstGeom prst="rect">
            <a:avLst/>
          </a:prstGeom>
          <a:solidFill>
            <a:srgbClr val="F9F9F9"/>
          </a:solidFill>
          <a:ln w="6350">
            <a:solidFill>
              <a:srgbClr val="E5E5E5"/>
            </a:solidFill>
            <a:prstDash val="solid"/>
          </a:ln>
        </p:spPr>
      </p:sp>
      <p:sp>
        <p:nvSpPr>
          <p:cNvPr id="33" name="Shape 31"/>
          <p:cNvSpPr/>
          <p:nvPr/>
        </p:nvSpPr>
        <p:spPr>
          <a:xfrm>
            <a:off x="5908853" y="2487168"/>
            <a:ext cx="54864" cy="1417320"/>
          </a:xfrm>
          <a:prstGeom prst="rect">
            <a:avLst/>
          </a:prstGeom>
          <a:solidFill>
            <a:srgbClr val="E8478D"/>
          </a:solidFill>
          <a:ln w="12700">
            <a:solidFill>
              <a:srgbClr val="E8478D"/>
            </a:solidFill>
            <a:prstDash val="solid"/>
          </a:ln>
        </p:spPr>
      </p:sp>
      <p:sp>
        <p:nvSpPr>
          <p:cNvPr id="34" name="Text 32"/>
          <p:cNvSpPr/>
          <p:nvPr/>
        </p:nvSpPr>
        <p:spPr>
          <a:xfrm>
            <a:off x="603686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2023–24</a:t>
            </a:r>
            <a:endParaRPr lang="en-US" sz="850" dirty="0"/>
          </a:p>
        </p:txBody>
      </p:sp>
      <p:sp>
        <p:nvSpPr>
          <p:cNvPr id="35" name="Text 33"/>
          <p:cNvSpPr/>
          <p:nvPr/>
        </p:nvSpPr>
        <p:spPr>
          <a:xfrm>
            <a:off x="603686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Reasoning</a:t>
            </a:r>
            <a:endParaRPr lang="en-US" sz="1150" dirty="0"/>
          </a:p>
        </p:txBody>
      </p:sp>
      <p:sp>
        <p:nvSpPr>
          <p:cNvPr id="36" name="Text 34"/>
          <p:cNvSpPr/>
          <p:nvPr/>
        </p:nvSpPr>
        <p:spPr>
          <a:xfrm>
            <a:off x="603686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Multi-step logic and chain-of-thought. o1, DeepSeek R1.</a:t>
            </a:r>
            <a:endParaRPr lang="en-US" sz="850" dirty="0"/>
          </a:p>
        </p:txBody>
      </p:sp>
      <p:sp>
        <p:nvSpPr>
          <p:cNvPr id="37" name="Shape 35"/>
          <p:cNvSpPr/>
          <p:nvPr/>
        </p:nvSpPr>
        <p:spPr>
          <a:xfrm>
            <a:off x="7766304" y="2203704"/>
            <a:ext cx="164592" cy="164592"/>
          </a:xfrm>
          <a:prstGeom prst="ellipse">
            <a:avLst/>
          </a:prstGeom>
          <a:solidFill>
            <a:srgbClr val="CC0000"/>
          </a:solidFill>
          <a:ln w="12700">
            <a:solidFill>
              <a:srgbClr val="CC0000"/>
            </a:solidFill>
            <a:prstDash val="solid"/>
          </a:ln>
        </p:spPr>
      </p:sp>
      <p:sp>
        <p:nvSpPr>
          <p:cNvPr id="38" name="Shape 36"/>
          <p:cNvSpPr/>
          <p:nvPr/>
        </p:nvSpPr>
        <p:spPr>
          <a:xfrm>
            <a:off x="7219493" y="2487168"/>
            <a:ext cx="1258214" cy="1417320"/>
          </a:xfrm>
          <a:prstGeom prst="rect">
            <a:avLst/>
          </a:prstGeom>
          <a:solidFill>
            <a:srgbClr val="F9F9F9"/>
          </a:solidFill>
          <a:ln w="6350">
            <a:solidFill>
              <a:srgbClr val="E5E5E5"/>
            </a:solidFill>
            <a:prstDash val="solid"/>
          </a:ln>
        </p:spPr>
      </p:sp>
      <p:sp>
        <p:nvSpPr>
          <p:cNvPr id="39" name="Shape 37"/>
          <p:cNvSpPr/>
          <p:nvPr/>
        </p:nvSpPr>
        <p:spPr>
          <a:xfrm>
            <a:off x="7219493" y="2487168"/>
            <a:ext cx="54864" cy="1417320"/>
          </a:xfrm>
          <a:prstGeom prst="rect">
            <a:avLst/>
          </a:prstGeom>
          <a:solidFill>
            <a:srgbClr val="CC0000"/>
          </a:solidFill>
          <a:ln w="12700">
            <a:solidFill>
              <a:srgbClr val="CC0000"/>
            </a:solidFill>
            <a:prstDash val="solid"/>
          </a:ln>
        </p:spPr>
      </p:sp>
      <p:sp>
        <p:nvSpPr>
          <p:cNvPr id="40" name="Text 38"/>
          <p:cNvSpPr/>
          <p:nvPr/>
        </p:nvSpPr>
        <p:spPr>
          <a:xfrm>
            <a:off x="73475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2025+</a:t>
            </a:r>
            <a:endParaRPr lang="en-US" sz="850" dirty="0"/>
          </a:p>
        </p:txBody>
      </p:sp>
      <p:sp>
        <p:nvSpPr>
          <p:cNvPr id="41" name="Text 39"/>
          <p:cNvSpPr/>
          <p:nvPr/>
        </p:nvSpPr>
        <p:spPr>
          <a:xfrm>
            <a:off x="73475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Agentic AI</a:t>
            </a:r>
            <a:endParaRPr lang="en-US" sz="1150" dirty="0"/>
          </a:p>
        </p:txBody>
      </p:sp>
      <p:sp>
        <p:nvSpPr>
          <p:cNvPr id="42" name="Text 40"/>
          <p:cNvSpPr/>
          <p:nvPr/>
        </p:nvSpPr>
        <p:spPr>
          <a:xfrm>
            <a:off x="7347509" y="3108960"/>
            <a:ext cx="1075334" cy="82296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AI that acts autonomously with tools. Claude Code, agents.</a:t>
            </a:r>
            <a:endParaRPr lang="en-US" sz="850" dirty="0"/>
          </a:p>
        </p:txBody>
      </p:sp>
      <p:sp>
        <p:nvSpPr>
          <p:cNvPr id="43" name="Text 4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4" name="Shape 42"/>
          <p:cNvSpPr/>
          <p:nvPr/>
        </p:nvSpPr>
        <p:spPr>
          <a:xfrm>
            <a:off x="0" y="4526280"/>
            <a:ext cx="9144000" cy="617220"/>
          </a:xfrm>
          <a:prstGeom prst="rect">
            <a:avLst/>
          </a:prstGeom>
          <a:solidFill>
            <a:srgbClr val="333333"/>
          </a:solidFill>
          <a:ln w="12700">
            <a:solidFill>
              <a:srgbClr val="333333"/>
            </a:solidFill>
            <a:prstDash val="solid"/>
          </a:ln>
        </p:spPr>
      </p:sp>
      <p:sp>
        <p:nvSpPr>
          <p:cNvPr id="45" name="Text 4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6"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AI stack.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From rare earths in the ground to agents that act on your behalf. Eleven layers, each investable, each with its own constraint.</a:t>
            </a:r>
            <a:endParaRPr lang="en-US" sz="1350" dirty="0"/>
          </a:p>
        </p:txBody>
      </p:sp>
      <p:sp>
        <p:nvSpPr>
          <p:cNvPr id="6" name="Shape 4"/>
          <p:cNvSpPr/>
          <p:nvPr/>
        </p:nvSpPr>
        <p:spPr>
          <a:xfrm>
            <a:off x="457200" y="1417320"/>
            <a:ext cx="137160" cy="210312"/>
          </a:xfrm>
          <a:prstGeom prst="rect">
            <a:avLst/>
          </a:prstGeom>
          <a:solidFill>
            <a:srgbClr val="E8478D"/>
          </a:solidFill>
          <a:ln w="12700">
            <a:solidFill>
              <a:srgbClr val="E8478D"/>
            </a:solidFill>
            <a:prstDash val="solid"/>
          </a:ln>
        </p:spPr>
      </p:sp>
      <p:sp>
        <p:nvSpPr>
          <p:cNvPr id="7" name="Text 5"/>
          <p:cNvSpPr/>
          <p:nvPr/>
        </p:nvSpPr>
        <p:spPr>
          <a:xfrm>
            <a:off x="685800" y="1417320"/>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Agents</a:t>
            </a:r>
            <a:endParaRPr lang="en-US" sz="1100" dirty="0"/>
          </a:p>
        </p:txBody>
      </p:sp>
      <p:sp>
        <p:nvSpPr>
          <p:cNvPr id="8" name="Text 6"/>
          <p:cNvSpPr/>
          <p:nvPr/>
        </p:nvSpPr>
        <p:spPr>
          <a:xfrm>
            <a:off x="2697480" y="1417320"/>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Autonomous AI that acts on your behalf</a:t>
            </a:r>
            <a:endParaRPr lang="en-US" sz="950" dirty="0"/>
          </a:p>
        </p:txBody>
      </p:sp>
      <p:sp>
        <p:nvSpPr>
          <p:cNvPr id="9" name="Shape 7"/>
          <p:cNvSpPr/>
          <p:nvPr/>
        </p:nvSpPr>
        <p:spPr>
          <a:xfrm>
            <a:off x="6583680" y="1435608"/>
            <a:ext cx="2057400" cy="173736"/>
          </a:xfrm>
          <a:prstGeom prst="roundRect">
            <a:avLst>
              <a:gd name="adj" fmla="val 15789"/>
            </a:avLst>
          </a:prstGeom>
          <a:solidFill>
            <a:srgbClr val="E8478D"/>
          </a:solidFill>
          <a:ln w="12700">
            <a:solidFill>
              <a:srgbClr val="E8478D"/>
            </a:solidFill>
            <a:prstDash val="solid"/>
          </a:ln>
        </p:spPr>
      </p:sp>
      <p:sp>
        <p:nvSpPr>
          <p:cNvPr id="10" name="Text 8"/>
          <p:cNvSpPr/>
          <p:nvPr/>
        </p:nvSpPr>
        <p:spPr>
          <a:xfrm>
            <a:off x="6583680" y="1435608"/>
            <a:ext cx="2057400" cy="173736"/>
          </a:xfrm>
          <a:prstGeom prst="rect">
            <a:avLst/>
          </a:prstGeom>
          <a:noFill/>
          <a:ln/>
        </p:spPr>
        <p:txBody>
          <a:bodyPr wrap="square" lIns="0" tIns="0" rIns="0" bIns="0" rtlCol="0" anchor="ctr"/>
          <a:lstStyle/>
          <a:p>
            <a:pPr algn="ctr" indent="0" marL="0">
              <a:buNone/>
            </a:pPr>
            <a:r>
              <a:rPr lang="en-US" sz="800" b="1" spc="200" kern="0" dirty="0">
                <a:solidFill>
                  <a:srgbClr val="FFFFFF"/>
                </a:solidFill>
                <a:latin typeface="Arial" pitchFamily="34" charset="0"/>
                <a:ea typeface="Arial" pitchFamily="34" charset="-122"/>
                <a:cs typeface="Arial" pitchFamily="34" charset="-120"/>
              </a:rPr>
              <a:t>FASTEST-GROWING</a:t>
            </a:r>
            <a:endParaRPr lang="en-US" sz="800" dirty="0"/>
          </a:p>
        </p:txBody>
      </p:sp>
      <p:sp>
        <p:nvSpPr>
          <p:cNvPr id="11" name="Shape 9"/>
          <p:cNvSpPr/>
          <p:nvPr/>
        </p:nvSpPr>
        <p:spPr>
          <a:xfrm>
            <a:off x="457200" y="1664208"/>
            <a:ext cx="137160" cy="210312"/>
          </a:xfrm>
          <a:prstGeom prst="rect">
            <a:avLst/>
          </a:prstGeom>
          <a:solidFill>
            <a:srgbClr val="F6693D"/>
          </a:solidFill>
          <a:ln w="12700">
            <a:solidFill>
              <a:srgbClr val="F6693D"/>
            </a:solidFill>
            <a:prstDash val="solid"/>
          </a:ln>
        </p:spPr>
      </p:sp>
      <p:sp>
        <p:nvSpPr>
          <p:cNvPr id="12" name="Text 10"/>
          <p:cNvSpPr/>
          <p:nvPr/>
        </p:nvSpPr>
        <p:spPr>
          <a:xfrm>
            <a:off x="685800" y="1664208"/>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Apps</a:t>
            </a:r>
            <a:endParaRPr lang="en-US" sz="1100" dirty="0"/>
          </a:p>
        </p:txBody>
      </p:sp>
      <p:sp>
        <p:nvSpPr>
          <p:cNvPr id="13" name="Text 11"/>
          <p:cNvSpPr/>
          <p:nvPr/>
        </p:nvSpPr>
        <p:spPr>
          <a:xfrm>
            <a:off x="2697480" y="1664208"/>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Products built on foundation models</a:t>
            </a:r>
            <a:endParaRPr lang="en-US" sz="950" dirty="0"/>
          </a:p>
        </p:txBody>
      </p:sp>
      <p:sp>
        <p:nvSpPr>
          <p:cNvPr id="14" name="Shape 12"/>
          <p:cNvSpPr/>
          <p:nvPr/>
        </p:nvSpPr>
        <p:spPr>
          <a:xfrm>
            <a:off x="457200" y="1911096"/>
            <a:ext cx="137160" cy="210312"/>
          </a:xfrm>
          <a:prstGeom prst="rect">
            <a:avLst/>
          </a:prstGeom>
          <a:solidFill>
            <a:srgbClr val="F6693D"/>
          </a:solidFill>
          <a:ln w="12700">
            <a:solidFill>
              <a:srgbClr val="F6693D"/>
            </a:solidFill>
            <a:prstDash val="solid"/>
          </a:ln>
        </p:spPr>
      </p:sp>
      <p:sp>
        <p:nvSpPr>
          <p:cNvPr id="15" name="Text 13"/>
          <p:cNvSpPr/>
          <p:nvPr/>
        </p:nvSpPr>
        <p:spPr>
          <a:xfrm>
            <a:off x="685800" y="1911096"/>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Models</a:t>
            </a:r>
            <a:endParaRPr lang="en-US" sz="1100" dirty="0"/>
          </a:p>
        </p:txBody>
      </p:sp>
      <p:sp>
        <p:nvSpPr>
          <p:cNvPr id="16" name="Text 14"/>
          <p:cNvSpPr/>
          <p:nvPr/>
        </p:nvSpPr>
        <p:spPr>
          <a:xfrm>
            <a:off x="2697480" y="1911096"/>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The intelligence layer</a:t>
            </a:r>
            <a:endParaRPr lang="en-US" sz="950" dirty="0"/>
          </a:p>
        </p:txBody>
      </p:sp>
      <p:sp>
        <p:nvSpPr>
          <p:cNvPr id="17" name="Shape 15"/>
          <p:cNvSpPr/>
          <p:nvPr/>
        </p:nvSpPr>
        <p:spPr>
          <a:xfrm>
            <a:off x="457200" y="2157984"/>
            <a:ext cx="137160" cy="210312"/>
          </a:xfrm>
          <a:prstGeom prst="rect">
            <a:avLst/>
          </a:prstGeom>
          <a:solidFill>
            <a:srgbClr val="FFB800"/>
          </a:solidFill>
          <a:ln w="12700">
            <a:solidFill>
              <a:srgbClr val="FFB800"/>
            </a:solidFill>
            <a:prstDash val="solid"/>
          </a:ln>
        </p:spPr>
      </p:sp>
      <p:sp>
        <p:nvSpPr>
          <p:cNvPr id="18" name="Text 16"/>
          <p:cNvSpPr/>
          <p:nvPr/>
        </p:nvSpPr>
        <p:spPr>
          <a:xfrm>
            <a:off x="685800" y="2157984"/>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Data centers</a:t>
            </a:r>
            <a:endParaRPr lang="en-US" sz="1100" dirty="0"/>
          </a:p>
        </p:txBody>
      </p:sp>
      <p:sp>
        <p:nvSpPr>
          <p:cNvPr id="19" name="Text 17"/>
          <p:cNvSpPr/>
          <p:nvPr/>
        </p:nvSpPr>
        <p:spPr>
          <a:xfrm>
            <a:off x="2697480" y="2157984"/>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Warehouses of compute</a:t>
            </a:r>
            <a:endParaRPr lang="en-US" sz="950" dirty="0"/>
          </a:p>
        </p:txBody>
      </p:sp>
      <p:sp>
        <p:nvSpPr>
          <p:cNvPr id="20" name="Shape 18"/>
          <p:cNvSpPr/>
          <p:nvPr/>
        </p:nvSpPr>
        <p:spPr>
          <a:xfrm>
            <a:off x="457200" y="2404872"/>
            <a:ext cx="137160" cy="210312"/>
          </a:xfrm>
          <a:prstGeom prst="rect">
            <a:avLst/>
          </a:prstGeom>
          <a:solidFill>
            <a:srgbClr val="FFB800"/>
          </a:solidFill>
          <a:ln w="12700">
            <a:solidFill>
              <a:srgbClr val="FFB800"/>
            </a:solidFill>
            <a:prstDash val="solid"/>
          </a:ln>
        </p:spPr>
      </p:sp>
      <p:sp>
        <p:nvSpPr>
          <p:cNvPr id="21" name="Text 19"/>
          <p:cNvSpPr/>
          <p:nvPr/>
        </p:nvSpPr>
        <p:spPr>
          <a:xfrm>
            <a:off x="685800" y="2404872"/>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Power</a:t>
            </a:r>
            <a:endParaRPr lang="en-US" sz="1100" dirty="0"/>
          </a:p>
        </p:txBody>
      </p:sp>
      <p:sp>
        <p:nvSpPr>
          <p:cNvPr id="22" name="Text 20"/>
          <p:cNvSpPr/>
          <p:nvPr/>
        </p:nvSpPr>
        <p:spPr>
          <a:xfrm>
            <a:off x="2697480" y="2404872"/>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The hidden constraint</a:t>
            </a:r>
            <a:endParaRPr lang="en-US" sz="950" dirty="0"/>
          </a:p>
        </p:txBody>
      </p:sp>
      <p:sp>
        <p:nvSpPr>
          <p:cNvPr id="23" name="Shape 21"/>
          <p:cNvSpPr/>
          <p:nvPr/>
        </p:nvSpPr>
        <p:spPr>
          <a:xfrm>
            <a:off x="457200" y="2651760"/>
            <a:ext cx="137160" cy="210312"/>
          </a:xfrm>
          <a:prstGeom prst="rect">
            <a:avLst/>
          </a:prstGeom>
          <a:solidFill>
            <a:srgbClr val="008B8B"/>
          </a:solidFill>
          <a:ln w="12700">
            <a:solidFill>
              <a:srgbClr val="008B8B"/>
            </a:solidFill>
            <a:prstDash val="solid"/>
          </a:ln>
        </p:spPr>
      </p:sp>
      <p:sp>
        <p:nvSpPr>
          <p:cNvPr id="24" name="Text 22"/>
          <p:cNvSpPr/>
          <p:nvPr/>
        </p:nvSpPr>
        <p:spPr>
          <a:xfrm>
            <a:off x="685800" y="2651760"/>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Networking</a:t>
            </a:r>
            <a:endParaRPr lang="en-US" sz="1100" dirty="0"/>
          </a:p>
        </p:txBody>
      </p:sp>
      <p:sp>
        <p:nvSpPr>
          <p:cNvPr id="25" name="Text 23"/>
          <p:cNvSpPr/>
          <p:nvPr/>
        </p:nvSpPr>
        <p:spPr>
          <a:xfrm>
            <a:off x="2697480" y="2651760"/>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Moving data at terabit speed</a:t>
            </a:r>
            <a:endParaRPr lang="en-US" sz="950" dirty="0"/>
          </a:p>
        </p:txBody>
      </p:sp>
      <p:sp>
        <p:nvSpPr>
          <p:cNvPr id="26" name="Shape 24"/>
          <p:cNvSpPr/>
          <p:nvPr/>
        </p:nvSpPr>
        <p:spPr>
          <a:xfrm>
            <a:off x="457200" y="2898648"/>
            <a:ext cx="137160" cy="210312"/>
          </a:xfrm>
          <a:prstGeom prst="rect">
            <a:avLst/>
          </a:prstGeom>
          <a:solidFill>
            <a:srgbClr val="CC0000"/>
          </a:solidFill>
          <a:ln w="12700">
            <a:solidFill>
              <a:srgbClr val="CC0000"/>
            </a:solidFill>
            <a:prstDash val="solid"/>
          </a:ln>
        </p:spPr>
      </p:sp>
      <p:sp>
        <p:nvSpPr>
          <p:cNvPr id="27" name="Text 25"/>
          <p:cNvSpPr/>
          <p:nvPr/>
        </p:nvSpPr>
        <p:spPr>
          <a:xfrm>
            <a:off x="685800" y="2898648"/>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Packaging</a:t>
            </a:r>
            <a:endParaRPr lang="en-US" sz="1100" dirty="0"/>
          </a:p>
        </p:txBody>
      </p:sp>
      <p:sp>
        <p:nvSpPr>
          <p:cNvPr id="28" name="Text 26"/>
          <p:cNvSpPr/>
          <p:nvPr/>
        </p:nvSpPr>
        <p:spPr>
          <a:xfrm>
            <a:off x="2697480" y="2898648"/>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Stacking chiplets (CoWoS, HBM)</a:t>
            </a:r>
            <a:endParaRPr lang="en-US" sz="950" dirty="0"/>
          </a:p>
        </p:txBody>
      </p:sp>
      <p:sp>
        <p:nvSpPr>
          <p:cNvPr id="29" name="Shape 27"/>
          <p:cNvSpPr/>
          <p:nvPr/>
        </p:nvSpPr>
        <p:spPr>
          <a:xfrm>
            <a:off x="6583680" y="2916936"/>
            <a:ext cx="2057400" cy="173736"/>
          </a:xfrm>
          <a:prstGeom prst="roundRect">
            <a:avLst>
              <a:gd name="adj" fmla="val 15789"/>
            </a:avLst>
          </a:prstGeom>
          <a:solidFill>
            <a:srgbClr val="CC0000"/>
          </a:solidFill>
          <a:ln w="12700">
            <a:solidFill>
              <a:srgbClr val="CC0000"/>
            </a:solidFill>
            <a:prstDash val="solid"/>
          </a:ln>
        </p:spPr>
      </p:sp>
      <p:sp>
        <p:nvSpPr>
          <p:cNvPr id="30" name="Text 28"/>
          <p:cNvSpPr/>
          <p:nvPr/>
        </p:nvSpPr>
        <p:spPr>
          <a:xfrm>
            <a:off x="6583680" y="2916936"/>
            <a:ext cx="2057400" cy="173736"/>
          </a:xfrm>
          <a:prstGeom prst="rect">
            <a:avLst/>
          </a:prstGeom>
          <a:noFill/>
          <a:ln/>
        </p:spPr>
        <p:txBody>
          <a:bodyPr wrap="square" lIns="0" tIns="0" rIns="0" bIns="0" rtlCol="0" anchor="ctr"/>
          <a:lstStyle/>
          <a:p>
            <a:pPr algn="ctr" indent="0" marL="0">
              <a:buNone/>
            </a:pPr>
            <a:r>
              <a:rPr lang="en-US" sz="800" b="1" spc="200" kern="0" dirty="0">
                <a:solidFill>
                  <a:srgbClr val="FFFFFF"/>
                </a:solidFill>
                <a:latin typeface="Arial" pitchFamily="34" charset="0"/>
                <a:ea typeface="Arial" pitchFamily="34" charset="-122"/>
                <a:cs typeface="Arial" pitchFamily="34" charset="-120"/>
              </a:rPr>
              <a:t>DEEPEST BOTTLENECK</a:t>
            </a:r>
            <a:endParaRPr lang="en-US" sz="800" dirty="0"/>
          </a:p>
        </p:txBody>
      </p:sp>
      <p:sp>
        <p:nvSpPr>
          <p:cNvPr id="31" name="Shape 29"/>
          <p:cNvSpPr/>
          <p:nvPr/>
        </p:nvSpPr>
        <p:spPr>
          <a:xfrm>
            <a:off x="457200" y="3145536"/>
            <a:ext cx="137160" cy="210312"/>
          </a:xfrm>
          <a:prstGeom prst="rect">
            <a:avLst/>
          </a:prstGeom>
          <a:solidFill>
            <a:srgbClr val="008B8B"/>
          </a:solidFill>
          <a:ln w="12700">
            <a:solidFill>
              <a:srgbClr val="008B8B"/>
            </a:solidFill>
            <a:prstDash val="solid"/>
          </a:ln>
        </p:spPr>
      </p:sp>
      <p:sp>
        <p:nvSpPr>
          <p:cNvPr id="32" name="Text 30"/>
          <p:cNvSpPr/>
          <p:nvPr/>
        </p:nvSpPr>
        <p:spPr>
          <a:xfrm>
            <a:off x="685800" y="3145536"/>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Chip design</a:t>
            </a:r>
            <a:endParaRPr lang="en-US" sz="1100" dirty="0"/>
          </a:p>
        </p:txBody>
      </p:sp>
      <p:sp>
        <p:nvSpPr>
          <p:cNvPr id="33" name="Text 31"/>
          <p:cNvSpPr/>
          <p:nvPr/>
        </p:nvSpPr>
        <p:spPr>
          <a:xfrm>
            <a:off x="2697480" y="3145536"/>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GPUs, TPUs, ASICs</a:t>
            </a:r>
            <a:endParaRPr lang="en-US" sz="950" dirty="0"/>
          </a:p>
        </p:txBody>
      </p:sp>
      <p:sp>
        <p:nvSpPr>
          <p:cNvPr id="34" name="Shape 32"/>
          <p:cNvSpPr/>
          <p:nvPr/>
        </p:nvSpPr>
        <p:spPr>
          <a:xfrm>
            <a:off x="457200" y="3392424"/>
            <a:ext cx="137160" cy="210312"/>
          </a:xfrm>
          <a:prstGeom prst="rect">
            <a:avLst/>
          </a:prstGeom>
          <a:solidFill>
            <a:srgbClr val="008B8B"/>
          </a:solidFill>
          <a:ln w="12700">
            <a:solidFill>
              <a:srgbClr val="008B8B"/>
            </a:solidFill>
            <a:prstDash val="solid"/>
          </a:ln>
        </p:spPr>
      </p:sp>
      <p:sp>
        <p:nvSpPr>
          <p:cNvPr id="35" name="Text 33"/>
          <p:cNvSpPr/>
          <p:nvPr/>
        </p:nvSpPr>
        <p:spPr>
          <a:xfrm>
            <a:off x="685800" y="3392424"/>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Foundry</a:t>
            </a:r>
            <a:endParaRPr lang="en-US" sz="1100" dirty="0"/>
          </a:p>
        </p:txBody>
      </p:sp>
      <p:sp>
        <p:nvSpPr>
          <p:cNvPr id="36" name="Text 34"/>
          <p:cNvSpPr/>
          <p:nvPr/>
        </p:nvSpPr>
        <p:spPr>
          <a:xfrm>
            <a:off x="2697480" y="3392424"/>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Fabricating at nanometer scale</a:t>
            </a:r>
            <a:endParaRPr lang="en-US" sz="950" dirty="0"/>
          </a:p>
        </p:txBody>
      </p:sp>
      <p:sp>
        <p:nvSpPr>
          <p:cNvPr id="37" name="Shape 35"/>
          <p:cNvSpPr/>
          <p:nvPr/>
        </p:nvSpPr>
        <p:spPr>
          <a:xfrm>
            <a:off x="457200" y="3639312"/>
            <a:ext cx="137160" cy="210312"/>
          </a:xfrm>
          <a:prstGeom prst="rect">
            <a:avLst/>
          </a:prstGeom>
          <a:solidFill>
            <a:srgbClr val="666666"/>
          </a:solidFill>
          <a:ln w="12700">
            <a:solidFill>
              <a:srgbClr val="666666"/>
            </a:solidFill>
            <a:prstDash val="solid"/>
          </a:ln>
        </p:spPr>
      </p:sp>
      <p:sp>
        <p:nvSpPr>
          <p:cNvPr id="38" name="Text 36"/>
          <p:cNvSpPr/>
          <p:nvPr/>
        </p:nvSpPr>
        <p:spPr>
          <a:xfrm>
            <a:off x="685800" y="3639312"/>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Equipment</a:t>
            </a:r>
            <a:endParaRPr lang="en-US" sz="1100" dirty="0"/>
          </a:p>
        </p:txBody>
      </p:sp>
      <p:sp>
        <p:nvSpPr>
          <p:cNvPr id="39" name="Text 37"/>
          <p:cNvSpPr/>
          <p:nvPr/>
        </p:nvSpPr>
        <p:spPr>
          <a:xfrm>
            <a:off x="2697480" y="3639312"/>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Machines that make machines</a:t>
            </a:r>
            <a:endParaRPr lang="en-US" sz="950" dirty="0"/>
          </a:p>
        </p:txBody>
      </p:sp>
      <p:sp>
        <p:nvSpPr>
          <p:cNvPr id="40" name="Shape 38"/>
          <p:cNvSpPr/>
          <p:nvPr/>
        </p:nvSpPr>
        <p:spPr>
          <a:xfrm>
            <a:off x="457200" y="3886200"/>
            <a:ext cx="137160" cy="210312"/>
          </a:xfrm>
          <a:prstGeom prst="rect">
            <a:avLst/>
          </a:prstGeom>
          <a:solidFill>
            <a:srgbClr val="666666"/>
          </a:solidFill>
          <a:ln w="12700">
            <a:solidFill>
              <a:srgbClr val="666666"/>
            </a:solidFill>
            <a:prstDash val="solid"/>
          </a:ln>
        </p:spPr>
      </p:sp>
      <p:sp>
        <p:nvSpPr>
          <p:cNvPr id="41" name="Text 39"/>
          <p:cNvSpPr/>
          <p:nvPr/>
        </p:nvSpPr>
        <p:spPr>
          <a:xfrm>
            <a:off x="685800" y="3886200"/>
            <a:ext cx="2011680" cy="210312"/>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Raw materials</a:t>
            </a:r>
            <a:endParaRPr lang="en-US" sz="1100" dirty="0"/>
          </a:p>
        </p:txBody>
      </p:sp>
      <p:sp>
        <p:nvSpPr>
          <p:cNvPr id="42" name="Text 40"/>
          <p:cNvSpPr/>
          <p:nvPr/>
        </p:nvSpPr>
        <p:spPr>
          <a:xfrm>
            <a:off x="2697480" y="3886200"/>
            <a:ext cx="3840480" cy="210312"/>
          </a:xfrm>
          <a:prstGeom prst="rect">
            <a:avLst/>
          </a:prstGeom>
          <a:noFill/>
          <a:ln/>
        </p:spPr>
        <p:txBody>
          <a:bodyPr wrap="square" lIns="0" tIns="0" rIns="0" bIns="0" rtlCol="0" anchor="ctr"/>
          <a:lstStyle/>
          <a:p>
            <a:pPr indent="0" marL="0">
              <a:buNone/>
            </a:pPr>
            <a:r>
              <a:rPr lang="en-US" sz="950" dirty="0">
                <a:solidFill>
                  <a:srgbClr val="333333"/>
                </a:solidFill>
                <a:latin typeface="Arial" pitchFamily="34" charset="0"/>
                <a:ea typeface="Arial" pitchFamily="34" charset="-122"/>
                <a:cs typeface="Arial" pitchFamily="34" charset="-120"/>
              </a:rPr>
              <a:t>Silicon, neon, rare earths</a:t>
            </a:r>
            <a:endParaRPr lang="en-US" sz="950" dirty="0"/>
          </a:p>
        </p:txBody>
      </p:sp>
      <p:sp>
        <p:nvSpPr>
          <p:cNvPr id="43" name="Text 41"/>
          <p:cNvSpPr/>
          <p:nvPr/>
        </p:nvSpPr>
        <p:spPr>
          <a:xfrm>
            <a:off x="457200" y="416052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Layers ordered top (closest to user) to bottom (closest to atoms).</a:t>
            </a:r>
            <a:endParaRPr lang="en-US" sz="700" dirty="0"/>
          </a:p>
        </p:txBody>
      </p:sp>
      <p:sp>
        <p:nvSpPr>
          <p:cNvPr id="44" name="Shape 42"/>
          <p:cNvSpPr/>
          <p:nvPr/>
        </p:nvSpPr>
        <p:spPr>
          <a:xfrm>
            <a:off x="0" y="4526280"/>
            <a:ext cx="9144000" cy="617220"/>
          </a:xfrm>
          <a:prstGeom prst="rect">
            <a:avLst/>
          </a:prstGeom>
          <a:solidFill>
            <a:srgbClr val="333333"/>
          </a:solidFill>
          <a:ln w="12700">
            <a:solidFill>
              <a:srgbClr val="333333"/>
            </a:solidFill>
            <a:prstDash val="solid"/>
          </a:ln>
        </p:spPr>
      </p:sp>
      <p:sp>
        <p:nvSpPr>
          <p:cNvPr id="45" name="Text 4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6"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No single country makes an advanced chip.</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leading-edge chip crosses 70+ borders and six countries before it reaches a data center. There is no domestic alternative.</a:t>
            </a:r>
            <a:endParaRPr lang="en-US" sz="1350" dirty="0"/>
          </a:p>
        </p:txBody>
      </p:sp>
      <p:sp>
        <p:nvSpPr>
          <p:cNvPr id="6" name="Shape 4"/>
          <p:cNvSpPr/>
          <p:nvPr/>
        </p:nvSpPr>
        <p:spPr>
          <a:xfrm>
            <a:off x="457200" y="1691640"/>
            <a:ext cx="2606040" cy="960120"/>
          </a:xfrm>
          <a:prstGeom prst="rect">
            <a:avLst/>
          </a:prstGeom>
          <a:solidFill>
            <a:srgbClr val="F9F9F9"/>
          </a:solidFill>
          <a:ln w="6350">
            <a:solidFill>
              <a:srgbClr val="E5E5E5"/>
            </a:solidFill>
            <a:prstDash val="solid"/>
          </a:ln>
        </p:spPr>
      </p:sp>
      <p:sp>
        <p:nvSpPr>
          <p:cNvPr id="7" name="Shape 5"/>
          <p:cNvSpPr/>
          <p:nvPr/>
        </p:nvSpPr>
        <p:spPr>
          <a:xfrm>
            <a:off x="457200" y="1691640"/>
            <a:ext cx="2606040" cy="54864"/>
          </a:xfrm>
          <a:prstGeom prst="rect">
            <a:avLst/>
          </a:prstGeom>
          <a:solidFill>
            <a:srgbClr val="008B8B"/>
          </a:solidFill>
          <a:ln w="12700">
            <a:solidFill>
              <a:srgbClr val="008B8B"/>
            </a:solidFill>
            <a:prstDash val="solid"/>
          </a:ln>
        </p:spPr>
      </p:sp>
      <p:sp>
        <p:nvSpPr>
          <p:cNvPr id="8" name="Text 6"/>
          <p:cNvSpPr/>
          <p:nvPr/>
        </p:nvSpPr>
        <p:spPr>
          <a:xfrm>
            <a:off x="594360" y="180136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USA</a:t>
            </a:r>
            <a:endParaRPr lang="en-US" sz="1400" dirty="0"/>
          </a:p>
        </p:txBody>
      </p:sp>
      <p:sp>
        <p:nvSpPr>
          <p:cNvPr id="9" name="Text 7"/>
          <p:cNvSpPr/>
          <p:nvPr/>
        </p:nvSpPr>
        <p:spPr>
          <a:xfrm>
            <a:off x="594360" y="2103120"/>
            <a:ext cx="2331720" cy="274320"/>
          </a:xfrm>
          <a:prstGeom prst="rect">
            <a:avLst/>
          </a:prstGeom>
          <a:noFill/>
          <a:ln/>
        </p:spPr>
        <p:txBody>
          <a:bodyPr wrap="square" lIns="0" tIns="0" rIns="0" bIns="0" rtlCol="0" anchor="ctr"/>
          <a:lstStyle/>
          <a:p>
            <a:pPr indent="0" marL="0">
              <a:buNone/>
            </a:pPr>
            <a:r>
              <a:rPr lang="en-US" sz="1000" b="1" dirty="0">
                <a:solidFill>
                  <a:srgbClr val="008B8B"/>
                </a:solidFill>
                <a:latin typeface="Arial" pitchFamily="34" charset="0"/>
                <a:ea typeface="Arial" pitchFamily="34" charset="-122"/>
                <a:cs typeface="Arial" pitchFamily="34" charset="-120"/>
              </a:rPr>
              <a:t>Design &amp; software</a:t>
            </a:r>
            <a:endParaRPr lang="en-US" sz="1000" dirty="0"/>
          </a:p>
        </p:txBody>
      </p:sp>
      <p:sp>
        <p:nvSpPr>
          <p:cNvPr id="10" name="Text 8"/>
          <p:cNvSpPr/>
          <p:nvPr/>
        </p:nvSpPr>
        <p:spPr>
          <a:xfrm>
            <a:off x="594360" y="235000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NVDA, AMD, AVGO</a:t>
            </a:r>
            <a:endParaRPr lang="en-US" sz="900" dirty="0"/>
          </a:p>
        </p:txBody>
      </p:sp>
      <p:sp>
        <p:nvSpPr>
          <p:cNvPr id="11" name="Shape 9"/>
          <p:cNvSpPr/>
          <p:nvPr/>
        </p:nvSpPr>
        <p:spPr>
          <a:xfrm>
            <a:off x="3154680" y="1691640"/>
            <a:ext cx="2606040" cy="960120"/>
          </a:xfrm>
          <a:prstGeom prst="rect">
            <a:avLst/>
          </a:prstGeom>
          <a:solidFill>
            <a:srgbClr val="F9F9F9"/>
          </a:solidFill>
          <a:ln w="6350">
            <a:solidFill>
              <a:srgbClr val="E5E5E5"/>
            </a:solidFill>
            <a:prstDash val="solid"/>
          </a:ln>
        </p:spPr>
      </p:sp>
      <p:sp>
        <p:nvSpPr>
          <p:cNvPr id="12" name="Shape 10"/>
          <p:cNvSpPr/>
          <p:nvPr/>
        </p:nvSpPr>
        <p:spPr>
          <a:xfrm>
            <a:off x="3154680" y="1691640"/>
            <a:ext cx="2606040" cy="54864"/>
          </a:xfrm>
          <a:prstGeom prst="rect">
            <a:avLst/>
          </a:prstGeom>
          <a:solidFill>
            <a:srgbClr val="CC0000"/>
          </a:solidFill>
          <a:ln w="12700">
            <a:solidFill>
              <a:srgbClr val="CC0000"/>
            </a:solidFill>
            <a:prstDash val="solid"/>
          </a:ln>
        </p:spPr>
      </p:sp>
      <p:sp>
        <p:nvSpPr>
          <p:cNvPr id="13" name="Text 11"/>
          <p:cNvSpPr/>
          <p:nvPr/>
        </p:nvSpPr>
        <p:spPr>
          <a:xfrm>
            <a:off x="3291840" y="180136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Taiwan</a:t>
            </a:r>
            <a:endParaRPr lang="en-US" sz="1400" dirty="0"/>
          </a:p>
        </p:txBody>
      </p:sp>
      <p:sp>
        <p:nvSpPr>
          <p:cNvPr id="14" name="Text 12"/>
          <p:cNvSpPr/>
          <p:nvPr/>
        </p:nvSpPr>
        <p:spPr>
          <a:xfrm>
            <a:off x="3291840" y="2103120"/>
            <a:ext cx="2331720" cy="274320"/>
          </a:xfrm>
          <a:prstGeom prst="rect">
            <a:avLst/>
          </a:prstGeom>
          <a:noFill/>
          <a:ln/>
        </p:spPr>
        <p:txBody>
          <a:bodyPr wrap="square" lIns="0" tIns="0" rIns="0" bIns="0" rtlCol="0" anchor="ctr"/>
          <a:lstStyle/>
          <a:p>
            <a:pPr indent="0" marL="0">
              <a:buNone/>
            </a:pPr>
            <a:r>
              <a:rPr lang="en-US" sz="1000" b="1" dirty="0">
                <a:solidFill>
                  <a:srgbClr val="CC0000"/>
                </a:solidFill>
                <a:latin typeface="Arial" pitchFamily="34" charset="0"/>
                <a:ea typeface="Arial" pitchFamily="34" charset="-122"/>
                <a:cs typeface="Arial" pitchFamily="34" charset="-120"/>
              </a:rPr>
              <a:t>Leading-edge fabs</a:t>
            </a:r>
            <a:endParaRPr lang="en-US" sz="1000" dirty="0"/>
          </a:p>
        </p:txBody>
      </p:sp>
      <p:sp>
        <p:nvSpPr>
          <p:cNvPr id="15" name="Text 13"/>
          <p:cNvSpPr/>
          <p:nvPr/>
        </p:nvSpPr>
        <p:spPr>
          <a:xfrm>
            <a:off x="3291840" y="235000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TSMC (~90% advanced)</a:t>
            </a:r>
            <a:endParaRPr lang="en-US" sz="900" dirty="0"/>
          </a:p>
        </p:txBody>
      </p:sp>
      <p:sp>
        <p:nvSpPr>
          <p:cNvPr id="16" name="Shape 14"/>
          <p:cNvSpPr/>
          <p:nvPr/>
        </p:nvSpPr>
        <p:spPr>
          <a:xfrm>
            <a:off x="5852160" y="1691640"/>
            <a:ext cx="2606040" cy="960120"/>
          </a:xfrm>
          <a:prstGeom prst="rect">
            <a:avLst/>
          </a:prstGeom>
          <a:solidFill>
            <a:srgbClr val="F9F9F9"/>
          </a:solidFill>
          <a:ln w="6350">
            <a:solidFill>
              <a:srgbClr val="E5E5E5"/>
            </a:solidFill>
            <a:prstDash val="solid"/>
          </a:ln>
        </p:spPr>
      </p:sp>
      <p:sp>
        <p:nvSpPr>
          <p:cNvPr id="17" name="Shape 15"/>
          <p:cNvSpPr/>
          <p:nvPr/>
        </p:nvSpPr>
        <p:spPr>
          <a:xfrm>
            <a:off x="5852160" y="1691640"/>
            <a:ext cx="2606040" cy="54864"/>
          </a:xfrm>
          <a:prstGeom prst="rect">
            <a:avLst/>
          </a:prstGeom>
          <a:solidFill>
            <a:srgbClr val="FFB800"/>
          </a:solidFill>
          <a:ln w="12700">
            <a:solidFill>
              <a:srgbClr val="FFB800"/>
            </a:solidFill>
            <a:prstDash val="solid"/>
          </a:ln>
        </p:spPr>
      </p:sp>
      <p:sp>
        <p:nvSpPr>
          <p:cNvPr id="18" name="Text 16"/>
          <p:cNvSpPr/>
          <p:nvPr/>
        </p:nvSpPr>
        <p:spPr>
          <a:xfrm>
            <a:off x="5989320" y="180136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S. Korea</a:t>
            </a:r>
            <a:endParaRPr lang="en-US" sz="1400" dirty="0"/>
          </a:p>
        </p:txBody>
      </p:sp>
      <p:sp>
        <p:nvSpPr>
          <p:cNvPr id="19" name="Text 17"/>
          <p:cNvSpPr/>
          <p:nvPr/>
        </p:nvSpPr>
        <p:spPr>
          <a:xfrm>
            <a:off x="5989320" y="2103120"/>
            <a:ext cx="2331720" cy="274320"/>
          </a:xfrm>
          <a:prstGeom prst="rect">
            <a:avLst/>
          </a:prstGeom>
          <a:noFill/>
          <a:ln/>
        </p:spPr>
        <p:txBody>
          <a:bodyPr wrap="square" lIns="0" tIns="0" rIns="0" bIns="0" rtlCol="0" anchor="ctr"/>
          <a:lstStyle/>
          <a:p>
            <a:pPr indent="0" marL="0">
              <a:buNone/>
            </a:pPr>
            <a:r>
              <a:rPr lang="en-US" sz="1000" b="1" dirty="0">
                <a:solidFill>
                  <a:srgbClr val="FFB800"/>
                </a:solidFill>
                <a:latin typeface="Arial" pitchFamily="34" charset="0"/>
                <a:ea typeface="Arial" pitchFamily="34" charset="-122"/>
                <a:cs typeface="Arial" pitchFamily="34" charset="-120"/>
              </a:rPr>
              <a:t>DRAM &amp; HBM</a:t>
            </a:r>
            <a:endParaRPr lang="en-US" sz="1000" dirty="0"/>
          </a:p>
        </p:txBody>
      </p:sp>
      <p:sp>
        <p:nvSpPr>
          <p:cNvPr id="20" name="Text 18"/>
          <p:cNvSpPr/>
          <p:nvPr/>
        </p:nvSpPr>
        <p:spPr>
          <a:xfrm>
            <a:off x="5989320" y="235000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SK Hynix, Samsung</a:t>
            </a:r>
            <a:endParaRPr lang="en-US" sz="900" dirty="0"/>
          </a:p>
        </p:txBody>
      </p:sp>
      <p:sp>
        <p:nvSpPr>
          <p:cNvPr id="21" name="Shape 19"/>
          <p:cNvSpPr/>
          <p:nvPr/>
        </p:nvSpPr>
        <p:spPr>
          <a:xfrm>
            <a:off x="457200" y="2788920"/>
            <a:ext cx="2606040" cy="960120"/>
          </a:xfrm>
          <a:prstGeom prst="rect">
            <a:avLst/>
          </a:prstGeom>
          <a:solidFill>
            <a:srgbClr val="F9F9F9"/>
          </a:solidFill>
          <a:ln w="6350">
            <a:solidFill>
              <a:srgbClr val="E5E5E5"/>
            </a:solidFill>
            <a:prstDash val="solid"/>
          </a:ln>
        </p:spPr>
      </p:sp>
      <p:sp>
        <p:nvSpPr>
          <p:cNvPr id="22" name="Shape 20"/>
          <p:cNvSpPr/>
          <p:nvPr/>
        </p:nvSpPr>
        <p:spPr>
          <a:xfrm>
            <a:off x="457200" y="2788920"/>
            <a:ext cx="2606040" cy="54864"/>
          </a:xfrm>
          <a:prstGeom prst="rect">
            <a:avLst/>
          </a:prstGeom>
          <a:solidFill>
            <a:srgbClr val="E8478D"/>
          </a:solidFill>
          <a:ln w="12700">
            <a:solidFill>
              <a:srgbClr val="E8478D"/>
            </a:solidFill>
            <a:prstDash val="solid"/>
          </a:ln>
        </p:spPr>
      </p:sp>
      <p:sp>
        <p:nvSpPr>
          <p:cNvPr id="23" name="Text 21"/>
          <p:cNvSpPr/>
          <p:nvPr/>
        </p:nvSpPr>
        <p:spPr>
          <a:xfrm>
            <a:off x="594360" y="289864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Netherlands</a:t>
            </a:r>
            <a:endParaRPr lang="en-US" sz="1400" dirty="0"/>
          </a:p>
        </p:txBody>
      </p:sp>
      <p:sp>
        <p:nvSpPr>
          <p:cNvPr id="24" name="Text 22"/>
          <p:cNvSpPr/>
          <p:nvPr/>
        </p:nvSpPr>
        <p:spPr>
          <a:xfrm>
            <a:off x="594360" y="3200400"/>
            <a:ext cx="2331720" cy="274320"/>
          </a:xfrm>
          <a:prstGeom prst="rect">
            <a:avLst/>
          </a:prstGeom>
          <a:noFill/>
          <a:ln/>
        </p:spPr>
        <p:txBody>
          <a:bodyPr wrap="square" lIns="0" tIns="0" rIns="0" bIns="0" rtlCol="0" anchor="ctr"/>
          <a:lstStyle/>
          <a:p>
            <a:pPr indent="0" marL="0">
              <a:buNone/>
            </a:pPr>
            <a:r>
              <a:rPr lang="en-US" sz="1000" b="1" dirty="0">
                <a:solidFill>
                  <a:srgbClr val="E8478D"/>
                </a:solidFill>
                <a:latin typeface="Arial" pitchFamily="34" charset="0"/>
                <a:ea typeface="Arial" pitchFamily="34" charset="-122"/>
                <a:cs typeface="Arial" pitchFamily="34" charset="-120"/>
              </a:rPr>
              <a:t>EUV lithography</a:t>
            </a:r>
            <a:endParaRPr lang="en-US" sz="1000" dirty="0"/>
          </a:p>
        </p:txBody>
      </p:sp>
      <p:sp>
        <p:nvSpPr>
          <p:cNvPr id="25" name="Text 23"/>
          <p:cNvSpPr/>
          <p:nvPr/>
        </p:nvSpPr>
        <p:spPr>
          <a:xfrm>
            <a:off x="594360" y="344728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ASML (&lt;100/yr)</a:t>
            </a:r>
            <a:endParaRPr lang="en-US" sz="900" dirty="0"/>
          </a:p>
        </p:txBody>
      </p:sp>
      <p:sp>
        <p:nvSpPr>
          <p:cNvPr id="26" name="Shape 24"/>
          <p:cNvSpPr/>
          <p:nvPr/>
        </p:nvSpPr>
        <p:spPr>
          <a:xfrm>
            <a:off x="3154680" y="2788920"/>
            <a:ext cx="2606040" cy="960120"/>
          </a:xfrm>
          <a:prstGeom prst="rect">
            <a:avLst/>
          </a:prstGeom>
          <a:solidFill>
            <a:srgbClr val="F9F9F9"/>
          </a:solidFill>
          <a:ln w="6350">
            <a:solidFill>
              <a:srgbClr val="E5E5E5"/>
            </a:solidFill>
            <a:prstDash val="solid"/>
          </a:ln>
        </p:spPr>
      </p:sp>
      <p:sp>
        <p:nvSpPr>
          <p:cNvPr id="27" name="Shape 25"/>
          <p:cNvSpPr/>
          <p:nvPr/>
        </p:nvSpPr>
        <p:spPr>
          <a:xfrm>
            <a:off x="3154680" y="2788920"/>
            <a:ext cx="2606040" cy="54864"/>
          </a:xfrm>
          <a:prstGeom prst="rect">
            <a:avLst/>
          </a:prstGeom>
          <a:solidFill>
            <a:srgbClr val="F6693D"/>
          </a:solidFill>
          <a:ln w="12700">
            <a:solidFill>
              <a:srgbClr val="F6693D"/>
            </a:solidFill>
            <a:prstDash val="solid"/>
          </a:ln>
        </p:spPr>
      </p:sp>
      <p:sp>
        <p:nvSpPr>
          <p:cNvPr id="28" name="Text 26"/>
          <p:cNvSpPr/>
          <p:nvPr/>
        </p:nvSpPr>
        <p:spPr>
          <a:xfrm>
            <a:off x="3291840" y="289864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Japan</a:t>
            </a:r>
            <a:endParaRPr lang="en-US" sz="1400" dirty="0"/>
          </a:p>
        </p:txBody>
      </p:sp>
      <p:sp>
        <p:nvSpPr>
          <p:cNvPr id="29" name="Text 27"/>
          <p:cNvSpPr/>
          <p:nvPr/>
        </p:nvSpPr>
        <p:spPr>
          <a:xfrm>
            <a:off x="3291840" y="3200400"/>
            <a:ext cx="2331720" cy="274320"/>
          </a:xfrm>
          <a:prstGeom prst="rect">
            <a:avLst/>
          </a:prstGeom>
          <a:noFill/>
          <a:ln/>
        </p:spPr>
        <p:txBody>
          <a:bodyPr wrap="square" lIns="0" tIns="0" rIns="0" bIns="0" rtlCol="0" anchor="ctr"/>
          <a:lstStyle/>
          <a:p>
            <a:pPr indent="0" marL="0">
              <a:buNone/>
            </a:pPr>
            <a:r>
              <a:rPr lang="en-US" sz="1000" b="1" dirty="0">
                <a:solidFill>
                  <a:srgbClr val="F6693D"/>
                </a:solidFill>
                <a:latin typeface="Arial" pitchFamily="34" charset="0"/>
                <a:ea typeface="Arial" pitchFamily="34" charset="-122"/>
                <a:cs typeface="Arial" pitchFamily="34" charset="-120"/>
              </a:rPr>
              <a:t>Materials &amp; equipment</a:t>
            </a:r>
            <a:endParaRPr lang="en-US" sz="1000" dirty="0"/>
          </a:p>
        </p:txBody>
      </p:sp>
      <p:sp>
        <p:nvSpPr>
          <p:cNvPr id="30" name="Text 28"/>
          <p:cNvSpPr/>
          <p:nvPr/>
        </p:nvSpPr>
        <p:spPr>
          <a:xfrm>
            <a:off x="3291840" y="344728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Tokyo Electron, Shin-Etsu</a:t>
            </a:r>
            <a:endParaRPr lang="en-US" sz="900" dirty="0"/>
          </a:p>
        </p:txBody>
      </p:sp>
      <p:sp>
        <p:nvSpPr>
          <p:cNvPr id="31" name="Shape 29"/>
          <p:cNvSpPr/>
          <p:nvPr/>
        </p:nvSpPr>
        <p:spPr>
          <a:xfrm>
            <a:off x="5852160" y="2788920"/>
            <a:ext cx="2606040" cy="960120"/>
          </a:xfrm>
          <a:prstGeom prst="rect">
            <a:avLst/>
          </a:prstGeom>
          <a:solidFill>
            <a:srgbClr val="F9F9F9"/>
          </a:solidFill>
          <a:ln w="6350">
            <a:solidFill>
              <a:srgbClr val="E5E5E5"/>
            </a:solidFill>
            <a:prstDash val="solid"/>
          </a:ln>
        </p:spPr>
      </p:sp>
      <p:sp>
        <p:nvSpPr>
          <p:cNvPr id="32" name="Shape 30"/>
          <p:cNvSpPr/>
          <p:nvPr/>
        </p:nvSpPr>
        <p:spPr>
          <a:xfrm>
            <a:off x="5852160" y="2788920"/>
            <a:ext cx="2606040" cy="54864"/>
          </a:xfrm>
          <a:prstGeom prst="rect">
            <a:avLst/>
          </a:prstGeom>
          <a:solidFill>
            <a:srgbClr val="333333"/>
          </a:solidFill>
          <a:ln w="12700">
            <a:solidFill>
              <a:srgbClr val="333333"/>
            </a:solidFill>
            <a:prstDash val="solid"/>
          </a:ln>
        </p:spPr>
      </p:sp>
      <p:sp>
        <p:nvSpPr>
          <p:cNvPr id="33" name="Text 31"/>
          <p:cNvSpPr/>
          <p:nvPr/>
        </p:nvSpPr>
        <p:spPr>
          <a:xfrm>
            <a:off x="5989320" y="2898648"/>
            <a:ext cx="2331720" cy="292608"/>
          </a:xfrm>
          <a:prstGeom prst="rect">
            <a:avLst/>
          </a:prstGeom>
          <a:noFill/>
          <a:ln/>
        </p:spPr>
        <p:txBody>
          <a:bodyPr wrap="square" lIns="0" tIns="0" rIns="0" bIns="0" rtlCol="0" anchor="ctr"/>
          <a:lstStyle/>
          <a:p>
            <a:pPr indent="0" marL="0">
              <a:buNone/>
            </a:pPr>
            <a:r>
              <a:rPr lang="en-US" sz="1400" b="1" dirty="0">
                <a:solidFill>
                  <a:srgbClr val="000000"/>
                </a:solidFill>
                <a:latin typeface="Arial Black" pitchFamily="34" charset="0"/>
                <a:ea typeface="Arial Black" pitchFamily="34" charset="-122"/>
                <a:cs typeface="Arial Black" pitchFamily="34" charset="-120"/>
              </a:rPr>
              <a:t>China</a:t>
            </a:r>
            <a:endParaRPr lang="en-US" sz="1400" dirty="0"/>
          </a:p>
        </p:txBody>
      </p:sp>
      <p:sp>
        <p:nvSpPr>
          <p:cNvPr id="34" name="Text 32"/>
          <p:cNvSpPr/>
          <p:nvPr/>
        </p:nvSpPr>
        <p:spPr>
          <a:xfrm>
            <a:off x="5989320" y="3200400"/>
            <a:ext cx="2331720" cy="274320"/>
          </a:xfrm>
          <a:prstGeom prst="rect">
            <a:avLst/>
          </a:prstGeom>
          <a:noFill/>
          <a:ln/>
        </p:spPr>
        <p:txBody>
          <a:bodyPr wrap="square" lIns="0" tIns="0" rIns="0" bIns="0" rtlCol="0" anchor="ctr"/>
          <a:lstStyle/>
          <a:p>
            <a:pPr indent="0" marL="0">
              <a:buNone/>
            </a:pPr>
            <a:r>
              <a:rPr lang="en-US" sz="1000" b="1" dirty="0">
                <a:solidFill>
                  <a:srgbClr val="333333"/>
                </a:solidFill>
                <a:latin typeface="Arial" pitchFamily="34" charset="0"/>
                <a:ea typeface="Arial" pitchFamily="34" charset="-122"/>
                <a:cs typeface="Arial" pitchFamily="34" charset="-120"/>
              </a:rPr>
              <a:t>Mature-node fabs, rare earths</a:t>
            </a:r>
            <a:endParaRPr lang="en-US" sz="1000" dirty="0"/>
          </a:p>
        </p:txBody>
      </p:sp>
      <p:sp>
        <p:nvSpPr>
          <p:cNvPr id="35" name="Text 33"/>
          <p:cNvSpPr/>
          <p:nvPr/>
        </p:nvSpPr>
        <p:spPr>
          <a:xfrm>
            <a:off x="5989320" y="3447288"/>
            <a:ext cx="2331720" cy="274320"/>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SMIC, Huawei</a:t>
            </a:r>
            <a:endParaRPr lang="en-US" sz="900" dirty="0"/>
          </a:p>
        </p:txBody>
      </p:sp>
      <p:sp>
        <p:nvSpPr>
          <p:cNvPr id="36" name="Text 34"/>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TSMC, ASML, SK Hynix, Samsung, Tokyo Electron filings; SIA.</a:t>
            </a:r>
            <a:endParaRPr lang="en-US" sz="700" dirty="0"/>
          </a:p>
        </p:txBody>
      </p:sp>
      <p:sp>
        <p:nvSpPr>
          <p:cNvPr id="37" name="Shape 35"/>
          <p:cNvSpPr/>
          <p:nvPr/>
        </p:nvSpPr>
        <p:spPr>
          <a:xfrm>
            <a:off x="0" y="4526280"/>
            <a:ext cx="9144000" cy="617220"/>
          </a:xfrm>
          <a:prstGeom prst="rect">
            <a:avLst/>
          </a:prstGeom>
          <a:solidFill>
            <a:srgbClr val="333333"/>
          </a:solidFill>
          <a:ln w="12700">
            <a:solidFill>
              <a:srgbClr val="333333"/>
            </a:solidFill>
            <a:prstDash val="solid"/>
          </a:ln>
        </p:spPr>
      </p:sp>
      <p:sp>
        <p:nvSpPr>
          <p:cNvPr id="38" name="Text 3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Power is part of the stack now.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Global data-center electricity demand is on track to more than double by 2030 (IEA). Where the electrons come from is now a market call.</a:t>
            </a:r>
            <a:endParaRPr lang="en-US" sz="1350" dirty="0"/>
          </a:p>
        </p:txBody>
      </p:sp>
      <p:sp>
        <p:nvSpPr>
          <p:cNvPr id="6" name="Shape 4"/>
          <p:cNvSpPr/>
          <p:nvPr/>
        </p:nvSpPr>
        <p:spPr>
          <a:xfrm>
            <a:off x="457200" y="1691640"/>
            <a:ext cx="2560320" cy="365760"/>
          </a:xfrm>
          <a:prstGeom prst="rect">
            <a:avLst/>
          </a:prstGeom>
          <a:solidFill>
            <a:srgbClr val="CC0000"/>
          </a:solidFill>
          <a:ln w="12700">
            <a:solidFill>
              <a:srgbClr val="CC0000"/>
            </a:solidFill>
            <a:prstDash val="solid"/>
          </a:ln>
        </p:spPr>
      </p:sp>
      <p:sp>
        <p:nvSpPr>
          <p:cNvPr id="7" name="Text 5"/>
          <p:cNvSpPr/>
          <p:nvPr/>
        </p:nvSpPr>
        <p:spPr>
          <a:xfrm>
            <a:off x="457200" y="1691640"/>
            <a:ext cx="2560320" cy="36576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Arial" pitchFamily="34" charset="0"/>
                <a:ea typeface="Arial" pitchFamily="34" charset="-122"/>
                <a:cs typeface="Arial" pitchFamily="34" charset="-120"/>
              </a:rPr>
              <a:t>NATURAL GAS</a:t>
            </a:r>
            <a:endParaRPr lang="en-US" sz="1200" dirty="0"/>
          </a:p>
        </p:txBody>
      </p:sp>
      <p:sp>
        <p:nvSpPr>
          <p:cNvPr id="8" name="Shape 6"/>
          <p:cNvSpPr/>
          <p:nvPr/>
        </p:nvSpPr>
        <p:spPr>
          <a:xfrm>
            <a:off x="457200" y="2057400"/>
            <a:ext cx="2560320" cy="1234440"/>
          </a:xfrm>
          <a:prstGeom prst="rect">
            <a:avLst/>
          </a:prstGeom>
          <a:solidFill>
            <a:srgbClr val="F9F9F9"/>
          </a:solidFill>
          <a:ln w="6350">
            <a:solidFill>
              <a:srgbClr val="E5E5E5"/>
            </a:solidFill>
            <a:prstDash val="solid"/>
          </a:ln>
        </p:spPr>
      </p:sp>
      <p:sp>
        <p:nvSpPr>
          <p:cNvPr id="9" name="Text 7"/>
          <p:cNvSpPr/>
          <p:nvPr/>
        </p:nvSpPr>
        <p:spPr>
          <a:xfrm>
            <a:off x="594360" y="2121408"/>
            <a:ext cx="2331720" cy="228600"/>
          </a:xfrm>
          <a:prstGeom prst="rect">
            <a:avLst/>
          </a:prstGeom>
          <a:noFill/>
          <a:ln/>
        </p:spPr>
        <p:txBody>
          <a:bodyPr wrap="square" lIns="0" tIns="0" rIns="0" bIns="0" rtlCol="0" anchor="ctr"/>
          <a:lstStyle/>
          <a:p>
            <a:pPr indent="0" marL="0">
              <a:buNone/>
            </a:pPr>
            <a:r>
              <a:rPr lang="en-US" sz="900" b="1" spc="200" kern="0" dirty="0">
                <a:solidFill>
                  <a:srgbClr val="CC0000"/>
                </a:solidFill>
                <a:latin typeface="Arial" pitchFamily="34" charset="0"/>
                <a:ea typeface="Arial" pitchFamily="34" charset="-122"/>
                <a:cs typeface="Arial" pitchFamily="34" charset="-120"/>
              </a:rPr>
              <a:t>Fast &amp; firm</a:t>
            </a:r>
            <a:endParaRPr lang="en-US" sz="900" dirty="0"/>
          </a:p>
        </p:txBody>
      </p:sp>
      <p:sp>
        <p:nvSpPr>
          <p:cNvPr id="10" name="Text 8"/>
          <p:cNvSpPr/>
          <p:nvPr/>
        </p:nvSpPr>
        <p:spPr>
          <a:xfrm>
            <a:off x="594360" y="2359152"/>
            <a:ext cx="2331720" cy="86868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Turbines can power a data center in under a year — the near-term backbone of the buildout.</a:t>
            </a:r>
            <a:endParaRPr lang="en-US" sz="1000" dirty="0"/>
          </a:p>
        </p:txBody>
      </p:sp>
      <p:sp>
        <p:nvSpPr>
          <p:cNvPr id="11" name="Shape 9"/>
          <p:cNvSpPr/>
          <p:nvPr/>
        </p:nvSpPr>
        <p:spPr>
          <a:xfrm>
            <a:off x="3291840" y="1691640"/>
            <a:ext cx="2560320" cy="365760"/>
          </a:xfrm>
          <a:prstGeom prst="rect">
            <a:avLst/>
          </a:prstGeom>
          <a:solidFill>
            <a:srgbClr val="FFB800"/>
          </a:solidFill>
          <a:ln w="12700">
            <a:solidFill>
              <a:srgbClr val="FFB800"/>
            </a:solidFill>
            <a:prstDash val="solid"/>
          </a:ln>
        </p:spPr>
      </p:sp>
      <p:sp>
        <p:nvSpPr>
          <p:cNvPr id="12" name="Text 10"/>
          <p:cNvSpPr/>
          <p:nvPr/>
        </p:nvSpPr>
        <p:spPr>
          <a:xfrm>
            <a:off x="3291840" y="1691640"/>
            <a:ext cx="2560320" cy="36576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Arial" pitchFamily="34" charset="0"/>
                <a:ea typeface="Arial" pitchFamily="34" charset="-122"/>
                <a:cs typeface="Arial" pitchFamily="34" charset="-120"/>
              </a:rPr>
              <a:t>SOLAR &amp; PPAs</a:t>
            </a:r>
            <a:endParaRPr lang="en-US" sz="1200" dirty="0"/>
          </a:p>
        </p:txBody>
      </p:sp>
      <p:sp>
        <p:nvSpPr>
          <p:cNvPr id="13" name="Shape 11"/>
          <p:cNvSpPr/>
          <p:nvPr/>
        </p:nvSpPr>
        <p:spPr>
          <a:xfrm>
            <a:off x="3291840" y="2057400"/>
            <a:ext cx="2560320" cy="1234440"/>
          </a:xfrm>
          <a:prstGeom prst="rect">
            <a:avLst/>
          </a:prstGeom>
          <a:solidFill>
            <a:srgbClr val="F9F9F9"/>
          </a:solidFill>
          <a:ln w="6350">
            <a:solidFill>
              <a:srgbClr val="E5E5E5"/>
            </a:solidFill>
            <a:prstDash val="solid"/>
          </a:ln>
        </p:spPr>
      </p:sp>
      <p:sp>
        <p:nvSpPr>
          <p:cNvPr id="14" name="Text 12"/>
          <p:cNvSpPr/>
          <p:nvPr/>
        </p:nvSpPr>
        <p:spPr>
          <a:xfrm>
            <a:off x="3429000" y="2121408"/>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Scalable</a:t>
            </a:r>
            <a:endParaRPr lang="en-US" sz="900" dirty="0"/>
          </a:p>
        </p:txBody>
      </p:sp>
      <p:sp>
        <p:nvSpPr>
          <p:cNvPr id="15" name="Text 13"/>
          <p:cNvSpPr/>
          <p:nvPr/>
        </p:nvSpPr>
        <p:spPr>
          <a:xfrm>
            <a:off x="3429000" y="2359152"/>
            <a:ext cx="2331720" cy="86868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Hyperscalers are the largest corporate buyers of renewable energy. Long-term PPAs lock in clean power.</a:t>
            </a:r>
            <a:endParaRPr lang="en-US" sz="1000" dirty="0"/>
          </a:p>
        </p:txBody>
      </p:sp>
      <p:sp>
        <p:nvSpPr>
          <p:cNvPr id="16" name="Shape 14"/>
          <p:cNvSpPr/>
          <p:nvPr/>
        </p:nvSpPr>
        <p:spPr>
          <a:xfrm>
            <a:off x="6126480" y="1691640"/>
            <a:ext cx="2560320" cy="365760"/>
          </a:xfrm>
          <a:prstGeom prst="rect">
            <a:avLst/>
          </a:prstGeom>
          <a:solidFill>
            <a:srgbClr val="333333"/>
          </a:solidFill>
          <a:ln w="12700">
            <a:solidFill>
              <a:srgbClr val="333333"/>
            </a:solidFill>
            <a:prstDash val="solid"/>
          </a:ln>
        </p:spPr>
      </p:sp>
      <p:sp>
        <p:nvSpPr>
          <p:cNvPr id="17" name="Text 15"/>
          <p:cNvSpPr/>
          <p:nvPr/>
        </p:nvSpPr>
        <p:spPr>
          <a:xfrm>
            <a:off x="6126480" y="1691640"/>
            <a:ext cx="2560320" cy="36576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Arial" pitchFamily="34" charset="0"/>
                <a:ea typeface="Arial" pitchFamily="34" charset="-122"/>
                <a:cs typeface="Arial" pitchFamily="34" charset="-120"/>
              </a:rPr>
              <a:t>GRID &amp; INTERCONNECT</a:t>
            </a:r>
            <a:endParaRPr lang="en-US" sz="1200" dirty="0"/>
          </a:p>
        </p:txBody>
      </p:sp>
      <p:sp>
        <p:nvSpPr>
          <p:cNvPr id="18" name="Shape 16"/>
          <p:cNvSpPr/>
          <p:nvPr/>
        </p:nvSpPr>
        <p:spPr>
          <a:xfrm>
            <a:off x="6126480" y="2057400"/>
            <a:ext cx="2560320" cy="1234440"/>
          </a:xfrm>
          <a:prstGeom prst="rect">
            <a:avLst/>
          </a:prstGeom>
          <a:solidFill>
            <a:srgbClr val="F9F9F9"/>
          </a:solidFill>
          <a:ln w="6350">
            <a:solidFill>
              <a:srgbClr val="E5E5E5"/>
            </a:solidFill>
            <a:prstDash val="solid"/>
          </a:ln>
        </p:spPr>
      </p:sp>
      <p:sp>
        <p:nvSpPr>
          <p:cNvPr id="19" name="Text 17"/>
          <p:cNvSpPr/>
          <p:nvPr/>
        </p:nvSpPr>
        <p:spPr>
          <a:xfrm>
            <a:off x="6263640" y="2121408"/>
            <a:ext cx="2331720" cy="228600"/>
          </a:xfrm>
          <a:prstGeom prst="rect">
            <a:avLst/>
          </a:prstGeom>
          <a:noFill/>
          <a:ln/>
        </p:spPr>
        <p:txBody>
          <a:bodyPr wrap="square" lIns="0" tIns="0" rIns="0" bIns="0" rtlCol="0" anchor="ctr"/>
          <a:lstStyle/>
          <a:p>
            <a:pPr indent="0" marL="0">
              <a:buNone/>
            </a:pPr>
            <a:r>
              <a:rPr lang="en-US" sz="900" b="1" spc="200" kern="0" dirty="0">
                <a:solidFill>
                  <a:srgbClr val="333333"/>
                </a:solidFill>
                <a:latin typeface="Arial" pitchFamily="34" charset="0"/>
                <a:ea typeface="Arial" pitchFamily="34" charset="-122"/>
                <a:cs typeface="Arial" pitchFamily="34" charset="-120"/>
              </a:rPr>
              <a:t>Bottleneck</a:t>
            </a:r>
            <a:endParaRPr lang="en-US" sz="900" dirty="0"/>
          </a:p>
        </p:txBody>
      </p:sp>
      <p:sp>
        <p:nvSpPr>
          <p:cNvPr id="20" name="Text 18"/>
          <p:cNvSpPr/>
          <p:nvPr/>
        </p:nvSpPr>
        <p:spPr>
          <a:xfrm>
            <a:off x="6263640" y="2359152"/>
            <a:ext cx="2331720" cy="86868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Interconnection queues take years. Grid build is the binding constraint on deployment speed.</a:t>
            </a:r>
            <a:endParaRPr lang="en-US" sz="1000" dirty="0"/>
          </a:p>
        </p:txBody>
      </p:sp>
      <p:sp>
        <p:nvSpPr>
          <p:cNvPr id="21" name="Shape 19"/>
          <p:cNvSpPr/>
          <p:nvPr/>
        </p:nvSpPr>
        <p:spPr>
          <a:xfrm>
            <a:off x="457200" y="3429000"/>
            <a:ext cx="8229600" cy="502920"/>
          </a:xfrm>
          <a:prstGeom prst="rect">
            <a:avLst/>
          </a:prstGeom>
          <a:solidFill>
            <a:srgbClr val="333333"/>
          </a:solidFill>
          <a:ln w="12700">
            <a:solidFill>
              <a:srgbClr val="333333"/>
            </a:solidFill>
            <a:prstDash val="solid"/>
          </a:ln>
        </p:spPr>
      </p:sp>
      <p:sp>
        <p:nvSpPr>
          <p:cNvPr id="22" name="Text 20"/>
          <p:cNvSpPr/>
          <p:nvPr/>
        </p:nvSpPr>
        <p:spPr>
          <a:xfrm>
            <a:off x="640080" y="3429000"/>
            <a:ext cx="7863840" cy="50292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EMERGING: Small modular reactors (SMR pipeline) and geothermal sit behind gas and solar — but they are the only sources that credibly scale past 2030 without constraining grid reliability.</a:t>
            </a:r>
            <a:endParaRPr lang="en-US" sz="1050" dirty="0"/>
          </a:p>
        </p:txBody>
      </p:sp>
      <p:sp>
        <p:nvSpPr>
          <p:cNvPr id="23" name="Text 2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IEA World Energy Outlook 2025; EIA; utility interconnection-queue data.</a:t>
            </a:r>
            <a:endParaRPr lang="en-US" sz="700" dirty="0"/>
          </a:p>
        </p:txBody>
      </p:sp>
      <p:sp>
        <p:nvSpPr>
          <p:cNvPr id="24" name="Shape 22"/>
          <p:cNvSpPr/>
          <p:nvPr/>
        </p:nvSpPr>
        <p:spPr>
          <a:xfrm>
            <a:off x="0" y="4526280"/>
            <a:ext cx="9144000" cy="617220"/>
          </a:xfrm>
          <a:prstGeom prst="rect">
            <a:avLst/>
          </a:prstGeom>
          <a:solidFill>
            <a:srgbClr val="333333"/>
          </a:solidFill>
          <a:ln w="12700">
            <a:solidFill>
              <a:srgbClr val="333333"/>
            </a:solidFill>
            <a:prstDash val="solid"/>
          </a:ln>
        </p:spPr>
      </p:sp>
      <p:sp>
        <p:nvSpPr>
          <p:cNvPr id="25" name="Text 2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buyer base is broadening.</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Big 5 hyperscalers drive $685B. But neoclouds, sovereigns, labs, and enterprises are now material — not just the original four.</a:t>
            </a:r>
            <a:endParaRPr lang="en-US" sz="1350" dirty="0"/>
          </a:p>
        </p:txBody>
      </p:sp>
      <p:sp>
        <p:nvSpPr>
          <p:cNvPr id="6" name="Shape 4"/>
          <p:cNvSpPr/>
          <p:nvPr/>
        </p:nvSpPr>
        <p:spPr>
          <a:xfrm>
            <a:off x="283464" y="1691640"/>
            <a:ext cx="1627632" cy="1783080"/>
          </a:xfrm>
          <a:prstGeom prst="rect">
            <a:avLst/>
          </a:prstGeom>
          <a:solidFill>
            <a:srgbClr val="F9F9F9"/>
          </a:solidFill>
          <a:ln w="6350">
            <a:solidFill>
              <a:srgbClr val="E5E5E5"/>
            </a:solidFill>
            <a:prstDash val="solid"/>
          </a:ln>
        </p:spPr>
      </p:sp>
      <p:sp>
        <p:nvSpPr>
          <p:cNvPr id="7" name="Shape 5"/>
          <p:cNvSpPr/>
          <p:nvPr/>
        </p:nvSpPr>
        <p:spPr>
          <a:xfrm>
            <a:off x="283464" y="1691640"/>
            <a:ext cx="1627632" cy="54864"/>
          </a:xfrm>
          <a:prstGeom prst="rect">
            <a:avLst/>
          </a:prstGeom>
          <a:solidFill>
            <a:srgbClr val="F6693D"/>
          </a:solidFill>
          <a:ln w="12700">
            <a:solidFill>
              <a:srgbClr val="F6693D"/>
            </a:solidFill>
            <a:prstDash val="solid"/>
          </a:ln>
        </p:spPr>
      </p:sp>
      <p:sp>
        <p:nvSpPr>
          <p:cNvPr id="8" name="Text 6"/>
          <p:cNvSpPr/>
          <p:nvPr/>
        </p:nvSpPr>
        <p:spPr>
          <a:xfrm>
            <a:off x="356616" y="1801368"/>
            <a:ext cx="1481328" cy="256032"/>
          </a:xfrm>
          <a:prstGeom prst="rect">
            <a:avLst/>
          </a:prstGeom>
          <a:noFill/>
          <a:ln/>
        </p:spPr>
        <p:txBody>
          <a:bodyPr wrap="square" lIns="0" tIns="0" rIns="0" bIns="0" rtlCol="0" anchor="ctr"/>
          <a:lstStyle/>
          <a:p>
            <a:pPr indent="0" marL="0">
              <a:buNone/>
            </a:pPr>
            <a:r>
              <a:rPr lang="en-US" sz="1000" b="1" spc="200" kern="0" dirty="0">
                <a:solidFill>
                  <a:srgbClr val="F6693D"/>
                </a:solidFill>
                <a:latin typeface="Arial" pitchFamily="34" charset="0"/>
                <a:ea typeface="Arial" pitchFamily="34" charset="-122"/>
                <a:cs typeface="Arial" pitchFamily="34" charset="-120"/>
              </a:rPr>
              <a:t>HYPERSCALERS</a:t>
            </a:r>
            <a:endParaRPr lang="en-US" sz="1000" dirty="0"/>
          </a:p>
        </p:txBody>
      </p:sp>
      <p:sp>
        <p:nvSpPr>
          <p:cNvPr id="9" name="Text 7"/>
          <p:cNvSpPr/>
          <p:nvPr/>
        </p:nvSpPr>
        <p:spPr>
          <a:xfrm>
            <a:off x="35661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$685B</a:t>
            </a:r>
            <a:endParaRPr lang="en-US" sz="2200" dirty="0"/>
          </a:p>
        </p:txBody>
      </p:sp>
      <p:sp>
        <p:nvSpPr>
          <p:cNvPr id="10" name="Text 8"/>
          <p:cNvSpPr/>
          <p:nvPr/>
        </p:nvSpPr>
        <p:spPr>
          <a:xfrm>
            <a:off x="35661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2026E combined capex</a:t>
            </a:r>
            <a:endParaRPr lang="en-US" sz="850" dirty="0"/>
          </a:p>
        </p:txBody>
      </p:sp>
      <p:sp>
        <p:nvSpPr>
          <p:cNvPr id="11" name="Shape 9"/>
          <p:cNvSpPr/>
          <p:nvPr/>
        </p:nvSpPr>
        <p:spPr>
          <a:xfrm>
            <a:off x="356616" y="2852928"/>
            <a:ext cx="1481328" cy="0"/>
          </a:xfrm>
          <a:prstGeom prst="line">
            <a:avLst/>
          </a:prstGeom>
          <a:noFill/>
          <a:ln w="6350">
            <a:solidFill>
              <a:srgbClr val="E5E5E5"/>
            </a:solidFill>
            <a:prstDash val="solid"/>
          </a:ln>
        </p:spPr>
      </p:sp>
      <p:sp>
        <p:nvSpPr>
          <p:cNvPr id="12" name="Text 10"/>
          <p:cNvSpPr/>
          <p:nvPr/>
        </p:nvSpPr>
        <p:spPr>
          <a:xfrm>
            <a:off x="35661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AMZN $200B · GOOGL $175–185B · MSFT $120–145B · META $115–135B · ORCL ~$50B</a:t>
            </a:r>
            <a:endParaRPr lang="en-US" sz="800" dirty="0"/>
          </a:p>
        </p:txBody>
      </p:sp>
      <p:sp>
        <p:nvSpPr>
          <p:cNvPr id="13" name="Shape 11"/>
          <p:cNvSpPr/>
          <p:nvPr/>
        </p:nvSpPr>
        <p:spPr>
          <a:xfrm>
            <a:off x="2020824" y="1691640"/>
            <a:ext cx="1627632" cy="1783080"/>
          </a:xfrm>
          <a:prstGeom prst="rect">
            <a:avLst/>
          </a:prstGeom>
          <a:solidFill>
            <a:srgbClr val="F9F9F9"/>
          </a:solidFill>
          <a:ln w="6350">
            <a:solidFill>
              <a:srgbClr val="E5E5E5"/>
            </a:solidFill>
            <a:prstDash val="solid"/>
          </a:ln>
        </p:spPr>
      </p:sp>
      <p:sp>
        <p:nvSpPr>
          <p:cNvPr id="14" name="Shape 12"/>
          <p:cNvSpPr/>
          <p:nvPr/>
        </p:nvSpPr>
        <p:spPr>
          <a:xfrm>
            <a:off x="2020824" y="1691640"/>
            <a:ext cx="1627632" cy="54864"/>
          </a:xfrm>
          <a:prstGeom prst="rect">
            <a:avLst/>
          </a:prstGeom>
          <a:solidFill>
            <a:srgbClr val="E8478D"/>
          </a:solidFill>
          <a:ln w="12700">
            <a:solidFill>
              <a:srgbClr val="E8478D"/>
            </a:solidFill>
            <a:prstDash val="solid"/>
          </a:ln>
        </p:spPr>
      </p:sp>
      <p:sp>
        <p:nvSpPr>
          <p:cNvPr id="15" name="Text 13"/>
          <p:cNvSpPr/>
          <p:nvPr/>
        </p:nvSpPr>
        <p:spPr>
          <a:xfrm>
            <a:off x="2093976" y="1801368"/>
            <a:ext cx="1481328" cy="256032"/>
          </a:xfrm>
          <a:prstGeom prst="rect">
            <a:avLst/>
          </a:prstGeom>
          <a:noFill/>
          <a:ln/>
        </p:spPr>
        <p:txBody>
          <a:bodyPr wrap="square" lIns="0" tIns="0" rIns="0" bIns="0" rtlCol="0" anchor="ctr"/>
          <a:lstStyle/>
          <a:p>
            <a:pPr indent="0" marL="0">
              <a:buNone/>
            </a:pPr>
            <a:r>
              <a:rPr lang="en-US" sz="1000" b="1" spc="200" kern="0" dirty="0">
                <a:solidFill>
                  <a:srgbClr val="E8478D"/>
                </a:solidFill>
                <a:latin typeface="Arial" pitchFamily="34" charset="0"/>
                <a:ea typeface="Arial" pitchFamily="34" charset="-122"/>
                <a:cs typeface="Arial" pitchFamily="34" charset="-120"/>
              </a:rPr>
              <a:t>AI LABS</a:t>
            </a:r>
            <a:endParaRPr lang="en-US" sz="1000" dirty="0"/>
          </a:p>
        </p:txBody>
      </p:sp>
      <p:sp>
        <p:nvSpPr>
          <p:cNvPr id="16" name="Text 14"/>
          <p:cNvSpPr/>
          <p:nvPr/>
        </p:nvSpPr>
        <p:spPr>
          <a:xfrm>
            <a:off x="209397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4 names</a:t>
            </a:r>
            <a:endParaRPr lang="en-US" sz="2200" dirty="0"/>
          </a:p>
        </p:txBody>
      </p:sp>
      <p:sp>
        <p:nvSpPr>
          <p:cNvPr id="17" name="Text 15"/>
          <p:cNvSpPr/>
          <p:nvPr/>
        </p:nvSpPr>
        <p:spPr>
          <a:xfrm>
            <a:off x="209397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driving demand</a:t>
            </a:r>
            <a:endParaRPr lang="en-US" sz="850" dirty="0"/>
          </a:p>
        </p:txBody>
      </p:sp>
      <p:sp>
        <p:nvSpPr>
          <p:cNvPr id="18" name="Shape 16"/>
          <p:cNvSpPr/>
          <p:nvPr/>
        </p:nvSpPr>
        <p:spPr>
          <a:xfrm>
            <a:off x="2093976" y="2852928"/>
            <a:ext cx="1481328" cy="0"/>
          </a:xfrm>
          <a:prstGeom prst="line">
            <a:avLst/>
          </a:prstGeom>
          <a:noFill/>
          <a:ln w="6350">
            <a:solidFill>
              <a:srgbClr val="E5E5E5"/>
            </a:solidFill>
            <a:prstDash val="solid"/>
          </a:ln>
        </p:spPr>
      </p:sp>
      <p:sp>
        <p:nvSpPr>
          <p:cNvPr id="19" name="Text 17"/>
          <p:cNvSpPr/>
          <p:nvPr/>
        </p:nvSpPr>
        <p:spPr>
          <a:xfrm>
            <a:off x="209397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OpenAI · Anthropic · xAI · Mistral</a:t>
            </a:r>
            <a:endParaRPr lang="en-US" sz="800" dirty="0"/>
          </a:p>
        </p:txBody>
      </p:sp>
      <p:sp>
        <p:nvSpPr>
          <p:cNvPr id="20" name="Shape 18"/>
          <p:cNvSpPr/>
          <p:nvPr/>
        </p:nvSpPr>
        <p:spPr>
          <a:xfrm>
            <a:off x="3758184" y="1691640"/>
            <a:ext cx="1627632" cy="1783080"/>
          </a:xfrm>
          <a:prstGeom prst="rect">
            <a:avLst/>
          </a:prstGeom>
          <a:solidFill>
            <a:srgbClr val="F9F9F9"/>
          </a:solidFill>
          <a:ln w="6350">
            <a:solidFill>
              <a:srgbClr val="E5E5E5"/>
            </a:solidFill>
            <a:prstDash val="solid"/>
          </a:ln>
        </p:spPr>
      </p:sp>
      <p:sp>
        <p:nvSpPr>
          <p:cNvPr id="21" name="Shape 19"/>
          <p:cNvSpPr/>
          <p:nvPr/>
        </p:nvSpPr>
        <p:spPr>
          <a:xfrm>
            <a:off x="3758184" y="1691640"/>
            <a:ext cx="1627632" cy="54864"/>
          </a:xfrm>
          <a:prstGeom prst="rect">
            <a:avLst/>
          </a:prstGeom>
          <a:solidFill>
            <a:srgbClr val="008B8B"/>
          </a:solidFill>
          <a:ln w="12700">
            <a:solidFill>
              <a:srgbClr val="008B8B"/>
            </a:solidFill>
            <a:prstDash val="solid"/>
          </a:ln>
        </p:spPr>
      </p:sp>
      <p:sp>
        <p:nvSpPr>
          <p:cNvPr id="22" name="Text 20"/>
          <p:cNvSpPr/>
          <p:nvPr/>
        </p:nvSpPr>
        <p:spPr>
          <a:xfrm>
            <a:off x="3831336" y="1801368"/>
            <a:ext cx="1481328" cy="256032"/>
          </a:xfrm>
          <a:prstGeom prst="rect">
            <a:avLst/>
          </a:prstGeom>
          <a:noFill/>
          <a:ln/>
        </p:spPr>
        <p:txBody>
          <a:bodyPr wrap="square" lIns="0" tIns="0" rIns="0" bIns="0" rtlCol="0" anchor="ctr"/>
          <a:lstStyle/>
          <a:p>
            <a:pPr indent="0" marL="0">
              <a:buNone/>
            </a:pPr>
            <a:r>
              <a:rPr lang="en-US" sz="1000" b="1" spc="200" kern="0" dirty="0">
                <a:solidFill>
                  <a:srgbClr val="008B8B"/>
                </a:solidFill>
                <a:latin typeface="Arial" pitchFamily="34" charset="0"/>
                <a:ea typeface="Arial" pitchFamily="34" charset="-122"/>
                <a:cs typeface="Arial" pitchFamily="34" charset="-120"/>
              </a:rPr>
              <a:t>NEOCLOUDS</a:t>
            </a:r>
            <a:endParaRPr lang="en-US" sz="1000" dirty="0"/>
          </a:p>
        </p:txBody>
      </p:sp>
      <p:sp>
        <p:nvSpPr>
          <p:cNvPr id="23" name="Text 21"/>
          <p:cNvSpPr/>
          <p:nvPr/>
        </p:nvSpPr>
        <p:spPr>
          <a:xfrm>
            <a:off x="383133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~4×</a:t>
            </a:r>
            <a:endParaRPr lang="en-US" sz="2200" dirty="0"/>
          </a:p>
        </p:txBody>
      </p:sp>
      <p:sp>
        <p:nvSpPr>
          <p:cNvPr id="24" name="Text 22"/>
          <p:cNvSpPr/>
          <p:nvPr/>
        </p:nvSpPr>
        <p:spPr>
          <a:xfrm>
            <a:off x="383133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cheaper than hypers</a:t>
            </a:r>
            <a:endParaRPr lang="en-US" sz="850" dirty="0"/>
          </a:p>
        </p:txBody>
      </p:sp>
      <p:sp>
        <p:nvSpPr>
          <p:cNvPr id="25" name="Shape 23"/>
          <p:cNvSpPr/>
          <p:nvPr/>
        </p:nvSpPr>
        <p:spPr>
          <a:xfrm>
            <a:off x="3831336" y="2852928"/>
            <a:ext cx="1481328" cy="0"/>
          </a:xfrm>
          <a:prstGeom prst="line">
            <a:avLst/>
          </a:prstGeom>
          <a:noFill/>
          <a:ln w="6350">
            <a:solidFill>
              <a:srgbClr val="E5E5E5"/>
            </a:solidFill>
            <a:prstDash val="solid"/>
          </a:ln>
        </p:spPr>
      </p:sp>
      <p:sp>
        <p:nvSpPr>
          <p:cNvPr id="26" name="Text 24"/>
          <p:cNvSpPr/>
          <p:nvPr/>
        </p:nvSpPr>
        <p:spPr>
          <a:xfrm>
            <a:off x="383133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CoreWeave · Lambda · Crusoe · Vultr</a:t>
            </a:r>
            <a:endParaRPr lang="en-US" sz="800" dirty="0"/>
          </a:p>
        </p:txBody>
      </p:sp>
      <p:sp>
        <p:nvSpPr>
          <p:cNvPr id="27" name="Shape 25"/>
          <p:cNvSpPr/>
          <p:nvPr/>
        </p:nvSpPr>
        <p:spPr>
          <a:xfrm>
            <a:off x="5495544" y="1691640"/>
            <a:ext cx="1627632" cy="1783080"/>
          </a:xfrm>
          <a:prstGeom prst="rect">
            <a:avLst/>
          </a:prstGeom>
          <a:solidFill>
            <a:srgbClr val="F9F9F9"/>
          </a:solidFill>
          <a:ln w="6350">
            <a:solidFill>
              <a:srgbClr val="E5E5E5"/>
            </a:solidFill>
            <a:prstDash val="solid"/>
          </a:ln>
        </p:spPr>
      </p:sp>
      <p:sp>
        <p:nvSpPr>
          <p:cNvPr id="28" name="Shape 26"/>
          <p:cNvSpPr/>
          <p:nvPr/>
        </p:nvSpPr>
        <p:spPr>
          <a:xfrm>
            <a:off x="5495544" y="1691640"/>
            <a:ext cx="1627632" cy="54864"/>
          </a:xfrm>
          <a:prstGeom prst="rect">
            <a:avLst/>
          </a:prstGeom>
          <a:solidFill>
            <a:srgbClr val="FFB800"/>
          </a:solidFill>
          <a:ln w="12700">
            <a:solidFill>
              <a:srgbClr val="FFB800"/>
            </a:solidFill>
            <a:prstDash val="solid"/>
          </a:ln>
        </p:spPr>
      </p:sp>
      <p:sp>
        <p:nvSpPr>
          <p:cNvPr id="29" name="Text 27"/>
          <p:cNvSpPr/>
          <p:nvPr/>
        </p:nvSpPr>
        <p:spPr>
          <a:xfrm>
            <a:off x="5568696" y="1801368"/>
            <a:ext cx="1481328" cy="256032"/>
          </a:xfrm>
          <a:prstGeom prst="rect">
            <a:avLst/>
          </a:prstGeom>
          <a:noFill/>
          <a:ln/>
        </p:spPr>
        <p:txBody>
          <a:bodyPr wrap="square" lIns="0" tIns="0" rIns="0" bIns="0" rtlCol="0" anchor="ctr"/>
          <a:lstStyle/>
          <a:p>
            <a:pPr indent="0" marL="0">
              <a:buNone/>
            </a:pPr>
            <a:r>
              <a:rPr lang="en-US" sz="1000" b="1" spc="200" kern="0" dirty="0">
                <a:solidFill>
                  <a:srgbClr val="FFB800"/>
                </a:solidFill>
                <a:latin typeface="Arial" pitchFamily="34" charset="0"/>
                <a:ea typeface="Arial" pitchFamily="34" charset="-122"/>
                <a:cs typeface="Arial" pitchFamily="34" charset="-120"/>
              </a:rPr>
              <a:t>SOVEREIGNS</a:t>
            </a:r>
            <a:endParaRPr lang="en-US" sz="1000" dirty="0"/>
          </a:p>
        </p:txBody>
      </p:sp>
      <p:sp>
        <p:nvSpPr>
          <p:cNvPr id="30" name="Text 28"/>
          <p:cNvSpPr/>
          <p:nvPr/>
        </p:nvSpPr>
        <p:spPr>
          <a:xfrm>
            <a:off x="556869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$100B+</a:t>
            </a:r>
            <a:endParaRPr lang="en-US" sz="2200" dirty="0"/>
          </a:p>
        </p:txBody>
      </p:sp>
      <p:sp>
        <p:nvSpPr>
          <p:cNvPr id="31" name="Text 29"/>
          <p:cNvSpPr/>
          <p:nvPr/>
        </p:nvSpPr>
        <p:spPr>
          <a:xfrm>
            <a:off x="556869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announced sovereign AI</a:t>
            </a:r>
            <a:endParaRPr lang="en-US" sz="850" dirty="0"/>
          </a:p>
        </p:txBody>
      </p:sp>
      <p:sp>
        <p:nvSpPr>
          <p:cNvPr id="32" name="Shape 30"/>
          <p:cNvSpPr/>
          <p:nvPr/>
        </p:nvSpPr>
        <p:spPr>
          <a:xfrm>
            <a:off x="5568696" y="2852928"/>
            <a:ext cx="1481328" cy="0"/>
          </a:xfrm>
          <a:prstGeom prst="line">
            <a:avLst/>
          </a:prstGeom>
          <a:noFill/>
          <a:ln w="6350">
            <a:solidFill>
              <a:srgbClr val="E5E5E5"/>
            </a:solidFill>
            <a:prstDash val="solid"/>
          </a:ln>
        </p:spPr>
      </p:sp>
      <p:sp>
        <p:nvSpPr>
          <p:cNvPr id="33" name="Text 31"/>
          <p:cNvSpPr/>
          <p:nvPr/>
        </p:nvSpPr>
        <p:spPr>
          <a:xfrm>
            <a:off x="556869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Saudi Arabia · UAE · France · Japan</a:t>
            </a:r>
            <a:endParaRPr lang="en-US" sz="800" dirty="0"/>
          </a:p>
        </p:txBody>
      </p:sp>
      <p:sp>
        <p:nvSpPr>
          <p:cNvPr id="34" name="Shape 32"/>
          <p:cNvSpPr/>
          <p:nvPr/>
        </p:nvSpPr>
        <p:spPr>
          <a:xfrm>
            <a:off x="7232904" y="1691640"/>
            <a:ext cx="1627632" cy="1783080"/>
          </a:xfrm>
          <a:prstGeom prst="rect">
            <a:avLst/>
          </a:prstGeom>
          <a:solidFill>
            <a:srgbClr val="F9F9F9"/>
          </a:solidFill>
          <a:ln w="6350">
            <a:solidFill>
              <a:srgbClr val="E5E5E5"/>
            </a:solidFill>
            <a:prstDash val="solid"/>
          </a:ln>
        </p:spPr>
      </p:sp>
      <p:sp>
        <p:nvSpPr>
          <p:cNvPr id="35" name="Shape 33"/>
          <p:cNvSpPr/>
          <p:nvPr/>
        </p:nvSpPr>
        <p:spPr>
          <a:xfrm>
            <a:off x="7232904" y="1691640"/>
            <a:ext cx="1627632" cy="54864"/>
          </a:xfrm>
          <a:prstGeom prst="rect">
            <a:avLst/>
          </a:prstGeom>
          <a:solidFill>
            <a:srgbClr val="00A854"/>
          </a:solidFill>
          <a:ln w="12700">
            <a:solidFill>
              <a:srgbClr val="00A854"/>
            </a:solidFill>
            <a:prstDash val="solid"/>
          </a:ln>
        </p:spPr>
      </p:sp>
      <p:sp>
        <p:nvSpPr>
          <p:cNvPr id="36" name="Text 34"/>
          <p:cNvSpPr/>
          <p:nvPr/>
        </p:nvSpPr>
        <p:spPr>
          <a:xfrm>
            <a:off x="7306056" y="1801368"/>
            <a:ext cx="1481328" cy="256032"/>
          </a:xfrm>
          <a:prstGeom prst="rect">
            <a:avLst/>
          </a:prstGeom>
          <a:noFill/>
          <a:ln/>
        </p:spPr>
        <p:txBody>
          <a:bodyPr wrap="square" lIns="0" tIns="0" rIns="0" bIns="0" rtlCol="0" anchor="ctr"/>
          <a:lstStyle/>
          <a:p>
            <a:pPr indent="0" marL="0">
              <a:buNone/>
            </a:pPr>
            <a:r>
              <a:rPr lang="en-US" sz="1000" b="1" spc="200" kern="0" dirty="0">
                <a:solidFill>
                  <a:srgbClr val="00A854"/>
                </a:solidFill>
                <a:latin typeface="Arial" pitchFamily="34" charset="0"/>
                <a:ea typeface="Arial" pitchFamily="34" charset="-122"/>
                <a:cs typeface="Arial" pitchFamily="34" charset="-120"/>
              </a:rPr>
              <a:t>ENTERPRISES</a:t>
            </a:r>
            <a:endParaRPr lang="en-US" sz="1000" dirty="0"/>
          </a:p>
        </p:txBody>
      </p:sp>
      <p:sp>
        <p:nvSpPr>
          <p:cNvPr id="37" name="Text 35"/>
          <p:cNvSpPr/>
          <p:nvPr/>
        </p:nvSpPr>
        <p:spPr>
          <a:xfrm>
            <a:off x="7306056" y="2075688"/>
            <a:ext cx="1481328" cy="502920"/>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Big 4</a:t>
            </a:r>
            <a:endParaRPr lang="en-US" sz="2200" dirty="0"/>
          </a:p>
        </p:txBody>
      </p:sp>
      <p:sp>
        <p:nvSpPr>
          <p:cNvPr id="38" name="Text 36"/>
          <p:cNvSpPr/>
          <p:nvPr/>
        </p:nvSpPr>
        <p:spPr>
          <a:xfrm>
            <a:off x="7306056" y="2587752"/>
            <a:ext cx="1481328"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with in-house fleets</a:t>
            </a:r>
            <a:endParaRPr lang="en-US" sz="850" dirty="0"/>
          </a:p>
        </p:txBody>
      </p:sp>
      <p:sp>
        <p:nvSpPr>
          <p:cNvPr id="39" name="Shape 37"/>
          <p:cNvSpPr/>
          <p:nvPr/>
        </p:nvSpPr>
        <p:spPr>
          <a:xfrm>
            <a:off x="7306056" y="2852928"/>
            <a:ext cx="1481328" cy="0"/>
          </a:xfrm>
          <a:prstGeom prst="line">
            <a:avLst/>
          </a:prstGeom>
          <a:noFill/>
          <a:ln w="6350">
            <a:solidFill>
              <a:srgbClr val="E5E5E5"/>
            </a:solidFill>
            <a:prstDash val="solid"/>
          </a:ln>
        </p:spPr>
      </p:sp>
      <p:sp>
        <p:nvSpPr>
          <p:cNvPr id="40" name="Text 38"/>
          <p:cNvSpPr/>
          <p:nvPr/>
        </p:nvSpPr>
        <p:spPr>
          <a:xfrm>
            <a:off x="7306056" y="2898648"/>
            <a:ext cx="1481328" cy="5029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JPMorgan · Tesla · Apple · ByteDance</a:t>
            </a:r>
            <a:endParaRPr lang="en-US" sz="800" dirty="0"/>
          </a:p>
        </p:txBody>
      </p:sp>
      <p:sp>
        <p:nvSpPr>
          <p:cNvPr id="41" name="Text 39"/>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Q4 2025 company earnings calls; sovereign AI announcements; CoreWeave, Lambda, Crusoe, Vultr filings.</a:t>
            </a:r>
            <a:endParaRPr lang="en-US" sz="700" dirty="0"/>
          </a:p>
        </p:txBody>
      </p:sp>
      <p:sp>
        <p:nvSpPr>
          <p:cNvPr id="42" name="Shape 40"/>
          <p:cNvSpPr/>
          <p:nvPr/>
        </p:nvSpPr>
        <p:spPr>
          <a:xfrm>
            <a:off x="0" y="4526280"/>
            <a:ext cx="9144000" cy="617220"/>
          </a:xfrm>
          <a:prstGeom prst="rect">
            <a:avLst/>
          </a:prstGeom>
          <a:solidFill>
            <a:srgbClr val="333333"/>
          </a:solidFill>
          <a:ln w="12700">
            <a:solidFill>
              <a:srgbClr val="333333"/>
            </a:solidFill>
            <a:prstDash val="solid"/>
          </a:ln>
        </p:spPr>
      </p:sp>
      <p:sp>
        <p:nvSpPr>
          <p:cNvPr id="43" name="Text 41"/>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4" name="Text 4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Anatomy of a $975B market.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has flipped the engine. Logic and memory — 70% of the industry — now drive the whole thing. Analog and micros are along for the ride.</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Semiconductor revenue by segment, 2026E ($B)</a:t>
            </a:r>
            <a:endParaRPr lang="en-US" sz="1400" dirty="0"/>
          </a:p>
        </p:txBody>
      </p:sp>
      <p:sp>
        <p:nvSpPr>
          <p:cNvPr id="7" name="Shape 5"/>
          <p:cNvSpPr/>
          <p:nvPr/>
        </p:nvSpPr>
        <p:spPr>
          <a:xfrm>
            <a:off x="457200" y="169164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Value captured by node</a:t>
            </a:r>
            <a:endParaRPr lang="en-US" sz="1400" dirty="0"/>
          </a:p>
        </p:txBody>
      </p:sp>
      <p:sp>
        <p:nvSpPr>
          <p:cNvPr id="10" name="Shape 7"/>
          <p:cNvSpPr/>
          <p:nvPr/>
        </p:nvSpPr>
        <p:spPr>
          <a:xfrm>
            <a:off x="4754880" y="1691640"/>
            <a:ext cx="3931920" cy="0"/>
          </a:xfrm>
          <a:prstGeom prst="line">
            <a:avLst/>
          </a:prstGeom>
          <a:noFill/>
          <a:ln w="19050">
            <a:solidFill>
              <a:srgbClr val="000000"/>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754880" y="1783080"/>
          <a:ext cx="3931920" cy="914400"/>
        </p:xfrm>
        <a:graphic>
          <a:graphicData uri="http://schemas.openxmlformats.org/drawingml/2006/table">
            <a:tbl>
              <a:tblPr/>
              <a:tblGrid>
                <a:gridCol w="1097280"/>
                <a:gridCol w="1005840"/>
                <a:gridCol w="1828800"/>
              </a:tblGrid>
              <a:tr h="329184">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Datapoint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Context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NVIDIA</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$216B</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FY26 rev, +65% YoY</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TSMC</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~$122B</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~90% of advanced-node supply</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SK Hynix</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58%</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Q4'25 op margin; HBM leader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ASML</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&lt;100/yr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EUV machines built per year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29184">
                <a:tc>
                  <a:txBody>
                    <a:bodyPr/>
                    <a:lstStyle/>
                    <a:p>
                      <a:pPr algn="l" indent="0" marL="0">
                        <a:buNone/>
                      </a:pPr>
                      <a:r>
                        <a:rPr lang="en-US" sz="950" b="1" dirty="0">
                          <a:solidFill>
                            <a:srgbClr val="000000"/>
                          </a:solidFill>
                          <a:latin typeface="Arial" pitchFamily="34" charset="0"/>
                          <a:ea typeface="Arial" pitchFamily="34" charset="-122"/>
                          <a:cs typeface="Arial" pitchFamily="34" charset="-120"/>
                        </a:rPr>
                        <a:t>Broadcom</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6693D"/>
                          </a:solidFill>
                          <a:latin typeface="Arial" pitchFamily="34" charset="0"/>
                          <a:ea typeface="Arial" pitchFamily="34" charset="-122"/>
                          <a:cs typeface="Arial" pitchFamily="34" charset="-120"/>
                        </a:rPr>
                        <a:t>Leader</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Custom ASIC for hyperscalers</a:t>
                      </a:r>
                      <a:endParaRPr lang="en-US" sz="95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457200"/>
          </a:xfrm>
          <a:prstGeom prst="rect">
            <a:avLst/>
          </a:prstGeom>
          <a:solidFill>
            <a:srgbClr val="FFD100"/>
          </a:solidFill>
          <a:ln w="12700">
            <a:solidFill>
              <a:srgbClr val="FFD100"/>
            </a:solidFill>
            <a:prstDash val="solid"/>
          </a:ln>
        </p:spPr>
      </p:sp>
      <p:sp>
        <p:nvSpPr>
          <p:cNvPr id="13" name="Text 9"/>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$975B total revenue, +25% YoY. Logic + memory = $685B — the same number as hyperscaler capex. Not a coincidence.</a:t>
            </a:r>
            <a:endParaRPr lang="en-US" sz="1250" dirty="0"/>
          </a:p>
        </p:txBody>
      </p:sp>
      <p:sp>
        <p:nvSpPr>
          <p:cNvPr id="14" name="Text 10"/>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NVIDIA FY2026 10-K; TSMC, SK Hynix filings; TrendForce; ASML annual capacity guidance.</a:t>
            </a:r>
            <a:endParaRPr lang="en-US" sz="700" dirty="0"/>
          </a:p>
        </p:txBody>
      </p:sp>
      <p:sp>
        <p:nvSpPr>
          <p:cNvPr id="15" name="Shape 11"/>
          <p:cNvSpPr/>
          <p:nvPr/>
        </p:nvSpPr>
        <p:spPr>
          <a:xfrm>
            <a:off x="0" y="4526280"/>
            <a:ext cx="9144000" cy="617220"/>
          </a:xfrm>
          <a:prstGeom prst="rect">
            <a:avLst/>
          </a:prstGeom>
          <a:solidFill>
            <a:srgbClr val="333333"/>
          </a:solidFill>
          <a:ln w="12700">
            <a:solidFill>
              <a:srgbClr val="333333"/>
            </a:solidFill>
            <a:prstDash val="solid"/>
          </a:ln>
        </p:spPr>
      </p:sp>
      <p:sp>
        <p:nvSpPr>
          <p:cNvPr id="16" name="Text 12"/>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7" name="Text 1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Memory is the bottleneck.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GPUs wait on memory. Context windows are exploding. HBM is a three-supplier oligopoly on its way to a $100B TAM.</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HBM TAM ($B) — 25× growth, 2023 → 2028E</a:t>
            </a:r>
            <a:endParaRPr lang="en-US" sz="1400" dirty="0"/>
          </a:p>
        </p:txBody>
      </p:sp>
      <p:sp>
        <p:nvSpPr>
          <p:cNvPr id="7" name="Shape 5"/>
          <p:cNvSpPr/>
          <p:nvPr/>
        </p:nvSpPr>
        <p:spPr>
          <a:xfrm>
            <a:off x="457200" y="169164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HBM supplier share, 2025</a:t>
            </a:r>
            <a:endParaRPr lang="en-US" sz="1400" dirty="0"/>
          </a:p>
        </p:txBody>
      </p:sp>
      <p:sp>
        <p:nvSpPr>
          <p:cNvPr id="10" name="Shape 7"/>
          <p:cNvSpPr/>
          <p:nvPr/>
        </p:nvSpPr>
        <p:spPr>
          <a:xfrm>
            <a:off x="4754880" y="1691640"/>
            <a:ext cx="3931920" cy="0"/>
          </a:xfrm>
          <a:prstGeom prst="line">
            <a:avLst/>
          </a:prstGeom>
          <a:noFill/>
          <a:ln w="19050">
            <a:solidFill>
              <a:srgbClr val="000000"/>
            </a:solidFill>
            <a:prstDash val="solid"/>
          </a:ln>
        </p:spPr>
      </p:sp>
      <p:graphicFrame>
        <p:nvGraphicFramePr>
          <p:cNvPr id="11" name="Chart 1" descr=""/>
          <p:cNvGraphicFramePr/>
          <p:nvPr/>
        </p:nvGraphicFramePr>
        <p:xfrm>
          <a:off x="4754880" y="1783080"/>
          <a:ext cx="3931920" cy="210312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457200" y="3520440"/>
            <a:ext cx="8229600" cy="457200"/>
          </a:xfrm>
          <a:prstGeom prst="rect">
            <a:avLst/>
          </a:prstGeom>
          <a:solidFill>
            <a:srgbClr val="333333"/>
          </a:solidFill>
          <a:ln w="12700">
            <a:solidFill>
              <a:srgbClr val="333333"/>
            </a:solidFill>
            <a:prstDash val="solid"/>
          </a:ln>
        </p:spPr>
      </p:sp>
      <p:sp>
        <p:nvSpPr>
          <p:cNvPr id="13" name="Text 9"/>
          <p:cNvSpPr/>
          <p:nvPr/>
        </p:nvSpPr>
        <p:spPr>
          <a:xfrm>
            <a:off x="640080" y="3520440"/>
            <a:ext cx="7863840" cy="45720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HBM4 = 56× the bandwidth of DDR5 (2.8 TB/s vs 50 GB/s). HBM demand sold out through 2026. SK Hynix targets 70% HBM4 share for NVIDIA Rubin.</a:t>
            </a:r>
            <a:endParaRPr lang="en-US" sz="1100" dirty="0"/>
          </a:p>
        </p:txBody>
      </p:sp>
      <p:sp>
        <p:nvSpPr>
          <p:cNvPr id="14" name="Text 10"/>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TrendForce, Counterpoint Research Q1 2026; SK Hynix, Micron, Samsung Q4 2025 filings.</a:t>
            </a:r>
            <a:endParaRPr lang="en-US" sz="700" dirty="0"/>
          </a:p>
        </p:txBody>
      </p:sp>
      <p:sp>
        <p:nvSpPr>
          <p:cNvPr id="15" name="Shape 11"/>
          <p:cNvSpPr/>
          <p:nvPr/>
        </p:nvSpPr>
        <p:spPr>
          <a:xfrm>
            <a:off x="0" y="4526280"/>
            <a:ext cx="9144000" cy="617220"/>
          </a:xfrm>
          <a:prstGeom prst="rect">
            <a:avLst/>
          </a:prstGeom>
          <a:solidFill>
            <a:srgbClr val="333333"/>
          </a:solidFill>
          <a:ln w="12700">
            <a:solidFill>
              <a:srgbClr val="333333"/>
            </a:solidFill>
            <a:prstDash val="solid"/>
          </a:ln>
        </p:spPr>
      </p:sp>
      <p:sp>
        <p:nvSpPr>
          <p:cNvPr id="16" name="Text 12"/>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7" name="Text 1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labs are a market.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frontier labs. $1.48T in aggregate private value. Feb 2026 was the largest VC month in history — $189B deployed.</a:t>
            </a:r>
            <a:endParaRPr lang="en-US" sz="13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8229600" cy="914400"/>
        </p:xfrm>
        <a:graphic>
          <a:graphicData uri="http://schemas.openxmlformats.org/drawingml/2006/table">
            <a:tbl>
              <a:tblPr/>
              <a:tblGrid>
                <a:gridCol w="1371600"/>
                <a:gridCol w="1463040"/>
                <a:gridCol w="1554480"/>
                <a:gridCol w="3840480"/>
              </a:tblGrid>
              <a:tr h="36576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Lab</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Valuation</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Multiple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Latest event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OpenAI</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$840B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~34×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$110B raise, for-profit conversion · Feb 2026</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Anthropic</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$380B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~20×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$30B Series G · Feb 2026 · projects $70B rev by 2028</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xAI</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$250B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~83×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Merged with SpaceX · Feb 2026</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0000"/>
                          </a:solidFill>
                          <a:latin typeface="Arial" pitchFamily="34" charset="0"/>
                          <a:ea typeface="Arial" pitchFamily="34" charset="-122"/>
                          <a:cs typeface="Arial" pitchFamily="34" charset="-120"/>
                        </a:rPr>
                        <a:t>Mistral</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b="1" dirty="0">
                          <a:solidFill>
                            <a:srgbClr val="F6693D"/>
                          </a:solidFill>
                          <a:latin typeface="Arial" pitchFamily="34" charset="0"/>
                          <a:ea typeface="Arial" pitchFamily="34" charset="-122"/>
                          <a:cs typeface="Arial" pitchFamily="34" charset="-120"/>
                        </a:rPr>
                        <a:t>$14B</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50" dirty="0">
                          <a:solidFill>
                            <a:srgbClr val="333333"/>
                          </a:solidFill>
                          <a:latin typeface="Arial" pitchFamily="34" charset="0"/>
                          <a:ea typeface="Arial" pitchFamily="34" charset="-122"/>
                          <a:cs typeface="Arial" pitchFamily="34" charset="-120"/>
                        </a:rPr>
                        <a:t>~14× ARR</a:t>
                      </a:r>
                      <a:endParaRPr lang="en-US" sz="10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950" dirty="0">
                          <a:solidFill>
                            <a:srgbClr val="333333"/>
                          </a:solidFill>
                          <a:latin typeface="Arial" pitchFamily="34" charset="0"/>
                          <a:ea typeface="Arial" pitchFamily="34" charset="-122"/>
                          <a:cs typeface="Arial" pitchFamily="34" charset="-120"/>
                        </a:rPr>
                        <a:t>€1.7B Series C · Jun 2024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bl>
          </a:graphicData>
        </a:graphic>
      </p:graphicFrame>
      <p:sp>
        <p:nvSpPr>
          <p:cNvPr id="7" name="Shape 4"/>
          <p:cNvSpPr/>
          <p:nvPr/>
        </p:nvSpPr>
        <p:spPr>
          <a:xfrm>
            <a:off x="457200" y="3520440"/>
            <a:ext cx="8229600" cy="457200"/>
          </a:xfrm>
          <a:prstGeom prst="rect">
            <a:avLst/>
          </a:prstGeom>
          <a:solidFill>
            <a:srgbClr val="FFD100"/>
          </a:solidFill>
          <a:ln w="12700">
            <a:solidFill>
              <a:srgbClr val="FFD100"/>
            </a:solidFill>
            <a:prstDash val="solid"/>
          </a:ln>
        </p:spPr>
      </p:sp>
      <p:sp>
        <p:nvSpPr>
          <p:cNvPr id="8" name="Text 5"/>
          <p:cNvSpPr/>
          <p:nvPr/>
        </p:nvSpPr>
        <p:spPr>
          <a:xfrm>
            <a:off x="640080" y="3520440"/>
            <a:ext cx="7863840" cy="457200"/>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$189B raised in a single month (OpenAI $110B · Anthropic $30B · Waymo $16B). The labs consume compute at a rate that reprices every cloud P&amp;L.</a:t>
            </a:r>
            <a:endParaRPr lang="en-US" sz="1150" dirty="0"/>
          </a:p>
        </p:txBody>
      </p:sp>
      <p:sp>
        <p:nvSpPr>
          <p:cNvPr id="9" name="Text 6"/>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The Information, Sacra (Feb 2026 run-rate), Bloomberg, Morgan Stanley TMT conf. *xAI ARR estimated.</a:t>
            </a:r>
            <a:endParaRPr lang="en-US" sz="700" dirty="0"/>
          </a:p>
        </p:txBody>
      </p:sp>
      <p:sp>
        <p:nvSpPr>
          <p:cNvPr id="10" name="Shape 7"/>
          <p:cNvSpPr/>
          <p:nvPr/>
        </p:nvSpPr>
        <p:spPr>
          <a:xfrm>
            <a:off x="0" y="4526280"/>
            <a:ext cx="9144000" cy="617220"/>
          </a:xfrm>
          <a:prstGeom prst="rect">
            <a:avLst/>
          </a:prstGeom>
          <a:solidFill>
            <a:srgbClr val="333333"/>
          </a:solidFill>
          <a:ln w="12700">
            <a:solidFill>
              <a:srgbClr val="333333"/>
            </a:solidFill>
            <a:prstDash val="solid"/>
          </a:ln>
        </p:spPr>
      </p:sp>
      <p:sp>
        <p:nvSpPr>
          <p:cNvPr id="11"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2"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From chatbots to coworkers.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86000"/>
                <a:gridCol w="2926080"/>
                <a:gridCol w="3017520"/>
              </a:tblGrid>
              <a:tr h="384048">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Dimension</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Chatbot (2023–24)</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Agent (2025+)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Interaction</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You ask, it answers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Sets goals, executes autonomously</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Tokens per session</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1K – 5K</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50K – 500K+</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Compute per user</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10 – 100×</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84048">
                <a:tc>
                  <a:txBody>
                    <a:bodyPr/>
                    <a:lstStyle/>
                    <a:p>
                      <a:pPr algn="l" indent="0" marL="0">
                        <a:buNone/>
                      </a:pPr>
                      <a:r>
                        <a:rPr lang="en-US" sz="1100" b="1" dirty="0">
                          <a:solidFill>
                            <a:srgbClr val="000000"/>
                          </a:solidFill>
                          <a:latin typeface="Arial" pitchFamily="34" charset="0"/>
                          <a:ea typeface="Arial" pitchFamily="34" charset="-122"/>
                          <a:cs typeface="Arial" pitchFamily="34" charset="-120"/>
                        </a:rPr>
                        <a:t>Tools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dirty="0">
                          <a:solidFill>
                            <a:srgbClr val="333333"/>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100" b="1" dirty="0">
                          <a:solidFill>
                            <a:srgbClr val="F6693D"/>
                          </a:solidFill>
                          <a:latin typeface="Arial" pitchFamily="34" charset="0"/>
                          <a:ea typeface="Arial" pitchFamily="34" charset="-122"/>
                          <a:cs typeface="Arial" pitchFamily="34" charset="-120"/>
                        </a:rPr>
                        <a:t>Code, APIs, browsers, databases</a:t>
                      </a:r>
                      <a:endParaRPr lang="en-US" sz="11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7" name="Shape 4"/>
          <p:cNvSpPr/>
          <p:nvPr/>
        </p:nvSpPr>
        <p:spPr>
          <a:xfrm>
            <a:off x="457200" y="3657600"/>
            <a:ext cx="8229600" cy="411480"/>
          </a:xfrm>
          <a:prstGeom prst="rect">
            <a:avLst/>
          </a:prstGeom>
          <a:solidFill>
            <a:srgbClr val="F6693D"/>
          </a:solidFill>
          <a:ln w="12700">
            <a:solidFill>
              <a:srgbClr val="F6693D"/>
            </a:solidFill>
            <a:prstDash val="solid"/>
          </a:ln>
        </p:spPr>
      </p:sp>
      <p:sp>
        <p:nvSpPr>
          <p:cNvPr id="8" name="Text 5"/>
          <p:cNvSpPr/>
          <p:nvPr/>
        </p:nvSpPr>
        <p:spPr>
          <a:xfrm>
            <a:off x="640080" y="3657600"/>
            <a:ext cx="7863840" cy="41148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The agent era turns every user into an infrastructure customer. Labs are buying developer-tool companies (Anthropic → Bun, OpenAI → Astral) to lock in the coding stack.</a:t>
            </a:r>
            <a:endParaRPr lang="en-US" sz="1050" dirty="0"/>
          </a:p>
        </p:txBody>
      </p:sp>
      <p:sp>
        <p:nvSpPr>
          <p:cNvPr id="9" name="Text 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company announcements.</a:t>
            </a:r>
            <a:endParaRPr lang="en-US" sz="700" dirty="0"/>
          </a:p>
        </p:txBody>
      </p:sp>
      <p:sp>
        <p:nvSpPr>
          <p:cNvPr id="10" name="Shape 7"/>
          <p:cNvSpPr/>
          <p:nvPr/>
        </p:nvSpPr>
        <p:spPr>
          <a:xfrm>
            <a:off x="0" y="4526280"/>
            <a:ext cx="9144000" cy="617220"/>
          </a:xfrm>
          <a:prstGeom prst="rect">
            <a:avLst/>
          </a:prstGeom>
          <a:solidFill>
            <a:srgbClr val="333333"/>
          </a:solidFill>
          <a:ln w="12700">
            <a:solidFill>
              <a:srgbClr val="333333"/>
            </a:solidFill>
            <a:prstDash val="solid"/>
          </a:ln>
        </p:spPr>
      </p:sp>
      <p:sp>
        <p:nvSpPr>
          <p:cNvPr id="11"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2"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basket trade is over.</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stock correlation collapsed from ~80% to ~20%. Semis are up, software is down — a 39-point YTD spread inside one theme.</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7" name="Shape 5"/>
          <p:cNvSpPr/>
          <p:nvPr/>
        </p:nvSpPr>
        <p:spPr>
          <a:xfrm>
            <a:off x="457200" y="169164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754880" y="1783080"/>
            <a:ext cx="3931920" cy="274320"/>
          </a:xfrm>
          <a:prstGeom prst="rect">
            <a:avLst/>
          </a:prstGeom>
          <a:solidFill>
            <a:srgbClr val="00A854"/>
          </a:solidFill>
          <a:ln w="12700">
            <a:solidFill>
              <a:srgbClr val="00A854"/>
            </a:solidFill>
            <a:prstDash val="solid"/>
          </a:ln>
        </p:spPr>
      </p:sp>
      <p:sp>
        <p:nvSpPr>
          <p:cNvPr id="10" name="Text 7"/>
          <p:cNvSpPr/>
          <p:nvPr/>
        </p:nvSpPr>
        <p:spPr>
          <a:xfrm>
            <a:off x="4754880" y="1783080"/>
            <a:ext cx="39319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MEMORY SUPERCYCLE — DRAM +40% Q2</a:t>
            </a:r>
            <a:endParaRPr lang="en-US" sz="1000" dirty="0"/>
          </a:p>
        </p:txBody>
      </p:sp>
      <p:sp>
        <p:nvSpPr>
          <p:cNvPr id="11" name="Text 8"/>
          <p:cNvSpPr/>
          <p:nvPr/>
        </p:nvSpPr>
        <p:spPr>
          <a:xfrm>
            <a:off x="4754880" y="2103120"/>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Samsung</a:t>
            </a:r>
            <a:endParaRPr lang="en-US" sz="1000" dirty="0"/>
          </a:p>
        </p:txBody>
      </p:sp>
      <p:sp>
        <p:nvSpPr>
          <p:cNvPr id="12" name="Text 9"/>
          <p:cNvSpPr/>
          <p:nvPr/>
        </p:nvSpPr>
        <p:spPr>
          <a:xfrm>
            <a:off x="5760720" y="2103120"/>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+57%</a:t>
            </a:r>
            <a:endParaRPr lang="en-US" sz="1200" dirty="0"/>
          </a:p>
        </p:txBody>
      </p:sp>
      <p:sp>
        <p:nvSpPr>
          <p:cNvPr id="13" name="Text 10"/>
          <p:cNvSpPr/>
          <p:nvPr/>
        </p:nvSpPr>
        <p:spPr>
          <a:xfrm>
            <a:off x="6583680" y="2103120"/>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HBM production doubling</a:t>
            </a:r>
            <a:endParaRPr lang="en-US" sz="850" dirty="0"/>
          </a:p>
        </p:txBody>
      </p:sp>
      <p:sp>
        <p:nvSpPr>
          <p:cNvPr id="14" name="Text 11"/>
          <p:cNvSpPr/>
          <p:nvPr/>
        </p:nvSpPr>
        <p:spPr>
          <a:xfrm>
            <a:off x="4754880" y="2404872"/>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Micron</a:t>
            </a:r>
            <a:endParaRPr lang="en-US" sz="1000" dirty="0"/>
          </a:p>
        </p:txBody>
      </p:sp>
      <p:sp>
        <p:nvSpPr>
          <p:cNvPr id="15" name="Text 12"/>
          <p:cNvSpPr/>
          <p:nvPr/>
        </p:nvSpPr>
        <p:spPr>
          <a:xfrm>
            <a:off x="5760720" y="2404872"/>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+54%</a:t>
            </a:r>
            <a:endParaRPr lang="en-US" sz="1200" dirty="0"/>
          </a:p>
        </p:txBody>
      </p:sp>
      <p:sp>
        <p:nvSpPr>
          <p:cNvPr id="16" name="Text 13"/>
          <p:cNvSpPr/>
          <p:nvPr/>
        </p:nvSpPr>
        <p:spPr>
          <a:xfrm>
            <a:off x="6583680" y="2404872"/>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HBM3E ramp, NY megafab</a:t>
            </a:r>
            <a:endParaRPr lang="en-US" sz="850" dirty="0"/>
          </a:p>
        </p:txBody>
      </p:sp>
      <p:sp>
        <p:nvSpPr>
          <p:cNvPr id="17" name="Text 14"/>
          <p:cNvSpPr/>
          <p:nvPr/>
        </p:nvSpPr>
        <p:spPr>
          <a:xfrm>
            <a:off x="4754880" y="2706624"/>
            <a:ext cx="1005840" cy="274320"/>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SK Hynix</a:t>
            </a:r>
            <a:endParaRPr lang="en-US" sz="1000" dirty="0"/>
          </a:p>
        </p:txBody>
      </p:sp>
      <p:sp>
        <p:nvSpPr>
          <p:cNvPr id="18" name="Text 15"/>
          <p:cNvSpPr/>
          <p:nvPr/>
        </p:nvSpPr>
        <p:spPr>
          <a:xfrm>
            <a:off x="5760720" y="2706624"/>
            <a:ext cx="822960" cy="274320"/>
          </a:xfrm>
          <a:prstGeom prst="rect">
            <a:avLst/>
          </a:prstGeom>
          <a:noFill/>
          <a:ln/>
        </p:spPr>
        <p:txBody>
          <a:bodyPr wrap="square" lIns="0" tIns="0" rIns="0" bIns="0" rtlCol="0" anchor="ctr"/>
          <a:lstStyle/>
          <a:p>
            <a:pPr indent="0" marL="0">
              <a:buNone/>
            </a:pPr>
            <a:r>
              <a:rPr lang="en-US" sz="1200" b="1" dirty="0">
                <a:solidFill>
                  <a:srgbClr val="00A854"/>
                </a:solidFill>
                <a:latin typeface="Arial Black" pitchFamily="34" charset="0"/>
                <a:ea typeface="Arial Black" pitchFamily="34" charset="-122"/>
                <a:cs typeface="Arial Black" pitchFamily="34" charset="-120"/>
              </a:rPr>
              <a:t>+49%</a:t>
            </a:r>
            <a:endParaRPr lang="en-US" sz="1200" dirty="0"/>
          </a:p>
        </p:txBody>
      </p:sp>
      <p:sp>
        <p:nvSpPr>
          <p:cNvPr id="19" name="Text 16"/>
          <p:cNvSpPr/>
          <p:nvPr/>
        </p:nvSpPr>
        <p:spPr>
          <a:xfrm>
            <a:off x="6583680" y="2706624"/>
            <a:ext cx="2103120" cy="27432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62% HBM share; HBM4 Q4</a:t>
            </a:r>
            <a:endParaRPr lang="en-US" sz="850" dirty="0"/>
          </a:p>
        </p:txBody>
      </p:sp>
      <p:sp>
        <p:nvSpPr>
          <p:cNvPr id="20" name="Shape 17"/>
          <p:cNvSpPr/>
          <p:nvPr/>
        </p:nvSpPr>
        <p:spPr>
          <a:xfrm>
            <a:off x="4754880" y="3063240"/>
            <a:ext cx="3931920" cy="274320"/>
          </a:xfrm>
          <a:prstGeom prst="rect">
            <a:avLst/>
          </a:prstGeom>
          <a:solidFill>
            <a:srgbClr val="CC0000"/>
          </a:solidFill>
          <a:ln w="12700">
            <a:solidFill>
              <a:srgbClr val="CC0000"/>
            </a:solidFill>
            <a:prstDash val="solid"/>
          </a:ln>
        </p:spPr>
      </p:sp>
      <p:sp>
        <p:nvSpPr>
          <p:cNvPr id="21" name="Text 18"/>
          <p:cNvSpPr/>
          <p:nvPr/>
        </p:nvSpPr>
        <p:spPr>
          <a:xfrm>
            <a:off x="4754880" y="3063240"/>
            <a:ext cx="39319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THE diSAASter — $1T WIPED IN A MONTH</a:t>
            </a:r>
            <a:endParaRPr lang="en-US" sz="1000" dirty="0"/>
          </a:p>
        </p:txBody>
      </p:sp>
      <p:sp>
        <p:nvSpPr>
          <p:cNvPr id="22" name="Text 19"/>
          <p:cNvSpPr/>
          <p:nvPr/>
        </p:nvSpPr>
        <p:spPr>
          <a:xfrm>
            <a:off x="4754880" y="33832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Salesforce</a:t>
            </a:r>
            <a:endParaRPr lang="en-US" sz="1000" dirty="0"/>
          </a:p>
        </p:txBody>
      </p:sp>
      <p:sp>
        <p:nvSpPr>
          <p:cNvPr id="23" name="Text 20"/>
          <p:cNvSpPr/>
          <p:nvPr/>
        </p:nvSpPr>
        <p:spPr>
          <a:xfrm>
            <a:off x="5852160" y="33832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–26%</a:t>
            </a:r>
            <a:endParaRPr lang="en-US" sz="1100" dirty="0"/>
          </a:p>
        </p:txBody>
      </p:sp>
      <p:sp>
        <p:nvSpPr>
          <p:cNvPr id="24" name="Text 21"/>
          <p:cNvSpPr/>
          <p:nvPr/>
        </p:nvSpPr>
        <p:spPr>
          <a:xfrm>
            <a:off x="6675120" y="33832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Seat model under agent threat</a:t>
            </a:r>
            <a:endParaRPr lang="en-US" sz="850" dirty="0"/>
          </a:p>
        </p:txBody>
      </p:sp>
      <p:sp>
        <p:nvSpPr>
          <p:cNvPr id="25" name="Text 22"/>
          <p:cNvSpPr/>
          <p:nvPr/>
        </p:nvSpPr>
        <p:spPr>
          <a:xfrm>
            <a:off x="4754880" y="36118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Adobe</a:t>
            </a:r>
            <a:endParaRPr lang="en-US" sz="1000" dirty="0"/>
          </a:p>
        </p:txBody>
      </p:sp>
      <p:sp>
        <p:nvSpPr>
          <p:cNvPr id="26" name="Text 23"/>
          <p:cNvSpPr/>
          <p:nvPr/>
        </p:nvSpPr>
        <p:spPr>
          <a:xfrm>
            <a:off x="5852160" y="36118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–28%</a:t>
            </a:r>
            <a:endParaRPr lang="en-US" sz="1100" dirty="0"/>
          </a:p>
        </p:txBody>
      </p:sp>
      <p:sp>
        <p:nvSpPr>
          <p:cNvPr id="27" name="Text 24"/>
          <p:cNvSpPr/>
          <p:nvPr/>
        </p:nvSpPr>
        <p:spPr>
          <a:xfrm>
            <a:off x="6675120" y="36118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Gen-AI content erodes moat</a:t>
            </a:r>
            <a:endParaRPr lang="en-US" sz="850" dirty="0"/>
          </a:p>
        </p:txBody>
      </p:sp>
      <p:sp>
        <p:nvSpPr>
          <p:cNvPr id="28" name="Text 25"/>
          <p:cNvSpPr/>
          <p:nvPr/>
        </p:nvSpPr>
        <p:spPr>
          <a:xfrm>
            <a:off x="4754880" y="3840480"/>
            <a:ext cx="1097280" cy="201168"/>
          </a:xfrm>
          <a:prstGeom prst="rect">
            <a:avLst/>
          </a:prstGeom>
          <a:noFill/>
          <a:ln/>
        </p:spPr>
        <p:txBody>
          <a:bodyPr wrap="square" lIns="635" tIns="635" rIns="635" bIns="635" rtlCol="0" anchor="ctr"/>
          <a:lstStyle/>
          <a:p>
            <a:pPr indent="0" marL="0">
              <a:buNone/>
            </a:pPr>
            <a:r>
              <a:rPr lang="en-US" sz="1000" b="1" dirty="0">
                <a:solidFill>
                  <a:srgbClr val="000000"/>
                </a:solidFill>
                <a:latin typeface="Arial" pitchFamily="34" charset="0"/>
                <a:ea typeface="Arial" pitchFamily="34" charset="-122"/>
                <a:cs typeface="Arial" pitchFamily="34" charset="-120"/>
              </a:rPr>
              <a:t>ServiceNow</a:t>
            </a:r>
            <a:endParaRPr lang="en-US" sz="1000" dirty="0"/>
          </a:p>
        </p:txBody>
      </p:sp>
      <p:sp>
        <p:nvSpPr>
          <p:cNvPr id="29" name="Text 26"/>
          <p:cNvSpPr/>
          <p:nvPr/>
        </p:nvSpPr>
        <p:spPr>
          <a:xfrm>
            <a:off x="5852160" y="3840480"/>
            <a:ext cx="822960" cy="201168"/>
          </a:xfrm>
          <a:prstGeom prst="rect">
            <a:avLst/>
          </a:prstGeom>
          <a:noFill/>
          <a:ln/>
        </p:spPr>
        <p:txBody>
          <a:bodyPr wrap="square" lIns="0" tIns="0" rIns="0" bIns="0" rtlCol="0" anchor="ctr"/>
          <a:lstStyle/>
          <a:p>
            <a:pPr indent="0" marL="0">
              <a:buNone/>
            </a:pPr>
            <a:r>
              <a:rPr lang="en-US" sz="1100" b="1" dirty="0">
                <a:solidFill>
                  <a:srgbClr val="CC0000"/>
                </a:solidFill>
                <a:latin typeface="Arial Black" pitchFamily="34" charset="0"/>
                <a:ea typeface="Arial Black" pitchFamily="34" charset="-122"/>
                <a:cs typeface="Arial Black" pitchFamily="34" charset="-120"/>
              </a:rPr>
              <a:t>–23%</a:t>
            </a:r>
            <a:endParaRPr lang="en-US" sz="1100" dirty="0"/>
          </a:p>
        </p:txBody>
      </p:sp>
      <p:sp>
        <p:nvSpPr>
          <p:cNvPr id="30" name="Text 27"/>
          <p:cNvSpPr/>
          <p:nvPr/>
        </p:nvSpPr>
        <p:spPr>
          <a:xfrm>
            <a:off x="6675120" y="3840480"/>
            <a:ext cx="2011680" cy="2011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Workflows disrupted by agents</a:t>
            </a:r>
            <a:endParaRPr lang="en-US" sz="850" dirty="0"/>
          </a:p>
        </p:txBody>
      </p:sp>
      <p:sp>
        <p:nvSpPr>
          <p:cNvPr id="31" name="Text 28"/>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Bloomberg YTD through Mar 25, 2026; Yahoo Finance; Counterpoint Research; Morgan Stanley CIO Survey.</a:t>
            </a:r>
            <a:endParaRPr lang="en-US" sz="700" dirty="0"/>
          </a:p>
        </p:txBody>
      </p:sp>
      <p:sp>
        <p:nvSpPr>
          <p:cNvPr id="32" name="Shape 29"/>
          <p:cNvSpPr/>
          <p:nvPr/>
        </p:nvSpPr>
        <p:spPr>
          <a:xfrm>
            <a:off x="0" y="4526280"/>
            <a:ext cx="9144000" cy="617220"/>
          </a:xfrm>
          <a:prstGeom prst="rect">
            <a:avLst/>
          </a:prstGeom>
          <a:solidFill>
            <a:srgbClr val="333333"/>
          </a:solidFill>
          <a:ln w="12700">
            <a:solidFill>
              <a:srgbClr val="333333"/>
            </a:solidFill>
            <a:prstDash val="solid"/>
          </a:ln>
        </p:spPr>
      </p:sp>
      <p:sp>
        <p:nvSpPr>
          <p:cNvPr id="33" name="Text 3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This is not 2000.</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691640"/>
            <a:ext cx="3108960" cy="274320"/>
          </a:xfrm>
          <a:prstGeom prst="rect">
            <a:avLst/>
          </a:prstGeom>
          <a:solidFill>
            <a:srgbClr val="333333"/>
          </a:solidFill>
          <a:ln w="12700">
            <a:solidFill>
              <a:srgbClr val="333333"/>
            </a:solidFill>
            <a:prstDash val="solid"/>
          </a:ln>
        </p:spPr>
      </p:sp>
      <p:sp>
        <p:nvSpPr>
          <p:cNvPr id="7" name="Text 5"/>
          <p:cNvSpPr/>
          <p:nvPr/>
        </p:nvSpPr>
        <p:spPr>
          <a:xfrm>
            <a:off x="457200" y="1691640"/>
            <a:ext cx="310896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TEST</a:t>
            </a:r>
            <a:endParaRPr lang="en-US" sz="1000" dirty="0"/>
          </a:p>
        </p:txBody>
      </p:sp>
      <p:sp>
        <p:nvSpPr>
          <p:cNvPr id="8" name="Shape 6"/>
          <p:cNvSpPr/>
          <p:nvPr/>
        </p:nvSpPr>
        <p:spPr>
          <a:xfrm>
            <a:off x="3611880" y="1691640"/>
            <a:ext cx="2468880" cy="274320"/>
          </a:xfrm>
          <a:prstGeom prst="rect">
            <a:avLst/>
          </a:prstGeom>
          <a:solidFill>
            <a:srgbClr val="CC0000"/>
          </a:solidFill>
          <a:ln w="12700">
            <a:solidFill>
              <a:srgbClr val="CC0000"/>
            </a:solidFill>
            <a:prstDash val="solid"/>
          </a:ln>
        </p:spPr>
      </p:sp>
      <p:sp>
        <p:nvSpPr>
          <p:cNvPr id="9" name="Text 7"/>
          <p:cNvSpPr/>
          <p:nvPr/>
        </p:nvSpPr>
        <p:spPr>
          <a:xfrm>
            <a:off x="3611880" y="1691640"/>
            <a:ext cx="246888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DOTCOM 2000</a:t>
            </a:r>
            <a:endParaRPr lang="en-US" sz="1000" dirty="0"/>
          </a:p>
        </p:txBody>
      </p:sp>
      <p:sp>
        <p:nvSpPr>
          <p:cNvPr id="10" name="Shape 8"/>
          <p:cNvSpPr/>
          <p:nvPr/>
        </p:nvSpPr>
        <p:spPr>
          <a:xfrm>
            <a:off x="6126480" y="1691640"/>
            <a:ext cx="2560320" cy="274320"/>
          </a:xfrm>
          <a:prstGeom prst="rect">
            <a:avLst/>
          </a:prstGeom>
          <a:solidFill>
            <a:srgbClr val="00A854"/>
          </a:solidFill>
          <a:ln w="12700">
            <a:solidFill>
              <a:srgbClr val="00A854"/>
            </a:solidFill>
            <a:prstDash val="solid"/>
          </a:ln>
        </p:spPr>
      </p:sp>
      <p:sp>
        <p:nvSpPr>
          <p:cNvPr id="11" name="Text 9"/>
          <p:cNvSpPr/>
          <p:nvPr/>
        </p:nvSpPr>
        <p:spPr>
          <a:xfrm>
            <a:off x="6126480" y="1691640"/>
            <a:ext cx="256032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AI 2026</a:t>
            </a:r>
            <a:endParaRPr lang="en-US" sz="1000" dirty="0"/>
          </a:p>
        </p:txBody>
      </p:sp>
      <p:sp>
        <p:nvSpPr>
          <p:cNvPr id="12" name="Text 10"/>
          <p:cNvSpPr/>
          <p:nvPr/>
        </p:nvSpPr>
        <p:spPr>
          <a:xfrm>
            <a:off x="457200" y="2011680"/>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PRICE PER DOLLAR OF EARNINGS</a:t>
            </a:r>
            <a:endParaRPr lang="en-US" sz="950" dirty="0"/>
          </a:p>
        </p:txBody>
      </p:sp>
      <p:sp>
        <p:nvSpPr>
          <p:cNvPr id="13" name="Text 11"/>
          <p:cNvSpPr/>
          <p:nvPr/>
        </p:nvSpPr>
        <p:spPr>
          <a:xfrm>
            <a:off x="3611880" y="2011680"/>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131×  </a:t>
            </a:r>
            <a:pPr indent="0" marL="0">
              <a:buNone/>
            </a:pPr>
            <a:r>
              <a:rPr lang="en-US" sz="850" dirty="0">
                <a:solidFill>
                  <a:srgbClr val="666666"/>
                </a:solidFill>
                <a:latin typeface="Arial" pitchFamily="34" charset="0"/>
                <a:ea typeface="Arial" pitchFamily="34" charset="-122"/>
                <a:cs typeface="Arial" pitchFamily="34" charset="-120"/>
              </a:rPr>
              <a:t>Cisco fwd P/E, Mar 2000</a:t>
            </a:r>
            <a:endParaRPr lang="en-US" sz="1400" dirty="0"/>
          </a:p>
        </p:txBody>
      </p:sp>
      <p:sp>
        <p:nvSpPr>
          <p:cNvPr id="14" name="Text 12"/>
          <p:cNvSpPr/>
          <p:nvPr/>
        </p:nvSpPr>
        <p:spPr>
          <a:xfrm>
            <a:off x="6126480" y="2011680"/>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~21×  </a:t>
            </a:r>
            <a:pPr indent="0" marL="0">
              <a:buNone/>
            </a:pPr>
            <a:r>
              <a:rPr lang="en-US" sz="850" dirty="0">
                <a:solidFill>
                  <a:srgbClr val="666666"/>
                </a:solidFill>
                <a:latin typeface="Arial" pitchFamily="34" charset="0"/>
                <a:ea typeface="Arial" pitchFamily="34" charset="-122"/>
                <a:cs typeface="Arial" pitchFamily="34" charset="-120"/>
              </a:rPr>
              <a:t>NVIDIA fwd P/E, Mar 2026</a:t>
            </a:r>
            <a:endParaRPr lang="en-US" sz="1400" dirty="0"/>
          </a:p>
        </p:txBody>
      </p:sp>
      <p:sp>
        <p:nvSpPr>
          <p:cNvPr id="15" name="Text 13"/>
          <p:cNvSpPr/>
          <p:nvPr/>
        </p:nvSpPr>
        <p:spPr>
          <a:xfrm>
            <a:off x="457200" y="2450592"/>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LEADER PROFITABILITY</a:t>
            </a:r>
            <a:endParaRPr lang="en-US" sz="950" dirty="0"/>
          </a:p>
        </p:txBody>
      </p:sp>
      <p:sp>
        <p:nvSpPr>
          <p:cNvPr id="16" name="Text 14"/>
          <p:cNvSpPr/>
          <p:nvPr/>
        </p:nvSpPr>
        <p:spPr>
          <a:xfrm>
            <a:off x="3611880" y="2450592"/>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14%  </a:t>
            </a:r>
            <a:pPr indent="0" marL="0">
              <a:buNone/>
            </a:pPr>
            <a:r>
              <a:rPr lang="en-US" sz="850" dirty="0">
                <a:solidFill>
                  <a:srgbClr val="666666"/>
                </a:solidFill>
                <a:latin typeface="Arial" pitchFamily="34" charset="0"/>
                <a:ea typeface="Arial" pitchFamily="34" charset="-122"/>
                <a:cs typeface="Arial" pitchFamily="34" charset="-120"/>
              </a:rPr>
              <a:t>of tech IPOs were profitable</a:t>
            </a:r>
            <a:endParaRPr lang="en-US" sz="1400" dirty="0"/>
          </a:p>
        </p:txBody>
      </p:sp>
      <p:sp>
        <p:nvSpPr>
          <p:cNvPr id="17" name="Text 15"/>
          <p:cNvSpPr/>
          <p:nvPr/>
        </p:nvSpPr>
        <p:spPr>
          <a:xfrm>
            <a:off x="6126480" y="2450592"/>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26%  </a:t>
            </a:r>
            <a:pPr indent="0" marL="0">
              <a:buNone/>
            </a:pPr>
            <a:r>
              <a:rPr lang="en-US" sz="850" dirty="0">
                <a:solidFill>
                  <a:srgbClr val="666666"/>
                </a:solidFill>
                <a:latin typeface="Arial" pitchFamily="34" charset="0"/>
                <a:ea typeface="Arial" pitchFamily="34" charset="-122"/>
                <a:cs typeface="Arial" pitchFamily="34" charset="-120"/>
              </a:rPr>
              <a:t>Mag 7 avg net margin (2× S&amp;P)</a:t>
            </a:r>
            <a:endParaRPr lang="en-US" sz="1400" dirty="0"/>
          </a:p>
        </p:txBody>
      </p:sp>
      <p:sp>
        <p:nvSpPr>
          <p:cNvPr id="18" name="Text 16"/>
          <p:cNvSpPr/>
          <p:nvPr/>
        </p:nvSpPr>
        <p:spPr>
          <a:xfrm>
            <a:off x="457200" y="2889504"/>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SUPPLY VS. DEMAND</a:t>
            </a:r>
            <a:endParaRPr lang="en-US" sz="950" dirty="0"/>
          </a:p>
        </p:txBody>
      </p:sp>
      <p:sp>
        <p:nvSpPr>
          <p:cNvPr id="19" name="Text 17"/>
          <p:cNvSpPr/>
          <p:nvPr/>
        </p:nvSpPr>
        <p:spPr>
          <a:xfrm>
            <a:off x="3611880" y="2889504"/>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Oversupply  </a:t>
            </a:r>
            <a:pPr indent="0" marL="0">
              <a:buNone/>
            </a:pPr>
            <a:r>
              <a:rPr lang="en-US" sz="850" dirty="0">
                <a:solidFill>
                  <a:srgbClr val="666666"/>
                </a:solidFill>
                <a:latin typeface="Arial" pitchFamily="34" charset="0"/>
                <a:ea typeface="Arial" pitchFamily="34" charset="-122"/>
                <a:cs typeface="Arial" pitchFamily="34" charset="-120"/>
              </a:rPr>
              <a:t>$500B dark fiber unused</a:t>
            </a:r>
            <a:endParaRPr lang="en-US" sz="1400" dirty="0"/>
          </a:p>
        </p:txBody>
      </p:sp>
      <p:sp>
        <p:nvSpPr>
          <p:cNvPr id="20" name="Text 18"/>
          <p:cNvSpPr/>
          <p:nvPr/>
        </p:nvSpPr>
        <p:spPr>
          <a:xfrm>
            <a:off x="6126480" y="2889504"/>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Sold out  </a:t>
            </a:r>
            <a:pPr indent="0" marL="0">
              <a:buNone/>
            </a:pPr>
            <a:r>
              <a:rPr lang="en-US" sz="850" dirty="0">
                <a:solidFill>
                  <a:srgbClr val="666666"/>
                </a:solidFill>
                <a:latin typeface="Arial" pitchFamily="34" charset="0"/>
                <a:ea typeface="Arial" pitchFamily="34" charset="-122"/>
                <a:cs typeface="Arial" pitchFamily="34" charset="-120"/>
              </a:rPr>
              <a:t>GPU 2nd market 90–95% of list</a:t>
            </a:r>
            <a:endParaRPr lang="en-US" sz="1400" dirty="0"/>
          </a:p>
        </p:txBody>
      </p:sp>
      <p:sp>
        <p:nvSpPr>
          <p:cNvPr id="21" name="Text 19"/>
          <p:cNvSpPr/>
          <p:nvPr/>
        </p:nvSpPr>
        <p:spPr>
          <a:xfrm>
            <a:off x="457200" y="3328416"/>
            <a:ext cx="3108960" cy="402336"/>
          </a:xfrm>
          <a:prstGeom prst="rect">
            <a:avLst/>
          </a:prstGeom>
          <a:noFill/>
          <a:ln/>
        </p:spPr>
        <p:txBody>
          <a:bodyPr wrap="square" lIns="635" tIns="635" rIns="635" bIns="635" rtlCol="0" anchor="ctr"/>
          <a:lstStyle/>
          <a:p>
            <a:pPr indent="0" marL="0">
              <a:buNone/>
            </a:pPr>
            <a:r>
              <a:rPr lang="en-US" sz="950" b="1" dirty="0">
                <a:solidFill>
                  <a:srgbClr val="000000"/>
                </a:solidFill>
                <a:latin typeface="Arial" pitchFamily="34" charset="0"/>
                <a:ea typeface="Arial" pitchFamily="34" charset="-122"/>
                <a:cs typeface="Arial" pitchFamily="34" charset="-120"/>
              </a:rPr>
              <a:t>BUYER BALANCE SHEETS</a:t>
            </a:r>
            <a:endParaRPr lang="en-US" sz="950" dirty="0"/>
          </a:p>
        </p:txBody>
      </p:sp>
      <p:sp>
        <p:nvSpPr>
          <p:cNvPr id="22" name="Text 20"/>
          <p:cNvSpPr/>
          <p:nvPr/>
        </p:nvSpPr>
        <p:spPr>
          <a:xfrm>
            <a:off x="3611880" y="3328416"/>
            <a:ext cx="2468880" cy="402336"/>
          </a:xfrm>
          <a:prstGeom prst="rect">
            <a:avLst/>
          </a:prstGeom>
          <a:noFill/>
          <a:ln/>
        </p:spPr>
        <p:txBody>
          <a:bodyPr wrap="square" lIns="635" tIns="635" rIns="635" bIns="635" rtlCol="0" anchor="ctr"/>
          <a:lstStyle/>
          <a:p>
            <a:pPr indent="0" marL="0">
              <a:buNone/>
            </a:pPr>
            <a:r>
              <a:rPr lang="en-US" sz="1400" b="1" dirty="0">
                <a:solidFill>
                  <a:srgbClr val="CC0000"/>
                </a:solidFill>
                <a:latin typeface="Arial" pitchFamily="34" charset="0"/>
                <a:ea typeface="Arial" pitchFamily="34" charset="-122"/>
                <a:cs typeface="Arial" pitchFamily="34" charset="-120"/>
              </a:rPr>
              <a:t>20+  </a:t>
            </a:r>
            <a:pPr indent="0" marL="0">
              <a:buNone/>
            </a:pPr>
            <a:r>
              <a:rPr lang="en-US" sz="850" dirty="0">
                <a:solidFill>
                  <a:srgbClr val="666666"/>
                </a:solidFill>
                <a:latin typeface="Arial" pitchFamily="34" charset="0"/>
                <a:ea typeface="Arial" pitchFamily="34" charset="-122"/>
                <a:cs typeface="Arial" pitchFamily="34" charset="-120"/>
              </a:rPr>
              <a:t>major telcos went bankrupt</a:t>
            </a:r>
            <a:endParaRPr lang="en-US" sz="1400" dirty="0"/>
          </a:p>
        </p:txBody>
      </p:sp>
      <p:sp>
        <p:nvSpPr>
          <p:cNvPr id="23" name="Text 21"/>
          <p:cNvSpPr/>
          <p:nvPr/>
        </p:nvSpPr>
        <p:spPr>
          <a:xfrm>
            <a:off x="6126480" y="3328416"/>
            <a:ext cx="2560320" cy="402336"/>
          </a:xfrm>
          <a:prstGeom prst="rect">
            <a:avLst/>
          </a:prstGeom>
          <a:noFill/>
          <a:ln/>
        </p:spPr>
        <p:txBody>
          <a:bodyPr wrap="square" lIns="635" tIns="635" rIns="635" bIns="635" rtlCol="0" anchor="ctr"/>
          <a:lstStyle/>
          <a:p>
            <a:pPr indent="0" marL="0">
              <a:buNone/>
            </a:pPr>
            <a:r>
              <a:rPr lang="en-US" sz="1400" b="1" dirty="0">
                <a:solidFill>
                  <a:srgbClr val="00A854"/>
                </a:solidFill>
                <a:latin typeface="Arial" pitchFamily="34" charset="0"/>
                <a:ea typeface="Arial" pitchFamily="34" charset="-122"/>
                <a:cs typeface="Arial" pitchFamily="34" charset="-120"/>
              </a:rPr>
              <a:t>~48%  </a:t>
            </a:r>
            <a:pPr indent="0" marL="0">
              <a:buNone/>
            </a:pPr>
            <a:r>
              <a:rPr lang="en-US" sz="850" dirty="0">
                <a:solidFill>
                  <a:srgbClr val="666666"/>
                </a:solidFill>
                <a:latin typeface="Arial" pitchFamily="34" charset="0"/>
                <a:ea typeface="Arial" pitchFamily="34" charset="-122"/>
                <a:cs typeface="Arial" pitchFamily="34" charset="-120"/>
              </a:rPr>
              <a:t>hyperscaler net debt/EBITDA (vs ~80% S&amp;P)</a:t>
            </a:r>
            <a:endParaRPr lang="en-US" sz="1400" dirty="0"/>
          </a:p>
        </p:txBody>
      </p:sp>
      <p:sp>
        <p:nvSpPr>
          <p:cNvPr id="24" name="Shape 22"/>
          <p:cNvSpPr/>
          <p:nvPr/>
        </p:nvSpPr>
        <p:spPr>
          <a:xfrm>
            <a:off x="457200" y="3794760"/>
            <a:ext cx="8229600" cy="274320"/>
          </a:xfrm>
          <a:prstGeom prst="rect">
            <a:avLst/>
          </a:prstGeom>
          <a:solidFill>
            <a:srgbClr val="FFD100"/>
          </a:solidFill>
          <a:ln w="12700">
            <a:solidFill>
              <a:srgbClr val="FFD100"/>
            </a:solidFill>
            <a:prstDash val="solid"/>
          </a:ln>
        </p:spPr>
      </p:sp>
      <p:sp>
        <p:nvSpPr>
          <p:cNvPr id="25" name="Text 23"/>
          <p:cNvSpPr/>
          <p:nvPr/>
        </p:nvSpPr>
        <p:spPr>
          <a:xfrm>
            <a:off x="640080" y="3794760"/>
            <a:ext cx="7863840" cy="27432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valuations detached from fundamentals AND supply exceeding demand. Neither condition holds today.</a:t>
            </a:r>
            <a:endParaRPr lang="en-US" sz="1100" dirty="0"/>
          </a:p>
        </p:txBody>
      </p:sp>
      <p:sp>
        <p:nvSpPr>
          <p:cNvPr id="26" name="Text 24"/>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Harding Loevner (Cisco); GuruFocus (NVDA); Jay Ritter / UF; Bloomberg; CoreWeave 2nd market; FCC dark fiber data.</a:t>
            </a:r>
            <a:endParaRPr lang="en-US" sz="700" dirty="0"/>
          </a:p>
        </p:txBody>
      </p:sp>
      <p:sp>
        <p:nvSpPr>
          <p:cNvPr id="27" name="Shape 25"/>
          <p:cNvSpPr/>
          <p:nvPr/>
        </p:nvSpPr>
        <p:spPr>
          <a:xfrm>
            <a:off x="0" y="4526280"/>
            <a:ext cx="9144000" cy="617220"/>
          </a:xfrm>
          <a:prstGeom prst="rect">
            <a:avLst/>
          </a:prstGeom>
          <a:solidFill>
            <a:srgbClr val="333333"/>
          </a:solidFill>
          <a:ln w="12700">
            <a:solidFill>
              <a:srgbClr val="333333"/>
            </a:solidFill>
            <a:prstDash val="solid"/>
          </a:ln>
        </p:spPr>
      </p:sp>
      <p:sp>
        <p:nvSpPr>
          <p:cNvPr id="28" name="Text 2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9" name="Text 2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Concentrated supply chain, systemic risk.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countries control the advanced semiconductor stack. US reshoring is real but slow — most fabs come online after 2028.</a:t>
            </a:r>
            <a:endParaRPr lang="en-US" sz="1350" dirty="0"/>
          </a:p>
        </p:txBody>
      </p:sp>
      <p:sp>
        <p:nvSpPr>
          <p:cNvPr id="6" name="Text 4"/>
          <p:cNvSpPr/>
          <p:nvPr/>
        </p:nvSpPr>
        <p:spPr>
          <a:xfrm>
            <a:off x="457200" y="178308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~90%</a:t>
            </a:r>
            <a:endParaRPr lang="en-US" sz="4000" dirty="0"/>
          </a:p>
        </p:txBody>
      </p:sp>
      <p:sp>
        <p:nvSpPr>
          <p:cNvPr id="7" name="Text 5"/>
          <p:cNvSpPr/>
          <p:nvPr/>
        </p:nvSpPr>
        <p:spPr>
          <a:xfrm>
            <a:off x="45720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TSMC share of advanced-node chips</a:t>
            </a:r>
            <a:endParaRPr lang="en-US" sz="1100" dirty="0"/>
          </a:p>
        </p:txBody>
      </p:sp>
      <p:sp>
        <p:nvSpPr>
          <p:cNvPr id="8" name="Text 6"/>
          <p:cNvSpPr/>
          <p:nvPr/>
        </p:nvSpPr>
        <p:spPr>
          <a:xfrm>
            <a:off x="2560320" y="1783080"/>
            <a:ext cx="19202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76%</a:t>
            </a:r>
            <a:endParaRPr lang="en-US" sz="4000" dirty="0"/>
          </a:p>
        </p:txBody>
      </p:sp>
      <p:sp>
        <p:nvSpPr>
          <p:cNvPr id="9" name="Text 7"/>
          <p:cNvSpPr/>
          <p:nvPr/>
        </p:nvSpPr>
        <p:spPr>
          <a:xfrm>
            <a:off x="256032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SK Hynix + Samsung combined DRAM share</a:t>
            </a:r>
            <a:endParaRPr lang="en-US" sz="1100" dirty="0"/>
          </a:p>
        </p:txBody>
      </p:sp>
      <p:sp>
        <p:nvSpPr>
          <p:cNvPr id="10" name="Text 8"/>
          <p:cNvSpPr/>
          <p:nvPr/>
        </p:nvSpPr>
        <p:spPr>
          <a:xfrm>
            <a:off x="4663440" y="1783080"/>
            <a:ext cx="192024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&lt;100</a:t>
            </a:r>
            <a:endParaRPr lang="en-US" sz="4000" dirty="0"/>
          </a:p>
        </p:txBody>
      </p:sp>
      <p:sp>
        <p:nvSpPr>
          <p:cNvPr id="11" name="Text 9"/>
          <p:cNvSpPr/>
          <p:nvPr/>
        </p:nvSpPr>
        <p:spPr>
          <a:xfrm>
            <a:off x="466344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EUV machines ASML builds per year</a:t>
            </a:r>
            <a:endParaRPr lang="en-US" sz="1100" dirty="0"/>
          </a:p>
        </p:txBody>
      </p:sp>
      <p:sp>
        <p:nvSpPr>
          <p:cNvPr id="12" name="Text 10"/>
          <p:cNvSpPr/>
          <p:nvPr/>
        </p:nvSpPr>
        <p:spPr>
          <a:xfrm>
            <a:off x="6766560" y="1783080"/>
            <a:ext cx="192024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$52.7B</a:t>
            </a:r>
            <a:endParaRPr lang="en-US" sz="4000" dirty="0"/>
          </a:p>
        </p:txBody>
      </p:sp>
      <p:sp>
        <p:nvSpPr>
          <p:cNvPr id="13" name="Text 11"/>
          <p:cNvSpPr/>
          <p:nvPr/>
        </p:nvSpPr>
        <p:spPr>
          <a:xfrm>
            <a:off x="6766560" y="2514600"/>
            <a:ext cx="19202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CHIPS Act authorized; ~$33.7B committed</a:t>
            </a:r>
            <a:endParaRPr lang="en-US" sz="1100" dirty="0"/>
          </a:p>
        </p:txBody>
      </p:sp>
      <p:sp>
        <p:nvSpPr>
          <p:cNvPr id="14" name="Shape 12"/>
          <p:cNvSpPr/>
          <p:nvPr/>
        </p:nvSpPr>
        <p:spPr>
          <a:xfrm>
            <a:off x="457200" y="3063240"/>
            <a:ext cx="8229600" cy="274320"/>
          </a:xfrm>
          <a:prstGeom prst="rect">
            <a:avLst/>
          </a:prstGeom>
          <a:solidFill>
            <a:srgbClr val="333333"/>
          </a:solidFill>
          <a:ln w="12700">
            <a:solidFill>
              <a:srgbClr val="333333"/>
            </a:solidFill>
            <a:prstDash val="solid"/>
          </a:ln>
        </p:spPr>
      </p:sp>
      <p:sp>
        <p:nvSpPr>
          <p:cNvPr id="15" name="Text 13"/>
          <p:cNvSpPr/>
          <p:nvPr/>
        </p:nvSpPr>
        <p:spPr>
          <a:xfrm>
            <a:off x="457200" y="3063240"/>
            <a:ext cx="8229600" cy="274320"/>
          </a:xfrm>
          <a:prstGeom prst="rect">
            <a:avLst/>
          </a:prstGeom>
          <a:noFill/>
          <a:ln/>
        </p:spPr>
        <p:txBody>
          <a:bodyPr wrap="square" lIns="0" tIns="0" rIns="0" bIns="0" rtlCol="0" anchor="ctr"/>
          <a:lstStyle/>
          <a:p>
            <a:pPr algn="ctr" indent="0" marL="0">
              <a:buNone/>
            </a:pPr>
            <a:r>
              <a:rPr lang="en-US" sz="950" b="1" spc="300" kern="0" dirty="0">
                <a:solidFill>
                  <a:srgbClr val="FFB800"/>
                </a:solidFill>
                <a:latin typeface="Arial" pitchFamily="34" charset="0"/>
                <a:ea typeface="Arial" pitchFamily="34" charset="-122"/>
                <a:cs typeface="Arial" pitchFamily="34" charset="-120"/>
              </a:rPr>
              <a:t>US RESHORING — ACTUAL STATUS</a:t>
            </a:r>
            <a:endParaRPr lang="en-US" sz="950" dirty="0"/>
          </a:p>
        </p:txBody>
      </p:sp>
      <p:sp>
        <p:nvSpPr>
          <p:cNvPr id="16" name="Shape 14"/>
          <p:cNvSpPr/>
          <p:nvPr/>
        </p:nvSpPr>
        <p:spPr>
          <a:xfrm>
            <a:off x="502920" y="3383280"/>
            <a:ext cx="1943100" cy="502920"/>
          </a:xfrm>
          <a:prstGeom prst="rect">
            <a:avLst/>
          </a:prstGeom>
          <a:solidFill>
            <a:srgbClr val="F9F9F9"/>
          </a:solidFill>
          <a:ln w="6350">
            <a:solidFill>
              <a:srgbClr val="E5E5E5"/>
            </a:solidFill>
            <a:prstDash val="solid"/>
          </a:ln>
        </p:spPr>
      </p:sp>
      <p:sp>
        <p:nvSpPr>
          <p:cNvPr id="17" name="Text 15"/>
          <p:cNvSpPr/>
          <p:nvPr/>
        </p:nvSpPr>
        <p:spPr>
          <a:xfrm>
            <a:off x="54864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TSMC Arizona</a:t>
            </a:r>
            <a:endParaRPr lang="en-US" sz="1000" dirty="0"/>
          </a:p>
        </p:txBody>
      </p:sp>
      <p:sp>
        <p:nvSpPr>
          <p:cNvPr id="18" name="Text 16"/>
          <p:cNvSpPr/>
          <p:nvPr/>
        </p:nvSpPr>
        <p:spPr>
          <a:xfrm>
            <a:off x="54864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Fab 1 producing; Fab 2 under construction</a:t>
            </a:r>
            <a:endParaRPr lang="en-US" sz="800" dirty="0"/>
          </a:p>
        </p:txBody>
      </p:sp>
      <p:sp>
        <p:nvSpPr>
          <p:cNvPr id="19" name="Shape 17"/>
          <p:cNvSpPr/>
          <p:nvPr/>
        </p:nvSpPr>
        <p:spPr>
          <a:xfrm>
            <a:off x="2537460" y="3383280"/>
            <a:ext cx="1943100" cy="502920"/>
          </a:xfrm>
          <a:prstGeom prst="rect">
            <a:avLst/>
          </a:prstGeom>
          <a:solidFill>
            <a:srgbClr val="F9F9F9"/>
          </a:solidFill>
          <a:ln w="6350">
            <a:solidFill>
              <a:srgbClr val="E5E5E5"/>
            </a:solidFill>
            <a:prstDash val="solid"/>
          </a:ln>
        </p:spPr>
      </p:sp>
      <p:sp>
        <p:nvSpPr>
          <p:cNvPr id="20" name="Text 18"/>
          <p:cNvSpPr/>
          <p:nvPr/>
        </p:nvSpPr>
        <p:spPr>
          <a:xfrm>
            <a:off x="258318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Samsung Taylor</a:t>
            </a:r>
            <a:endParaRPr lang="en-US" sz="1000" dirty="0"/>
          </a:p>
        </p:txBody>
      </p:sp>
      <p:sp>
        <p:nvSpPr>
          <p:cNvPr id="21" name="Text 19"/>
          <p:cNvSpPr/>
          <p:nvPr/>
        </p:nvSpPr>
        <p:spPr>
          <a:xfrm>
            <a:off x="258318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$17B Texas fab, delayed to 2026</a:t>
            </a:r>
            <a:endParaRPr lang="en-US" sz="800" dirty="0"/>
          </a:p>
        </p:txBody>
      </p:sp>
      <p:sp>
        <p:nvSpPr>
          <p:cNvPr id="22" name="Shape 20"/>
          <p:cNvSpPr/>
          <p:nvPr/>
        </p:nvSpPr>
        <p:spPr>
          <a:xfrm>
            <a:off x="4572000" y="3383280"/>
            <a:ext cx="1943100" cy="502920"/>
          </a:xfrm>
          <a:prstGeom prst="rect">
            <a:avLst/>
          </a:prstGeom>
          <a:solidFill>
            <a:srgbClr val="F9F9F9"/>
          </a:solidFill>
          <a:ln w="6350">
            <a:solidFill>
              <a:srgbClr val="E5E5E5"/>
            </a:solidFill>
            <a:prstDash val="solid"/>
          </a:ln>
        </p:spPr>
      </p:sp>
      <p:sp>
        <p:nvSpPr>
          <p:cNvPr id="23" name="Text 21"/>
          <p:cNvSpPr/>
          <p:nvPr/>
        </p:nvSpPr>
        <p:spPr>
          <a:xfrm>
            <a:off x="461772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Micron Clay NY</a:t>
            </a:r>
            <a:endParaRPr lang="en-US" sz="1000" dirty="0"/>
          </a:p>
        </p:txBody>
      </p:sp>
      <p:sp>
        <p:nvSpPr>
          <p:cNvPr id="24" name="Text 22"/>
          <p:cNvSpPr/>
          <p:nvPr/>
        </p:nvSpPr>
        <p:spPr>
          <a:xfrm>
            <a:off x="461772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Broke ground; online ~2028–2030</a:t>
            </a:r>
            <a:endParaRPr lang="en-US" sz="800" dirty="0"/>
          </a:p>
        </p:txBody>
      </p:sp>
      <p:sp>
        <p:nvSpPr>
          <p:cNvPr id="25" name="Shape 23"/>
          <p:cNvSpPr/>
          <p:nvPr/>
        </p:nvSpPr>
        <p:spPr>
          <a:xfrm>
            <a:off x="6606540" y="3383280"/>
            <a:ext cx="1943100" cy="502920"/>
          </a:xfrm>
          <a:prstGeom prst="rect">
            <a:avLst/>
          </a:prstGeom>
          <a:solidFill>
            <a:srgbClr val="F9F9F9"/>
          </a:solidFill>
          <a:ln w="6350">
            <a:solidFill>
              <a:srgbClr val="E5E5E5"/>
            </a:solidFill>
            <a:prstDash val="solid"/>
          </a:ln>
        </p:spPr>
      </p:sp>
      <p:sp>
        <p:nvSpPr>
          <p:cNvPr id="26" name="Text 24"/>
          <p:cNvSpPr/>
          <p:nvPr/>
        </p:nvSpPr>
        <p:spPr>
          <a:xfrm>
            <a:off x="6652260" y="3401568"/>
            <a:ext cx="182880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Intel Ohio</a:t>
            </a:r>
            <a:endParaRPr lang="en-US" sz="1000" dirty="0"/>
          </a:p>
        </p:txBody>
      </p:sp>
      <p:sp>
        <p:nvSpPr>
          <p:cNvPr id="27" name="Text 25"/>
          <p:cNvSpPr/>
          <p:nvPr/>
        </p:nvSpPr>
        <p:spPr>
          <a:xfrm>
            <a:off x="6652260" y="3611880"/>
            <a:ext cx="1828800" cy="274320"/>
          </a:xfrm>
          <a:prstGeom prst="rect">
            <a:avLst/>
          </a:prstGeom>
          <a:noFill/>
          <a:ln/>
        </p:spPr>
        <p:txBody>
          <a:bodyPr wrap="square" lIns="0" tIns="0" rIns="0" bIns="0" rtlCol="0" anchor="ctr"/>
          <a:lstStyle/>
          <a:p>
            <a:pPr indent="0" marL="0">
              <a:buNone/>
            </a:pPr>
            <a:r>
              <a:rPr lang="en-US" sz="800" dirty="0">
                <a:solidFill>
                  <a:srgbClr val="333333"/>
                </a:solidFill>
                <a:latin typeface="Arial" pitchFamily="34" charset="0"/>
                <a:ea typeface="Arial" pitchFamily="34" charset="-122"/>
                <a:cs typeface="Arial" pitchFamily="34" charset="-120"/>
              </a:rPr>
              <a:t>Two fabs under construction</a:t>
            </a:r>
            <a:endParaRPr lang="en-US" sz="800" dirty="0"/>
          </a:p>
        </p:txBody>
      </p:sp>
      <p:sp>
        <p:nvSpPr>
          <p:cNvPr id="28" name="Text 26"/>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TSMC, Samsung, Micron, Intel filings; US Commerce Dept CHIPS Program Office; SIA.</a:t>
            </a:r>
            <a:endParaRPr lang="en-US" sz="700" dirty="0"/>
          </a:p>
        </p:txBody>
      </p:sp>
      <p:sp>
        <p:nvSpPr>
          <p:cNvPr id="29" name="Shape 27"/>
          <p:cNvSpPr/>
          <p:nvPr/>
        </p:nvSpPr>
        <p:spPr>
          <a:xfrm>
            <a:off x="0" y="4526280"/>
            <a:ext cx="9144000" cy="617220"/>
          </a:xfrm>
          <a:prstGeom prst="rect">
            <a:avLst/>
          </a:prstGeom>
          <a:solidFill>
            <a:srgbClr val="333333"/>
          </a:solidFill>
          <a:ln w="12700">
            <a:solidFill>
              <a:srgbClr val="333333"/>
            </a:solidFill>
            <a:prstDash val="solid"/>
          </a:ln>
        </p:spPr>
      </p:sp>
      <p:sp>
        <p:nvSpPr>
          <p:cNvPr id="30" name="Text 2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Policy has cleaved the stack.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691640"/>
            <a:ext cx="2560320" cy="365760"/>
          </a:xfrm>
          <a:prstGeom prst="rect">
            <a:avLst/>
          </a:prstGeom>
          <a:solidFill>
            <a:srgbClr val="CC0000"/>
          </a:solidFill>
          <a:ln w="12700">
            <a:solidFill>
              <a:srgbClr val="CC0000"/>
            </a:solidFill>
            <a:prstDash val="solid"/>
          </a:ln>
        </p:spPr>
      </p:sp>
      <p:sp>
        <p:nvSpPr>
          <p:cNvPr id="7" name="Text 5"/>
          <p:cNvSpPr/>
          <p:nvPr/>
        </p:nvSpPr>
        <p:spPr>
          <a:xfrm>
            <a:off x="45720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EXPORT CONTROLS</a:t>
            </a:r>
            <a:endParaRPr lang="en-US" sz="1100" dirty="0"/>
          </a:p>
        </p:txBody>
      </p:sp>
      <p:sp>
        <p:nvSpPr>
          <p:cNvPr id="8" name="Shape 6"/>
          <p:cNvSpPr/>
          <p:nvPr/>
        </p:nvSpPr>
        <p:spPr>
          <a:xfrm>
            <a:off x="457200" y="2057400"/>
            <a:ext cx="2560320" cy="1874520"/>
          </a:xfrm>
          <a:prstGeom prst="rect">
            <a:avLst/>
          </a:prstGeom>
          <a:solidFill>
            <a:srgbClr val="F9F9F9"/>
          </a:solidFill>
          <a:ln w="6350">
            <a:solidFill>
              <a:srgbClr val="E5E5E5"/>
            </a:solidFill>
            <a:prstDash val="solid"/>
          </a:ln>
        </p:spPr>
      </p:sp>
      <p:sp>
        <p:nvSpPr>
          <p:cNvPr id="9" name="Text 7"/>
          <p:cNvSpPr/>
          <p:nvPr/>
        </p:nvSpPr>
        <p:spPr>
          <a:xfrm>
            <a:off x="457200" y="2121408"/>
            <a:ext cx="2560320" cy="411480"/>
          </a:xfrm>
          <a:prstGeom prst="rect">
            <a:avLst/>
          </a:prstGeom>
          <a:noFill/>
          <a:ln/>
        </p:spPr>
        <p:txBody>
          <a:bodyPr wrap="square" lIns="0" tIns="0" rIns="0" bIns="0" rtlCol="0" anchor="ctr"/>
          <a:lstStyle/>
          <a:p>
            <a:pPr algn="ctr" indent="0" marL="0">
              <a:buNone/>
            </a:pPr>
            <a:r>
              <a:rPr lang="en-US" sz="2200" b="1" dirty="0">
                <a:solidFill>
                  <a:srgbClr val="CC0000"/>
                </a:solidFill>
                <a:latin typeface="Arial Black" pitchFamily="34" charset="0"/>
                <a:ea typeface="Arial Black" pitchFamily="34" charset="-122"/>
                <a:cs typeface="Arial Black" pitchFamily="34" charset="-120"/>
              </a:rPr>
              <a:t>$5.5B</a:t>
            </a:r>
            <a:endParaRPr lang="en-US" sz="2200" dirty="0"/>
          </a:p>
        </p:txBody>
      </p:sp>
      <p:sp>
        <p:nvSpPr>
          <p:cNvPr id="10" name="Text 8"/>
          <p:cNvSpPr/>
          <p:nvPr/>
        </p:nvSpPr>
        <p:spPr>
          <a:xfrm>
            <a:off x="54864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NVIDIA H20 writedown</a:t>
            </a:r>
            <a:endParaRPr lang="en-US" sz="900" dirty="0"/>
          </a:p>
        </p:txBody>
      </p:sp>
      <p:sp>
        <p:nvSpPr>
          <p:cNvPr id="11" name="Shape 9"/>
          <p:cNvSpPr/>
          <p:nvPr/>
        </p:nvSpPr>
        <p:spPr>
          <a:xfrm>
            <a:off x="640080" y="2852928"/>
            <a:ext cx="2194560" cy="0"/>
          </a:xfrm>
          <a:prstGeom prst="line">
            <a:avLst/>
          </a:prstGeom>
          <a:noFill/>
          <a:ln w="6350">
            <a:solidFill>
              <a:srgbClr val="E5E5E5"/>
            </a:solidFill>
            <a:prstDash val="solid"/>
          </a:ln>
        </p:spPr>
      </p:sp>
      <p:sp>
        <p:nvSpPr>
          <p:cNvPr id="12" name="Text 10"/>
          <p:cNvSpPr/>
          <p:nvPr/>
        </p:nvSpPr>
        <p:spPr>
          <a:xfrm>
            <a:off x="59436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H100/H200/Blackwell banned from China.</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H20 reinstated with a 15% Treasury fee.</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ASML advanced DUV banned Sept 2024; China fell from 49% → ~20% of ASML sales.</a:t>
            </a:r>
            <a:endParaRPr lang="en-US" sz="900" dirty="0"/>
          </a:p>
        </p:txBody>
      </p:sp>
      <p:sp>
        <p:nvSpPr>
          <p:cNvPr id="13" name="Shape 11"/>
          <p:cNvSpPr/>
          <p:nvPr/>
        </p:nvSpPr>
        <p:spPr>
          <a:xfrm>
            <a:off x="3291840" y="1691640"/>
            <a:ext cx="2560320" cy="365760"/>
          </a:xfrm>
          <a:prstGeom prst="rect">
            <a:avLst/>
          </a:prstGeom>
          <a:solidFill>
            <a:srgbClr val="F6693D"/>
          </a:solidFill>
          <a:ln w="12700">
            <a:solidFill>
              <a:srgbClr val="F6693D"/>
            </a:solidFill>
            <a:prstDash val="solid"/>
          </a:ln>
        </p:spPr>
      </p:sp>
      <p:sp>
        <p:nvSpPr>
          <p:cNvPr id="14" name="Text 12"/>
          <p:cNvSpPr/>
          <p:nvPr/>
        </p:nvSpPr>
        <p:spPr>
          <a:xfrm>
            <a:off x="329184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AI REGULATION</a:t>
            </a:r>
            <a:endParaRPr lang="en-US" sz="1100" dirty="0"/>
          </a:p>
        </p:txBody>
      </p:sp>
      <p:sp>
        <p:nvSpPr>
          <p:cNvPr id="15" name="Shape 13"/>
          <p:cNvSpPr/>
          <p:nvPr/>
        </p:nvSpPr>
        <p:spPr>
          <a:xfrm>
            <a:off x="3291840" y="2057400"/>
            <a:ext cx="2560320" cy="1874520"/>
          </a:xfrm>
          <a:prstGeom prst="rect">
            <a:avLst/>
          </a:prstGeom>
          <a:solidFill>
            <a:srgbClr val="F9F9F9"/>
          </a:solidFill>
          <a:ln w="6350">
            <a:solidFill>
              <a:srgbClr val="E5E5E5"/>
            </a:solidFill>
            <a:prstDash val="solid"/>
          </a:ln>
        </p:spPr>
      </p:sp>
      <p:sp>
        <p:nvSpPr>
          <p:cNvPr id="16" name="Text 14"/>
          <p:cNvSpPr/>
          <p:nvPr/>
        </p:nvSpPr>
        <p:spPr>
          <a:xfrm>
            <a:off x="3291840" y="2121408"/>
            <a:ext cx="2560320" cy="411480"/>
          </a:xfrm>
          <a:prstGeom prst="rect">
            <a:avLst/>
          </a:prstGeom>
          <a:noFill/>
          <a:ln/>
        </p:spPr>
        <p:txBody>
          <a:bodyPr wrap="square" lIns="0" tIns="0" rIns="0" bIns="0" rtlCol="0" anchor="ctr"/>
          <a:lstStyle/>
          <a:p>
            <a:pPr algn="ctr" indent="0" marL="0">
              <a:buNone/>
            </a:pPr>
            <a:r>
              <a:rPr lang="en-US" sz="2200" b="1" dirty="0">
                <a:solidFill>
                  <a:srgbClr val="F6693D"/>
                </a:solidFill>
                <a:latin typeface="Arial Black" pitchFamily="34" charset="0"/>
                <a:ea typeface="Arial Black" pitchFamily="34" charset="-122"/>
                <a:cs typeface="Arial Black" pitchFamily="34" charset="-120"/>
              </a:rPr>
              <a:t>Aug 2026</a:t>
            </a:r>
            <a:endParaRPr lang="en-US" sz="2200" dirty="0"/>
          </a:p>
        </p:txBody>
      </p:sp>
      <p:sp>
        <p:nvSpPr>
          <p:cNvPr id="17" name="Text 15"/>
          <p:cNvSpPr/>
          <p:nvPr/>
        </p:nvSpPr>
        <p:spPr>
          <a:xfrm>
            <a:off x="338328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EU AI Act high-risk enforcement</a:t>
            </a:r>
            <a:endParaRPr lang="en-US" sz="900" dirty="0"/>
          </a:p>
        </p:txBody>
      </p:sp>
      <p:sp>
        <p:nvSpPr>
          <p:cNvPr id="18" name="Shape 16"/>
          <p:cNvSpPr/>
          <p:nvPr/>
        </p:nvSpPr>
        <p:spPr>
          <a:xfrm>
            <a:off x="3474720" y="2852928"/>
            <a:ext cx="2194560" cy="0"/>
          </a:xfrm>
          <a:prstGeom prst="line">
            <a:avLst/>
          </a:prstGeom>
          <a:noFill/>
          <a:ln w="6350">
            <a:solidFill>
              <a:srgbClr val="E5E5E5"/>
            </a:solidFill>
            <a:prstDash val="solid"/>
          </a:ln>
        </p:spPr>
      </p:sp>
      <p:sp>
        <p:nvSpPr>
          <p:cNvPr id="19" name="Text 17"/>
          <p:cNvSpPr/>
          <p:nvPr/>
        </p:nvSpPr>
        <p:spPr>
          <a:xfrm>
            <a:off x="342900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EU fines up to €35M or 7% of global revenue.</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Initial compliance: $8–15M per system.</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Only 36% of enterprises feel prepared. No US federal AI law.</a:t>
            </a:r>
            <a:endParaRPr lang="en-US" sz="900" dirty="0"/>
          </a:p>
        </p:txBody>
      </p:sp>
      <p:sp>
        <p:nvSpPr>
          <p:cNvPr id="20" name="Shape 18"/>
          <p:cNvSpPr/>
          <p:nvPr/>
        </p:nvSpPr>
        <p:spPr>
          <a:xfrm>
            <a:off x="6126480" y="1691640"/>
            <a:ext cx="2560320" cy="365760"/>
          </a:xfrm>
          <a:prstGeom prst="rect">
            <a:avLst/>
          </a:prstGeom>
          <a:solidFill>
            <a:srgbClr val="FFB800"/>
          </a:solidFill>
          <a:ln w="12700">
            <a:solidFill>
              <a:srgbClr val="FFB800"/>
            </a:solidFill>
            <a:prstDash val="solid"/>
          </a:ln>
        </p:spPr>
      </p:sp>
      <p:sp>
        <p:nvSpPr>
          <p:cNvPr id="21" name="Text 19"/>
          <p:cNvSpPr/>
          <p:nvPr/>
        </p:nvSpPr>
        <p:spPr>
          <a:xfrm>
            <a:off x="6126480" y="1691640"/>
            <a:ext cx="256032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TRADE &amp; RESHORING</a:t>
            </a:r>
            <a:endParaRPr lang="en-US" sz="1100" dirty="0"/>
          </a:p>
        </p:txBody>
      </p:sp>
      <p:sp>
        <p:nvSpPr>
          <p:cNvPr id="22" name="Shape 20"/>
          <p:cNvSpPr/>
          <p:nvPr/>
        </p:nvSpPr>
        <p:spPr>
          <a:xfrm>
            <a:off x="6126480" y="2057400"/>
            <a:ext cx="2560320" cy="1874520"/>
          </a:xfrm>
          <a:prstGeom prst="rect">
            <a:avLst/>
          </a:prstGeom>
          <a:solidFill>
            <a:srgbClr val="F9F9F9"/>
          </a:solidFill>
          <a:ln w="6350">
            <a:solidFill>
              <a:srgbClr val="E5E5E5"/>
            </a:solidFill>
            <a:prstDash val="solid"/>
          </a:ln>
        </p:spPr>
      </p:sp>
      <p:sp>
        <p:nvSpPr>
          <p:cNvPr id="23" name="Text 21"/>
          <p:cNvSpPr/>
          <p:nvPr/>
        </p:nvSpPr>
        <p:spPr>
          <a:xfrm>
            <a:off x="6126480" y="2121408"/>
            <a:ext cx="2560320" cy="411480"/>
          </a:xfrm>
          <a:prstGeom prst="rect">
            <a:avLst/>
          </a:prstGeom>
          <a:noFill/>
          <a:ln/>
        </p:spPr>
        <p:txBody>
          <a:bodyPr wrap="square" lIns="0" tIns="0" rIns="0" bIns="0" rtlCol="0" anchor="ctr"/>
          <a:lstStyle/>
          <a:p>
            <a:pPr algn="ctr" indent="0" marL="0">
              <a:buNone/>
            </a:pPr>
            <a:r>
              <a:rPr lang="en-US" sz="2200" b="1" dirty="0">
                <a:solidFill>
                  <a:srgbClr val="FFB800"/>
                </a:solidFill>
                <a:latin typeface="Arial Black" pitchFamily="34" charset="0"/>
                <a:ea typeface="Arial Black" pitchFamily="34" charset="-122"/>
                <a:cs typeface="Arial Black" pitchFamily="34" charset="-120"/>
              </a:rPr>
              <a:t>~20%</a:t>
            </a:r>
            <a:endParaRPr lang="en-US" sz="2200" dirty="0"/>
          </a:p>
        </p:txBody>
      </p:sp>
      <p:sp>
        <p:nvSpPr>
          <p:cNvPr id="24" name="Text 22"/>
          <p:cNvSpPr/>
          <p:nvPr/>
        </p:nvSpPr>
        <p:spPr>
          <a:xfrm>
            <a:off x="6217920" y="2542032"/>
            <a:ext cx="2377440" cy="274320"/>
          </a:xfrm>
          <a:prstGeom prst="rect">
            <a:avLst/>
          </a:prstGeom>
          <a:noFill/>
          <a:ln/>
        </p:spPr>
        <p:txBody>
          <a:bodyPr wrap="square" lIns="0" tIns="0" rIns="0" bIns="0" rtlCol="0" anchor="ctr"/>
          <a:lstStyle/>
          <a:p>
            <a:pPr algn="ctr" indent="0" marL="0">
              <a:buNone/>
            </a:pPr>
            <a:r>
              <a:rPr lang="en-US" sz="900" dirty="0">
                <a:solidFill>
                  <a:srgbClr val="666666"/>
                </a:solidFill>
                <a:latin typeface="Arial" pitchFamily="34" charset="0"/>
                <a:ea typeface="Arial" pitchFamily="34" charset="-122"/>
                <a:cs typeface="Arial" pitchFamily="34" charset="-120"/>
              </a:rPr>
              <a:t>SMIC 5nm yield vs &gt;70% threshold</a:t>
            </a:r>
            <a:endParaRPr lang="en-US" sz="900" dirty="0"/>
          </a:p>
        </p:txBody>
      </p:sp>
      <p:sp>
        <p:nvSpPr>
          <p:cNvPr id="25" name="Shape 23"/>
          <p:cNvSpPr/>
          <p:nvPr/>
        </p:nvSpPr>
        <p:spPr>
          <a:xfrm>
            <a:off x="6309360" y="2852928"/>
            <a:ext cx="2194560" cy="0"/>
          </a:xfrm>
          <a:prstGeom prst="line">
            <a:avLst/>
          </a:prstGeom>
          <a:noFill/>
          <a:ln w="6350">
            <a:solidFill>
              <a:srgbClr val="E5E5E5"/>
            </a:solidFill>
            <a:prstDash val="solid"/>
          </a:ln>
        </p:spPr>
      </p:sp>
      <p:sp>
        <p:nvSpPr>
          <p:cNvPr id="26" name="Text 24"/>
          <p:cNvSpPr/>
          <p:nvPr/>
        </p:nvSpPr>
        <p:spPr>
          <a:xfrm>
            <a:off x="6263640" y="2907792"/>
            <a:ext cx="2331720" cy="960120"/>
          </a:xfrm>
          <a:prstGeom prst="rect">
            <a:avLst/>
          </a:prstGeom>
          <a:noFill/>
          <a:ln/>
        </p:spPr>
        <p:txBody>
          <a:bodyPr wrap="square" rtlCol="0" anchor="t"/>
          <a:lstStyle/>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China controls ~90% of rare earth processing.</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Gallium/germanium controls since July 2023.</a:t>
            </a:r>
            <a:endParaRPr lang="en-US" sz="900" dirty="0"/>
          </a:p>
          <a:p>
            <a:pPr marL="342900" indent="-342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CHIPS Act: $52.7B authorized, ~$33.7B committed.</a:t>
            </a:r>
            <a:endParaRPr lang="en-US" sz="900" dirty="0"/>
          </a:p>
        </p:txBody>
      </p:sp>
      <p:sp>
        <p:nvSpPr>
          <p:cNvPr id="27" name="Text 25"/>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NVIDIA 10-Q; ASML filings; EU AI Act text; US Bureau of Industry and Security; Commerce Dept.</a:t>
            </a:r>
            <a:endParaRPr lang="en-US" sz="700" dirty="0"/>
          </a:p>
        </p:txBody>
      </p:sp>
      <p:sp>
        <p:nvSpPr>
          <p:cNvPr id="28" name="Shape 26"/>
          <p:cNvSpPr/>
          <p:nvPr/>
        </p:nvSpPr>
        <p:spPr>
          <a:xfrm>
            <a:off x="0" y="4526280"/>
            <a:ext cx="9144000" cy="617220"/>
          </a:xfrm>
          <a:prstGeom prst="rect">
            <a:avLst/>
          </a:prstGeom>
          <a:solidFill>
            <a:srgbClr val="333333"/>
          </a:solidFill>
          <a:ln w="12700">
            <a:solidFill>
              <a:srgbClr val="333333"/>
            </a:solidFill>
            <a:prstDash val="solid"/>
          </a:ln>
        </p:spPr>
      </p:sp>
      <p:sp>
        <p:nvSpPr>
          <p:cNvPr id="29" name="Text 2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0" name="Text 2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public is turning.</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Text 4"/>
          <p:cNvSpPr/>
          <p:nvPr/>
        </p:nvSpPr>
        <p:spPr>
          <a:xfrm>
            <a:off x="48006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$98B</a:t>
            </a:r>
            <a:endParaRPr lang="en-US" sz="4000" dirty="0"/>
          </a:p>
        </p:txBody>
      </p:sp>
      <p:sp>
        <p:nvSpPr>
          <p:cNvPr id="7" name="Text 5"/>
          <p:cNvSpPr/>
          <p:nvPr/>
        </p:nvSpPr>
        <p:spPr>
          <a:xfrm>
            <a:off x="48006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in data-center projects stalled</a:t>
            </a:r>
            <a:endParaRPr lang="en-US" sz="1100" dirty="0"/>
          </a:p>
        </p:txBody>
      </p:sp>
      <p:sp>
        <p:nvSpPr>
          <p:cNvPr id="8" name="Text 6"/>
          <p:cNvSpPr/>
          <p:nvPr/>
        </p:nvSpPr>
        <p:spPr>
          <a:xfrm>
            <a:off x="326898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26%</a:t>
            </a:r>
            <a:endParaRPr lang="en-US" sz="4000" dirty="0"/>
          </a:p>
        </p:txBody>
      </p:sp>
      <p:sp>
        <p:nvSpPr>
          <p:cNvPr id="9" name="Text 7"/>
          <p:cNvSpPr/>
          <p:nvPr/>
        </p:nvSpPr>
        <p:spPr>
          <a:xfrm>
            <a:off x="326898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Americans view AI positively</a:t>
            </a:r>
            <a:endParaRPr lang="en-US" sz="1100" dirty="0"/>
          </a:p>
        </p:txBody>
      </p:sp>
      <p:sp>
        <p:nvSpPr>
          <p:cNvPr id="10" name="Text 8"/>
          <p:cNvSpPr/>
          <p:nvPr/>
        </p:nvSpPr>
        <p:spPr>
          <a:xfrm>
            <a:off x="6057900" y="178308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439,000</a:t>
            </a:r>
            <a:endParaRPr lang="en-US" sz="4000" dirty="0"/>
          </a:p>
        </p:txBody>
      </p:sp>
      <p:sp>
        <p:nvSpPr>
          <p:cNvPr id="11" name="Text 9"/>
          <p:cNvSpPr/>
          <p:nvPr/>
        </p:nvSpPr>
        <p:spPr>
          <a:xfrm>
            <a:off x="6057900" y="251460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electrician shortage (US)</a:t>
            </a:r>
            <a:endParaRPr lang="en-US" sz="1100" dirty="0"/>
          </a:p>
        </p:txBody>
      </p:sp>
      <p:sp>
        <p:nvSpPr>
          <p:cNvPr id="12" name="Shape 10"/>
          <p:cNvSpPr/>
          <p:nvPr/>
        </p:nvSpPr>
        <p:spPr>
          <a:xfrm>
            <a:off x="457200" y="3108960"/>
            <a:ext cx="2697480" cy="228600"/>
          </a:xfrm>
          <a:prstGeom prst="rect">
            <a:avLst/>
          </a:prstGeom>
          <a:solidFill>
            <a:srgbClr val="CC0000"/>
          </a:solidFill>
          <a:ln w="12700">
            <a:solidFill>
              <a:srgbClr val="CC0000"/>
            </a:solidFill>
            <a:prstDash val="solid"/>
          </a:ln>
        </p:spPr>
      </p:sp>
      <p:sp>
        <p:nvSpPr>
          <p:cNvPr id="13" name="Text 11"/>
          <p:cNvSpPr/>
          <p:nvPr/>
        </p:nvSpPr>
        <p:spPr>
          <a:xfrm>
            <a:off x="45720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NIMBY REVOLT</a:t>
            </a:r>
            <a:endParaRPr lang="en-US" sz="900" dirty="0"/>
          </a:p>
        </p:txBody>
      </p:sp>
      <p:sp>
        <p:nvSpPr>
          <p:cNvPr id="14" name="Text 12"/>
          <p:cNvSpPr/>
          <p:nvPr/>
        </p:nvSpPr>
        <p:spPr>
          <a:xfrm>
            <a:off x="50292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142 activist groups across 24 states are blocking data-center builds. Data-center delays are "the defining theme of 2026."</a:t>
            </a:r>
            <a:endParaRPr lang="en-US" sz="850" dirty="0"/>
          </a:p>
        </p:txBody>
      </p:sp>
      <p:sp>
        <p:nvSpPr>
          <p:cNvPr id="15" name="Shape 13"/>
          <p:cNvSpPr/>
          <p:nvPr/>
        </p:nvSpPr>
        <p:spPr>
          <a:xfrm>
            <a:off x="3291840" y="3108960"/>
            <a:ext cx="2697480" cy="228600"/>
          </a:xfrm>
          <a:prstGeom prst="rect">
            <a:avLst/>
          </a:prstGeom>
          <a:solidFill>
            <a:srgbClr val="CC0000"/>
          </a:solidFill>
          <a:ln w="12700">
            <a:solidFill>
              <a:srgbClr val="CC0000"/>
            </a:solidFill>
            <a:prstDash val="solid"/>
          </a:ln>
        </p:spPr>
      </p:sp>
      <p:sp>
        <p:nvSpPr>
          <p:cNvPr id="16" name="Text 14"/>
          <p:cNvSpPr/>
          <p:nvPr/>
        </p:nvSpPr>
        <p:spPr>
          <a:xfrm>
            <a:off x="329184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ANTI-AI SENTIMENT</a:t>
            </a:r>
            <a:endParaRPr lang="en-US" sz="900" dirty="0"/>
          </a:p>
        </p:txBody>
      </p:sp>
      <p:sp>
        <p:nvSpPr>
          <p:cNvPr id="17" name="Text 15"/>
          <p:cNvSpPr/>
          <p:nvPr/>
        </p:nvSpPr>
        <p:spPr>
          <a:xfrm>
            <a:off x="333756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March 21, 2026: "Stop the AI Race" protests target Anthropic, OpenAI, and xAI HQs. Anthropic dropped its safety-pause commitment in Feb. 56% of Americans are anxious about AI.</a:t>
            </a:r>
            <a:endParaRPr lang="en-US" sz="850" dirty="0"/>
          </a:p>
        </p:txBody>
      </p:sp>
      <p:sp>
        <p:nvSpPr>
          <p:cNvPr id="18" name="Shape 16"/>
          <p:cNvSpPr/>
          <p:nvPr/>
        </p:nvSpPr>
        <p:spPr>
          <a:xfrm>
            <a:off x="6126480" y="3108960"/>
            <a:ext cx="2697480" cy="228600"/>
          </a:xfrm>
          <a:prstGeom prst="rect">
            <a:avLst/>
          </a:prstGeom>
          <a:solidFill>
            <a:srgbClr val="CC0000"/>
          </a:solidFill>
          <a:ln w="12700">
            <a:solidFill>
              <a:srgbClr val="CC0000"/>
            </a:solidFill>
            <a:prstDash val="solid"/>
          </a:ln>
        </p:spPr>
      </p:sp>
      <p:sp>
        <p:nvSpPr>
          <p:cNvPr id="19" name="Text 17"/>
          <p:cNvSpPr/>
          <p:nvPr/>
        </p:nvSpPr>
        <p:spPr>
          <a:xfrm>
            <a:off x="6126480" y="3108960"/>
            <a:ext cx="2697480" cy="228600"/>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LABOR SHORTAGE</a:t>
            </a:r>
            <a:endParaRPr lang="en-US" sz="900" dirty="0"/>
          </a:p>
        </p:txBody>
      </p:sp>
      <p:sp>
        <p:nvSpPr>
          <p:cNvPr id="20" name="Text 18"/>
          <p:cNvSpPr/>
          <p:nvPr/>
        </p:nvSpPr>
        <p:spPr>
          <a:xfrm>
            <a:off x="6172200" y="3383280"/>
            <a:ext cx="2606040" cy="640080"/>
          </a:xfrm>
          <a:prstGeom prst="rect">
            <a:avLst/>
          </a:prstGeom>
          <a:noFill/>
          <a:ln/>
        </p:spPr>
        <p:txBody>
          <a:bodyPr wrap="square" lIns="0" tIns="0" rIns="0" bIns="0" rtlCol="0" anchor="t"/>
          <a:lstStyle/>
          <a:p>
            <a:pPr indent="0" marL="0">
              <a:buNone/>
            </a:pPr>
            <a:r>
              <a:rPr lang="en-US" sz="850" dirty="0">
                <a:solidFill>
                  <a:srgbClr val="333333"/>
                </a:solidFill>
                <a:latin typeface="Arial" pitchFamily="34" charset="0"/>
                <a:ea typeface="Arial" pitchFamily="34" charset="-122"/>
                <a:cs typeface="Arial" pitchFamily="34" charset="-120"/>
              </a:rPr>
              <a:t>Electricians are 45–70% of data-center build cost — and critically scarce. 400+ data centers under construction; talent, not capital, is the binding constraint.</a:t>
            </a:r>
            <a:endParaRPr lang="en-US" sz="850" dirty="0"/>
          </a:p>
        </p:txBody>
      </p:sp>
      <p:sp>
        <p:nvSpPr>
          <p:cNvPr id="21" name="Text 19"/>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The Information, TIME, CNN, NBC News, Echelon Insights, Stop The AI Race, Fortune, Data Center Watch.</a:t>
            </a:r>
            <a:endParaRPr lang="en-US" sz="700" dirty="0"/>
          </a:p>
        </p:txBody>
      </p:sp>
      <p:sp>
        <p:nvSpPr>
          <p:cNvPr id="22" name="Shape 20"/>
          <p:cNvSpPr/>
          <p:nvPr/>
        </p:nvSpPr>
        <p:spPr>
          <a:xfrm>
            <a:off x="0" y="4526280"/>
            <a:ext cx="9144000" cy="617220"/>
          </a:xfrm>
          <a:prstGeom prst="rect">
            <a:avLst/>
          </a:prstGeom>
          <a:solidFill>
            <a:srgbClr val="333333"/>
          </a:solidFill>
          <a:ln w="12700">
            <a:solidFill>
              <a:srgbClr val="333333"/>
            </a:solidFill>
            <a:prstDash val="solid"/>
          </a:ln>
        </p:spPr>
      </p:sp>
      <p:sp>
        <p:nvSpPr>
          <p:cNvPr id="23" name="Text 21"/>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Computing beyond Earth.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grid queue. No permits. No water. 1,361 W/m² of unfiltered solar, 24/7. Orbital compute sidesteps Earth's bottlenecks.</a:t>
            </a:r>
            <a:endParaRPr lang="en-US" sz="1350" dirty="0"/>
          </a:p>
        </p:txBody>
      </p:sp>
      <p:sp>
        <p:nvSpPr>
          <p:cNvPr id="6" name="Shape 4"/>
          <p:cNvSpPr/>
          <p:nvPr/>
        </p:nvSpPr>
        <p:spPr>
          <a:xfrm>
            <a:off x="457200" y="1691640"/>
            <a:ext cx="2697480" cy="365760"/>
          </a:xfrm>
          <a:prstGeom prst="rect">
            <a:avLst/>
          </a:prstGeom>
          <a:solidFill>
            <a:srgbClr val="E8478D"/>
          </a:solidFill>
          <a:ln w="12700">
            <a:solidFill>
              <a:srgbClr val="E8478D"/>
            </a:solidFill>
            <a:prstDash val="solid"/>
          </a:ln>
        </p:spPr>
      </p:sp>
      <p:sp>
        <p:nvSpPr>
          <p:cNvPr id="7" name="Text 5"/>
          <p:cNvSpPr/>
          <p:nvPr/>
        </p:nvSpPr>
        <p:spPr>
          <a:xfrm>
            <a:off x="45720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8" name="Shape 6"/>
          <p:cNvSpPr/>
          <p:nvPr/>
        </p:nvSpPr>
        <p:spPr>
          <a:xfrm>
            <a:off x="457200" y="2057400"/>
            <a:ext cx="2697480" cy="1188720"/>
          </a:xfrm>
          <a:prstGeom prst="rect">
            <a:avLst/>
          </a:prstGeom>
          <a:solidFill>
            <a:srgbClr val="F9F9F9"/>
          </a:solidFill>
          <a:ln w="6350">
            <a:solidFill>
              <a:srgbClr val="E5E5E5"/>
            </a:solidFill>
            <a:prstDash val="solid"/>
          </a:ln>
        </p:spPr>
      </p:sp>
      <p:sp>
        <p:nvSpPr>
          <p:cNvPr id="9" name="Text 7"/>
          <p:cNvSpPr/>
          <p:nvPr/>
        </p:nvSpPr>
        <p:spPr>
          <a:xfrm>
            <a:off x="59436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50" dirty="0"/>
          </a:p>
        </p:txBody>
      </p:sp>
      <p:sp>
        <p:nvSpPr>
          <p:cNvPr id="10" name="Shape 8"/>
          <p:cNvSpPr/>
          <p:nvPr/>
        </p:nvSpPr>
        <p:spPr>
          <a:xfrm>
            <a:off x="3291840" y="1691640"/>
            <a:ext cx="2697480" cy="365760"/>
          </a:xfrm>
          <a:prstGeom prst="rect">
            <a:avLst/>
          </a:prstGeom>
          <a:solidFill>
            <a:srgbClr val="E8478D"/>
          </a:solidFill>
          <a:ln w="12700">
            <a:solidFill>
              <a:srgbClr val="E8478D"/>
            </a:solidFill>
            <a:prstDash val="solid"/>
          </a:ln>
        </p:spPr>
      </p:sp>
      <p:sp>
        <p:nvSpPr>
          <p:cNvPr id="11" name="Text 9"/>
          <p:cNvSpPr/>
          <p:nvPr/>
        </p:nvSpPr>
        <p:spPr>
          <a:xfrm>
            <a:off x="329184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2" name="Shape 10"/>
          <p:cNvSpPr/>
          <p:nvPr/>
        </p:nvSpPr>
        <p:spPr>
          <a:xfrm>
            <a:off x="3291840" y="2057400"/>
            <a:ext cx="2697480" cy="1188720"/>
          </a:xfrm>
          <a:prstGeom prst="rect">
            <a:avLst/>
          </a:prstGeom>
          <a:solidFill>
            <a:srgbClr val="F9F9F9"/>
          </a:solidFill>
          <a:ln w="6350">
            <a:solidFill>
              <a:srgbClr val="E5E5E5"/>
            </a:solidFill>
            <a:prstDash val="solid"/>
          </a:ln>
        </p:spPr>
      </p:sp>
      <p:sp>
        <p:nvSpPr>
          <p:cNvPr id="13" name="Text 11"/>
          <p:cNvSpPr/>
          <p:nvPr/>
        </p:nvSpPr>
        <p:spPr>
          <a:xfrm>
            <a:off x="342900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1,361 W/m² of unfiltered sunlight, 24/7, with no intermittency and no capacity-factor limits.</a:t>
            </a:r>
            <a:endParaRPr lang="en-US" sz="1050" dirty="0"/>
          </a:p>
        </p:txBody>
      </p:sp>
      <p:sp>
        <p:nvSpPr>
          <p:cNvPr id="14" name="Shape 12"/>
          <p:cNvSpPr/>
          <p:nvPr/>
        </p:nvSpPr>
        <p:spPr>
          <a:xfrm>
            <a:off x="6126480" y="1691640"/>
            <a:ext cx="2697480" cy="365760"/>
          </a:xfrm>
          <a:prstGeom prst="rect">
            <a:avLst/>
          </a:prstGeom>
          <a:solidFill>
            <a:srgbClr val="E8478D"/>
          </a:solidFill>
          <a:ln w="12700">
            <a:solidFill>
              <a:srgbClr val="E8478D"/>
            </a:solidFill>
            <a:prstDash val="solid"/>
          </a:ln>
        </p:spPr>
      </p:sp>
      <p:sp>
        <p:nvSpPr>
          <p:cNvPr id="15" name="Text 13"/>
          <p:cNvSpPr/>
          <p:nvPr/>
        </p:nvSpPr>
        <p:spPr>
          <a:xfrm>
            <a:off x="612648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6" name="Shape 14"/>
          <p:cNvSpPr/>
          <p:nvPr/>
        </p:nvSpPr>
        <p:spPr>
          <a:xfrm>
            <a:off x="6126480" y="2057400"/>
            <a:ext cx="2697480" cy="1188720"/>
          </a:xfrm>
          <a:prstGeom prst="rect">
            <a:avLst/>
          </a:prstGeom>
          <a:solidFill>
            <a:srgbClr val="F9F9F9"/>
          </a:solidFill>
          <a:ln w="6350">
            <a:solidFill>
              <a:srgbClr val="E5E5E5"/>
            </a:solidFill>
            <a:prstDash val="solid"/>
          </a:ln>
        </p:spPr>
      </p:sp>
      <p:sp>
        <p:nvSpPr>
          <p:cNvPr id="17" name="Text 15"/>
          <p:cNvSpPr/>
          <p:nvPr/>
        </p:nvSpPr>
        <p:spPr>
          <a:xfrm>
            <a:off x="626364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Sidesteps data-localization laws, export controls, and the jurisdictional patchwork that slows terrestrial deployment.</a:t>
            </a:r>
            <a:endParaRPr lang="en-US" sz="1050" dirty="0"/>
          </a:p>
        </p:txBody>
      </p:sp>
      <p:sp>
        <p:nvSpPr>
          <p:cNvPr id="18" name="Shape 16"/>
          <p:cNvSpPr/>
          <p:nvPr/>
        </p:nvSpPr>
        <p:spPr>
          <a:xfrm>
            <a:off x="457200" y="3429000"/>
            <a:ext cx="8229600" cy="502920"/>
          </a:xfrm>
          <a:prstGeom prst="rect">
            <a:avLst/>
          </a:prstGeom>
          <a:solidFill>
            <a:srgbClr val="333333"/>
          </a:solidFill>
          <a:ln w="12700">
            <a:solidFill>
              <a:srgbClr val="333333"/>
            </a:solidFill>
            <a:prstDash val="solid"/>
          </a:ln>
        </p:spPr>
      </p:sp>
      <p:sp>
        <p:nvSpPr>
          <p:cNvPr id="19" name="Text 17"/>
          <p:cNvSpPr/>
          <p:nvPr/>
        </p:nvSpPr>
        <p:spPr>
          <a:xfrm>
            <a:off x="640080" y="3429000"/>
            <a:ext cx="7863840" cy="50292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Starcloud · SpaceX · Google Suncatcher · Aetherflux</a:t>
            </a:r>
            <a:endParaRPr lang="en-US" sz="1000" dirty="0"/>
          </a:p>
        </p:txBody>
      </p:sp>
      <p:sp>
        <p:nvSpPr>
          <p:cNvPr id="20" name="Text 1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FCC filings; Starcloud, Google, SpaceX announcements; CNBC.</a:t>
            </a:r>
            <a:endParaRPr lang="en-US" sz="700" dirty="0"/>
          </a:p>
        </p:txBody>
      </p:sp>
      <p:sp>
        <p:nvSpPr>
          <p:cNvPr id="21" name="Shape 19"/>
          <p:cNvSpPr/>
          <p:nvPr/>
        </p:nvSpPr>
        <p:spPr>
          <a:xfrm>
            <a:off x="0" y="4526280"/>
            <a:ext cx="9144000" cy="617220"/>
          </a:xfrm>
          <a:prstGeom prst="rect">
            <a:avLst/>
          </a:prstGeom>
          <a:solidFill>
            <a:srgbClr val="333333"/>
          </a:solidFill>
          <a:ln w="12700">
            <a:solidFill>
              <a:srgbClr val="333333"/>
            </a:solidFill>
            <a:prstDash val="solid"/>
          </a:ln>
        </p:spPr>
      </p:sp>
      <p:sp>
        <p:nvSpPr>
          <p:cNvPr id="22" name="Text 2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gets a body.</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691640"/>
            <a:ext cx="2697480" cy="365760"/>
          </a:xfrm>
          <a:prstGeom prst="rect">
            <a:avLst/>
          </a:prstGeom>
          <a:solidFill>
            <a:srgbClr val="E8478D"/>
          </a:solidFill>
          <a:ln w="12700">
            <a:solidFill>
              <a:srgbClr val="E8478D"/>
            </a:solidFill>
            <a:prstDash val="solid"/>
          </a:ln>
        </p:spPr>
      </p:sp>
      <p:sp>
        <p:nvSpPr>
          <p:cNvPr id="7" name="Text 5"/>
          <p:cNvSpPr/>
          <p:nvPr/>
        </p:nvSpPr>
        <p:spPr>
          <a:xfrm>
            <a:off x="45720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8" name="Shape 6"/>
          <p:cNvSpPr/>
          <p:nvPr/>
        </p:nvSpPr>
        <p:spPr>
          <a:xfrm>
            <a:off x="457200" y="2057400"/>
            <a:ext cx="2697480" cy="1188720"/>
          </a:xfrm>
          <a:prstGeom prst="rect">
            <a:avLst/>
          </a:prstGeom>
          <a:solidFill>
            <a:srgbClr val="F9F9F9"/>
          </a:solidFill>
          <a:ln w="6350">
            <a:solidFill>
              <a:srgbClr val="E5E5E5"/>
            </a:solidFill>
            <a:prstDash val="solid"/>
          </a:ln>
        </p:spPr>
      </p:sp>
      <p:sp>
        <p:nvSpPr>
          <p:cNvPr id="9" name="Text 7"/>
          <p:cNvSpPr/>
          <p:nvPr/>
        </p:nvSpPr>
        <p:spPr>
          <a:xfrm>
            <a:off x="59436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Manufacturing, logistics, warehousing, agriculture, healthcare — anywhere repetitive or dangerous labor exists, pilots are underway.</a:t>
            </a:r>
            <a:endParaRPr lang="en-US" sz="1050" dirty="0"/>
          </a:p>
        </p:txBody>
      </p:sp>
      <p:sp>
        <p:nvSpPr>
          <p:cNvPr id="10" name="Shape 8"/>
          <p:cNvSpPr/>
          <p:nvPr/>
        </p:nvSpPr>
        <p:spPr>
          <a:xfrm>
            <a:off x="3291840" y="1691640"/>
            <a:ext cx="2697480" cy="365760"/>
          </a:xfrm>
          <a:prstGeom prst="rect">
            <a:avLst/>
          </a:prstGeom>
          <a:solidFill>
            <a:srgbClr val="E8478D"/>
          </a:solidFill>
          <a:ln w="12700">
            <a:solidFill>
              <a:srgbClr val="E8478D"/>
            </a:solidFill>
            <a:prstDash val="solid"/>
          </a:ln>
        </p:spPr>
      </p:sp>
      <p:sp>
        <p:nvSpPr>
          <p:cNvPr id="11" name="Text 9"/>
          <p:cNvSpPr/>
          <p:nvPr/>
        </p:nvSpPr>
        <p:spPr>
          <a:xfrm>
            <a:off x="329184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2" name="Shape 10"/>
          <p:cNvSpPr/>
          <p:nvPr/>
        </p:nvSpPr>
        <p:spPr>
          <a:xfrm>
            <a:off x="3291840" y="2057400"/>
            <a:ext cx="2697480" cy="1188720"/>
          </a:xfrm>
          <a:prstGeom prst="rect">
            <a:avLst/>
          </a:prstGeom>
          <a:solidFill>
            <a:srgbClr val="F9F9F9"/>
          </a:solidFill>
          <a:ln w="6350">
            <a:solidFill>
              <a:srgbClr val="E5E5E5"/>
            </a:solidFill>
            <a:prstDash val="solid"/>
          </a:ln>
        </p:spPr>
      </p:sp>
      <p:sp>
        <p:nvSpPr>
          <p:cNvPr id="13" name="Text 11"/>
          <p:cNvSpPr/>
          <p:nvPr/>
        </p:nvSpPr>
        <p:spPr>
          <a:xfrm>
            <a:off x="342900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Humanoids handle hazardous and ergonomically punishing tasks. Humans keep judgment, creativity, and coordination.</a:t>
            </a:r>
            <a:endParaRPr lang="en-US" sz="1050" dirty="0"/>
          </a:p>
        </p:txBody>
      </p:sp>
      <p:sp>
        <p:nvSpPr>
          <p:cNvPr id="14" name="Shape 12"/>
          <p:cNvSpPr/>
          <p:nvPr/>
        </p:nvSpPr>
        <p:spPr>
          <a:xfrm>
            <a:off x="6126480" y="1691640"/>
            <a:ext cx="2697480" cy="365760"/>
          </a:xfrm>
          <a:prstGeom prst="rect">
            <a:avLst/>
          </a:prstGeom>
          <a:solidFill>
            <a:srgbClr val="E8478D"/>
          </a:solidFill>
          <a:ln w="12700">
            <a:solidFill>
              <a:srgbClr val="E8478D"/>
            </a:solidFill>
            <a:prstDash val="solid"/>
          </a:ln>
        </p:spPr>
      </p:sp>
      <p:sp>
        <p:nvSpPr>
          <p:cNvPr id="15" name="Text 13"/>
          <p:cNvSpPr/>
          <p:nvPr/>
        </p:nvSpPr>
        <p:spPr>
          <a:xfrm>
            <a:off x="612648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6" name="Shape 14"/>
          <p:cNvSpPr/>
          <p:nvPr/>
        </p:nvSpPr>
        <p:spPr>
          <a:xfrm>
            <a:off x="6126480" y="2057400"/>
            <a:ext cx="2697480" cy="1188720"/>
          </a:xfrm>
          <a:prstGeom prst="rect">
            <a:avLst/>
          </a:prstGeom>
          <a:solidFill>
            <a:srgbClr val="F9F9F9"/>
          </a:solidFill>
          <a:ln w="6350">
            <a:solidFill>
              <a:srgbClr val="E5E5E5"/>
            </a:solidFill>
            <a:prstDash val="solid"/>
          </a:ln>
        </p:spPr>
      </p:sp>
      <p:sp>
        <p:nvSpPr>
          <p:cNvPr id="17" name="Text 15"/>
          <p:cNvSpPr/>
          <p:nvPr/>
        </p:nvSpPr>
        <p:spPr>
          <a:xfrm>
            <a:off x="626364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Every humanoid runs foundation models for perception, planning, and manipulation in real time. At scale, rivals LLM compute.</a:t>
            </a:r>
            <a:endParaRPr lang="en-US" sz="1050" dirty="0"/>
          </a:p>
        </p:txBody>
      </p:sp>
      <p:sp>
        <p:nvSpPr>
          <p:cNvPr id="18" name="Shape 16"/>
          <p:cNvSpPr/>
          <p:nvPr/>
        </p:nvSpPr>
        <p:spPr>
          <a:xfrm>
            <a:off x="457200" y="3429000"/>
            <a:ext cx="8229600" cy="502920"/>
          </a:xfrm>
          <a:prstGeom prst="rect">
            <a:avLst/>
          </a:prstGeom>
          <a:solidFill>
            <a:srgbClr val="333333"/>
          </a:solidFill>
          <a:ln w="12700">
            <a:solidFill>
              <a:srgbClr val="333333"/>
            </a:solidFill>
            <a:prstDash val="solid"/>
          </a:ln>
        </p:spPr>
      </p:sp>
      <p:sp>
        <p:nvSpPr>
          <p:cNvPr id="19" name="Text 17"/>
          <p:cNvSpPr/>
          <p:nvPr/>
        </p:nvSpPr>
        <p:spPr>
          <a:xfrm>
            <a:off x="640080" y="3429000"/>
            <a:ext cx="7863840" cy="50292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Tesla Optimus · Figure · Boston Dynamics · Unitree · Agility</a:t>
            </a:r>
            <a:endParaRPr lang="en-US" sz="1000" dirty="0"/>
          </a:p>
        </p:txBody>
      </p:sp>
      <p:sp>
        <p:nvSpPr>
          <p:cNvPr id="20" name="Text 1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Goldman Sachs; Figure AI, Tesla, Hyundai, NVIDIA; company announcements.</a:t>
            </a:r>
            <a:endParaRPr lang="en-US" sz="700" dirty="0"/>
          </a:p>
        </p:txBody>
      </p:sp>
      <p:sp>
        <p:nvSpPr>
          <p:cNvPr id="21" name="Shape 19"/>
          <p:cNvSpPr/>
          <p:nvPr/>
        </p:nvSpPr>
        <p:spPr>
          <a:xfrm>
            <a:off x="0" y="4526280"/>
            <a:ext cx="9144000" cy="617220"/>
          </a:xfrm>
          <a:prstGeom prst="rect">
            <a:avLst/>
          </a:prstGeom>
          <a:solidFill>
            <a:srgbClr val="333333"/>
          </a:solidFill>
          <a:ln w="12700">
            <a:solidFill>
              <a:srgbClr val="333333"/>
            </a:solidFill>
            <a:prstDash val="solid"/>
          </a:ln>
        </p:spPr>
      </p:sp>
      <p:sp>
        <p:nvSpPr>
          <p:cNvPr id="22" name="Text 2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Autonomy is a flywheel.</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691640"/>
            <a:ext cx="2697480" cy="365760"/>
          </a:xfrm>
          <a:prstGeom prst="rect">
            <a:avLst/>
          </a:prstGeom>
          <a:solidFill>
            <a:srgbClr val="E8478D"/>
          </a:solidFill>
          <a:ln w="12700">
            <a:solidFill>
              <a:srgbClr val="E8478D"/>
            </a:solidFill>
            <a:prstDash val="solid"/>
          </a:ln>
        </p:spPr>
      </p:sp>
      <p:sp>
        <p:nvSpPr>
          <p:cNvPr id="7" name="Text 5"/>
          <p:cNvSpPr/>
          <p:nvPr/>
        </p:nvSpPr>
        <p:spPr>
          <a:xfrm>
            <a:off x="45720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8" name="Shape 6"/>
          <p:cNvSpPr/>
          <p:nvPr/>
        </p:nvSpPr>
        <p:spPr>
          <a:xfrm>
            <a:off x="457200" y="2057400"/>
            <a:ext cx="2697480" cy="1188720"/>
          </a:xfrm>
          <a:prstGeom prst="rect">
            <a:avLst/>
          </a:prstGeom>
          <a:solidFill>
            <a:srgbClr val="F9F9F9"/>
          </a:solidFill>
          <a:ln w="6350">
            <a:solidFill>
              <a:srgbClr val="E5E5E5"/>
            </a:solidFill>
            <a:prstDash val="solid"/>
          </a:ln>
        </p:spPr>
      </p:sp>
      <p:sp>
        <p:nvSpPr>
          <p:cNvPr id="9" name="Text 7"/>
          <p:cNvSpPr/>
          <p:nvPr/>
        </p:nvSpPr>
        <p:spPr>
          <a:xfrm>
            <a:off x="59436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per year globally. Autonomous systems don't tire or lose focus — and regulators are beginning to recognize the math.</a:t>
            </a:r>
            <a:endParaRPr lang="en-US" sz="1050" dirty="0"/>
          </a:p>
        </p:txBody>
      </p:sp>
      <p:sp>
        <p:nvSpPr>
          <p:cNvPr id="10" name="Shape 8"/>
          <p:cNvSpPr/>
          <p:nvPr/>
        </p:nvSpPr>
        <p:spPr>
          <a:xfrm>
            <a:off x="3291840" y="1691640"/>
            <a:ext cx="2697480" cy="365760"/>
          </a:xfrm>
          <a:prstGeom prst="rect">
            <a:avLst/>
          </a:prstGeom>
          <a:solidFill>
            <a:srgbClr val="E8478D"/>
          </a:solidFill>
          <a:ln w="12700">
            <a:solidFill>
              <a:srgbClr val="E8478D"/>
            </a:solidFill>
            <a:prstDash val="solid"/>
          </a:ln>
        </p:spPr>
      </p:sp>
      <p:sp>
        <p:nvSpPr>
          <p:cNvPr id="11" name="Text 9"/>
          <p:cNvSpPr/>
          <p:nvPr/>
        </p:nvSpPr>
        <p:spPr>
          <a:xfrm>
            <a:off x="329184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2" name="Shape 10"/>
          <p:cNvSpPr/>
          <p:nvPr/>
        </p:nvSpPr>
        <p:spPr>
          <a:xfrm>
            <a:off x="3291840" y="2057400"/>
            <a:ext cx="2697480" cy="1188720"/>
          </a:xfrm>
          <a:prstGeom prst="rect">
            <a:avLst/>
          </a:prstGeom>
          <a:solidFill>
            <a:srgbClr val="F9F9F9"/>
          </a:solidFill>
          <a:ln w="6350">
            <a:solidFill>
              <a:srgbClr val="E5E5E5"/>
            </a:solidFill>
            <a:prstDash val="solid"/>
          </a:ln>
        </p:spPr>
      </p:sp>
      <p:sp>
        <p:nvSpPr>
          <p:cNvPr id="13" name="Text 11"/>
          <p:cNvSpPr/>
          <p:nvPr/>
        </p:nvSpPr>
        <p:spPr>
          <a:xfrm>
            <a:off x="342900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More cities generate more miles. The flywheel self-reinforces.</a:t>
            </a:r>
            <a:endParaRPr lang="en-US" sz="1050" dirty="0"/>
          </a:p>
        </p:txBody>
      </p:sp>
      <p:sp>
        <p:nvSpPr>
          <p:cNvPr id="14" name="Shape 12"/>
          <p:cNvSpPr/>
          <p:nvPr/>
        </p:nvSpPr>
        <p:spPr>
          <a:xfrm>
            <a:off x="6126480" y="1691640"/>
            <a:ext cx="2697480" cy="365760"/>
          </a:xfrm>
          <a:prstGeom prst="rect">
            <a:avLst/>
          </a:prstGeom>
          <a:solidFill>
            <a:srgbClr val="E8478D"/>
          </a:solidFill>
          <a:ln w="12700">
            <a:solidFill>
              <a:srgbClr val="E8478D"/>
            </a:solidFill>
            <a:prstDash val="solid"/>
          </a:ln>
        </p:spPr>
      </p:sp>
      <p:sp>
        <p:nvSpPr>
          <p:cNvPr id="15" name="Text 13"/>
          <p:cNvSpPr/>
          <p:nvPr/>
        </p:nvSpPr>
        <p:spPr>
          <a:xfrm>
            <a:off x="6126480" y="169164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6" name="Shape 14"/>
          <p:cNvSpPr/>
          <p:nvPr/>
        </p:nvSpPr>
        <p:spPr>
          <a:xfrm>
            <a:off x="6126480" y="2057400"/>
            <a:ext cx="2697480" cy="1188720"/>
          </a:xfrm>
          <a:prstGeom prst="rect">
            <a:avLst/>
          </a:prstGeom>
          <a:solidFill>
            <a:srgbClr val="F9F9F9"/>
          </a:solidFill>
          <a:ln w="6350">
            <a:solidFill>
              <a:srgbClr val="E5E5E5"/>
            </a:solidFill>
            <a:prstDash val="solid"/>
          </a:ln>
        </p:spPr>
      </p:sp>
      <p:sp>
        <p:nvSpPr>
          <p:cNvPr id="17" name="Text 15"/>
          <p:cNvSpPr/>
          <p:nvPr/>
        </p:nvSpPr>
        <p:spPr>
          <a:xfrm>
            <a:off x="6263640" y="2148840"/>
            <a:ext cx="24231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per second across cameras, lidar, and radar — 24/7, at the edge, consuming frontier-scale compute.</a:t>
            </a:r>
            <a:endParaRPr lang="en-US" sz="1050" dirty="0"/>
          </a:p>
        </p:txBody>
      </p:sp>
      <p:sp>
        <p:nvSpPr>
          <p:cNvPr id="18" name="Shape 16"/>
          <p:cNvSpPr/>
          <p:nvPr/>
        </p:nvSpPr>
        <p:spPr>
          <a:xfrm>
            <a:off x="457200" y="3429000"/>
            <a:ext cx="8229600" cy="502920"/>
          </a:xfrm>
          <a:prstGeom prst="rect">
            <a:avLst/>
          </a:prstGeom>
          <a:solidFill>
            <a:srgbClr val="333333"/>
          </a:solidFill>
          <a:ln w="12700">
            <a:solidFill>
              <a:srgbClr val="333333"/>
            </a:solidFill>
            <a:prstDash val="solid"/>
          </a:ln>
        </p:spPr>
      </p:sp>
      <p:sp>
        <p:nvSpPr>
          <p:cNvPr id="19" name="Text 17"/>
          <p:cNvSpPr/>
          <p:nvPr/>
        </p:nvSpPr>
        <p:spPr>
          <a:xfrm>
            <a:off x="640080" y="3429000"/>
            <a:ext cx="7863840" cy="502920"/>
          </a:xfrm>
          <a:prstGeom prst="rect">
            <a:avLst/>
          </a:prstGeom>
          <a:noFill/>
          <a:ln/>
        </p:spPr>
        <p:txBody>
          <a:bodyPr wrap="square" lIns="0" tIns="0" rIns="0" bIns="0" rtlCol="0" anchor="ctr"/>
          <a:lstStyle/>
          <a:p>
            <a:pPr indent="0" marL="0">
              <a:buNone/>
            </a:pPr>
            <a:r>
              <a:rPr lang="en-US" sz="1000" b="1" spc="300" kern="0" dirty="0">
                <a:solidFill>
                  <a:srgbClr val="E8478D"/>
                </a:solidFill>
                <a:latin typeface="Arial" pitchFamily="34" charset="0"/>
                <a:ea typeface="Arial" pitchFamily="34" charset="-122"/>
                <a:cs typeface="Arial" pitchFamily="34" charset="-120"/>
              </a:rPr>
              <a:t>PLAYERS   </a:t>
            </a:r>
            <a:pPr indent="0" marL="0">
              <a:buNone/>
            </a:pPr>
            <a:r>
              <a:rPr lang="en-US" sz="1200" b="1" dirty="0">
                <a:solidFill>
                  <a:srgbClr val="FFFFFF"/>
                </a:solidFill>
                <a:latin typeface="Arial" pitchFamily="34" charset="0"/>
                <a:ea typeface="Arial" pitchFamily="34" charset="-122"/>
                <a:cs typeface="Arial" pitchFamily="34" charset="-120"/>
              </a:rPr>
              <a:t>Waymo · Tesla FSD · Baidu Apollo · Aurora</a:t>
            </a:r>
            <a:endParaRPr lang="en-US" sz="1000" dirty="0"/>
          </a:p>
        </p:txBody>
      </p:sp>
      <p:sp>
        <p:nvSpPr>
          <p:cNvPr id="20" name="Text 1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Waymo, Tesla, Baidu, Aurora; WHO Global Road Safety; NVIDIA FY2026.</a:t>
            </a:r>
            <a:endParaRPr lang="en-US" sz="700" dirty="0"/>
          </a:p>
        </p:txBody>
      </p:sp>
      <p:sp>
        <p:nvSpPr>
          <p:cNvPr id="21" name="Shape 19"/>
          <p:cNvSpPr/>
          <p:nvPr/>
        </p:nvSpPr>
        <p:spPr>
          <a:xfrm>
            <a:off x="0" y="4526280"/>
            <a:ext cx="9144000" cy="617220"/>
          </a:xfrm>
          <a:prstGeom prst="rect">
            <a:avLst/>
          </a:prstGeom>
          <a:solidFill>
            <a:srgbClr val="333333"/>
          </a:solidFill>
          <a:ln w="12700">
            <a:solidFill>
              <a:srgbClr val="333333"/>
            </a:solidFill>
            <a:prstDash val="solid"/>
          </a:ln>
        </p:spPr>
      </p:sp>
      <p:sp>
        <p:nvSpPr>
          <p:cNvPr id="22" name="Text 2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takeaways.</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thesis, distilled. Each with the number that makes it investable.</a:t>
            </a:r>
            <a:endParaRPr lang="en-US" sz="1350" dirty="0"/>
          </a:p>
        </p:txBody>
      </p:sp>
      <p:sp>
        <p:nvSpPr>
          <p:cNvPr id="4" name="Shape 2"/>
          <p:cNvSpPr/>
          <p:nvPr/>
        </p:nvSpPr>
        <p:spPr>
          <a:xfrm>
            <a:off x="457200" y="1600200"/>
            <a:ext cx="548640" cy="493776"/>
          </a:xfrm>
          <a:prstGeom prst="rect">
            <a:avLst/>
          </a:prstGeom>
          <a:solidFill>
            <a:srgbClr val="008B8B"/>
          </a:solidFill>
          <a:ln w="12700">
            <a:solidFill>
              <a:srgbClr val="008B8B"/>
            </a:solidFill>
            <a:prstDash val="solid"/>
          </a:ln>
        </p:spPr>
      </p:sp>
      <p:sp>
        <p:nvSpPr>
          <p:cNvPr id="5" name="Text 3"/>
          <p:cNvSpPr/>
          <p:nvPr/>
        </p:nvSpPr>
        <p:spPr>
          <a:xfrm>
            <a:off x="457200" y="1600200"/>
            <a:ext cx="548640"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01</a:t>
            </a:r>
            <a:endParaRPr lang="en-US" sz="1800" dirty="0"/>
          </a:p>
        </p:txBody>
      </p:sp>
      <p:sp>
        <p:nvSpPr>
          <p:cNvPr id="6" name="Text 4"/>
          <p:cNvSpPr/>
          <p:nvPr/>
        </p:nvSpPr>
        <p:spPr>
          <a:xfrm>
            <a:off x="1097280" y="1600200"/>
            <a:ext cx="7589520" cy="219456"/>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largest capex cycle in history — financed differently than you think.</a:t>
            </a:r>
            <a:endParaRPr lang="en-US" sz="1200" dirty="0"/>
          </a:p>
        </p:txBody>
      </p:sp>
      <p:sp>
        <p:nvSpPr>
          <p:cNvPr id="7" name="Text 5"/>
          <p:cNvSpPr/>
          <p:nvPr/>
        </p:nvSpPr>
        <p:spPr>
          <a:xfrm>
            <a:off x="1097280" y="1819656"/>
            <a:ext cx="7589520" cy="2743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$685B hyperscaler capex in 2026. Morgan Stanley projects $400B+ in borrowing — 2× 2025. Companies spending ~90% of operating cash flow on capex, up from ~65%. This is no longer a cash-flow story — it's a credit story.</a:t>
            </a:r>
            <a:endParaRPr lang="en-US" sz="950" dirty="0"/>
          </a:p>
        </p:txBody>
      </p:sp>
      <p:sp>
        <p:nvSpPr>
          <p:cNvPr id="8" name="Shape 6"/>
          <p:cNvSpPr/>
          <p:nvPr/>
        </p:nvSpPr>
        <p:spPr>
          <a:xfrm>
            <a:off x="457200" y="2167128"/>
            <a:ext cx="548640" cy="493776"/>
          </a:xfrm>
          <a:prstGeom prst="rect">
            <a:avLst/>
          </a:prstGeom>
          <a:solidFill>
            <a:srgbClr val="FFB800"/>
          </a:solidFill>
          <a:ln w="12700">
            <a:solidFill>
              <a:srgbClr val="FFB800"/>
            </a:solidFill>
            <a:prstDash val="solid"/>
          </a:ln>
        </p:spPr>
      </p:sp>
      <p:sp>
        <p:nvSpPr>
          <p:cNvPr id="9" name="Text 7"/>
          <p:cNvSpPr/>
          <p:nvPr/>
        </p:nvSpPr>
        <p:spPr>
          <a:xfrm>
            <a:off x="457200" y="2167128"/>
            <a:ext cx="548640"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02</a:t>
            </a:r>
            <a:endParaRPr lang="en-US" sz="1800" dirty="0"/>
          </a:p>
        </p:txBody>
      </p:sp>
      <p:sp>
        <p:nvSpPr>
          <p:cNvPr id="10" name="Text 8"/>
          <p:cNvSpPr/>
          <p:nvPr/>
        </p:nvSpPr>
        <p:spPr>
          <a:xfrm>
            <a:off x="1097280" y="2167128"/>
            <a:ext cx="7589520" cy="219456"/>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market is picking winners — the basket trade is over.</a:t>
            </a:r>
            <a:endParaRPr lang="en-US" sz="1200" dirty="0"/>
          </a:p>
        </p:txBody>
      </p:sp>
      <p:sp>
        <p:nvSpPr>
          <p:cNvPr id="11" name="Text 9"/>
          <p:cNvSpPr/>
          <p:nvPr/>
        </p:nvSpPr>
        <p:spPr>
          <a:xfrm>
            <a:off x="1097280" y="2386584"/>
            <a:ext cx="7589520" cy="2743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stock correlation collapsed from ~80% to ~20%. Semis (SOXX) +15% YTD, software (IGV) –24% YTD. Memory oligopolies with pricing power outperform cloud providers burning cash.</a:t>
            </a:r>
            <a:endParaRPr lang="en-US" sz="950" dirty="0"/>
          </a:p>
        </p:txBody>
      </p:sp>
      <p:sp>
        <p:nvSpPr>
          <p:cNvPr id="12" name="Shape 10"/>
          <p:cNvSpPr/>
          <p:nvPr/>
        </p:nvSpPr>
        <p:spPr>
          <a:xfrm>
            <a:off x="457200" y="2734056"/>
            <a:ext cx="548640" cy="493776"/>
          </a:xfrm>
          <a:prstGeom prst="rect">
            <a:avLst/>
          </a:prstGeom>
          <a:solidFill>
            <a:srgbClr val="CC0000"/>
          </a:solidFill>
          <a:ln w="12700">
            <a:solidFill>
              <a:srgbClr val="CC0000"/>
            </a:solidFill>
            <a:prstDash val="solid"/>
          </a:ln>
        </p:spPr>
      </p:sp>
      <p:sp>
        <p:nvSpPr>
          <p:cNvPr id="13" name="Text 11"/>
          <p:cNvSpPr/>
          <p:nvPr/>
        </p:nvSpPr>
        <p:spPr>
          <a:xfrm>
            <a:off x="457200" y="2734056"/>
            <a:ext cx="548640"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03</a:t>
            </a:r>
            <a:endParaRPr lang="en-US" sz="1800" dirty="0"/>
          </a:p>
        </p:txBody>
      </p:sp>
      <p:sp>
        <p:nvSpPr>
          <p:cNvPr id="14" name="Text 12"/>
          <p:cNvSpPr/>
          <p:nvPr/>
        </p:nvSpPr>
        <p:spPr>
          <a:xfrm>
            <a:off x="1097280" y="2734056"/>
            <a:ext cx="7589520" cy="219456"/>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bottleneck keeps moving — and that is the opportunity.</a:t>
            </a:r>
            <a:endParaRPr lang="en-US" sz="1200" dirty="0"/>
          </a:p>
        </p:txBody>
      </p:sp>
      <p:sp>
        <p:nvSpPr>
          <p:cNvPr id="15" name="Text 13"/>
          <p:cNvSpPr/>
          <p:nvPr/>
        </p:nvSpPr>
        <p:spPr>
          <a:xfrm>
            <a:off x="1097280" y="2953512"/>
            <a:ext cx="7589520" cy="2743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CoWoS packaging (2023–24) → silicon wafer supply (now) → EUV lithography (&lt;100 machines/yr) by 2028. Each shift reprices a different part of the stack. DRAM prices +30–50% QoQ.</a:t>
            </a:r>
            <a:endParaRPr lang="en-US" sz="950" dirty="0"/>
          </a:p>
        </p:txBody>
      </p:sp>
      <p:sp>
        <p:nvSpPr>
          <p:cNvPr id="16" name="Shape 14"/>
          <p:cNvSpPr/>
          <p:nvPr/>
        </p:nvSpPr>
        <p:spPr>
          <a:xfrm>
            <a:off x="457200" y="3300984"/>
            <a:ext cx="548640" cy="493776"/>
          </a:xfrm>
          <a:prstGeom prst="rect">
            <a:avLst/>
          </a:prstGeom>
          <a:solidFill>
            <a:srgbClr val="E8478D"/>
          </a:solidFill>
          <a:ln w="12700">
            <a:solidFill>
              <a:srgbClr val="E8478D"/>
            </a:solidFill>
            <a:prstDash val="solid"/>
          </a:ln>
        </p:spPr>
      </p:sp>
      <p:sp>
        <p:nvSpPr>
          <p:cNvPr id="17" name="Text 15"/>
          <p:cNvSpPr/>
          <p:nvPr/>
        </p:nvSpPr>
        <p:spPr>
          <a:xfrm>
            <a:off x="457200" y="3300984"/>
            <a:ext cx="548640"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04</a:t>
            </a:r>
            <a:endParaRPr lang="en-US" sz="1800" dirty="0"/>
          </a:p>
        </p:txBody>
      </p:sp>
      <p:sp>
        <p:nvSpPr>
          <p:cNvPr id="18" name="Text 16"/>
          <p:cNvSpPr/>
          <p:nvPr/>
        </p:nvSpPr>
        <p:spPr>
          <a:xfrm>
            <a:off x="1097280" y="3300984"/>
            <a:ext cx="7589520" cy="219456"/>
          </a:xfrm>
          <a:prstGeom prst="rect">
            <a:avLst/>
          </a:prstGeom>
          <a:noFill/>
          <a:ln/>
        </p:spPr>
        <p:txBody>
          <a:bodyPr wrap="square" lIns="0" tIns="0" rIns="0" bIns="0" rtlCol="0" anchor="t"/>
          <a:lstStyle/>
          <a:p>
            <a:pPr indent="0" marL="0">
              <a:buNone/>
            </a:pPr>
            <a:r>
              <a:rPr lang="en-US" sz="1200" b="1" dirty="0">
                <a:solidFill>
                  <a:srgbClr val="000000"/>
                </a:solidFill>
                <a:latin typeface="Arial" pitchFamily="34" charset="0"/>
                <a:ea typeface="Arial" pitchFamily="34" charset="-122"/>
                <a:cs typeface="Arial" pitchFamily="34" charset="-120"/>
              </a:rPr>
              <a:t>The question isn't whether you have AI exposure — it's whether you chose it.</a:t>
            </a:r>
            <a:endParaRPr lang="en-US" sz="1200" dirty="0"/>
          </a:p>
        </p:txBody>
      </p:sp>
      <p:sp>
        <p:nvSpPr>
          <p:cNvPr id="19" name="Text 17"/>
          <p:cNvSpPr/>
          <p:nvPr/>
        </p:nvSpPr>
        <p:spPr>
          <a:xfrm>
            <a:off x="1097280" y="3520440"/>
            <a:ext cx="7589520" cy="2743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AI-linked stocks are now 30%+ of US large-cap benchmarks. Passive exposure to a $685B capex cycle is not neutral — it's a thesis. Own the layer with pricing power for today's bottleneck.</a:t>
            </a:r>
            <a:endParaRPr lang="en-US" sz="950" dirty="0"/>
          </a:p>
        </p:txBody>
      </p:sp>
      <p:sp>
        <p:nvSpPr>
          <p:cNvPr id="20" name="Text 18"/>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Morgan Stanley (Feb 2026); Goldman Sachs correlation data (Jan 2026); Bloomberg YTD; SemiAnalysis; Morningstar / S&amp;P Dow Jones; TrendForce.</a:t>
            </a:r>
            <a:endParaRPr lang="en-US" sz="700" dirty="0"/>
          </a:p>
        </p:txBody>
      </p:sp>
      <p:sp>
        <p:nvSpPr>
          <p:cNvPr id="21" name="Shape 19"/>
          <p:cNvSpPr/>
          <p:nvPr/>
        </p:nvSpPr>
        <p:spPr>
          <a:xfrm>
            <a:off x="0" y="4526280"/>
            <a:ext cx="9144000" cy="617220"/>
          </a:xfrm>
          <a:prstGeom prst="rect">
            <a:avLst/>
          </a:prstGeom>
          <a:solidFill>
            <a:srgbClr val="333333"/>
          </a:solidFill>
          <a:ln w="12700">
            <a:solidFill>
              <a:srgbClr val="333333"/>
            </a:solidFill>
            <a:prstDash val="solid"/>
          </a:ln>
        </p:spPr>
      </p:sp>
      <p:sp>
        <p:nvSpPr>
          <p:cNvPr id="22" name="Text 2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65760"/>
            <a:ext cx="8229600" cy="502920"/>
          </a:xfrm>
          <a:prstGeom prst="rect">
            <a:avLst/>
          </a:prstGeom>
          <a:noFill/>
          <a:ln/>
        </p:spPr>
        <p:txBody>
          <a:bodyPr wrap="square" lIns="0" tIns="0" rIns="0" bIns="0" rtlCol="0" anchor="ctr"/>
          <a:lstStyle/>
          <a:p>
            <a:pPr indent="0" marL="0">
              <a:buNone/>
            </a:pPr>
            <a:r>
              <a:rPr lang="en-US" sz="2800" b="1" dirty="0">
                <a:solidFill>
                  <a:srgbClr val="000000"/>
                </a:solidFill>
                <a:latin typeface="Arial Black" pitchFamily="34" charset="0"/>
                <a:ea typeface="Arial Black" pitchFamily="34" charset="-122"/>
                <a:cs typeface="Arial Black" pitchFamily="34" charset="-120"/>
              </a:rPr>
              <a:t>Important information</a:t>
            </a:r>
            <a:endParaRPr lang="en-US" sz="2800" dirty="0"/>
          </a:p>
        </p:txBody>
      </p:sp>
      <p:sp>
        <p:nvSpPr>
          <p:cNvPr id="3" name="Text 1"/>
          <p:cNvSpPr/>
          <p:nvPr/>
        </p:nvSpPr>
        <p:spPr>
          <a:xfrm>
            <a:off x="457200" y="1005840"/>
            <a:ext cx="8229600" cy="3383280"/>
          </a:xfrm>
          <a:prstGeom prst="rect">
            <a:avLst/>
          </a:prstGeom>
          <a:noFill/>
          <a:ln/>
        </p:spPr>
        <p:txBody>
          <a:bodyPr wrap="square" rtlCol="0" anchor="t"/>
          <a:lstStyle/>
          <a:p>
            <a:pPr indent="0" marL="0">
              <a:spcAft>
                <a:spcPts val="200"/>
              </a:spcAft>
              <a:buNone/>
            </a:pPr>
            <a:r>
              <a:rPr lang="en-US" sz="1000" dirty="0">
                <a:solidFill>
                  <a:srgbClr val="666666"/>
                </a:solidFill>
                <a:latin typeface="Arial" pitchFamily="34" charset="0"/>
                <a:ea typeface="Arial" pitchFamily="34" charset="-122"/>
                <a:cs typeface="Arial" pitchFamily="34" charset="-120"/>
              </a:rPr>
              <a:t>This presentation is for informational and illustrative purposes only. It does not constitute investment advice, a recommendation, an offer, or a solicitation to buy or sell any security or financial instrument in any jurisdiction.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Figures in this deck are drawn from publicly disclosed sources including company filings, sell-side research, Bloomberg, and the sources cited on each slide. They are provided for narrative purposes; verify against primary sources before acting on them.</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Forward-looking statements involve inherent uncertainty and actual results may differ materially. Past performance is not indicative of future results. Any reference to specific securities or sectors is for illustration only and should not be construed as a recommendation.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Investors should consult their own financial, tax, and legal advisors before making any investment decision. No representation or warranty is made as to the accuracy or completeness of the information contained herein.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2026 — Prepared for internal strategy discussion.</a:t>
            </a:r>
            <a:endParaRPr lang="en-US" sz="1000" dirty="0"/>
          </a:p>
        </p:txBody>
      </p:sp>
      <p:sp>
        <p:nvSpPr>
          <p:cNvPr id="4" name="Shape 2"/>
          <p:cNvSpPr/>
          <p:nvPr/>
        </p:nvSpPr>
        <p:spPr>
          <a:xfrm>
            <a:off x="0" y="4526280"/>
            <a:ext cx="9144000" cy="617220"/>
          </a:xfrm>
          <a:prstGeom prst="rect">
            <a:avLst/>
          </a:prstGeom>
          <a:solidFill>
            <a:srgbClr val="333333"/>
          </a:solidFill>
          <a:ln w="12700">
            <a:solidFill>
              <a:srgbClr val="333333"/>
            </a:solidFill>
            <a:prstDash val="solid"/>
          </a:ln>
        </p:spPr>
      </p:sp>
      <p:sp>
        <p:nvSpPr>
          <p:cNvPr id="5" name="Text 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 name="Text 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March 2026</dc:title>
  <dc:subject>PptxGenJS Presentation</dc:subject>
  <dc:creator>Strategy</dc:creator>
  <cp:lastModifiedBy>Strategy</cp:lastModifiedBy>
  <cp:revision>1</cp:revision>
  <dcterms:created xsi:type="dcterms:W3CDTF">2026-04-20T18:53:11Z</dcterms:created>
  <dcterms:modified xsi:type="dcterms:W3CDTF">2026-04-20T18:53:11Z</dcterms:modified>
</cp:coreProperties>
</file>