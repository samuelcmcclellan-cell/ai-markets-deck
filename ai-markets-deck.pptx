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YTD total return (%)</c:v>
                </c:pt>
              </c:strCache>
            </c:strRef>
          </c:tx>
          <c:spPr>
            <a:solidFill>
              <a:srgbClr val="F6693D"/>
            </a:solidFill>
            <a:effectLst/>
          </c:spPr>
          <c:invertIfNegative val="0"/>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dPt>
            <c:idx val="0"/>
            <c:invertIfNegative val="0"/>
            <c:bubble3D val="0"/>
            <c:spPr>
              <a:solidFill>
                <a:srgbClr val="F6693D"/>
              </a:solidFill>
              <a:effectLst/>
            </c:spPr>
          </c:dPt>
          <c:dPt>
            <c:idx val="1"/>
            <c:invertIfNegative val="0"/>
            <c:bubble3D val="0"/>
            <c:spPr>
              <a:solidFill>
                <a:srgbClr val="2BC4C4"/>
              </a:solidFill>
              <a:effectLst/>
            </c:spPr>
          </c:dPt>
          <c:dPt>
            <c:idx val="2"/>
            <c:invertIfNegative val="0"/>
            <c:bubble3D val="0"/>
            <c:spPr>
              <a:solidFill>
                <a:srgbClr val="3E3E46"/>
              </a:solidFill>
              <a:effectLst/>
            </c:spPr>
          </c:dPt>
          <c:dPt>
            <c:idx val="3"/>
            <c:invertIfNegative val="0"/>
            <c:bubble3D val="0"/>
            <c:spPr>
              <a:solidFill>
                <a:srgbClr val="FFB800"/>
              </a:solidFill>
              <a:effectLst/>
            </c:spPr>
          </c:dPt>
          <c:dPt>
            <c:idx val="4"/>
            <c:invertIfNegative val="0"/>
            <c:bubble3D val="0"/>
            <c:spPr>
              <a:solidFill>
                <a:srgbClr val="E5484D"/>
              </a:solidFill>
              <a:effectLst/>
            </c:spPr>
          </c:dPt>
          <c:cat>
            <c:multiLvlStrRef>
              <c:f>Sheet1!$A$2:$A$6</c:f>
              <c:multiLvlStrCache>
                <c:ptCount val="5"/>
                <c:lvl>
                  <c:pt idx="0">
                    <c:v>Semis (SOXX)</c:v>
                  </c:pt>
                  <c:pt idx="1">
                    <c:v>Equal-weight (RSP)</c:v>
                  </c:pt>
                  <c:pt idx="2">
                    <c:v>S&amp;P 500</c:v>
                  </c:pt>
                  <c:pt idx="3">
                    <c:v>Mag 7 (MAGS)</c:v>
                  </c:pt>
                  <c:pt idx="4">
                    <c:v>Software (IGV)</c:v>
                  </c:pt>
                </c:lvl>
              </c:multiLvlStrCache>
            </c:multiLvlStrRef>
          </c:cat>
          <c:val>
            <c:numRef>
              <c:f>Sheet1!$B$2:$B$6</c:f>
              <c:numCache>
                <c:formatCode>General</c:formatCode>
                <c:ptCount val="5"/>
                <c:pt idx="0">
                  <c:v>79.5</c:v>
                </c:pt>
                <c:pt idx="1">
                  <c:v>14.3</c:v>
                </c:pt>
                <c:pt idx="2">
                  <c:v>11.3</c:v>
                </c:pt>
                <c:pt idx="3">
                  <c:v>5.9</c:v>
                </c:pt>
                <c:pt idx="4">
                  <c:v>-9.5</c:v>
                </c:pt>
              </c:numCache>
            </c:numRef>
          </c:val>
        </c:ser>
        <c:dLbls>
          <c:numFmt formatCode="0" sourceLinked="0"/>
          <c:txPr>
            <a:bodyPr/>
            <a:lstStyle/>
            <a:p>
              <a:pPr>
                <a:defRPr b="1" i="0" strike="noStrike" sz="900" u="none">
                  <a:solidFill>
                    <a:srgbClr val="E8E8E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9A9AA0"/>
                </a:solidFill>
                <a:latin typeface="Arial"/>
              </a:defRPr>
            </a:pPr>
            <a:endParaRPr lang="en-US"/>
          </a:p>
        </c:txPr>
        <c:crossAx val="2094734552"/>
        <c:crosses val="autoZero"/>
        <c:auto val="1"/>
        <c:lblAlgn val="ctr"/>
        <c:noMultiLvlLbl val="1"/>
      </c:catAx>
      <c:valAx>
        <c:axId val="2094734552"/>
        <c:scaling>
          <c:orientation val="minMax"/>
          <c:min val="-20"/>
        </c:scaling>
        <c:delete val="1"/>
        <c:axPos val="l"/>
        <c:majorGridlines>
          <c:spPr>
            <a:ln w="6350" cap="flat">
              <a:solidFill>
                <a:srgbClr val="2A2A3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Allocation</c:v>
                </c:pt>
              </c:strCache>
            </c:strRef>
          </c:tx>
          <c:spPr>
            <a:solidFill>
              <a:schemeClr val="accent1"/>
            </a:solidFill>
            <a:ln w="9525" cap="flat">
              <a:solidFill>
                <a:srgbClr val="F9F9F9"/>
              </a:solidFill>
              <a:prstDash val="solid"/>
              <a:round/>
            </a:ln>
            <a:effectLst/>
          </c:spPr>
          <c:dPt>
            <c:idx val="0"/>
            <c:bubble3D val="0"/>
            <c:spPr>
              <a:solidFill>
                <a:srgbClr val="F6693D"/>
              </a:solidFill>
              <a:effectLst/>
            </c:spPr>
          </c:dPt>
          <c:dPt>
            <c:idx val="1"/>
            <c:bubble3D val="0"/>
            <c:spPr>
              <a:solidFill>
                <a:srgbClr val="FFB800"/>
              </a:solidFill>
              <a:effectLst/>
            </c:spPr>
          </c:dPt>
          <c:dPt>
            <c:idx val="2"/>
            <c:bubble3D val="0"/>
            <c:spPr>
              <a:solidFill>
                <a:srgbClr val="3E3E46"/>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Top 3: $18</c:v>
                </c:pt>
                <c:pt idx="1">
                  <c:v>Rest of top 10: $19</c:v>
                </c:pt>
                <c:pt idx="2">
                  <c:v>Other 490: $63</c:v>
                </c:pt>
              </c:strCache>
            </c:strRef>
          </c:cat>
          <c:val>
            <c:numRef>
              <c:f>Sheet1!$B$2:$B$4</c:f>
              <c:numCache>
                <c:ptCount val="3"/>
                <c:pt idx="0">
                  <c:v>18</c:v>
                </c:pt>
                <c:pt idx="1">
                  <c:v>19</c:v>
                </c:pt>
                <c:pt idx="2">
                  <c:v>63</c:v>
                </c:pt>
              </c:numCache>
            </c:numRef>
          </c:val>
        </c:ser>
        <c:firstSliceAng val="0"/>
        <c:holeSize val="60"/>
      </c:doughnutChart>
      <c:spPr>
        <a:noFill/>
        <a:ln>
          <a:noFill/>
        </a:ln>
        <a:effectLst/>
      </c:spPr>
    </c:plotArea>
    <c:legend>
      <c:legendPos val="b"/>
      <c:overlay val="0"/>
      <c:txPr>
        <a:bodyPr/>
        <a:lstStyle/>
        <a:p>
          <a:pPr>
            <a:defRPr sz="800">
              <a:solidFill>
                <a:srgbClr val="E8E8E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deck in one breath. Part one is what's happening right now: models became loop-running agents, tokens became a rationed input, and governments moved from regulating AI to debating who owns it. Part two is how markets reprice all of it: equities split the trade, the labor data started moving, financing moved into the bond market, and your benchmark quietly became an AI fund. Twelve slides, two parts, one question throughout: what does this do to portfolios. Keep the framing simple up top; the detail comes slide by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thesis, and why this isn't 2023's hype cycle: three independent systems shifting in the same direction at once. CAPABILITY: Fable 5-class models swept functional SOTA; the unit of work moved from prompting outputs to designing self-correcting loops that run until done. Proof point: Anthropic's run rate went from about $3B in 2025 to about $47B in 2026. ECONOMICS: labs stopped subsidizing tokens and enterprises started rationing them; compute is now priced like a scarce commodity at every layer. Proof point: Google pays SpaceX about $920M a month to rent 110k GPUs, the market-clearing price of scarcity. POLICY: equity-tax proposals and pre-release reviews mean foundation models are treated as sovereign assets. Proof point: a floated one-time 50% tax on AI-lab equity to seed a public 'AI Dividends' fund. The banner is the line to read aloud: the chatbot's economics are exhausted, and the stack is reorganizing around token-burning agentic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Framework slide: four dimensions where the assisted-to-agentic transition shows up, and each reprices differently. Interface shifted from chat bubbles to background loops and parallel agents. Cost moved from flat seats to metered, usage-based token budgets. Output evolved from text and code snippets to disposable apps and whole software architectures. The bottleneck moved from human attention and typing speed to token limits and compute allocation. Use this as the map: every market-impact slide that follows is one of these four dimensions showing up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slide of part one. The unit of work changed: from one-shot prompting to loops that try, fail, fix, and ship without a human in each cycle. Boris Cherny's line, 'my job is to write loops,' is the cleanest articulation. Then the Jevons paradox, coal in 1865 applied to compute: as agents make software effectively free to produce, we don't write the same software cheaper, we write categorically more of it: internal PDF summaries become dashboards become disposable single-use apps become giant research projects. The investment translation: efficiency improvements do not cap compute demand, they expand it. That is the demand engine behind everything in part two. Flag the curve as illustrative, not measured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data points, one message: enterprises now treat tokens as a metered input with a budget line. Uber put a hard $1,500-per-month per-employee cap in place, replacing unlimited access. Walmart killed unlimited access for its 'Code Puppy' agentic dev tool and moved to per-seat budgets plus efficiency training. The third point is the supply side: SK Hynix sees no HBM relief before about 2030 even after doubling capacity, and Google's roughly $920M-a-month GPU rental is what scarcity costs when you don't own the capacity. The read is the investability point: token budgets are the new same-store sales, watch them the way retail analysts watch foot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policy slide, now global, and the KOSPI number lives here in the talk track rather than on the slide. United States: a voluntary 30-day NSA pre-release review (a calendar item before every frontier release), plus a floated one-time 50% tax on AI-lab equity to seed a public 'AI Dividends' fund, proposed by Sanders and echoed by Trump, which tells you the Overton window moved. South Korea: a presidential policy adviser, Kim Yong-beom, floated a 'citizen dividend' from AI and chip tax windfalls on May 12; the KOSPI dropped about 5.1% intraday before President Lee Jae-myung walked it back, and Samsung's union had already demanded 15% of chip-division profit in April. Sacks completes the triangle, warning government equity risks corporate-government fusion. The investable point: public-ownership is now a dilution tail risk that belongs in any model of lab equity, the IPO pipeline, and the hyperscalers holding lab 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opens with the equity scoreboard. Semis (SOXX) up about 80% year to date, the best run since 2000; equal-weight (RSP) up about 14%, beating cap-weight at about 11%; Mag-7 (MAGS) up about 6%, lagging; software (IGV) down about 10%, priced for disruption. That is roughly a 90-point spread inside one theme. The market is no longer trading 'AI yes or no'; it is trading position in the chain. The right rail is the concentration story: 37% of the index sits in ten names, double the 25-year norm; the forward multiple at 21.1x is elevated but not extreme, provided the AI earnings stream keeps compounding. Takeaway: value accrues where AI spend is revenue and erodes where AI is the threat.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labor slide, with verified June 2026 data. The structural story on the left: a job stops being task execution and becomes orchestration of parallel agent loops; one person now outputs like a team. The data on the right: Challenger's May report made AI the number-one stated reason for layoffs for the first time, cited in about 40% of announced cuts, with 87.7k AI-attributed cuts year to date versus 54.8k in all of 2025, with the honest caveat that this is self-reported and some firms may be scapegoating AI. The entry level is where it bites: recent-grad unemployment at 5.6% versus 4.2% overall, per the NY Fed, with declining payrolls for the youngest AI-exposed cohort. Markets price labor twice: as a cost line agents deflate, and as the political trigger for the slide-6 ownership debate.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Bonds, the whole arc on one slide. First the gap: Big-4 capex went from $410B to about $705B guided, up 72%, and that consumes roughly 94% of operating cash flow once you add dividends and buybacks; Big-4 free cash flow is at a decade low, Amazon goes outright negative ($200B capex versus about $140B operating cash flow), and Alphabet's FCF falls about 90% to roughly $8B. The self-funding megacap contract broke in 2026. Then the wave that filled the gap: Oracle $18B (Sep '25), Meta $30B (Oct '25, the largest non-M&amp;A IG deal on record), Alphabet $17.5B and Amazon $15B (Nov '25), and Oracle again $25B across eight tranches (Feb '26), totaling $105B-plus in six months, with Street consensus around $300B of AI-linked IG supply for full-year 2026. The signal layer: Oracle's 5-year CDS above about 125bp despite light leverage, so credit is already discriminating by funding capacity. The read for equity holders: credit reprices before equity, spreads move before earnings revisions. Balance sheets are still lightly levered versus IG norms, so this is not 2008 telecom, but the funding model changed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so-what slide. Nobody in this room would deliberately put 37% of an equity sleeve in ten correlated names sharing one earnings driver, but a passive S&amp;P 500 allocation does precisely that: $37 of every $100. Manage it with four gauges, each paired with an action. Demand: capex guidance plus enterprise token budgets, the new same-store sales. Financing: CDS and new-issue spreads, per the bond slide, because a failed mega-deal would reprice AI equities within days. Rates: the roughly 4.5% 10-year, because long-duration AI cash flows and record IG supply both lean on rates staying contained. Concentration: top-10 share and the equal-weight-versus-cap-weight spread as the orderly preview of the disorderly version. Honest caveat: equal-weight won 2026 but lost 2024 and 2025, so the message is 'size the bet on purpose,' not 'sell megacaps.' Closing line is the deck's thesis in one sentence: you don't need a view on AGI, you need to know what your portfolio already believes.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the option value sitting behind the multiples, kept disciplined and flagged speculative. Embodiment: agentic loops in a body, walking a warehouse shift, so physical labor enters the token economy. Wheels: every robotaxi mile is metered inference and a city-scale demand pool for compute. Orbit: orbital compute removes the exact power-and-cooling constraints behind token rationing, and SpaceX is simultaneously the neocloud king and the launch monopolist, so if it happens it extends the most vertically integrated player in the stack. Proteins: frontier models lead biology benchmarks and AI-designed proteins make discovery compute-bound, so R&amp;D starts to look like capex. Every card is new compute demand: the Jevons curve extended a decade. Watch them like markets, not memes: launch cadence, fleet miles, design wins; gauges, not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matter. Canonical stamp: data as of June 2026, returns through the Jun 5–9 closes. Four source columns: market data, capex and financing, labor and policy, and the internal frontier review. Honesty notes to say out loud if asked: the Jevons relationship is illustrative, not measured; AI layoff attributions are self-reported by employers and may overstate causation; and the frontier items are speculative and appear in no company guidance. Where sources disagreed, the more conservative figure was used. End of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6400800" y="320040"/>
            <a:ext cx="2286000" cy="320040"/>
          </a:xfrm>
          <a:prstGeom prst="rect">
            <a:avLst/>
          </a:prstGeom>
          <a:noFill/>
          <a:ln/>
        </p:spPr>
        <p:txBody>
          <a:bodyPr wrap="square" lIns="0" tIns="0" rIns="0" bIns="0" rtlCol="0" anchor="ctr"/>
          <a:lstStyle/>
          <a:p>
            <a:pPr algn="r" indent="0" marL="0">
              <a:buNone/>
            </a:pPr>
            <a:r>
              <a:rPr lang="en-US" sz="1300" spc="200" kern="0" dirty="0">
                <a:solidFill>
                  <a:srgbClr val="9A9AA0"/>
                </a:solidFill>
                <a:latin typeface="Arial" pitchFamily="34" charset="0"/>
                <a:ea typeface="Arial" pitchFamily="34" charset="-122"/>
                <a:cs typeface="Arial" pitchFamily="34" charset="-120"/>
              </a:rPr>
              <a:t>JUNE 2026</a:t>
            </a:r>
            <a:endParaRPr lang="en-US" sz="1300" dirty="0"/>
          </a:p>
        </p:txBody>
      </p:sp>
      <p:sp>
        <p:nvSpPr>
          <p:cNvPr id="3" name="Shape 1"/>
          <p:cNvSpPr/>
          <p:nvPr/>
        </p:nvSpPr>
        <p:spPr>
          <a:xfrm>
            <a:off x="457200" y="1234440"/>
            <a:ext cx="1280160" cy="64008"/>
          </a:xfrm>
          <a:prstGeom prst="rect">
            <a:avLst/>
          </a:prstGeom>
          <a:solidFill>
            <a:srgbClr val="FFD100"/>
          </a:solidFill>
          <a:ln/>
        </p:spPr>
      </p:sp>
      <p:sp>
        <p:nvSpPr>
          <p:cNvPr id="4" name="Text 2"/>
          <p:cNvSpPr/>
          <p:nvPr/>
        </p:nvSpPr>
        <p:spPr>
          <a:xfrm>
            <a:off x="457200" y="1463040"/>
            <a:ext cx="4937760" cy="1005840"/>
          </a:xfrm>
          <a:prstGeom prst="rect">
            <a:avLst/>
          </a:prstGeom>
          <a:noFill/>
          <a:ln/>
        </p:spPr>
        <p:txBody>
          <a:bodyPr wrap="square" lIns="0" tIns="0" rIns="0" bIns="0" rtlCol="0" anchor="ctr"/>
          <a:lstStyle/>
          <a:p>
            <a:pPr indent="0" marL="0">
              <a:buNone/>
            </a:pPr>
            <a:r>
              <a:rPr lang="en-US" sz="4000" b="1" dirty="0">
                <a:solidFill>
                  <a:srgbClr val="FFFFFF"/>
                </a:solidFill>
                <a:latin typeface="Arial Black" pitchFamily="34" charset="0"/>
                <a:ea typeface="Arial Black" pitchFamily="34" charset="-122"/>
                <a:cs typeface="Arial Black" pitchFamily="34" charset="-120"/>
              </a:rPr>
              <a:t>AI in the markets.</a:t>
            </a:r>
            <a:endParaRPr lang="en-US" sz="4000" dirty="0"/>
          </a:p>
        </p:txBody>
      </p:sp>
      <p:sp>
        <p:nvSpPr>
          <p:cNvPr id="5" name="Text 3"/>
          <p:cNvSpPr/>
          <p:nvPr/>
        </p:nvSpPr>
        <p:spPr>
          <a:xfrm>
            <a:off x="457200" y="2697480"/>
            <a:ext cx="4572000" cy="822960"/>
          </a:xfrm>
          <a:prstGeom prst="rect">
            <a:avLst/>
          </a:prstGeom>
          <a:noFill/>
          <a:ln/>
        </p:spPr>
        <p:txBody>
          <a:bodyPr wrap="square" lIns="0" tIns="0" rIns="0" bIns="0" rtlCol="0" anchor="ctr"/>
          <a:lstStyle/>
          <a:p>
            <a:pPr indent="0" marL="0">
              <a:buNone/>
            </a:pPr>
            <a:r>
              <a:rPr lang="en-US" sz="1800" b="1" dirty="0">
                <a:solidFill>
                  <a:srgbClr val="FFD100"/>
                </a:solidFill>
                <a:latin typeface="Arial Black" pitchFamily="34" charset="0"/>
                <a:ea typeface="Arial Black" pitchFamily="34" charset="-122"/>
                <a:cs typeface="Arial Black" pitchFamily="34" charset="-120"/>
              </a:rPr>
              <a:t>What's happening now, and how markets reprice.</a:t>
            </a:r>
            <a:endParaRPr lang="en-US" sz="1800" dirty="0"/>
          </a:p>
        </p:txBody>
      </p:sp>
      <p:sp>
        <p:nvSpPr>
          <p:cNvPr id="6" name="Text 4"/>
          <p:cNvSpPr/>
          <p:nvPr/>
        </p:nvSpPr>
        <p:spPr>
          <a:xfrm>
            <a:off x="457200" y="3886200"/>
            <a:ext cx="4572000" cy="320040"/>
          </a:xfrm>
          <a:prstGeom prst="rect">
            <a:avLst/>
          </a:prstGeom>
          <a:noFill/>
          <a:ln/>
        </p:spPr>
        <p:txBody>
          <a:bodyPr wrap="square" lIns="0" tIns="0" rIns="0" bIns="0" rtlCol="0" anchor="ctr"/>
          <a:lstStyle/>
          <a:p>
            <a:pPr indent="0" marL="0">
              <a:buNone/>
            </a:pPr>
            <a:r>
              <a:rPr lang="en-US" sz="1200" b="1" dirty="0">
                <a:solidFill>
                  <a:srgbClr val="9A9AA0"/>
                </a:solidFill>
                <a:latin typeface="Arial" pitchFamily="34" charset="0"/>
                <a:ea typeface="Arial" pitchFamily="34" charset="-122"/>
                <a:cs typeface="Arial" pitchFamily="34" charset="-120"/>
              </a:rPr>
              <a:t>Strategy  |  Institutional</a:t>
            </a:r>
            <a:endParaRPr lang="en-US" sz="1200" dirty="0"/>
          </a:p>
        </p:txBody>
      </p:sp>
      <p:sp>
        <p:nvSpPr>
          <p:cNvPr id="7" name="Shape 5"/>
          <p:cNvSpPr/>
          <p:nvPr/>
        </p:nvSpPr>
        <p:spPr>
          <a:xfrm>
            <a:off x="5486400" y="1005840"/>
            <a:ext cx="3200400" cy="3108960"/>
          </a:xfrm>
          <a:prstGeom prst="rect">
            <a:avLst/>
          </a:prstGeom>
          <a:solidFill>
            <a:srgbClr val="1E1E24"/>
          </a:solidFill>
          <a:ln w="12700">
            <a:solidFill>
              <a:srgbClr val="2A2A30"/>
            </a:solidFill>
            <a:prstDash val="dash"/>
          </a:ln>
        </p:spPr>
      </p:sp>
      <p:sp>
        <p:nvSpPr>
          <p:cNvPr id="8" name="Shape 6"/>
          <p:cNvSpPr/>
          <p:nvPr/>
        </p:nvSpPr>
        <p:spPr>
          <a:xfrm>
            <a:off x="5486400" y="1005840"/>
            <a:ext cx="310896" cy="36576"/>
          </a:xfrm>
          <a:prstGeom prst="rect">
            <a:avLst/>
          </a:prstGeom>
          <a:solidFill>
            <a:srgbClr val="FFD100"/>
          </a:solidFill>
          <a:ln/>
        </p:spPr>
      </p:sp>
      <p:sp>
        <p:nvSpPr>
          <p:cNvPr id="9" name="Shape 7"/>
          <p:cNvSpPr/>
          <p:nvPr/>
        </p:nvSpPr>
        <p:spPr>
          <a:xfrm>
            <a:off x="5486400" y="1005840"/>
            <a:ext cx="36576" cy="310896"/>
          </a:xfrm>
          <a:prstGeom prst="rect">
            <a:avLst/>
          </a:prstGeom>
          <a:solidFill>
            <a:srgbClr val="FFD100"/>
          </a:solidFill>
          <a:ln/>
        </p:spPr>
      </p:sp>
      <p:sp>
        <p:nvSpPr>
          <p:cNvPr id="10" name="Shape 8"/>
          <p:cNvSpPr/>
          <p:nvPr/>
        </p:nvSpPr>
        <p:spPr>
          <a:xfrm>
            <a:off x="8375904" y="4078224"/>
            <a:ext cx="310896" cy="36576"/>
          </a:xfrm>
          <a:prstGeom prst="rect">
            <a:avLst/>
          </a:prstGeom>
          <a:solidFill>
            <a:srgbClr val="FFD100"/>
          </a:solidFill>
          <a:ln/>
        </p:spPr>
      </p:sp>
      <p:sp>
        <p:nvSpPr>
          <p:cNvPr id="11" name="Shape 9"/>
          <p:cNvSpPr/>
          <p:nvPr/>
        </p:nvSpPr>
        <p:spPr>
          <a:xfrm>
            <a:off x="8650224" y="3803904"/>
            <a:ext cx="36576" cy="310896"/>
          </a:xfrm>
          <a:prstGeom prst="rect">
            <a:avLst/>
          </a:prstGeom>
          <a:solidFill>
            <a:srgbClr val="FFD100"/>
          </a:solidFill>
          <a:ln/>
        </p:spPr>
      </p:sp>
      <p:sp>
        <p:nvSpPr>
          <p:cNvPr id="12" name="Text 10"/>
          <p:cNvSpPr/>
          <p:nvPr/>
        </p:nvSpPr>
        <p:spPr>
          <a:xfrm>
            <a:off x="5669280" y="1152144"/>
            <a:ext cx="2834640" cy="219456"/>
          </a:xfrm>
          <a:prstGeom prst="rect">
            <a:avLst/>
          </a:prstGeom>
          <a:noFill/>
          <a:ln/>
        </p:spPr>
        <p:txBody>
          <a:bodyPr wrap="square" lIns="0" tIns="0" rIns="0" bIns="0" rtlCol="0" anchor="ctr"/>
          <a:lstStyle/>
          <a:p>
            <a:pPr indent="0" marL="0">
              <a:buNone/>
            </a:pPr>
            <a:r>
              <a:rPr lang="en-US" sz="900" b="1" spc="200" kern="0" dirty="0">
                <a:solidFill>
                  <a:srgbClr val="FFD100"/>
                </a:solidFill>
                <a:latin typeface="Arial" pitchFamily="34" charset="0"/>
                <a:ea typeface="Arial" pitchFamily="34" charset="-122"/>
                <a:cs typeface="Arial" pitchFamily="34" charset="-120"/>
              </a:rPr>
              <a:t>IMAGE  ·  cover art</a:t>
            </a:r>
            <a:endParaRPr lang="en-US" sz="900" dirty="0"/>
          </a:p>
        </p:txBody>
      </p:sp>
      <p:sp>
        <p:nvSpPr>
          <p:cNvPr id="13" name="Text 11"/>
          <p:cNvSpPr/>
          <p:nvPr/>
        </p:nvSpPr>
        <p:spPr>
          <a:xfrm>
            <a:off x="5669280" y="1426464"/>
            <a:ext cx="2834640" cy="25054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cover.png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financial district at night where the skyscrapers are stacked GPU server-racks; a glowing candlestick stock-chart runs like a road along their base, and a curved arrow of capital flows from a domed bank building into the single tallest GPU tower; orange and yellow accents, near-black background, clean low-poly vector style, soft studio glow, subtle floor grid, centered, no text, no logos.</a:t>
            </a:r>
            <a:endParaRPr lang="en-US" sz="700" dirty="0"/>
          </a:p>
        </p:txBody>
      </p:sp>
      <p:sp>
        <p:nvSpPr>
          <p:cNvPr id="14" name="Shape 12"/>
          <p:cNvSpPr/>
          <p:nvPr/>
        </p:nvSpPr>
        <p:spPr>
          <a:xfrm>
            <a:off x="0" y="4526280"/>
            <a:ext cx="9144000" cy="617220"/>
          </a:xfrm>
          <a:prstGeom prst="rect">
            <a:avLst/>
          </a:prstGeom>
          <a:solidFill>
            <a:srgbClr val="000000"/>
          </a:solidFill>
          <a:ln/>
        </p:spPr>
      </p:sp>
      <p:sp>
        <p:nvSpPr>
          <p:cNvPr id="15" name="Shape 13"/>
          <p:cNvSpPr/>
          <p:nvPr/>
        </p:nvSpPr>
        <p:spPr>
          <a:xfrm>
            <a:off x="0" y="4526280"/>
            <a:ext cx="9144000" cy="0"/>
          </a:xfrm>
          <a:prstGeom prst="line">
            <a:avLst/>
          </a:prstGeom>
          <a:noFill/>
          <a:ln w="6350">
            <a:solidFill>
              <a:srgbClr val="2A2A30"/>
            </a:solidFill>
            <a:prstDash val="solid"/>
          </a:ln>
        </p:spPr>
      </p:sp>
      <p:sp>
        <p:nvSpPr>
          <p:cNvPr id="16"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Three shifts, happening now</a:t>
            </a:r>
            <a:endParaRPr lang="en-US" sz="3000" dirty="0"/>
          </a:p>
        </p:txBody>
      </p:sp>
      <p:sp>
        <p:nvSpPr>
          <p:cNvPr id="3" name="Text 1"/>
          <p:cNvSpPr/>
          <p:nvPr/>
        </p:nvSpPr>
        <p:spPr>
          <a:xfrm>
            <a:off x="457200" y="914400"/>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Capability, economics, and policy are all moving at once — the reason this isn't 2023's hype cycle.</a:t>
            </a:r>
            <a:endParaRPr lang="en-US" sz="1300" dirty="0"/>
          </a:p>
        </p:txBody>
      </p:sp>
      <p:sp>
        <p:nvSpPr>
          <p:cNvPr id="4" name="Text 2"/>
          <p:cNvSpPr/>
          <p:nvPr/>
        </p:nvSpPr>
        <p:spPr>
          <a:xfrm>
            <a:off x="457200" y="1463040"/>
            <a:ext cx="2697480" cy="182880"/>
          </a:xfrm>
          <a:prstGeom prst="rect">
            <a:avLst/>
          </a:prstGeom>
          <a:noFill/>
          <a:ln/>
        </p:spPr>
        <p:txBody>
          <a:bodyPr wrap="square" lIns="0" tIns="0" rIns="0" bIns="0" rtlCol="0" anchor="ctr"/>
          <a:lstStyle/>
          <a:p>
            <a:pPr algn="ctr" indent="0" marL="0">
              <a:buNone/>
            </a:pPr>
            <a:r>
              <a:rPr lang="en-US" sz="800" b="1" spc="200" kern="0" dirty="0">
                <a:solidFill>
                  <a:srgbClr val="2BC4C4"/>
                </a:solidFill>
                <a:latin typeface="Arial" pitchFamily="34" charset="0"/>
                <a:ea typeface="Arial" pitchFamily="34" charset="-122"/>
                <a:cs typeface="Arial" pitchFamily="34" charset="-120"/>
              </a:rPr>
              <a:t>CAPABILITY</a:t>
            </a:r>
            <a:endParaRPr lang="en-US" sz="800" dirty="0"/>
          </a:p>
        </p:txBody>
      </p:sp>
      <p:sp>
        <p:nvSpPr>
          <p:cNvPr id="5" name="Shape 3"/>
          <p:cNvSpPr/>
          <p:nvPr/>
        </p:nvSpPr>
        <p:spPr>
          <a:xfrm>
            <a:off x="457200" y="1700784"/>
            <a:ext cx="2697480" cy="1417320"/>
          </a:xfrm>
          <a:prstGeom prst="rect">
            <a:avLst/>
          </a:prstGeom>
          <a:solidFill>
            <a:srgbClr val="1E1E24"/>
          </a:solidFill>
          <a:ln w="12700">
            <a:solidFill>
              <a:srgbClr val="2A2A30"/>
            </a:solidFill>
            <a:prstDash val="dash"/>
          </a:ln>
        </p:spPr>
      </p:sp>
      <p:sp>
        <p:nvSpPr>
          <p:cNvPr id="6" name="Shape 4"/>
          <p:cNvSpPr/>
          <p:nvPr/>
        </p:nvSpPr>
        <p:spPr>
          <a:xfrm>
            <a:off x="457200" y="1700784"/>
            <a:ext cx="310896" cy="36576"/>
          </a:xfrm>
          <a:prstGeom prst="rect">
            <a:avLst/>
          </a:prstGeom>
          <a:solidFill>
            <a:srgbClr val="2BC4C4"/>
          </a:solidFill>
          <a:ln/>
        </p:spPr>
      </p:sp>
      <p:sp>
        <p:nvSpPr>
          <p:cNvPr id="7" name="Shape 5"/>
          <p:cNvSpPr/>
          <p:nvPr/>
        </p:nvSpPr>
        <p:spPr>
          <a:xfrm>
            <a:off x="457200" y="1700784"/>
            <a:ext cx="36576" cy="310896"/>
          </a:xfrm>
          <a:prstGeom prst="rect">
            <a:avLst/>
          </a:prstGeom>
          <a:solidFill>
            <a:srgbClr val="2BC4C4"/>
          </a:solidFill>
          <a:ln/>
        </p:spPr>
      </p:sp>
      <p:sp>
        <p:nvSpPr>
          <p:cNvPr id="8" name="Shape 6"/>
          <p:cNvSpPr/>
          <p:nvPr/>
        </p:nvSpPr>
        <p:spPr>
          <a:xfrm>
            <a:off x="2843784" y="3081528"/>
            <a:ext cx="310896" cy="36576"/>
          </a:xfrm>
          <a:prstGeom prst="rect">
            <a:avLst/>
          </a:prstGeom>
          <a:solidFill>
            <a:srgbClr val="2BC4C4"/>
          </a:solidFill>
          <a:ln/>
        </p:spPr>
      </p:sp>
      <p:sp>
        <p:nvSpPr>
          <p:cNvPr id="9" name="Shape 7"/>
          <p:cNvSpPr/>
          <p:nvPr/>
        </p:nvSpPr>
        <p:spPr>
          <a:xfrm>
            <a:off x="3118104" y="2807208"/>
            <a:ext cx="36576" cy="310896"/>
          </a:xfrm>
          <a:prstGeom prst="rect">
            <a:avLst/>
          </a:prstGeom>
          <a:solidFill>
            <a:srgbClr val="2BC4C4"/>
          </a:solidFill>
          <a:ln/>
        </p:spPr>
      </p:sp>
      <p:sp>
        <p:nvSpPr>
          <p:cNvPr id="10" name="Text 8"/>
          <p:cNvSpPr/>
          <p:nvPr/>
        </p:nvSpPr>
        <p:spPr>
          <a:xfrm>
            <a:off x="640080" y="1847088"/>
            <a:ext cx="2331720" cy="219456"/>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IMAGE  ·  capability</a:t>
            </a:r>
            <a:endParaRPr lang="en-US" sz="900" dirty="0"/>
          </a:p>
        </p:txBody>
      </p:sp>
      <p:sp>
        <p:nvSpPr>
          <p:cNvPr id="11" name="Text 9"/>
          <p:cNvSpPr/>
          <p:nvPr/>
        </p:nvSpPr>
        <p:spPr>
          <a:xfrm>
            <a:off x="640080" y="2121408"/>
            <a:ext cx="2331720" cy="81381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shift-capability.png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robotic arm on a small circular conveyor picking up a glowing cube, spotting a flaw, and placing it back to retry — a literal self-correcting loop, teal accents, near-black background, clean low-poly vector style, soft studio glow, subtle floor grid, centered, no text, no logos.</a:t>
            </a:r>
            <a:endParaRPr lang="en-US" sz="700" dirty="0"/>
          </a:p>
        </p:txBody>
      </p:sp>
      <p:sp>
        <p:nvSpPr>
          <p:cNvPr id="12" name="Text 10"/>
          <p:cNvSpPr/>
          <p:nvPr/>
        </p:nvSpPr>
        <p:spPr>
          <a:xfrm>
            <a:off x="457200" y="3200400"/>
            <a:ext cx="2697480" cy="274320"/>
          </a:xfrm>
          <a:prstGeom prst="rect">
            <a:avLst/>
          </a:prstGeom>
          <a:noFill/>
          <a:ln/>
        </p:spPr>
        <p:txBody>
          <a:bodyPr wrap="square" lIns="0" tIns="0" rIns="0" bIns="0" rtlCol="0" anchor="ctr"/>
          <a:lstStyle/>
          <a:p>
            <a:pPr algn="ctr" indent="0" marL="0">
              <a:buNone/>
            </a:pPr>
            <a:r>
              <a:rPr lang="en-US" sz="1100" b="1" dirty="0">
                <a:solidFill>
                  <a:srgbClr val="C9C9CE"/>
                </a:solidFill>
                <a:latin typeface="Arial" pitchFamily="34" charset="0"/>
                <a:ea typeface="Arial" pitchFamily="34" charset="-122"/>
                <a:cs typeface="Arial" pitchFamily="34" charset="-120"/>
              </a:rPr>
              <a:t>Linear chat  </a:t>
            </a:r>
            <a:pPr algn="ctr" indent="0" marL="0">
              <a:buNone/>
            </a:pPr>
            <a:r>
              <a:rPr lang="en-US" sz="1200" b="1" dirty="0">
                <a:solidFill>
                  <a:srgbClr val="2BC4C4"/>
                </a:solidFill>
                <a:latin typeface="Arial" pitchFamily="34" charset="0"/>
                <a:ea typeface="Arial" pitchFamily="34" charset="-122"/>
                <a:cs typeface="Arial" pitchFamily="34" charset="-120"/>
              </a:rPr>
              <a:t>→  </a:t>
            </a:r>
            <a:pPr algn="ctr" indent="0" marL="0">
              <a:buNone/>
            </a:pPr>
            <a:r>
              <a:rPr lang="en-US" sz="1100" b="1" dirty="0">
                <a:solidFill>
                  <a:srgbClr val="FFFFFF"/>
                </a:solidFill>
                <a:latin typeface="Arial" pitchFamily="34" charset="0"/>
                <a:ea typeface="Arial" pitchFamily="34" charset="-122"/>
                <a:cs typeface="Arial" pitchFamily="34" charset="-120"/>
              </a:rPr>
              <a:t>Autonomous loops</a:t>
            </a:r>
            <a:endParaRPr lang="en-US" sz="1100" dirty="0"/>
          </a:p>
        </p:txBody>
      </p:sp>
      <p:sp>
        <p:nvSpPr>
          <p:cNvPr id="13" name="Text 11"/>
          <p:cNvSpPr/>
          <p:nvPr/>
        </p:nvSpPr>
        <p:spPr>
          <a:xfrm>
            <a:off x="566928" y="3511296"/>
            <a:ext cx="2478024" cy="457200"/>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Models became self-correcting agents that run until the task is done.</a:t>
            </a:r>
            <a:endParaRPr lang="en-US" sz="850" dirty="0"/>
          </a:p>
        </p:txBody>
      </p:sp>
      <p:sp>
        <p:nvSpPr>
          <p:cNvPr id="14" name="Text 12"/>
          <p:cNvSpPr/>
          <p:nvPr/>
        </p:nvSpPr>
        <p:spPr>
          <a:xfrm>
            <a:off x="3264408" y="1463040"/>
            <a:ext cx="2697480" cy="182880"/>
          </a:xfrm>
          <a:prstGeom prst="rect">
            <a:avLst/>
          </a:prstGeom>
          <a:noFill/>
          <a:ln/>
        </p:spPr>
        <p:txBody>
          <a:bodyPr wrap="square" lIns="0" tIns="0" rIns="0" bIns="0" rtlCol="0" anchor="ctr"/>
          <a:lstStyle/>
          <a:p>
            <a:pPr algn="ctr" indent="0" marL="0">
              <a:buNone/>
            </a:pPr>
            <a:r>
              <a:rPr lang="en-US" sz="800" b="1" spc="200" kern="0" dirty="0">
                <a:solidFill>
                  <a:srgbClr val="F6693D"/>
                </a:solidFill>
                <a:latin typeface="Arial" pitchFamily="34" charset="0"/>
                <a:ea typeface="Arial" pitchFamily="34" charset="-122"/>
                <a:cs typeface="Arial" pitchFamily="34" charset="-120"/>
              </a:rPr>
              <a:t>ECONOMICS</a:t>
            </a:r>
            <a:endParaRPr lang="en-US" sz="800" dirty="0"/>
          </a:p>
        </p:txBody>
      </p:sp>
      <p:sp>
        <p:nvSpPr>
          <p:cNvPr id="15" name="Shape 13"/>
          <p:cNvSpPr/>
          <p:nvPr/>
        </p:nvSpPr>
        <p:spPr>
          <a:xfrm>
            <a:off x="3264408" y="1700784"/>
            <a:ext cx="2697480" cy="1417320"/>
          </a:xfrm>
          <a:prstGeom prst="rect">
            <a:avLst/>
          </a:prstGeom>
          <a:solidFill>
            <a:srgbClr val="1E1E24"/>
          </a:solidFill>
          <a:ln w="12700">
            <a:solidFill>
              <a:srgbClr val="2A2A30"/>
            </a:solidFill>
            <a:prstDash val="dash"/>
          </a:ln>
        </p:spPr>
      </p:sp>
      <p:sp>
        <p:nvSpPr>
          <p:cNvPr id="16" name="Shape 14"/>
          <p:cNvSpPr/>
          <p:nvPr/>
        </p:nvSpPr>
        <p:spPr>
          <a:xfrm>
            <a:off x="3264408" y="1700784"/>
            <a:ext cx="310896" cy="36576"/>
          </a:xfrm>
          <a:prstGeom prst="rect">
            <a:avLst/>
          </a:prstGeom>
          <a:solidFill>
            <a:srgbClr val="F6693D"/>
          </a:solidFill>
          <a:ln/>
        </p:spPr>
      </p:sp>
      <p:sp>
        <p:nvSpPr>
          <p:cNvPr id="17" name="Shape 15"/>
          <p:cNvSpPr/>
          <p:nvPr/>
        </p:nvSpPr>
        <p:spPr>
          <a:xfrm>
            <a:off x="3264408" y="1700784"/>
            <a:ext cx="36576" cy="310896"/>
          </a:xfrm>
          <a:prstGeom prst="rect">
            <a:avLst/>
          </a:prstGeom>
          <a:solidFill>
            <a:srgbClr val="F6693D"/>
          </a:solidFill>
          <a:ln/>
        </p:spPr>
      </p:sp>
      <p:sp>
        <p:nvSpPr>
          <p:cNvPr id="18" name="Shape 16"/>
          <p:cNvSpPr/>
          <p:nvPr/>
        </p:nvSpPr>
        <p:spPr>
          <a:xfrm>
            <a:off x="5650992" y="3081528"/>
            <a:ext cx="310896" cy="36576"/>
          </a:xfrm>
          <a:prstGeom prst="rect">
            <a:avLst/>
          </a:prstGeom>
          <a:solidFill>
            <a:srgbClr val="F6693D"/>
          </a:solidFill>
          <a:ln/>
        </p:spPr>
      </p:sp>
      <p:sp>
        <p:nvSpPr>
          <p:cNvPr id="19" name="Shape 17"/>
          <p:cNvSpPr/>
          <p:nvPr/>
        </p:nvSpPr>
        <p:spPr>
          <a:xfrm>
            <a:off x="5925312" y="2807208"/>
            <a:ext cx="36576" cy="310896"/>
          </a:xfrm>
          <a:prstGeom prst="rect">
            <a:avLst/>
          </a:prstGeom>
          <a:solidFill>
            <a:srgbClr val="F6693D"/>
          </a:solidFill>
          <a:ln/>
        </p:spPr>
      </p:sp>
      <p:sp>
        <p:nvSpPr>
          <p:cNvPr id="20" name="Text 18"/>
          <p:cNvSpPr/>
          <p:nvPr/>
        </p:nvSpPr>
        <p:spPr>
          <a:xfrm>
            <a:off x="3447288" y="1847088"/>
            <a:ext cx="2331720" cy="219456"/>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IMAGE  ·  economics</a:t>
            </a:r>
            <a:endParaRPr lang="en-US" sz="900" dirty="0"/>
          </a:p>
        </p:txBody>
      </p:sp>
      <p:sp>
        <p:nvSpPr>
          <p:cNvPr id="21" name="Text 19"/>
          <p:cNvSpPr/>
          <p:nvPr/>
        </p:nvSpPr>
        <p:spPr>
          <a:xfrm>
            <a:off x="3447288" y="2121408"/>
            <a:ext cx="2331720" cy="81381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shift-economics.png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coin-operated electricity meter wired into a GPU, its dial pushed near a red limit line, a small rationed stack of glowing token-coins beside it, orange accents, near-black background, clean low-poly vector style, soft studio glow, subtle floor grid, centered, no text, no logos.</a:t>
            </a:r>
            <a:endParaRPr lang="en-US" sz="700" dirty="0"/>
          </a:p>
        </p:txBody>
      </p:sp>
      <p:sp>
        <p:nvSpPr>
          <p:cNvPr id="22" name="Text 20"/>
          <p:cNvSpPr/>
          <p:nvPr/>
        </p:nvSpPr>
        <p:spPr>
          <a:xfrm>
            <a:off x="3264408" y="3200400"/>
            <a:ext cx="2697480" cy="274320"/>
          </a:xfrm>
          <a:prstGeom prst="rect">
            <a:avLst/>
          </a:prstGeom>
          <a:noFill/>
          <a:ln/>
        </p:spPr>
        <p:txBody>
          <a:bodyPr wrap="square" lIns="0" tIns="0" rIns="0" bIns="0" rtlCol="0" anchor="ctr"/>
          <a:lstStyle/>
          <a:p>
            <a:pPr algn="ctr" indent="0" marL="0">
              <a:buNone/>
            </a:pPr>
            <a:r>
              <a:rPr lang="en-US" sz="1100" b="1" dirty="0">
                <a:solidFill>
                  <a:srgbClr val="C9C9CE"/>
                </a:solidFill>
                <a:latin typeface="Arial" pitchFamily="34" charset="0"/>
                <a:ea typeface="Arial" pitchFamily="34" charset="-122"/>
                <a:cs typeface="Arial" pitchFamily="34" charset="-120"/>
              </a:rPr>
              <a:t>Token subsidy  </a:t>
            </a:r>
            <a:pPr algn="ctr" indent="0" marL="0">
              <a:buNone/>
            </a:pPr>
            <a:r>
              <a:rPr lang="en-US" sz="1200" b="1" dirty="0">
                <a:solidFill>
                  <a:srgbClr val="F6693D"/>
                </a:solidFill>
                <a:latin typeface="Arial" pitchFamily="34" charset="0"/>
                <a:ea typeface="Arial" pitchFamily="34" charset="-122"/>
                <a:cs typeface="Arial" pitchFamily="34" charset="-120"/>
              </a:rPr>
              <a:t>→  </a:t>
            </a:r>
            <a:pPr algn="ctr" indent="0" marL="0">
              <a:buNone/>
            </a:pPr>
            <a:r>
              <a:rPr lang="en-US" sz="1100" b="1" dirty="0">
                <a:solidFill>
                  <a:srgbClr val="FFFFFF"/>
                </a:solidFill>
                <a:latin typeface="Arial" pitchFamily="34" charset="0"/>
                <a:ea typeface="Arial" pitchFamily="34" charset="-122"/>
                <a:cs typeface="Arial" pitchFamily="34" charset="-120"/>
              </a:rPr>
              <a:t>Token scarcity</a:t>
            </a:r>
            <a:endParaRPr lang="en-US" sz="1100" dirty="0"/>
          </a:p>
        </p:txBody>
      </p:sp>
      <p:sp>
        <p:nvSpPr>
          <p:cNvPr id="23" name="Text 21"/>
          <p:cNvSpPr/>
          <p:nvPr/>
        </p:nvSpPr>
        <p:spPr>
          <a:xfrm>
            <a:off x="3374136" y="3511296"/>
            <a:ext cx="2478024" cy="457200"/>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Labs stopped subsidizing tokens; enterprises now ration them like a commodity.</a:t>
            </a:r>
            <a:endParaRPr lang="en-US" sz="850" dirty="0"/>
          </a:p>
        </p:txBody>
      </p:sp>
      <p:sp>
        <p:nvSpPr>
          <p:cNvPr id="24" name="Text 22"/>
          <p:cNvSpPr/>
          <p:nvPr/>
        </p:nvSpPr>
        <p:spPr>
          <a:xfrm>
            <a:off x="6071616" y="1463040"/>
            <a:ext cx="2697480" cy="182880"/>
          </a:xfrm>
          <a:prstGeom prst="rect">
            <a:avLst/>
          </a:prstGeom>
          <a:noFill/>
          <a:ln/>
        </p:spPr>
        <p:txBody>
          <a:bodyPr wrap="square" lIns="0" tIns="0" rIns="0" bIns="0" rtlCol="0" anchor="ctr"/>
          <a:lstStyle/>
          <a:p>
            <a:pPr algn="ctr" indent="0" marL="0">
              <a:buNone/>
            </a:pPr>
            <a:r>
              <a:rPr lang="en-US" sz="800" b="1" spc="200" kern="0" dirty="0">
                <a:solidFill>
                  <a:srgbClr val="9B7BE0"/>
                </a:solidFill>
                <a:latin typeface="Arial" pitchFamily="34" charset="0"/>
                <a:ea typeface="Arial" pitchFamily="34" charset="-122"/>
                <a:cs typeface="Arial" pitchFamily="34" charset="-120"/>
              </a:rPr>
              <a:t>POLICY</a:t>
            </a:r>
            <a:endParaRPr lang="en-US" sz="800" dirty="0"/>
          </a:p>
        </p:txBody>
      </p:sp>
      <p:sp>
        <p:nvSpPr>
          <p:cNvPr id="25" name="Shape 23"/>
          <p:cNvSpPr/>
          <p:nvPr/>
        </p:nvSpPr>
        <p:spPr>
          <a:xfrm>
            <a:off x="6071616" y="1700784"/>
            <a:ext cx="2697480" cy="1417320"/>
          </a:xfrm>
          <a:prstGeom prst="rect">
            <a:avLst/>
          </a:prstGeom>
          <a:solidFill>
            <a:srgbClr val="1E1E24"/>
          </a:solidFill>
          <a:ln w="12700">
            <a:solidFill>
              <a:srgbClr val="2A2A30"/>
            </a:solidFill>
            <a:prstDash val="dash"/>
          </a:ln>
        </p:spPr>
      </p:sp>
      <p:sp>
        <p:nvSpPr>
          <p:cNvPr id="26" name="Shape 24"/>
          <p:cNvSpPr/>
          <p:nvPr/>
        </p:nvSpPr>
        <p:spPr>
          <a:xfrm>
            <a:off x="6071616" y="1700784"/>
            <a:ext cx="310896" cy="36576"/>
          </a:xfrm>
          <a:prstGeom prst="rect">
            <a:avLst/>
          </a:prstGeom>
          <a:solidFill>
            <a:srgbClr val="9B7BE0"/>
          </a:solidFill>
          <a:ln/>
        </p:spPr>
      </p:sp>
      <p:sp>
        <p:nvSpPr>
          <p:cNvPr id="27" name="Shape 25"/>
          <p:cNvSpPr/>
          <p:nvPr/>
        </p:nvSpPr>
        <p:spPr>
          <a:xfrm>
            <a:off x="6071616" y="1700784"/>
            <a:ext cx="36576" cy="310896"/>
          </a:xfrm>
          <a:prstGeom prst="rect">
            <a:avLst/>
          </a:prstGeom>
          <a:solidFill>
            <a:srgbClr val="9B7BE0"/>
          </a:solidFill>
          <a:ln/>
        </p:spPr>
      </p:sp>
      <p:sp>
        <p:nvSpPr>
          <p:cNvPr id="28" name="Shape 26"/>
          <p:cNvSpPr/>
          <p:nvPr/>
        </p:nvSpPr>
        <p:spPr>
          <a:xfrm>
            <a:off x="8458200" y="3081528"/>
            <a:ext cx="310896" cy="36576"/>
          </a:xfrm>
          <a:prstGeom prst="rect">
            <a:avLst/>
          </a:prstGeom>
          <a:solidFill>
            <a:srgbClr val="9B7BE0"/>
          </a:solidFill>
          <a:ln/>
        </p:spPr>
      </p:sp>
      <p:sp>
        <p:nvSpPr>
          <p:cNvPr id="29" name="Shape 27"/>
          <p:cNvSpPr/>
          <p:nvPr/>
        </p:nvSpPr>
        <p:spPr>
          <a:xfrm>
            <a:off x="8732520" y="2807208"/>
            <a:ext cx="36576" cy="310896"/>
          </a:xfrm>
          <a:prstGeom prst="rect">
            <a:avLst/>
          </a:prstGeom>
          <a:solidFill>
            <a:srgbClr val="9B7BE0"/>
          </a:solidFill>
          <a:ln/>
        </p:spPr>
      </p:sp>
      <p:sp>
        <p:nvSpPr>
          <p:cNvPr id="30" name="Text 28"/>
          <p:cNvSpPr/>
          <p:nvPr/>
        </p:nvSpPr>
        <p:spPr>
          <a:xfrm>
            <a:off x="6254496" y="1847088"/>
            <a:ext cx="2331720" cy="219456"/>
          </a:xfrm>
          <a:prstGeom prst="rect">
            <a:avLst/>
          </a:prstGeom>
          <a:noFill/>
          <a:ln/>
        </p:spPr>
        <p:txBody>
          <a:bodyPr wrap="square" lIns="0" tIns="0" rIns="0" bIns="0" rtlCol="0" anchor="ctr"/>
          <a:lstStyle/>
          <a:p>
            <a:pPr indent="0" marL="0">
              <a:buNone/>
            </a:pPr>
            <a:r>
              <a:rPr lang="en-US" sz="900" b="1" spc="200" kern="0" dirty="0">
                <a:solidFill>
                  <a:srgbClr val="9B7BE0"/>
                </a:solidFill>
                <a:latin typeface="Arial" pitchFamily="34" charset="0"/>
                <a:ea typeface="Arial" pitchFamily="34" charset="-122"/>
                <a:cs typeface="Arial" pitchFamily="34" charset="-120"/>
              </a:rPr>
              <a:t>IMAGE  ·  policy</a:t>
            </a:r>
            <a:endParaRPr lang="en-US" sz="900" dirty="0"/>
          </a:p>
        </p:txBody>
      </p:sp>
      <p:sp>
        <p:nvSpPr>
          <p:cNvPr id="31" name="Text 29"/>
          <p:cNvSpPr/>
          <p:nvPr/>
        </p:nvSpPr>
        <p:spPr>
          <a:xfrm>
            <a:off x="6254496" y="2121408"/>
            <a:ext cx="2331720" cy="81381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shift-policy.png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capitol dome beside a server-rack tower; a giant government hand plants a flag stamped with a percent sign on the tower while an official seal hovers over a glowing microchip, purple accents, near-black background, clean low-poly vector style, soft studio glow, subtle floor grid, centered, no text, no logos.</a:t>
            </a:r>
            <a:endParaRPr lang="en-US" sz="700" dirty="0"/>
          </a:p>
        </p:txBody>
      </p:sp>
      <p:sp>
        <p:nvSpPr>
          <p:cNvPr id="32" name="Text 30"/>
          <p:cNvSpPr/>
          <p:nvPr/>
        </p:nvSpPr>
        <p:spPr>
          <a:xfrm>
            <a:off x="6071616" y="3200400"/>
            <a:ext cx="2697480" cy="274320"/>
          </a:xfrm>
          <a:prstGeom prst="rect">
            <a:avLst/>
          </a:prstGeom>
          <a:noFill/>
          <a:ln/>
        </p:spPr>
        <p:txBody>
          <a:bodyPr wrap="square" lIns="0" tIns="0" rIns="0" bIns="0" rtlCol="0" anchor="ctr"/>
          <a:lstStyle/>
          <a:p>
            <a:pPr algn="ctr" indent="0" marL="0">
              <a:buNone/>
            </a:pPr>
            <a:r>
              <a:rPr lang="en-US" sz="1100" b="1" dirty="0">
                <a:solidFill>
                  <a:srgbClr val="C9C9CE"/>
                </a:solidFill>
                <a:latin typeface="Arial" pitchFamily="34" charset="0"/>
                <a:ea typeface="Arial" pitchFamily="34" charset="-122"/>
                <a:cs typeface="Arial" pitchFamily="34" charset="-120"/>
              </a:rPr>
              <a:t>Private tech  </a:t>
            </a:r>
            <a:pPr algn="ctr" indent="0" marL="0">
              <a:buNone/>
            </a:pPr>
            <a:r>
              <a:rPr lang="en-US" sz="1200" b="1" dirty="0">
                <a:solidFill>
                  <a:srgbClr val="9B7BE0"/>
                </a:solidFill>
                <a:latin typeface="Arial" pitchFamily="34" charset="0"/>
                <a:ea typeface="Arial" pitchFamily="34" charset="-122"/>
                <a:cs typeface="Arial" pitchFamily="34" charset="-120"/>
              </a:rPr>
              <a:t>→  </a:t>
            </a:r>
            <a:pPr algn="ctr" indent="0" marL="0">
              <a:buNone/>
            </a:pPr>
            <a:r>
              <a:rPr lang="en-US" sz="1100" b="1" dirty="0">
                <a:solidFill>
                  <a:srgbClr val="FFFFFF"/>
                </a:solidFill>
                <a:latin typeface="Arial" pitchFamily="34" charset="0"/>
                <a:ea typeface="Arial" pitchFamily="34" charset="-122"/>
                <a:cs typeface="Arial" pitchFamily="34" charset="-120"/>
              </a:rPr>
              <a:t>Sovereign asset</a:t>
            </a:r>
            <a:endParaRPr lang="en-US" sz="1100" dirty="0"/>
          </a:p>
        </p:txBody>
      </p:sp>
      <p:sp>
        <p:nvSpPr>
          <p:cNvPr id="33" name="Text 31"/>
          <p:cNvSpPr/>
          <p:nvPr/>
        </p:nvSpPr>
        <p:spPr>
          <a:xfrm>
            <a:off x="6181344" y="3511296"/>
            <a:ext cx="2478024" cy="457200"/>
          </a:xfrm>
          <a:prstGeom prst="rect">
            <a:avLst/>
          </a:prstGeom>
          <a:noFill/>
          <a:ln/>
        </p:spPr>
        <p:txBody>
          <a:bodyPr wrap="square" lIns="0" tIns="0" rIns="0" bIns="0" rtlCol="0" anchor="t"/>
          <a:lstStyle/>
          <a:p>
            <a:pPr algn="ctr" indent="0" marL="0">
              <a:buNone/>
            </a:pPr>
            <a:r>
              <a:rPr lang="en-US" sz="850" dirty="0">
                <a:solidFill>
                  <a:srgbClr val="9A9AA0"/>
                </a:solidFill>
                <a:latin typeface="Arial" pitchFamily="34" charset="0"/>
                <a:ea typeface="Arial" pitchFamily="34" charset="-122"/>
                <a:cs typeface="Arial" pitchFamily="34" charset="-120"/>
              </a:rPr>
              <a:t>Governments now debate owning a piece of the labs, not just regulating them.</a:t>
            </a:r>
            <a:endParaRPr lang="en-US" sz="850" dirty="0"/>
          </a:p>
        </p:txBody>
      </p:sp>
      <p:sp>
        <p:nvSpPr>
          <p:cNvPr id="34" name="Shape 32"/>
          <p:cNvSpPr/>
          <p:nvPr/>
        </p:nvSpPr>
        <p:spPr>
          <a:xfrm>
            <a:off x="0" y="4041648"/>
            <a:ext cx="9144000" cy="457200"/>
          </a:xfrm>
          <a:prstGeom prst="rect">
            <a:avLst/>
          </a:prstGeom>
          <a:solidFill>
            <a:srgbClr val="1C1C20"/>
          </a:solidFill>
          <a:ln/>
        </p:spPr>
      </p:sp>
      <p:sp>
        <p:nvSpPr>
          <p:cNvPr id="35" name="Shape 33"/>
          <p:cNvSpPr/>
          <p:nvPr/>
        </p:nvSpPr>
        <p:spPr>
          <a:xfrm>
            <a:off x="0" y="4041648"/>
            <a:ext cx="64008" cy="457200"/>
          </a:xfrm>
          <a:prstGeom prst="rect">
            <a:avLst/>
          </a:prstGeom>
          <a:solidFill>
            <a:srgbClr val="FFD100"/>
          </a:solidFill>
          <a:ln/>
        </p:spPr>
      </p:sp>
      <p:sp>
        <p:nvSpPr>
          <p:cNvPr id="36" name="Text 34"/>
          <p:cNvSpPr/>
          <p:nvPr/>
        </p:nvSpPr>
        <p:spPr>
          <a:xfrm>
            <a:off x="457200" y="4041648"/>
            <a:ext cx="8229600"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The chatbot's economics are exhausted. The stack is reorganizing around token-burning agentic loops — and markets are repricing around it.</a:t>
            </a:r>
            <a:endParaRPr lang="en-US" sz="1100" dirty="0"/>
          </a:p>
        </p:txBody>
      </p:sp>
      <p:sp>
        <p:nvSpPr>
          <p:cNvPr id="37" name="Shape 35"/>
          <p:cNvSpPr/>
          <p:nvPr/>
        </p:nvSpPr>
        <p:spPr>
          <a:xfrm>
            <a:off x="0" y="4526280"/>
            <a:ext cx="9144000" cy="617220"/>
          </a:xfrm>
          <a:prstGeom prst="rect">
            <a:avLst/>
          </a:prstGeom>
          <a:solidFill>
            <a:srgbClr val="000000"/>
          </a:solidFill>
          <a:ln/>
        </p:spPr>
      </p:sp>
      <p:sp>
        <p:nvSpPr>
          <p:cNvPr id="38" name="Shape 36"/>
          <p:cNvSpPr/>
          <p:nvPr/>
        </p:nvSpPr>
        <p:spPr>
          <a:xfrm>
            <a:off x="0" y="4526280"/>
            <a:ext cx="9144000" cy="0"/>
          </a:xfrm>
          <a:prstGeom prst="line">
            <a:avLst/>
          </a:prstGeom>
          <a:noFill/>
          <a:ln w="6350">
            <a:solidFill>
              <a:srgbClr val="2A2A30"/>
            </a:solidFill>
            <a:prstDash val="solid"/>
          </a:ln>
        </p:spPr>
      </p:sp>
      <p:sp>
        <p:nvSpPr>
          <p:cNvPr id="39" name="Text 37"/>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40" name="Text 38"/>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DIAGNOSTIC MATRIX</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700" b="1" dirty="0">
                <a:solidFill>
                  <a:srgbClr val="FFFFFF"/>
                </a:solidFill>
                <a:latin typeface="Arial Black" pitchFamily="34" charset="0"/>
                <a:ea typeface="Arial Black" pitchFamily="34" charset="-122"/>
                <a:cs typeface="Arial Black" pitchFamily="34" charset="-120"/>
              </a:rPr>
              <a:t>The AI Era Diagnostic Matrix</a:t>
            </a:r>
            <a:endParaRPr lang="en-US" sz="27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Four dimensions where the shift from assisted to agentic shows up — each reprices differently.</a:t>
            </a:r>
            <a:endParaRPr lang="en-US" sz="1300" dirty="0"/>
          </a:p>
        </p:txBody>
      </p:sp>
      <p:sp>
        <p:nvSpPr>
          <p:cNvPr id="6" name="Shape 4"/>
          <p:cNvSpPr/>
          <p:nvPr/>
        </p:nvSpPr>
        <p:spPr>
          <a:xfrm>
            <a:off x="1737360" y="1691640"/>
            <a:ext cx="3291840" cy="384048"/>
          </a:xfrm>
          <a:prstGeom prst="rect">
            <a:avLst/>
          </a:prstGeom>
          <a:solidFill>
            <a:srgbClr val="1C1C20"/>
          </a:solidFill>
          <a:ln w="9525">
            <a:solidFill>
              <a:srgbClr val="2A2A30"/>
            </a:solidFill>
            <a:prstDash val="solid"/>
          </a:ln>
        </p:spPr>
      </p:sp>
      <p:sp>
        <p:nvSpPr>
          <p:cNvPr id="7" name="Text 5"/>
          <p:cNvSpPr/>
          <p:nvPr/>
        </p:nvSpPr>
        <p:spPr>
          <a:xfrm>
            <a:off x="1737360" y="1691640"/>
            <a:ext cx="3291840" cy="384048"/>
          </a:xfrm>
          <a:prstGeom prst="rect">
            <a:avLst/>
          </a:prstGeom>
          <a:noFill/>
          <a:ln/>
        </p:spPr>
        <p:txBody>
          <a:bodyPr wrap="square" lIns="0" tIns="0" rIns="0" bIns="0" rtlCol="0" anchor="ctr"/>
          <a:lstStyle/>
          <a:p>
            <a:pPr algn="ctr" indent="0" marL="0">
              <a:buNone/>
            </a:pPr>
            <a:r>
              <a:rPr lang="en-US" sz="1200" b="1" dirty="0">
                <a:solidFill>
                  <a:srgbClr val="9A9AA0"/>
                </a:solidFill>
                <a:latin typeface="Arial" pitchFamily="34" charset="0"/>
                <a:ea typeface="Arial" pitchFamily="34" charset="-122"/>
                <a:cs typeface="Arial" pitchFamily="34" charset="-120"/>
              </a:rPr>
              <a:t>The Assisted Era</a:t>
            </a:r>
            <a:endParaRPr lang="en-US" sz="1200" dirty="0"/>
          </a:p>
        </p:txBody>
      </p:sp>
      <p:sp>
        <p:nvSpPr>
          <p:cNvPr id="8" name="Shape 6"/>
          <p:cNvSpPr/>
          <p:nvPr/>
        </p:nvSpPr>
        <p:spPr>
          <a:xfrm>
            <a:off x="5486400" y="1691640"/>
            <a:ext cx="3291840" cy="384048"/>
          </a:xfrm>
          <a:prstGeom prst="rect">
            <a:avLst/>
          </a:prstGeom>
          <a:solidFill>
            <a:srgbClr val="1C1C20"/>
          </a:solidFill>
          <a:ln w="19050">
            <a:solidFill>
              <a:srgbClr val="2BC4C4"/>
            </a:solidFill>
            <a:prstDash val="solid"/>
          </a:ln>
        </p:spPr>
      </p:sp>
      <p:sp>
        <p:nvSpPr>
          <p:cNvPr id="9" name="Text 7"/>
          <p:cNvSpPr/>
          <p:nvPr/>
        </p:nvSpPr>
        <p:spPr>
          <a:xfrm>
            <a:off x="5486400" y="1691640"/>
            <a:ext cx="3291840" cy="384048"/>
          </a:xfrm>
          <a:prstGeom prst="rect">
            <a:avLst/>
          </a:prstGeom>
          <a:noFill/>
          <a:ln/>
        </p:spPr>
        <p:txBody>
          <a:bodyPr wrap="square" lIns="0" tIns="0" rIns="0" bIns="0" rtlCol="0" anchor="ctr"/>
          <a:lstStyle/>
          <a:p>
            <a:pPr algn="ctr" indent="0" marL="0">
              <a:buNone/>
            </a:pPr>
            <a:r>
              <a:rPr lang="en-US" sz="1200" b="1" dirty="0">
                <a:solidFill>
                  <a:srgbClr val="2BC4C4"/>
                </a:solidFill>
                <a:latin typeface="Arial" pitchFamily="34" charset="0"/>
                <a:ea typeface="Arial" pitchFamily="34" charset="-122"/>
                <a:cs typeface="Arial" pitchFamily="34" charset="-120"/>
              </a:rPr>
              <a:t>The Agentic Era</a:t>
            </a:r>
            <a:endParaRPr lang="en-US" sz="1200" dirty="0"/>
          </a:p>
        </p:txBody>
      </p:sp>
      <p:sp>
        <p:nvSpPr>
          <p:cNvPr id="10" name="Text 8"/>
          <p:cNvSpPr/>
          <p:nvPr/>
        </p:nvSpPr>
        <p:spPr>
          <a:xfrm>
            <a:off x="457200" y="2167128"/>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Interface</a:t>
            </a:r>
            <a:endParaRPr lang="en-US" sz="1050" dirty="0"/>
          </a:p>
        </p:txBody>
      </p:sp>
      <p:sp>
        <p:nvSpPr>
          <p:cNvPr id="11" name="Shape 9"/>
          <p:cNvSpPr/>
          <p:nvPr/>
        </p:nvSpPr>
        <p:spPr>
          <a:xfrm>
            <a:off x="1737360" y="2167128"/>
            <a:ext cx="3291840" cy="566928"/>
          </a:xfrm>
          <a:prstGeom prst="rect">
            <a:avLst/>
          </a:prstGeom>
          <a:solidFill>
            <a:srgbClr val="1C1C20"/>
          </a:solidFill>
          <a:ln w="9525">
            <a:solidFill>
              <a:srgbClr val="2A2A30"/>
            </a:solidFill>
            <a:prstDash val="solid"/>
          </a:ln>
        </p:spPr>
      </p:sp>
      <p:sp>
        <p:nvSpPr>
          <p:cNvPr id="12" name="Text 10"/>
          <p:cNvSpPr/>
          <p:nvPr/>
        </p:nvSpPr>
        <p:spPr>
          <a:xfrm>
            <a:off x="1901952" y="2167128"/>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Chat bubbles &amp; sequential prompts</a:t>
            </a:r>
            <a:endParaRPr lang="en-US" sz="1050" dirty="0"/>
          </a:p>
        </p:txBody>
      </p:sp>
      <p:sp>
        <p:nvSpPr>
          <p:cNvPr id="13" name="Text 11"/>
          <p:cNvSpPr/>
          <p:nvPr/>
        </p:nvSpPr>
        <p:spPr>
          <a:xfrm>
            <a:off x="5029200" y="2167128"/>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14" name="Shape 12"/>
          <p:cNvSpPr/>
          <p:nvPr/>
        </p:nvSpPr>
        <p:spPr>
          <a:xfrm>
            <a:off x="5486400" y="2167128"/>
            <a:ext cx="3291840" cy="566928"/>
          </a:xfrm>
          <a:prstGeom prst="rect">
            <a:avLst/>
          </a:prstGeom>
          <a:solidFill>
            <a:srgbClr val="1C1C20"/>
          </a:solidFill>
          <a:ln w="19050">
            <a:solidFill>
              <a:srgbClr val="2BC4C4"/>
            </a:solidFill>
            <a:prstDash val="solid"/>
          </a:ln>
        </p:spPr>
      </p:sp>
      <p:sp>
        <p:nvSpPr>
          <p:cNvPr id="15" name="Text 13"/>
          <p:cNvSpPr/>
          <p:nvPr/>
        </p:nvSpPr>
        <p:spPr>
          <a:xfrm>
            <a:off x="5650992" y="2167128"/>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Background loops &amp; parallel agents</a:t>
            </a:r>
            <a:endParaRPr lang="en-US" sz="1050" dirty="0"/>
          </a:p>
        </p:txBody>
      </p:sp>
      <p:sp>
        <p:nvSpPr>
          <p:cNvPr id="16" name="Text 14"/>
          <p:cNvSpPr/>
          <p:nvPr/>
        </p:nvSpPr>
        <p:spPr>
          <a:xfrm>
            <a:off x="457200" y="2825496"/>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Cost</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structure</a:t>
            </a:r>
            <a:endParaRPr lang="en-US" sz="1050" dirty="0"/>
          </a:p>
        </p:txBody>
      </p:sp>
      <p:sp>
        <p:nvSpPr>
          <p:cNvPr id="17" name="Shape 15"/>
          <p:cNvSpPr/>
          <p:nvPr/>
        </p:nvSpPr>
        <p:spPr>
          <a:xfrm>
            <a:off x="1737360" y="2825496"/>
            <a:ext cx="3291840" cy="566928"/>
          </a:xfrm>
          <a:prstGeom prst="rect">
            <a:avLst/>
          </a:prstGeom>
          <a:solidFill>
            <a:srgbClr val="1C1C20"/>
          </a:solidFill>
          <a:ln w="9525">
            <a:solidFill>
              <a:srgbClr val="2A2A30"/>
            </a:solidFill>
            <a:prstDash val="solid"/>
          </a:ln>
        </p:spPr>
      </p:sp>
      <p:sp>
        <p:nvSpPr>
          <p:cNvPr id="18" name="Text 16"/>
          <p:cNvSpPr/>
          <p:nvPr/>
        </p:nvSpPr>
        <p:spPr>
          <a:xfrm>
            <a:off x="1901952" y="2825496"/>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Flat seat-based subscriptions</a:t>
            </a:r>
            <a:endParaRPr lang="en-US" sz="1050" dirty="0"/>
          </a:p>
        </p:txBody>
      </p:sp>
      <p:sp>
        <p:nvSpPr>
          <p:cNvPr id="19" name="Text 17"/>
          <p:cNvSpPr/>
          <p:nvPr/>
        </p:nvSpPr>
        <p:spPr>
          <a:xfrm>
            <a:off x="5029200" y="2825496"/>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0" name="Shape 18"/>
          <p:cNvSpPr/>
          <p:nvPr/>
        </p:nvSpPr>
        <p:spPr>
          <a:xfrm>
            <a:off x="5486400" y="2825496"/>
            <a:ext cx="3291840" cy="566928"/>
          </a:xfrm>
          <a:prstGeom prst="rect">
            <a:avLst/>
          </a:prstGeom>
          <a:solidFill>
            <a:srgbClr val="1C1C20"/>
          </a:solidFill>
          <a:ln w="19050">
            <a:solidFill>
              <a:srgbClr val="2BC4C4"/>
            </a:solidFill>
            <a:prstDash val="solid"/>
          </a:ln>
        </p:spPr>
      </p:sp>
      <p:sp>
        <p:nvSpPr>
          <p:cNvPr id="21" name="Text 19"/>
          <p:cNvSpPr/>
          <p:nvPr/>
        </p:nvSpPr>
        <p:spPr>
          <a:xfrm>
            <a:off x="5650992" y="2825496"/>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Metered, usage-based token budgets</a:t>
            </a:r>
            <a:endParaRPr lang="en-US" sz="1050" dirty="0"/>
          </a:p>
        </p:txBody>
      </p:sp>
      <p:sp>
        <p:nvSpPr>
          <p:cNvPr id="22" name="Text 20"/>
          <p:cNvSpPr/>
          <p:nvPr/>
        </p:nvSpPr>
        <p:spPr>
          <a:xfrm>
            <a:off x="457200" y="3483864"/>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Primary</a:t>
            </a:r>
            <a:endParaRPr lang="en-US" sz="1050" dirty="0"/>
          </a:p>
          <a:p>
            <a:pPr indent="0" marL="0">
              <a:buNone/>
            </a:pPr>
            <a:r>
              <a:rPr lang="en-US" sz="1050" b="1" dirty="0">
                <a:solidFill>
                  <a:srgbClr val="FFFFFF"/>
                </a:solidFill>
                <a:latin typeface="Arial" pitchFamily="34" charset="0"/>
                <a:ea typeface="Arial" pitchFamily="34" charset="-122"/>
                <a:cs typeface="Arial" pitchFamily="34" charset="-120"/>
              </a:rPr>
              <a:t>output</a:t>
            </a:r>
            <a:endParaRPr lang="en-US" sz="1050" dirty="0"/>
          </a:p>
        </p:txBody>
      </p:sp>
      <p:sp>
        <p:nvSpPr>
          <p:cNvPr id="23" name="Shape 21"/>
          <p:cNvSpPr/>
          <p:nvPr/>
        </p:nvSpPr>
        <p:spPr>
          <a:xfrm>
            <a:off x="1737360" y="3483864"/>
            <a:ext cx="3291840" cy="566928"/>
          </a:xfrm>
          <a:prstGeom prst="rect">
            <a:avLst/>
          </a:prstGeom>
          <a:solidFill>
            <a:srgbClr val="1C1C20"/>
          </a:solidFill>
          <a:ln w="9525">
            <a:solidFill>
              <a:srgbClr val="2A2A30"/>
            </a:solidFill>
            <a:prstDash val="solid"/>
          </a:ln>
        </p:spPr>
      </p:sp>
      <p:sp>
        <p:nvSpPr>
          <p:cNvPr id="24" name="Text 22"/>
          <p:cNvSpPr/>
          <p:nvPr/>
        </p:nvSpPr>
        <p:spPr>
          <a:xfrm>
            <a:off x="1901952" y="3483864"/>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Text and code snippets</a:t>
            </a:r>
            <a:endParaRPr lang="en-US" sz="1050" dirty="0"/>
          </a:p>
        </p:txBody>
      </p:sp>
      <p:sp>
        <p:nvSpPr>
          <p:cNvPr id="25" name="Text 23"/>
          <p:cNvSpPr/>
          <p:nvPr/>
        </p:nvSpPr>
        <p:spPr>
          <a:xfrm>
            <a:off x="5029200" y="3483864"/>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26" name="Shape 24"/>
          <p:cNvSpPr/>
          <p:nvPr/>
        </p:nvSpPr>
        <p:spPr>
          <a:xfrm>
            <a:off x="5486400" y="3483864"/>
            <a:ext cx="3291840" cy="566928"/>
          </a:xfrm>
          <a:prstGeom prst="rect">
            <a:avLst/>
          </a:prstGeom>
          <a:solidFill>
            <a:srgbClr val="1C1C20"/>
          </a:solidFill>
          <a:ln w="19050">
            <a:solidFill>
              <a:srgbClr val="2BC4C4"/>
            </a:solidFill>
            <a:prstDash val="solid"/>
          </a:ln>
        </p:spPr>
      </p:sp>
      <p:sp>
        <p:nvSpPr>
          <p:cNvPr id="27" name="Text 25"/>
          <p:cNvSpPr/>
          <p:nvPr/>
        </p:nvSpPr>
        <p:spPr>
          <a:xfrm>
            <a:off x="5650992" y="3483864"/>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Disposable apps &amp; whole architectures</a:t>
            </a:r>
            <a:endParaRPr lang="en-US" sz="1050" dirty="0"/>
          </a:p>
        </p:txBody>
      </p:sp>
      <p:sp>
        <p:nvSpPr>
          <p:cNvPr id="28" name="Text 26"/>
          <p:cNvSpPr/>
          <p:nvPr/>
        </p:nvSpPr>
        <p:spPr>
          <a:xfrm>
            <a:off x="457200" y="4142232"/>
            <a:ext cx="1188720"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Bottleneck</a:t>
            </a:r>
            <a:endParaRPr lang="en-US" sz="1050" dirty="0"/>
          </a:p>
        </p:txBody>
      </p:sp>
      <p:sp>
        <p:nvSpPr>
          <p:cNvPr id="29" name="Shape 27"/>
          <p:cNvSpPr/>
          <p:nvPr/>
        </p:nvSpPr>
        <p:spPr>
          <a:xfrm>
            <a:off x="1737360" y="4142232"/>
            <a:ext cx="3291840" cy="566928"/>
          </a:xfrm>
          <a:prstGeom prst="rect">
            <a:avLst/>
          </a:prstGeom>
          <a:solidFill>
            <a:srgbClr val="1C1C20"/>
          </a:solidFill>
          <a:ln w="9525">
            <a:solidFill>
              <a:srgbClr val="2A2A30"/>
            </a:solidFill>
            <a:prstDash val="solid"/>
          </a:ln>
        </p:spPr>
      </p:sp>
      <p:sp>
        <p:nvSpPr>
          <p:cNvPr id="30" name="Text 28"/>
          <p:cNvSpPr/>
          <p:nvPr/>
        </p:nvSpPr>
        <p:spPr>
          <a:xfrm>
            <a:off x="1901952" y="4142232"/>
            <a:ext cx="2962656" cy="566928"/>
          </a:xfrm>
          <a:prstGeom prst="rect">
            <a:avLst/>
          </a:prstGeom>
          <a:noFill/>
          <a:ln/>
        </p:spPr>
        <p:txBody>
          <a:bodyPr wrap="square" lIns="0" tIns="0" rIns="0" bIns="0" rtlCol="0" anchor="ctr"/>
          <a:lstStyle/>
          <a:p>
            <a:pPr indent="0" marL="0">
              <a:buNone/>
            </a:pPr>
            <a:r>
              <a:rPr lang="en-US" sz="1050" dirty="0">
                <a:solidFill>
                  <a:srgbClr val="C9C9CE"/>
                </a:solidFill>
                <a:latin typeface="Arial" pitchFamily="34" charset="0"/>
                <a:ea typeface="Arial" pitchFamily="34" charset="-122"/>
                <a:cs typeface="Arial" pitchFamily="34" charset="-120"/>
              </a:rPr>
              <a:t>Human attention &amp; typing speed</a:t>
            </a:r>
            <a:endParaRPr lang="en-US" sz="1050" dirty="0"/>
          </a:p>
        </p:txBody>
      </p:sp>
      <p:sp>
        <p:nvSpPr>
          <p:cNvPr id="31" name="Text 29"/>
          <p:cNvSpPr/>
          <p:nvPr/>
        </p:nvSpPr>
        <p:spPr>
          <a:xfrm>
            <a:off x="5029200" y="4142232"/>
            <a:ext cx="457200" cy="566928"/>
          </a:xfrm>
          <a:prstGeom prst="rect">
            <a:avLst/>
          </a:prstGeom>
          <a:noFill/>
          <a:ln/>
        </p:spPr>
        <p:txBody>
          <a:bodyPr wrap="square" lIns="0" tIns="0" rIns="0" bIns="0" rtlCol="0" anchor="ctr"/>
          <a:lstStyle/>
          <a:p>
            <a:pPr algn="ctr" indent="0" marL="0">
              <a:buNone/>
            </a:pPr>
            <a:r>
              <a:rPr lang="en-US" sz="1300" dirty="0">
                <a:solidFill>
                  <a:srgbClr val="9A9A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5486400" y="4142232"/>
            <a:ext cx="3291840" cy="566928"/>
          </a:xfrm>
          <a:prstGeom prst="rect">
            <a:avLst/>
          </a:prstGeom>
          <a:solidFill>
            <a:srgbClr val="1C1C20"/>
          </a:solidFill>
          <a:ln w="19050">
            <a:solidFill>
              <a:srgbClr val="2BC4C4"/>
            </a:solidFill>
            <a:prstDash val="solid"/>
          </a:ln>
        </p:spPr>
      </p:sp>
      <p:sp>
        <p:nvSpPr>
          <p:cNvPr id="33" name="Text 31"/>
          <p:cNvSpPr/>
          <p:nvPr/>
        </p:nvSpPr>
        <p:spPr>
          <a:xfrm>
            <a:off x="5650992" y="4142232"/>
            <a:ext cx="2962656" cy="566928"/>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Token limits &amp; compute allocation</a:t>
            </a:r>
            <a:endParaRPr lang="en-US" sz="105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01  ·  WHAT'S HAPPENING  ·  AGENTIC LOOPS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2600" b="1" dirty="0">
                <a:solidFill>
                  <a:srgbClr val="FFFFFF"/>
                </a:solidFill>
                <a:latin typeface="Arial Black" pitchFamily="34" charset="0"/>
                <a:ea typeface="Arial Black" pitchFamily="34" charset="-122"/>
                <a:cs typeface="Arial Black" pitchFamily="34" charset="-120"/>
              </a:rPr>
              <a:t>From prompts to loops: demand has no ceiling</a:t>
            </a:r>
            <a:endParaRPr lang="en-US" sz="26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try, fail, fix, and ship on their own — and a loop burns orders of magnitude more tokens than a chat.</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200" kern="0" dirty="0">
                <a:solidFill>
                  <a:srgbClr val="2BC4C4"/>
                </a:solidFill>
                <a:latin typeface="Arial" pitchFamily="34" charset="0"/>
                <a:ea typeface="Arial" pitchFamily="34" charset="-122"/>
                <a:cs typeface="Arial" pitchFamily="34" charset="-120"/>
              </a:rPr>
              <a:t>THE AGENTIC LOOP</a:t>
            </a:r>
            <a:endParaRPr lang="en-US" sz="900" dirty="0"/>
          </a:p>
        </p:txBody>
      </p:sp>
      <p:sp>
        <p:nvSpPr>
          <p:cNvPr id="7" name="Shape 5"/>
          <p:cNvSpPr/>
          <p:nvPr/>
        </p:nvSpPr>
        <p:spPr>
          <a:xfrm>
            <a:off x="868680" y="2011680"/>
            <a:ext cx="1097280" cy="457200"/>
          </a:xfrm>
          <a:prstGeom prst="roundRect">
            <a:avLst>
              <a:gd name="adj" fmla="val 12000"/>
            </a:avLst>
          </a:prstGeom>
          <a:solidFill>
            <a:srgbClr val="1C1C20"/>
          </a:solidFill>
          <a:ln w="19050">
            <a:solidFill>
              <a:srgbClr val="2BC4C4"/>
            </a:solidFill>
            <a:prstDash val="solid"/>
          </a:ln>
        </p:spPr>
      </p:sp>
      <p:sp>
        <p:nvSpPr>
          <p:cNvPr id="8" name="Text 6"/>
          <p:cNvSpPr/>
          <p:nvPr/>
        </p:nvSpPr>
        <p:spPr>
          <a:xfrm>
            <a:off x="86868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TRY</a:t>
            </a:r>
            <a:endParaRPr lang="en-US" sz="1000" dirty="0"/>
          </a:p>
        </p:txBody>
      </p:sp>
      <p:sp>
        <p:nvSpPr>
          <p:cNvPr id="9" name="Shape 7"/>
          <p:cNvSpPr/>
          <p:nvPr/>
        </p:nvSpPr>
        <p:spPr>
          <a:xfrm>
            <a:off x="2514600" y="2011680"/>
            <a:ext cx="1097280" cy="457200"/>
          </a:xfrm>
          <a:prstGeom prst="roundRect">
            <a:avLst>
              <a:gd name="adj" fmla="val 12000"/>
            </a:avLst>
          </a:prstGeom>
          <a:solidFill>
            <a:srgbClr val="1C1C20"/>
          </a:solidFill>
          <a:ln w="19050">
            <a:solidFill>
              <a:srgbClr val="2BC4C4"/>
            </a:solidFill>
            <a:prstDash val="solid"/>
          </a:ln>
        </p:spPr>
      </p:sp>
      <p:sp>
        <p:nvSpPr>
          <p:cNvPr id="10" name="Text 8"/>
          <p:cNvSpPr/>
          <p:nvPr/>
        </p:nvSpPr>
        <p:spPr>
          <a:xfrm>
            <a:off x="2514600" y="201168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FAIL</a:t>
            </a:r>
            <a:endParaRPr lang="en-US" sz="1000" dirty="0"/>
          </a:p>
        </p:txBody>
      </p:sp>
      <p:sp>
        <p:nvSpPr>
          <p:cNvPr id="11" name="Shape 9"/>
          <p:cNvSpPr/>
          <p:nvPr/>
        </p:nvSpPr>
        <p:spPr>
          <a:xfrm>
            <a:off x="2514600" y="2880360"/>
            <a:ext cx="1097280" cy="457200"/>
          </a:xfrm>
          <a:prstGeom prst="roundRect">
            <a:avLst>
              <a:gd name="adj" fmla="val 12000"/>
            </a:avLst>
          </a:prstGeom>
          <a:solidFill>
            <a:srgbClr val="1C1C20"/>
          </a:solidFill>
          <a:ln w="19050">
            <a:solidFill>
              <a:srgbClr val="2BC4C4"/>
            </a:solidFill>
            <a:prstDash val="solid"/>
          </a:ln>
        </p:spPr>
      </p:sp>
      <p:sp>
        <p:nvSpPr>
          <p:cNvPr id="12" name="Text 10"/>
          <p:cNvSpPr/>
          <p:nvPr/>
        </p:nvSpPr>
        <p:spPr>
          <a:xfrm>
            <a:off x="251460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FIX</a:t>
            </a:r>
            <a:endParaRPr lang="en-US" sz="1000" dirty="0"/>
          </a:p>
        </p:txBody>
      </p:sp>
      <p:sp>
        <p:nvSpPr>
          <p:cNvPr id="13" name="Shape 11"/>
          <p:cNvSpPr/>
          <p:nvPr/>
        </p:nvSpPr>
        <p:spPr>
          <a:xfrm>
            <a:off x="868680" y="2880360"/>
            <a:ext cx="1097280" cy="457200"/>
          </a:xfrm>
          <a:prstGeom prst="roundRect">
            <a:avLst>
              <a:gd name="adj" fmla="val 12000"/>
            </a:avLst>
          </a:prstGeom>
          <a:solidFill>
            <a:srgbClr val="1C1C20"/>
          </a:solidFill>
          <a:ln w="19050">
            <a:solidFill>
              <a:srgbClr val="2BC4C4"/>
            </a:solidFill>
            <a:prstDash val="solid"/>
          </a:ln>
        </p:spPr>
      </p:sp>
      <p:sp>
        <p:nvSpPr>
          <p:cNvPr id="14" name="Text 12"/>
          <p:cNvSpPr/>
          <p:nvPr/>
        </p:nvSpPr>
        <p:spPr>
          <a:xfrm>
            <a:off x="868680" y="2880360"/>
            <a:ext cx="1097280" cy="457200"/>
          </a:xfrm>
          <a:prstGeom prst="rect">
            <a:avLst/>
          </a:prstGeom>
          <a:noFill/>
          <a:ln/>
        </p:spPr>
        <p:txBody>
          <a:bodyPr wrap="square" lIns="0" tIns="0" rIns="0" bIns="0" rtlCol="0" anchor="ctr"/>
          <a:lstStyle/>
          <a:p>
            <a:pPr algn="ctr" indent="0" marL="0">
              <a:buNone/>
            </a:pPr>
            <a:r>
              <a:rPr lang="en-US" sz="1000" b="1" dirty="0">
                <a:solidFill>
                  <a:srgbClr val="2BC4C4"/>
                </a:solidFill>
                <a:latin typeface="Arial" pitchFamily="34" charset="0"/>
                <a:ea typeface="Arial" pitchFamily="34" charset="-122"/>
                <a:cs typeface="Arial" pitchFamily="34" charset="-120"/>
              </a:rPr>
              <a:t>SHIP</a:t>
            </a:r>
            <a:endParaRPr lang="en-US" sz="1000" dirty="0"/>
          </a:p>
        </p:txBody>
      </p:sp>
      <p:sp>
        <p:nvSpPr>
          <p:cNvPr id="15" name="Shape 13"/>
          <p:cNvSpPr/>
          <p:nvPr/>
        </p:nvSpPr>
        <p:spPr>
          <a:xfrm>
            <a:off x="1993392" y="2240280"/>
            <a:ext cx="493776" cy="0"/>
          </a:xfrm>
          <a:prstGeom prst="line">
            <a:avLst/>
          </a:prstGeom>
          <a:noFill/>
          <a:ln w="22225">
            <a:solidFill>
              <a:srgbClr val="2BC4C4"/>
            </a:solidFill>
            <a:prstDash val="solid"/>
            <a:tailEnd type="triangle"/>
          </a:ln>
        </p:spPr>
      </p:sp>
      <p:sp>
        <p:nvSpPr>
          <p:cNvPr id="16" name="Shape 14"/>
          <p:cNvSpPr/>
          <p:nvPr/>
        </p:nvSpPr>
        <p:spPr>
          <a:xfrm>
            <a:off x="3063240" y="2496312"/>
            <a:ext cx="0" cy="365760"/>
          </a:xfrm>
          <a:prstGeom prst="line">
            <a:avLst/>
          </a:prstGeom>
          <a:noFill/>
          <a:ln w="22225">
            <a:solidFill>
              <a:srgbClr val="2BC4C4"/>
            </a:solidFill>
            <a:prstDash val="solid"/>
            <a:tailEnd type="triangle"/>
          </a:ln>
        </p:spPr>
      </p:sp>
      <p:sp>
        <p:nvSpPr>
          <p:cNvPr id="17" name="Shape 15"/>
          <p:cNvSpPr/>
          <p:nvPr/>
        </p:nvSpPr>
        <p:spPr>
          <a:xfrm flipH="1">
            <a:off x="1993392" y="3108960"/>
            <a:ext cx="493776" cy="0"/>
          </a:xfrm>
          <a:prstGeom prst="line">
            <a:avLst/>
          </a:prstGeom>
          <a:noFill/>
          <a:ln w="22225">
            <a:solidFill>
              <a:srgbClr val="2BC4C4"/>
            </a:solidFill>
            <a:prstDash val="solid"/>
            <a:tailEnd type="triangle"/>
          </a:ln>
        </p:spPr>
      </p:sp>
      <p:sp>
        <p:nvSpPr>
          <p:cNvPr id="18" name="Shape 16"/>
          <p:cNvSpPr/>
          <p:nvPr/>
        </p:nvSpPr>
        <p:spPr>
          <a:xfrm flipV="1">
            <a:off x="1417320" y="2496312"/>
            <a:ext cx="0" cy="365760"/>
          </a:xfrm>
          <a:prstGeom prst="line">
            <a:avLst/>
          </a:prstGeom>
          <a:noFill/>
          <a:ln w="22225">
            <a:solidFill>
              <a:srgbClr val="2BC4C4"/>
            </a:solidFill>
            <a:prstDash val="solid"/>
            <a:tailEnd type="triangle"/>
          </a:ln>
        </p:spPr>
      </p:sp>
      <p:sp>
        <p:nvSpPr>
          <p:cNvPr id="19" name="Text 17"/>
          <p:cNvSpPr/>
          <p:nvPr/>
        </p:nvSpPr>
        <p:spPr>
          <a:xfrm>
            <a:off x="1764792" y="2542032"/>
            <a:ext cx="813816" cy="320040"/>
          </a:xfrm>
          <a:prstGeom prst="rect">
            <a:avLst/>
          </a:prstGeom>
          <a:noFill/>
          <a:ln/>
        </p:spPr>
        <p:txBody>
          <a:bodyPr wrap="square" lIns="0" tIns="0" rIns="0" bIns="0" rtlCol="0" anchor="ctr"/>
          <a:lstStyle/>
          <a:p>
            <a:pPr algn="ctr" indent="0" marL="0">
              <a:buNone/>
            </a:pPr>
            <a:r>
              <a:rPr lang="en-US" sz="700" i="1" dirty="0">
                <a:solidFill>
                  <a:srgbClr val="9A9AA0"/>
                </a:solidFill>
                <a:latin typeface="Arial" pitchFamily="34" charset="0"/>
                <a:ea typeface="Arial" pitchFamily="34" charset="-122"/>
                <a:cs typeface="Arial" pitchFamily="34" charset="-120"/>
              </a:rPr>
              <a:t>runs until</a:t>
            </a:r>
            <a:endParaRPr lang="en-US" sz="700" dirty="0"/>
          </a:p>
          <a:p>
            <a:pPr algn="ctr" indent="0" marL="0">
              <a:buNone/>
            </a:pPr>
            <a:r>
              <a:rPr lang="en-US" sz="700" i="1" dirty="0">
                <a:solidFill>
                  <a:srgbClr val="9A9AA0"/>
                </a:solidFill>
                <a:latin typeface="Arial" pitchFamily="34" charset="0"/>
                <a:ea typeface="Arial" pitchFamily="34" charset="-122"/>
                <a:cs typeface="Arial" pitchFamily="34" charset="-120"/>
              </a:rPr>
              <a:t>done</a:t>
            </a:r>
            <a:endParaRPr lang="en-US" sz="700" dirty="0"/>
          </a:p>
        </p:txBody>
      </p:sp>
      <p:sp>
        <p:nvSpPr>
          <p:cNvPr id="20" name="Text 18"/>
          <p:cNvSpPr/>
          <p:nvPr/>
        </p:nvSpPr>
        <p:spPr>
          <a:xfrm>
            <a:off x="457200" y="3584448"/>
            <a:ext cx="3931920" cy="292608"/>
          </a:xfrm>
          <a:prstGeom prst="rect">
            <a:avLst/>
          </a:prstGeom>
          <a:noFill/>
          <a:ln/>
        </p:spPr>
        <p:txBody>
          <a:bodyPr wrap="square" lIns="0" tIns="0" rIns="0" bIns="0" rtlCol="0" anchor="ctr"/>
          <a:lstStyle/>
          <a:p>
            <a:pPr indent="0" marL="0">
              <a:buNone/>
            </a:pPr>
            <a:r>
              <a:rPr lang="en-US" sz="1400" b="1" dirty="0">
                <a:solidFill>
                  <a:srgbClr val="FFFFFF"/>
                </a:solidFill>
                <a:latin typeface="Arial Black" pitchFamily="34" charset="0"/>
                <a:ea typeface="Arial Black" pitchFamily="34" charset="-122"/>
                <a:cs typeface="Arial Black" pitchFamily="34" charset="-120"/>
              </a:rPr>
              <a:t>“My job is to write loops.”</a:t>
            </a:r>
            <a:endParaRPr lang="en-US" sz="1400" dirty="0"/>
          </a:p>
        </p:txBody>
      </p:sp>
      <p:sp>
        <p:nvSpPr>
          <p:cNvPr id="21" name="Text 19"/>
          <p:cNvSpPr/>
          <p:nvPr/>
        </p:nvSpPr>
        <p:spPr>
          <a:xfrm>
            <a:off x="457200" y="3886200"/>
            <a:ext cx="3931920" cy="182880"/>
          </a:xfrm>
          <a:prstGeom prst="rect">
            <a:avLst/>
          </a:prstGeom>
          <a:noFill/>
          <a:ln/>
        </p:spPr>
        <p:txBody>
          <a:bodyPr wrap="square" lIns="0" tIns="0" rIns="0" bIns="0" rtlCol="0" anchor="ctr"/>
          <a:lstStyle/>
          <a:p>
            <a:pPr indent="0" marL="0">
              <a:buNone/>
            </a:pPr>
            <a:r>
              <a:rPr lang="en-US" sz="750" dirty="0">
                <a:solidFill>
                  <a:srgbClr val="9A9AA0"/>
                </a:solidFill>
                <a:latin typeface="Arial" pitchFamily="34" charset="0"/>
                <a:ea typeface="Arial" pitchFamily="34" charset="-122"/>
                <a:cs typeface="Arial" pitchFamily="34" charset="-120"/>
              </a:rPr>
              <a:t>Boris Cherny — the agentic workflow in one sentence</a:t>
            </a:r>
            <a:endParaRPr lang="en-US" sz="750" dirty="0"/>
          </a:p>
        </p:txBody>
      </p:sp>
      <p:sp>
        <p:nvSpPr>
          <p:cNvPr id="22" name="Text 20"/>
          <p:cNvSpPr/>
          <p:nvPr/>
        </p:nvSpPr>
        <p:spPr>
          <a:xfrm>
            <a:off x="4663440" y="1664208"/>
            <a:ext cx="402336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AS FRICTION FALLS, MORE GETS BUILT</a:t>
            </a:r>
            <a:endParaRPr lang="en-US" sz="900" dirty="0"/>
          </a:p>
        </p:txBody>
      </p:sp>
      <p:sp>
        <p:nvSpPr>
          <p:cNvPr id="23" name="Text 21"/>
          <p:cNvSpPr/>
          <p:nvPr/>
        </p:nvSpPr>
        <p:spPr>
          <a:xfrm>
            <a:off x="4663440" y="1883664"/>
            <a:ext cx="4023360" cy="164592"/>
          </a:xfrm>
          <a:prstGeom prst="rect">
            <a:avLst/>
          </a:prstGeom>
          <a:noFill/>
          <a:ln/>
        </p:spPr>
        <p:txBody>
          <a:bodyPr wrap="square" lIns="0" tIns="0" rIns="0" bIns="0" rtlCol="0" anchor="ctr"/>
          <a:lstStyle/>
          <a:p>
            <a:pPr algn="r" indent="0" marL="0">
              <a:buNone/>
            </a:pPr>
            <a:r>
              <a:rPr lang="en-US" sz="750" i="1" dirty="0">
                <a:solidFill>
                  <a:srgbClr val="9A9AA0"/>
                </a:solidFill>
                <a:latin typeface="Arial" pitchFamily="34" charset="0"/>
                <a:ea typeface="Arial" pitchFamily="34" charset="-122"/>
                <a:cs typeface="Arial" pitchFamily="34" charset="-120"/>
              </a:rPr>
              <a:t>compute demanded ↑</a:t>
            </a:r>
            <a:endParaRPr lang="en-US" sz="750" dirty="0"/>
          </a:p>
        </p:txBody>
      </p:sp>
      <p:sp>
        <p:nvSpPr>
          <p:cNvPr id="24" name="Shape 22"/>
          <p:cNvSpPr/>
          <p:nvPr/>
        </p:nvSpPr>
        <p:spPr>
          <a:xfrm>
            <a:off x="4892040" y="3200400"/>
            <a:ext cx="777240" cy="411480"/>
          </a:xfrm>
          <a:prstGeom prst="rect">
            <a:avLst/>
          </a:prstGeom>
          <a:solidFill>
            <a:srgbClr val="3E3E46"/>
          </a:solidFill>
          <a:ln/>
        </p:spPr>
      </p:sp>
      <p:sp>
        <p:nvSpPr>
          <p:cNvPr id="25" name="Text 23"/>
          <p:cNvSpPr/>
          <p:nvPr/>
        </p:nvSpPr>
        <p:spPr>
          <a:xfrm>
            <a:off x="478231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Internal</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PDF summaries</a:t>
            </a:r>
            <a:endParaRPr lang="en-US" sz="680" dirty="0"/>
          </a:p>
        </p:txBody>
      </p:sp>
      <p:sp>
        <p:nvSpPr>
          <p:cNvPr id="26" name="Shape 24"/>
          <p:cNvSpPr/>
          <p:nvPr/>
        </p:nvSpPr>
        <p:spPr>
          <a:xfrm>
            <a:off x="5852160" y="2834640"/>
            <a:ext cx="777240" cy="777240"/>
          </a:xfrm>
          <a:prstGeom prst="rect">
            <a:avLst/>
          </a:prstGeom>
          <a:solidFill>
            <a:srgbClr val="3E3E46"/>
          </a:solidFill>
          <a:ln/>
        </p:spPr>
      </p:sp>
      <p:sp>
        <p:nvSpPr>
          <p:cNvPr id="27" name="Text 25"/>
          <p:cNvSpPr/>
          <p:nvPr/>
        </p:nvSpPr>
        <p:spPr>
          <a:xfrm>
            <a:off x="5742432" y="3657600"/>
            <a:ext cx="996696" cy="384048"/>
          </a:xfrm>
          <a:prstGeom prst="rect">
            <a:avLst/>
          </a:prstGeom>
          <a:noFill/>
          <a:ln/>
        </p:spPr>
        <p:txBody>
          <a:bodyPr wrap="square" lIns="0" tIns="0" rIns="0" bIns="0" rtlCol="0" anchor="t"/>
          <a:lstStyle/>
          <a:p>
            <a:pPr algn="ctr" indent="0" marL="0">
              <a:buNone/>
            </a:pPr>
            <a:r>
              <a:rPr lang="en-US" sz="680" dirty="0">
                <a:solidFill>
                  <a:srgbClr val="9A9AA0"/>
                </a:solidFill>
                <a:latin typeface="Arial" pitchFamily="34" charset="0"/>
                <a:ea typeface="Arial" pitchFamily="34" charset="-122"/>
                <a:cs typeface="Arial" pitchFamily="34" charset="-120"/>
              </a:rPr>
              <a:t>Custom</a:t>
            </a:r>
            <a:endParaRPr lang="en-US" sz="680" dirty="0"/>
          </a:p>
          <a:p>
            <a:pPr algn="ctr" indent="0" marL="0">
              <a:buNone/>
            </a:pPr>
            <a:r>
              <a:rPr lang="en-US" sz="680" dirty="0">
                <a:solidFill>
                  <a:srgbClr val="9A9AA0"/>
                </a:solidFill>
                <a:latin typeface="Arial" pitchFamily="34" charset="0"/>
                <a:ea typeface="Arial" pitchFamily="34" charset="-122"/>
                <a:cs typeface="Arial" pitchFamily="34" charset="-120"/>
              </a:rPr>
              <a:t>dashboards</a:t>
            </a:r>
            <a:endParaRPr lang="en-US" sz="680" dirty="0"/>
          </a:p>
        </p:txBody>
      </p:sp>
      <p:sp>
        <p:nvSpPr>
          <p:cNvPr id="28" name="Shape 26"/>
          <p:cNvSpPr/>
          <p:nvPr/>
        </p:nvSpPr>
        <p:spPr>
          <a:xfrm>
            <a:off x="6812280" y="2468880"/>
            <a:ext cx="777240" cy="1143000"/>
          </a:xfrm>
          <a:prstGeom prst="rect">
            <a:avLst/>
          </a:prstGeom>
          <a:solidFill>
            <a:srgbClr val="2BC4C4"/>
          </a:solidFill>
          <a:ln/>
        </p:spPr>
      </p:sp>
      <p:sp>
        <p:nvSpPr>
          <p:cNvPr id="29" name="Text 27"/>
          <p:cNvSpPr/>
          <p:nvPr/>
        </p:nvSpPr>
        <p:spPr>
          <a:xfrm>
            <a:off x="670255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Disposable</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web apps</a:t>
            </a:r>
            <a:endParaRPr lang="en-US" sz="680" dirty="0"/>
          </a:p>
        </p:txBody>
      </p:sp>
      <p:sp>
        <p:nvSpPr>
          <p:cNvPr id="30" name="Shape 28"/>
          <p:cNvSpPr/>
          <p:nvPr/>
        </p:nvSpPr>
        <p:spPr>
          <a:xfrm>
            <a:off x="7772400" y="2148840"/>
            <a:ext cx="777240" cy="1463040"/>
          </a:xfrm>
          <a:prstGeom prst="rect">
            <a:avLst/>
          </a:prstGeom>
          <a:solidFill>
            <a:srgbClr val="2BC4C4"/>
          </a:solidFill>
          <a:ln/>
        </p:spPr>
      </p:sp>
      <p:sp>
        <p:nvSpPr>
          <p:cNvPr id="31" name="Text 29"/>
          <p:cNvSpPr/>
          <p:nvPr/>
        </p:nvSpPr>
        <p:spPr>
          <a:xfrm>
            <a:off x="7662672" y="3657600"/>
            <a:ext cx="996696" cy="384048"/>
          </a:xfrm>
          <a:prstGeom prst="rect">
            <a:avLst/>
          </a:prstGeom>
          <a:noFill/>
          <a:ln/>
        </p:spPr>
        <p:txBody>
          <a:bodyPr wrap="square" lIns="0" tIns="0" rIns="0" bIns="0" rtlCol="0" anchor="t"/>
          <a:lstStyle/>
          <a:p>
            <a:pPr algn="ctr" indent="0" marL="0">
              <a:buNone/>
            </a:pPr>
            <a:r>
              <a:rPr lang="en-US" sz="680" b="1" dirty="0">
                <a:solidFill>
                  <a:srgbClr val="FFFFFF"/>
                </a:solidFill>
                <a:latin typeface="Arial" pitchFamily="34" charset="0"/>
                <a:ea typeface="Arial" pitchFamily="34" charset="-122"/>
                <a:cs typeface="Arial" pitchFamily="34" charset="-120"/>
              </a:rPr>
              <a:t>Giant research</a:t>
            </a:r>
            <a:endParaRPr lang="en-US" sz="680" dirty="0"/>
          </a:p>
          <a:p>
            <a:pPr algn="ctr" indent="0" marL="0">
              <a:buNone/>
            </a:pPr>
            <a:r>
              <a:rPr lang="en-US" sz="680" b="1" dirty="0">
                <a:solidFill>
                  <a:srgbClr val="FFFFFF"/>
                </a:solidFill>
                <a:latin typeface="Arial" pitchFamily="34" charset="0"/>
                <a:ea typeface="Arial" pitchFamily="34" charset="-122"/>
                <a:cs typeface="Arial" pitchFamily="34" charset="-120"/>
              </a:rPr>
              <a:t>projects</a:t>
            </a:r>
            <a:endParaRPr lang="en-US" sz="680" dirty="0"/>
          </a:p>
        </p:txBody>
      </p:sp>
      <p:sp>
        <p:nvSpPr>
          <p:cNvPr id="32" name="Shape 30"/>
          <p:cNvSpPr/>
          <p:nvPr/>
        </p:nvSpPr>
        <p:spPr>
          <a:xfrm flipV="1">
            <a:off x="5029200" y="2103120"/>
            <a:ext cx="3200400" cy="1097280"/>
          </a:xfrm>
          <a:prstGeom prst="line">
            <a:avLst/>
          </a:prstGeom>
          <a:noFill/>
          <a:ln w="25400">
            <a:solidFill>
              <a:srgbClr val="2BC4C4"/>
            </a:solidFill>
            <a:prstDash val="solid"/>
            <a:tailEnd type="triangle"/>
          </a:ln>
        </p:spPr>
      </p:sp>
      <p:sp>
        <p:nvSpPr>
          <p:cNvPr id="33" name="Text 31"/>
          <p:cNvSpPr/>
          <p:nvPr/>
        </p:nvSpPr>
        <p:spPr>
          <a:xfrm>
            <a:off x="457200" y="416052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Cherny/Steinberger loop framing; Jevons paradox illustrative, not measured data.</a:t>
            </a:r>
            <a:endParaRPr lang="en-US" sz="700" dirty="0"/>
          </a:p>
        </p:txBody>
      </p:sp>
      <p:sp>
        <p:nvSpPr>
          <p:cNvPr id="34" name="Shape 32"/>
          <p:cNvSpPr/>
          <p:nvPr/>
        </p:nvSpPr>
        <p:spPr>
          <a:xfrm>
            <a:off x="0" y="4526280"/>
            <a:ext cx="9144000" cy="617220"/>
          </a:xfrm>
          <a:prstGeom prst="rect">
            <a:avLst/>
          </a:prstGeom>
          <a:solidFill>
            <a:srgbClr val="000000"/>
          </a:solidFill>
          <a:ln/>
        </p:spPr>
      </p:sp>
      <p:sp>
        <p:nvSpPr>
          <p:cNvPr id="35" name="Shape 33"/>
          <p:cNvSpPr/>
          <p:nvPr/>
        </p:nvSpPr>
        <p:spPr>
          <a:xfrm>
            <a:off x="0" y="4526280"/>
            <a:ext cx="9144000" cy="0"/>
          </a:xfrm>
          <a:prstGeom prst="line">
            <a:avLst/>
          </a:prstGeom>
          <a:noFill/>
          <a:ln w="6350">
            <a:solidFill>
              <a:srgbClr val="2A2A30"/>
            </a:solidFill>
            <a:prstDash val="solid"/>
          </a:ln>
        </p:spPr>
      </p:sp>
      <p:sp>
        <p:nvSpPr>
          <p:cNvPr id="36" name="Text 3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7" name="Text 3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01  ·  WHAT'S HAPPENING  ·  TOKEN RATIONING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Tokens got a budget line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Major firms are abandoning unlimited access — rationing is what demand looks like when the input is scarce.</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F6693D"/>
          </a:solidFill>
          <a:ln/>
        </p:spPr>
      </p:sp>
      <p:sp>
        <p:nvSpPr>
          <p:cNvPr id="8" name="Shape 6"/>
          <p:cNvSpPr/>
          <p:nvPr/>
        </p:nvSpPr>
        <p:spPr>
          <a:xfrm>
            <a:off x="4846320" y="1600200"/>
            <a:ext cx="36576" cy="310896"/>
          </a:xfrm>
          <a:prstGeom prst="rect">
            <a:avLst/>
          </a:prstGeom>
          <a:solidFill>
            <a:srgbClr val="F6693D"/>
          </a:solidFill>
          <a:ln/>
        </p:spPr>
      </p:sp>
      <p:sp>
        <p:nvSpPr>
          <p:cNvPr id="9" name="Shape 7"/>
          <p:cNvSpPr/>
          <p:nvPr/>
        </p:nvSpPr>
        <p:spPr>
          <a:xfrm>
            <a:off x="8375904" y="3986784"/>
            <a:ext cx="310896" cy="36576"/>
          </a:xfrm>
          <a:prstGeom prst="rect">
            <a:avLst/>
          </a:prstGeom>
          <a:solidFill>
            <a:srgbClr val="F6693D"/>
          </a:solidFill>
          <a:ln/>
        </p:spPr>
      </p:sp>
      <p:sp>
        <p:nvSpPr>
          <p:cNvPr id="10" name="Shape 8"/>
          <p:cNvSpPr/>
          <p:nvPr/>
        </p:nvSpPr>
        <p:spPr>
          <a:xfrm>
            <a:off x="8650224" y="3712464"/>
            <a:ext cx="36576" cy="310896"/>
          </a:xfrm>
          <a:prstGeom prst="rect">
            <a:avLst/>
          </a:prstGeom>
          <a:solidFill>
            <a:srgbClr val="F6693D"/>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F6693D"/>
                </a:solidFill>
                <a:latin typeface="Arial" pitchFamily="34" charset="0"/>
                <a:ea typeface="Arial" pitchFamily="34" charset="-122"/>
                <a:cs typeface="Arial" pitchFamily="34" charset="-120"/>
              </a:rPr>
              <a:t>IMAGE  ·  metered compute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token-budget.png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guarded vault dispensing only a small rationed handful of glowing tokens onto a conveyor that feeds a row of waiting laptops, an 'allocation' valve throttling the flow, orange and gold accents, near-black background, clean low-poly vector style, soft studio glow, subtle floor grid, centered, no text, no logos.</a:t>
            </a:r>
            <a:endParaRPr lang="en-US" sz="700" dirty="0"/>
          </a:p>
        </p:txBody>
      </p:sp>
      <p:sp>
        <p:nvSpPr>
          <p:cNvPr id="13" name="Shape 11"/>
          <p:cNvSpPr/>
          <p:nvPr/>
        </p:nvSpPr>
        <p:spPr>
          <a:xfrm>
            <a:off x="457200" y="1627632"/>
            <a:ext cx="64008" cy="603504"/>
          </a:xfrm>
          <a:prstGeom prst="rect">
            <a:avLst/>
          </a:prstGeom>
          <a:solidFill>
            <a:srgbClr val="2BC4C4"/>
          </a:solidFill>
          <a:ln/>
        </p:spPr>
      </p:sp>
      <p:sp>
        <p:nvSpPr>
          <p:cNvPr id="14" name="Text 12"/>
          <p:cNvSpPr/>
          <p:nvPr/>
        </p:nvSpPr>
        <p:spPr>
          <a:xfrm>
            <a:off x="612648" y="1627632"/>
            <a:ext cx="4023360" cy="603504"/>
          </a:xfrm>
          <a:prstGeom prst="rect">
            <a:avLst/>
          </a:prstGeom>
          <a:noFill/>
          <a:ln/>
        </p:spPr>
        <p:txBody>
          <a:bodyPr wrap="square" lIns="0" tIns="0" rIns="0" bIns="0" rtlCol="0" anchor="t"/>
          <a:lstStyle/>
          <a:p>
            <a:pPr indent="0" marL="0">
              <a:buNone/>
            </a:pPr>
            <a:r>
              <a:rPr lang="en-US" sz="900" b="1" dirty="0">
                <a:solidFill>
                  <a:srgbClr val="2BC4C4"/>
                </a:solidFill>
                <a:latin typeface="Arial" pitchFamily="34" charset="0"/>
                <a:ea typeface="Arial" pitchFamily="34" charset="-122"/>
                <a:cs typeface="Arial" pitchFamily="34" charset="-120"/>
              </a:rPr>
              <a:t>UBER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A hard $1,500/mo per-employee token cap replaced unlimited access.</a:t>
            </a:r>
            <a:endParaRPr lang="en-US" sz="900" dirty="0"/>
          </a:p>
        </p:txBody>
      </p:sp>
      <p:sp>
        <p:nvSpPr>
          <p:cNvPr id="15" name="Shape 13"/>
          <p:cNvSpPr/>
          <p:nvPr/>
        </p:nvSpPr>
        <p:spPr>
          <a:xfrm>
            <a:off x="457200" y="2304288"/>
            <a:ext cx="64008" cy="603504"/>
          </a:xfrm>
          <a:prstGeom prst="rect">
            <a:avLst/>
          </a:prstGeom>
          <a:solidFill>
            <a:srgbClr val="F6693D"/>
          </a:solidFill>
          <a:ln/>
        </p:spPr>
      </p:sp>
      <p:sp>
        <p:nvSpPr>
          <p:cNvPr id="16" name="Text 14"/>
          <p:cNvSpPr/>
          <p:nvPr/>
        </p:nvSpPr>
        <p:spPr>
          <a:xfrm>
            <a:off x="612648" y="2304288"/>
            <a:ext cx="4023360" cy="603504"/>
          </a:xfrm>
          <a:prstGeom prst="rect">
            <a:avLst/>
          </a:prstGeom>
          <a:noFill/>
          <a:ln/>
        </p:spPr>
        <p:txBody>
          <a:bodyPr wrap="square" lIns="0" tIns="0" rIns="0" bIns="0" rtlCol="0" anchor="t"/>
          <a:lstStyle/>
          <a:p>
            <a:pPr indent="0" marL="0">
              <a:buNone/>
            </a:pPr>
            <a:r>
              <a:rPr lang="en-US" sz="900" b="1" dirty="0">
                <a:solidFill>
                  <a:srgbClr val="F6693D"/>
                </a:solidFill>
                <a:latin typeface="Arial" pitchFamily="34" charset="0"/>
                <a:ea typeface="Arial" pitchFamily="34" charset="-122"/>
                <a:cs typeface="Arial" pitchFamily="34" charset="-120"/>
              </a:rPr>
              <a:t>WALMART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Killed unlimited “Code Puppy” access; moved to per-seat budgets.</a:t>
            </a:r>
            <a:endParaRPr lang="en-US" sz="900" dirty="0"/>
          </a:p>
        </p:txBody>
      </p:sp>
      <p:sp>
        <p:nvSpPr>
          <p:cNvPr id="17" name="Shape 15"/>
          <p:cNvSpPr/>
          <p:nvPr/>
        </p:nvSpPr>
        <p:spPr>
          <a:xfrm>
            <a:off x="457200" y="2980944"/>
            <a:ext cx="64008" cy="603504"/>
          </a:xfrm>
          <a:prstGeom prst="rect">
            <a:avLst/>
          </a:prstGeom>
          <a:solidFill>
            <a:srgbClr val="FFB800"/>
          </a:solidFill>
          <a:ln/>
        </p:spPr>
      </p:sp>
      <p:sp>
        <p:nvSpPr>
          <p:cNvPr id="18" name="Text 16"/>
          <p:cNvSpPr/>
          <p:nvPr/>
        </p:nvSpPr>
        <p:spPr>
          <a:xfrm>
            <a:off x="612648" y="2980944"/>
            <a:ext cx="4023360" cy="603504"/>
          </a:xfrm>
          <a:prstGeom prst="rect">
            <a:avLst/>
          </a:prstGeom>
          <a:noFill/>
          <a:ln/>
        </p:spPr>
        <p:txBody>
          <a:bodyPr wrap="square" lIns="0" tIns="0" rIns="0" bIns="0" rtlCol="0" anchor="t"/>
          <a:lstStyle/>
          <a:p>
            <a:pPr indent="0" marL="0">
              <a:buNone/>
            </a:pPr>
            <a:r>
              <a:rPr lang="en-US" sz="900" b="1" dirty="0">
                <a:solidFill>
                  <a:srgbClr val="FFB800"/>
                </a:solidFill>
                <a:latin typeface="Arial" pitchFamily="34" charset="0"/>
                <a:ea typeface="Arial" pitchFamily="34" charset="-122"/>
                <a:cs typeface="Arial" pitchFamily="34" charset="-120"/>
              </a:rPr>
              <a:t>THE CRUNCH   </a:t>
            </a:r>
            <a:endParaRPr lang="en-US" sz="900" dirty="0"/>
          </a:p>
          <a:p>
            <a:pPr indent="0" marL="0">
              <a:buNone/>
            </a:pPr>
            <a:r>
              <a:rPr lang="en-US" sz="950" dirty="0">
                <a:solidFill>
                  <a:srgbClr val="C9C9CE"/>
                </a:solidFill>
                <a:latin typeface="Arial" pitchFamily="34" charset="0"/>
                <a:ea typeface="Arial" pitchFamily="34" charset="-122"/>
                <a:cs typeface="Arial" pitchFamily="34" charset="-120"/>
              </a:rPr>
              <a:t>SK Hynix sees no HBM relief before ~2030; Google rents 110k GPUs at $920M/mo.</a:t>
            </a:r>
            <a:endParaRPr lang="en-US" sz="900" dirty="0"/>
          </a:p>
        </p:txBody>
      </p:sp>
      <p:sp>
        <p:nvSpPr>
          <p:cNvPr id="19" name="Shape 17"/>
          <p:cNvSpPr/>
          <p:nvPr/>
        </p:nvSpPr>
        <p:spPr>
          <a:xfrm>
            <a:off x="457200" y="3694176"/>
            <a:ext cx="4178808" cy="676656"/>
          </a:xfrm>
          <a:prstGeom prst="rect">
            <a:avLst/>
          </a:prstGeom>
          <a:solidFill>
            <a:srgbClr val="1C1C20"/>
          </a:solidFill>
          <a:ln w="9525">
            <a:solidFill>
              <a:srgbClr val="2A2A30"/>
            </a:solidFill>
            <a:prstDash val="solid"/>
          </a:ln>
        </p:spPr>
      </p:sp>
      <p:sp>
        <p:nvSpPr>
          <p:cNvPr id="20" name="Text 18"/>
          <p:cNvSpPr/>
          <p:nvPr/>
        </p:nvSpPr>
        <p:spPr>
          <a:xfrm>
            <a:off x="594360" y="3785616"/>
            <a:ext cx="3904488"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21" name="Text 19"/>
          <p:cNvSpPr/>
          <p:nvPr/>
        </p:nvSpPr>
        <p:spPr>
          <a:xfrm>
            <a:off x="594360" y="4059936"/>
            <a:ext cx="3904488" cy="219456"/>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Token caps are demand evidence, not retreat.</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Watch token budgets the way retail analysts watch same-store sales.</a:t>
            </a:r>
            <a:endParaRPr lang="en-US" sz="1000" dirty="0"/>
          </a:p>
        </p:txBody>
      </p:sp>
      <p:sp>
        <p:nvSpPr>
          <p:cNvPr id="22" name="Text 20"/>
          <p:cNvSpPr/>
          <p:nvPr/>
        </p:nvSpPr>
        <p:spPr>
          <a:xfrm>
            <a:off x="457200" y="444398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Uber &amp; Walmart cost-management cases; SK Hynix HBM outlook; Google/SpaceX GPU rental.</a:t>
            </a:r>
            <a:endParaRPr lang="en-US" sz="700" dirty="0"/>
          </a:p>
        </p:txBody>
      </p:sp>
      <p:sp>
        <p:nvSpPr>
          <p:cNvPr id="23" name="Shape 21"/>
          <p:cNvSpPr/>
          <p:nvPr/>
        </p:nvSpPr>
        <p:spPr>
          <a:xfrm>
            <a:off x="0" y="4526280"/>
            <a:ext cx="9144000" cy="617220"/>
          </a:xfrm>
          <a:prstGeom prst="rect">
            <a:avLst/>
          </a:prstGeom>
          <a:solidFill>
            <a:srgbClr val="000000"/>
          </a:solidFill>
          <a:ln/>
        </p:spPr>
      </p:sp>
      <p:sp>
        <p:nvSpPr>
          <p:cNvPr id="24" name="Shape 22"/>
          <p:cNvSpPr/>
          <p:nvPr/>
        </p:nvSpPr>
        <p:spPr>
          <a:xfrm>
            <a:off x="0" y="4526280"/>
            <a:ext cx="9144000" cy="0"/>
          </a:xfrm>
          <a:prstGeom prst="line">
            <a:avLst/>
          </a:prstGeom>
          <a:noFill/>
          <a:ln w="6350">
            <a:solidFill>
              <a:srgbClr val="2A2A30"/>
            </a:solidFill>
            <a:prstDash val="solid"/>
          </a:ln>
        </p:spPr>
      </p:sp>
      <p:sp>
        <p:nvSpPr>
          <p:cNvPr id="25" name="Text 23"/>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4"/>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01  ·  WHAT'S HAPPENING  ·  POLICY</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Governments want a stake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From Washington to Seoul, the debate shifted from regulating AI to owning a piece of it.</a:t>
            </a:r>
            <a:endParaRPr lang="en-US" sz="1300" dirty="0"/>
          </a:p>
        </p:txBody>
      </p:sp>
      <p:sp>
        <p:nvSpPr>
          <p:cNvPr id="6" name="Shape 4"/>
          <p:cNvSpPr/>
          <p:nvPr/>
        </p:nvSpPr>
        <p:spPr>
          <a:xfrm>
            <a:off x="4846320" y="1600200"/>
            <a:ext cx="3840480" cy="2423160"/>
          </a:xfrm>
          <a:prstGeom prst="rect">
            <a:avLst/>
          </a:prstGeom>
          <a:solidFill>
            <a:srgbClr val="1E1E24"/>
          </a:solidFill>
          <a:ln w="12700">
            <a:solidFill>
              <a:srgbClr val="2A2A30"/>
            </a:solidFill>
            <a:prstDash val="dash"/>
          </a:ln>
        </p:spPr>
      </p:sp>
      <p:sp>
        <p:nvSpPr>
          <p:cNvPr id="7" name="Shape 5"/>
          <p:cNvSpPr/>
          <p:nvPr/>
        </p:nvSpPr>
        <p:spPr>
          <a:xfrm>
            <a:off x="4846320" y="1600200"/>
            <a:ext cx="310896" cy="36576"/>
          </a:xfrm>
          <a:prstGeom prst="rect">
            <a:avLst/>
          </a:prstGeom>
          <a:solidFill>
            <a:srgbClr val="9B7BE0"/>
          </a:solidFill>
          <a:ln/>
        </p:spPr>
      </p:sp>
      <p:sp>
        <p:nvSpPr>
          <p:cNvPr id="8" name="Shape 6"/>
          <p:cNvSpPr/>
          <p:nvPr/>
        </p:nvSpPr>
        <p:spPr>
          <a:xfrm>
            <a:off x="4846320" y="1600200"/>
            <a:ext cx="36576" cy="310896"/>
          </a:xfrm>
          <a:prstGeom prst="rect">
            <a:avLst/>
          </a:prstGeom>
          <a:solidFill>
            <a:srgbClr val="9B7BE0"/>
          </a:solidFill>
          <a:ln/>
        </p:spPr>
      </p:sp>
      <p:sp>
        <p:nvSpPr>
          <p:cNvPr id="9" name="Shape 7"/>
          <p:cNvSpPr/>
          <p:nvPr/>
        </p:nvSpPr>
        <p:spPr>
          <a:xfrm>
            <a:off x="8375904" y="3986784"/>
            <a:ext cx="310896" cy="36576"/>
          </a:xfrm>
          <a:prstGeom prst="rect">
            <a:avLst/>
          </a:prstGeom>
          <a:solidFill>
            <a:srgbClr val="9B7BE0"/>
          </a:solidFill>
          <a:ln/>
        </p:spPr>
      </p:sp>
      <p:sp>
        <p:nvSpPr>
          <p:cNvPr id="10" name="Shape 8"/>
          <p:cNvSpPr/>
          <p:nvPr/>
        </p:nvSpPr>
        <p:spPr>
          <a:xfrm>
            <a:off x="8650224" y="3712464"/>
            <a:ext cx="36576" cy="310896"/>
          </a:xfrm>
          <a:prstGeom prst="rect">
            <a:avLst/>
          </a:prstGeom>
          <a:solidFill>
            <a:srgbClr val="9B7BE0"/>
          </a:solidFill>
          <a:ln/>
        </p:spPr>
      </p:sp>
      <p:sp>
        <p:nvSpPr>
          <p:cNvPr id="11" name="Text 9"/>
          <p:cNvSpPr/>
          <p:nvPr/>
        </p:nvSpPr>
        <p:spPr>
          <a:xfrm>
            <a:off x="5029200" y="1746504"/>
            <a:ext cx="3474720" cy="219456"/>
          </a:xfrm>
          <a:prstGeom prst="rect">
            <a:avLst/>
          </a:prstGeom>
          <a:noFill/>
          <a:ln/>
        </p:spPr>
        <p:txBody>
          <a:bodyPr wrap="square" lIns="0" tIns="0" rIns="0" bIns="0" rtlCol="0" anchor="ctr"/>
          <a:lstStyle/>
          <a:p>
            <a:pPr indent="0" marL="0">
              <a:buNone/>
            </a:pPr>
            <a:r>
              <a:rPr lang="en-US" sz="900" b="1" spc="200" kern="0" dirty="0">
                <a:solidFill>
                  <a:srgbClr val="9B7BE0"/>
                </a:solidFill>
                <a:latin typeface="Arial" pitchFamily="34" charset="0"/>
                <a:ea typeface="Arial" pitchFamily="34" charset="-122"/>
                <a:cs typeface="Arial" pitchFamily="34" charset="-120"/>
              </a:rPr>
              <a:t>IMAGE  ·  sovereign stake</a:t>
            </a:r>
            <a:endParaRPr lang="en-US" sz="900" dirty="0"/>
          </a:p>
        </p:txBody>
      </p:sp>
      <p:sp>
        <p:nvSpPr>
          <p:cNvPr id="12" name="Text 10"/>
          <p:cNvSpPr/>
          <p:nvPr/>
        </p:nvSpPr>
        <p:spPr>
          <a:xfrm>
            <a:off x="5029200" y="2020824"/>
            <a:ext cx="3474720" cy="181965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gov-stake.png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giant government hand planting a flag bearing a percentage symbol atop a glowing server-rack skyscraper, while a chute rains small dividend coins down onto a cluster of tiny suburban houses below, purple accents, near-black background, clean low-poly vector style, soft studio glow, subtle floor grid, centered, no text, no logos.</a:t>
            </a:r>
            <a:endParaRPr lang="en-US" sz="700" dirty="0"/>
          </a:p>
        </p:txBody>
      </p:sp>
      <p:sp>
        <p:nvSpPr>
          <p:cNvPr id="13" name="Shape 11"/>
          <p:cNvSpPr/>
          <p:nvPr/>
        </p:nvSpPr>
        <p:spPr>
          <a:xfrm>
            <a:off x="457200" y="1627632"/>
            <a:ext cx="64008" cy="676656"/>
          </a:xfrm>
          <a:prstGeom prst="rect">
            <a:avLst/>
          </a:prstGeom>
          <a:solidFill>
            <a:srgbClr val="9B7BE0"/>
          </a:solidFill>
          <a:ln/>
        </p:spPr>
      </p:sp>
      <p:sp>
        <p:nvSpPr>
          <p:cNvPr id="14" name="Text 12"/>
          <p:cNvSpPr/>
          <p:nvPr/>
        </p:nvSpPr>
        <p:spPr>
          <a:xfrm>
            <a:off x="612648" y="1627632"/>
            <a:ext cx="4023360" cy="713232"/>
          </a:xfrm>
          <a:prstGeom prst="rect">
            <a:avLst/>
          </a:prstGeom>
          <a:noFill/>
          <a:ln/>
        </p:spPr>
        <p:txBody>
          <a:bodyPr wrap="square" lIns="0" tIns="0" rIns="0" bIns="0" rtlCol="0" anchor="t"/>
          <a:lstStyle/>
          <a:p>
            <a:pPr indent="0" marL="0">
              <a:buNone/>
            </a:pPr>
            <a:r>
              <a:rPr lang="en-US" sz="850" b="1" dirty="0">
                <a:solidFill>
                  <a:srgbClr val="9B7BE0"/>
                </a:solidFill>
                <a:latin typeface="Arial" pitchFamily="34" charset="0"/>
                <a:ea typeface="Arial" pitchFamily="34" charset="-122"/>
                <a:cs typeface="Arial" pitchFamily="34" charset="-120"/>
              </a:rPr>
              <a:t>UNITED STATES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30-day NSA pre-release review (voluntary), plus a floated one-time 50% tax on AI-lab equity to seed a public “AI Dividends” fund — Sanders proposed, Trump echoed.</a:t>
            </a:r>
            <a:endParaRPr lang="en-US" sz="850" dirty="0"/>
          </a:p>
        </p:txBody>
      </p:sp>
      <p:sp>
        <p:nvSpPr>
          <p:cNvPr id="15" name="Shape 13"/>
          <p:cNvSpPr/>
          <p:nvPr/>
        </p:nvSpPr>
        <p:spPr>
          <a:xfrm>
            <a:off x="457200" y="2377440"/>
            <a:ext cx="64008" cy="676656"/>
          </a:xfrm>
          <a:prstGeom prst="rect">
            <a:avLst/>
          </a:prstGeom>
          <a:solidFill>
            <a:srgbClr val="2BC4C4"/>
          </a:solidFill>
          <a:ln/>
        </p:spPr>
      </p:sp>
      <p:sp>
        <p:nvSpPr>
          <p:cNvPr id="16" name="Text 14"/>
          <p:cNvSpPr/>
          <p:nvPr/>
        </p:nvSpPr>
        <p:spPr>
          <a:xfrm>
            <a:off x="612648" y="2377440"/>
            <a:ext cx="4023360" cy="713232"/>
          </a:xfrm>
          <a:prstGeom prst="rect">
            <a:avLst/>
          </a:prstGeom>
          <a:noFill/>
          <a:ln/>
        </p:spPr>
        <p:txBody>
          <a:bodyPr wrap="square" lIns="0" tIns="0" rIns="0" bIns="0" rtlCol="0" anchor="t"/>
          <a:lstStyle/>
          <a:p>
            <a:pPr indent="0" marL="0">
              <a:buNone/>
            </a:pPr>
            <a:r>
              <a:rPr lang="en-US" sz="850" b="1" dirty="0">
                <a:solidFill>
                  <a:srgbClr val="2BC4C4"/>
                </a:solidFill>
                <a:latin typeface="Arial" pitchFamily="34" charset="0"/>
                <a:ea typeface="Arial" pitchFamily="34" charset="-122"/>
                <a:cs typeface="Arial" pitchFamily="34" charset="-120"/>
              </a:rPr>
              <a:t>SOUTH KOREA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A presidential adviser floated a “citizen dividend” from AI/chip tax windfalls; Samsung's union demanded 15% of chip-division profit.</a:t>
            </a:r>
            <a:endParaRPr lang="en-US" sz="850" dirty="0"/>
          </a:p>
        </p:txBody>
      </p:sp>
      <p:sp>
        <p:nvSpPr>
          <p:cNvPr id="17" name="Shape 15"/>
          <p:cNvSpPr/>
          <p:nvPr/>
        </p:nvSpPr>
        <p:spPr>
          <a:xfrm>
            <a:off x="457200" y="3127248"/>
            <a:ext cx="64008" cy="676656"/>
          </a:xfrm>
          <a:prstGeom prst="rect">
            <a:avLst/>
          </a:prstGeom>
          <a:solidFill>
            <a:srgbClr val="E5484D"/>
          </a:solidFill>
          <a:ln/>
        </p:spPr>
      </p:sp>
      <p:sp>
        <p:nvSpPr>
          <p:cNvPr id="18" name="Text 16"/>
          <p:cNvSpPr/>
          <p:nvPr/>
        </p:nvSpPr>
        <p:spPr>
          <a:xfrm>
            <a:off x="612648" y="3127248"/>
            <a:ext cx="4023360" cy="713232"/>
          </a:xfrm>
          <a:prstGeom prst="rect">
            <a:avLst/>
          </a:prstGeom>
          <a:noFill/>
          <a:ln/>
        </p:spPr>
        <p:txBody>
          <a:bodyPr wrap="square" lIns="0" tIns="0" rIns="0" bIns="0" rtlCol="0" anchor="t"/>
          <a:lstStyle/>
          <a:p>
            <a:pPr indent="0" marL="0">
              <a:buNone/>
            </a:pPr>
            <a:r>
              <a:rPr lang="en-US" sz="850" b="1" dirty="0">
                <a:solidFill>
                  <a:srgbClr val="E5484D"/>
                </a:solidFill>
                <a:latin typeface="Arial" pitchFamily="34" charset="0"/>
                <a:ea typeface="Arial" pitchFamily="34" charset="-122"/>
                <a:cs typeface="Arial" pitchFamily="34" charset="-120"/>
              </a:rPr>
              <a:t>THE CRITIQUE   </a:t>
            </a:r>
            <a:endParaRPr lang="en-US" sz="850" dirty="0"/>
          </a:p>
          <a:p>
            <a:pPr indent="0" marL="0">
              <a:buNone/>
            </a:pPr>
            <a:r>
              <a:rPr lang="en-US" sz="900" dirty="0">
                <a:solidFill>
                  <a:srgbClr val="C9C9CE"/>
                </a:solidFill>
                <a:latin typeface="Arial" pitchFamily="34" charset="0"/>
                <a:ea typeface="Arial" pitchFamily="34" charset="-122"/>
                <a:cs typeface="Arial" pitchFamily="34" charset="-120"/>
              </a:rPr>
              <a:t>Sacks: government equity risks “corporate-government fusion.” The debate is now ownership, not regulation.</a:t>
            </a:r>
            <a:endParaRPr lang="en-US" sz="850" dirty="0"/>
          </a:p>
        </p:txBody>
      </p:sp>
      <p:sp>
        <p:nvSpPr>
          <p:cNvPr id="19" name="Text 17"/>
          <p:cNvSpPr/>
          <p:nvPr/>
        </p:nvSpPr>
        <p:spPr>
          <a:xfrm>
            <a:off x="457200" y="3913632"/>
            <a:ext cx="4206240" cy="329184"/>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Investor read: </a:t>
            </a:r>
            <a:pPr indent="0" marL="0">
              <a:buNone/>
            </a:pPr>
            <a:r>
              <a:rPr lang="en-US" sz="950" dirty="0">
                <a:solidFill>
                  <a:srgbClr val="C9C9CE"/>
                </a:solidFill>
                <a:latin typeface="Arial" pitchFamily="34" charset="0"/>
                <a:ea typeface="Arial" pitchFamily="34" charset="-122"/>
                <a:cs typeface="Arial" pitchFamily="34" charset="-120"/>
              </a:rPr>
              <a:t>public-ownership is a dilution tail risk no equity model currently carries.</a:t>
            </a:r>
            <a:endParaRPr lang="en-US" sz="950" dirty="0"/>
          </a:p>
        </p:txBody>
      </p:sp>
      <p:sp>
        <p:nvSpPr>
          <p:cNvPr id="20" name="Text 18"/>
          <p:cNvSpPr/>
          <p:nvPr/>
        </p:nvSpPr>
        <p:spPr>
          <a:xfrm>
            <a:off x="457200" y="426110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Internal strategic review, “The 2026 AI Frontier” (Jun 2026); Korea Herald, Bloomberg, Nikkei Asia (May 2026); Executive Order provisions; Sacks critique.</a:t>
            </a:r>
            <a:endParaRPr lang="en-US" sz="700" dirty="0"/>
          </a:p>
        </p:txBody>
      </p:sp>
      <p:sp>
        <p:nvSpPr>
          <p:cNvPr id="21" name="Shape 19"/>
          <p:cNvSpPr/>
          <p:nvPr/>
        </p:nvSpPr>
        <p:spPr>
          <a:xfrm>
            <a:off x="0" y="4526280"/>
            <a:ext cx="9144000" cy="617220"/>
          </a:xfrm>
          <a:prstGeom prst="rect">
            <a:avLst/>
          </a:prstGeom>
          <a:solidFill>
            <a:srgbClr val="000000"/>
          </a:solidFill>
          <a:ln/>
        </p:spPr>
      </p:sp>
      <p:sp>
        <p:nvSpPr>
          <p:cNvPr id="22" name="Shape 20"/>
          <p:cNvSpPr/>
          <p:nvPr/>
        </p:nvSpPr>
        <p:spPr>
          <a:xfrm>
            <a:off x="0" y="4526280"/>
            <a:ext cx="9144000" cy="0"/>
          </a:xfrm>
          <a:prstGeom prst="line">
            <a:avLst/>
          </a:prstGeom>
          <a:noFill/>
          <a:ln w="6350">
            <a:solidFill>
              <a:srgbClr val="2A2A30"/>
            </a:solidFill>
            <a:prstDash val="solid"/>
          </a:ln>
        </p:spPr>
      </p:sp>
      <p:sp>
        <p:nvSpPr>
          <p:cNvPr id="23" name="Text 21"/>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4" name="Text 22"/>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FB80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FB800"/>
                </a:solidFill>
                <a:latin typeface="Arial" pitchFamily="34" charset="0"/>
                <a:ea typeface="Arial" pitchFamily="34" charset="-122"/>
                <a:cs typeface="Arial" pitchFamily="34" charset="-120"/>
              </a:rPr>
              <a:t>02  ·  MARKET IMPACT  ·  EQUITIES</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market split the trade</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Semis +80%, software −10%: a ~90-point spread inside one theme.</a:t>
            </a:r>
            <a:endParaRPr lang="en-US" sz="1300" dirty="0"/>
          </a:p>
        </p:txBody>
      </p:sp>
      <p:sp>
        <p:nvSpPr>
          <p:cNvPr id="6" name="Text 4"/>
          <p:cNvSpPr/>
          <p:nvPr/>
        </p:nvSpPr>
        <p:spPr>
          <a:xfrm>
            <a:off x="457200" y="1554480"/>
            <a:ext cx="512064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Total return, YTD 2026 (%)</a:t>
            </a:r>
            <a:endParaRPr lang="en-US" sz="1300" dirty="0"/>
          </a:p>
        </p:txBody>
      </p:sp>
      <p:sp>
        <p:nvSpPr>
          <p:cNvPr id="7" name="Shape 5"/>
          <p:cNvSpPr/>
          <p:nvPr/>
        </p:nvSpPr>
        <p:spPr>
          <a:xfrm>
            <a:off x="457200" y="1856232"/>
            <a:ext cx="5120640" cy="0"/>
          </a:xfrm>
          <a:prstGeom prst="line">
            <a:avLst/>
          </a:prstGeom>
          <a:noFill/>
          <a:ln w="12700">
            <a:solidFill>
              <a:srgbClr val="FFB800"/>
            </a:solidFill>
            <a:prstDash val="solid"/>
          </a:ln>
        </p:spPr>
      </p:sp>
      <p:graphicFrame>
        <p:nvGraphicFramePr>
          <p:cNvPr id="8" name="Chart 0" descr=""/>
          <p:cNvGraphicFramePr/>
          <p:nvPr/>
        </p:nvGraphicFramePr>
        <p:xfrm>
          <a:off x="457200" y="1920240"/>
          <a:ext cx="5120640" cy="210312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943600" y="1828800"/>
            <a:ext cx="2743200" cy="384048"/>
          </a:xfrm>
          <a:prstGeom prst="rect">
            <a:avLst/>
          </a:prstGeom>
          <a:noFill/>
          <a:ln/>
        </p:spPr>
        <p:txBody>
          <a:bodyPr wrap="square" lIns="0" tIns="0" rIns="0" bIns="0" rtlCol="0" anchor="ctr"/>
          <a:lstStyle/>
          <a:p>
            <a:pPr indent="0" marL="0">
              <a:buNone/>
            </a:pPr>
            <a:r>
              <a:rPr lang="en-US" sz="2200" b="1" dirty="0">
                <a:solidFill>
                  <a:srgbClr val="F6693D"/>
                </a:solidFill>
                <a:latin typeface="Arial Black" pitchFamily="34" charset="0"/>
                <a:ea typeface="Arial Black" pitchFamily="34" charset="-122"/>
                <a:cs typeface="Arial Black" pitchFamily="34" charset="-120"/>
              </a:rPr>
              <a:t>37%</a:t>
            </a:r>
            <a:endParaRPr lang="en-US" sz="2200" dirty="0"/>
          </a:p>
        </p:txBody>
      </p:sp>
      <p:sp>
        <p:nvSpPr>
          <p:cNvPr id="10" name="Text 7"/>
          <p:cNvSpPr/>
          <p:nvPr/>
        </p:nvSpPr>
        <p:spPr>
          <a:xfrm>
            <a:off x="5943600" y="223113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Top-10 share of S&amp;P 500 market cap — double the 1990–2015 norm of 18–23%.</a:t>
            </a:r>
            <a:endParaRPr lang="en-US" sz="750" dirty="0"/>
          </a:p>
        </p:txBody>
      </p:sp>
      <p:sp>
        <p:nvSpPr>
          <p:cNvPr id="11" name="Text 8"/>
          <p:cNvSpPr/>
          <p:nvPr/>
        </p:nvSpPr>
        <p:spPr>
          <a:xfrm>
            <a:off x="5943600" y="2834640"/>
            <a:ext cx="274320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21.1x</a:t>
            </a:r>
            <a:endParaRPr lang="en-US" sz="2200" dirty="0"/>
          </a:p>
        </p:txBody>
      </p:sp>
      <p:sp>
        <p:nvSpPr>
          <p:cNvPr id="12" name="Text 9"/>
          <p:cNvSpPr/>
          <p:nvPr/>
        </p:nvSpPr>
        <p:spPr>
          <a:xfrm>
            <a:off x="5943600" y="3236976"/>
            <a:ext cx="27432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S&amp;P 500 forward P/E vs a 19.0x 10-yr average: elevated, not extreme.</a:t>
            </a:r>
            <a:endParaRPr lang="en-US" sz="750" dirty="0"/>
          </a:p>
        </p:txBody>
      </p:sp>
      <p:sp>
        <p:nvSpPr>
          <p:cNvPr id="13" name="Text 10"/>
          <p:cNvSpPr/>
          <p:nvPr/>
        </p:nvSpPr>
        <p:spPr>
          <a:xfrm>
            <a:off x="457200" y="4078224"/>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Leadership migrated from the platforms to their suppliers. </a:t>
            </a:r>
            <a:pPr indent="0" marL="0">
              <a:buNone/>
            </a:pPr>
            <a:r>
              <a:rPr lang="en-US" sz="1000" dirty="0">
                <a:solidFill>
                  <a:srgbClr val="C9C9CE"/>
                </a:solidFill>
                <a:latin typeface="Arial" pitchFamily="34" charset="0"/>
                <a:ea typeface="Arial" pitchFamily="34" charset="-122"/>
                <a:cs typeface="Arial" pitchFamily="34" charset="-120"/>
              </a:rPr>
              <a:t>Value accrues where AI spend is revenue; it erodes where AI is the threat.</a:t>
            </a:r>
            <a:endParaRPr lang="en-US" sz="1000" dirty="0"/>
          </a:p>
        </p:txBody>
      </p:sp>
      <p:sp>
        <p:nvSpPr>
          <p:cNvPr id="14" name="Text 11"/>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YTD total returns through early Jun 2026: stockanalysis.com (SOXX, IGV); slickcharts (S&amp;P 500); Morningstar/Yahoo (RSP, MAGS). Weights: S&amp;P DJI. Fwd P/E: FactSet.</a:t>
            </a:r>
            <a:endParaRPr lang="en-US" sz="700" dirty="0"/>
          </a:p>
        </p:txBody>
      </p:sp>
      <p:sp>
        <p:nvSpPr>
          <p:cNvPr id="15" name="Shape 12"/>
          <p:cNvSpPr/>
          <p:nvPr/>
        </p:nvSpPr>
        <p:spPr>
          <a:xfrm>
            <a:off x="0" y="4526280"/>
            <a:ext cx="9144000" cy="617220"/>
          </a:xfrm>
          <a:prstGeom prst="rect">
            <a:avLst/>
          </a:prstGeom>
          <a:solidFill>
            <a:srgbClr val="000000"/>
          </a:solidFill>
          <a:ln/>
        </p:spPr>
      </p:sp>
      <p:sp>
        <p:nvSpPr>
          <p:cNvPr id="16" name="Shape 13"/>
          <p:cNvSpPr/>
          <p:nvPr/>
        </p:nvSpPr>
        <p:spPr>
          <a:xfrm>
            <a:off x="0" y="4526280"/>
            <a:ext cx="9144000" cy="0"/>
          </a:xfrm>
          <a:prstGeom prst="line">
            <a:avLst/>
          </a:prstGeom>
          <a:noFill/>
          <a:ln w="6350">
            <a:solidFill>
              <a:srgbClr val="2A2A30"/>
            </a:solidFill>
            <a:prstDash val="solid"/>
          </a:ln>
        </p:spPr>
      </p:sp>
      <p:sp>
        <p:nvSpPr>
          <p:cNvPr id="17" name="Text 14"/>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18" name="Text 15"/>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2BC4C4"/>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2BC4C4"/>
                </a:solidFill>
                <a:latin typeface="Arial" pitchFamily="34" charset="0"/>
                <a:ea typeface="Arial" pitchFamily="34" charset="-122"/>
                <a:cs typeface="Arial" pitchFamily="34" charset="-120"/>
              </a:rPr>
              <a:t>02  ·  MARKET IMPACT  ·  LABOR</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One worker now outputs like a team</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Agents change what a job is — and in 2026 the labor data started moving.</a:t>
            </a:r>
            <a:endParaRPr lang="en-US" sz="1300" dirty="0"/>
          </a:p>
        </p:txBody>
      </p:sp>
      <p:sp>
        <p:nvSpPr>
          <p:cNvPr id="6" name="Text 4"/>
          <p:cNvSpPr/>
          <p:nvPr/>
        </p:nvSpPr>
        <p:spPr>
          <a:xfrm>
            <a:off x="457200" y="1664208"/>
            <a:ext cx="3931920" cy="182880"/>
          </a:xfrm>
          <a:prstGeom prst="rect">
            <a:avLst/>
          </a:prstGeom>
          <a:noFill/>
          <a:ln/>
        </p:spPr>
        <p:txBody>
          <a:bodyPr wrap="square" lIns="0" tIns="0" rIns="0" bIns="0" rtlCol="0" anchor="ctr"/>
          <a:lstStyle/>
          <a:p>
            <a:pPr indent="0" marL="0">
              <a:buNone/>
            </a:pPr>
            <a:r>
              <a:rPr lang="en-US" sz="900" b="1" spc="150" kern="0" dirty="0">
                <a:solidFill>
                  <a:srgbClr val="2BC4C4"/>
                </a:solidFill>
                <a:latin typeface="Arial" pitchFamily="34" charset="0"/>
                <a:ea typeface="Arial" pitchFamily="34" charset="-122"/>
                <a:cs typeface="Arial" pitchFamily="34" charset="-120"/>
              </a:rPr>
              <a:t>ONE ORCHESTRATOR  →  N AGENTS</a:t>
            </a:r>
            <a:endParaRPr lang="en-US" sz="900" dirty="0"/>
          </a:p>
        </p:txBody>
      </p:sp>
      <p:sp>
        <p:nvSpPr>
          <p:cNvPr id="7" name="Shape 5"/>
          <p:cNvSpPr/>
          <p:nvPr/>
        </p:nvSpPr>
        <p:spPr>
          <a:xfrm>
            <a:off x="548640" y="2606040"/>
            <a:ext cx="1234440" cy="731520"/>
          </a:xfrm>
          <a:prstGeom prst="roundRect">
            <a:avLst>
              <a:gd name="adj" fmla="val 7500"/>
            </a:avLst>
          </a:prstGeom>
          <a:solidFill>
            <a:srgbClr val="1C1C20"/>
          </a:solidFill>
          <a:ln w="22225">
            <a:solidFill>
              <a:srgbClr val="2BC4C4"/>
            </a:solidFill>
            <a:prstDash val="solid"/>
          </a:ln>
        </p:spPr>
      </p:sp>
      <p:sp>
        <p:nvSpPr>
          <p:cNvPr id="8" name="Text 6"/>
          <p:cNvSpPr/>
          <p:nvPr/>
        </p:nvSpPr>
        <p:spPr>
          <a:xfrm>
            <a:off x="548640" y="2606040"/>
            <a:ext cx="1234440" cy="7315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YOU</a:t>
            </a:r>
            <a:endParaRPr lang="en-US" sz="1100" dirty="0"/>
          </a:p>
          <a:p>
            <a:pPr algn="ctr" indent="0" marL="0">
              <a:buNone/>
            </a:pPr>
            <a:r>
              <a:rPr lang="en-US" sz="750" dirty="0">
                <a:solidFill>
                  <a:srgbClr val="2BC4C4"/>
                </a:solidFill>
                <a:latin typeface="Arial" pitchFamily="34" charset="0"/>
                <a:ea typeface="Arial" pitchFamily="34" charset="-122"/>
                <a:cs typeface="Arial" pitchFamily="34" charset="-120"/>
              </a:rPr>
              <a:t>orchestrator</a:t>
            </a:r>
            <a:endParaRPr lang="en-US" sz="1100" dirty="0"/>
          </a:p>
        </p:txBody>
      </p:sp>
      <p:sp>
        <p:nvSpPr>
          <p:cNvPr id="9" name="Shape 7"/>
          <p:cNvSpPr/>
          <p:nvPr/>
        </p:nvSpPr>
        <p:spPr>
          <a:xfrm flipV="1">
            <a:off x="1783080" y="2039112"/>
            <a:ext cx="1188720" cy="932688"/>
          </a:xfrm>
          <a:prstGeom prst="line">
            <a:avLst/>
          </a:prstGeom>
          <a:noFill/>
          <a:ln w="12700">
            <a:solidFill>
              <a:srgbClr val="9A9AA0"/>
            </a:solidFill>
            <a:prstDash val="solid"/>
            <a:tailEnd type="triangle"/>
          </a:ln>
        </p:spPr>
      </p:sp>
      <p:sp>
        <p:nvSpPr>
          <p:cNvPr id="10" name="Shape 8"/>
          <p:cNvSpPr/>
          <p:nvPr/>
        </p:nvSpPr>
        <p:spPr>
          <a:xfrm>
            <a:off x="2971800" y="1810512"/>
            <a:ext cx="1280160" cy="457200"/>
          </a:xfrm>
          <a:prstGeom prst="rect">
            <a:avLst/>
          </a:prstGeom>
          <a:ln w="15875">
            <a:solidFill>
              <a:srgbClr val="2BC4C4"/>
            </a:solidFill>
            <a:prstDash val="solid"/>
          </a:ln>
        </p:spPr>
      </p:sp>
      <p:sp>
        <p:nvSpPr>
          <p:cNvPr id="11" name="Text 9"/>
          <p:cNvSpPr/>
          <p:nvPr/>
        </p:nvSpPr>
        <p:spPr>
          <a:xfrm>
            <a:off x="2971800" y="1810512"/>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RESEARCH</a:t>
            </a:r>
            <a:endParaRPr lang="en-US" sz="850" dirty="0"/>
          </a:p>
        </p:txBody>
      </p:sp>
      <p:sp>
        <p:nvSpPr>
          <p:cNvPr id="12" name="Shape 10"/>
          <p:cNvSpPr/>
          <p:nvPr/>
        </p:nvSpPr>
        <p:spPr>
          <a:xfrm flipV="1">
            <a:off x="1783080" y="2624328"/>
            <a:ext cx="1188720" cy="347472"/>
          </a:xfrm>
          <a:prstGeom prst="line">
            <a:avLst/>
          </a:prstGeom>
          <a:noFill/>
          <a:ln w="12700">
            <a:solidFill>
              <a:srgbClr val="9A9AA0"/>
            </a:solidFill>
            <a:prstDash val="solid"/>
            <a:tailEnd type="triangle"/>
          </a:ln>
        </p:spPr>
      </p:sp>
      <p:sp>
        <p:nvSpPr>
          <p:cNvPr id="13" name="Shape 11"/>
          <p:cNvSpPr/>
          <p:nvPr/>
        </p:nvSpPr>
        <p:spPr>
          <a:xfrm>
            <a:off x="2971800" y="2395728"/>
            <a:ext cx="1280160" cy="457200"/>
          </a:xfrm>
          <a:prstGeom prst="rect">
            <a:avLst/>
          </a:prstGeom>
          <a:ln w="15875">
            <a:solidFill>
              <a:srgbClr val="2BC4C4"/>
            </a:solidFill>
            <a:prstDash val="solid"/>
          </a:ln>
        </p:spPr>
      </p:sp>
      <p:sp>
        <p:nvSpPr>
          <p:cNvPr id="14" name="Text 12"/>
          <p:cNvSpPr/>
          <p:nvPr/>
        </p:nvSpPr>
        <p:spPr>
          <a:xfrm>
            <a:off x="2971800" y="2395728"/>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BUILD</a:t>
            </a:r>
            <a:endParaRPr lang="en-US" sz="850" dirty="0"/>
          </a:p>
        </p:txBody>
      </p:sp>
      <p:sp>
        <p:nvSpPr>
          <p:cNvPr id="15" name="Shape 13"/>
          <p:cNvSpPr/>
          <p:nvPr/>
        </p:nvSpPr>
        <p:spPr>
          <a:xfrm>
            <a:off x="1783080" y="2971800"/>
            <a:ext cx="1188720" cy="237744"/>
          </a:xfrm>
          <a:prstGeom prst="line">
            <a:avLst/>
          </a:prstGeom>
          <a:noFill/>
          <a:ln w="12700">
            <a:solidFill>
              <a:srgbClr val="9A9AA0"/>
            </a:solidFill>
            <a:prstDash val="solid"/>
            <a:tailEnd type="triangle"/>
          </a:ln>
        </p:spPr>
      </p:sp>
      <p:sp>
        <p:nvSpPr>
          <p:cNvPr id="16" name="Shape 14"/>
          <p:cNvSpPr/>
          <p:nvPr/>
        </p:nvSpPr>
        <p:spPr>
          <a:xfrm>
            <a:off x="2971800" y="2980944"/>
            <a:ext cx="1280160" cy="457200"/>
          </a:xfrm>
          <a:prstGeom prst="rect">
            <a:avLst/>
          </a:prstGeom>
          <a:ln w="15875">
            <a:solidFill>
              <a:srgbClr val="2BC4C4"/>
            </a:solidFill>
            <a:prstDash val="solid"/>
          </a:ln>
        </p:spPr>
      </p:sp>
      <p:sp>
        <p:nvSpPr>
          <p:cNvPr id="17" name="Text 15"/>
          <p:cNvSpPr/>
          <p:nvPr/>
        </p:nvSpPr>
        <p:spPr>
          <a:xfrm>
            <a:off x="2971800" y="2980944"/>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TEST</a:t>
            </a:r>
            <a:endParaRPr lang="en-US" sz="850" dirty="0"/>
          </a:p>
        </p:txBody>
      </p:sp>
      <p:sp>
        <p:nvSpPr>
          <p:cNvPr id="18" name="Shape 16"/>
          <p:cNvSpPr/>
          <p:nvPr/>
        </p:nvSpPr>
        <p:spPr>
          <a:xfrm>
            <a:off x="1783080" y="2971800"/>
            <a:ext cx="1188720" cy="822960"/>
          </a:xfrm>
          <a:prstGeom prst="line">
            <a:avLst/>
          </a:prstGeom>
          <a:noFill/>
          <a:ln w="12700">
            <a:solidFill>
              <a:srgbClr val="9A9AA0"/>
            </a:solidFill>
            <a:prstDash val="solid"/>
            <a:tailEnd type="triangle"/>
          </a:ln>
        </p:spPr>
      </p:sp>
      <p:sp>
        <p:nvSpPr>
          <p:cNvPr id="19" name="Shape 17"/>
          <p:cNvSpPr/>
          <p:nvPr/>
        </p:nvSpPr>
        <p:spPr>
          <a:xfrm>
            <a:off x="2971800" y="3566160"/>
            <a:ext cx="1280160" cy="457200"/>
          </a:xfrm>
          <a:prstGeom prst="rect">
            <a:avLst/>
          </a:prstGeom>
          <a:ln w="15875">
            <a:solidFill>
              <a:srgbClr val="2BC4C4"/>
            </a:solidFill>
            <a:prstDash val="solid"/>
          </a:ln>
        </p:spPr>
      </p:sp>
      <p:sp>
        <p:nvSpPr>
          <p:cNvPr id="20" name="Text 18"/>
          <p:cNvSpPr/>
          <p:nvPr/>
        </p:nvSpPr>
        <p:spPr>
          <a:xfrm>
            <a:off x="2971800" y="3566160"/>
            <a:ext cx="1280160" cy="457200"/>
          </a:xfrm>
          <a:prstGeom prst="rect">
            <a:avLst/>
          </a:prstGeom>
          <a:noFill/>
          <a:ln/>
        </p:spPr>
        <p:txBody>
          <a:bodyPr wrap="square" lIns="0" tIns="0" rIns="0" bIns="0" rtlCol="0" anchor="ctr"/>
          <a:lstStyle/>
          <a:p>
            <a:pPr algn="ctr" indent="0" marL="0">
              <a:buNone/>
            </a:pPr>
            <a:r>
              <a:rPr lang="en-US" sz="850" b="1" dirty="0">
                <a:solidFill>
                  <a:srgbClr val="2BC4C4"/>
                </a:solidFill>
                <a:latin typeface="Arial" pitchFamily="34" charset="0"/>
                <a:ea typeface="Arial" pitchFamily="34" charset="-122"/>
                <a:cs typeface="Arial" pitchFamily="34" charset="-120"/>
              </a:rPr>
              <a:t>SHIP</a:t>
            </a:r>
            <a:endParaRPr lang="en-US" sz="850" dirty="0"/>
          </a:p>
        </p:txBody>
      </p:sp>
      <p:sp>
        <p:nvSpPr>
          <p:cNvPr id="21" name="Text 19"/>
          <p:cNvSpPr/>
          <p:nvPr/>
        </p:nvSpPr>
        <p:spPr>
          <a:xfrm>
            <a:off x="548640" y="3675888"/>
            <a:ext cx="2286000" cy="457200"/>
          </a:xfrm>
          <a:prstGeom prst="rect">
            <a:avLst/>
          </a:prstGeom>
          <a:noFill/>
          <a:ln/>
        </p:spPr>
        <p:txBody>
          <a:bodyPr wrap="square" lIns="0" tIns="0" rIns="0" bIns="0" rtlCol="0" anchor="t"/>
          <a:lstStyle/>
          <a:p>
            <a:pPr indent="0" marL="0">
              <a:buNone/>
            </a:pPr>
            <a:r>
              <a:rPr lang="en-US" sz="800" i="1" dirty="0">
                <a:solidFill>
                  <a:srgbClr val="9A9AA0"/>
                </a:solidFill>
                <a:latin typeface="Arial" pitchFamily="34" charset="0"/>
                <a:ea typeface="Arial" pitchFamily="34" charset="-122"/>
                <a:cs typeface="Arial" pitchFamily="34" charset="-120"/>
              </a:rPr>
              <a:t>one person now outputs like a team</a:t>
            </a:r>
            <a:endParaRPr lang="en-US" sz="800" dirty="0"/>
          </a:p>
        </p:txBody>
      </p:sp>
      <p:sp>
        <p:nvSpPr>
          <p:cNvPr id="22" name="Shape 20"/>
          <p:cNvSpPr/>
          <p:nvPr/>
        </p:nvSpPr>
        <p:spPr>
          <a:xfrm>
            <a:off x="4572000" y="1645920"/>
            <a:ext cx="64008" cy="713232"/>
          </a:xfrm>
          <a:prstGeom prst="rect">
            <a:avLst/>
          </a:prstGeom>
          <a:solidFill>
            <a:srgbClr val="E5484D"/>
          </a:solidFill>
          <a:ln/>
        </p:spPr>
      </p:sp>
      <p:sp>
        <p:nvSpPr>
          <p:cNvPr id="23" name="Text 21"/>
          <p:cNvSpPr/>
          <p:nvPr/>
        </p:nvSpPr>
        <p:spPr>
          <a:xfrm>
            <a:off x="4727448" y="1645920"/>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AI is now the #1 stated reason for layoffs.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Cited in ~40% of May's announced US cuts; 87.7k AI-attributed YTD vs 54.8k in all of 2025 (Challenger; self-reported).</a:t>
            </a:r>
            <a:endParaRPr lang="en-US" sz="950" dirty="0"/>
          </a:p>
        </p:txBody>
      </p:sp>
      <p:sp>
        <p:nvSpPr>
          <p:cNvPr id="24" name="Shape 22"/>
          <p:cNvSpPr/>
          <p:nvPr/>
        </p:nvSpPr>
        <p:spPr>
          <a:xfrm>
            <a:off x="4572000" y="2432304"/>
            <a:ext cx="64008" cy="713232"/>
          </a:xfrm>
          <a:prstGeom prst="rect">
            <a:avLst/>
          </a:prstGeom>
          <a:solidFill>
            <a:srgbClr val="F6693D"/>
          </a:solidFill>
          <a:ln/>
        </p:spPr>
      </p:sp>
      <p:sp>
        <p:nvSpPr>
          <p:cNvPr id="25" name="Text 23"/>
          <p:cNvSpPr/>
          <p:nvPr/>
        </p:nvSpPr>
        <p:spPr>
          <a:xfrm>
            <a:off x="4727448" y="2432304"/>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entry level takes the hit.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Recent-grad unemployment 5.6% vs 4.2% overall (NY Fed); the youngest AI-exposed cohort's payrolls are declining.</a:t>
            </a:r>
            <a:endParaRPr lang="en-US" sz="950" dirty="0"/>
          </a:p>
        </p:txBody>
      </p:sp>
      <p:sp>
        <p:nvSpPr>
          <p:cNvPr id="26" name="Shape 24"/>
          <p:cNvSpPr/>
          <p:nvPr/>
        </p:nvSpPr>
        <p:spPr>
          <a:xfrm>
            <a:off x="4572000" y="3218688"/>
            <a:ext cx="64008" cy="713232"/>
          </a:xfrm>
          <a:prstGeom prst="rect">
            <a:avLst/>
          </a:prstGeom>
          <a:solidFill>
            <a:srgbClr val="FFB800"/>
          </a:solidFill>
          <a:ln/>
        </p:spPr>
      </p:sp>
      <p:sp>
        <p:nvSpPr>
          <p:cNvPr id="27" name="Text 25"/>
          <p:cNvSpPr/>
          <p:nvPr/>
        </p:nvSpPr>
        <p:spPr>
          <a:xfrm>
            <a:off x="4727448" y="3218688"/>
            <a:ext cx="3959352" cy="749808"/>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The job that remains is orchestration.  </a:t>
            </a:r>
            <a:endParaRPr lang="en-US" sz="950" dirty="0"/>
          </a:p>
          <a:p>
            <a:pPr indent="0" marL="0">
              <a:buNone/>
            </a:pPr>
            <a:r>
              <a:rPr lang="en-US" sz="850" dirty="0">
                <a:solidFill>
                  <a:srgbClr val="C9C9CE"/>
                </a:solidFill>
                <a:latin typeface="Arial" pitchFamily="34" charset="0"/>
                <a:ea typeface="Arial" pitchFamily="34" charset="-122"/>
                <a:cs typeface="Arial" pitchFamily="34" charset="-120"/>
              </a:rPr>
              <a:t>Comp follows loop design, not task execution — and displacement fear fuels the slide-6 ownership debate.</a:t>
            </a:r>
            <a:endParaRPr lang="en-US" sz="950" dirty="0"/>
          </a:p>
        </p:txBody>
      </p:sp>
      <p:sp>
        <p:nvSpPr>
          <p:cNvPr id="28" name="Text 26"/>
          <p:cNvSpPr/>
          <p:nvPr/>
        </p:nvSpPr>
        <p:spPr>
          <a:xfrm>
            <a:off x="457200" y="4114800"/>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Challenger, Gray &amp; Christmas via CNBC (Jun 5, 2026) &amp; CBS News; NY Fed via CNBC; framing: internal strategic review (Jun 2026).</a:t>
            </a:r>
            <a:endParaRPr lang="en-US" sz="700" dirty="0"/>
          </a:p>
        </p:txBody>
      </p:sp>
      <p:sp>
        <p:nvSpPr>
          <p:cNvPr id="29" name="Shape 27"/>
          <p:cNvSpPr/>
          <p:nvPr/>
        </p:nvSpPr>
        <p:spPr>
          <a:xfrm>
            <a:off x="0" y="4526280"/>
            <a:ext cx="9144000" cy="617220"/>
          </a:xfrm>
          <a:prstGeom prst="rect">
            <a:avLst/>
          </a:prstGeom>
          <a:solidFill>
            <a:srgbClr val="000000"/>
          </a:solidFill>
          <a:ln/>
        </p:spPr>
      </p:sp>
      <p:sp>
        <p:nvSpPr>
          <p:cNvPr id="30" name="Shape 28"/>
          <p:cNvSpPr/>
          <p:nvPr/>
        </p:nvSpPr>
        <p:spPr>
          <a:xfrm>
            <a:off x="0" y="4526280"/>
            <a:ext cx="9144000" cy="0"/>
          </a:xfrm>
          <a:prstGeom prst="line">
            <a:avLst/>
          </a:prstGeom>
          <a:noFill/>
          <a:ln w="6350">
            <a:solidFill>
              <a:srgbClr val="2A2A30"/>
            </a:solidFill>
            <a:prstDash val="solid"/>
          </a:ln>
        </p:spPr>
      </p:sp>
      <p:sp>
        <p:nvSpPr>
          <p:cNvPr id="31" name="Text 2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2" name="Text 3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F6693D"/>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F6693D"/>
                </a:solidFill>
                <a:latin typeface="Arial" pitchFamily="34" charset="0"/>
                <a:ea typeface="Arial" pitchFamily="34" charset="-122"/>
                <a:cs typeface="Arial" pitchFamily="34" charset="-120"/>
              </a:rPr>
              <a:t>02  ·  MARKET IMPACT  ·  FINANCING</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The buildout moved to the bond market</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Capex outgrew cash flow — so $105B+ of IG mega-deals filled the gap in six months.</a:t>
            </a:r>
            <a:endParaRPr lang="en-US" sz="1300" dirty="0"/>
          </a:p>
        </p:txBody>
      </p:sp>
      <p:sp>
        <p:nvSpPr>
          <p:cNvPr id="6" name="Text 4"/>
          <p:cNvSpPr/>
          <p:nvPr/>
        </p:nvSpPr>
        <p:spPr>
          <a:xfrm>
            <a:off x="457200" y="1627632"/>
            <a:ext cx="2194560" cy="182880"/>
          </a:xfrm>
          <a:prstGeom prst="rect">
            <a:avLst/>
          </a:prstGeom>
          <a:noFill/>
          <a:ln/>
        </p:spPr>
        <p:txBody>
          <a:bodyPr wrap="square" lIns="0" tIns="0" rIns="0" bIns="0" rtlCol="0" anchor="ctr"/>
          <a:lstStyle/>
          <a:p>
            <a:pPr indent="0" marL="0">
              <a:buNone/>
            </a:pPr>
            <a:r>
              <a:rPr lang="en-US" sz="800" b="1" spc="200" kern="0" dirty="0">
                <a:solidFill>
                  <a:srgbClr val="F6693D"/>
                </a:solidFill>
                <a:latin typeface="Arial" pitchFamily="34" charset="0"/>
                <a:ea typeface="Arial" pitchFamily="34" charset="-122"/>
                <a:cs typeface="Arial" pitchFamily="34" charset="-120"/>
              </a:rPr>
              <a:t>THE GAP</a:t>
            </a:r>
            <a:endParaRPr lang="en-US" sz="800" dirty="0"/>
          </a:p>
        </p:txBody>
      </p:sp>
      <p:sp>
        <p:nvSpPr>
          <p:cNvPr id="7" name="Text 5"/>
          <p:cNvSpPr/>
          <p:nvPr/>
        </p:nvSpPr>
        <p:spPr>
          <a:xfrm>
            <a:off x="457200" y="1865376"/>
            <a:ext cx="2286000" cy="384048"/>
          </a:xfrm>
          <a:prstGeom prst="rect">
            <a:avLst/>
          </a:prstGeom>
          <a:noFill/>
          <a:ln/>
        </p:spPr>
        <p:txBody>
          <a:bodyPr wrap="square" lIns="0" tIns="0" rIns="0" bIns="0" rtlCol="0" anchor="ctr"/>
          <a:lstStyle/>
          <a:p>
            <a:pPr indent="0" marL="0">
              <a:buNone/>
            </a:pPr>
            <a:r>
              <a:rPr lang="en-US" sz="2400" b="1" dirty="0">
                <a:solidFill>
                  <a:srgbClr val="F6693D"/>
                </a:solidFill>
                <a:latin typeface="Arial Black" pitchFamily="34" charset="0"/>
                <a:ea typeface="Arial Black" pitchFamily="34" charset="-122"/>
                <a:cs typeface="Arial Black" pitchFamily="34" charset="-120"/>
              </a:rPr>
              <a:t>~$705B</a:t>
            </a:r>
            <a:endParaRPr lang="en-US" sz="2400" dirty="0"/>
          </a:p>
        </p:txBody>
      </p:sp>
      <p:sp>
        <p:nvSpPr>
          <p:cNvPr id="8" name="Text 6"/>
          <p:cNvSpPr/>
          <p:nvPr/>
        </p:nvSpPr>
        <p:spPr>
          <a:xfrm>
            <a:off x="457200" y="2267712"/>
            <a:ext cx="228600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Big-4 guided 2026 capex, +72% YoY — it consumes ~94% of operating cash flow.</a:t>
            </a:r>
            <a:endParaRPr lang="en-US" sz="750" dirty="0"/>
          </a:p>
        </p:txBody>
      </p:sp>
      <p:sp>
        <p:nvSpPr>
          <p:cNvPr id="9" name="Text 7"/>
          <p:cNvSpPr/>
          <p:nvPr/>
        </p:nvSpPr>
        <p:spPr>
          <a:xfrm>
            <a:off x="457200" y="2743200"/>
            <a:ext cx="2377440" cy="640080"/>
          </a:xfrm>
          <a:prstGeom prst="rect">
            <a:avLst/>
          </a:prstGeom>
          <a:noFill/>
          <a:ln/>
        </p:spPr>
        <p:txBody>
          <a:bodyPr wrap="square" lIns="0" tIns="0" rIns="0" bIns="0" rtlCol="0" anchor="t"/>
          <a:lstStyle/>
          <a:p>
            <a:pPr indent="0" marL="0">
              <a:buNone/>
            </a:pPr>
            <a:r>
              <a:rPr lang="en-US" sz="850" dirty="0">
                <a:solidFill>
                  <a:srgbClr val="9A9AA0"/>
                </a:solidFill>
                <a:latin typeface="Arial" pitchFamily="34" charset="0"/>
                <a:ea typeface="Arial" pitchFamily="34" charset="-122"/>
                <a:cs typeface="Arial" pitchFamily="34" charset="-120"/>
              </a:rPr>
              <a:t>Big-4 FCF at a decade low; Amazon goes negative; Alphabet FCF ~−90%.</a:t>
            </a:r>
            <a:endParaRPr lang="en-US" sz="850" dirty="0"/>
          </a:p>
        </p:txBody>
      </p:sp>
      <p:sp>
        <p:nvSpPr>
          <p:cNvPr id="10" name="Text 8"/>
          <p:cNvSpPr/>
          <p:nvPr/>
        </p:nvSpPr>
        <p:spPr>
          <a:xfrm>
            <a:off x="3063240" y="1627632"/>
            <a:ext cx="324612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The issuance wave — $105B+ in six months</a:t>
            </a:r>
            <a:endParaRPr lang="en-US" sz="1300" dirty="0"/>
          </a:p>
        </p:txBody>
      </p:sp>
      <p:sp>
        <p:nvSpPr>
          <p:cNvPr id="11" name="Shape 9"/>
          <p:cNvSpPr/>
          <p:nvPr/>
        </p:nvSpPr>
        <p:spPr>
          <a:xfrm>
            <a:off x="3063240" y="1929384"/>
            <a:ext cx="3246120" cy="0"/>
          </a:xfrm>
          <a:prstGeom prst="line">
            <a:avLst/>
          </a:prstGeom>
          <a:noFill/>
          <a:ln w="12700">
            <a:solidFill>
              <a:srgbClr val="F6693D"/>
            </a:solidFill>
            <a:prstDash val="solid"/>
          </a:ln>
        </p:spPr>
      </p:sp>
      <p:sp>
        <p:nvSpPr>
          <p:cNvPr id="12" name="Shape 10"/>
          <p:cNvSpPr/>
          <p:nvPr/>
        </p:nvSpPr>
        <p:spPr>
          <a:xfrm>
            <a:off x="3200400" y="2697480"/>
            <a:ext cx="2697480" cy="0"/>
          </a:xfrm>
          <a:prstGeom prst="line">
            <a:avLst/>
          </a:prstGeom>
          <a:noFill/>
          <a:ln w="19050">
            <a:solidFill>
              <a:srgbClr val="2A2A30"/>
            </a:solidFill>
            <a:prstDash val="solid"/>
          </a:ln>
        </p:spPr>
      </p:sp>
      <p:sp>
        <p:nvSpPr>
          <p:cNvPr id="13" name="Shape 11"/>
          <p:cNvSpPr/>
          <p:nvPr/>
        </p:nvSpPr>
        <p:spPr>
          <a:xfrm>
            <a:off x="3282696" y="2642616"/>
            <a:ext cx="109728" cy="109728"/>
          </a:xfrm>
          <a:prstGeom prst="ellipse">
            <a:avLst/>
          </a:prstGeom>
          <a:solidFill>
            <a:srgbClr val="F6693D"/>
          </a:solidFill>
          <a:ln/>
        </p:spPr>
      </p:sp>
      <p:sp>
        <p:nvSpPr>
          <p:cNvPr id="14" name="Text 12"/>
          <p:cNvSpPr/>
          <p:nvPr/>
        </p:nvSpPr>
        <p:spPr>
          <a:xfrm>
            <a:off x="3017520"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$18B</a:t>
            </a:r>
            <a:endParaRPr lang="en-US" sz="1150" dirty="0"/>
          </a:p>
        </p:txBody>
      </p:sp>
      <p:sp>
        <p:nvSpPr>
          <p:cNvPr id="15" name="Text 13"/>
          <p:cNvSpPr/>
          <p:nvPr/>
        </p:nvSpPr>
        <p:spPr>
          <a:xfrm>
            <a:off x="3017520"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Sep '25</a:t>
            </a:r>
            <a:endParaRPr lang="en-US" sz="750" dirty="0"/>
          </a:p>
        </p:txBody>
      </p:sp>
      <p:sp>
        <p:nvSpPr>
          <p:cNvPr id="16" name="Shape 14"/>
          <p:cNvSpPr/>
          <p:nvPr/>
        </p:nvSpPr>
        <p:spPr>
          <a:xfrm>
            <a:off x="3858768" y="2642616"/>
            <a:ext cx="109728" cy="109728"/>
          </a:xfrm>
          <a:prstGeom prst="ellipse">
            <a:avLst/>
          </a:prstGeom>
          <a:solidFill>
            <a:srgbClr val="F6693D"/>
          </a:solidFill>
          <a:ln/>
        </p:spPr>
      </p:sp>
      <p:sp>
        <p:nvSpPr>
          <p:cNvPr id="17" name="Text 15"/>
          <p:cNvSpPr/>
          <p:nvPr/>
        </p:nvSpPr>
        <p:spPr>
          <a:xfrm>
            <a:off x="3593592"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$30B</a:t>
            </a:r>
            <a:endParaRPr lang="en-US" sz="1150" dirty="0"/>
          </a:p>
        </p:txBody>
      </p:sp>
      <p:sp>
        <p:nvSpPr>
          <p:cNvPr id="18" name="Text 16"/>
          <p:cNvSpPr/>
          <p:nvPr/>
        </p:nvSpPr>
        <p:spPr>
          <a:xfrm>
            <a:off x="3593592"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Meta</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Oct '25</a:t>
            </a:r>
            <a:endParaRPr lang="en-US" sz="750" dirty="0"/>
          </a:p>
        </p:txBody>
      </p:sp>
      <p:sp>
        <p:nvSpPr>
          <p:cNvPr id="19" name="Shape 17"/>
          <p:cNvSpPr/>
          <p:nvPr/>
        </p:nvSpPr>
        <p:spPr>
          <a:xfrm>
            <a:off x="4434840" y="2642616"/>
            <a:ext cx="109728" cy="109728"/>
          </a:xfrm>
          <a:prstGeom prst="ellipse">
            <a:avLst/>
          </a:prstGeom>
          <a:solidFill>
            <a:srgbClr val="F6693D"/>
          </a:solidFill>
          <a:ln/>
        </p:spPr>
      </p:sp>
      <p:sp>
        <p:nvSpPr>
          <p:cNvPr id="20" name="Text 18"/>
          <p:cNvSpPr/>
          <p:nvPr/>
        </p:nvSpPr>
        <p:spPr>
          <a:xfrm>
            <a:off x="4169664"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$17.5B</a:t>
            </a:r>
            <a:endParaRPr lang="en-US" sz="1150" dirty="0"/>
          </a:p>
        </p:txBody>
      </p:sp>
      <p:sp>
        <p:nvSpPr>
          <p:cNvPr id="21" name="Text 19"/>
          <p:cNvSpPr/>
          <p:nvPr/>
        </p:nvSpPr>
        <p:spPr>
          <a:xfrm>
            <a:off x="4169664"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Alphabet</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2" name="Shape 20"/>
          <p:cNvSpPr/>
          <p:nvPr/>
        </p:nvSpPr>
        <p:spPr>
          <a:xfrm>
            <a:off x="5010912" y="2642616"/>
            <a:ext cx="109728" cy="109728"/>
          </a:xfrm>
          <a:prstGeom prst="ellipse">
            <a:avLst/>
          </a:prstGeom>
          <a:solidFill>
            <a:srgbClr val="F6693D"/>
          </a:solidFill>
          <a:ln/>
        </p:spPr>
      </p:sp>
      <p:sp>
        <p:nvSpPr>
          <p:cNvPr id="23" name="Text 21"/>
          <p:cNvSpPr/>
          <p:nvPr/>
        </p:nvSpPr>
        <p:spPr>
          <a:xfrm>
            <a:off x="4745736"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$15B</a:t>
            </a:r>
            <a:endParaRPr lang="en-US" sz="1150" dirty="0"/>
          </a:p>
        </p:txBody>
      </p:sp>
      <p:sp>
        <p:nvSpPr>
          <p:cNvPr id="24" name="Text 22"/>
          <p:cNvSpPr/>
          <p:nvPr/>
        </p:nvSpPr>
        <p:spPr>
          <a:xfrm>
            <a:off x="4745736"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Amazon</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Nov '25</a:t>
            </a:r>
            <a:endParaRPr lang="en-US" sz="750" dirty="0"/>
          </a:p>
        </p:txBody>
      </p:sp>
      <p:sp>
        <p:nvSpPr>
          <p:cNvPr id="25" name="Shape 23"/>
          <p:cNvSpPr/>
          <p:nvPr/>
        </p:nvSpPr>
        <p:spPr>
          <a:xfrm>
            <a:off x="5586984" y="2642616"/>
            <a:ext cx="109728" cy="109728"/>
          </a:xfrm>
          <a:prstGeom prst="ellipse">
            <a:avLst/>
          </a:prstGeom>
          <a:solidFill>
            <a:srgbClr val="F6693D"/>
          </a:solidFill>
          <a:ln/>
        </p:spPr>
      </p:sp>
      <p:sp>
        <p:nvSpPr>
          <p:cNvPr id="26" name="Text 24"/>
          <p:cNvSpPr/>
          <p:nvPr/>
        </p:nvSpPr>
        <p:spPr>
          <a:xfrm>
            <a:off x="5321808" y="2249424"/>
            <a:ext cx="640080" cy="310896"/>
          </a:xfrm>
          <a:prstGeom prst="rect">
            <a:avLst/>
          </a:prstGeom>
          <a:noFill/>
          <a:ln/>
        </p:spPr>
        <p:txBody>
          <a:bodyPr wrap="square" lIns="0" tIns="0" rIns="0" bIns="0" rtlCol="0" anchor="ctr"/>
          <a:lstStyle/>
          <a:p>
            <a:pPr algn="ctr" indent="0" marL="0">
              <a:buNone/>
            </a:pPr>
            <a:r>
              <a:rPr lang="en-US" sz="1150" b="1" dirty="0">
                <a:solidFill>
                  <a:srgbClr val="F6693D"/>
                </a:solidFill>
                <a:latin typeface="Arial Black" pitchFamily="34" charset="0"/>
                <a:ea typeface="Arial Black" pitchFamily="34" charset="-122"/>
                <a:cs typeface="Arial Black" pitchFamily="34" charset="-120"/>
              </a:rPr>
              <a:t>$25B</a:t>
            </a:r>
            <a:endParaRPr lang="en-US" sz="1150" dirty="0"/>
          </a:p>
        </p:txBody>
      </p:sp>
      <p:sp>
        <p:nvSpPr>
          <p:cNvPr id="27" name="Text 25"/>
          <p:cNvSpPr/>
          <p:nvPr/>
        </p:nvSpPr>
        <p:spPr>
          <a:xfrm>
            <a:off x="5321808" y="2834640"/>
            <a:ext cx="640080" cy="457200"/>
          </a:xfrm>
          <a:prstGeom prst="rect">
            <a:avLst/>
          </a:prstGeom>
          <a:noFill/>
          <a:ln/>
        </p:spPr>
        <p:txBody>
          <a:bodyPr wrap="square" lIns="0" tIns="0" rIns="0" bIns="0" rtlCol="0" anchor="t"/>
          <a:lstStyle/>
          <a:p>
            <a:pPr algn="ctr" indent="0" marL="0">
              <a:buNone/>
            </a:pPr>
            <a:r>
              <a:rPr lang="en-US" sz="750" b="1" dirty="0">
                <a:solidFill>
                  <a:srgbClr val="FFFFFF"/>
                </a:solidFill>
                <a:latin typeface="Arial" pitchFamily="34" charset="0"/>
                <a:ea typeface="Arial" pitchFamily="34" charset="-122"/>
                <a:cs typeface="Arial" pitchFamily="34" charset="-120"/>
              </a:rPr>
              <a:t>Oracle</a:t>
            </a:r>
            <a:endParaRPr lang="en-US" sz="750" dirty="0"/>
          </a:p>
          <a:p>
            <a:pPr algn="ctr" indent="0" marL="0">
              <a:buNone/>
            </a:pPr>
            <a:r>
              <a:rPr lang="en-US" sz="700" dirty="0">
                <a:solidFill>
                  <a:srgbClr val="9A9AA0"/>
                </a:solidFill>
                <a:latin typeface="Arial" pitchFamily="34" charset="0"/>
                <a:ea typeface="Arial" pitchFamily="34" charset="-122"/>
                <a:cs typeface="Arial" pitchFamily="34" charset="-120"/>
              </a:rPr>
              <a:t>Feb '26</a:t>
            </a:r>
            <a:endParaRPr lang="en-US" sz="750" dirty="0"/>
          </a:p>
        </p:txBody>
      </p:sp>
      <p:sp>
        <p:nvSpPr>
          <p:cNvPr id="28" name="Text 26"/>
          <p:cNvSpPr/>
          <p:nvPr/>
        </p:nvSpPr>
        <p:spPr>
          <a:xfrm>
            <a:off x="6126480" y="1783080"/>
            <a:ext cx="2560320" cy="384048"/>
          </a:xfrm>
          <a:prstGeom prst="rect">
            <a:avLst/>
          </a:prstGeom>
          <a:noFill/>
          <a:ln/>
        </p:spPr>
        <p:txBody>
          <a:bodyPr wrap="square" lIns="0" tIns="0" rIns="0" bIns="0" rtlCol="0" anchor="ctr"/>
          <a:lstStyle/>
          <a:p>
            <a:pPr indent="0" marL="0">
              <a:buNone/>
            </a:pPr>
            <a:r>
              <a:rPr lang="en-US" sz="2200" b="1" dirty="0">
                <a:solidFill>
                  <a:srgbClr val="FFB800"/>
                </a:solidFill>
                <a:latin typeface="Arial Black" pitchFamily="34" charset="0"/>
                <a:ea typeface="Arial Black" pitchFamily="34" charset="-122"/>
                <a:cs typeface="Arial Black" pitchFamily="34" charset="-120"/>
              </a:rPr>
              <a:t>~$300B</a:t>
            </a:r>
            <a:endParaRPr lang="en-US" sz="2200" dirty="0"/>
          </a:p>
        </p:txBody>
      </p:sp>
      <p:sp>
        <p:nvSpPr>
          <p:cNvPr id="29" name="Text 27"/>
          <p:cNvSpPr/>
          <p:nvPr/>
        </p:nvSpPr>
        <p:spPr>
          <a:xfrm>
            <a:off x="6126480" y="218541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AI-linked IG supply expected for full-year 2026 (UBS, Barclays via Reuters).</a:t>
            </a:r>
            <a:endParaRPr lang="en-US" sz="750" dirty="0"/>
          </a:p>
        </p:txBody>
      </p:sp>
      <p:sp>
        <p:nvSpPr>
          <p:cNvPr id="30" name="Text 28"/>
          <p:cNvSpPr/>
          <p:nvPr/>
        </p:nvSpPr>
        <p:spPr>
          <a:xfrm>
            <a:off x="6126480" y="2651760"/>
            <a:ext cx="2560320" cy="384048"/>
          </a:xfrm>
          <a:prstGeom prst="rect">
            <a:avLst/>
          </a:prstGeom>
          <a:noFill/>
          <a:ln/>
        </p:spPr>
        <p:txBody>
          <a:bodyPr wrap="square" lIns="0" tIns="0" rIns="0" bIns="0" rtlCol="0" anchor="ctr"/>
          <a:lstStyle/>
          <a:p>
            <a:pPr indent="0" marL="0">
              <a:buNone/>
            </a:pPr>
            <a:r>
              <a:rPr lang="en-US" sz="2200" b="1" dirty="0">
                <a:solidFill>
                  <a:srgbClr val="2BC4C4"/>
                </a:solidFill>
                <a:latin typeface="Arial Black" pitchFamily="34" charset="0"/>
                <a:ea typeface="Arial Black" pitchFamily="34" charset="-122"/>
                <a:cs typeface="Arial Black" pitchFamily="34" charset="-120"/>
              </a:rPr>
              <a:t>&gt;125bp</a:t>
            </a:r>
            <a:endParaRPr lang="en-US" sz="2200" dirty="0"/>
          </a:p>
        </p:txBody>
      </p:sp>
      <p:sp>
        <p:nvSpPr>
          <p:cNvPr id="31" name="Text 29"/>
          <p:cNvSpPr/>
          <p:nvPr/>
        </p:nvSpPr>
        <p:spPr>
          <a:xfrm>
            <a:off x="6126480" y="3054096"/>
            <a:ext cx="2560320" cy="438912"/>
          </a:xfrm>
          <a:prstGeom prst="rect">
            <a:avLst/>
          </a:prstGeom>
          <a:noFill/>
          <a:ln/>
        </p:spPr>
        <p:txBody>
          <a:bodyPr wrap="square" lIns="0" tIns="0" rIns="0" bIns="0" rtlCol="0" anchor="t"/>
          <a:lstStyle/>
          <a:p>
            <a:pPr indent="0" marL="0">
              <a:buNone/>
            </a:pPr>
            <a:r>
              <a:rPr lang="en-US" sz="750" dirty="0">
                <a:solidFill>
                  <a:srgbClr val="9A9AA0"/>
                </a:solidFill>
                <a:latin typeface="Arial" pitchFamily="34" charset="0"/>
                <a:ea typeface="Arial" pitchFamily="34" charset="-122"/>
                <a:cs typeface="Arial" pitchFamily="34" charset="-120"/>
              </a:rPr>
              <a:t>Oracle 5-yr CDS despite light leverage — credit already discriminates by funding capacity.</a:t>
            </a:r>
            <a:endParaRPr lang="en-US" sz="750" dirty="0"/>
          </a:p>
        </p:txBody>
      </p:sp>
      <p:sp>
        <p:nvSpPr>
          <p:cNvPr id="32" name="Shape 30"/>
          <p:cNvSpPr/>
          <p:nvPr/>
        </p:nvSpPr>
        <p:spPr>
          <a:xfrm>
            <a:off x="457200" y="3694176"/>
            <a:ext cx="8229600" cy="658368"/>
          </a:xfrm>
          <a:prstGeom prst="rect">
            <a:avLst/>
          </a:prstGeom>
          <a:solidFill>
            <a:srgbClr val="1C1C20"/>
          </a:solidFill>
          <a:ln w="9525">
            <a:solidFill>
              <a:srgbClr val="2A2A30"/>
            </a:solidFill>
            <a:prstDash val="solid"/>
          </a:ln>
        </p:spPr>
      </p:sp>
      <p:sp>
        <p:nvSpPr>
          <p:cNvPr id="33" name="Text 31"/>
          <p:cNvSpPr/>
          <p:nvPr/>
        </p:nvSpPr>
        <p:spPr>
          <a:xfrm>
            <a:off x="594360" y="3785616"/>
            <a:ext cx="7955280" cy="228600"/>
          </a:xfrm>
          <a:prstGeom prst="rect">
            <a:avLst/>
          </a:prstGeom>
          <a:noFill/>
          <a:ln/>
        </p:spPr>
        <p:txBody>
          <a:bodyPr wrap="square" lIns="0" tIns="0" rIns="0" bIns="0" rtlCol="0" anchor="ctr"/>
          <a:lstStyle/>
          <a:p>
            <a:pPr indent="0" marL="0">
              <a:buNone/>
            </a:pPr>
            <a:r>
              <a:rPr lang="en-US" sz="900" b="1" spc="200" kern="0" dirty="0">
                <a:solidFill>
                  <a:srgbClr val="FFB800"/>
                </a:solidFill>
                <a:latin typeface="Arial" pitchFamily="34" charset="0"/>
                <a:ea typeface="Arial" pitchFamily="34" charset="-122"/>
                <a:cs typeface="Arial" pitchFamily="34" charset="-120"/>
              </a:rPr>
              <a:t>READ</a:t>
            </a:r>
            <a:endParaRPr lang="en-US" sz="900" dirty="0"/>
          </a:p>
        </p:txBody>
      </p:sp>
      <p:sp>
        <p:nvSpPr>
          <p:cNvPr id="34" name="Text 32"/>
          <p:cNvSpPr/>
          <p:nvPr/>
        </p:nvSpPr>
        <p:spPr>
          <a:xfrm>
            <a:off x="594360" y="4059936"/>
            <a:ext cx="7955280" cy="201168"/>
          </a:xfrm>
          <a:prstGeom prst="rect">
            <a:avLst/>
          </a:prstGeom>
          <a:noFill/>
          <a:ln/>
        </p:spPr>
        <p:txBody>
          <a:bodyPr wrap="square" lIns="0" tIns="0" rIns="0" bIns="0" rtlCol="0" anchor="t"/>
          <a:lstStyle/>
          <a:p>
            <a:pPr indent="0" marL="0">
              <a:buNone/>
            </a:pPr>
            <a:r>
              <a:rPr lang="en-US" sz="1000" b="1" dirty="0">
                <a:solidFill>
                  <a:srgbClr val="FFFFFF"/>
                </a:solidFill>
                <a:latin typeface="Arial" pitchFamily="34" charset="0"/>
                <a:ea typeface="Arial" pitchFamily="34" charset="-122"/>
                <a:cs typeface="Arial" pitchFamily="34" charset="-120"/>
              </a:rPr>
              <a:t>Credit reprices before equity.</a:t>
            </a:r>
            <a:endParaRPr lang="en-US" sz="1000" dirty="0"/>
          </a:p>
          <a:p>
            <a:pPr indent="0" marL="0">
              <a:buNone/>
            </a:pPr>
            <a:r>
              <a:rPr lang="en-US" sz="900" dirty="0">
                <a:solidFill>
                  <a:srgbClr val="C9C9CE"/>
                </a:solidFill>
                <a:latin typeface="Arial" pitchFamily="34" charset="0"/>
                <a:ea typeface="Arial" pitchFamily="34" charset="-122"/>
                <a:cs typeface="Arial" pitchFamily="34" charset="-120"/>
              </a:rPr>
              <a:t>Spreads move before earnings revisions — the early-warning gauge for AI equities. The self-funding megacap contract broke in 2026.</a:t>
            </a:r>
            <a:endParaRPr lang="en-US" sz="1000" dirty="0"/>
          </a:p>
        </p:txBody>
      </p:sp>
      <p:sp>
        <p:nvSpPr>
          <p:cNvPr id="35" name="Text 33"/>
          <p:cNvSpPr/>
          <p:nvPr/>
        </p:nvSpPr>
        <p:spPr>
          <a:xfrm>
            <a:off x="457200" y="442569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Capex: company reports via CNBC (Feb 6, 2026). Cash math: BofA via Breckinridge. Deals: Mawer, M&amp;G, Fortune, CNBC. Supply: UBS &amp; Barclays via Reuters. CDS: MUFG via CNBC.</a:t>
            </a:r>
            <a:endParaRPr lang="en-US" sz="700" dirty="0"/>
          </a:p>
        </p:txBody>
      </p:sp>
      <p:sp>
        <p:nvSpPr>
          <p:cNvPr id="36" name="Shape 34"/>
          <p:cNvSpPr/>
          <p:nvPr/>
        </p:nvSpPr>
        <p:spPr>
          <a:xfrm>
            <a:off x="0" y="4526280"/>
            <a:ext cx="9144000" cy="617220"/>
          </a:xfrm>
          <a:prstGeom prst="rect">
            <a:avLst/>
          </a:prstGeom>
          <a:solidFill>
            <a:srgbClr val="000000"/>
          </a:solidFill>
          <a:ln/>
        </p:spPr>
      </p:sp>
      <p:sp>
        <p:nvSpPr>
          <p:cNvPr id="37" name="Shape 35"/>
          <p:cNvSpPr/>
          <p:nvPr/>
        </p:nvSpPr>
        <p:spPr>
          <a:xfrm>
            <a:off x="0" y="4526280"/>
            <a:ext cx="9144000" cy="0"/>
          </a:xfrm>
          <a:prstGeom prst="line">
            <a:avLst/>
          </a:prstGeom>
          <a:noFill/>
          <a:ln w="6350">
            <a:solidFill>
              <a:srgbClr val="2A2A30"/>
            </a:solidFill>
            <a:prstDash val="solid"/>
          </a:ln>
        </p:spPr>
      </p:sp>
      <p:sp>
        <p:nvSpPr>
          <p:cNvPr id="38" name="Text 36"/>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39" name="Text 37"/>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9B7BE0"/>
          </a:solidFill>
          <a:ln/>
        </p:spPr>
      </p:sp>
      <p:sp>
        <p:nvSpPr>
          <p:cNvPr id="3" name="Text 1"/>
          <p:cNvSpPr/>
          <p:nvPr/>
        </p:nvSpPr>
        <p:spPr>
          <a:xfrm>
            <a:off x="841248" y="155448"/>
            <a:ext cx="5943600" cy="274320"/>
          </a:xfrm>
          <a:prstGeom prst="rect">
            <a:avLst/>
          </a:prstGeom>
          <a:noFill/>
          <a:ln/>
        </p:spPr>
        <p:txBody>
          <a:bodyPr wrap="square" lIns="0" tIns="0" rIns="0" bIns="0" rtlCol="0" anchor="ctr"/>
          <a:lstStyle/>
          <a:p>
            <a:pPr indent="0" marL="0">
              <a:buNone/>
            </a:pPr>
            <a:r>
              <a:rPr lang="en-US" sz="900" b="1" spc="300" kern="0" dirty="0">
                <a:solidFill>
                  <a:srgbClr val="9B7BE0"/>
                </a:solidFill>
                <a:latin typeface="Arial" pitchFamily="34" charset="0"/>
                <a:ea typeface="Arial" pitchFamily="34" charset="-122"/>
                <a:cs typeface="Arial" pitchFamily="34" charset="-120"/>
              </a:rPr>
              <a:t>02  ·  MARKET IMPACT  ·  PORTFOLIO</a:t>
            </a:r>
            <a:endParaRPr lang="en-US" sz="900" dirty="0"/>
          </a:p>
        </p:txBody>
      </p:sp>
      <p:sp>
        <p:nvSpPr>
          <p:cNvPr id="4" name="Text 2"/>
          <p:cNvSpPr/>
          <p:nvPr/>
        </p:nvSpPr>
        <p:spPr>
          <a:xfrm>
            <a:off x="457200" y="438912"/>
            <a:ext cx="8229600" cy="640080"/>
          </a:xfrm>
          <a:prstGeom prst="rect">
            <a:avLst/>
          </a:prstGeom>
          <a:noFill/>
          <a:ln/>
        </p:spPr>
        <p:txBody>
          <a:bodyPr wrap="square" lIns="0" tIns="0" rIns="0" bIns="0" rtlCol="0" anchor="t"/>
          <a:lstStyle/>
          <a:p>
            <a:pPr indent="0" marL="0">
              <a:buNone/>
            </a:pPr>
            <a:r>
              <a:rPr lang="en-US" sz="3000" b="1" dirty="0">
                <a:solidFill>
                  <a:srgbClr val="FFFFFF"/>
                </a:solidFill>
                <a:latin typeface="Arial Black" pitchFamily="34" charset="0"/>
                <a:ea typeface="Arial Black" pitchFamily="34" charset="-122"/>
                <a:cs typeface="Arial Black" pitchFamily="34" charset="-120"/>
              </a:rPr>
              <a:t>Your index fund is an AI fund now</a:t>
            </a:r>
            <a:endParaRPr lang="en-US" sz="3000" dirty="0"/>
          </a:p>
        </p:txBody>
      </p:sp>
      <p:sp>
        <p:nvSpPr>
          <p:cNvPr id="5" name="Text 3"/>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A passive S&amp;P 500 allocation embeds an undiversified AI bet no one sized on purpose.</a:t>
            </a:r>
            <a:endParaRPr lang="en-US" sz="1300" dirty="0"/>
          </a:p>
        </p:txBody>
      </p:sp>
      <p:sp>
        <p:nvSpPr>
          <p:cNvPr id="6" name="Text 4"/>
          <p:cNvSpPr/>
          <p:nvPr/>
        </p:nvSpPr>
        <p:spPr>
          <a:xfrm>
            <a:off x="457200" y="1554480"/>
            <a:ext cx="365760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Where $100 of S&amp;P 500 exposure sits</a:t>
            </a:r>
            <a:endParaRPr lang="en-US" sz="1300" dirty="0"/>
          </a:p>
        </p:txBody>
      </p:sp>
      <p:sp>
        <p:nvSpPr>
          <p:cNvPr id="7" name="Shape 5"/>
          <p:cNvSpPr/>
          <p:nvPr/>
        </p:nvSpPr>
        <p:spPr>
          <a:xfrm>
            <a:off x="457200" y="1856232"/>
            <a:ext cx="3657600" cy="0"/>
          </a:xfrm>
          <a:prstGeom prst="line">
            <a:avLst/>
          </a:prstGeom>
          <a:noFill/>
          <a:ln w="12700">
            <a:solidFill>
              <a:srgbClr val="9B7BE0"/>
            </a:solidFill>
            <a:prstDash val="solid"/>
          </a:ln>
        </p:spPr>
      </p:sp>
      <p:graphicFrame>
        <p:nvGraphicFramePr>
          <p:cNvPr id="8" name="Chart 0" descr=""/>
          <p:cNvGraphicFramePr/>
          <p:nvPr/>
        </p:nvGraphicFramePr>
        <p:xfrm>
          <a:off x="457200" y="1874520"/>
          <a:ext cx="3657600" cy="22860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1600200" y="2578608"/>
            <a:ext cx="13716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Black" pitchFamily="34" charset="0"/>
                <a:ea typeface="Arial Black" pitchFamily="34" charset="-122"/>
                <a:cs typeface="Arial Black" pitchFamily="34" charset="-120"/>
              </a:rPr>
              <a:t>$37</a:t>
            </a:r>
            <a:endParaRPr lang="en-US" sz="1600" dirty="0"/>
          </a:p>
        </p:txBody>
      </p:sp>
      <p:sp>
        <p:nvSpPr>
          <p:cNvPr id="10" name="Text 7"/>
          <p:cNvSpPr/>
          <p:nvPr/>
        </p:nvSpPr>
        <p:spPr>
          <a:xfrm>
            <a:off x="1600200" y="2926080"/>
            <a:ext cx="1371600" cy="182880"/>
          </a:xfrm>
          <a:prstGeom prst="rect">
            <a:avLst/>
          </a:prstGeom>
          <a:noFill/>
          <a:ln/>
        </p:spPr>
        <p:txBody>
          <a:bodyPr wrap="square" lIns="0" tIns="0" rIns="0" bIns="0" rtlCol="0" anchor="ctr"/>
          <a:lstStyle/>
          <a:p>
            <a:pPr algn="ctr" indent="0" marL="0">
              <a:buNone/>
            </a:pPr>
            <a:r>
              <a:rPr lang="en-US" sz="700" dirty="0">
                <a:solidFill>
                  <a:srgbClr val="9A9AA0"/>
                </a:solidFill>
                <a:latin typeface="Arial" pitchFamily="34" charset="0"/>
                <a:ea typeface="Arial" pitchFamily="34" charset="-122"/>
                <a:cs typeface="Arial" pitchFamily="34" charset="-120"/>
              </a:rPr>
              <a:t>in ten names</a:t>
            </a:r>
            <a:endParaRPr lang="en-US" sz="700" dirty="0"/>
          </a:p>
        </p:txBody>
      </p:sp>
      <p:sp>
        <p:nvSpPr>
          <p:cNvPr id="11" name="Text 8"/>
          <p:cNvSpPr/>
          <p:nvPr/>
        </p:nvSpPr>
        <p:spPr>
          <a:xfrm>
            <a:off x="4389120" y="1554480"/>
            <a:ext cx="4297680" cy="256032"/>
          </a:xfrm>
          <a:prstGeom prst="rect">
            <a:avLst/>
          </a:prstGeom>
          <a:noFill/>
          <a:ln/>
        </p:spPr>
        <p:txBody>
          <a:bodyPr wrap="square" lIns="0" tIns="0" rIns="0" bIns="0" rtlCol="0" anchor="b"/>
          <a:lstStyle/>
          <a:p>
            <a:pPr indent="0" marL="0">
              <a:buNone/>
            </a:pPr>
            <a:r>
              <a:rPr lang="en-US" sz="1300" b="1" dirty="0">
                <a:solidFill>
                  <a:srgbClr val="E8E8EA"/>
                </a:solidFill>
                <a:latin typeface="Arial" pitchFamily="34" charset="0"/>
                <a:ea typeface="Arial" pitchFamily="34" charset="-122"/>
                <a:cs typeface="Arial" pitchFamily="34" charset="-120"/>
              </a:rPr>
              <a:t>Four gauges to watch</a:t>
            </a:r>
            <a:endParaRPr lang="en-US" sz="1300" dirty="0"/>
          </a:p>
        </p:txBody>
      </p:sp>
      <p:sp>
        <p:nvSpPr>
          <p:cNvPr id="12" name="Shape 9"/>
          <p:cNvSpPr/>
          <p:nvPr/>
        </p:nvSpPr>
        <p:spPr>
          <a:xfrm>
            <a:off x="4389120" y="1856232"/>
            <a:ext cx="4297680" cy="0"/>
          </a:xfrm>
          <a:prstGeom prst="line">
            <a:avLst/>
          </a:prstGeom>
          <a:noFill/>
          <a:ln w="12700">
            <a:solidFill>
              <a:srgbClr val="9B7BE0"/>
            </a:solidFill>
            <a:prstDash val="solid"/>
          </a:ln>
        </p:spPr>
      </p:sp>
      <p:sp>
        <p:nvSpPr>
          <p:cNvPr id="13" name="Shape 10"/>
          <p:cNvSpPr/>
          <p:nvPr/>
        </p:nvSpPr>
        <p:spPr>
          <a:xfrm>
            <a:off x="4389120" y="1901952"/>
            <a:ext cx="64008" cy="493776"/>
          </a:xfrm>
          <a:prstGeom prst="rect">
            <a:avLst/>
          </a:prstGeom>
          <a:solidFill>
            <a:srgbClr val="E5484D"/>
          </a:solidFill>
          <a:ln/>
        </p:spPr>
      </p:sp>
      <p:sp>
        <p:nvSpPr>
          <p:cNvPr id="14" name="Text 11"/>
          <p:cNvSpPr/>
          <p:nvPr/>
        </p:nvSpPr>
        <p:spPr>
          <a:xfrm>
            <a:off x="4544568" y="190195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Demand.  </a:t>
            </a:r>
            <a:pPr indent="0" marL="0">
              <a:buNone/>
            </a:pPr>
            <a:r>
              <a:rPr lang="en-US" sz="850" dirty="0">
                <a:solidFill>
                  <a:srgbClr val="C9C9CE"/>
                </a:solidFill>
                <a:latin typeface="Arial" pitchFamily="34" charset="0"/>
                <a:ea typeface="Arial" pitchFamily="34" charset="-122"/>
                <a:cs typeface="Arial" pitchFamily="34" charset="-120"/>
              </a:rPr>
              <a:t>Capex guidance + enterprise token budgets — the new same-store sales.</a:t>
            </a:r>
            <a:endParaRPr lang="en-US" sz="950" dirty="0"/>
          </a:p>
        </p:txBody>
      </p:sp>
      <p:sp>
        <p:nvSpPr>
          <p:cNvPr id="15" name="Shape 12"/>
          <p:cNvSpPr/>
          <p:nvPr/>
        </p:nvSpPr>
        <p:spPr>
          <a:xfrm>
            <a:off x="4389120" y="2450592"/>
            <a:ext cx="64008" cy="493776"/>
          </a:xfrm>
          <a:prstGeom prst="rect">
            <a:avLst/>
          </a:prstGeom>
          <a:solidFill>
            <a:srgbClr val="F6693D"/>
          </a:solidFill>
          <a:ln/>
        </p:spPr>
      </p:sp>
      <p:sp>
        <p:nvSpPr>
          <p:cNvPr id="16" name="Text 13"/>
          <p:cNvSpPr/>
          <p:nvPr/>
        </p:nvSpPr>
        <p:spPr>
          <a:xfrm>
            <a:off x="4544568" y="245059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Financing.  </a:t>
            </a:r>
            <a:pPr indent="0" marL="0">
              <a:buNone/>
            </a:pPr>
            <a:r>
              <a:rPr lang="en-US" sz="850" dirty="0">
                <a:solidFill>
                  <a:srgbClr val="C9C9CE"/>
                </a:solidFill>
                <a:latin typeface="Arial" pitchFamily="34" charset="0"/>
                <a:ea typeface="Arial" pitchFamily="34" charset="-122"/>
                <a:cs typeface="Arial" pitchFamily="34" charset="-120"/>
              </a:rPr>
              <a:t>CDS and new-issue spreads; a failed mega-deal reprices AI equities in days.</a:t>
            </a:r>
            <a:endParaRPr lang="en-US" sz="950" dirty="0"/>
          </a:p>
        </p:txBody>
      </p:sp>
      <p:sp>
        <p:nvSpPr>
          <p:cNvPr id="17" name="Shape 14"/>
          <p:cNvSpPr/>
          <p:nvPr/>
        </p:nvSpPr>
        <p:spPr>
          <a:xfrm>
            <a:off x="4389120" y="2999232"/>
            <a:ext cx="64008" cy="493776"/>
          </a:xfrm>
          <a:prstGeom prst="rect">
            <a:avLst/>
          </a:prstGeom>
          <a:solidFill>
            <a:srgbClr val="FFB800"/>
          </a:solidFill>
          <a:ln/>
        </p:spPr>
      </p:sp>
      <p:sp>
        <p:nvSpPr>
          <p:cNvPr id="18" name="Text 15"/>
          <p:cNvSpPr/>
          <p:nvPr/>
        </p:nvSpPr>
        <p:spPr>
          <a:xfrm>
            <a:off x="4544568" y="299923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Rates.  </a:t>
            </a:r>
            <a:pPr indent="0" marL="0">
              <a:buNone/>
            </a:pPr>
            <a:r>
              <a:rPr lang="en-US" sz="850" dirty="0">
                <a:solidFill>
                  <a:srgbClr val="C9C9CE"/>
                </a:solidFill>
                <a:latin typeface="Arial" pitchFamily="34" charset="0"/>
                <a:ea typeface="Arial" pitchFamily="34" charset="-122"/>
                <a:cs typeface="Arial" pitchFamily="34" charset="-120"/>
              </a:rPr>
              <a:t>~4.5% 10-yr UST; long-duration cash flows and record supply both lean on it.</a:t>
            </a:r>
            <a:endParaRPr lang="en-US" sz="950" dirty="0"/>
          </a:p>
        </p:txBody>
      </p:sp>
      <p:sp>
        <p:nvSpPr>
          <p:cNvPr id="19" name="Shape 16"/>
          <p:cNvSpPr/>
          <p:nvPr/>
        </p:nvSpPr>
        <p:spPr>
          <a:xfrm>
            <a:off x="4389120" y="3547872"/>
            <a:ext cx="64008" cy="493776"/>
          </a:xfrm>
          <a:prstGeom prst="rect">
            <a:avLst/>
          </a:prstGeom>
          <a:solidFill>
            <a:srgbClr val="9B7BE0"/>
          </a:solidFill>
          <a:ln/>
        </p:spPr>
      </p:sp>
      <p:sp>
        <p:nvSpPr>
          <p:cNvPr id="20" name="Text 17"/>
          <p:cNvSpPr/>
          <p:nvPr/>
        </p:nvSpPr>
        <p:spPr>
          <a:xfrm>
            <a:off x="4544568" y="3547872"/>
            <a:ext cx="4142232" cy="5303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Concentration.  </a:t>
            </a:r>
            <a:pPr indent="0" marL="0">
              <a:buNone/>
            </a:pPr>
            <a:r>
              <a:rPr lang="en-US" sz="850" dirty="0">
                <a:solidFill>
                  <a:srgbClr val="C9C9CE"/>
                </a:solidFill>
                <a:latin typeface="Arial" pitchFamily="34" charset="0"/>
                <a:ea typeface="Arial" pitchFamily="34" charset="-122"/>
                <a:cs typeface="Arial" pitchFamily="34" charset="-120"/>
              </a:rPr>
              <a:t>Top-10 share and the equal-weight spread — trade the chain, not the theme.</a:t>
            </a:r>
            <a:endParaRPr lang="en-US" sz="950" dirty="0"/>
          </a:p>
        </p:txBody>
      </p:sp>
      <p:sp>
        <p:nvSpPr>
          <p:cNvPr id="21" name="Text 18"/>
          <p:cNvSpPr/>
          <p:nvPr/>
        </p:nvSpPr>
        <p:spPr>
          <a:xfrm>
            <a:off x="457200" y="4114800"/>
            <a:ext cx="8229600" cy="237744"/>
          </a:xfrm>
          <a:prstGeom prst="rect">
            <a:avLst/>
          </a:prstGeom>
          <a:noFill/>
          <a:ln/>
        </p:spPr>
        <p:txBody>
          <a:bodyPr wrap="square" lIns="0" tIns="0" rIns="0" bIns="0" rtlCol="0" anchor="ctr"/>
          <a:lstStyle/>
          <a:p>
            <a:pPr indent="0" marL="0">
              <a:buNone/>
            </a:pPr>
            <a:r>
              <a:rPr lang="en-US" sz="1050" b="1" dirty="0">
                <a:solidFill>
                  <a:srgbClr val="FFFFFF"/>
                </a:solidFill>
                <a:latin typeface="Arial" pitchFamily="34" charset="0"/>
                <a:ea typeface="Arial" pitchFamily="34" charset="-122"/>
                <a:cs typeface="Arial" pitchFamily="34" charset="-120"/>
              </a:rPr>
              <a:t>Bottom line: </a:t>
            </a:r>
            <a:pPr indent="0" marL="0">
              <a:buNone/>
            </a:pPr>
            <a:r>
              <a:rPr lang="en-US" sz="1050" dirty="0">
                <a:solidFill>
                  <a:srgbClr val="C9C9CE"/>
                </a:solidFill>
                <a:latin typeface="Arial" pitchFamily="34" charset="0"/>
                <a:ea typeface="Arial" pitchFamily="34" charset="-122"/>
                <a:cs typeface="Arial" pitchFamily="34" charset="-120"/>
              </a:rPr>
              <a:t>you don't need a view on AGI; you need to know what your portfolio already believes.</a:t>
            </a:r>
            <a:endParaRPr lang="en-US" sz="1050" dirty="0"/>
          </a:p>
        </p:txBody>
      </p:sp>
      <p:sp>
        <p:nvSpPr>
          <p:cNvPr id="22" name="Text 19"/>
          <p:cNvSpPr/>
          <p:nvPr/>
        </p:nvSpPr>
        <p:spPr>
          <a:xfrm>
            <a:off x="457200" y="4352544"/>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Index weights: S&amp;P Dow Jones Indices, slickcharts (Jun 2026); YTD returns: Morningstar (RSP), slickcharts (S&amp;P 500).</a:t>
            </a:r>
            <a:endParaRPr lang="en-US" sz="700" dirty="0"/>
          </a:p>
        </p:txBody>
      </p:sp>
      <p:sp>
        <p:nvSpPr>
          <p:cNvPr id="23" name="Shape 20"/>
          <p:cNvSpPr/>
          <p:nvPr/>
        </p:nvSpPr>
        <p:spPr>
          <a:xfrm>
            <a:off x="0" y="4526280"/>
            <a:ext cx="9144000" cy="617220"/>
          </a:xfrm>
          <a:prstGeom prst="rect">
            <a:avLst/>
          </a:prstGeom>
          <a:solidFill>
            <a:srgbClr val="000000"/>
          </a:solidFill>
          <a:ln/>
        </p:spPr>
      </p:sp>
      <p:sp>
        <p:nvSpPr>
          <p:cNvPr id="24" name="Shape 21"/>
          <p:cNvSpPr/>
          <p:nvPr/>
        </p:nvSpPr>
        <p:spPr>
          <a:xfrm>
            <a:off x="0" y="4526280"/>
            <a:ext cx="9144000" cy="0"/>
          </a:xfrm>
          <a:prstGeom prst="line">
            <a:avLst/>
          </a:prstGeom>
          <a:noFill/>
          <a:ln w="6350">
            <a:solidFill>
              <a:srgbClr val="2A2A30"/>
            </a:solidFill>
            <a:prstDash val="solid"/>
          </a:ln>
        </p:spPr>
      </p:sp>
      <p:sp>
        <p:nvSpPr>
          <p:cNvPr id="25" name="Text 22"/>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6" name="Text 23"/>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4"/>
        </a:solidFill>
      </p:bgPr>
    </p:bg>
    <p:spTree>
      <p:nvGrpSpPr>
        <p:cNvPr id="1" name=""/>
        <p:cNvGrpSpPr/>
        <p:nvPr/>
      </p:nvGrpSpPr>
      <p:grpSpPr>
        <a:xfrm>
          <a:off x="0" y="0"/>
          <a:ext cx="0" cy="0"/>
          <a:chOff x="0" y="0"/>
          <a:chExt cx="0" cy="0"/>
        </a:xfrm>
      </p:grpSpPr>
      <p:sp>
        <p:nvSpPr>
          <p:cNvPr id="2" name="Shape 0"/>
          <p:cNvSpPr/>
          <p:nvPr/>
        </p:nvSpPr>
        <p:spPr>
          <a:xfrm>
            <a:off x="457200" y="274320"/>
            <a:ext cx="274320" cy="45720"/>
          </a:xfrm>
          <a:prstGeom prst="rect">
            <a:avLst/>
          </a:prstGeom>
          <a:solidFill>
            <a:srgbClr val="E8478D"/>
          </a:solidFill>
          <a:ln/>
        </p:spPr>
      </p:sp>
      <p:sp>
        <p:nvSpPr>
          <p:cNvPr id="3" name="Text 1"/>
          <p:cNvSpPr/>
          <p:nvPr/>
        </p:nvSpPr>
        <p:spPr>
          <a:xfrm>
            <a:off x="841248" y="155448"/>
            <a:ext cx="3931920" cy="274320"/>
          </a:xfrm>
          <a:prstGeom prst="rect">
            <a:avLst/>
          </a:prstGeom>
          <a:noFill/>
          <a:ln/>
        </p:spPr>
        <p:txBody>
          <a:bodyPr wrap="square" lIns="0" tIns="0" rIns="0" bIns="0" rtlCol="0" anchor="ctr"/>
          <a:lstStyle/>
          <a:p>
            <a:pPr indent="0" marL="0">
              <a:buNone/>
            </a:pPr>
            <a:r>
              <a:rPr lang="en-US" sz="900" b="1" spc="300" kern="0" dirty="0">
                <a:solidFill>
                  <a:srgbClr val="E8478D"/>
                </a:solidFill>
                <a:latin typeface="Arial" pitchFamily="34" charset="0"/>
                <a:ea typeface="Arial" pitchFamily="34" charset="-122"/>
                <a:cs typeface="Arial" pitchFamily="34" charset="-120"/>
              </a:rPr>
              <a:t>02  ·  MARKET IMPACT  ·  THE FRONTIER</a:t>
            </a:r>
            <a:endParaRPr lang="en-US" sz="900" dirty="0"/>
          </a:p>
        </p:txBody>
      </p:sp>
      <p:sp>
        <p:nvSpPr>
          <p:cNvPr id="4" name="Text 2"/>
          <p:cNvSpPr/>
          <p:nvPr/>
        </p:nvSpPr>
        <p:spPr>
          <a:xfrm>
            <a:off x="4937760" y="155448"/>
            <a:ext cx="3749040" cy="274320"/>
          </a:xfrm>
          <a:prstGeom prst="rect">
            <a:avLst/>
          </a:prstGeom>
          <a:noFill/>
          <a:ln/>
        </p:spPr>
        <p:txBody>
          <a:bodyPr wrap="square" lIns="0" tIns="0" rIns="0" bIns="0" rtlCol="0" anchor="ctr"/>
          <a:lstStyle/>
          <a:p>
            <a:pPr algn="r" indent="0" marL="0">
              <a:buNone/>
            </a:pPr>
            <a:r>
              <a:rPr lang="en-US" sz="800" b="1" spc="200" kern="0" dirty="0">
                <a:solidFill>
                  <a:srgbClr val="9A9AA0"/>
                </a:solidFill>
                <a:latin typeface="Arial" pitchFamily="34" charset="0"/>
                <a:ea typeface="Arial" pitchFamily="34" charset="-122"/>
                <a:cs typeface="Arial" pitchFamily="34" charset="-120"/>
              </a:rPr>
              <a:t>FRONTIER WATCH · SPECULATIVE</a:t>
            </a:r>
            <a:endParaRPr lang="en-US" sz="800" dirty="0"/>
          </a:p>
        </p:txBody>
      </p:sp>
      <p:sp>
        <p:nvSpPr>
          <p:cNvPr id="5" name="Text 3"/>
          <p:cNvSpPr/>
          <p:nvPr/>
        </p:nvSpPr>
        <p:spPr>
          <a:xfrm>
            <a:off x="457200" y="438912"/>
            <a:ext cx="8229600" cy="640080"/>
          </a:xfrm>
          <a:prstGeom prst="rect">
            <a:avLst/>
          </a:prstGeom>
          <a:noFill/>
          <a:ln/>
        </p:spPr>
        <p:txBody>
          <a:bodyPr wrap="square" lIns="0" tIns="0" rIns="0" bIns="0" rtlCol="0" anchor="t"/>
          <a:lstStyle/>
          <a:p>
            <a:pPr indent="0" marL="0">
              <a:buNone/>
            </a:pPr>
            <a:r>
              <a:rPr lang="en-US" sz="2400" b="1" dirty="0">
                <a:solidFill>
                  <a:srgbClr val="FFFFFF"/>
                </a:solidFill>
                <a:latin typeface="Arial Black" pitchFamily="34" charset="0"/>
                <a:ea typeface="Arial Black" pitchFamily="34" charset="-122"/>
                <a:cs typeface="Arial Black" pitchFamily="34" charset="-120"/>
              </a:rPr>
              <a:t>The loop gets hands, wheels, wings, and proteins</a:t>
            </a:r>
            <a:endParaRPr lang="en-US" sz="2400" dirty="0"/>
          </a:p>
        </p:txBody>
      </p:sp>
      <p:sp>
        <p:nvSpPr>
          <p:cNvPr id="6" name="Text 4"/>
          <p:cNvSpPr/>
          <p:nvPr/>
        </p:nvSpPr>
        <p:spPr>
          <a:xfrm>
            <a:off x="457200" y="1078992"/>
            <a:ext cx="8229600" cy="457200"/>
          </a:xfrm>
          <a:prstGeom prst="rect">
            <a:avLst/>
          </a:prstGeom>
          <a:noFill/>
          <a:ln/>
        </p:spPr>
        <p:txBody>
          <a:bodyPr wrap="square" lIns="0" tIns="0" rIns="0" bIns="0" rtlCol="0" anchor="t"/>
          <a:lstStyle/>
          <a:p>
            <a:pPr indent="0" marL="0">
              <a:buNone/>
            </a:pPr>
            <a:r>
              <a:rPr lang="en-US" sz="1300" dirty="0">
                <a:solidFill>
                  <a:srgbClr val="9A9AA0"/>
                </a:solidFill>
                <a:latin typeface="Arial" pitchFamily="34" charset="0"/>
                <a:ea typeface="Arial" pitchFamily="34" charset="-122"/>
                <a:cs typeface="Arial" pitchFamily="34" charset="-120"/>
              </a:rPr>
              <a:t>None of this is in 2026 guidance — all of it extends the Jevons demand curve by another decade.</a:t>
            </a:r>
            <a:endParaRPr lang="en-US" sz="1300" dirty="0"/>
          </a:p>
        </p:txBody>
      </p:sp>
      <p:sp>
        <p:nvSpPr>
          <p:cNvPr id="7" name="Shape 5"/>
          <p:cNvSpPr/>
          <p:nvPr/>
        </p:nvSpPr>
        <p:spPr>
          <a:xfrm>
            <a:off x="457200" y="1554480"/>
            <a:ext cx="2011680" cy="1234440"/>
          </a:xfrm>
          <a:prstGeom prst="rect">
            <a:avLst/>
          </a:prstGeom>
          <a:solidFill>
            <a:srgbClr val="1E1E24"/>
          </a:solidFill>
          <a:ln w="12700">
            <a:solidFill>
              <a:srgbClr val="2A2A30"/>
            </a:solidFill>
            <a:prstDash val="dash"/>
          </a:ln>
        </p:spPr>
      </p:sp>
      <p:sp>
        <p:nvSpPr>
          <p:cNvPr id="8" name="Shape 6"/>
          <p:cNvSpPr/>
          <p:nvPr/>
        </p:nvSpPr>
        <p:spPr>
          <a:xfrm>
            <a:off x="457200" y="1554480"/>
            <a:ext cx="310896" cy="36576"/>
          </a:xfrm>
          <a:prstGeom prst="rect">
            <a:avLst/>
          </a:prstGeom>
          <a:solidFill>
            <a:srgbClr val="E8478D"/>
          </a:solidFill>
          <a:ln/>
        </p:spPr>
      </p:sp>
      <p:sp>
        <p:nvSpPr>
          <p:cNvPr id="9" name="Shape 7"/>
          <p:cNvSpPr/>
          <p:nvPr/>
        </p:nvSpPr>
        <p:spPr>
          <a:xfrm>
            <a:off x="457200" y="1554480"/>
            <a:ext cx="36576" cy="310896"/>
          </a:xfrm>
          <a:prstGeom prst="rect">
            <a:avLst/>
          </a:prstGeom>
          <a:solidFill>
            <a:srgbClr val="E8478D"/>
          </a:solidFill>
          <a:ln/>
        </p:spPr>
      </p:sp>
      <p:sp>
        <p:nvSpPr>
          <p:cNvPr id="10" name="Shape 8"/>
          <p:cNvSpPr/>
          <p:nvPr/>
        </p:nvSpPr>
        <p:spPr>
          <a:xfrm>
            <a:off x="2157984" y="2752344"/>
            <a:ext cx="310896" cy="36576"/>
          </a:xfrm>
          <a:prstGeom prst="rect">
            <a:avLst/>
          </a:prstGeom>
          <a:solidFill>
            <a:srgbClr val="E8478D"/>
          </a:solidFill>
          <a:ln/>
        </p:spPr>
      </p:sp>
      <p:sp>
        <p:nvSpPr>
          <p:cNvPr id="11" name="Shape 9"/>
          <p:cNvSpPr/>
          <p:nvPr/>
        </p:nvSpPr>
        <p:spPr>
          <a:xfrm>
            <a:off x="2432304" y="2478024"/>
            <a:ext cx="36576" cy="310896"/>
          </a:xfrm>
          <a:prstGeom prst="rect">
            <a:avLst/>
          </a:prstGeom>
          <a:solidFill>
            <a:srgbClr val="E8478D"/>
          </a:solidFill>
          <a:ln/>
        </p:spPr>
      </p:sp>
      <p:sp>
        <p:nvSpPr>
          <p:cNvPr id="12" name="Text 10"/>
          <p:cNvSpPr/>
          <p:nvPr/>
        </p:nvSpPr>
        <p:spPr>
          <a:xfrm>
            <a:off x="64008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embodiment</a:t>
            </a:r>
            <a:endParaRPr lang="en-US" sz="900" dirty="0"/>
          </a:p>
        </p:txBody>
      </p:sp>
      <p:sp>
        <p:nvSpPr>
          <p:cNvPr id="13" name="Text 11"/>
          <p:cNvSpPr/>
          <p:nvPr/>
        </p:nvSpPr>
        <p:spPr>
          <a:xfrm>
            <a:off x="64008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frontier-embodiment.png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humanoid robot carrying a labeled tote down a numbered warehouse aisle lined with shelving racks, mid-stride, pink accents, near-black background, clean low-poly vector style, soft studio glow, subtle floor grid, centered, no text, no logos.</a:t>
            </a:r>
            <a:endParaRPr lang="en-US" sz="700" dirty="0"/>
          </a:p>
        </p:txBody>
      </p:sp>
      <p:sp>
        <p:nvSpPr>
          <p:cNvPr id="14" name="Shape 12"/>
          <p:cNvSpPr/>
          <p:nvPr/>
        </p:nvSpPr>
        <p:spPr>
          <a:xfrm>
            <a:off x="457200" y="2852928"/>
            <a:ext cx="2011680" cy="1170432"/>
          </a:xfrm>
          <a:prstGeom prst="rect">
            <a:avLst/>
          </a:prstGeom>
          <a:solidFill>
            <a:srgbClr val="1C1C20"/>
          </a:solidFill>
          <a:ln/>
        </p:spPr>
      </p:sp>
      <p:sp>
        <p:nvSpPr>
          <p:cNvPr id="15" name="Shape 13"/>
          <p:cNvSpPr/>
          <p:nvPr/>
        </p:nvSpPr>
        <p:spPr>
          <a:xfrm>
            <a:off x="457200" y="2852928"/>
            <a:ext cx="2011680" cy="36576"/>
          </a:xfrm>
          <a:prstGeom prst="rect">
            <a:avLst/>
          </a:prstGeom>
          <a:solidFill>
            <a:srgbClr val="E8478D"/>
          </a:solidFill>
          <a:ln/>
        </p:spPr>
      </p:sp>
      <p:sp>
        <p:nvSpPr>
          <p:cNvPr id="16" name="Text 14"/>
          <p:cNvSpPr/>
          <p:nvPr/>
        </p:nvSpPr>
        <p:spPr>
          <a:xfrm>
            <a:off x="56692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Embodiment.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Agentic loops in a body — physical labor enters the token economy.</a:t>
            </a:r>
            <a:endParaRPr lang="en-US" sz="950" dirty="0"/>
          </a:p>
        </p:txBody>
      </p:sp>
      <p:sp>
        <p:nvSpPr>
          <p:cNvPr id="17" name="Shape 15"/>
          <p:cNvSpPr/>
          <p:nvPr/>
        </p:nvSpPr>
        <p:spPr>
          <a:xfrm>
            <a:off x="2560320" y="1554480"/>
            <a:ext cx="2011680" cy="1234440"/>
          </a:xfrm>
          <a:prstGeom prst="rect">
            <a:avLst/>
          </a:prstGeom>
          <a:solidFill>
            <a:srgbClr val="1E1E24"/>
          </a:solidFill>
          <a:ln w="12700">
            <a:solidFill>
              <a:srgbClr val="2A2A30"/>
            </a:solidFill>
            <a:prstDash val="dash"/>
          </a:ln>
        </p:spPr>
      </p:sp>
      <p:sp>
        <p:nvSpPr>
          <p:cNvPr id="18" name="Shape 16"/>
          <p:cNvSpPr/>
          <p:nvPr/>
        </p:nvSpPr>
        <p:spPr>
          <a:xfrm>
            <a:off x="2560320" y="1554480"/>
            <a:ext cx="310896" cy="36576"/>
          </a:xfrm>
          <a:prstGeom prst="rect">
            <a:avLst/>
          </a:prstGeom>
          <a:solidFill>
            <a:srgbClr val="E8478D"/>
          </a:solidFill>
          <a:ln/>
        </p:spPr>
      </p:sp>
      <p:sp>
        <p:nvSpPr>
          <p:cNvPr id="19" name="Shape 17"/>
          <p:cNvSpPr/>
          <p:nvPr/>
        </p:nvSpPr>
        <p:spPr>
          <a:xfrm>
            <a:off x="2560320" y="1554480"/>
            <a:ext cx="36576" cy="310896"/>
          </a:xfrm>
          <a:prstGeom prst="rect">
            <a:avLst/>
          </a:prstGeom>
          <a:solidFill>
            <a:srgbClr val="E8478D"/>
          </a:solidFill>
          <a:ln/>
        </p:spPr>
      </p:sp>
      <p:sp>
        <p:nvSpPr>
          <p:cNvPr id="20" name="Shape 18"/>
          <p:cNvSpPr/>
          <p:nvPr/>
        </p:nvSpPr>
        <p:spPr>
          <a:xfrm>
            <a:off x="4261104" y="2752344"/>
            <a:ext cx="310896" cy="36576"/>
          </a:xfrm>
          <a:prstGeom prst="rect">
            <a:avLst/>
          </a:prstGeom>
          <a:solidFill>
            <a:srgbClr val="E8478D"/>
          </a:solidFill>
          <a:ln/>
        </p:spPr>
      </p:sp>
      <p:sp>
        <p:nvSpPr>
          <p:cNvPr id="21" name="Shape 19"/>
          <p:cNvSpPr/>
          <p:nvPr/>
        </p:nvSpPr>
        <p:spPr>
          <a:xfrm>
            <a:off x="4535424" y="2478024"/>
            <a:ext cx="36576" cy="310896"/>
          </a:xfrm>
          <a:prstGeom prst="rect">
            <a:avLst/>
          </a:prstGeom>
          <a:solidFill>
            <a:srgbClr val="E8478D"/>
          </a:solidFill>
          <a:ln/>
        </p:spPr>
      </p:sp>
      <p:sp>
        <p:nvSpPr>
          <p:cNvPr id="22" name="Text 20"/>
          <p:cNvSpPr/>
          <p:nvPr/>
        </p:nvSpPr>
        <p:spPr>
          <a:xfrm>
            <a:off x="274320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wheels</a:t>
            </a:r>
            <a:endParaRPr lang="en-US" sz="900" dirty="0"/>
          </a:p>
        </p:txBody>
      </p:sp>
      <p:sp>
        <p:nvSpPr>
          <p:cNvPr id="23" name="Text 21"/>
          <p:cNvSpPr/>
          <p:nvPr/>
        </p:nvSpPr>
        <p:spPr>
          <a:xfrm>
            <a:off x="274320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frontier-wheels.png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driverless robotaxi with a spinning lidar turret and glowing sensor cones stopped at a small city intersection with a traffic light and crosswalk, pink accents, near-black background, clean low-poly vector style, soft studio glow, subtle floor grid, centered, no text, no logos.</a:t>
            </a:r>
            <a:endParaRPr lang="en-US" sz="700" dirty="0"/>
          </a:p>
        </p:txBody>
      </p:sp>
      <p:sp>
        <p:nvSpPr>
          <p:cNvPr id="24" name="Shape 22"/>
          <p:cNvSpPr/>
          <p:nvPr/>
        </p:nvSpPr>
        <p:spPr>
          <a:xfrm>
            <a:off x="2560320" y="2852928"/>
            <a:ext cx="2011680" cy="1170432"/>
          </a:xfrm>
          <a:prstGeom prst="rect">
            <a:avLst/>
          </a:prstGeom>
          <a:solidFill>
            <a:srgbClr val="1C1C20"/>
          </a:solidFill>
          <a:ln/>
        </p:spPr>
      </p:sp>
      <p:sp>
        <p:nvSpPr>
          <p:cNvPr id="25" name="Shape 23"/>
          <p:cNvSpPr/>
          <p:nvPr/>
        </p:nvSpPr>
        <p:spPr>
          <a:xfrm>
            <a:off x="2560320" y="2852928"/>
            <a:ext cx="2011680" cy="36576"/>
          </a:xfrm>
          <a:prstGeom prst="rect">
            <a:avLst/>
          </a:prstGeom>
          <a:solidFill>
            <a:srgbClr val="E8478D"/>
          </a:solidFill>
          <a:ln/>
        </p:spPr>
      </p:sp>
      <p:sp>
        <p:nvSpPr>
          <p:cNvPr id="26" name="Text 24"/>
          <p:cNvSpPr/>
          <p:nvPr/>
        </p:nvSpPr>
        <p:spPr>
          <a:xfrm>
            <a:off x="267004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Wheels.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Robotaxis are inference on wheels — per-mile token economics.</a:t>
            </a:r>
            <a:endParaRPr lang="en-US" sz="950" dirty="0"/>
          </a:p>
        </p:txBody>
      </p:sp>
      <p:sp>
        <p:nvSpPr>
          <p:cNvPr id="27" name="Shape 25"/>
          <p:cNvSpPr/>
          <p:nvPr/>
        </p:nvSpPr>
        <p:spPr>
          <a:xfrm>
            <a:off x="4663440" y="1554480"/>
            <a:ext cx="2011680" cy="1234440"/>
          </a:xfrm>
          <a:prstGeom prst="rect">
            <a:avLst/>
          </a:prstGeom>
          <a:solidFill>
            <a:srgbClr val="1E1E24"/>
          </a:solidFill>
          <a:ln w="12700">
            <a:solidFill>
              <a:srgbClr val="2A2A30"/>
            </a:solidFill>
            <a:prstDash val="dash"/>
          </a:ln>
        </p:spPr>
      </p:sp>
      <p:sp>
        <p:nvSpPr>
          <p:cNvPr id="28" name="Shape 26"/>
          <p:cNvSpPr/>
          <p:nvPr/>
        </p:nvSpPr>
        <p:spPr>
          <a:xfrm>
            <a:off x="4663440" y="1554480"/>
            <a:ext cx="310896" cy="36576"/>
          </a:xfrm>
          <a:prstGeom prst="rect">
            <a:avLst/>
          </a:prstGeom>
          <a:solidFill>
            <a:srgbClr val="E8478D"/>
          </a:solidFill>
          <a:ln/>
        </p:spPr>
      </p:sp>
      <p:sp>
        <p:nvSpPr>
          <p:cNvPr id="29" name="Shape 27"/>
          <p:cNvSpPr/>
          <p:nvPr/>
        </p:nvSpPr>
        <p:spPr>
          <a:xfrm>
            <a:off x="4663440" y="1554480"/>
            <a:ext cx="36576" cy="310896"/>
          </a:xfrm>
          <a:prstGeom prst="rect">
            <a:avLst/>
          </a:prstGeom>
          <a:solidFill>
            <a:srgbClr val="E8478D"/>
          </a:solidFill>
          <a:ln/>
        </p:spPr>
      </p:sp>
      <p:sp>
        <p:nvSpPr>
          <p:cNvPr id="30" name="Shape 28"/>
          <p:cNvSpPr/>
          <p:nvPr/>
        </p:nvSpPr>
        <p:spPr>
          <a:xfrm>
            <a:off x="6364224" y="2752344"/>
            <a:ext cx="310896" cy="36576"/>
          </a:xfrm>
          <a:prstGeom prst="rect">
            <a:avLst/>
          </a:prstGeom>
          <a:solidFill>
            <a:srgbClr val="E8478D"/>
          </a:solidFill>
          <a:ln/>
        </p:spPr>
      </p:sp>
      <p:sp>
        <p:nvSpPr>
          <p:cNvPr id="31" name="Shape 29"/>
          <p:cNvSpPr/>
          <p:nvPr/>
        </p:nvSpPr>
        <p:spPr>
          <a:xfrm>
            <a:off x="6638544" y="2478024"/>
            <a:ext cx="36576" cy="310896"/>
          </a:xfrm>
          <a:prstGeom prst="rect">
            <a:avLst/>
          </a:prstGeom>
          <a:solidFill>
            <a:srgbClr val="E8478D"/>
          </a:solidFill>
          <a:ln/>
        </p:spPr>
      </p:sp>
      <p:sp>
        <p:nvSpPr>
          <p:cNvPr id="32" name="Text 30"/>
          <p:cNvSpPr/>
          <p:nvPr/>
        </p:nvSpPr>
        <p:spPr>
          <a:xfrm>
            <a:off x="484632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orbit</a:t>
            </a:r>
            <a:endParaRPr lang="en-US" sz="900" dirty="0"/>
          </a:p>
        </p:txBody>
      </p:sp>
      <p:sp>
        <p:nvSpPr>
          <p:cNvPr id="33" name="Text 31"/>
          <p:cNvSpPr/>
          <p:nvPr/>
        </p:nvSpPr>
        <p:spPr>
          <a:xfrm>
            <a:off x="484632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frontier-orbit.png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ring-shaped orbital data-center with unfolded solar-panel wings and server modules, floating above the curved horizon of Earth with sparse stars, pink accents, near-black background, clean low-poly vector style, soft studio glow, subtle floor grid, centered, no text, no logos.</a:t>
            </a:r>
            <a:endParaRPr lang="en-US" sz="700" dirty="0"/>
          </a:p>
        </p:txBody>
      </p:sp>
      <p:sp>
        <p:nvSpPr>
          <p:cNvPr id="34" name="Shape 32"/>
          <p:cNvSpPr/>
          <p:nvPr/>
        </p:nvSpPr>
        <p:spPr>
          <a:xfrm>
            <a:off x="4663440" y="2852928"/>
            <a:ext cx="2011680" cy="1170432"/>
          </a:xfrm>
          <a:prstGeom prst="rect">
            <a:avLst/>
          </a:prstGeom>
          <a:solidFill>
            <a:srgbClr val="1C1C20"/>
          </a:solidFill>
          <a:ln/>
        </p:spPr>
      </p:sp>
      <p:sp>
        <p:nvSpPr>
          <p:cNvPr id="35" name="Shape 33"/>
          <p:cNvSpPr/>
          <p:nvPr/>
        </p:nvSpPr>
        <p:spPr>
          <a:xfrm>
            <a:off x="4663440" y="2852928"/>
            <a:ext cx="2011680" cy="36576"/>
          </a:xfrm>
          <a:prstGeom prst="rect">
            <a:avLst/>
          </a:prstGeom>
          <a:solidFill>
            <a:srgbClr val="E8478D"/>
          </a:solidFill>
          <a:ln/>
        </p:spPr>
      </p:sp>
      <p:sp>
        <p:nvSpPr>
          <p:cNvPr id="36" name="Text 34"/>
          <p:cNvSpPr/>
          <p:nvPr/>
        </p:nvSpPr>
        <p:spPr>
          <a:xfrm>
            <a:off x="477316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Orbit.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Orbital compute escapes the grid constraint behind token rationing.</a:t>
            </a:r>
            <a:endParaRPr lang="en-US" sz="950" dirty="0"/>
          </a:p>
        </p:txBody>
      </p:sp>
      <p:sp>
        <p:nvSpPr>
          <p:cNvPr id="37" name="Shape 35"/>
          <p:cNvSpPr/>
          <p:nvPr/>
        </p:nvSpPr>
        <p:spPr>
          <a:xfrm>
            <a:off x="6766560" y="1554480"/>
            <a:ext cx="2011680" cy="1234440"/>
          </a:xfrm>
          <a:prstGeom prst="rect">
            <a:avLst/>
          </a:prstGeom>
          <a:solidFill>
            <a:srgbClr val="1E1E24"/>
          </a:solidFill>
          <a:ln w="12700">
            <a:solidFill>
              <a:srgbClr val="2A2A30"/>
            </a:solidFill>
            <a:prstDash val="dash"/>
          </a:ln>
        </p:spPr>
      </p:sp>
      <p:sp>
        <p:nvSpPr>
          <p:cNvPr id="38" name="Shape 36"/>
          <p:cNvSpPr/>
          <p:nvPr/>
        </p:nvSpPr>
        <p:spPr>
          <a:xfrm>
            <a:off x="6766560" y="1554480"/>
            <a:ext cx="310896" cy="36576"/>
          </a:xfrm>
          <a:prstGeom prst="rect">
            <a:avLst/>
          </a:prstGeom>
          <a:solidFill>
            <a:srgbClr val="E8478D"/>
          </a:solidFill>
          <a:ln/>
        </p:spPr>
      </p:sp>
      <p:sp>
        <p:nvSpPr>
          <p:cNvPr id="39" name="Shape 37"/>
          <p:cNvSpPr/>
          <p:nvPr/>
        </p:nvSpPr>
        <p:spPr>
          <a:xfrm>
            <a:off x="6766560" y="1554480"/>
            <a:ext cx="36576" cy="310896"/>
          </a:xfrm>
          <a:prstGeom prst="rect">
            <a:avLst/>
          </a:prstGeom>
          <a:solidFill>
            <a:srgbClr val="E8478D"/>
          </a:solidFill>
          <a:ln/>
        </p:spPr>
      </p:sp>
      <p:sp>
        <p:nvSpPr>
          <p:cNvPr id="40" name="Shape 38"/>
          <p:cNvSpPr/>
          <p:nvPr/>
        </p:nvSpPr>
        <p:spPr>
          <a:xfrm>
            <a:off x="8467344" y="2752344"/>
            <a:ext cx="310896" cy="36576"/>
          </a:xfrm>
          <a:prstGeom prst="rect">
            <a:avLst/>
          </a:prstGeom>
          <a:solidFill>
            <a:srgbClr val="E8478D"/>
          </a:solidFill>
          <a:ln/>
        </p:spPr>
      </p:sp>
      <p:sp>
        <p:nvSpPr>
          <p:cNvPr id="41" name="Shape 39"/>
          <p:cNvSpPr/>
          <p:nvPr/>
        </p:nvSpPr>
        <p:spPr>
          <a:xfrm>
            <a:off x="8741664" y="2478024"/>
            <a:ext cx="36576" cy="310896"/>
          </a:xfrm>
          <a:prstGeom prst="rect">
            <a:avLst/>
          </a:prstGeom>
          <a:solidFill>
            <a:srgbClr val="E8478D"/>
          </a:solidFill>
          <a:ln/>
        </p:spPr>
      </p:sp>
      <p:sp>
        <p:nvSpPr>
          <p:cNvPr id="42" name="Text 40"/>
          <p:cNvSpPr/>
          <p:nvPr/>
        </p:nvSpPr>
        <p:spPr>
          <a:xfrm>
            <a:off x="6949440" y="1700784"/>
            <a:ext cx="1645920" cy="219456"/>
          </a:xfrm>
          <a:prstGeom prst="rect">
            <a:avLst/>
          </a:prstGeom>
          <a:noFill/>
          <a:ln/>
        </p:spPr>
        <p:txBody>
          <a:bodyPr wrap="square" lIns="0" tIns="0" rIns="0" bIns="0" rtlCol="0" anchor="ctr"/>
          <a:lstStyle/>
          <a:p>
            <a:pPr indent="0" marL="0">
              <a:buNone/>
            </a:pPr>
            <a:r>
              <a:rPr lang="en-US" sz="900" b="1" spc="200" kern="0" dirty="0">
                <a:solidFill>
                  <a:srgbClr val="E8478D"/>
                </a:solidFill>
                <a:latin typeface="Arial" pitchFamily="34" charset="0"/>
                <a:ea typeface="Arial" pitchFamily="34" charset="-122"/>
                <a:cs typeface="Arial" pitchFamily="34" charset="-120"/>
              </a:rPr>
              <a:t>IMAGE  ·  proteins</a:t>
            </a:r>
            <a:endParaRPr lang="en-US" sz="900" dirty="0"/>
          </a:p>
        </p:txBody>
      </p:sp>
      <p:sp>
        <p:nvSpPr>
          <p:cNvPr id="43" name="Text 41"/>
          <p:cNvSpPr/>
          <p:nvPr/>
        </p:nvSpPr>
        <p:spPr>
          <a:xfrm>
            <a:off x="6949440" y="1975104"/>
            <a:ext cx="1645920" cy="630936"/>
          </a:xfrm>
          <a:prstGeom prst="rect">
            <a:avLst/>
          </a:prstGeom>
          <a:noFill/>
          <a:ln/>
        </p:spPr>
        <p:txBody>
          <a:bodyPr wrap="square" lIns="0" tIns="0" rIns="0" bIns="0" rtlCol="0" anchor="t"/>
          <a:lstStyle/>
          <a:p>
            <a:pPr indent="0" marL="0">
              <a:buNone/>
            </a:pPr>
            <a:r>
              <a:rPr lang="en-US" sz="700" i="1" dirty="0">
                <a:solidFill>
                  <a:srgbClr val="8A8A90"/>
                </a:solidFill>
                <a:latin typeface="Arial" pitchFamily="34" charset="0"/>
                <a:ea typeface="Arial" pitchFamily="34" charset="-122"/>
                <a:cs typeface="Arial" pitchFamily="34" charset="-120"/>
              </a:rPr>
              <a:t>ISOMETRIC PROMPT → save as frontier-proteins.png</a:t>
            </a:r>
            <a:endParaRPr lang="en-US" sz="700" dirty="0"/>
          </a:p>
          <a:p>
            <a:pPr indent="0" marL="0">
              <a:buNone/>
            </a:pPr>
            <a:r>
              <a:rPr lang="en-US" sz="850" dirty="0">
                <a:solidFill>
                  <a:srgbClr val="C9C9CE"/>
                </a:solidFill>
                <a:latin typeface="Arial" pitchFamily="34" charset="0"/>
                <a:ea typeface="Arial" pitchFamily="34" charset="-122"/>
                <a:cs typeface="Arial" pitchFamily="34" charset="-120"/>
              </a:rPr>
              <a:t>Isometric 3D illustration, a robotic pipette arm in a lab assembling a glowing folded-protein ribbon and double-helix on a sample platform, small vials arranged around it, pink accents, near-black background, clean low-poly vector style, soft studio glow, subtle floor grid, centered, no text, no logos.</a:t>
            </a:r>
            <a:endParaRPr lang="en-US" sz="700" dirty="0"/>
          </a:p>
        </p:txBody>
      </p:sp>
      <p:sp>
        <p:nvSpPr>
          <p:cNvPr id="44" name="Shape 42"/>
          <p:cNvSpPr/>
          <p:nvPr/>
        </p:nvSpPr>
        <p:spPr>
          <a:xfrm>
            <a:off x="6766560" y="2852928"/>
            <a:ext cx="2011680" cy="1170432"/>
          </a:xfrm>
          <a:prstGeom prst="rect">
            <a:avLst/>
          </a:prstGeom>
          <a:solidFill>
            <a:srgbClr val="1C1C20"/>
          </a:solidFill>
          <a:ln/>
        </p:spPr>
      </p:sp>
      <p:sp>
        <p:nvSpPr>
          <p:cNvPr id="45" name="Shape 43"/>
          <p:cNvSpPr/>
          <p:nvPr/>
        </p:nvSpPr>
        <p:spPr>
          <a:xfrm>
            <a:off x="6766560" y="2852928"/>
            <a:ext cx="2011680" cy="36576"/>
          </a:xfrm>
          <a:prstGeom prst="rect">
            <a:avLst/>
          </a:prstGeom>
          <a:solidFill>
            <a:srgbClr val="E8478D"/>
          </a:solidFill>
          <a:ln/>
        </p:spPr>
      </p:sp>
      <p:sp>
        <p:nvSpPr>
          <p:cNvPr id="46" name="Text 44"/>
          <p:cNvSpPr/>
          <p:nvPr/>
        </p:nvSpPr>
        <p:spPr>
          <a:xfrm>
            <a:off x="6876288" y="2962656"/>
            <a:ext cx="1792224" cy="987552"/>
          </a:xfrm>
          <a:prstGeom prst="rect">
            <a:avLst/>
          </a:prstGeom>
          <a:noFill/>
          <a:ln/>
        </p:spPr>
        <p:txBody>
          <a:bodyPr wrap="square" lIns="0" tIns="0" rIns="0" bIns="0" rtlCol="0" anchor="t"/>
          <a:lstStyle/>
          <a:p>
            <a:pPr indent="0" marL="0">
              <a:buNone/>
            </a:pPr>
            <a:r>
              <a:rPr lang="en-US" sz="950" b="1" dirty="0">
                <a:solidFill>
                  <a:srgbClr val="FFFFFF"/>
                </a:solidFill>
                <a:latin typeface="Arial" pitchFamily="34" charset="0"/>
                <a:ea typeface="Arial" pitchFamily="34" charset="-122"/>
                <a:cs typeface="Arial" pitchFamily="34" charset="-120"/>
              </a:rPr>
              <a:t>Proteins.  </a:t>
            </a:r>
            <a:endParaRPr lang="en-US" sz="950" dirty="0"/>
          </a:p>
          <a:p>
            <a:pPr indent="0" marL="0">
              <a:buNone/>
            </a:pPr>
            <a:r>
              <a:rPr lang="en-US" sz="800" dirty="0">
                <a:solidFill>
                  <a:srgbClr val="C9C9CE"/>
                </a:solidFill>
                <a:latin typeface="Arial" pitchFamily="34" charset="0"/>
                <a:ea typeface="Arial" pitchFamily="34" charset="-122"/>
                <a:cs typeface="Arial" pitchFamily="34" charset="-120"/>
              </a:rPr>
              <a:t>AI-designed proteins make discovery compute-bound; R&amp;D looks like capex.</a:t>
            </a:r>
            <a:endParaRPr lang="en-US" sz="950" dirty="0"/>
          </a:p>
        </p:txBody>
      </p:sp>
      <p:sp>
        <p:nvSpPr>
          <p:cNvPr id="47" name="Text 45"/>
          <p:cNvSpPr/>
          <p:nvPr/>
        </p:nvSpPr>
        <p:spPr>
          <a:xfrm>
            <a:off x="457200" y="4114800"/>
            <a:ext cx="8229600" cy="237744"/>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Watch these like markets, not memes: </a:t>
            </a:r>
            <a:pPr indent="0" marL="0">
              <a:buNone/>
            </a:pPr>
            <a:r>
              <a:rPr lang="en-US" sz="1000" dirty="0">
                <a:solidFill>
                  <a:srgbClr val="C9C9CE"/>
                </a:solidFill>
                <a:latin typeface="Arial" pitchFamily="34" charset="0"/>
                <a:ea typeface="Arial" pitchFamily="34" charset="-122"/>
                <a:cs typeface="Arial" pitchFamily="34" charset="-120"/>
              </a:rPr>
              <a:t>launch cadence, fleet miles, design wins — gauges, not guidance.</a:t>
            </a:r>
            <a:endParaRPr lang="en-US" sz="1000" dirty="0"/>
          </a:p>
        </p:txBody>
      </p:sp>
      <p:sp>
        <p:nvSpPr>
          <p:cNvPr id="48" name="Text 46"/>
          <p:cNvSpPr/>
          <p:nvPr/>
        </p:nvSpPr>
        <p:spPr>
          <a:xfrm>
            <a:off x="457200" y="4334256"/>
            <a:ext cx="8229600" cy="384048"/>
          </a:xfrm>
          <a:prstGeom prst="rect">
            <a:avLst/>
          </a:prstGeom>
          <a:noFill/>
          <a:ln/>
        </p:spPr>
        <p:txBody>
          <a:bodyPr wrap="square" lIns="0" tIns="0" rIns="0" bIns="0" rtlCol="0" anchor="t"/>
          <a:lstStyle/>
          <a:p>
            <a:pPr indent="0" marL="0">
              <a:buNone/>
            </a:pPr>
            <a:r>
              <a:rPr lang="en-US" sz="700" dirty="0">
                <a:solidFill>
                  <a:srgbClr val="8A8A90"/>
                </a:solidFill>
                <a:latin typeface="Arial" pitchFamily="34" charset="0"/>
                <a:ea typeface="Arial" pitchFamily="34" charset="-122"/>
                <a:cs typeface="Arial" pitchFamily="34" charset="-120"/>
              </a:rPr>
              <a:t>Source: Deck analysis building on Internal strategic review, “The 2026 AI Frontier” (Jun 2026). All frontier-watch items are speculative and appear in no company guidance.</a:t>
            </a:r>
            <a:endParaRPr lang="en-US" sz="700" dirty="0"/>
          </a:p>
        </p:txBody>
      </p:sp>
      <p:sp>
        <p:nvSpPr>
          <p:cNvPr id="49" name="Shape 47"/>
          <p:cNvSpPr/>
          <p:nvPr/>
        </p:nvSpPr>
        <p:spPr>
          <a:xfrm>
            <a:off x="0" y="4526280"/>
            <a:ext cx="9144000" cy="617220"/>
          </a:xfrm>
          <a:prstGeom prst="rect">
            <a:avLst/>
          </a:prstGeom>
          <a:solidFill>
            <a:srgbClr val="000000"/>
          </a:solidFill>
          <a:ln/>
        </p:spPr>
      </p:sp>
      <p:sp>
        <p:nvSpPr>
          <p:cNvPr id="50" name="Shape 48"/>
          <p:cNvSpPr/>
          <p:nvPr/>
        </p:nvSpPr>
        <p:spPr>
          <a:xfrm>
            <a:off x="0" y="4526280"/>
            <a:ext cx="9144000" cy="0"/>
          </a:xfrm>
          <a:prstGeom prst="line">
            <a:avLst/>
          </a:prstGeom>
          <a:noFill/>
          <a:ln w="6350">
            <a:solidFill>
              <a:srgbClr val="2A2A30"/>
            </a:solidFill>
            <a:prstDash val="solid"/>
          </a:ln>
        </p:spPr>
      </p:sp>
      <p:sp>
        <p:nvSpPr>
          <p:cNvPr id="51" name="Text 4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52" name="Text 5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4"/>
        </a:solidFill>
      </p:bgPr>
    </p:bg>
    <p:spTree>
      <p:nvGrpSpPr>
        <p:cNvPr id="1" name=""/>
        <p:cNvGrpSpPr/>
        <p:nvPr/>
      </p:nvGrpSpPr>
      <p:grpSpPr>
        <a:xfrm>
          <a:off x="0" y="0"/>
          <a:ext cx="0" cy="0"/>
          <a:chOff x="0" y="0"/>
          <a:chExt cx="0" cy="0"/>
        </a:xfrm>
      </p:grpSpPr>
      <p:sp>
        <p:nvSpPr>
          <p:cNvPr id="2" name="Text 0"/>
          <p:cNvSpPr/>
          <p:nvPr/>
        </p:nvSpPr>
        <p:spPr>
          <a:xfrm>
            <a:off x="457200" y="320040"/>
            <a:ext cx="8229600" cy="640080"/>
          </a:xfrm>
          <a:prstGeom prst="rect">
            <a:avLst/>
          </a:prstGeom>
          <a:noFill/>
          <a:ln/>
        </p:spPr>
        <p:txBody>
          <a:bodyPr wrap="square" lIns="0" tIns="0" rIns="0" bIns="0" rtlCol="0" anchor="t"/>
          <a:lstStyle/>
          <a:p>
            <a:pPr indent="0" marL="0">
              <a:buNone/>
            </a:pPr>
            <a:r>
              <a:rPr lang="en-US" sz="2200" b="1" dirty="0">
                <a:solidFill>
                  <a:srgbClr val="FFFFFF"/>
                </a:solidFill>
                <a:latin typeface="Arial Black" pitchFamily="34" charset="0"/>
                <a:ea typeface="Arial Black" pitchFamily="34" charset="-122"/>
                <a:cs typeface="Arial Black" pitchFamily="34" charset="-120"/>
              </a:rPr>
              <a:t>Sources &amp; methodology</a:t>
            </a:r>
            <a:endParaRPr lang="en-US" sz="2200" dirty="0"/>
          </a:p>
        </p:txBody>
      </p:sp>
      <p:sp>
        <p:nvSpPr>
          <p:cNvPr id="3" name="Shape 1"/>
          <p:cNvSpPr/>
          <p:nvPr/>
        </p:nvSpPr>
        <p:spPr>
          <a:xfrm>
            <a:off x="457200" y="896112"/>
            <a:ext cx="2377440" cy="347472"/>
          </a:xfrm>
          <a:prstGeom prst="rect">
            <a:avLst/>
          </a:prstGeom>
          <a:solidFill>
            <a:srgbClr val="F6693D"/>
          </a:solidFill>
          <a:ln/>
        </p:spPr>
      </p:sp>
      <p:sp>
        <p:nvSpPr>
          <p:cNvPr id="4" name="Text 2"/>
          <p:cNvSpPr/>
          <p:nvPr/>
        </p:nvSpPr>
        <p:spPr>
          <a:xfrm>
            <a:off x="457200" y="896112"/>
            <a:ext cx="2377440" cy="347472"/>
          </a:xfrm>
          <a:prstGeom prst="rect">
            <a:avLst/>
          </a:prstGeom>
          <a:noFill/>
          <a:ln/>
        </p:spPr>
        <p:txBody>
          <a:bodyPr wrap="square" lIns="0" tIns="0" rIns="0" bIns="0" rtlCol="0" anchor="ctr"/>
          <a:lstStyle/>
          <a:p>
            <a:pPr algn="ctr" indent="0" marL="0">
              <a:buNone/>
            </a:pPr>
            <a:r>
              <a:rPr lang="en-US" sz="1050" b="1" spc="100" kern="0" dirty="0">
                <a:solidFill>
                  <a:srgbClr val="000000"/>
                </a:solidFill>
                <a:latin typeface="Arial" pitchFamily="34" charset="0"/>
                <a:ea typeface="Arial" pitchFamily="34" charset="-122"/>
                <a:cs typeface="Arial" pitchFamily="34" charset="-120"/>
              </a:rPr>
              <a:t>DATA AS OF JUNE 2026</a:t>
            </a:r>
            <a:endParaRPr lang="en-US" sz="1050" dirty="0"/>
          </a:p>
        </p:txBody>
      </p:sp>
      <p:sp>
        <p:nvSpPr>
          <p:cNvPr id="5" name="Text 3"/>
          <p:cNvSpPr/>
          <p:nvPr/>
        </p:nvSpPr>
        <p:spPr>
          <a:xfrm>
            <a:off x="3017520" y="896112"/>
            <a:ext cx="5669280" cy="384048"/>
          </a:xfrm>
          <a:prstGeom prst="rect">
            <a:avLst/>
          </a:prstGeom>
          <a:noFill/>
          <a:ln/>
        </p:spPr>
        <p:txBody>
          <a:bodyPr wrap="square" lIns="0" tIns="0" rIns="0" bIns="0" rtlCol="0" anchor="ctr"/>
          <a:lstStyle/>
          <a:p>
            <a:pPr indent="0" marL="0">
              <a:buNone/>
            </a:pPr>
            <a:r>
              <a:rPr lang="en-US" sz="850" dirty="0">
                <a:solidFill>
                  <a:srgbClr val="9A9AA0"/>
                </a:solidFill>
                <a:latin typeface="Arial" pitchFamily="34" charset="0"/>
                <a:ea typeface="Arial" pitchFamily="34" charset="-122"/>
                <a:cs typeface="Arial" pitchFamily="34" charset="-120"/>
              </a:rPr>
              <a:t>All return figures are YTD total returns through the most recent available close (Jun 5–9, 2026, unless noted). Index and market-cap figures as of early June 2026.</a:t>
            </a:r>
            <a:endParaRPr lang="en-US" sz="850" dirty="0"/>
          </a:p>
        </p:txBody>
      </p:sp>
      <p:sp>
        <p:nvSpPr>
          <p:cNvPr id="6" name="Shape 4"/>
          <p:cNvSpPr/>
          <p:nvPr/>
        </p:nvSpPr>
        <p:spPr>
          <a:xfrm>
            <a:off x="457200" y="1444752"/>
            <a:ext cx="2057400" cy="219456"/>
          </a:xfrm>
          <a:prstGeom prst="rect">
            <a:avLst/>
          </a:prstGeom>
          <a:solidFill>
            <a:srgbClr val="FFB800"/>
          </a:solidFill>
          <a:ln/>
        </p:spPr>
      </p:sp>
      <p:sp>
        <p:nvSpPr>
          <p:cNvPr id="7" name="Text 5"/>
          <p:cNvSpPr/>
          <p:nvPr/>
        </p:nvSpPr>
        <p:spPr>
          <a:xfrm>
            <a:off x="45720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MARKET DATA</a:t>
            </a:r>
            <a:endParaRPr lang="en-US" sz="750" dirty="0"/>
          </a:p>
        </p:txBody>
      </p:sp>
      <p:sp>
        <p:nvSpPr>
          <p:cNvPr id="8" name="Text 6"/>
          <p:cNvSpPr/>
          <p:nvPr/>
        </p:nvSpPr>
        <p:spPr>
          <a:xfrm>
            <a:off x="49377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ETF returns &amp; stats: stockanalysis.com (SOXX, IGV); Morningstar / Yahoo Finance (RSP, MAGS)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Index returns &amp; weights: slickcharts.com; S&amp;P Dow Jones Indices; MacroMicro</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Market caps: companiesmarketcap.com; Motley Fool research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Valuations: FactSet Earnings Insight; rates: US Treasury / FRED; CNBC (Jun 5, 2026)</a:t>
            </a:r>
            <a:endParaRPr lang="en-US" sz="720" dirty="0"/>
          </a:p>
        </p:txBody>
      </p:sp>
      <p:sp>
        <p:nvSpPr>
          <p:cNvPr id="9" name="Shape 7"/>
          <p:cNvSpPr/>
          <p:nvPr/>
        </p:nvSpPr>
        <p:spPr>
          <a:xfrm>
            <a:off x="2583180" y="1444752"/>
            <a:ext cx="2057400" cy="219456"/>
          </a:xfrm>
          <a:prstGeom prst="rect">
            <a:avLst/>
          </a:prstGeom>
          <a:solidFill>
            <a:srgbClr val="F6693D"/>
          </a:solidFill>
          <a:ln/>
        </p:spPr>
      </p:sp>
      <p:sp>
        <p:nvSpPr>
          <p:cNvPr id="10" name="Text 8"/>
          <p:cNvSpPr/>
          <p:nvPr/>
        </p:nvSpPr>
        <p:spPr>
          <a:xfrm>
            <a:off x="258318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CAPEX &amp; FINANCING</a:t>
            </a:r>
            <a:endParaRPr lang="en-US" sz="750" dirty="0"/>
          </a:p>
        </p:txBody>
      </p:sp>
      <p:sp>
        <p:nvSpPr>
          <p:cNvPr id="11" name="Text 9"/>
          <p:cNvSpPr/>
          <p:nvPr/>
        </p:nvSpPr>
        <p:spPr>
          <a:xfrm>
            <a:off x="261975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Capex guidance: company reports via CNBC (Feb 6, 2026); Tom's Hardware; Statista (midpoints)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Cash-flow math: BofA via Breckinridge; CNBC; techtimes / beincrypto FCF estimates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Bond issuance: Mawer; M&amp;G Investments; Fortune (Mar 2026); CNBC (Feb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Supply forecasts: UBS &amp; Barclays via Reuters (Jan 2026); credit signals: MUFG CDS via CNBC</a:t>
            </a:r>
            <a:endParaRPr lang="en-US" sz="720" dirty="0"/>
          </a:p>
        </p:txBody>
      </p:sp>
      <p:sp>
        <p:nvSpPr>
          <p:cNvPr id="12" name="Shape 10"/>
          <p:cNvSpPr/>
          <p:nvPr/>
        </p:nvSpPr>
        <p:spPr>
          <a:xfrm>
            <a:off x="4709160" y="1444752"/>
            <a:ext cx="2057400" cy="219456"/>
          </a:xfrm>
          <a:prstGeom prst="rect">
            <a:avLst/>
          </a:prstGeom>
          <a:solidFill>
            <a:srgbClr val="2BC4C4"/>
          </a:solidFill>
          <a:ln/>
        </p:spPr>
      </p:sp>
      <p:sp>
        <p:nvSpPr>
          <p:cNvPr id="13" name="Text 11"/>
          <p:cNvSpPr/>
          <p:nvPr/>
        </p:nvSpPr>
        <p:spPr>
          <a:xfrm>
            <a:off x="470916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LABOR &amp; POLICY</a:t>
            </a:r>
            <a:endParaRPr lang="en-US" sz="750" dirty="0"/>
          </a:p>
        </p:txBody>
      </p:sp>
      <p:sp>
        <p:nvSpPr>
          <p:cNvPr id="14" name="Text 12"/>
          <p:cNvSpPr/>
          <p:nvPr/>
        </p:nvSpPr>
        <p:spPr>
          <a:xfrm>
            <a:off x="474573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Layoffs: Challenger, Gray &amp; Christmas via CNBC (Jun 5, 2026) &amp; CBS News; AI cited in ~40% of May cuts</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Graduate unemployment: NY Fed recent-grad series (5.6% vs 4.2% overall) via CNBC</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Entry-level payrolls: academic working papers on AI-exposed occupations (22–25 cohort)</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Policy: Executive Order provisions, sovereign-wealth-fund proposals, Sacks critique</a:t>
            </a:r>
            <a:endParaRPr lang="en-US" sz="720" dirty="0"/>
          </a:p>
        </p:txBody>
      </p:sp>
      <p:sp>
        <p:nvSpPr>
          <p:cNvPr id="15" name="Shape 13"/>
          <p:cNvSpPr/>
          <p:nvPr/>
        </p:nvSpPr>
        <p:spPr>
          <a:xfrm>
            <a:off x="6835140" y="1444752"/>
            <a:ext cx="2057400" cy="219456"/>
          </a:xfrm>
          <a:prstGeom prst="rect">
            <a:avLst/>
          </a:prstGeom>
          <a:solidFill>
            <a:srgbClr val="9B7BE0"/>
          </a:solidFill>
          <a:ln/>
        </p:spPr>
      </p:sp>
      <p:sp>
        <p:nvSpPr>
          <p:cNvPr id="16" name="Text 14"/>
          <p:cNvSpPr/>
          <p:nvPr/>
        </p:nvSpPr>
        <p:spPr>
          <a:xfrm>
            <a:off x="6835140" y="1444752"/>
            <a:ext cx="2057400" cy="219456"/>
          </a:xfrm>
          <a:prstGeom prst="rect">
            <a:avLst/>
          </a:prstGeom>
          <a:noFill/>
          <a:ln/>
        </p:spPr>
        <p:txBody>
          <a:bodyPr wrap="square" lIns="0" tIns="0" rIns="0" bIns="0" rtlCol="0" anchor="ctr"/>
          <a:lstStyle/>
          <a:p>
            <a:pPr algn="ctr" indent="0" marL="0">
              <a:buNone/>
            </a:pPr>
            <a:r>
              <a:rPr lang="en-US" sz="750" b="1" spc="100" kern="0" dirty="0">
                <a:solidFill>
                  <a:srgbClr val="000000"/>
                </a:solidFill>
                <a:latin typeface="Arial" pitchFamily="34" charset="0"/>
                <a:ea typeface="Arial" pitchFamily="34" charset="-122"/>
                <a:cs typeface="Arial" pitchFamily="34" charset="-120"/>
              </a:rPr>
              <a:t>AI FRONTIER REVIEW</a:t>
            </a:r>
            <a:endParaRPr lang="en-US" sz="750" dirty="0"/>
          </a:p>
        </p:txBody>
      </p:sp>
      <p:sp>
        <p:nvSpPr>
          <p:cNvPr id="17" name="Text 15"/>
          <p:cNvSpPr/>
          <p:nvPr/>
        </p:nvSpPr>
        <p:spPr>
          <a:xfrm>
            <a:off x="6871716" y="1737360"/>
            <a:ext cx="1993392" cy="2194560"/>
          </a:xfrm>
          <a:prstGeom prst="rect">
            <a:avLst/>
          </a:prstGeom>
          <a:noFill/>
          <a:ln/>
        </p:spPr>
        <p:txBody>
          <a:bodyPr wrap="square" lIns="0" tIns="0" rIns="0" bIns="0" rtlCol="0" anchor="t"/>
          <a:lstStyle/>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Internal strategic review: “The 2026 AI Frontier” (Jun 2026)</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Agentic loops &amp; token economics; enterprise caps (Uber, Walmart); Karpathy &amp; Cherny commentary</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Compute: SK Hynix HBM outlook; SpaceX Colossus; Google GPU rental</a:t>
            </a:r>
            <a:endParaRPr lang="en-US" sz="720" dirty="0"/>
          </a:p>
          <a:p>
            <a:pPr marL="88900" indent="-88900">
              <a:spcAft>
                <a:spcPts val="400"/>
              </a:spcAft>
              <a:buSzPct val="100000"/>
              <a:buChar char="•"/>
            </a:pPr>
            <a:r>
              <a:rPr lang="en-US" sz="720" dirty="0">
                <a:solidFill>
                  <a:srgbClr val="C9C9CE"/>
                </a:solidFill>
                <a:latin typeface="Arial" pitchFamily="34" charset="0"/>
                <a:ea typeface="Arial" pitchFamily="34" charset="-122"/>
                <a:cs typeface="Arial" pitchFamily="34" charset="-120"/>
              </a:rPr>
              <a:t>Frontier watch: embodiment, orbital compute, robotaxis, AI biology; speculative</a:t>
            </a:r>
            <a:endParaRPr lang="en-US" sz="720" dirty="0"/>
          </a:p>
        </p:txBody>
      </p:sp>
      <p:sp>
        <p:nvSpPr>
          <p:cNvPr id="18" name="Text 16"/>
          <p:cNvSpPr/>
          <p:nvPr/>
        </p:nvSpPr>
        <p:spPr>
          <a:xfrm>
            <a:off x="457200" y="3968496"/>
            <a:ext cx="8229600" cy="512064"/>
          </a:xfrm>
          <a:prstGeom prst="rect">
            <a:avLst/>
          </a:prstGeom>
          <a:noFill/>
          <a:ln/>
        </p:spPr>
        <p:txBody>
          <a:bodyPr wrap="square" lIns="0" tIns="0" rIns="0" bIns="0" rtlCol="0" anchor="ctr"/>
          <a:lstStyle/>
          <a:p>
            <a:pPr indent="0" marL="0">
              <a:buNone/>
            </a:pPr>
            <a:r>
              <a:rPr lang="en-US" sz="750" i="1" dirty="0">
                <a:solidFill>
                  <a:srgbClr val="8A8A90"/>
                </a:solidFill>
                <a:latin typeface="Arial" pitchFamily="34" charset="0"/>
                <a:ea typeface="Arial" pitchFamily="34" charset="-122"/>
                <a:cs typeface="Arial" pitchFamily="34" charset="-120"/>
              </a:rPr>
              <a:t>Methodology: figures verified against at least one primary or institutional source; where sources disagreed, the more conservative figure was used. The Jevons relationship (slide 4) is illustrative, not measured data. Layoff attributions to AI are self-reported by employers (Challenger) and may overstate causation. Frontier items (slide 11) are speculative and appear in no company guidance. End of deck.</a:t>
            </a:r>
            <a:endParaRPr lang="en-US" sz="750" dirty="0"/>
          </a:p>
        </p:txBody>
      </p:sp>
      <p:sp>
        <p:nvSpPr>
          <p:cNvPr id="19" name="Shape 17"/>
          <p:cNvSpPr/>
          <p:nvPr/>
        </p:nvSpPr>
        <p:spPr>
          <a:xfrm>
            <a:off x="0" y="4526280"/>
            <a:ext cx="9144000" cy="617220"/>
          </a:xfrm>
          <a:prstGeom prst="rect">
            <a:avLst/>
          </a:prstGeom>
          <a:solidFill>
            <a:srgbClr val="000000"/>
          </a:solidFill>
          <a:ln/>
        </p:spPr>
      </p:sp>
      <p:sp>
        <p:nvSpPr>
          <p:cNvPr id="20" name="Shape 18"/>
          <p:cNvSpPr/>
          <p:nvPr/>
        </p:nvSpPr>
        <p:spPr>
          <a:xfrm>
            <a:off x="0" y="4526280"/>
            <a:ext cx="9144000" cy="0"/>
          </a:xfrm>
          <a:prstGeom prst="line">
            <a:avLst/>
          </a:prstGeom>
          <a:noFill/>
          <a:ln w="6350">
            <a:solidFill>
              <a:srgbClr val="2A2A30"/>
            </a:solidFill>
            <a:prstDash val="solid"/>
          </a:ln>
        </p:spPr>
      </p:sp>
      <p:sp>
        <p:nvSpPr>
          <p:cNvPr id="21" name="Text 19"/>
          <p:cNvSpPr/>
          <p:nvPr/>
        </p:nvSpPr>
        <p:spPr>
          <a:xfrm>
            <a:off x="1371600" y="4572000"/>
            <a:ext cx="6583680" cy="502920"/>
          </a:xfrm>
          <a:prstGeom prst="rect">
            <a:avLst/>
          </a:prstGeom>
          <a:noFill/>
          <a:ln/>
        </p:spPr>
        <p:txBody>
          <a:bodyPr wrap="square" rtlCol="0" anchor="ctr"/>
          <a:lstStyle/>
          <a:p>
            <a:pPr algn="ctr" indent="0" marL="0">
              <a:buNone/>
            </a:pPr>
            <a:r>
              <a:rPr lang="en-US" sz="650" b="1" dirty="0">
                <a:solidFill>
                  <a:srgbClr val="9A9AA0"/>
                </a:solidFill>
                <a:latin typeface="Arial" pitchFamily="34" charset="0"/>
                <a:ea typeface="Arial" pitchFamily="34" charset="-122"/>
                <a:cs typeface="Arial" pitchFamily="34" charset="-120"/>
              </a:rPr>
              <a:t>FOR INFORMATIONAL PURPOSES ONLY. NOT INVESTMENT ADVICE. PAST PERFORMANCE IS NOT INDICATIVE OF FUTURE RESULTS.</a:t>
            </a:r>
            <a:endParaRPr lang="en-US" sz="650" dirty="0"/>
          </a:p>
        </p:txBody>
      </p:sp>
      <p:sp>
        <p:nvSpPr>
          <p:cNvPr id="22" name="Text 20"/>
          <p:cNvSpPr/>
          <p:nvPr/>
        </p:nvSpPr>
        <p:spPr>
          <a:xfrm>
            <a:off x="8503920" y="4645152"/>
            <a:ext cx="457200" cy="320040"/>
          </a:xfrm>
          <a:prstGeom prst="rect">
            <a:avLst/>
          </a:prstGeom>
          <a:noFill/>
          <a:ln/>
        </p:spPr>
        <p:txBody>
          <a:bodyPr wrap="square" lIns="0" tIns="0" rIns="0" bIns="0" rtlCol="0" anchor="ctr"/>
          <a:lstStyle/>
          <a:p>
            <a:pPr algn="r" indent="0" marL="0">
              <a:buNone/>
            </a:pPr>
            <a:r>
              <a:rPr lang="en-US" sz="900" dirty="0">
                <a:solidFill>
                  <a:srgbClr val="9A9AA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in the markets: June 2026</dc:title>
  <dc:subject>PptxGenJS Presentation</dc:subject>
  <dc:creator>Strategy</dc:creator>
  <cp:lastModifiedBy>Strategy</cp:lastModifiedBy>
  <cp:revision>1</cp:revision>
  <dcterms:created xsi:type="dcterms:W3CDTF">2026-06-14T15:13:24Z</dcterms:created>
  <dcterms:modified xsi:type="dcterms:W3CDTF">2026-06-14T15:13:24Z</dcterms:modified>
</cp:coreProperties>
</file>