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Sheet1!$B$2:$B$17</c:f>
              <c:numCache>
                <c:formatCode>General</c:formatCode>
                <c:ptCount val="16"/>
                <c:pt idx="0">
                  <c:v>0</c:v>
                </c:pt>
                <c:pt idx="1">
                  <c:v>18</c:v>
                </c:pt>
                <c:pt idx="2">
                  <c:v>38</c:v>
                </c:pt>
                <c:pt idx="3">
                  <c:v>56</c:v>
                </c:pt>
                <c:pt idx="4">
                  <c:v/>
                </c:pt>
                <c:pt idx="5">
                  <c:v/>
                </c:pt>
                <c:pt idx="6">
                  <c:v/>
                </c:pt>
                <c:pt idx="7">
                  <c:v/>
                </c:pt>
                <c:pt idx="8">
                  <c:v/>
                </c:pt>
                <c:pt idx="9">
                  <c:v/>
                </c:pt>
                <c:pt idx="10">
                  <c:v/>
                </c:pt>
                <c:pt idx="11">
                  <c:v/>
                </c:pt>
                <c:pt idx="12">
                  <c:v/>
                </c:pt>
                <c:pt idx="13">
                  <c:v/>
                </c:pt>
                <c:pt idx="14">
                  <c:v/>
                </c:pt>
                <c:pt idx="15">
                  <c:v/>
                </c:pt>
              </c:numCache>
            </c:numRef>
          </c:val>
          <c:smooth val="0"/>
        </c:ser>
        <c:ser>
          <c:idx val="1"/>
          <c:order val="1"/>
          <c:tx>
            <c:strRef>
              <c:f>Sheet1!$C$1</c:f>
              <c:strCache>
                <c:ptCount val="1"/>
                <c:pt idx="0">
                  <c:v>Internet</c:v>
                </c:pt>
              </c:strCache>
            </c:strRef>
          </c:tx>
          <c:spPr>
            <a:solidFill>
              <a:srgbClr val="008B8B"/>
            </a:solidFill>
            <a:ln w="38100" cap="flat">
              <a:solidFill>
                <a:srgbClr val="008B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8B8B"/>
              </a:solidFill>
              <a:ln w="9525" cap="flat">
                <a:solidFill>
                  <a:srgbClr val="008B8B"/>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Sheet1!$C$2:$C$17</c:f>
              <c:numCache>
                <c:formatCode>General</c:formatCode>
                <c:ptCount val="16"/>
                <c:pt idx="0">
                  <c:v>0</c:v>
                </c:pt>
                <c:pt idx="1">
                  <c:v>2</c:v>
                </c:pt>
                <c:pt idx="2">
                  <c:v>5</c:v>
                </c:pt>
                <c:pt idx="3">
                  <c:v>10</c:v>
                </c:pt>
                <c:pt idx="4">
                  <c:v>16</c:v>
                </c:pt>
                <c:pt idx="5">
                  <c:v>24</c:v>
                </c:pt>
                <c:pt idx="6">
                  <c:v>32</c:v>
                </c:pt>
                <c:pt idx="7">
                  <c:v>40</c:v>
                </c:pt>
                <c:pt idx="8">
                  <c:v>47</c:v>
                </c:pt>
                <c:pt idx="9">
                  <c:v>53</c:v>
                </c:pt>
                <c:pt idx="10">
                  <c:v>58</c:v>
                </c:pt>
                <c:pt idx="11">
                  <c:v>62</c:v>
                </c:pt>
                <c:pt idx="12">
                  <c:v>64</c:v>
                </c:pt>
                <c:pt idx="13">
                  <c:v>66</c:v>
                </c:pt>
                <c:pt idx="14">
                  <c:v>67</c:v>
                </c:pt>
                <c:pt idx="15">
                  <c:v>68</c:v>
                </c:pt>
              </c:numCache>
            </c:numRef>
          </c:val>
          <c:smooth val="0"/>
        </c:ser>
        <c:ser>
          <c:idx val="2"/>
          <c:order val="2"/>
          <c:tx>
            <c:strRef>
              <c:f>Sheet1!$D$1</c:f>
              <c:strCache>
                <c:ptCount val="1"/>
                <c:pt idx="0">
                  <c:v>PC</c:v>
                </c:pt>
              </c:strCache>
            </c:strRef>
          </c:tx>
          <c:spPr>
            <a:solidFill>
              <a:srgbClr val="666666"/>
            </a:solidFill>
            <a:ln w="38100" cap="flat">
              <a:solidFill>
                <a:srgbClr val="6666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666666"/>
              </a:solidFill>
              <a:ln w="9525" cap="flat">
                <a:solidFill>
                  <a:srgbClr val="666666"/>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Sheet1!$D$2:$D$17</c:f>
              <c:numCache>
                <c:formatCode>General</c:formatCode>
                <c:ptCount val="16"/>
                <c:pt idx="0">
                  <c:v>0</c:v>
                </c:pt>
                <c:pt idx="1">
                  <c:v>1</c:v>
                </c:pt>
                <c:pt idx="2">
                  <c:v>3</c:v>
                </c:pt>
                <c:pt idx="3">
                  <c:v>6</c:v>
                </c:pt>
                <c:pt idx="4">
                  <c:v>9</c:v>
                </c:pt>
                <c:pt idx="5">
                  <c:v>13</c:v>
                </c:pt>
                <c:pt idx="6">
                  <c:v>18</c:v>
                </c:pt>
                <c:pt idx="7">
                  <c:v>23</c:v>
                </c:pt>
                <c:pt idx="8">
                  <c:v>28</c:v>
                </c:pt>
                <c:pt idx="9">
                  <c:v>32</c:v>
                </c:pt>
                <c:pt idx="10">
                  <c:v>36</c:v>
                </c:pt>
                <c:pt idx="11">
                  <c:v>40</c:v>
                </c:pt>
                <c:pt idx="12">
                  <c:v>43</c:v>
                </c:pt>
                <c:pt idx="13">
                  <c:v>46</c:v>
                </c:pt>
                <c:pt idx="14">
                  <c:v>48</c:v>
                </c:pt>
                <c:pt idx="15">
                  <c:v>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AI</c:v>
                </c:pt>
              </c:strCache>
            </c:strRef>
          </c:tx>
          <c:spPr>
            <a:solidFill>
              <a:srgbClr val="F6693D"/>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Sheet1!$B$2:$B$6</c:f>
              <c:numCache>
                <c:formatCode>General</c:formatCode>
                <c:ptCount val="5"/>
                <c:pt idx="0">
                  <c:v>1</c:v>
                </c:pt>
                <c:pt idx="1">
                  <c:v>5</c:v>
                </c:pt>
                <c:pt idx="2">
                  <c:v>16</c:v>
                </c:pt>
                <c:pt idx="3">
                  <c:v>42</c:v>
                </c:pt>
                <c:pt idx="4">
                  <c:v>82</c:v>
                </c:pt>
              </c:numCache>
            </c:numRef>
          </c:val>
        </c:ser>
        <c:ser>
          <c:idx val="1"/>
          <c:order val="1"/>
          <c:tx>
            <c:strRef>
              <c:f>Sheet1!$C$1</c:f>
              <c:strCache>
                <c:ptCount val="1"/>
                <c:pt idx="0">
                  <c:v>Cloud</c:v>
                </c:pt>
              </c:strCache>
            </c:strRef>
          </c:tx>
          <c:spPr>
            <a:solidFill>
              <a:srgbClr val="FFB800"/>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Sheet1!$C$2:$C$6</c:f>
              <c:numCache>
                <c:formatCode>General</c:formatCode>
                <c:ptCount val="5"/>
                <c:pt idx="0">
                  <c:v>1</c:v>
                </c:pt>
                <c:pt idx="1">
                  <c:v>2</c:v>
                </c:pt>
                <c:pt idx="2">
                  <c:v>4</c:v>
                </c:pt>
                <c:pt idx="3">
                  <c:v>7</c:v>
                </c:pt>
                <c:pt idx="4">
                  <c:v>12</c:v>
                </c:pt>
              </c:numCache>
            </c:numRef>
          </c:val>
        </c:ser>
        <c:ser>
          <c:idx val="2"/>
          <c:order val="2"/>
          <c:tx>
            <c:strRef>
              <c:f>Sheet1!$D$1</c:f>
              <c:strCache>
                <c:ptCount val="1"/>
                <c:pt idx="0">
                  <c:v>Internet</c:v>
                </c:pt>
              </c:strCache>
            </c:strRef>
          </c:tx>
          <c:spPr>
            <a:solidFill>
              <a:srgbClr val="008B8B"/>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Sheet1!$D$2:$D$6</c:f>
              <c:numCache>
                <c:formatCode>General</c:formatCode>
                <c:ptCount val="5"/>
                <c:pt idx="0">
                  <c:v>1</c:v>
                </c:pt>
                <c:pt idx="1">
                  <c:v>2</c:v>
                </c:pt>
                <c:pt idx="2">
                  <c:v>3</c:v>
                </c:pt>
                <c:pt idx="3">
                  <c:v>5</c:v>
                </c:pt>
                <c:pt idx="4">
                  <c:v>8</c:v>
                </c:pt>
              </c:numCache>
            </c:numRef>
          </c:val>
        </c:ser>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Semis</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Sheet1!$A$2:$A$7</c:f>
              <c:multiLvlStrCache>
                <c:ptCount val="6"/>
                <c:lvl>
                  <c:pt idx="0">
                    <c:v>Jan 1</c:v>
                  </c:pt>
                  <c:pt idx="1">
                    <c:v>Jan 31</c:v>
                  </c:pt>
                  <c:pt idx="2">
                    <c:v>Feb 28</c:v>
                  </c:pt>
                  <c:pt idx="3">
                    <c:v>Mar 31</c:v>
                  </c:pt>
                  <c:pt idx="4">
                    <c:v>Apr 30</c:v>
                  </c:pt>
                  <c:pt idx="5">
                    <c:v>May 22</c:v>
                  </c:pt>
                </c:lvl>
              </c:multiLvlStrCache>
            </c:multiLvlStrRef>
          </c:cat>
          <c:val>
            <c:numRef>
              <c:f>Sheet1!$B$2:$B$7</c:f>
              <c:numCache>
                <c:formatCode>General</c:formatCode>
                <c:ptCount val="6"/>
                <c:pt idx="0">
                  <c:v>100</c:v>
                </c:pt>
                <c:pt idx="1">
                  <c:v>112</c:v>
                </c:pt>
                <c:pt idx="2">
                  <c:v>124</c:v>
                </c:pt>
                <c:pt idx="3">
                  <c:v>144</c:v>
                </c:pt>
                <c:pt idx="4">
                  <c:v>160</c:v>
                </c:pt>
                <c:pt idx="5">
                  <c:v>174</c:v>
                </c:pt>
              </c:numCache>
            </c:numRef>
          </c:val>
          <c:smooth val="0"/>
        </c:ser>
        <c:ser>
          <c:idx val="1"/>
          <c:order val="1"/>
          <c:tx>
            <c:strRef>
              <c:f>Sheet1!$C$1</c:f>
              <c:strCache>
                <c:ptCount val="1"/>
                <c:pt idx="0">
                  <c:v>Nasdaq</c:v>
                </c:pt>
              </c:strCache>
            </c:strRef>
          </c:tx>
          <c:spPr>
            <a:solidFill>
              <a:srgbClr val="333333"/>
            </a:solidFill>
            <a:ln w="38100" cap="flat">
              <a:solidFill>
                <a:srgbClr val="3333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3333"/>
              </a:solidFill>
              <a:ln w="9525" cap="flat">
                <a:solidFill>
                  <a:srgbClr val="333333"/>
                </a:solidFill>
                <a:prstDash val="solid"/>
                <a:round/>
              </a:ln>
              <a:effectLst/>
            </c:spPr>
          </c:marker>
          <c:cat>
            <c:multiLvlStrRef>
              <c:f>Sheet1!$A$2:$A$7</c:f>
              <c:multiLvlStrCache>
                <c:ptCount val="6"/>
                <c:lvl>
                  <c:pt idx="0">
                    <c:v>Jan 1</c:v>
                  </c:pt>
                  <c:pt idx="1">
                    <c:v>Jan 31</c:v>
                  </c:pt>
                  <c:pt idx="2">
                    <c:v>Feb 28</c:v>
                  </c:pt>
                  <c:pt idx="3">
                    <c:v>Mar 31</c:v>
                  </c:pt>
                  <c:pt idx="4">
                    <c:v>Apr 30</c:v>
                  </c:pt>
                  <c:pt idx="5">
                    <c:v>May 22</c:v>
                  </c:pt>
                </c:lvl>
              </c:multiLvlStrCache>
            </c:multiLvlStrRef>
          </c:cat>
          <c:val>
            <c:numRef>
              <c:f>Sheet1!$C$2:$C$7</c:f>
              <c:numCache>
                <c:formatCode>General</c:formatCode>
                <c:ptCount val="6"/>
                <c:pt idx="0">
                  <c:v>100</c:v>
                </c:pt>
                <c:pt idx="1">
                  <c:v>99</c:v>
                </c:pt>
                <c:pt idx="2">
                  <c:v>95</c:v>
                </c:pt>
                <c:pt idx="3">
                  <c:v>100</c:v>
                </c:pt>
                <c:pt idx="4">
                  <c:v>104</c:v>
                </c:pt>
                <c:pt idx="5">
                  <c:v>106</c:v>
                </c:pt>
              </c:numCache>
            </c:numRef>
          </c:val>
          <c:smooth val="0"/>
        </c:ser>
        <c:ser>
          <c:idx val="2"/>
          <c:order val="2"/>
          <c:tx>
            <c:strRef>
              <c:f>Sheet1!$D$1</c:f>
              <c:strCache>
                <c:ptCount val="1"/>
                <c:pt idx="0">
                  <c:v>Software</c:v>
                </c:pt>
              </c:strCache>
            </c:strRef>
          </c:tx>
          <c:spPr>
            <a:solidFill>
              <a:srgbClr val="CC0000"/>
            </a:solidFill>
            <a:ln w="38100" cap="flat">
              <a:solidFill>
                <a:srgbClr val="CC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C0000"/>
              </a:solidFill>
              <a:ln w="9525" cap="flat">
                <a:solidFill>
                  <a:srgbClr val="CC0000"/>
                </a:solidFill>
                <a:prstDash val="solid"/>
                <a:round/>
              </a:ln>
              <a:effectLst/>
            </c:spPr>
          </c:marker>
          <c:cat>
            <c:multiLvlStrRef>
              <c:f>Sheet1!$A$2:$A$7</c:f>
              <c:multiLvlStrCache>
                <c:ptCount val="6"/>
                <c:lvl>
                  <c:pt idx="0">
                    <c:v>Jan 1</c:v>
                  </c:pt>
                  <c:pt idx="1">
                    <c:v>Jan 31</c:v>
                  </c:pt>
                  <c:pt idx="2">
                    <c:v>Feb 28</c:v>
                  </c:pt>
                  <c:pt idx="3">
                    <c:v>Mar 31</c:v>
                  </c:pt>
                  <c:pt idx="4">
                    <c:v>Apr 30</c:v>
                  </c:pt>
                  <c:pt idx="5">
                    <c:v>May 22</c:v>
                  </c:pt>
                </c:lvl>
              </c:multiLvlStrCache>
            </c:multiLvlStrRef>
          </c:cat>
          <c:val>
            <c:numRef>
              <c:f>Sheet1!$D$2:$D$7</c:f>
              <c:numCache>
                <c:formatCode>General</c:formatCode>
                <c:ptCount val="6"/>
                <c:pt idx="0">
                  <c:v>100</c:v>
                </c:pt>
                <c:pt idx="1">
                  <c:v>92</c:v>
                </c:pt>
                <c:pt idx="2">
                  <c:v>70</c:v>
                </c:pt>
                <c:pt idx="3">
                  <c:v>74</c:v>
                </c:pt>
                <c:pt idx="4">
                  <c:v>79</c:v>
                </c:pt>
                <c:pt idx="5">
                  <c:v>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Cost per 1M tokens</c:v>
                </c:pt>
              </c:strCache>
            </c:strRef>
          </c:tx>
          <c:spPr>
            <a:solidFill>
              <a:srgbClr val="F6693D"/>
            </a:solidFill>
            <a:effectLst/>
          </c:spPr>
          <c:invertIfNegative val="0"/>
          <c:dLbls>
            <c:numFmt formatCode="[&lt;1]$0.0;$#,##0" sourceLinked="0"/>
            <c:txPr>
              <a:bodyPr/>
              <a:lstStyle/>
              <a:p>
                <a:pPr>
                  <a:defRPr b="1" i="0" strike="noStrike" sz="1000" u="none">
                    <a:solidFill>
                      <a:srgbClr val="333333"/>
                    </a:solidFill>
                    <a:latin typeface="Arial"/>
                  </a:defRPr>
                </a:pPr>
              </a:p>
            </c:txPr>
            <c:showLegendKey val="0"/>
            <c:showVal val="1"/>
            <c:showCatName val="0"/>
            <c:showSerName val="0"/>
            <c:showPercent val="0"/>
            <c:showBubbleSize val="0"/>
            <c:showLeaderLines val="0"/>
          </c:dLbls>
          <c:cat>
            <c:multiLvlStrRef>
              <c:f>Sheet1!$A$2:$A$5</c:f>
              <c:multiLvlStrCache>
                <c:ptCount val="4"/>
                <c:lvl>
                  <c:pt idx="0">
                    <c:v>2023</c:v>
                  </c:pt>
                  <c:pt idx="1">
                    <c:v>2024</c:v>
                  </c:pt>
                  <c:pt idx="2">
                    <c:v>2025</c:v>
                  </c:pt>
                  <c:pt idx="3">
                    <c:v>2026</c:v>
                  </c:pt>
                </c:lvl>
              </c:multiLvlStrCache>
            </c:multiLvlStrRef>
          </c:cat>
          <c:val>
            <c:numRef>
              <c:f>Sheet1!$B$2:$B$5</c:f>
              <c:numCache>
                <c:formatCode>General</c:formatCode>
                <c:ptCount val="4"/>
                <c:pt idx="0">
                  <c:v>36</c:v>
                </c:pt>
                <c:pt idx="1">
                  <c:v>10</c:v>
                </c:pt>
                <c:pt idx="2">
                  <c:v>2</c:v>
                </c:pt>
                <c:pt idx="3">
                  <c:v>0.4</c:v>
                </c:pt>
              </c:numCache>
            </c:numRef>
          </c:val>
        </c:ser>
        <c:dLbls>
          <c:numFmt formatCode="[&lt;1]$0.0;$#,##0" sourceLinked="0"/>
          <c:txPr>
            <a:bodyPr/>
            <a:lstStyle/>
            <a:p>
              <a:pPr>
                <a:defRPr b="1" i="0" strike="noStrike" sz="10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 more concerned than excited</c:v>
                </c:pt>
              </c:strCache>
            </c:strRef>
          </c:tx>
          <c:spPr>
            <a:solidFill>
              <a:srgbClr val="CC0000"/>
            </a:solidFill>
            <a:ln w="44450" cap="flat">
              <a:solidFill>
                <a:srgbClr val="CC0000"/>
              </a:solidFill>
              <a:prstDash val="solid"/>
              <a:round/>
            </a:ln>
            <a:effectLst/>
          </c:spPr>
          <c:invertIfNegative val="0"/>
          <c:dLbls>
            <c:numFmt formatCode="#,##0" sourceLinked="0"/>
            <c:txPr>
              <a:bodyPr/>
              <a:lstStyle/>
              <a:p>
                <a:pPr>
                  <a:defRPr b="1" i="0" strike="noStrike" sz="1100" u="none">
                    <a:solidFill>
                      <a:srgbClr val="CC0000"/>
                    </a:solidFill>
                    <a:latin typeface="Arial"/>
                  </a:defRPr>
                </a:pPr>
              </a:p>
            </c:txPr>
            <c:dLblPos val="t"/>
            <c:showLegendKey val="0"/>
            <c:showVal val="1"/>
            <c:showCatName val="0"/>
            <c:showSerName val="0"/>
            <c:showPercent val="0"/>
            <c:showBubbleSize val="0"/>
            <c:showLeaderLines val="0"/>
          </c:dLbls>
          <c:marker>
            <c:symbol val="circle"/>
            <c:size val="7"/>
            <c:spPr>
              <a:solidFill>
                <a:srgbClr val="CC0000"/>
              </a:solidFill>
              <a:ln w="9525" cap="flat">
                <a:solidFill>
                  <a:srgbClr val="CC0000"/>
                </a:solidFill>
                <a:prstDash val="solid"/>
                <a:round/>
              </a:ln>
              <a:effectLst/>
            </c:spPr>
          </c:marker>
          <c:cat>
            <c:multiLvlStrRef>
              <c:f>Sheet1!$A$2:$A$4</c:f>
              <c:multiLvlStrCache>
                <c:ptCount val="3"/>
                <c:lvl>
                  <c:pt idx="0">
                    <c:v>2021</c:v>
                  </c:pt>
                  <c:pt idx="1">
                    <c:v>2023</c:v>
                  </c:pt>
                  <c:pt idx="2">
                    <c:v>2025</c:v>
                  </c:pt>
                </c:lvl>
              </c:multiLvlStrCache>
            </c:multiLvlStrRef>
          </c:cat>
          <c:val>
            <c:numRef>
              <c:f>Sheet1!$B$2:$B$4</c:f>
              <c:numCache>
                <c:formatCode>General</c:formatCode>
                <c:ptCount val="3"/>
                <c:pt idx="0">
                  <c:v>37</c:v>
                </c:pt>
                <c:pt idx="1">
                  <c:v>44</c:v>
                </c:pt>
                <c:pt idx="2">
                  <c:v>50</c:v>
                </c:pt>
              </c:numCache>
            </c:numRef>
          </c:val>
          <c:smooth val="0"/>
        </c:ser>
        <c:dLbls>
          <c:numFmt formatCode="#,##0" sourceLinked="0"/>
          <c:txPr>
            <a:bodyPr/>
            <a:lstStyle/>
            <a:p>
              <a:pPr>
                <a:defRPr b="1" i="0" strike="noStrike" sz="1100" u="none">
                  <a:solidFill>
                    <a:srgbClr val="CC000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100"/>
        </a:solidFill>
      </p:bgPr>
    </p:bg>
    <p:spTree>
      <p:nvGrpSpPr>
        <p:cNvPr id="1" name=""/>
        <p:cNvGrpSpPr/>
        <p:nvPr/>
      </p:nvGrpSpPr>
      <p:grpSpPr>
        <a:xfrm>
          <a:off x="0" y="0"/>
          <a:ext cx="0" cy="0"/>
          <a:chOff x="0" y="0"/>
          <a:chExt cx="0" cy="0"/>
        </a:xfrm>
      </p:grpSpPr>
      <p:sp>
        <p:nvSpPr>
          <p:cNvPr id="2" name="Shape 0"/>
          <p:cNvSpPr/>
          <p:nvPr/>
        </p:nvSpPr>
        <p:spPr>
          <a:xfrm>
            <a:off x="457200" y="2788920"/>
            <a:ext cx="1005840" cy="128016"/>
          </a:xfrm>
          <a:prstGeom prst="rect">
            <a:avLst/>
          </a:prstGeom>
          <a:solidFill>
            <a:srgbClr val="F6693D"/>
          </a:solidFill>
          <a:ln w="12700">
            <a:solidFill>
              <a:srgbClr val="F6693D"/>
            </a:solidFill>
            <a:prstDash val="solid"/>
          </a:ln>
        </p:spPr>
      </p:sp>
      <p:sp>
        <p:nvSpPr>
          <p:cNvPr id="3" name="Text 1"/>
          <p:cNvSpPr/>
          <p:nvPr/>
        </p:nvSpPr>
        <p:spPr>
          <a:xfrm>
            <a:off x="457200" y="3063240"/>
            <a:ext cx="8229600" cy="1371600"/>
          </a:xfrm>
          <a:prstGeom prst="rect">
            <a:avLst/>
          </a:prstGeom>
          <a:noFill/>
          <a:ln/>
        </p:spPr>
        <p:txBody>
          <a:bodyPr wrap="square" lIns="0" tIns="0" rIns="0" bIns="0" rtlCol="0" anchor="t"/>
          <a:lstStyle/>
          <a:p>
            <a:pPr indent="0" marL="0">
              <a:buNone/>
            </a:pPr>
            <a:r>
              <a:rPr lang="en-US" sz="8800" b="1" dirty="0">
                <a:solidFill>
                  <a:srgbClr val="000000"/>
                </a:solidFill>
                <a:latin typeface="Arial Black" pitchFamily="34" charset="0"/>
                <a:ea typeface="Arial Black" pitchFamily="34" charset="-122"/>
                <a:cs typeface="Arial Black" pitchFamily="34" charset="-120"/>
              </a:rPr>
              <a:t>AI Markets</a:t>
            </a:r>
            <a:endParaRPr lang="en-US" sz="8800" dirty="0"/>
          </a:p>
        </p:txBody>
      </p:sp>
      <p:sp>
        <p:nvSpPr>
          <p:cNvPr id="4" name="Text 2"/>
          <p:cNvSpPr/>
          <p:nvPr/>
        </p:nvSpPr>
        <p:spPr>
          <a:xfrm>
            <a:off x="457200" y="4434840"/>
            <a:ext cx="8229600" cy="457200"/>
          </a:xfrm>
          <a:prstGeom prst="rect">
            <a:avLst/>
          </a:prstGeom>
          <a:noFill/>
          <a:ln/>
        </p:spPr>
        <p:txBody>
          <a:bodyPr wrap="square" lIns="0" tIns="0" rIns="0" bIns="0" rtlCol="0" anchor="t"/>
          <a:lstStyle/>
          <a:p>
            <a:pPr indent="0" marL="0">
              <a:buNone/>
            </a:pPr>
            <a:r>
              <a:rPr lang="en-US" sz="2200" dirty="0">
                <a:solidFill>
                  <a:srgbClr val="000000"/>
                </a:solidFill>
                <a:latin typeface="Arial" pitchFamily="34" charset="0"/>
                <a:ea typeface="Arial" pitchFamily="34" charset="-122"/>
                <a:cs typeface="Arial" pitchFamily="34" charset="-120"/>
              </a:rPr>
              <a:t>May 2026</a:t>
            </a:r>
            <a:endParaRPr lang="en-US" sz="2200" dirty="0"/>
          </a:p>
        </p:txBody>
      </p:sp>
      <p:sp>
        <p:nvSpPr>
          <p:cNvPr id="5" name="Shape 3"/>
          <p:cNvSpPr/>
          <p:nvPr/>
        </p:nvSpPr>
        <p:spPr>
          <a:xfrm>
            <a:off x="0" y="6286500"/>
            <a:ext cx="9144000" cy="571500"/>
          </a:xfrm>
          <a:prstGeom prst="rect">
            <a:avLst/>
          </a:prstGeom>
          <a:solidFill>
            <a:srgbClr val="000000"/>
          </a:solidFill>
          <a:ln w="12700">
            <a:solidFill>
              <a:srgbClr val="000000"/>
            </a:solidFill>
            <a:prstDash val="solid"/>
          </a:ln>
        </p:spPr>
      </p:sp>
      <p:sp>
        <p:nvSpPr>
          <p:cNvPr id="6" name="Text 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Contents.</a:t>
            </a:r>
            <a:endParaRPr lang="en-US" sz="2400" dirty="0"/>
          </a:p>
        </p:txBody>
      </p:sp>
      <p:sp>
        <p:nvSpPr>
          <p:cNvPr id="3" name="Shape 1"/>
          <p:cNvSpPr/>
          <p:nvPr/>
        </p:nvSpPr>
        <p:spPr>
          <a:xfrm>
            <a:off x="457200" y="1325880"/>
            <a:ext cx="8229600" cy="0"/>
          </a:xfrm>
          <a:prstGeom prst="line">
            <a:avLst/>
          </a:prstGeom>
          <a:noFill/>
          <a:ln w="9525">
            <a:solidFill>
              <a:srgbClr val="E5E5E5"/>
            </a:solidFill>
            <a:prstDash val="solid"/>
          </a:ln>
        </p:spPr>
      </p:sp>
      <p:sp>
        <p:nvSpPr>
          <p:cNvPr id="4" name="Shape 2"/>
          <p:cNvSpPr/>
          <p:nvPr/>
        </p:nvSpPr>
        <p:spPr>
          <a:xfrm>
            <a:off x="457200" y="1737360"/>
            <a:ext cx="109728" cy="493776"/>
          </a:xfrm>
          <a:prstGeom prst="rect">
            <a:avLst/>
          </a:prstGeom>
          <a:solidFill>
            <a:srgbClr val="008B8B"/>
          </a:solidFill>
          <a:ln w="12700">
            <a:solidFill>
              <a:srgbClr val="008B8B"/>
            </a:solidFill>
            <a:prstDash val="solid"/>
          </a:ln>
        </p:spPr>
      </p:sp>
      <p:sp>
        <p:nvSpPr>
          <p:cNvPr id="5" name="Text 3"/>
          <p:cNvSpPr/>
          <p:nvPr/>
        </p:nvSpPr>
        <p:spPr>
          <a:xfrm>
            <a:off x="731520" y="1737360"/>
            <a:ext cx="822960" cy="493776"/>
          </a:xfrm>
          <a:prstGeom prst="rect">
            <a:avLst/>
          </a:prstGeom>
          <a:noFill/>
          <a:ln/>
        </p:spPr>
        <p:txBody>
          <a:bodyPr wrap="square" lIns="0" tIns="0" rIns="0" bIns="0" rtlCol="0" anchor="ctr"/>
          <a:lstStyle/>
          <a:p>
            <a:pPr indent="0" marL="0">
              <a:buNone/>
            </a:pPr>
            <a:r>
              <a:rPr lang="en-US" sz="2200" b="1" dirty="0">
                <a:solidFill>
                  <a:srgbClr val="008B8B"/>
                </a:solidFill>
                <a:latin typeface="Arial Black" pitchFamily="34" charset="0"/>
                <a:ea typeface="Arial Black" pitchFamily="34" charset="-122"/>
                <a:cs typeface="Arial Black" pitchFamily="34" charset="-120"/>
              </a:rPr>
              <a:t>01</a:t>
            </a:r>
            <a:endParaRPr lang="en-US" sz="2200" dirty="0"/>
          </a:p>
        </p:txBody>
      </p:sp>
      <p:sp>
        <p:nvSpPr>
          <p:cNvPr id="6" name="Text 4"/>
          <p:cNvSpPr/>
          <p:nvPr/>
        </p:nvSpPr>
        <p:spPr>
          <a:xfrm>
            <a:off x="1645920" y="173736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LANDSCAPE</a:t>
            </a:r>
            <a:endParaRPr lang="en-US" sz="2200" dirty="0"/>
          </a:p>
        </p:txBody>
      </p:sp>
      <p:sp>
        <p:nvSpPr>
          <p:cNvPr id="7" name="Text 5"/>
          <p:cNvSpPr/>
          <p:nvPr/>
        </p:nvSpPr>
        <p:spPr>
          <a:xfrm>
            <a:off x="7315200" y="173736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3 – 6</a:t>
            </a:r>
            <a:endParaRPr lang="en-US" sz="1400" dirty="0"/>
          </a:p>
        </p:txBody>
      </p:sp>
      <p:sp>
        <p:nvSpPr>
          <p:cNvPr id="8" name="Shape 6"/>
          <p:cNvSpPr/>
          <p:nvPr/>
        </p:nvSpPr>
        <p:spPr>
          <a:xfrm>
            <a:off x="731520" y="2267712"/>
            <a:ext cx="7955280" cy="0"/>
          </a:xfrm>
          <a:prstGeom prst="line">
            <a:avLst/>
          </a:prstGeom>
          <a:noFill/>
          <a:ln w="6350">
            <a:solidFill>
              <a:srgbClr val="E5E5E5"/>
            </a:solidFill>
            <a:prstDash val="solid"/>
          </a:ln>
        </p:spPr>
      </p:sp>
      <p:sp>
        <p:nvSpPr>
          <p:cNvPr id="9" name="Shape 7"/>
          <p:cNvSpPr/>
          <p:nvPr/>
        </p:nvSpPr>
        <p:spPr>
          <a:xfrm>
            <a:off x="457200" y="2304288"/>
            <a:ext cx="109728" cy="493776"/>
          </a:xfrm>
          <a:prstGeom prst="rect">
            <a:avLst/>
          </a:prstGeom>
          <a:solidFill>
            <a:srgbClr val="FFB800"/>
          </a:solidFill>
          <a:ln w="12700">
            <a:solidFill>
              <a:srgbClr val="FFB800"/>
            </a:solidFill>
            <a:prstDash val="solid"/>
          </a:ln>
        </p:spPr>
      </p:sp>
      <p:sp>
        <p:nvSpPr>
          <p:cNvPr id="10" name="Text 8"/>
          <p:cNvSpPr/>
          <p:nvPr/>
        </p:nvSpPr>
        <p:spPr>
          <a:xfrm>
            <a:off x="731520" y="2304288"/>
            <a:ext cx="822960" cy="493776"/>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02</a:t>
            </a:r>
            <a:endParaRPr lang="en-US" sz="2200" dirty="0"/>
          </a:p>
        </p:txBody>
      </p:sp>
      <p:sp>
        <p:nvSpPr>
          <p:cNvPr id="11" name="Text 9"/>
          <p:cNvSpPr/>
          <p:nvPr/>
        </p:nvSpPr>
        <p:spPr>
          <a:xfrm>
            <a:off x="1645920" y="230428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MARKET</a:t>
            </a:r>
            <a:endParaRPr lang="en-US" sz="2200" dirty="0"/>
          </a:p>
        </p:txBody>
      </p:sp>
      <p:sp>
        <p:nvSpPr>
          <p:cNvPr id="12" name="Text 10"/>
          <p:cNvSpPr/>
          <p:nvPr/>
        </p:nvSpPr>
        <p:spPr>
          <a:xfrm>
            <a:off x="7315200" y="230428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7 – 11</a:t>
            </a:r>
            <a:endParaRPr lang="en-US" sz="1400" dirty="0"/>
          </a:p>
        </p:txBody>
      </p:sp>
      <p:sp>
        <p:nvSpPr>
          <p:cNvPr id="13" name="Shape 11"/>
          <p:cNvSpPr/>
          <p:nvPr/>
        </p:nvSpPr>
        <p:spPr>
          <a:xfrm>
            <a:off x="731520" y="2834640"/>
            <a:ext cx="7955280" cy="0"/>
          </a:xfrm>
          <a:prstGeom prst="line">
            <a:avLst/>
          </a:prstGeom>
          <a:noFill/>
          <a:ln w="6350">
            <a:solidFill>
              <a:srgbClr val="E5E5E5"/>
            </a:solidFill>
            <a:prstDash val="solid"/>
          </a:ln>
        </p:spPr>
      </p:sp>
      <p:sp>
        <p:nvSpPr>
          <p:cNvPr id="14" name="Shape 12"/>
          <p:cNvSpPr/>
          <p:nvPr/>
        </p:nvSpPr>
        <p:spPr>
          <a:xfrm>
            <a:off x="457200" y="2871216"/>
            <a:ext cx="109728" cy="493776"/>
          </a:xfrm>
          <a:prstGeom prst="rect">
            <a:avLst/>
          </a:prstGeom>
          <a:solidFill>
            <a:srgbClr val="F6693D"/>
          </a:solidFill>
          <a:ln w="12700">
            <a:solidFill>
              <a:srgbClr val="F6693D"/>
            </a:solidFill>
            <a:prstDash val="solid"/>
          </a:ln>
        </p:spPr>
      </p:sp>
      <p:sp>
        <p:nvSpPr>
          <p:cNvPr id="15" name="Text 13"/>
          <p:cNvSpPr/>
          <p:nvPr/>
        </p:nvSpPr>
        <p:spPr>
          <a:xfrm>
            <a:off x="731520" y="2871216"/>
            <a:ext cx="822960" cy="493776"/>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03</a:t>
            </a:r>
            <a:endParaRPr lang="en-US" sz="2200" dirty="0"/>
          </a:p>
        </p:txBody>
      </p:sp>
      <p:sp>
        <p:nvSpPr>
          <p:cNvPr id="16" name="Text 14"/>
          <p:cNvSpPr/>
          <p:nvPr/>
        </p:nvSpPr>
        <p:spPr>
          <a:xfrm>
            <a:off x="1645920" y="2871216"/>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SHIFTS</a:t>
            </a:r>
            <a:endParaRPr lang="en-US" sz="2200" dirty="0"/>
          </a:p>
        </p:txBody>
      </p:sp>
      <p:sp>
        <p:nvSpPr>
          <p:cNvPr id="17" name="Text 15"/>
          <p:cNvSpPr/>
          <p:nvPr/>
        </p:nvSpPr>
        <p:spPr>
          <a:xfrm>
            <a:off x="7315200" y="2871216"/>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12 – 14</a:t>
            </a:r>
            <a:endParaRPr lang="en-US" sz="1400" dirty="0"/>
          </a:p>
        </p:txBody>
      </p:sp>
      <p:sp>
        <p:nvSpPr>
          <p:cNvPr id="18" name="Shape 16"/>
          <p:cNvSpPr/>
          <p:nvPr/>
        </p:nvSpPr>
        <p:spPr>
          <a:xfrm>
            <a:off x="731520" y="3401568"/>
            <a:ext cx="7955280" cy="0"/>
          </a:xfrm>
          <a:prstGeom prst="line">
            <a:avLst/>
          </a:prstGeom>
          <a:noFill/>
          <a:ln w="6350">
            <a:solidFill>
              <a:srgbClr val="E5E5E5"/>
            </a:solidFill>
            <a:prstDash val="solid"/>
          </a:ln>
        </p:spPr>
      </p:sp>
      <p:sp>
        <p:nvSpPr>
          <p:cNvPr id="19" name="Shape 17"/>
          <p:cNvSpPr/>
          <p:nvPr/>
        </p:nvSpPr>
        <p:spPr>
          <a:xfrm>
            <a:off x="457200" y="3438144"/>
            <a:ext cx="109728" cy="493776"/>
          </a:xfrm>
          <a:prstGeom prst="rect">
            <a:avLst/>
          </a:prstGeom>
          <a:solidFill>
            <a:srgbClr val="CC0000"/>
          </a:solidFill>
          <a:ln w="12700">
            <a:solidFill>
              <a:srgbClr val="CC0000"/>
            </a:solidFill>
            <a:prstDash val="solid"/>
          </a:ln>
        </p:spPr>
      </p:sp>
      <p:sp>
        <p:nvSpPr>
          <p:cNvPr id="20" name="Text 18"/>
          <p:cNvSpPr/>
          <p:nvPr/>
        </p:nvSpPr>
        <p:spPr>
          <a:xfrm>
            <a:off x="731520" y="3438144"/>
            <a:ext cx="822960" cy="493776"/>
          </a:xfrm>
          <a:prstGeom prst="rect">
            <a:avLst/>
          </a:prstGeom>
          <a:noFill/>
          <a:ln/>
        </p:spPr>
        <p:txBody>
          <a:bodyPr wrap="square" lIns="0" tIns="0" rIns="0" bIns="0" rtlCol="0" anchor="ctr"/>
          <a:lstStyle/>
          <a:p>
            <a:pPr indent="0" marL="0">
              <a:buNone/>
            </a:pPr>
            <a:r>
              <a:rPr lang="en-US" sz="2200" b="1" dirty="0">
                <a:solidFill>
                  <a:srgbClr val="CC0000"/>
                </a:solidFill>
                <a:latin typeface="Arial Black" pitchFamily="34" charset="0"/>
                <a:ea typeface="Arial Black" pitchFamily="34" charset="-122"/>
                <a:cs typeface="Arial Black" pitchFamily="34" charset="-120"/>
              </a:rPr>
              <a:t>04</a:t>
            </a:r>
            <a:endParaRPr lang="en-US" sz="2200" dirty="0"/>
          </a:p>
        </p:txBody>
      </p:sp>
      <p:sp>
        <p:nvSpPr>
          <p:cNvPr id="21" name="Text 19"/>
          <p:cNvSpPr/>
          <p:nvPr/>
        </p:nvSpPr>
        <p:spPr>
          <a:xfrm>
            <a:off x="1645920" y="3438144"/>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RISKS</a:t>
            </a:r>
            <a:endParaRPr lang="en-US" sz="2200" dirty="0"/>
          </a:p>
        </p:txBody>
      </p:sp>
      <p:sp>
        <p:nvSpPr>
          <p:cNvPr id="22" name="Text 20"/>
          <p:cNvSpPr/>
          <p:nvPr/>
        </p:nvSpPr>
        <p:spPr>
          <a:xfrm>
            <a:off x="7315200" y="3438144"/>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15 – 18</a:t>
            </a:r>
            <a:endParaRPr lang="en-US" sz="1400" dirty="0"/>
          </a:p>
        </p:txBody>
      </p:sp>
      <p:sp>
        <p:nvSpPr>
          <p:cNvPr id="23" name="Shape 21"/>
          <p:cNvSpPr/>
          <p:nvPr/>
        </p:nvSpPr>
        <p:spPr>
          <a:xfrm>
            <a:off x="731520" y="3968496"/>
            <a:ext cx="7955280" cy="0"/>
          </a:xfrm>
          <a:prstGeom prst="line">
            <a:avLst/>
          </a:prstGeom>
          <a:noFill/>
          <a:ln w="6350">
            <a:solidFill>
              <a:srgbClr val="E5E5E5"/>
            </a:solidFill>
            <a:prstDash val="solid"/>
          </a:ln>
        </p:spPr>
      </p:sp>
      <p:sp>
        <p:nvSpPr>
          <p:cNvPr id="24" name="Shape 22"/>
          <p:cNvSpPr/>
          <p:nvPr/>
        </p:nvSpPr>
        <p:spPr>
          <a:xfrm>
            <a:off x="457200" y="4005072"/>
            <a:ext cx="109728" cy="493776"/>
          </a:xfrm>
          <a:prstGeom prst="rect">
            <a:avLst/>
          </a:prstGeom>
          <a:solidFill>
            <a:srgbClr val="6B46C1"/>
          </a:solidFill>
          <a:ln w="12700">
            <a:solidFill>
              <a:srgbClr val="6B46C1"/>
            </a:solidFill>
            <a:prstDash val="solid"/>
          </a:ln>
        </p:spPr>
      </p:sp>
      <p:sp>
        <p:nvSpPr>
          <p:cNvPr id="25" name="Text 23"/>
          <p:cNvSpPr/>
          <p:nvPr/>
        </p:nvSpPr>
        <p:spPr>
          <a:xfrm>
            <a:off x="731520" y="4005072"/>
            <a:ext cx="822960" cy="493776"/>
          </a:xfrm>
          <a:prstGeom prst="rect">
            <a:avLst/>
          </a:prstGeom>
          <a:noFill/>
          <a:ln/>
        </p:spPr>
        <p:txBody>
          <a:bodyPr wrap="square" lIns="0" tIns="0" rIns="0" bIns="0" rtlCol="0" anchor="ctr"/>
          <a:lstStyle/>
          <a:p>
            <a:pPr indent="0" marL="0">
              <a:buNone/>
            </a:pPr>
            <a:r>
              <a:rPr lang="en-US" sz="2200" b="1" dirty="0">
                <a:solidFill>
                  <a:srgbClr val="6B46C1"/>
                </a:solidFill>
                <a:latin typeface="Arial Black" pitchFamily="34" charset="0"/>
                <a:ea typeface="Arial Black" pitchFamily="34" charset="-122"/>
                <a:cs typeface="Arial Black" pitchFamily="34" charset="-120"/>
              </a:rPr>
              <a:t>05</a:t>
            </a:r>
            <a:endParaRPr lang="en-US" sz="2200" dirty="0"/>
          </a:p>
        </p:txBody>
      </p:sp>
      <p:sp>
        <p:nvSpPr>
          <p:cNvPr id="26" name="Text 24"/>
          <p:cNvSpPr/>
          <p:nvPr/>
        </p:nvSpPr>
        <p:spPr>
          <a:xfrm>
            <a:off x="1645920" y="4005072"/>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FRONTIER</a:t>
            </a:r>
            <a:endParaRPr lang="en-US" sz="2200" dirty="0"/>
          </a:p>
        </p:txBody>
      </p:sp>
      <p:sp>
        <p:nvSpPr>
          <p:cNvPr id="27" name="Text 25"/>
          <p:cNvSpPr/>
          <p:nvPr/>
        </p:nvSpPr>
        <p:spPr>
          <a:xfrm>
            <a:off x="7315200" y="4005072"/>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19 – 22</a:t>
            </a:r>
            <a:endParaRPr lang="en-US" sz="1400" dirty="0"/>
          </a:p>
        </p:txBody>
      </p:sp>
      <p:sp>
        <p:nvSpPr>
          <p:cNvPr id="28" name="Shape 26"/>
          <p:cNvSpPr/>
          <p:nvPr/>
        </p:nvSpPr>
        <p:spPr>
          <a:xfrm>
            <a:off x="731520" y="4535424"/>
            <a:ext cx="7955280" cy="0"/>
          </a:xfrm>
          <a:prstGeom prst="line">
            <a:avLst/>
          </a:prstGeom>
          <a:noFill/>
          <a:ln w="6350">
            <a:solidFill>
              <a:srgbClr val="E5E5E5"/>
            </a:solidFill>
            <a:prstDash val="solid"/>
          </a:ln>
        </p:spPr>
      </p:sp>
      <p:sp>
        <p:nvSpPr>
          <p:cNvPr id="29" name="Shape 27"/>
          <p:cNvSpPr/>
          <p:nvPr/>
        </p:nvSpPr>
        <p:spPr>
          <a:xfrm>
            <a:off x="457200" y="4572000"/>
            <a:ext cx="109728" cy="493776"/>
          </a:xfrm>
          <a:prstGeom prst="rect">
            <a:avLst/>
          </a:prstGeom>
          <a:solidFill>
            <a:srgbClr val="000000"/>
          </a:solidFill>
          <a:ln w="12700">
            <a:solidFill>
              <a:srgbClr val="000000"/>
            </a:solidFill>
            <a:prstDash val="solid"/>
          </a:ln>
        </p:spPr>
      </p:sp>
      <p:sp>
        <p:nvSpPr>
          <p:cNvPr id="30" name="Text 28"/>
          <p:cNvSpPr/>
          <p:nvPr/>
        </p:nvSpPr>
        <p:spPr>
          <a:xfrm>
            <a:off x="731520" y="4572000"/>
            <a:ext cx="822960" cy="493776"/>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06</a:t>
            </a:r>
            <a:endParaRPr lang="en-US" sz="2200" dirty="0"/>
          </a:p>
        </p:txBody>
      </p:sp>
      <p:sp>
        <p:nvSpPr>
          <p:cNvPr id="31" name="Text 29"/>
          <p:cNvSpPr/>
          <p:nvPr/>
        </p:nvSpPr>
        <p:spPr>
          <a:xfrm>
            <a:off x="1645920" y="457200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TAKEAWAYS</a:t>
            </a:r>
            <a:endParaRPr lang="en-US" sz="2200" dirty="0"/>
          </a:p>
        </p:txBody>
      </p:sp>
      <p:sp>
        <p:nvSpPr>
          <p:cNvPr id="32" name="Text 30"/>
          <p:cNvSpPr/>
          <p:nvPr/>
        </p:nvSpPr>
        <p:spPr>
          <a:xfrm>
            <a:off x="7315200" y="457200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23</a:t>
            </a:r>
            <a:endParaRPr lang="en-US" sz="1400" dirty="0"/>
          </a:p>
        </p:txBody>
      </p:sp>
      <p:sp>
        <p:nvSpPr>
          <p:cNvPr id="33" name="Shape 31"/>
          <p:cNvSpPr/>
          <p:nvPr/>
        </p:nvSpPr>
        <p:spPr>
          <a:xfrm>
            <a:off x="731520" y="5102352"/>
            <a:ext cx="7955280" cy="0"/>
          </a:xfrm>
          <a:prstGeom prst="line">
            <a:avLst/>
          </a:prstGeom>
          <a:noFill/>
          <a:ln w="6350">
            <a:solidFill>
              <a:srgbClr val="E5E5E5"/>
            </a:solidFill>
            <a:prstDash val="solid"/>
          </a:ln>
        </p:spPr>
      </p:sp>
      <p:sp>
        <p:nvSpPr>
          <p:cNvPr id="34" name="Shape 32"/>
          <p:cNvSpPr/>
          <p:nvPr/>
        </p:nvSpPr>
        <p:spPr>
          <a:xfrm>
            <a:off x="457200" y="5138928"/>
            <a:ext cx="109728" cy="493776"/>
          </a:xfrm>
          <a:prstGeom prst="rect">
            <a:avLst/>
          </a:prstGeom>
          <a:solidFill>
            <a:srgbClr val="666666"/>
          </a:solidFill>
          <a:ln w="12700">
            <a:solidFill>
              <a:srgbClr val="666666"/>
            </a:solidFill>
            <a:prstDash val="solid"/>
          </a:ln>
        </p:spPr>
      </p:sp>
      <p:sp>
        <p:nvSpPr>
          <p:cNvPr id="35" name="Text 33"/>
          <p:cNvSpPr/>
          <p:nvPr/>
        </p:nvSpPr>
        <p:spPr>
          <a:xfrm>
            <a:off x="731520" y="5138928"/>
            <a:ext cx="822960" cy="493776"/>
          </a:xfrm>
          <a:prstGeom prst="rect">
            <a:avLst/>
          </a:prstGeom>
          <a:noFill/>
          <a:ln/>
        </p:spPr>
        <p:txBody>
          <a:bodyPr wrap="square" lIns="0" tIns="0" rIns="0" bIns="0" rtlCol="0" anchor="ctr"/>
          <a:lstStyle/>
          <a:p>
            <a:pPr indent="0" marL="0">
              <a:buNone/>
            </a:pPr>
            <a:r>
              <a:rPr lang="en-US" sz="2200" b="1" dirty="0">
                <a:solidFill>
                  <a:srgbClr val="666666"/>
                </a:solidFill>
                <a:latin typeface="Arial Black" pitchFamily="34" charset="0"/>
                <a:ea typeface="Arial Black" pitchFamily="34" charset="-122"/>
                <a:cs typeface="Arial Black" pitchFamily="34" charset="-120"/>
              </a:rPr>
              <a:t>07</a:t>
            </a:r>
            <a:endParaRPr lang="en-US" sz="2200" dirty="0"/>
          </a:p>
        </p:txBody>
      </p:sp>
      <p:sp>
        <p:nvSpPr>
          <p:cNvPr id="36" name="Text 34"/>
          <p:cNvSpPr/>
          <p:nvPr/>
        </p:nvSpPr>
        <p:spPr>
          <a:xfrm>
            <a:off x="1645920" y="513892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APPENDIX</a:t>
            </a:r>
            <a:endParaRPr lang="en-US" sz="2200" dirty="0"/>
          </a:p>
        </p:txBody>
      </p:sp>
      <p:sp>
        <p:nvSpPr>
          <p:cNvPr id="37" name="Text 35"/>
          <p:cNvSpPr/>
          <p:nvPr/>
        </p:nvSpPr>
        <p:spPr>
          <a:xfrm>
            <a:off x="7315200" y="513892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24 – 25</a:t>
            </a:r>
            <a:endParaRPr lang="en-US" sz="1400" dirty="0"/>
          </a:p>
        </p:txBody>
      </p:sp>
      <p:sp>
        <p:nvSpPr>
          <p:cNvPr id="38" name="Text 3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a:t>
            </a:r>
            <a:endParaRPr lang="en-US" sz="700" dirty="0"/>
          </a:p>
        </p:txBody>
      </p:sp>
      <p:sp>
        <p:nvSpPr>
          <p:cNvPr id="39" name="Shape 37"/>
          <p:cNvSpPr/>
          <p:nvPr/>
        </p:nvSpPr>
        <p:spPr>
          <a:xfrm>
            <a:off x="0" y="6286500"/>
            <a:ext cx="9144000" cy="571500"/>
          </a:xfrm>
          <a:prstGeom prst="rect">
            <a:avLst/>
          </a:prstGeom>
          <a:solidFill>
            <a:srgbClr val="000000"/>
          </a:solidFill>
          <a:ln w="12700">
            <a:solidFill>
              <a:srgbClr val="000000"/>
            </a:solidFill>
            <a:prstDash val="solid"/>
          </a:ln>
        </p:spPr>
      </p:sp>
      <p:sp>
        <p:nvSpPr>
          <p:cNvPr id="40" name="Text 3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1" name="Text 3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Why AI matters to markets.</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783080"/>
            <a:ext cx="1097280" cy="1143000"/>
          </a:xfrm>
          <a:prstGeom prst="rect">
            <a:avLst/>
          </a:prstGeom>
          <a:solidFill>
            <a:srgbClr val="F6693D"/>
          </a:solidFill>
          <a:ln w="12700">
            <a:solidFill>
              <a:srgbClr val="F6693D"/>
            </a:solidFill>
            <a:prstDash val="solid"/>
          </a:ln>
        </p:spPr>
      </p:sp>
      <p:sp>
        <p:nvSpPr>
          <p:cNvPr id="7" name="Text 5"/>
          <p:cNvSpPr/>
          <p:nvPr/>
        </p:nvSpPr>
        <p:spPr>
          <a:xfrm>
            <a:off x="457200" y="178308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01</a:t>
            </a:r>
            <a:endParaRPr lang="en-US" sz="4200" dirty="0"/>
          </a:p>
        </p:txBody>
      </p:sp>
      <p:sp>
        <p:nvSpPr>
          <p:cNvPr id="8" name="Text 6"/>
          <p:cNvSpPr/>
          <p:nvPr/>
        </p:nvSpPr>
        <p:spPr>
          <a:xfrm>
            <a:off x="1783080" y="182880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The largest capex cycle in history.</a:t>
            </a:r>
            <a:endParaRPr lang="en-US" sz="1800" dirty="0"/>
          </a:p>
        </p:txBody>
      </p:sp>
      <p:sp>
        <p:nvSpPr>
          <p:cNvPr id="9" name="Text 7"/>
          <p:cNvSpPr/>
          <p:nvPr/>
        </p:nvSpPr>
        <p:spPr>
          <a:xfrm>
            <a:off x="1783080" y="228600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Big 5 hyperscalers are pouring roughly $750B into AI infrastructure in 2026 alone — more than the entire US energy buildout at its peak, and now over half debt- or lease-financed.</a:t>
            </a:r>
            <a:endParaRPr lang="en-US" sz="1250" dirty="0"/>
          </a:p>
        </p:txBody>
      </p:sp>
      <p:sp>
        <p:nvSpPr>
          <p:cNvPr id="10" name="Shape 8"/>
          <p:cNvSpPr/>
          <p:nvPr/>
        </p:nvSpPr>
        <p:spPr>
          <a:xfrm>
            <a:off x="457200" y="3108960"/>
            <a:ext cx="1097280" cy="1143000"/>
          </a:xfrm>
          <a:prstGeom prst="rect">
            <a:avLst/>
          </a:prstGeom>
          <a:solidFill>
            <a:srgbClr val="008B8B"/>
          </a:solidFill>
          <a:ln w="12700">
            <a:solidFill>
              <a:srgbClr val="008B8B"/>
            </a:solidFill>
            <a:prstDash val="solid"/>
          </a:ln>
        </p:spPr>
      </p:sp>
      <p:sp>
        <p:nvSpPr>
          <p:cNvPr id="11" name="Text 9"/>
          <p:cNvSpPr/>
          <p:nvPr/>
        </p:nvSpPr>
        <p:spPr>
          <a:xfrm>
            <a:off x="457200" y="310896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02</a:t>
            </a:r>
            <a:endParaRPr lang="en-US" sz="4200" dirty="0"/>
          </a:p>
        </p:txBody>
      </p:sp>
      <p:sp>
        <p:nvSpPr>
          <p:cNvPr id="12" name="Text 10"/>
          <p:cNvSpPr/>
          <p:nvPr/>
        </p:nvSpPr>
        <p:spPr>
          <a:xfrm>
            <a:off x="1783080" y="315468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touches every layer of the economy.</a:t>
            </a:r>
            <a:endParaRPr lang="en-US" sz="1800" dirty="0"/>
          </a:p>
        </p:txBody>
      </p:sp>
      <p:sp>
        <p:nvSpPr>
          <p:cNvPr id="13" name="Text 11"/>
          <p:cNvSpPr/>
          <p:nvPr/>
        </p:nvSpPr>
        <p:spPr>
          <a:xfrm>
            <a:off x="1783080" y="361188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From raw silicon and power generation through data centers, models, and the apps on your phone — AI is now the connective tissue of modern business.</a:t>
            </a:r>
            <a:endParaRPr lang="en-US" sz="1250" dirty="0"/>
          </a:p>
        </p:txBody>
      </p:sp>
      <p:sp>
        <p:nvSpPr>
          <p:cNvPr id="14" name="Shape 12"/>
          <p:cNvSpPr/>
          <p:nvPr/>
        </p:nvSpPr>
        <p:spPr>
          <a:xfrm>
            <a:off x="457200" y="4434840"/>
            <a:ext cx="1097280" cy="1143000"/>
          </a:xfrm>
          <a:prstGeom prst="rect">
            <a:avLst/>
          </a:prstGeom>
          <a:solidFill>
            <a:srgbClr val="FFB800"/>
          </a:solidFill>
          <a:ln w="12700">
            <a:solidFill>
              <a:srgbClr val="FFB800"/>
            </a:solidFill>
            <a:prstDash val="solid"/>
          </a:ln>
        </p:spPr>
      </p:sp>
      <p:sp>
        <p:nvSpPr>
          <p:cNvPr id="15" name="Text 13"/>
          <p:cNvSpPr/>
          <p:nvPr/>
        </p:nvSpPr>
        <p:spPr>
          <a:xfrm>
            <a:off x="457200" y="443484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03</a:t>
            </a:r>
            <a:endParaRPr lang="en-US" sz="4200" dirty="0"/>
          </a:p>
        </p:txBody>
      </p:sp>
      <p:sp>
        <p:nvSpPr>
          <p:cNvPr id="16" name="Text 14"/>
          <p:cNvSpPr/>
          <p:nvPr/>
        </p:nvSpPr>
        <p:spPr>
          <a:xfrm>
            <a:off x="1783080" y="448056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is repricing everything — in both directions.</a:t>
            </a:r>
            <a:endParaRPr lang="en-US" sz="1800" dirty="0"/>
          </a:p>
        </p:txBody>
      </p:sp>
      <p:sp>
        <p:nvSpPr>
          <p:cNvPr id="17" name="Text 15"/>
          <p:cNvSpPr/>
          <p:nvPr/>
        </p:nvSpPr>
        <p:spPr>
          <a:xfrm>
            <a:off x="1783080" y="493776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The same wave that lifts semis, memory, and power is cracking software seat models, content moats, and legacy services. Winners and losers, inside one theme.</a:t>
            </a:r>
            <a:endParaRPr lang="en-US" sz="1250" dirty="0"/>
          </a:p>
        </p:txBody>
      </p:sp>
      <p:sp>
        <p:nvSpPr>
          <p:cNvPr id="18" name="Text 1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CreditSights / MUFG hyperscaler capex 2026 estimates; Jensen Huang (Sept 2025); Strategy Research.</a:t>
            </a:r>
            <a:endParaRPr lang="en-US" sz="700" dirty="0"/>
          </a:p>
        </p:txBody>
      </p:sp>
      <p:sp>
        <p:nvSpPr>
          <p:cNvPr id="19" name="Shape 17"/>
          <p:cNvSpPr/>
          <p:nvPr/>
        </p:nvSpPr>
        <p:spPr>
          <a:xfrm>
            <a:off x="0" y="6286500"/>
            <a:ext cx="9144000" cy="571500"/>
          </a:xfrm>
          <a:prstGeom prst="rect">
            <a:avLst/>
          </a:prstGeom>
          <a:solidFill>
            <a:srgbClr val="000000"/>
          </a:solidFill>
          <a:ln w="12700">
            <a:solidFill>
              <a:srgbClr val="000000"/>
            </a:solidFill>
            <a:prstDash val="solid"/>
          </a:ln>
        </p:spPr>
      </p:sp>
      <p:sp>
        <p:nvSpPr>
          <p:cNvPr id="20" name="Text 1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Seventy years of AI in six steps — and we are now in step six</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Software that learns from data, reasons through problems, and — increasingly — takes action without human direction.</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640080" y="2011680"/>
            <a:ext cx="7863840" cy="0"/>
          </a:xfrm>
          <a:prstGeom prst="line">
            <a:avLst/>
          </a:prstGeom>
          <a:noFill/>
          <a:ln w="31750">
            <a:solidFill>
              <a:srgbClr val="666666"/>
            </a:solidFill>
            <a:prstDash val="solid"/>
          </a:ln>
        </p:spPr>
      </p:sp>
      <p:sp>
        <p:nvSpPr>
          <p:cNvPr id="8" name="Shape 6"/>
          <p:cNvSpPr/>
          <p:nvPr/>
        </p:nvSpPr>
        <p:spPr>
          <a:xfrm>
            <a:off x="1176528" y="1892808"/>
            <a:ext cx="237744" cy="237744"/>
          </a:xfrm>
          <a:prstGeom prst="ellipse">
            <a:avLst/>
          </a:prstGeom>
          <a:solidFill>
            <a:srgbClr val="666666"/>
          </a:solidFill>
          <a:ln w="19050">
            <a:solidFill>
              <a:srgbClr val="FFFFFF"/>
            </a:solidFill>
            <a:prstDash val="solid"/>
          </a:ln>
        </p:spPr>
      </p:sp>
      <p:sp>
        <p:nvSpPr>
          <p:cNvPr id="9" name="Shape 7"/>
          <p:cNvSpPr/>
          <p:nvPr/>
        </p:nvSpPr>
        <p:spPr>
          <a:xfrm>
            <a:off x="666293" y="2212848"/>
            <a:ext cx="1258214" cy="3291840"/>
          </a:xfrm>
          <a:prstGeom prst="rect">
            <a:avLst/>
          </a:prstGeom>
          <a:solidFill>
            <a:srgbClr val="F9F9F9"/>
          </a:solidFill>
          <a:ln w="6350">
            <a:solidFill>
              <a:srgbClr val="E5E5E5"/>
            </a:solidFill>
            <a:prstDash val="solid"/>
          </a:ln>
        </p:spPr>
      </p:sp>
      <p:sp>
        <p:nvSpPr>
          <p:cNvPr id="10" name="Shape 8"/>
          <p:cNvSpPr/>
          <p:nvPr/>
        </p:nvSpPr>
        <p:spPr>
          <a:xfrm>
            <a:off x="666293" y="2212848"/>
            <a:ext cx="54864" cy="3291840"/>
          </a:xfrm>
          <a:prstGeom prst="rect">
            <a:avLst/>
          </a:prstGeom>
          <a:solidFill>
            <a:srgbClr val="666666"/>
          </a:solidFill>
          <a:ln w="12700">
            <a:solidFill>
              <a:srgbClr val="666666"/>
            </a:solidFill>
            <a:prstDash val="solid"/>
          </a:ln>
        </p:spPr>
      </p:sp>
      <p:sp>
        <p:nvSpPr>
          <p:cNvPr id="11" name="Text 9"/>
          <p:cNvSpPr/>
          <p:nvPr/>
        </p:nvSpPr>
        <p:spPr>
          <a:xfrm>
            <a:off x="7943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1950s–80s</a:t>
            </a:r>
            <a:endParaRPr lang="en-US" sz="900" dirty="0"/>
          </a:p>
        </p:txBody>
      </p:sp>
      <p:sp>
        <p:nvSpPr>
          <p:cNvPr id="12" name="Text 10"/>
          <p:cNvSpPr/>
          <p:nvPr/>
        </p:nvSpPr>
        <p:spPr>
          <a:xfrm>
            <a:off x="79430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Symbolic AI</a:t>
            </a:r>
            <a:endParaRPr lang="en-US" sz="1200" dirty="0"/>
          </a:p>
        </p:txBody>
      </p:sp>
      <p:sp>
        <p:nvSpPr>
          <p:cNvPr id="13" name="Text 11"/>
          <p:cNvSpPr/>
          <p:nvPr/>
        </p:nvSpPr>
        <p:spPr>
          <a:xfrm>
            <a:off x="7943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Hand-coded rules. Expert systems with narrow scope.</a:t>
            </a:r>
            <a:endParaRPr lang="en-US" sz="950" dirty="0"/>
          </a:p>
        </p:txBody>
      </p:sp>
      <p:sp>
        <p:nvSpPr>
          <p:cNvPr id="14" name="Shape 12"/>
          <p:cNvSpPr/>
          <p:nvPr/>
        </p:nvSpPr>
        <p:spPr>
          <a:xfrm>
            <a:off x="2487168" y="1892808"/>
            <a:ext cx="237744" cy="237744"/>
          </a:xfrm>
          <a:prstGeom prst="ellipse">
            <a:avLst/>
          </a:prstGeom>
          <a:solidFill>
            <a:srgbClr val="008B8B"/>
          </a:solidFill>
          <a:ln w="19050">
            <a:solidFill>
              <a:srgbClr val="FFFFFF"/>
            </a:solidFill>
            <a:prstDash val="solid"/>
          </a:ln>
        </p:spPr>
      </p:sp>
      <p:sp>
        <p:nvSpPr>
          <p:cNvPr id="15" name="Shape 13"/>
          <p:cNvSpPr/>
          <p:nvPr/>
        </p:nvSpPr>
        <p:spPr>
          <a:xfrm>
            <a:off x="1976933" y="2212848"/>
            <a:ext cx="1258214" cy="3291840"/>
          </a:xfrm>
          <a:prstGeom prst="rect">
            <a:avLst/>
          </a:prstGeom>
          <a:solidFill>
            <a:srgbClr val="F9F9F9"/>
          </a:solidFill>
          <a:ln w="6350">
            <a:solidFill>
              <a:srgbClr val="E5E5E5"/>
            </a:solidFill>
            <a:prstDash val="solid"/>
          </a:ln>
        </p:spPr>
      </p:sp>
      <p:sp>
        <p:nvSpPr>
          <p:cNvPr id="16" name="Shape 14"/>
          <p:cNvSpPr/>
          <p:nvPr/>
        </p:nvSpPr>
        <p:spPr>
          <a:xfrm>
            <a:off x="1976933" y="2212848"/>
            <a:ext cx="54864" cy="3291840"/>
          </a:xfrm>
          <a:prstGeom prst="rect">
            <a:avLst/>
          </a:prstGeom>
          <a:solidFill>
            <a:srgbClr val="008B8B"/>
          </a:solidFill>
          <a:ln w="12700">
            <a:solidFill>
              <a:srgbClr val="008B8B"/>
            </a:solidFill>
            <a:prstDash val="solid"/>
          </a:ln>
        </p:spPr>
      </p:sp>
      <p:sp>
        <p:nvSpPr>
          <p:cNvPr id="17" name="Text 15"/>
          <p:cNvSpPr/>
          <p:nvPr/>
        </p:nvSpPr>
        <p:spPr>
          <a:xfrm>
            <a:off x="210494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1990s–2000s</a:t>
            </a:r>
            <a:endParaRPr lang="en-US" sz="900" dirty="0"/>
          </a:p>
        </p:txBody>
      </p:sp>
      <p:sp>
        <p:nvSpPr>
          <p:cNvPr id="18" name="Text 16"/>
          <p:cNvSpPr/>
          <p:nvPr/>
        </p:nvSpPr>
        <p:spPr>
          <a:xfrm>
            <a:off x="210494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Machine Learning</a:t>
            </a:r>
            <a:endParaRPr lang="en-US" sz="1200" dirty="0"/>
          </a:p>
        </p:txBody>
      </p:sp>
      <p:sp>
        <p:nvSpPr>
          <p:cNvPr id="19" name="Text 17"/>
          <p:cNvSpPr/>
          <p:nvPr/>
        </p:nvSpPr>
        <p:spPr>
          <a:xfrm>
            <a:off x="210494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Systems learn patterns from data, not rules.</a:t>
            </a:r>
            <a:endParaRPr lang="en-US" sz="950" dirty="0"/>
          </a:p>
        </p:txBody>
      </p:sp>
      <p:sp>
        <p:nvSpPr>
          <p:cNvPr id="20" name="Shape 18"/>
          <p:cNvSpPr/>
          <p:nvPr/>
        </p:nvSpPr>
        <p:spPr>
          <a:xfrm>
            <a:off x="3797808" y="1892808"/>
            <a:ext cx="237744" cy="237744"/>
          </a:xfrm>
          <a:prstGeom prst="ellipse">
            <a:avLst/>
          </a:prstGeom>
          <a:solidFill>
            <a:srgbClr val="FFB800"/>
          </a:solidFill>
          <a:ln w="19050">
            <a:solidFill>
              <a:srgbClr val="FFFFFF"/>
            </a:solidFill>
            <a:prstDash val="solid"/>
          </a:ln>
        </p:spPr>
      </p:sp>
      <p:sp>
        <p:nvSpPr>
          <p:cNvPr id="21" name="Shape 19"/>
          <p:cNvSpPr/>
          <p:nvPr/>
        </p:nvSpPr>
        <p:spPr>
          <a:xfrm>
            <a:off x="3287573" y="2212848"/>
            <a:ext cx="1258214" cy="3291840"/>
          </a:xfrm>
          <a:prstGeom prst="rect">
            <a:avLst/>
          </a:prstGeom>
          <a:solidFill>
            <a:srgbClr val="F9F9F9"/>
          </a:solidFill>
          <a:ln w="6350">
            <a:solidFill>
              <a:srgbClr val="E5E5E5"/>
            </a:solidFill>
            <a:prstDash val="solid"/>
          </a:ln>
        </p:spPr>
      </p:sp>
      <p:sp>
        <p:nvSpPr>
          <p:cNvPr id="22" name="Shape 20"/>
          <p:cNvSpPr/>
          <p:nvPr/>
        </p:nvSpPr>
        <p:spPr>
          <a:xfrm>
            <a:off x="3287573" y="2212848"/>
            <a:ext cx="54864" cy="3291840"/>
          </a:xfrm>
          <a:prstGeom prst="rect">
            <a:avLst/>
          </a:prstGeom>
          <a:solidFill>
            <a:srgbClr val="FFB800"/>
          </a:solidFill>
          <a:ln w="12700">
            <a:solidFill>
              <a:srgbClr val="FFB800"/>
            </a:solidFill>
            <a:prstDash val="solid"/>
          </a:ln>
        </p:spPr>
      </p:sp>
      <p:sp>
        <p:nvSpPr>
          <p:cNvPr id="23" name="Text 21"/>
          <p:cNvSpPr/>
          <p:nvPr/>
        </p:nvSpPr>
        <p:spPr>
          <a:xfrm>
            <a:off x="341558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2012</a:t>
            </a:r>
            <a:endParaRPr lang="en-US" sz="900" dirty="0"/>
          </a:p>
        </p:txBody>
      </p:sp>
      <p:sp>
        <p:nvSpPr>
          <p:cNvPr id="24" name="Text 22"/>
          <p:cNvSpPr/>
          <p:nvPr/>
        </p:nvSpPr>
        <p:spPr>
          <a:xfrm>
            <a:off x="341558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Deep Learning</a:t>
            </a:r>
            <a:endParaRPr lang="en-US" sz="1200" dirty="0"/>
          </a:p>
        </p:txBody>
      </p:sp>
      <p:sp>
        <p:nvSpPr>
          <p:cNvPr id="25" name="Text 23"/>
          <p:cNvSpPr/>
          <p:nvPr/>
        </p:nvSpPr>
        <p:spPr>
          <a:xfrm>
            <a:off x="341558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Neural networks go deep. AlexNet, the first breakthrough.</a:t>
            </a:r>
            <a:endParaRPr lang="en-US" sz="950" dirty="0"/>
          </a:p>
        </p:txBody>
      </p:sp>
      <p:sp>
        <p:nvSpPr>
          <p:cNvPr id="26" name="Shape 24"/>
          <p:cNvSpPr/>
          <p:nvPr/>
        </p:nvSpPr>
        <p:spPr>
          <a:xfrm>
            <a:off x="5108448" y="1892808"/>
            <a:ext cx="237744" cy="237744"/>
          </a:xfrm>
          <a:prstGeom prst="ellipse">
            <a:avLst/>
          </a:prstGeom>
          <a:solidFill>
            <a:srgbClr val="F6693D"/>
          </a:solidFill>
          <a:ln w="19050">
            <a:solidFill>
              <a:srgbClr val="FFFFFF"/>
            </a:solidFill>
            <a:prstDash val="solid"/>
          </a:ln>
        </p:spPr>
      </p:sp>
      <p:sp>
        <p:nvSpPr>
          <p:cNvPr id="27" name="Shape 25"/>
          <p:cNvSpPr/>
          <p:nvPr/>
        </p:nvSpPr>
        <p:spPr>
          <a:xfrm>
            <a:off x="4598213" y="2212848"/>
            <a:ext cx="1258214" cy="3291840"/>
          </a:xfrm>
          <a:prstGeom prst="rect">
            <a:avLst/>
          </a:prstGeom>
          <a:solidFill>
            <a:srgbClr val="FFF8F3"/>
          </a:solidFill>
          <a:ln w="6350">
            <a:solidFill>
              <a:srgbClr val="E5E5E5"/>
            </a:solidFill>
            <a:prstDash val="solid"/>
          </a:ln>
        </p:spPr>
      </p:sp>
      <p:sp>
        <p:nvSpPr>
          <p:cNvPr id="28" name="Shape 26"/>
          <p:cNvSpPr/>
          <p:nvPr/>
        </p:nvSpPr>
        <p:spPr>
          <a:xfrm>
            <a:off x="4598213" y="2212848"/>
            <a:ext cx="54864" cy="3291840"/>
          </a:xfrm>
          <a:prstGeom prst="rect">
            <a:avLst/>
          </a:prstGeom>
          <a:solidFill>
            <a:srgbClr val="F6693D"/>
          </a:solidFill>
          <a:ln w="12700">
            <a:solidFill>
              <a:srgbClr val="F6693D"/>
            </a:solidFill>
            <a:prstDash val="solid"/>
          </a:ln>
        </p:spPr>
      </p:sp>
      <p:sp>
        <p:nvSpPr>
          <p:cNvPr id="29" name="Text 27"/>
          <p:cNvSpPr/>
          <p:nvPr/>
        </p:nvSpPr>
        <p:spPr>
          <a:xfrm>
            <a:off x="472622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2022–24</a:t>
            </a:r>
            <a:endParaRPr lang="en-US" sz="900" dirty="0"/>
          </a:p>
        </p:txBody>
      </p:sp>
      <p:sp>
        <p:nvSpPr>
          <p:cNvPr id="30" name="Text 28"/>
          <p:cNvSpPr/>
          <p:nvPr/>
        </p:nvSpPr>
        <p:spPr>
          <a:xfrm>
            <a:off x="472622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LLM chatbots</a:t>
            </a:r>
            <a:endParaRPr lang="en-US" sz="1300" dirty="0"/>
          </a:p>
        </p:txBody>
      </p:sp>
      <p:sp>
        <p:nvSpPr>
          <p:cNvPr id="31" name="Text 29"/>
          <p:cNvSpPr/>
          <p:nvPr/>
        </p:nvSpPr>
        <p:spPr>
          <a:xfrm>
            <a:off x="472622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ChatGPT hits 100M users in 2 months. Claude, Gemini follow.</a:t>
            </a:r>
            <a:endParaRPr lang="en-US" sz="950" dirty="0"/>
          </a:p>
        </p:txBody>
      </p:sp>
      <p:sp>
        <p:nvSpPr>
          <p:cNvPr id="32" name="Shape 30"/>
          <p:cNvSpPr/>
          <p:nvPr/>
        </p:nvSpPr>
        <p:spPr>
          <a:xfrm>
            <a:off x="6419088" y="1892808"/>
            <a:ext cx="237744" cy="237744"/>
          </a:xfrm>
          <a:prstGeom prst="ellipse">
            <a:avLst/>
          </a:prstGeom>
          <a:solidFill>
            <a:srgbClr val="E8478D"/>
          </a:solidFill>
          <a:ln w="19050">
            <a:solidFill>
              <a:srgbClr val="FFFFFF"/>
            </a:solidFill>
            <a:prstDash val="solid"/>
          </a:ln>
        </p:spPr>
      </p:sp>
      <p:sp>
        <p:nvSpPr>
          <p:cNvPr id="33" name="Shape 31"/>
          <p:cNvSpPr/>
          <p:nvPr/>
        </p:nvSpPr>
        <p:spPr>
          <a:xfrm>
            <a:off x="5908853" y="2212848"/>
            <a:ext cx="1258214" cy="3291840"/>
          </a:xfrm>
          <a:prstGeom prst="rect">
            <a:avLst/>
          </a:prstGeom>
          <a:solidFill>
            <a:srgbClr val="F9F9F9"/>
          </a:solidFill>
          <a:ln w="6350">
            <a:solidFill>
              <a:srgbClr val="E5E5E5"/>
            </a:solidFill>
            <a:prstDash val="solid"/>
          </a:ln>
        </p:spPr>
      </p:sp>
      <p:sp>
        <p:nvSpPr>
          <p:cNvPr id="34" name="Shape 32"/>
          <p:cNvSpPr/>
          <p:nvPr/>
        </p:nvSpPr>
        <p:spPr>
          <a:xfrm>
            <a:off x="5908853" y="2212848"/>
            <a:ext cx="54864" cy="3291840"/>
          </a:xfrm>
          <a:prstGeom prst="rect">
            <a:avLst/>
          </a:prstGeom>
          <a:solidFill>
            <a:srgbClr val="E8478D"/>
          </a:solidFill>
          <a:ln w="12700">
            <a:solidFill>
              <a:srgbClr val="E8478D"/>
            </a:solidFill>
            <a:prstDash val="solid"/>
          </a:ln>
        </p:spPr>
      </p:sp>
      <p:sp>
        <p:nvSpPr>
          <p:cNvPr id="35" name="Text 33"/>
          <p:cNvSpPr/>
          <p:nvPr/>
        </p:nvSpPr>
        <p:spPr>
          <a:xfrm>
            <a:off x="603686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2023–24</a:t>
            </a:r>
            <a:endParaRPr lang="en-US" sz="900" dirty="0"/>
          </a:p>
        </p:txBody>
      </p:sp>
      <p:sp>
        <p:nvSpPr>
          <p:cNvPr id="36" name="Text 34"/>
          <p:cNvSpPr/>
          <p:nvPr/>
        </p:nvSpPr>
        <p:spPr>
          <a:xfrm>
            <a:off x="603686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Reasoning</a:t>
            </a:r>
            <a:endParaRPr lang="en-US" sz="1200" dirty="0"/>
          </a:p>
        </p:txBody>
      </p:sp>
      <p:sp>
        <p:nvSpPr>
          <p:cNvPr id="37" name="Text 35"/>
          <p:cNvSpPr/>
          <p:nvPr/>
        </p:nvSpPr>
        <p:spPr>
          <a:xfrm>
            <a:off x="603686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Multi-step logic, chain-of-thought. o1, DeepSeek R1.</a:t>
            </a:r>
            <a:endParaRPr lang="en-US" sz="950" dirty="0"/>
          </a:p>
        </p:txBody>
      </p:sp>
      <p:sp>
        <p:nvSpPr>
          <p:cNvPr id="38" name="Shape 36"/>
          <p:cNvSpPr/>
          <p:nvPr/>
        </p:nvSpPr>
        <p:spPr>
          <a:xfrm>
            <a:off x="7729728" y="1892808"/>
            <a:ext cx="237744" cy="237744"/>
          </a:xfrm>
          <a:prstGeom prst="ellipse">
            <a:avLst/>
          </a:prstGeom>
          <a:solidFill>
            <a:srgbClr val="CC0000"/>
          </a:solidFill>
          <a:ln w="19050">
            <a:solidFill>
              <a:srgbClr val="FFFFFF"/>
            </a:solidFill>
            <a:prstDash val="solid"/>
          </a:ln>
        </p:spPr>
      </p:sp>
      <p:sp>
        <p:nvSpPr>
          <p:cNvPr id="39" name="Shape 37"/>
          <p:cNvSpPr/>
          <p:nvPr/>
        </p:nvSpPr>
        <p:spPr>
          <a:xfrm>
            <a:off x="7219493" y="2212848"/>
            <a:ext cx="1258214" cy="3291840"/>
          </a:xfrm>
          <a:prstGeom prst="rect">
            <a:avLst/>
          </a:prstGeom>
          <a:solidFill>
            <a:srgbClr val="FFF8F3"/>
          </a:solidFill>
          <a:ln w="6350">
            <a:solidFill>
              <a:srgbClr val="E5E5E5"/>
            </a:solidFill>
            <a:prstDash val="solid"/>
          </a:ln>
        </p:spPr>
      </p:sp>
      <p:sp>
        <p:nvSpPr>
          <p:cNvPr id="40" name="Shape 38"/>
          <p:cNvSpPr/>
          <p:nvPr/>
        </p:nvSpPr>
        <p:spPr>
          <a:xfrm>
            <a:off x="7219493" y="2212848"/>
            <a:ext cx="54864" cy="3291840"/>
          </a:xfrm>
          <a:prstGeom prst="rect">
            <a:avLst/>
          </a:prstGeom>
          <a:solidFill>
            <a:srgbClr val="CC0000"/>
          </a:solidFill>
          <a:ln w="12700">
            <a:solidFill>
              <a:srgbClr val="CC0000"/>
            </a:solidFill>
            <a:prstDash val="solid"/>
          </a:ln>
        </p:spPr>
      </p:sp>
      <p:sp>
        <p:nvSpPr>
          <p:cNvPr id="41" name="Text 39"/>
          <p:cNvSpPr/>
          <p:nvPr/>
        </p:nvSpPr>
        <p:spPr>
          <a:xfrm>
            <a:off x="73475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2025–26</a:t>
            </a:r>
            <a:endParaRPr lang="en-US" sz="900" dirty="0"/>
          </a:p>
        </p:txBody>
      </p:sp>
      <p:sp>
        <p:nvSpPr>
          <p:cNvPr id="42" name="Text 40"/>
          <p:cNvSpPr/>
          <p:nvPr/>
        </p:nvSpPr>
        <p:spPr>
          <a:xfrm>
            <a:off x="734750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Agentic AI</a:t>
            </a:r>
            <a:endParaRPr lang="en-US" sz="1300" dirty="0"/>
          </a:p>
        </p:txBody>
      </p:sp>
      <p:sp>
        <p:nvSpPr>
          <p:cNvPr id="43" name="Text 41"/>
          <p:cNvSpPr/>
          <p:nvPr/>
        </p:nvSpPr>
        <p:spPr>
          <a:xfrm>
            <a:off x="73475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AI that uses tools and acts autonomously. GPT-5.5, Claude Opus 4.7, Gemini 3.5.</a:t>
            </a:r>
            <a:endParaRPr lang="en-US" sz="950" dirty="0"/>
          </a:p>
        </p:txBody>
      </p:sp>
      <p:sp>
        <p:nvSpPr>
          <p:cNvPr id="44" name="Text 42"/>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a:t>
            </a:r>
            <a:endParaRPr lang="en-US" sz="700" dirty="0"/>
          </a:p>
        </p:txBody>
      </p:sp>
      <p:sp>
        <p:nvSpPr>
          <p:cNvPr id="45" name="Shape 43"/>
          <p:cNvSpPr/>
          <p:nvPr/>
        </p:nvSpPr>
        <p:spPr>
          <a:xfrm>
            <a:off x="0" y="6286500"/>
            <a:ext cx="9144000" cy="571500"/>
          </a:xfrm>
          <a:prstGeom prst="rect">
            <a:avLst/>
          </a:prstGeom>
          <a:solidFill>
            <a:srgbClr val="000000"/>
          </a:solidFill>
          <a:ln w="12700">
            <a:solidFill>
              <a:srgbClr val="000000"/>
            </a:solidFill>
            <a:prstDash val="solid"/>
          </a:ln>
        </p:spPr>
      </p:sp>
      <p:sp>
        <p:nvSpPr>
          <p:cNvPr id="46" name="Text 4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Eleven layers, four power blocs.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Your exposure depends on which layer of the stack you own.</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00200"/>
            <a:ext cx="256032" cy="1097280"/>
          </a:xfrm>
          <a:prstGeom prst="rect">
            <a:avLst/>
          </a:prstGeom>
          <a:solidFill>
            <a:srgbClr val="F6693D"/>
          </a:solidFill>
          <a:ln w="12700">
            <a:solidFill>
              <a:srgbClr val="F6693D"/>
            </a:solidFill>
            <a:prstDash val="solid"/>
          </a:ln>
        </p:spPr>
      </p:sp>
      <p:sp>
        <p:nvSpPr>
          <p:cNvPr id="8" name="Text 6"/>
          <p:cNvSpPr/>
          <p:nvPr/>
        </p:nvSpPr>
        <p:spPr>
          <a:xfrm>
            <a:off x="777240" y="1600200"/>
            <a:ext cx="1280160" cy="1097280"/>
          </a:xfrm>
          <a:prstGeom prst="rect">
            <a:avLst/>
          </a:prstGeom>
          <a:noFill/>
          <a:ln/>
        </p:spPr>
        <p:txBody>
          <a:bodyPr wrap="square" lIns="0" tIns="0" rIns="0" bIns="0" rtlCol="0" anchor="ctr"/>
          <a:lstStyle/>
          <a:p>
            <a:pPr indent="0" marL="0">
              <a:buNone/>
            </a:pPr>
            <a:r>
              <a:rPr lang="en-US" sz="1000" b="1" spc="300" kern="0" dirty="0">
                <a:solidFill>
                  <a:srgbClr val="F6693D"/>
                </a:solidFill>
                <a:latin typeface="Arial" pitchFamily="34" charset="0"/>
                <a:ea typeface="Arial" pitchFamily="34" charset="-122"/>
                <a:cs typeface="Arial" pitchFamily="34" charset="-120"/>
              </a:rPr>
              <a:t>USER</a:t>
            </a:r>
            <a:endParaRPr lang="en-US" sz="1000" dirty="0"/>
          </a:p>
        </p:txBody>
      </p:sp>
      <p:sp>
        <p:nvSpPr>
          <p:cNvPr id="9" name="Shape 7"/>
          <p:cNvSpPr/>
          <p:nvPr/>
        </p:nvSpPr>
        <p:spPr>
          <a:xfrm>
            <a:off x="457200" y="2743200"/>
            <a:ext cx="256032" cy="1097280"/>
          </a:xfrm>
          <a:prstGeom prst="rect">
            <a:avLst/>
          </a:prstGeom>
          <a:solidFill>
            <a:srgbClr val="FFB800"/>
          </a:solidFill>
          <a:ln w="12700">
            <a:solidFill>
              <a:srgbClr val="FFB800"/>
            </a:solidFill>
            <a:prstDash val="solid"/>
          </a:ln>
        </p:spPr>
      </p:sp>
      <p:sp>
        <p:nvSpPr>
          <p:cNvPr id="10" name="Text 8"/>
          <p:cNvSpPr/>
          <p:nvPr/>
        </p:nvSpPr>
        <p:spPr>
          <a:xfrm>
            <a:off x="777240" y="2743200"/>
            <a:ext cx="1280160" cy="1097280"/>
          </a:xfrm>
          <a:prstGeom prst="rect">
            <a:avLst/>
          </a:prstGeom>
          <a:noFill/>
          <a:ln/>
        </p:spPr>
        <p:txBody>
          <a:bodyPr wrap="square" lIns="0" tIns="0" rIns="0" bIns="0" rtlCol="0" anchor="ctr"/>
          <a:lstStyle/>
          <a:p>
            <a:pPr indent="0" marL="0">
              <a:buNone/>
            </a:pPr>
            <a:r>
              <a:rPr lang="en-US" sz="1000" b="1" spc="300" kern="0" dirty="0">
                <a:solidFill>
                  <a:srgbClr val="FFB800"/>
                </a:solidFill>
                <a:latin typeface="Arial" pitchFamily="34" charset="0"/>
                <a:ea typeface="Arial" pitchFamily="34" charset="-122"/>
                <a:cs typeface="Arial" pitchFamily="34" charset="-120"/>
              </a:rPr>
              <a:t>COMPUTE</a:t>
            </a:r>
            <a:endParaRPr lang="en-US" sz="1000" dirty="0"/>
          </a:p>
        </p:txBody>
      </p:sp>
      <p:sp>
        <p:nvSpPr>
          <p:cNvPr id="11" name="Shape 9"/>
          <p:cNvSpPr/>
          <p:nvPr/>
        </p:nvSpPr>
        <p:spPr>
          <a:xfrm>
            <a:off x="457200" y="3886200"/>
            <a:ext cx="256032" cy="1097280"/>
          </a:xfrm>
          <a:prstGeom prst="rect">
            <a:avLst/>
          </a:prstGeom>
          <a:solidFill>
            <a:srgbClr val="008B8B"/>
          </a:solidFill>
          <a:ln w="12700">
            <a:solidFill>
              <a:srgbClr val="008B8B"/>
            </a:solidFill>
            <a:prstDash val="solid"/>
          </a:ln>
        </p:spPr>
      </p:sp>
      <p:sp>
        <p:nvSpPr>
          <p:cNvPr id="12" name="Text 10"/>
          <p:cNvSpPr/>
          <p:nvPr/>
        </p:nvSpPr>
        <p:spPr>
          <a:xfrm>
            <a:off x="777240" y="3886200"/>
            <a:ext cx="1280160" cy="1097280"/>
          </a:xfrm>
          <a:prstGeom prst="rect">
            <a:avLst/>
          </a:prstGeom>
          <a:noFill/>
          <a:ln/>
        </p:spPr>
        <p:txBody>
          <a:bodyPr wrap="square" lIns="0" tIns="0" rIns="0" bIns="0" rtlCol="0" anchor="ctr"/>
          <a:lstStyle/>
          <a:p>
            <a:pPr indent="0" marL="0">
              <a:buNone/>
            </a:pPr>
            <a:r>
              <a:rPr lang="en-US" sz="1000" b="1" spc="300" kern="0" dirty="0">
                <a:solidFill>
                  <a:srgbClr val="008B8B"/>
                </a:solidFill>
                <a:latin typeface="Arial" pitchFamily="34" charset="0"/>
                <a:ea typeface="Arial" pitchFamily="34" charset="-122"/>
                <a:cs typeface="Arial" pitchFamily="34" charset="-120"/>
              </a:rPr>
              <a:t>SILICON</a:t>
            </a:r>
            <a:endParaRPr lang="en-US" sz="1000" dirty="0"/>
          </a:p>
        </p:txBody>
      </p:sp>
      <p:sp>
        <p:nvSpPr>
          <p:cNvPr id="13" name="Shape 11"/>
          <p:cNvSpPr/>
          <p:nvPr/>
        </p:nvSpPr>
        <p:spPr>
          <a:xfrm>
            <a:off x="457200" y="5029200"/>
            <a:ext cx="256032" cy="731520"/>
          </a:xfrm>
          <a:prstGeom prst="rect">
            <a:avLst/>
          </a:prstGeom>
          <a:solidFill>
            <a:srgbClr val="666666"/>
          </a:solidFill>
          <a:ln w="12700">
            <a:solidFill>
              <a:srgbClr val="666666"/>
            </a:solidFill>
            <a:prstDash val="solid"/>
          </a:ln>
        </p:spPr>
      </p:sp>
      <p:sp>
        <p:nvSpPr>
          <p:cNvPr id="14" name="Text 12"/>
          <p:cNvSpPr/>
          <p:nvPr/>
        </p:nvSpPr>
        <p:spPr>
          <a:xfrm>
            <a:off x="777240" y="5029200"/>
            <a:ext cx="1280160" cy="731520"/>
          </a:xfrm>
          <a:prstGeom prst="rect">
            <a:avLst/>
          </a:prstGeom>
          <a:noFill/>
          <a:ln/>
        </p:spPr>
        <p:txBody>
          <a:bodyPr wrap="square" lIns="0" tIns="0" rIns="0" bIns="0" rtlCol="0" anchor="ctr"/>
          <a:lstStyle/>
          <a:p>
            <a:pPr indent="0" marL="0">
              <a:buNone/>
            </a:pPr>
            <a:r>
              <a:rPr lang="en-US" sz="1000" b="1" spc="300" kern="0" dirty="0">
                <a:solidFill>
                  <a:srgbClr val="666666"/>
                </a:solidFill>
                <a:latin typeface="Arial" pitchFamily="34" charset="0"/>
                <a:ea typeface="Arial" pitchFamily="34" charset="-122"/>
                <a:cs typeface="Arial" pitchFamily="34" charset="-120"/>
              </a:rPr>
              <a:t>MATERIALS</a:t>
            </a:r>
            <a:endParaRPr lang="en-US" sz="1000" dirty="0"/>
          </a:p>
        </p:txBody>
      </p:sp>
      <p:sp>
        <p:nvSpPr>
          <p:cNvPr id="15" name="Shape 13"/>
          <p:cNvSpPr/>
          <p:nvPr/>
        </p:nvSpPr>
        <p:spPr>
          <a:xfrm>
            <a:off x="2103120" y="1645920"/>
            <a:ext cx="6583680" cy="320040"/>
          </a:xfrm>
          <a:prstGeom prst="rect">
            <a:avLst/>
          </a:prstGeom>
          <a:solidFill>
            <a:srgbClr val="F9F9F9"/>
          </a:solidFill>
          <a:ln w="3810">
            <a:solidFill>
              <a:srgbClr val="E5E5E5"/>
            </a:solidFill>
            <a:prstDash val="solid"/>
          </a:ln>
        </p:spPr>
      </p:sp>
      <p:sp>
        <p:nvSpPr>
          <p:cNvPr id="16" name="Shape 14"/>
          <p:cNvSpPr/>
          <p:nvPr/>
        </p:nvSpPr>
        <p:spPr>
          <a:xfrm>
            <a:off x="2240280" y="1737360"/>
            <a:ext cx="137160" cy="137160"/>
          </a:xfrm>
          <a:prstGeom prst="ellipse">
            <a:avLst/>
          </a:prstGeom>
          <a:solidFill>
            <a:srgbClr val="F6693D"/>
          </a:solidFill>
          <a:ln w="12700">
            <a:solidFill>
              <a:srgbClr val="F6693D"/>
            </a:solidFill>
            <a:prstDash val="solid"/>
          </a:ln>
        </p:spPr>
      </p:sp>
      <p:sp>
        <p:nvSpPr>
          <p:cNvPr id="17" name="Text 15"/>
          <p:cNvSpPr/>
          <p:nvPr/>
        </p:nvSpPr>
        <p:spPr>
          <a:xfrm>
            <a:off x="2468880" y="1645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Agents</a:t>
            </a:r>
            <a:endParaRPr lang="en-US" sz="1200" dirty="0"/>
          </a:p>
        </p:txBody>
      </p:sp>
      <p:sp>
        <p:nvSpPr>
          <p:cNvPr id="18" name="Text 16"/>
          <p:cNvSpPr/>
          <p:nvPr/>
        </p:nvSpPr>
        <p:spPr>
          <a:xfrm>
            <a:off x="4572000" y="1645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Autonomous AI that acts on your behalf</a:t>
            </a:r>
            <a:endParaRPr lang="en-US" sz="1050" dirty="0"/>
          </a:p>
        </p:txBody>
      </p:sp>
      <p:sp>
        <p:nvSpPr>
          <p:cNvPr id="19" name="Shape 17"/>
          <p:cNvSpPr/>
          <p:nvPr/>
        </p:nvSpPr>
        <p:spPr>
          <a:xfrm>
            <a:off x="2103120" y="2011680"/>
            <a:ext cx="6583680" cy="320040"/>
          </a:xfrm>
          <a:prstGeom prst="rect">
            <a:avLst/>
          </a:prstGeom>
          <a:solidFill>
            <a:srgbClr val="F9F9F9"/>
          </a:solidFill>
          <a:ln w="3810">
            <a:solidFill>
              <a:srgbClr val="E5E5E5"/>
            </a:solidFill>
            <a:prstDash val="solid"/>
          </a:ln>
        </p:spPr>
      </p:sp>
      <p:sp>
        <p:nvSpPr>
          <p:cNvPr id="20" name="Shape 18"/>
          <p:cNvSpPr/>
          <p:nvPr/>
        </p:nvSpPr>
        <p:spPr>
          <a:xfrm>
            <a:off x="2240280" y="2103120"/>
            <a:ext cx="137160" cy="137160"/>
          </a:xfrm>
          <a:prstGeom prst="ellipse">
            <a:avLst/>
          </a:prstGeom>
          <a:solidFill>
            <a:srgbClr val="F6693D"/>
          </a:solidFill>
          <a:ln w="12700">
            <a:solidFill>
              <a:srgbClr val="F6693D"/>
            </a:solidFill>
            <a:prstDash val="solid"/>
          </a:ln>
        </p:spPr>
      </p:sp>
      <p:sp>
        <p:nvSpPr>
          <p:cNvPr id="21" name="Text 19"/>
          <p:cNvSpPr/>
          <p:nvPr/>
        </p:nvSpPr>
        <p:spPr>
          <a:xfrm>
            <a:off x="2468880" y="2011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Apps</a:t>
            </a:r>
            <a:endParaRPr lang="en-US" sz="1200" dirty="0"/>
          </a:p>
        </p:txBody>
      </p:sp>
      <p:sp>
        <p:nvSpPr>
          <p:cNvPr id="22" name="Text 20"/>
          <p:cNvSpPr/>
          <p:nvPr/>
        </p:nvSpPr>
        <p:spPr>
          <a:xfrm>
            <a:off x="4572000" y="2011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Products built on foundation models</a:t>
            </a:r>
            <a:endParaRPr lang="en-US" sz="1050" dirty="0"/>
          </a:p>
        </p:txBody>
      </p:sp>
      <p:sp>
        <p:nvSpPr>
          <p:cNvPr id="23" name="Shape 21"/>
          <p:cNvSpPr/>
          <p:nvPr/>
        </p:nvSpPr>
        <p:spPr>
          <a:xfrm>
            <a:off x="2103120" y="2377440"/>
            <a:ext cx="6583680" cy="320040"/>
          </a:xfrm>
          <a:prstGeom prst="rect">
            <a:avLst/>
          </a:prstGeom>
          <a:solidFill>
            <a:srgbClr val="F9F9F9"/>
          </a:solidFill>
          <a:ln w="3810">
            <a:solidFill>
              <a:srgbClr val="E5E5E5"/>
            </a:solidFill>
            <a:prstDash val="solid"/>
          </a:ln>
        </p:spPr>
      </p:sp>
      <p:sp>
        <p:nvSpPr>
          <p:cNvPr id="24" name="Shape 22"/>
          <p:cNvSpPr/>
          <p:nvPr/>
        </p:nvSpPr>
        <p:spPr>
          <a:xfrm>
            <a:off x="2240280" y="2468880"/>
            <a:ext cx="137160" cy="137160"/>
          </a:xfrm>
          <a:prstGeom prst="ellipse">
            <a:avLst/>
          </a:prstGeom>
          <a:solidFill>
            <a:srgbClr val="F6693D"/>
          </a:solidFill>
          <a:ln w="12700">
            <a:solidFill>
              <a:srgbClr val="F6693D"/>
            </a:solidFill>
            <a:prstDash val="solid"/>
          </a:ln>
        </p:spPr>
      </p:sp>
      <p:sp>
        <p:nvSpPr>
          <p:cNvPr id="25" name="Text 23"/>
          <p:cNvSpPr/>
          <p:nvPr/>
        </p:nvSpPr>
        <p:spPr>
          <a:xfrm>
            <a:off x="2468880" y="2377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Models</a:t>
            </a:r>
            <a:endParaRPr lang="en-US" sz="1200" dirty="0"/>
          </a:p>
        </p:txBody>
      </p:sp>
      <p:sp>
        <p:nvSpPr>
          <p:cNvPr id="26" name="Text 24"/>
          <p:cNvSpPr/>
          <p:nvPr/>
        </p:nvSpPr>
        <p:spPr>
          <a:xfrm>
            <a:off x="4572000" y="2377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intelligence layer</a:t>
            </a:r>
            <a:endParaRPr lang="en-US" sz="1050" dirty="0"/>
          </a:p>
        </p:txBody>
      </p:sp>
      <p:sp>
        <p:nvSpPr>
          <p:cNvPr id="27" name="Shape 25"/>
          <p:cNvSpPr/>
          <p:nvPr/>
        </p:nvSpPr>
        <p:spPr>
          <a:xfrm>
            <a:off x="2103120" y="2788920"/>
            <a:ext cx="6583680" cy="320040"/>
          </a:xfrm>
          <a:prstGeom prst="rect">
            <a:avLst/>
          </a:prstGeom>
          <a:solidFill>
            <a:srgbClr val="F9F9F9"/>
          </a:solidFill>
          <a:ln w="3810">
            <a:solidFill>
              <a:srgbClr val="E5E5E5"/>
            </a:solidFill>
            <a:prstDash val="solid"/>
          </a:ln>
        </p:spPr>
      </p:sp>
      <p:sp>
        <p:nvSpPr>
          <p:cNvPr id="28" name="Shape 26"/>
          <p:cNvSpPr/>
          <p:nvPr/>
        </p:nvSpPr>
        <p:spPr>
          <a:xfrm>
            <a:off x="2240280" y="2880360"/>
            <a:ext cx="137160" cy="137160"/>
          </a:xfrm>
          <a:prstGeom prst="ellipse">
            <a:avLst/>
          </a:prstGeom>
          <a:solidFill>
            <a:srgbClr val="FFB800"/>
          </a:solidFill>
          <a:ln w="12700">
            <a:solidFill>
              <a:srgbClr val="FFB800"/>
            </a:solidFill>
            <a:prstDash val="solid"/>
          </a:ln>
        </p:spPr>
      </p:sp>
      <p:sp>
        <p:nvSpPr>
          <p:cNvPr id="29" name="Text 27"/>
          <p:cNvSpPr/>
          <p:nvPr/>
        </p:nvSpPr>
        <p:spPr>
          <a:xfrm>
            <a:off x="2468880" y="2788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Data centers</a:t>
            </a:r>
            <a:endParaRPr lang="en-US" sz="1200" dirty="0"/>
          </a:p>
        </p:txBody>
      </p:sp>
      <p:sp>
        <p:nvSpPr>
          <p:cNvPr id="30" name="Text 28"/>
          <p:cNvSpPr/>
          <p:nvPr/>
        </p:nvSpPr>
        <p:spPr>
          <a:xfrm>
            <a:off x="4572000" y="2788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Warehouses of compute</a:t>
            </a:r>
            <a:endParaRPr lang="en-US" sz="1050" dirty="0"/>
          </a:p>
        </p:txBody>
      </p:sp>
      <p:sp>
        <p:nvSpPr>
          <p:cNvPr id="31" name="Shape 29"/>
          <p:cNvSpPr/>
          <p:nvPr/>
        </p:nvSpPr>
        <p:spPr>
          <a:xfrm>
            <a:off x="2103120" y="3154680"/>
            <a:ext cx="6583680" cy="320040"/>
          </a:xfrm>
          <a:prstGeom prst="rect">
            <a:avLst/>
          </a:prstGeom>
          <a:solidFill>
            <a:srgbClr val="F9F9F9"/>
          </a:solidFill>
          <a:ln w="3810">
            <a:solidFill>
              <a:srgbClr val="E5E5E5"/>
            </a:solidFill>
            <a:prstDash val="solid"/>
          </a:ln>
        </p:spPr>
      </p:sp>
      <p:sp>
        <p:nvSpPr>
          <p:cNvPr id="32" name="Shape 30"/>
          <p:cNvSpPr/>
          <p:nvPr/>
        </p:nvSpPr>
        <p:spPr>
          <a:xfrm>
            <a:off x="2240280" y="3246120"/>
            <a:ext cx="137160" cy="137160"/>
          </a:xfrm>
          <a:prstGeom prst="ellipse">
            <a:avLst/>
          </a:prstGeom>
          <a:solidFill>
            <a:srgbClr val="FFB800"/>
          </a:solidFill>
          <a:ln w="12700">
            <a:solidFill>
              <a:srgbClr val="FFB800"/>
            </a:solidFill>
            <a:prstDash val="solid"/>
          </a:ln>
        </p:spPr>
      </p:sp>
      <p:sp>
        <p:nvSpPr>
          <p:cNvPr id="33" name="Text 31"/>
          <p:cNvSpPr/>
          <p:nvPr/>
        </p:nvSpPr>
        <p:spPr>
          <a:xfrm>
            <a:off x="2468880" y="3154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Power</a:t>
            </a:r>
            <a:endParaRPr lang="en-US" sz="1200" dirty="0"/>
          </a:p>
        </p:txBody>
      </p:sp>
      <p:sp>
        <p:nvSpPr>
          <p:cNvPr id="34" name="Text 32"/>
          <p:cNvSpPr/>
          <p:nvPr/>
        </p:nvSpPr>
        <p:spPr>
          <a:xfrm>
            <a:off x="4572000" y="3154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hidden constraint</a:t>
            </a:r>
            <a:endParaRPr lang="en-US" sz="1050" dirty="0"/>
          </a:p>
        </p:txBody>
      </p:sp>
      <p:sp>
        <p:nvSpPr>
          <p:cNvPr id="35" name="Shape 33"/>
          <p:cNvSpPr/>
          <p:nvPr/>
        </p:nvSpPr>
        <p:spPr>
          <a:xfrm>
            <a:off x="2103120" y="3520440"/>
            <a:ext cx="6583680" cy="320040"/>
          </a:xfrm>
          <a:prstGeom prst="rect">
            <a:avLst/>
          </a:prstGeom>
          <a:solidFill>
            <a:srgbClr val="F9F9F9"/>
          </a:solidFill>
          <a:ln w="3810">
            <a:solidFill>
              <a:srgbClr val="E5E5E5"/>
            </a:solidFill>
            <a:prstDash val="solid"/>
          </a:ln>
        </p:spPr>
      </p:sp>
      <p:sp>
        <p:nvSpPr>
          <p:cNvPr id="36" name="Shape 34"/>
          <p:cNvSpPr/>
          <p:nvPr/>
        </p:nvSpPr>
        <p:spPr>
          <a:xfrm>
            <a:off x="2240280" y="3611880"/>
            <a:ext cx="137160" cy="137160"/>
          </a:xfrm>
          <a:prstGeom prst="ellipse">
            <a:avLst/>
          </a:prstGeom>
          <a:solidFill>
            <a:srgbClr val="FFB800"/>
          </a:solidFill>
          <a:ln w="12700">
            <a:solidFill>
              <a:srgbClr val="FFB800"/>
            </a:solidFill>
            <a:prstDash val="solid"/>
          </a:ln>
        </p:spPr>
      </p:sp>
      <p:sp>
        <p:nvSpPr>
          <p:cNvPr id="37" name="Text 35"/>
          <p:cNvSpPr/>
          <p:nvPr/>
        </p:nvSpPr>
        <p:spPr>
          <a:xfrm>
            <a:off x="2468880" y="3520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Networking</a:t>
            </a:r>
            <a:endParaRPr lang="en-US" sz="1200" dirty="0"/>
          </a:p>
        </p:txBody>
      </p:sp>
      <p:sp>
        <p:nvSpPr>
          <p:cNvPr id="38" name="Text 36"/>
          <p:cNvSpPr/>
          <p:nvPr/>
        </p:nvSpPr>
        <p:spPr>
          <a:xfrm>
            <a:off x="4572000" y="3520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Moving data at terabit speed</a:t>
            </a:r>
            <a:endParaRPr lang="en-US" sz="1050" dirty="0"/>
          </a:p>
        </p:txBody>
      </p:sp>
      <p:sp>
        <p:nvSpPr>
          <p:cNvPr id="39" name="Shape 37"/>
          <p:cNvSpPr/>
          <p:nvPr/>
        </p:nvSpPr>
        <p:spPr>
          <a:xfrm>
            <a:off x="2103120" y="3931920"/>
            <a:ext cx="6583680" cy="320040"/>
          </a:xfrm>
          <a:prstGeom prst="rect">
            <a:avLst/>
          </a:prstGeom>
          <a:solidFill>
            <a:srgbClr val="F9F9F9"/>
          </a:solidFill>
          <a:ln w="3810">
            <a:solidFill>
              <a:srgbClr val="E5E5E5"/>
            </a:solidFill>
            <a:prstDash val="solid"/>
          </a:ln>
        </p:spPr>
      </p:sp>
      <p:sp>
        <p:nvSpPr>
          <p:cNvPr id="40" name="Shape 38"/>
          <p:cNvSpPr/>
          <p:nvPr/>
        </p:nvSpPr>
        <p:spPr>
          <a:xfrm>
            <a:off x="2240280" y="4023360"/>
            <a:ext cx="137160" cy="137160"/>
          </a:xfrm>
          <a:prstGeom prst="ellipse">
            <a:avLst/>
          </a:prstGeom>
          <a:solidFill>
            <a:srgbClr val="008B8B"/>
          </a:solidFill>
          <a:ln w="12700">
            <a:solidFill>
              <a:srgbClr val="008B8B"/>
            </a:solidFill>
            <a:prstDash val="solid"/>
          </a:ln>
        </p:spPr>
      </p:sp>
      <p:sp>
        <p:nvSpPr>
          <p:cNvPr id="41" name="Text 39"/>
          <p:cNvSpPr/>
          <p:nvPr/>
        </p:nvSpPr>
        <p:spPr>
          <a:xfrm>
            <a:off x="2468880" y="3931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Packaging</a:t>
            </a:r>
            <a:endParaRPr lang="en-US" sz="1200" dirty="0"/>
          </a:p>
        </p:txBody>
      </p:sp>
      <p:sp>
        <p:nvSpPr>
          <p:cNvPr id="42" name="Text 40"/>
          <p:cNvSpPr/>
          <p:nvPr/>
        </p:nvSpPr>
        <p:spPr>
          <a:xfrm>
            <a:off x="4572000" y="3931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Stacking chiplets (CoWoS, HBM)</a:t>
            </a:r>
            <a:endParaRPr lang="en-US" sz="1050" dirty="0"/>
          </a:p>
        </p:txBody>
      </p:sp>
      <p:sp>
        <p:nvSpPr>
          <p:cNvPr id="43" name="Shape 41"/>
          <p:cNvSpPr/>
          <p:nvPr/>
        </p:nvSpPr>
        <p:spPr>
          <a:xfrm>
            <a:off x="2103120" y="4297680"/>
            <a:ext cx="6583680" cy="320040"/>
          </a:xfrm>
          <a:prstGeom prst="rect">
            <a:avLst/>
          </a:prstGeom>
          <a:solidFill>
            <a:srgbClr val="F9F9F9"/>
          </a:solidFill>
          <a:ln w="3810">
            <a:solidFill>
              <a:srgbClr val="E5E5E5"/>
            </a:solidFill>
            <a:prstDash val="solid"/>
          </a:ln>
        </p:spPr>
      </p:sp>
      <p:sp>
        <p:nvSpPr>
          <p:cNvPr id="44" name="Shape 42"/>
          <p:cNvSpPr/>
          <p:nvPr/>
        </p:nvSpPr>
        <p:spPr>
          <a:xfrm>
            <a:off x="2240280" y="4389120"/>
            <a:ext cx="137160" cy="137160"/>
          </a:xfrm>
          <a:prstGeom prst="ellipse">
            <a:avLst/>
          </a:prstGeom>
          <a:solidFill>
            <a:srgbClr val="008B8B"/>
          </a:solidFill>
          <a:ln w="12700">
            <a:solidFill>
              <a:srgbClr val="008B8B"/>
            </a:solidFill>
            <a:prstDash val="solid"/>
          </a:ln>
        </p:spPr>
      </p:sp>
      <p:sp>
        <p:nvSpPr>
          <p:cNvPr id="45" name="Text 43"/>
          <p:cNvSpPr/>
          <p:nvPr/>
        </p:nvSpPr>
        <p:spPr>
          <a:xfrm>
            <a:off x="2468880" y="4297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Chip design</a:t>
            </a:r>
            <a:endParaRPr lang="en-US" sz="1200" dirty="0"/>
          </a:p>
        </p:txBody>
      </p:sp>
      <p:sp>
        <p:nvSpPr>
          <p:cNvPr id="46" name="Text 44"/>
          <p:cNvSpPr/>
          <p:nvPr/>
        </p:nvSpPr>
        <p:spPr>
          <a:xfrm>
            <a:off x="4572000" y="4297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GPUs, TPUs, ASICs</a:t>
            </a:r>
            <a:endParaRPr lang="en-US" sz="1050" dirty="0"/>
          </a:p>
        </p:txBody>
      </p:sp>
      <p:sp>
        <p:nvSpPr>
          <p:cNvPr id="47" name="Shape 45"/>
          <p:cNvSpPr/>
          <p:nvPr/>
        </p:nvSpPr>
        <p:spPr>
          <a:xfrm>
            <a:off x="2103120" y="4663440"/>
            <a:ext cx="6583680" cy="320040"/>
          </a:xfrm>
          <a:prstGeom prst="rect">
            <a:avLst/>
          </a:prstGeom>
          <a:solidFill>
            <a:srgbClr val="F9F9F9"/>
          </a:solidFill>
          <a:ln w="3810">
            <a:solidFill>
              <a:srgbClr val="E5E5E5"/>
            </a:solidFill>
            <a:prstDash val="solid"/>
          </a:ln>
        </p:spPr>
      </p:sp>
      <p:sp>
        <p:nvSpPr>
          <p:cNvPr id="48" name="Shape 46"/>
          <p:cNvSpPr/>
          <p:nvPr/>
        </p:nvSpPr>
        <p:spPr>
          <a:xfrm>
            <a:off x="2240280" y="4754880"/>
            <a:ext cx="137160" cy="137160"/>
          </a:xfrm>
          <a:prstGeom prst="ellipse">
            <a:avLst/>
          </a:prstGeom>
          <a:solidFill>
            <a:srgbClr val="008B8B"/>
          </a:solidFill>
          <a:ln w="12700">
            <a:solidFill>
              <a:srgbClr val="008B8B"/>
            </a:solidFill>
            <a:prstDash val="solid"/>
          </a:ln>
        </p:spPr>
      </p:sp>
      <p:sp>
        <p:nvSpPr>
          <p:cNvPr id="49" name="Text 47"/>
          <p:cNvSpPr/>
          <p:nvPr/>
        </p:nvSpPr>
        <p:spPr>
          <a:xfrm>
            <a:off x="2468880" y="4663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Foundry</a:t>
            </a:r>
            <a:endParaRPr lang="en-US" sz="1200" dirty="0"/>
          </a:p>
        </p:txBody>
      </p:sp>
      <p:sp>
        <p:nvSpPr>
          <p:cNvPr id="50" name="Text 48"/>
          <p:cNvSpPr/>
          <p:nvPr/>
        </p:nvSpPr>
        <p:spPr>
          <a:xfrm>
            <a:off x="4572000" y="4663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Fabricating at nanometer scale</a:t>
            </a:r>
            <a:endParaRPr lang="en-US" sz="1050" dirty="0"/>
          </a:p>
        </p:txBody>
      </p:sp>
      <p:sp>
        <p:nvSpPr>
          <p:cNvPr id="51" name="Shape 49"/>
          <p:cNvSpPr/>
          <p:nvPr/>
        </p:nvSpPr>
        <p:spPr>
          <a:xfrm>
            <a:off x="2103120" y="5074920"/>
            <a:ext cx="6583680" cy="320040"/>
          </a:xfrm>
          <a:prstGeom prst="rect">
            <a:avLst/>
          </a:prstGeom>
          <a:solidFill>
            <a:srgbClr val="F9F9F9"/>
          </a:solidFill>
          <a:ln w="3810">
            <a:solidFill>
              <a:srgbClr val="E5E5E5"/>
            </a:solidFill>
            <a:prstDash val="solid"/>
          </a:ln>
        </p:spPr>
      </p:sp>
      <p:sp>
        <p:nvSpPr>
          <p:cNvPr id="52" name="Shape 50"/>
          <p:cNvSpPr/>
          <p:nvPr/>
        </p:nvSpPr>
        <p:spPr>
          <a:xfrm>
            <a:off x="2240280" y="5166360"/>
            <a:ext cx="137160" cy="137160"/>
          </a:xfrm>
          <a:prstGeom prst="ellipse">
            <a:avLst/>
          </a:prstGeom>
          <a:solidFill>
            <a:srgbClr val="666666"/>
          </a:solidFill>
          <a:ln w="12700">
            <a:solidFill>
              <a:srgbClr val="666666"/>
            </a:solidFill>
            <a:prstDash val="solid"/>
          </a:ln>
        </p:spPr>
      </p:sp>
      <p:sp>
        <p:nvSpPr>
          <p:cNvPr id="53" name="Text 51"/>
          <p:cNvSpPr/>
          <p:nvPr/>
        </p:nvSpPr>
        <p:spPr>
          <a:xfrm>
            <a:off x="2468880" y="5074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Equipment</a:t>
            </a:r>
            <a:endParaRPr lang="en-US" sz="1200" dirty="0"/>
          </a:p>
        </p:txBody>
      </p:sp>
      <p:sp>
        <p:nvSpPr>
          <p:cNvPr id="54" name="Text 52"/>
          <p:cNvSpPr/>
          <p:nvPr/>
        </p:nvSpPr>
        <p:spPr>
          <a:xfrm>
            <a:off x="4572000" y="5074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Machines that make machines</a:t>
            </a:r>
            <a:endParaRPr lang="en-US" sz="1050" dirty="0"/>
          </a:p>
        </p:txBody>
      </p:sp>
      <p:sp>
        <p:nvSpPr>
          <p:cNvPr id="55" name="Shape 53"/>
          <p:cNvSpPr/>
          <p:nvPr/>
        </p:nvSpPr>
        <p:spPr>
          <a:xfrm>
            <a:off x="2103120" y="5440680"/>
            <a:ext cx="6583680" cy="320040"/>
          </a:xfrm>
          <a:prstGeom prst="rect">
            <a:avLst/>
          </a:prstGeom>
          <a:solidFill>
            <a:srgbClr val="F9F9F9"/>
          </a:solidFill>
          <a:ln w="3810">
            <a:solidFill>
              <a:srgbClr val="E5E5E5"/>
            </a:solidFill>
            <a:prstDash val="solid"/>
          </a:ln>
        </p:spPr>
      </p:sp>
      <p:sp>
        <p:nvSpPr>
          <p:cNvPr id="56" name="Shape 54"/>
          <p:cNvSpPr/>
          <p:nvPr/>
        </p:nvSpPr>
        <p:spPr>
          <a:xfrm>
            <a:off x="2240280" y="5532120"/>
            <a:ext cx="137160" cy="137160"/>
          </a:xfrm>
          <a:prstGeom prst="ellipse">
            <a:avLst/>
          </a:prstGeom>
          <a:solidFill>
            <a:srgbClr val="666666"/>
          </a:solidFill>
          <a:ln w="12700">
            <a:solidFill>
              <a:srgbClr val="666666"/>
            </a:solidFill>
            <a:prstDash val="solid"/>
          </a:ln>
        </p:spPr>
      </p:sp>
      <p:sp>
        <p:nvSpPr>
          <p:cNvPr id="57" name="Text 55"/>
          <p:cNvSpPr/>
          <p:nvPr/>
        </p:nvSpPr>
        <p:spPr>
          <a:xfrm>
            <a:off x="2468880" y="5440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Raw materials</a:t>
            </a:r>
            <a:endParaRPr lang="en-US" sz="1200" dirty="0"/>
          </a:p>
        </p:txBody>
      </p:sp>
      <p:sp>
        <p:nvSpPr>
          <p:cNvPr id="58" name="Text 56"/>
          <p:cNvSpPr/>
          <p:nvPr/>
        </p:nvSpPr>
        <p:spPr>
          <a:xfrm>
            <a:off x="4572000" y="5440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Silicon, neon, rare earths</a:t>
            </a:r>
            <a:endParaRPr lang="en-US" sz="1050" dirty="0"/>
          </a:p>
        </p:txBody>
      </p:sp>
      <p:sp>
        <p:nvSpPr>
          <p:cNvPr id="59" name="Text 57"/>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Ordered top (closest to user) to bottom (closest to atoms).</a:t>
            </a:r>
            <a:endParaRPr lang="en-US" sz="700" dirty="0"/>
          </a:p>
        </p:txBody>
      </p:sp>
      <p:sp>
        <p:nvSpPr>
          <p:cNvPr id="60" name="Shape 58"/>
          <p:cNvSpPr/>
          <p:nvPr/>
        </p:nvSpPr>
        <p:spPr>
          <a:xfrm>
            <a:off x="0" y="6286500"/>
            <a:ext cx="9144000" cy="571500"/>
          </a:xfrm>
          <a:prstGeom prst="rect">
            <a:avLst/>
          </a:prstGeom>
          <a:solidFill>
            <a:srgbClr val="000000"/>
          </a:solidFill>
          <a:ln w="12700">
            <a:solidFill>
              <a:srgbClr val="000000"/>
            </a:solidFill>
            <a:prstDash val="solid"/>
          </a:ln>
        </p:spPr>
      </p:sp>
      <p:sp>
        <p:nvSpPr>
          <p:cNvPr id="61" name="Text 59"/>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62" name="Text 60"/>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growth rates are unprecedented.</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User adoption and revenue growth for AI far eclipse prior technologies — a once-in-a-generation S-curve, compressed into a handful of years.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User adoption after first mass-market launch</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201168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720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 of US population</a:t>
            </a:r>
            <a:endParaRPr lang="en-US" sz="800" dirty="0"/>
          </a:p>
        </p:txBody>
      </p:sp>
      <p:sp>
        <p:nvSpPr>
          <p:cNvPr id="11" name="Text 8"/>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Revenue after first $1B year ($B)</a:t>
            </a:r>
            <a:endParaRPr lang="en-US" sz="1400" dirty="0"/>
          </a:p>
        </p:txBody>
      </p:sp>
      <p:sp>
        <p:nvSpPr>
          <p:cNvPr id="12" name="Shape 9"/>
          <p:cNvSpPr/>
          <p:nvPr/>
        </p:nvSpPr>
        <p:spPr>
          <a:xfrm>
            <a:off x="4754880" y="1828800"/>
            <a:ext cx="3931920" cy="0"/>
          </a:xfrm>
          <a:prstGeom prst="line">
            <a:avLst/>
          </a:prstGeom>
          <a:noFill/>
          <a:ln w="19050">
            <a:solidFill>
              <a:srgbClr val="000000"/>
            </a:solidFill>
            <a:prstDash val="solid"/>
          </a:ln>
        </p:spPr>
      </p:sp>
      <p:graphicFrame>
        <p:nvGraphicFramePr>
          <p:cNvPr id="13" name="Chart 1" descr=""/>
          <p:cNvGraphicFramePr/>
          <p:nvPr/>
        </p:nvGraphicFramePr>
        <p:xfrm>
          <a:off x="4754880" y="2011680"/>
          <a:ext cx="3931920" cy="329184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75488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Revenue ($B)</a:t>
            </a:r>
            <a:endParaRPr lang="en-US" sz="800" dirty="0"/>
          </a:p>
        </p:txBody>
      </p:sp>
      <p:sp>
        <p:nvSpPr>
          <p:cNvPr id="15" name="Shape 11"/>
          <p:cNvSpPr/>
          <p:nvPr/>
        </p:nvSpPr>
        <p:spPr>
          <a:xfrm>
            <a:off x="457200" y="5394960"/>
            <a:ext cx="8229600" cy="219456"/>
          </a:xfrm>
          <a:prstGeom prst="rect">
            <a:avLst/>
          </a:prstGeom>
          <a:solidFill>
            <a:srgbClr val="333333"/>
          </a:solidFill>
          <a:ln w="12700">
            <a:solidFill>
              <a:srgbClr val="333333"/>
            </a:solidFill>
            <a:prstDash val="solid"/>
          </a:ln>
        </p:spPr>
      </p:sp>
      <p:sp>
        <p:nvSpPr>
          <p:cNvPr id="16" name="Text 12"/>
          <p:cNvSpPr/>
          <p:nvPr/>
        </p:nvSpPr>
        <p:spPr>
          <a:xfrm>
            <a:off x="640080" y="5394960"/>
            <a:ext cx="7863840" cy="219456"/>
          </a:xfrm>
          <a:prstGeom prst="rect">
            <a:avLst/>
          </a:prstGeom>
          <a:noFill/>
          <a:ln/>
        </p:spPr>
        <p:txBody>
          <a:bodyPr wrap="square" lIns="0" tIns="0" rIns="0" bIns="0" rtlCol="0" anchor="ctr"/>
          <a:lstStyle/>
          <a:p>
            <a:pPr indent="0" marL="0">
              <a:buNone/>
            </a:pPr>
            <a:r>
              <a:rPr lang="en-US" sz="850" b="1" spc="200" kern="0" dirty="0">
                <a:solidFill>
                  <a:srgbClr val="F6693D"/>
                </a:solidFill>
                <a:latin typeface="Arial" pitchFamily="34" charset="0"/>
                <a:ea typeface="Arial" pitchFamily="34" charset="-122"/>
                <a:cs typeface="Arial" pitchFamily="34" charset="-120"/>
              </a:rPr>
              <a:t>AI </a:t>
            </a:r>
            <a:pPr indent="0" marL="0">
              <a:buNone/>
            </a:pPr>
            <a:r>
              <a:rPr lang="en-US" sz="900" b="1" dirty="0">
                <a:solidFill>
                  <a:srgbClr val="FFFFFF"/>
                </a:solidFill>
                <a:latin typeface="Arial" pitchFamily="34" charset="0"/>
                <a:ea typeface="Arial" pitchFamily="34" charset="-122"/>
                <a:cs typeface="Arial" pitchFamily="34" charset="-120"/>
              </a:rPr>
              <a:t>OpenAI · Anthropic    </a:t>
            </a:r>
            <a:pPr indent="0" marL="0">
              <a:buNone/>
            </a:pPr>
            <a:r>
              <a:rPr lang="en-US" sz="850" b="1" spc="200" kern="0" dirty="0">
                <a:solidFill>
                  <a:srgbClr val="FFB800"/>
                </a:solidFill>
                <a:latin typeface="Arial" pitchFamily="34" charset="0"/>
                <a:ea typeface="Arial" pitchFamily="34" charset="-122"/>
                <a:cs typeface="Arial" pitchFamily="34" charset="-120"/>
              </a:rPr>
              <a:t>CLOUD </a:t>
            </a:r>
            <a:pPr indent="0" marL="0">
              <a:buNone/>
            </a:pPr>
            <a:r>
              <a:rPr lang="en-US" sz="900" b="1" dirty="0">
                <a:solidFill>
                  <a:srgbClr val="FFFFFF"/>
                </a:solidFill>
                <a:latin typeface="Arial" pitchFamily="34" charset="0"/>
                <a:ea typeface="Arial" pitchFamily="34" charset="-122"/>
                <a:cs typeface="Arial" pitchFamily="34" charset="-120"/>
              </a:rPr>
              <a:t>AWS · Azure · Google Cloud    </a:t>
            </a:r>
            <a:pPr indent="0" marL="0">
              <a:buNone/>
            </a:pPr>
            <a:r>
              <a:rPr lang="en-US" sz="850" b="1" spc="200" kern="0" dirty="0">
                <a:solidFill>
                  <a:srgbClr val="008B8B"/>
                </a:solidFill>
                <a:latin typeface="Arial" pitchFamily="34" charset="0"/>
                <a:ea typeface="Arial" pitchFamily="34" charset="-122"/>
                <a:cs typeface="Arial" pitchFamily="34" charset="-120"/>
              </a:rPr>
              <a:t>INTERNET </a:t>
            </a:r>
            <a:pPr indent="0" marL="0">
              <a:buNone/>
            </a:pPr>
            <a:r>
              <a:rPr lang="en-US" sz="900" b="1" dirty="0">
                <a:solidFill>
                  <a:srgbClr val="FFFFFF"/>
                </a:solidFill>
                <a:latin typeface="Arial" pitchFamily="34" charset="0"/>
                <a:ea typeface="Arial" pitchFamily="34" charset="-122"/>
                <a:cs typeface="Arial" pitchFamily="34" charset="-120"/>
              </a:rPr>
              <a:t>Meta · Google</a:t>
            </a:r>
            <a:endParaRPr lang="en-US" sz="850" dirty="0"/>
          </a:p>
        </p:txBody>
      </p:sp>
      <p:sp>
        <p:nvSpPr>
          <p:cNvPr id="17" name="Shape 13"/>
          <p:cNvSpPr/>
          <p:nvPr/>
        </p:nvSpPr>
        <p:spPr>
          <a:xfrm>
            <a:off x="457200" y="5650992"/>
            <a:ext cx="8229600" cy="201168"/>
          </a:xfrm>
          <a:prstGeom prst="rect">
            <a:avLst/>
          </a:prstGeom>
          <a:solidFill>
            <a:srgbClr val="FFD100"/>
          </a:solidFill>
          <a:ln w="12700">
            <a:solidFill>
              <a:srgbClr val="FFD100"/>
            </a:solidFill>
            <a:prstDash val="solid"/>
          </a:ln>
        </p:spPr>
      </p:sp>
      <p:sp>
        <p:nvSpPr>
          <p:cNvPr id="18" name="Text 14"/>
          <p:cNvSpPr/>
          <p:nvPr/>
        </p:nvSpPr>
        <p:spPr>
          <a:xfrm>
            <a:off x="640080" y="5650992"/>
            <a:ext cx="786384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User adoption and revenue growth for AI far eclipse prior technologies.</a:t>
            </a:r>
            <a:endParaRPr lang="en-US" sz="1000" dirty="0"/>
          </a:p>
        </p:txBody>
      </p:sp>
      <p:sp>
        <p:nvSpPr>
          <p:cNvPr id="19" name="Text 15"/>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Mary Meeker (Bond Capital / KPCB Internet Trends 2019); company filings and consensus estimates. Cloud and Internet trajectories are illustrative. 2026E shown for AI.</a:t>
            </a:r>
            <a:endParaRPr lang="en-US" sz="700" dirty="0"/>
          </a:p>
        </p:txBody>
      </p:sp>
      <p:sp>
        <p:nvSpPr>
          <p:cNvPr id="20" name="Shape 16"/>
          <p:cNvSpPr/>
          <p:nvPr/>
        </p:nvSpPr>
        <p:spPr>
          <a:xfrm>
            <a:off x="0" y="6286500"/>
            <a:ext cx="9144000" cy="571500"/>
          </a:xfrm>
          <a:prstGeom prst="rect">
            <a:avLst/>
          </a:prstGeom>
          <a:solidFill>
            <a:srgbClr val="000000"/>
          </a:solidFill>
          <a:ln w="12700">
            <a:solidFill>
              <a:srgbClr val="000000"/>
            </a:solidFill>
            <a:prstDash val="solid"/>
          </a:ln>
        </p:spPr>
      </p:sp>
      <p:sp>
        <p:nvSpPr>
          <p:cNvPr id="21" name="Text 1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1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How an AI chip is made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AI accelerator inside a data center, from training GPUs to custom inference silicon, passes through the same four stages.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554480"/>
            <a:ext cx="4023360" cy="3931920"/>
          </a:xfrm>
          <a:prstGeom prst="rect">
            <a:avLst/>
          </a:prstGeom>
          <a:solidFill>
            <a:srgbClr val="F9F9F9"/>
          </a:solidFill>
          <a:ln w="6350">
            <a:solidFill>
              <a:srgbClr val="E5E5E5"/>
            </a:solidFill>
            <a:prstDash val="solid"/>
          </a:ln>
        </p:spPr>
      </p:sp>
      <p:sp>
        <p:nvSpPr>
          <p:cNvPr id="8" name="Text 6"/>
          <p:cNvSpPr/>
          <p:nvPr/>
        </p:nvSpPr>
        <p:spPr>
          <a:xfrm>
            <a:off x="640080" y="1664208"/>
            <a:ext cx="3657600" cy="201168"/>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WHAT'S INSIDE THE PACKAGE</a:t>
            </a:r>
            <a:endParaRPr lang="en-US" sz="900" dirty="0"/>
          </a:p>
        </p:txBody>
      </p:sp>
      <p:sp>
        <p:nvSpPr>
          <p:cNvPr id="9" name="Shape 7"/>
          <p:cNvSpPr/>
          <p:nvPr/>
        </p:nvSpPr>
        <p:spPr>
          <a:xfrm>
            <a:off x="960120" y="2103120"/>
            <a:ext cx="3017520" cy="1554480"/>
          </a:xfrm>
          <a:prstGeom prst="roundRect">
            <a:avLst>
              <a:gd name="adj" fmla="val 3529"/>
            </a:avLst>
          </a:prstGeom>
          <a:solidFill>
            <a:srgbClr val="E5E5E5"/>
          </a:solidFill>
          <a:ln w="9525">
            <a:solidFill>
              <a:srgbClr val="666666"/>
            </a:solidFill>
            <a:prstDash val="solid"/>
          </a:ln>
        </p:spPr>
      </p:sp>
      <p:sp>
        <p:nvSpPr>
          <p:cNvPr id="10" name="Shape 8"/>
          <p:cNvSpPr/>
          <p:nvPr/>
        </p:nvSpPr>
        <p:spPr>
          <a:xfrm>
            <a:off x="1143000" y="2267712"/>
            <a:ext cx="2651760" cy="1225296"/>
          </a:xfrm>
          <a:prstGeom prst="roundRect">
            <a:avLst>
              <a:gd name="adj" fmla="val 3731"/>
            </a:avLst>
          </a:prstGeom>
          <a:solidFill>
            <a:srgbClr val="D8D8D8"/>
          </a:solidFill>
          <a:ln w="6350">
            <a:solidFill>
              <a:srgbClr val="666666"/>
            </a:solidFill>
            <a:prstDash val="solid"/>
          </a:ln>
        </p:spPr>
      </p:sp>
      <p:sp>
        <p:nvSpPr>
          <p:cNvPr id="11" name="Shape 9"/>
          <p:cNvSpPr/>
          <p:nvPr/>
        </p:nvSpPr>
        <p:spPr>
          <a:xfrm>
            <a:off x="1298448" y="2432304"/>
            <a:ext cx="310896" cy="896112"/>
          </a:xfrm>
          <a:prstGeom prst="rect">
            <a:avLst/>
          </a:prstGeom>
          <a:solidFill>
            <a:srgbClr val="008B8B"/>
          </a:solidFill>
          <a:ln w="6350">
            <a:solidFill>
              <a:srgbClr val="FFFFFF"/>
            </a:solidFill>
            <a:prstDash val="solid"/>
          </a:ln>
        </p:spPr>
      </p:sp>
      <p:sp>
        <p:nvSpPr>
          <p:cNvPr id="12" name="Shape 10"/>
          <p:cNvSpPr/>
          <p:nvPr/>
        </p:nvSpPr>
        <p:spPr>
          <a:xfrm>
            <a:off x="1298448" y="2670048"/>
            <a:ext cx="310896" cy="0"/>
          </a:xfrm>
          <a:prstGeom prst="line">
            <a:avLst/>
          </a:prstGeom>
          <a:noFill/>
          <a:ln w="6350">
            <a:solidFill>
              <a:srgbClr val="FFFFFF"/>
            </a:solidFill>
            <a:prstDash val="solid"/>
          </a:ln>
        </p:spPr>
      </p:sp>
      <p:sp>
        <p:nvSpPr>
          <p:cNvPr id="13" name="Shape 11"/>
          <p:cNvSpPr/>
          <p:nvPr/>
        </p:nvSpPr>
        <p:spPr>
          <a:xfrm>
            <a:off x="1298448" y="2898648"/>
            <a:ext cx="310896" cy="0"/>
          </a:xfrm>
          <a:prstGeom prst="line">
            <a:avLst/>
          </a:prstGeom>
          <a:noFill/>
          <a:ln w="6350">
            <a:solidFill>
              <a:srgbClr val="FFFFFF"/>
            </a:solidFill>
            <a:prstDash val="solid"/>
          </a:ln>
        </p:spPr>
      </p:sp>
      <p:sp>
        <p:nvSpPr>
          <p:cNvPr id="14" name="Shape 12"/>
          <p:cNvSpPr/>
          <p:nvPr/>
        </p:nvSpPr>
        <p:spPr>
          <a:xfrm>
            <a:off x="1298448" y="3127248"/>
            <a:ext cx="310896" cy="0"/>
          </a:xfrm>
          <a:prstGeom prst="line">
            <a:avLst/>
          </a:prstGeom>
          <a:noFill/>
          <a:ln w="6350">
            <a:solidFill>
              <a:srgbClr val="FFFFFF"/>
            </a:solidFill>
            <a:prstDash val="solid"/>
          </a:ln>
        </p:spPr>
      </p:sp>
      <p:sp>
        <p:nvSpPr>
          <p:cNvPr id="15" name="Shape 13"/>
          <p:cNvSpPr/>
          <p:nvPr/>
        </p:nvSpPr>
        <p:spPr>
          <a:xfrm>
            <a:off x="1645920" y="2432304"/>
            <a:ext cx="310896" cy="896112"/>
          </a:xfrm>
          <a:prstGeom prst="rect">
            <a:avLst/>
          </a:prstGeom>
          <a:solidFill>
            <a:srgbClr val="008B8B"/>
          </a:solidFill>
          <a:ln w="6350">
            <a:solidFill>
              <a:srgbClr val="FFFFFF"/>
            </a:solidFill>
            <a:prstDash val="solid"/>
          </a:ln>
        </p:spPr>
      </p:sp>
      <p:sp>
        <p:nvSpPr>
          <p:cNvPr id="16" name="Shape 14"/>
          <p:cNvSpPr/>
          <p:nvPr/>
        </p:nvSpPr>
        <p:spPr>
          <a:xfrm>
            <a:off x="1645920" y="2670048"/>
            <a:ext cx="310896" cy="0"/>
          </a:xfrm>
          <a:prstGeom prst="line">
            <a:avLst/>
          </a:prstGeom>
          <a:noFill/>
          <a:ln w="6350">
            <a:solidFill>
              <a:srgbClr val="FFFFFF"/>
            </a:solidFill>
            <a:prstDash val="solid"/>
          </a:ln>
        </p:spPr>
      </p:sp>
      <p:sp>
        <p:nvSpPr>
          <p:cNvPr id="17" name="Shape 15"/>
          <p:cNvSpPr/>
          <p:nvPr/>
        </p:nvSpPr>
        <p:spPr>
          <a:xfrm>
            <a:off x="1645920" y="2898648"/>
            <a:ext cx="310896" cy="0"/>
          </a:xfrm>
          <a:prstGeom prst="line">
            <a:avLst/>
          </a:prstGeom>
          <a:noFill/>
          <a:ln w="6350">
            <a:solidFill>
              <a:srgbClr val="FFFFFF"/>
            </a:solidFill>
            <a:prstDash val="solid"/>
          </a:ln>
        </p:spPr>
      </p:sp>
      <p:sp>
        <p:nvSpPr>
          <p:cNvPr id="18" name="Shape 16"/>
          <p:cNvSpPr/>
          <p:nvPr/>
        </p:nvSpPr>
        <p:spPr>
          <a:xfrm>
            <a:off x="1645920" y="3127248"/>
            <a:ext cx="310896" cy="0"/>
          </a:xfrm>
          <a:prstGeom prst="line">
            <a:avLst/>
          </a:prstGeom>
          <a:noFill/>
          <a:ln w="6350">
            <a:solidFill>
              <a:srgbClr val="FFFFFF"/>
            </a:solidFill>
            <a:prstDash val="solid"/>
          </a:ln>
        </p:spPr>
      </p:sp>
      <p:sp>
        <p:nvSpPr>
          <p:cNvPr id="19" name="Shape 17"/>
          <p:cNvSpPr/>
          <p:nvPr/>
        </p:nvSpPr>
        <p:spPr>
          <a:xfrm>
            <a:off x="3017520" y="2432304"/>
            <a:ext cx="310896" cy="896112"/>
          </a:xfrm>
          <a:prstGeom prst="rect">
            <a:avLst/>
          </a:prstGeom>
          <a:solidFill>
            <a:srgbClr val="008B8B"/>
          </a:solidFill>
          <a:ln w="6350">
            <a:solidFill>
              <a:srgbClr val="FFFFFF"/>
            </a:solidFill>
            <a:prstDash val="solid"/>
          </a:ln>
        </p:spPr>
      </p:sp>
      <p:sp>
        <p:nvSpPr>
          <p:cNvPr id="20" name="Shape 18"/>
          <p:cNvSpPr/>
          <p:nvPr/>
        </p:nvSpPr>
        <p:spPr>
          <a:xfrm>
            <a:off x="3017520" y="2670048"/>
            <a:ext cx="310896" cy="0"/>
          </a:xfrm>
          <a:prstGeom prst="line">
            <a:avLst/>
          </a:prstGeom>
          <a:noFill/>
          <a:ln w="6350">
            <a:solidFill>
              <a:srgbClr val="FFFFFF"/>
            </a:solidFill>
            <a:prstDash val="solid"/>
          </a:ln>
        </p:spPr>
      </p:sp>
      <p:sp>
        <p:nvSpPr>
          <p:cNvPr id="21" name="Shape 19"/>
          <p:cNvSpPr/>
          <p:nvPr/>
        </p:nvSpPr>
        <p:spPr>
          <a:xfrm>
            <a:off x="3017520" y="2898648"/>
            <a:ext cx="310896" cy="0"/>
          </a:xfrm>
          <a:prstGeom prst="line">
            <a:avLst/>
          </a:prstGeom>
          <a:noFill/>
          <a:ln w="6350">
            <a:solidFill>
              <a:srgbClr val="FFFFFF"/>
            </a:solidFill>
            <a:prstDash val="solid"/>
          </a:ln>
        </p:spPr>
      </p:sp>
      <p:sp>
        <p:nvSpPr>
          <p:cNvPr id="22" name="Shape 20"/>
          <p:cNvSpPr/>
          <p:nvPr/>
        </p:nvSpPr>
        <p:spPr>
          <a:xfrm>
            <a:off x="3017520" y="3127248"/>
            <a:ext cx="310896" cy="0"/>
          </a:xfrm>
          <a:prstGeom prst="line">
            <a:avLst/>
          </a:prstGeom>
          <a:noFill/>
          <a:ln w="6350">
            <a:solidFill>
              <a:srgbClr val="FFFFFF"/>
            </a:solidFill>
            <a:prstDash val="solid"/>
          </a:ln>
        </p:spPr>
      </p:sp>
      <p:sp>
        <p:nvSpPr>
          <p:cNvPr id="23" name="Shape 21"/>
          <p:cNvSpPr/>
          <p:nvPr/>
        </p:nvSpPr>
        <p:spPr>
          <a:xfrm>
            <a:off x="3364992" y="2432304"/>
            <a:ext cx="310896" cy="896112"/>
          </a:xfrm>
          <a:prstGeom prst="rect">
            <a:avLst/>
          </a:prstGeom>
          <a:solidFill>
            <a:srgbClr val="008B8B"/>
          </a:solidFill>
          <a:ln w="6350">
            <a:solidFill>
              <a:srgbClr val="FFFFFF"/>
            </a:solidFill>
            <a:prstDash val="solid"/>
          </a:ln>
        </p:spPr>
      </p:sp>
      <p:sp>
        <p:nvSpPr>
          <p:cNvPr id="24" name="Shape 22"/>
          <p:cNvSpPr/>
          <p:nvPr/>
        </p:nvSpPr>
        <p:spPr>
          <a:xfrm>
            <a:off x="3364992" y="2670048"/>
            <a:ext cx="310896" cy="0"/>
          </a:xfrm>
          <a:prstGeom prst="line">
            <a:avLst/>
          </a:prstGeom>
          <a:noFill/>
          <a:ln w="6350">
            <a:solidFill>
              <a:srgbClr val="FFFFFF"/>
            </a:solidFill>
            <a:prstDash val="solid"/>
          </a:ln>
        </p:spPr>
      </p:sp>
      <p:sp>
        <p:nvSpPr>
          <p:cNvPr id="25" name="Shape 23"/>
          <p:cNvSpPr/>
          <p:nvPr/>
        </p:nvSpPr>
        <p:spPr>
          <a:xfrm>
            <a:off x="3364992" y="2898648"/>
            <a:ext cx="310896" cy="0"/>
          </a:xfrm>
          <a:prstGeom prst="line">
            <a:avLst/>
          </a:prstGeom>
          <a:noFill/>
          <a:ln w="6350">
            <a:solidFill>
              <a:srgbClr val="FFFFFF"/>
            </a:solidFill>
            <a:prstDash val="solid"/>
          </a:ln>
        </p:spPr>
      </p:sp>
      <p:sp>
        <p:nvSpPr>
          <p:cNvPr id="26" name="Shape 24"/>
          <p:cNvSpPr/>
          <p:nvPr/>
        </p:nvSpPr>
        <p:spPr>
          <a:xfrm>
            <a:off x="3364992" y="3127248"/>
            <a:ext cx="310896" cy="0"/>
          </a:xfrm>
          <a:prstGeom prst="line">
            <a:avLst/>
          </a:prstGeom>
          <a:noFill/>
          <a:ln w="6350">
            <a:solidFill>
              <a:srgbClr val="FFFFFF"/>
            </a:solidFill>
            <a:prstDash val="solid"/>
          </a:ln>
        </p:spPr>
      </p:sp>
      <p:sp>
        <p:nvSpPr>
          <p:cNvPr id="27" name="Shape 25"/>
          <p:cNvSpPr/>
          <p:nvPr/>
        </p:nvSpPr>
        <p:spPr>
          <a:xfrm>
            <a:off x="2057400" y="2432304"/>
            <a:ext cx="822960" cy="896112"/>
          </a:xfrm>
          <a:prstGeom prst="rect">
            <a:avLst/>
          </a:prstGeom>
          <a:solidFill>
            <a:srgbClr val="051A3D"/>
          </a:solidFill>
          <a:ln w="12700">
            <a:solidFill>
              <a:srgbClr val="FFB800"/>
            </a:solidFill>
            <a:prstDash val="solid"/>
          </a:ln>
        </p:spPr>
      </p:sp>
      <p:sp>
        <p:nvSpPr>
          <p:cNvPr id="28" name="Text 26"/>
          <p:cNvSpPr/>
          <p:nvPr/>
        </p:nvSpPr>
        <p:spPr>
          <a:xfrm>
            <a:off x="2057400" y="2432304"/>
            <a:ext cx="822960" cy="896112"/>
          </a:xfrm>
          <a:prstGeom prst="rect">
            <a:avLst/>
          </a:prstGeom>
          <a:noFill/>
          <a:ln/>
        </p:spPr>
        <p:txBody>
          <a:bodyPr wrap="square" lIns="0" tIns="0" rIns="0" bIns="0" rtlCol="0" anchor="ctr"/>
          <a:lstStyle/>
          <a:p>
            <a:pPr algn="ctr" indent="0" marL="0">
              <a:lnSpc>
                <a:spcPct val="90000"/>
              </a:lnSpc>
              <a:buNone/>
            </a:pPr>
            <a:r>
              <a:rPr lang="en-US" sz="850" b="1" dirty="0">
                <a:solidFill>
                  <a:srgbClr val="FFFFFF"/>
                </a:solidFill>
                <a:latin typeface="Arial" pitchFamily="34" charset="0"/>
                <a:ea typeface="Arial" pitchFamily="34" charset="-122"/>
                <a:cs typeface="Arial" pitchFamily="34" charset="-120"/>
              </a:rPr>
              <a:t>LOGIC</a:t>
            </a:r>
            <a:endParaRPr lang="en-US" sz="850" dirty="0"/>
          </a:p>
          <a:p>
            <a:pPr algn="ctr" indent="0" marL="0">
              <a:lnSpc>
                <a:spcPct val="90000"/>
              </a:lnSpc>
              <a:buNone/>
            </a:pPr>
            <a:r>
              <a:rPr lang="en-US" sz="850" b="1" dirty="0">
                <a:solidFill>
                  <a:srgbClr val="FFFFFF"/>
                </a:solidFill>
                <a:latin typeface="Arial" pitchFamily="34" charset="0"/>
                <a:ea typeface="Arial" pitchFamily="34" charset="-122"/>
                <a:cs typeface="Arial" pitchFamily="34" charset="-120"/>
              </a:rPr>
              <a:t>DIE</a:t>
            </a:r>
            <a:endParaRPr lang="en-US" sz="850" dirty="0"/>
          </a:p>
        </p:txBody>
      </p:sp>
      <p:sp>
        <p:nvSpPr>
          <p:cNvPr id="29" name="Shape 27"/>
          <p:cNvSpPr/>
          <p:nvPr/>
        </p:nvSpPr>
        <p:spPr>
          <a:xfrm>
            <a:off x="1188720" y="3529584"/>
            <a:ext cx="82296" cy="82296"/>
          </a:xfrm>
          <a:prstGeom prst="ellipse">
            <a:avLst/>
          </a:prstGeom>
          <a:solidFill>
            <a:srgbClr val="FFB800"/>
          </a:solidFill>
          <a:ln w="12700">
            <a:solidFill>
              <a:srgbClr val="FFB800"/>
            </a:solidFill>
            <a:prstDash val="solid"/>
          </a:ln>
        </p:spPr>
      </p:sp>
      <p:sp>
        <p:nvSpPr>
          <p:cNvPr id="30" name="Shape 28"/>
          <p:cNvSpPr/>
          <p:nvPr/>
        </p:nvSpPr>
        <p:spPr>
          <a:xfrm>
            <a:off x="1412748" y="3529584"/>
            <a:ext cx="82296" cy="82296"/>
          </a:xfrm>
          <a:prstGeom prst="ellipse">
            <a:avLst/>
          </a:prstGeom>
          <a:solidFill>
            <a:srgbClr val="FFB800"/>
          </a:solidFill>
          <a:ln w="12700">
            <a:solidFill>
              <a:srgbClr val="FFB800"/>
            </a:solidFill>
            <a:prstDash val="solid"/>
          </a:ln>
        </p:spPr>
      </p:sp>
      <p:sp>
        <p:nvSpPr>
          <p:cNvPr id="31" name="Shape 29"/>
          <p:cNvSpPr/>
          <p:nvPr/>
        </p:nvSpPr>
        <p:spPr>
          <a:xfrm>
            <a:off x="1636776" y="3529584"/>
            <a:ext cx="82296" cy="82296"/>
          </a:xfrm>
          <a:prstGeom prst="ellipse">
            <a:avLst/>
          </a:prstGeom>
          <a:solidFill>
            <a:srgbClr val="FFB800"/>
          </a:solidFill>
          <a:ln w="12700">
            <a:solidFill>
              <a:srgbClr val="FFB800"/>
            </a:solidFill>
            <a:prstDash val="solid"/>
          </a:ln>
        </p:spPr>
      </p:sp>
      <p:sp>
        <p:nvSpPr>
          <p:cNvPr id="32" name="Shape 30"/>
          <p:cNvSpPr/>
          <p:nvPr/>
        </p:nvSpPr>
        <p:spPr>
          <a:xfrm>
            <a:off x="1860804" y="3529584"/>
            <a:ext cx="82296" cy="82296"/>
          </a:xfrm>
          <a:prstGeom prst="ellipse">
            <a:avLst/>
          </a:prstGeom>
          <a:solidFill>
            <a:srgbClr val="FFB800"/>
          </a:solidFill>
          <a:ln w="12700">
            <a:solidFill>
              <a:srgbClr val="FFB800"/>
            </a:solidFill>
            <a:prstDash val="solid"/>
          </a:ln>
        </p:spPr>
      </p:sp>
      <p:sp>
        <p:nvSpPr>
          <p:cNvPr id="33" name="Shape 31"/>
          <p:cNvSpPr/>
          <p:nvPr/>
        </p:nvSpPr>
        <p:spPr>
          <a:xfrm>
            <a:off x="2084832" y="3529584"/>
            <a:ext cx="82296" cy="82296"/>
          </a:xfrm>
          <a:prstGeom prst="ellipse">
            <a:avLst/>
          </a:prstGeom>
          <a:solidFill>
            <a:srgbClr val="FFB800"/>
          </a:solidFill>
          <a:ln w="12700">
            <a:solidFill>
              <a:srgbClr val="FFB800"/>
            </a:solidFill>
            <a:prstDash val="solid"/>
          </a:ln>
        </p:spPr>
      </p:sp>
      <p:sp>
        <p:nvSpPr>
          <p:cNvPr id="34" name="Shape 32"/>
          <p:cNvSpPr/>
          <p:nvPr/>
        </p:nvSpPr>
        <p:spPr>
          <a:xfrm>
            <a:off x="2308860" y="3529584"/>
            <a:ext cx="82296" cy="82296"/>
          </a:xfrm>
          <a:prstGeom prst="ellipse">
            <a:avLst/>
          </a:prstGeom>
          <a:solidFill>
            <a:srgbClr val="FFB800"/>
          </a:solidFill>
          <a:ln w="12700">
            <a:solidFill>
              <a:srgbClr val="FFB800"/>
            </a:solidFill>
            <a:prstDash val="solid"/>
          </a:ln>
        </p:spPr>
      </p:sp>
      <p:sp>
        <p:nvSpPr>
          <p:cNvPr id="35" name="Shape 33"/>
          <p:cNvSpPr/>
          <p:nvPr/>
        </p:nvSpPr>
        <p:spPr>
          <a:xfrm>
            <a:off x="2532888" y="3529584"/>
            <a:ext cx="82296" cy="82296"/>
          </a:xfrm>
          <a:prstGeom prst="ellipse">
            <a:avLst/>
          </a:prstGeom>
          <a:solidFill>
            <a:srgbClr val="FFB800"/>
          </a:solidFill>
          <a:ln w="12700">
            <a:solidFill>
              <a:srgbClr val="FFB800"/>
            </a:solidFill>
            <a:prstDash val="solid"/>
          </a:ln>
        </p:spPr>
      </p:sp>
      <p:sp>
        <p:nvSpPr>
          <p:cNvPr id="36" name="Shape 34"/>
          <p:cNvSpPr/>
          <p:nvPr/>
        </p:nvSpPr>
        <p:spPr>
          <a:xfrm>
            <a:off x="2756916" y="3529584"/>
            <a:ext cx="82296" cy="82296"/>
          </a:xfrm>
          <a:prstGeom prst="ellipse">
            <a:avLst/>
          </a:prstGeom>
          <a:solidFill>
            <a:srgbClr val="FFB800"/>
          </a:solidFill>
          <a:ln w="12700">
            <a:solidFill>
              <a:srgbClr val="FFB800"/>
            </a:solidFill>
            <a:prstDash val="solid"/>
          </a:ln>
        </p:spPr>
      </p:sp>
      <p:sp>
        <p:nvSpPr>
          <p:cNvPr id="37" name="Shape 35"/>
          <p:cNvSpPr/>
          <p:nvPr/>
        </p:nvSpPr>
        <p:spPr>
          <a:xfrm>
            <a:off x="2980944" y="3529584"/>
            <a:ext cx="82296" cy="82296"/>
          </a:xfrm>
          <a:prstGeom prst="ellipse">
            <a:avLst/>
          </a:prstGeom>
          <a:solidFill>
            <a:srgbClr val="FFB800"/>
          </a:solidFill>
          <a:ln w="12700">
            <a:solidFill>
              <a:srgbClr val="FFB800"/>
            </a:solidFill>
            <a:prstDash val="solid"/>
          </a:ln>
        </p:spPr>
      </p:sp>
      <p:sp>
        <p:nvSpPr>
          <p:cNvPr id="38" name="Shape 36"/>
          <p:cNvSpPr/>
          <p:nvPr/>
        </p:nvSpPr>
        <p:spPr>
          <a:xfrm>
            <a:off x="3204972" y="3529584"/>
            <a:ext cx="82296" cy="82296"/>
          </a:xfrm>
          <a:prstGeom prst="ellipse">
            <a:avLst/>
          </a:prstGeom>
          <a:solidFill>
            <a:srgbClr val="FFB800"/>
          </a:solidFill>
          <a:ln w="12700">
            <a:solidFill>
              <a:srgbClr val="FFB800"/>
            </a:solidFill>
            <a:prstDash val="solid"/>
          </a:ln>
        </p:spPr>
      </p:sp>
      <p:sp>
        <p:nvSpPr>
          <p:cNvPr id="39" name="Shape 37"/>
          <p:cNvSpPr/>
          <p:nvPr/>
        </p:nvSpPr>
        <p:spPr>
          <a:xfrm>
            <a:off x="3429000" y="3529584"/>
            <a:ext cx="82296" cy="82296"/>
          </a:xfrm>
          <a:prstGeom prst="ellipse">
            <a:avLst/>
          </a:prstGeom>
          <a:solidFill>
            <a:srgbClr val="FFB800"/>
          </a:solidFill>
          <a:ln w="12700">
            <a:solidFill>
              <a:srgbClr val="FFB800"/>
            </a:solidFill>
            <a:prstDash val="solid"/>
          </a:ln>
        </p:spPr>
      </p:sp>
      <p:sp>
        <p:nvSpPr>
          <p:cNvPr id="40" name="Shape 38"/>
          <p:cNvSpPr/>
          <p:nvPr/>
        </p:nvSpPr>
        <p:spPr>
          <a:xfrm>
            <a:off x="3653028" y="3529584"/>
            <a:ext cx="82296" cy="82296"/>
          </a:xfrm>
          <a:prstGeom prst="ellipse">
            <a:avLst/>
          </a:prstGeom>
          <a:solidFill>
            <a:srgbClr val="FFB800"/>
          </a:solidFill>
          <a:ln w="12700">
            <a:solidFill>
              <a:srgbClr val="FFB800"/>
            </a:solidFill>
            <a:prstDash val="solid"/>
          </a:ln>
        </p:spPr>
      </p:sp>
      <p:sp>
        <p:nvSpPr>
          <p:cNvPr id="41" name="Shape 39"/>
          <p:cNvSpPr/>
          <p:nvPr/>
        </p:nvSpPr>
        <p:spPr>
          <a:xfrm>
            <a:off x="685800" y="3904488"/>
            <a:ext cx="146304" cy="146304"/>
          </a:xfrm>
          <a:prstGeom prst="rect">
            <a:avLst/>
          </a:prstGeom>
          <a:solidFill>
            <a:srgbClr val="051A3D"/>
          </a:solidFill>
          <a:ln w="6350">
            <a:solidFill>
              <a:srgbClr val="666666"/>
            </a:solidFill>
            <a:prstDash val="solid"/>
          </a:ln>
        </p:spPr>
      </p:sp>
      <p:sp>
        <p:nvSpPr>
          <p:cNvPr id="42" name="Text 40"/>
          <p:cNvSpPr/>
          <p:nvPr/>
        </p:nvSpPr>
        <p:spPr>
          <a:xfrm>
            <a:off x="914400" y="3886200"/>
            <a:ext cx="3429000" cy="256032"/>
          </a:xfrm>
          <a:prstGeom prst="rect">
            <a:avLst/>
          </a:prstGeom>
          <a:noFill/>
          <a:ln/>
        </p:spPr>
        <p:txBody>
          <a:bodyPr wrap="square" lIns="0" tIns="0" rIns="0" bIns="0" rtlCol="0" anchor="ctr"/>
          <a:lstStyle/>
          <a:p>
            <a:pPr indent="0" marL="0">
              <a:buNone/>
            </a:pPr>
            <a:r>
              <a:rPr lang="en-US" sz="950" b="1" dirty="0">
                <a:solidFill>
                  <a:srgbClr val="000000"/>
                </a:solidFill>
                <a:latin typeface="Arial" pitchFamily="34" charset="0"/>
                <a:ea typeface="Arial" pitchFamily="34" charset="-122"/>
                <a:cs typeface="Arial" pitchFamily="34" charset="-120"/>
              </a:rPr>
              <a:t>Logic die</a:t>
            </a:r>
            <a:pPr indent="0" marL="0">
              <a:buNone/>
            </a:pPr>
            <a:r>
              <a:rPr lang="en-US" sz="950" dirty="0">
                <a:solidFill>
                  <a:srgbClr val="333333"/>
                </a:solidFill>
                <a:latin typeface="Arial" pitchFamily="34" charset="0"/>
                <a:ea typeface="Arial" pitchFamily="34" charset="-122"/>
                <a:cs typeface="Arial" pitchFamily="34" charset="-120"/>
              </a:rPr>
              <a:t> — the GPU/ASIC that does the math</a:t>
            </a:r>
            <a:endParaRPr lang="en-US" sz="950" dirty="0"/>
          </a:p>
        </p:txBody>
      </p:sp>
      <p:sp>
        <p:nvSpPr>
          <p:cNvPr id="43" name="Shape 41"/>
          <p:cNvSpPr/>
          <p:nvPr/>
        </p:nvSpPr>
        <p:spPr>
          <a:xfrm>
            <a:off x="685800" y="4270248"/>
            <a:ext cx="146304" cy="146304"/>
          </a:xfrm>
          <a:prstGeom prst="rect">
            <a:avLst/>
          </a:prstGeom>
          <a:solidFill>
            <a:srgbClr val="008B8B"/>
          </a:solidFill>
          <a:ln w="6350">
            <a:solidFill>
              <a:srgbClr val="666666"/>
            </a:solidFill>
            <a:prstDash val="solid"/>
          </a:ln>
        </p:spPr>
      </p:sp>
      <p:sp>
        <p:nvSpPr>
          <p:cNvPr id="44" name="Text 42"/>
          <p:cNvSpPr/>
          <p:nvPr/>
        </p:nvSpPr>
        <p:spPr>
          <a:xfrm>
            <a:off x="914400" y="4251960"/>
            <a:ext cx="3429000" cy="256032"/>
          </a:xfrm>
          <a:prstGeom prst="rect">
            <a:avLst/>
          </a:prstGeom>
          <a:noFill/>
          <a:ln/>
        </p:spPr>
        <p:txBody>
          <a:bodyPr wrap="square" lIns="0" tIns="0" rIns="0" bIns="0" rtlCol="0" anchor="ctr"/>
          <a:lstStyle/>
          <a:p>
            <a:pPr indent="0" marL="0">
              <a:buNone/>
            </a:pPr>
            <a:r>
              <a:rPr lang="en-US" sz="950" b="1" dirty="0">
                <a:solidFill>
                  <a:srgbClr val="000000"/>
                </a:solidFill>
                <a:latin typeface="Arial" pitchFamily="34" charset="0"/>
                <a:ea typeface="Arial" pitchFamily="34" charset="-122"/>
                <a:cs typeface="Arial" pitchFamily="34" charset="-120"/>
              </a:rPr>
              <a:t>HBM stacks</a:t>
            </a:r>
            <a:pPr indent="0" marL="0">
              <a:buNone/>
            </a:pPr>
            <a:r>
              <a:rPr lang="en-US" sz="950" dirty="0">
                <a:solidFill>
                  <a:srgbClr val="333333"/>
                </a:solidFill>
                <a:latin typeface="Arial" pitchFamily="34" charset="0"/>
                <a:ea typeface="Arial" pitchFamily="34" charset="-122"/>
                <a:cs typeface="Arial" pitchFamily="34" charset="-120"/>
              </a:rPr>
              <a:t> — high-bandwidth memory beside the die</a:t>
            </a:r>
            <a:endParaRPr lang="en-US" sz="950" dirty="0"/>
          </a:p>
        </p:txBody>
      </p:sp>
      <p:sp>
        <p:nvSpPr>
          <p:cNvPr id="45" name="Shape 43"/>
          <p:cNvSpPr/>
          <p:nvPr/>
        </p:nvSpPr>
        <p:spPr>
          <a:xfrm>
            <a:off x="685800" y="4636008"/>
            <a:ext cx="146304" cy="146304"/>
          </a:xfrm>
          <a:prstGeom prst="rect">
            <a:avLst/>
          </a:prstGeom>
          <a:solidFill>
            <a:srgbClr val="D8D8D8"/>
          </a:solidFill>
          <a:ln w="6350">
            <a:solidFill>
              <a:srgbClr val="666666"/>
            </a:solidFill>
            <a:prstDash val="solid"/>
          </a:ln>
        </p:spPr>
      </p:sp>
      <p:sp>
        <p:nvSpPr>
          <p:cNvPr id="46" name="Text 44"/>
          <p:cNvSpPr/>
          <p:nvPr/>
        </p:nvSpPr>
        <p:spPr>
          <a:xfrm>
            <a:off x="914400" y="4617720"/>
            <a:ext cx="3429000" cy="256032"/>
          </a:xfrm>
          <a:prstGeom prst="rect">
            <a:avLst/>
          </a:prstGeom>
          <a:noFill/>
          <a:ln/>
        </p:spPr>
        <p:txBody>
          <a:bodyPr wrap="square" lIns="0" tIns="0" rIns="0" bIns="0" rtlCol="0" anchor="ctr"/>
          <a:lstStyle/>
          <a:p>
            <a:pPr indent="0" marL="0">
              <a:buNone/>
            </a:pPr>
            <a:r>
              <a:rPr lang="en-US" sz="950" b="1" dirty="0">
                <a:solidFill>
                  <a:srgbClr val="000000"/>
                </a:solidFill>
                <a:latin typeface="Arial" pitchFamily="34" charset="0"/>
                <a:ea typeface="Arial" pitchFamily="34" charset="-122"/>
                <a:cs typeface="Arial" pitchFamily="34" charset="-120"/>
              </a:rPr>
              <a:t>Interposer (CoWoS)</a:t>
            </a:r>
            <a:pPr indent="0" marL="0">
              <a:buNone/>
            </a:pPr>
            <a:r>
              <a:rPr lang="en-US" sz="950" dirty="0">
                <a:solidFill>
                  <a:srgbClr val="333333"/>
                </a:solidFill>
                <a:latin typeface="Arial" pitchFamily="34" charset="0"/>
                <a:ea typeface="Arial" pitchFamily="34" charset="-122"/>
                <a:cs typeface="Arial" pitchFamily="34" charset="-120"/>
              </a:rPr>
              <a:t> — silicon bridge wiring die ↔ memory</a:t>
            </a:r>
            <a:endParaRPr lang="en-US" sz="950" dirty="0"/>
          </a:p>
        </p:txBody>
      </p:sp>
      <p:sp>
        <p:nvSpPr>
          <p:cNvPr id="47" name="Shape 45"/>
          <p:cNvSpPr/>
          <p:nvPr/>
        </p:nvSpPr>
        <p:spPr>
          <a:xfrm>
            <a:off x="685800" y="5001768"/>
            <a:ext cx="146304" cy="146304"/>
          </a:xfrm>
          <a:prstGeom prst="rect">
            <a:avLst/>
          </a:prstGeom>
          <a:solidFill>
            <a:srgbClr val="FFB800"/>
          </a:solidFill>
          <a:ln w="6350">
            <a:solidFill>
              <a:srgbClr val="666666"/>
            </a:solidFill>
            <a:prstDash val="solid"/>
          </a:ln>
        </p:spPr>
      </p:sp>
      <p:sp>
        <p:nvSpPr>
          <p:cNvPr id="48" name="Text 46"/>
          <p:cNvSpPr/>
          <p:nvPr/>
        </p:nvSpPr>
        <p:spPr>
          <a:xfrm>
            <a:off x="914400" y="4983480"/>
            <a:ext cx="3429000" cy="256032"/>
          </a:xfrm>
          <a:prstGeom prst="rect">
            <a:avLst/>
          </a:prstGeom>
          <a:noFill/>
          <a:ln/>
        </p:spPr>
        <p:txBody>
          <a:bodyPr wrap="square" lIns="0" tIns="0" rIns="0" bIns="0" rtlCol="0" anchor="ctr"/>
          <a:lstStyle/>
          <a:p>
            <a:pPr indent="0" marL="0">
              <a:buNone/>
            </a:pPr>
            <a:r>
              <a:rPr lang="en-US" sz="950" b="1" dirty="0">
                <a:solidFill>
                  <a:srgbClr val="000000"/>
                </a:solidFill>
                <a:latin typeface="Arial" pitchFamily="34" charset="0"/>
                <a:ea typeface="Arial" pitchFamily="34" charset="-122"/>
                <a:cs typeface="Arial" pitchFamily="34" charset="-120"/>
              </a:rPr>
              <a:t>Substrate + pads</a:t>
            </a:r>
            <a:pPr indent="0" marL="0">
              <a:buNone/>
            </a:pPr>
            <a:r>
              <a:rPr lang="en-US" sz="950" dirty="0">
                <a:solidFill>
                  <a:srgbClr val="333333"/>
                </a:solidFill>
                <a:latin typeface="Arial" pitchFamily="34" charset="0"/>
                <a:ea typeface="Arial" pitchFamily="34" charset="-122"/>
                <a:cs typeface="Arial" pitchFamily="34" charset="-120"/>
              </a:rPr>
              <a:t> — the base that plugs into the board</a:t>
            </a:r>
            <a:endParaRPr lang="en-US" sz="950" dirty="0"/>
          </a:p>
        </p:txBody>
      </p:sp>
      <p:sp>
        <p:nvSpPr>
          <p:cNvPr id="49" name="Text 47"/>
          <p:cNvSpPr/>
          <p:nvPr/>
        </p:nvSpPr>
        <p:spPr>
          <a:xfrm>
            <a:off x="457200" y="5559552"/>
            <a:ext cx="4023360" cy="274320"/>
          </a:xfrm>
          <a:prstGeom prst="rect">
            <a:avLst/>
          </a:prstGeom>
          <a:noFill/>
          <a:ln/>
        </p:spPr>
        <p:txBody>
          <a:bodyPr wrap="square" lIns="0" tIns="0" rIns="0" bIns="0" rtlCol="0" anchor="t"/>
          <a:lstStyle/>
          <a:p>
            <a:pPr indent="0" marL="0">
              <a:buNone/>
            </a:pPr>
            <a:r>
              <a:rPr lang="en-US" sz="800" i="1" dirty="0">
                <a:solidFill>
                  <a:srgbClr val="666666"/>
                </a:solidFill>
                <a:latin typeface="Arial" pitchFamily="34" charset="0"/>
                <a:ea typeface="Arial" pitchFamily="34" charset="-122"/>
                <a:cs typeface="Arial" pitchFamily="34" charset="-120"/>
              </a:rPr>
              <a:t>Schematic of an AI accelerator package — one logic die surrounded by HBM memory on a silicon interposer.</a:t>
            </a:r>
            <a:endParaRPr lang="en-US" sz="800" dirty="0"/>
          </a:p>
        </p:txBody>
      </p:sp>
      <p:sp>
        <p:nvSpPr>
          <p:cNvPr id="50" name="Text 48"/>
          <p:cNvSpPr/>
          <p:nvPr/>
        </p:nvSpPr>
        <p:spPr>
          <a:xfrm>
            <a:off x="4617720" y="1554480"/>
            <a:ext cx="4069080" cy="219456"/>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THE FOUR STAGES</a:t>
            </a:r>
            <a:endParaRPr lang="en-US" sz="900" dirty="0"/>
          </a:p>
        </p:txBody>
      </p:sp>
      <p:sp>
        <p:nvSpPr>
          <p:cNvPr id="51" name="Shape 49"/>
          <p:cNvSpPr/>
          <p:nvPr/>
        </p:nvSpPr>
        <p:spPr>
          <a:xfrm>
            <a:off x="4617720" y="1783080"/>
            <a:ext cx="4069080" cy="0"/>
          </a:xfrm>
          <a:prstGeom prst="line">
            <a:avLst/>
          </a:prstGeom>
          <a:noFill/>
          <a:ln w="6350">
            <a:solidFill>
              <a:srgbClr val="E5E5E5"/>
            </a:solidFill>
            <a:prstDash val="solid"/>
          </a:ln>
        </p:spPr>
      </p:sp>
      <p:sp>
        <p:nvSpPr>
          <p:cNvPr id="52" name="Shape 50"/>
          <p:cNvSpPr/>
          <p:nvPr/>
        </p:nvSpPr>
        <p:spPr>
          <a:xfrm>
            <a:off x="4617720" y="1911096"/>
            <a:ext cx="384048" cy="384048"/>
          </a:xfrm>
          <a:prstGeom prst="ellipse">
            <a:avLst/>
          </a:prstGeom>
          <a:solidFill>
            <a:srgbClr val="6B46C1"/>
          </a:solidFill>
          <a:ln w="12700">
            <a:solidFill>
              <a:srgbClr val="6B46C1"/>
            </a:solidFill>
            <a:prstDash val="solid"/>
          </a:ln>
        </p:spPr>
      </p:sp>
      <p:sp>
        <p:nvSpPr>
          <p:cNvPr id="53" name="Text 51"/>
          <p:cNvSpPr/>
          <p:nvPr/>
        </p:nvSpPr>
        <p:spPr>
          <a:xfrm>
            <a:off x="4617720" y="191109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01</a:t>
            </a:r>
            <a:endParaRPr lang="en-US" sz="1100" dirty="0"/>
          </a:p>
        </p:txBody>
      </p:sp>
      <p:sp>
        <p:nvSpPr>
          <p:cNvPr id="54" name="Text 52"/>
          <p:cNvSpPr/>
          <p:nvPr/>
        </p:nvSpPr>
        <p:spPr>
          <a:xfrm>
            <a:off x="5166360" y="187452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DESIGN</a:t>
            </a:r>
            <a:endParaRPr lang="en-US" sz="1300" dirty="0"/>
          </a:p>
        </p:txBody>
      </p:sp>
      <p:sp>
        <p:nvSpPr>
          <p:cNvPr id="55" name="Text 53"/>
          <p:cNvSpPr/>
          <p:nvPr/>
        </p:nvSpPr>
        <p:spPr>
          <a:xfrm>
            <a:off x="5166360" y="214884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Engineers draft the chip's blueprint in software, mapping where each of tens of billions of microscopic switches will sit.</a:t>
            </a:r>
            <a:endParaRPr lang="en-US" sz="1050" dirty="0"/>
          </a:p>
        </p:txBody>
      </p:sp>
      <p:sp>
        <p:nvSpPr>
          <p:cNvPr id="56" name="Shape 54"/>
          <p:cNvSpPr/>
          <p:nvPr/>
        </p:nvSpPr>
        <p:spPr>
          <a:xfrm>
            <a:off x="4617720" y="2816352"/>
            <a:ext cx="4069080" cy="0"/>
          </a:xfrm>
          <a:prstGeom prst="line">
            <a:avLst/>
          </a:prstGeom>
          <a:noFill/>
          <a:ln w="6350">
            <a:solidFill>
              <a:srgbClr val="E5E5E5"/>
            </a:solidFill>
            <a:prstDash val="solid"/>
          </a:ln>
        </p:spPr>
      </p:sp>
      <p:sp>
        <p:nvSpPr>
          <p:cNvPr id="57" name="Shape 55"/>
          <p:cNvSpPr/>
          <p:nvPr/>
        </p:nvSpPr>
        <p:spPr>
          <a:xfrm>
            <a:off x="4617720" y="2871216"/>
            <a:ext cx="384048" cy="384048"/>
          </a:xfrm>
          <a:prstGeom prst="ellipse">
            <a:avLst/>
          </a:prstGeom>
          <a:solidFill>
            <a:srgbClr val="E8478D"/>
          </a:solidFill>
          <a:ln w="12700">
            <a:solidFill>
              <a:srgbClr val="E8478D"/>
            </a:solidFill>
            <a:prstDash val="solid"/>
          </a:ln>
        </p:spPr>
      </p:sp>
      <p:sp>
        <p:nvSpPr>
          <p:cNvPr id="58" name="Text 56"/>
          <p:cNvSpPr/>
          <p:nvPr/>
        </p:nvSpPr>
        <p:spPr>
          <a:xfrm>
            <a:off x="4617720" y="287121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02</a:t>
            </a:r>
            <a:endParaRPr lang="en-US" sz="1100" dirty="0"/>
          </a:p>
        </p:txBody>
      </p:sp>
      <p:sp>
        <p:nvSpPr>
          <p:cNvPr id="59" name="Text 57"/>
          <p:cNvSpPr/>
          <p:nvPr/>
        </p:nvSpPr>
        <p:spPr>
          <a:xfrm>
            <a:off x="5166360" y="283464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EQUIPMENT</a:t>
            </a:r>
            <a:endParaRPr lang="en-US" sz="1300" dirty="0"/>
          </a:p>
        </p:txBody>
      </p:sp>
      <p:sp>
        <p:nvSpPr>
          <p:cNvPr id="60" name="Text 58"/>
          <p:cNvSpPr/>
          <p:nvPr/>
        </p:nvSpPr>
        <p:spPr>
          <a:xfrm>
            <a:off x="5166360" y="310896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Highly specialized machines are built to print circuit patterns at near-atomic scale using ultraviolet light.</a:t>
            </a:r>
            <a:endParaRPr lang="en-US" sz="1050" dirty="0"/>
          </a:p>
        </p:txBody>
      </p:sp>
      <p:sp>
        <p:nvSpPr>
          <p:cNvPr id="61" name="Shape 59"/>
          <p:cNvSpPr/>
          <p:nvPr/>
        </p:nvSpPr>
        <p:spPr>
          <a:xfrm>
            <a:off x="4617720" y="3776472"/>
            <a:ext cx="4069080" cy="0"/>
          </a:xfrm>
          <a:prstGeom prst="line">
            <a:avLst/>
          </a:prstGeom>
          <a:noFill/>
          <a:ln w="6350">
            <a:solidFill>
              <a:srgbClr val="E5E5E5"/>
            </a:solidFill>
            <a:prstDash val="solid"/>
          </a:ln>
        </p:spPr>
      </p:sp>
      <p:sp>
        <p:nvSpPr>
          <p:cNvPr id="62" name="Shape 60"/>
          <p:cNvSpPr/>
          <p:nvPr/>
        </p:nvSpPr>
        <p:spPr>
          <a:xfrm>
            <a:off x="4617720" y="3831336"/>
            <a:ext cx="384048" cy="384048"/>
          </a:xfrm>
          <a:prstGeom prst="ellipse">
            <a:avLst/>
          </a:prstGeom>
          <a:solidFill>
            <a:srgbClr val="008B8B"/>
          </a:solidFill>
          <a:ln w="12700">
            <a:solidFill>
              <a:srgbClr val="008B8B"/>
            </a:solidFill>
            <a:prstDash val="solid"/>
          </a:ln>
        </p:spPr>
      </p:sp>
      <p:sp>
        <p:nvSpPr>
          <p:cNvPr id="63" name="Text 61"/>
          <p:cNvSpPr/>
          <p:nvPr/>
        </p:nvSpPr>
        <p:spPr>
          <a:xfrm>
            <a:off x="4617720" y="383133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03</a:t>
            </a:r>
            <a:endParaRPr lang="en-US" sz="1100" dirty="0"/>
          </a:p>
        </p:txBody>
      </p:sp>
      <p:sp>
        <p:nvSpPr>
          <p:cNvPr id="64" name="Text 62"/>
          <p:cNvSpPr/>
          <p:nvPr/>
        </p:nvSpPr>
        <p:spPr>
          <a:xfrm>
            <a:off x="5166360" y="379476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FABRICATION</a:t>
            </a:r>
            <a:endParaRPr lang="en-US" sz="1300" dirty="0"/>
          </a:p>
        </p:txBody>
      </p:sp>
      <p:sp>
        <p:nvSpPr>
          <p:cNvPr id="65" name="Text 63"/>
          <p:cNvSpPr/>
          <p:nvPr/>
        </p:nvSpPr>
        <p:spPr>
          <a:xfrm>
            <a:off x="5166360" y="406908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Silicon wafers pass through more than a thousand precise steps inside ultra-clean factories that take years to build.</a:t>
            </a:r>
            <a:endParaRPr lang="en-US" sz="1050" dirty="0"/>
          </a:p>
        </p:txBody>
      </p:sp>
      <p:sp>
        <p:nvSpPr>
          <p:cNvPr id="66" name="Shape 64"/>
          <p:cNvSpPr/>
          <p:nvPr/>
        </p:nvSpPr>
        <p:spPr>
          <a:xfrm>
            <a:off x="4617720" y="4736592"/>
            <a:ext cx="4069080" cy="0"/>
          </a:xfrm>
          <a:prstGeom prst="line">
            <a:avLst/>
          </a:prstGeom>
          <a:noFill/>
          <a:ln w="6350">
            <a:solidFill>
              <a:srgbClr val="E5E5E5"/>
            </a:solidFill>
            <a:prstDash val="solid"/>
          </a:ln>
        </p:spPr>
      </p:sp>
      <p:sp>
        <p:nvSpPr>
          <p:cNvPr id="67" name="Shape 65"/>
          <p:cNvSpPr/>
          <p:nvPr/>
        </p:nvSpPr>
        <p:spPr>
          <a:xfrm>
            <a:off x="4617720" y="4791456"/>
            <a:ext cx="384048" cy="384048"/>
          </a:xfrm>
          <a:prstGeom prst="ellipse">
            <a:avLst/>
          </a:prstGeom>
          <a:solidFill>
            <a:srgbClr val="051A3D"/>
          </a:solidFill>
          <a:ln w="12700">
            <a:solidFill>
              <a:srgbClr val="051A3D"/>
            </a:solidFill>
            <a:prstDash val="solid"/>
          </a:ln>
        </p:spPr>
      </p:sp>
      <p:sp>
        <p:nvSpPr>
          <p:cNvPr id="68" name="Text 66"/>
          <p:cNvSpPr/>
          <p:nvPr/>
        </p:nvSpPr>
        <p:spPr>
          <a:xfrm>
            <a:off x="4617720" y="479145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04</a:t>
            </a:r>
            <a:endParaRPr lang="en-US" sz="1100" dirty="0"/>
          </a:p>
        </p:txBody>
      </p:sp>
      <p:sp>
        <p:nvSpPr>
          <p:cNvPr id="69" name="Text 67"/>
          <p:cNvSpPr/>
          <p:nvPr/>
        </p:nvSpPr>
        <p:spPr>
          <a:xfrm>
            <a:off x="5166360" y="475488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PACKAGING</a:t>
            </a:r>
            <a:endParaRPr lang="en-US" sz="1300" dirty="0"/>
          </a:p>
        </p:txBody>
      </p:sp>
      <p:sp>
        <p:nvSpPr>
          <p:cNvPr id="70" name="Text 68"/>
          <p:cNvSpPr/>
          <p:nvPr/>
        </p:nvSpPr>
        <p:spPr>
          <a:xfrm>
            <a:off x="5166360" y="502920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The finished chip is bonded with high-speed memory into a single package ready to plug into a server.</a:t>
            </a:r>
            <a:endParaRPr lang="en-US" sz="1050" dirty="0"/>
          </a:p>
        </p:txBody>
      </p:sp>
      <p:sp>
        <p:nvSpPr>
          <p:cNvPr id="71" name="Text 6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SIA / SEMI industry taxonomy; SEMI World Fab Forecast; TSMC, NVIDIA, ASML disclosures. Process descriptions are plain-English simplifications.</a:t>
            </a:r>
            <a:endParaRPr lang="en-US" sz="700" dirty="0"/>
          </a:p>
        </p:txBody>
      </p:sp>
      <p:sp>
        <p:nvSpPr>
          <p:cNvPr id="72" name="Shape 70"/>
          <p:cNvSpPr/>
          <p:nvPr/>
        </p:nvSpPr>
        <p:spPr>
          <a:xfrm>
            <a:off x="0" y="6286500"/>
            <a:ext cx="9144000" cy="571500"/>
          </a:xfrm>
          <a:prstGeom prst="rect">
            <a:avLst/>
          </a:prstGeom>
          <a:solidFill>
            <a:srgbClr val="000000"/>
          </a:solidFill>
          <a:ln w="12700">
            <a:solidFill>
              <a:srgbClr val="000000"/>
            </a:solidFill>
            <a:prstDash val="solid"/>
          </a:ln>
        </p:spPr>
      </p:sp>
      <p:sp>
        <p:nvSpPr>
          <p:cNvPr id="73" name="Text 7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74" name="Text 7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Five hyperscalers fund ~60% of AI chip demand — their capex IS the market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Five hyperscalers fund roughly 60% of advanced-AI chip demand — sovereigns, enterprise, and edge devices split the rest.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4773168" cy="457200"/>
          </a:xfrm>
          <a:prstGeom prst="rect">
            <a:avLst/>
          </a:prstGeom>
          <a:solidFill>
            <a:srgbClr val="FFB800"/>
          </a:solidFill>
          <a:ln w="12700">
            <a:solidFill>
              <a:srgbClr val="FFB800"/>
            </a:solidFill>
            <a:prstDash val="solid"/>
          </a:ln>
        </p:spPr>
      </p:sp>
      <p:sp>
        <p:nvSpPr>
          <p:cNvPr id="8" name="Text 6"/>
          <p:cNvSpPr/>
          <p:nvPr/>
        </p:nvSpPr>
        <p:spPr>
          <a:xfrm>
            <a:off x="457200" y="1737360"/>
            <a:ext cx="4773168" cy="457200"/>
          </a:xfrm>
          <a:prstGeom prst="rect">
            <a:avLst/>
          </a:prstGeom>
          <a:noFill/>
          <a:ln/>
        </p:spPr>
        <p:txBody>
          <a:bodyPr wrap="square" lIns="0" tIns="0" rIns="0" bIns="0" rtlCol="0" anchor="ctr"/>
          <a:lstStyle/>
          <a:p>
            <a:pPr algn="ctr" indent="0" marL="0">
              <a:buNone/>
            </a:pPr>
            <a:r>
              <a:rPr lang="en-US" sz="800" b="1" dirty="0">
                <a:solidFill>
                  <a:srgbClr val="000000"/>
                </a:solidFill>
                <a:latin typeface="Arial" pitchFamily="34" charset="0"/>
                <a:ea typeface="Arial" pitchFamily="34" charset="-122"/>
                <a:cs typeface="Arial" pitchFamily="34" charset="-120"/>
              </a:rPr>
              <a:t>HYPERSCALERS</a:t>
            </a:r>
            <a:endParaRPr lang="en-US" sz="800" dirty="0"/>
          </a:p>
        </p:txBody>
      </p:sp>
      <p:sp>
        <p:nvSpPr>
          <p:cNvPr id="9" name="Shape 7"/>
          <p:cNvSpPr/>
          <p:nvPr/>
        </p:nvSpPr>
        <p:spPr>
          <a:xfrm>
            <a:off x="5230368" y="1737360"/>
            <a:ext cx="987552" cy="457200"/>
          </a:xfrm>
          <a:prstGeom prst="rect">
            <a:avLst/>
          </a:prstGeom>
          <a:solidFill>
            <a:srgbClr val="008B8B"/>
          </a:solidFill>
          <a:ln w="12700">
            <a:solidFill>
              <a:srgbClr val="008B8B"/>
            </a:solidFill>
            <a:prstDash val="solid"/>
          </a:ln>
        </p:spPr>
      </p:sp>
      <p:sp>
        <p:nvSpPr>
          <p:cNvPr id="10" name="Text 8"/>
          <p:cNvSpPr/>
          <p:nvPr/>
        </p:nvSpPr>
        <p:spPr>
          <a:xfrm>
            <a:off x="5230368" y="1737360"/>
            <a:ext cx="987552"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SOVEREIGNS</a:t>
            </a:r>
            <a:endParaRPr lang="en-US" sz="800" dirty="0"/>
          </a:p>
        </p:txBody>
      </p:sp>
      <p:sp>
        <p:nvSpPr>
          <p:cNvPr id="11" name="Shape 9"/>
          <p:cNvSpPr/>
          <p:nvPr/>
        </p:nvSpPr>
        <p:spPr>
          <a:xfrm>
            <a:off x="6217920" y="1737360"/>
            <a:ext cx="822960" cy="457200"/>
          </a:xfrm>
          <a:prstGeom prst="rect">
            <a:avLst/>
          </a:prstGeom>
          <a:solidFill>
            <a:srgbClr val="666666"/>
          </a:solidFill>
          <a:ln w="12700">
            <a:solidFill>
              <a:srgbClr val="666666"/>
            </a:solidFill>
            <a:prstDash val="solid"/>
          </a:ln>
        </p:spPr>
      </p:sp>
      <p:sp>
        <p:nvSpPr>
          <p:cNvPr id="12" name="Text 10"/>
          <p:cNvSpPr/>
          <p:nvPr/>
        </p:nvSpPr>
        <p:spPr>
          <a:xfrm>
            <a:off x="6217920" y="1737360"/>
            <a:ext cx="82296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ENTERPRISE</a:t>
            </a:r>
            <a:endParaRPr lang="en-US" sz="800" dirty="0"/>
          </a:p>
        </p:txBody>
      </p:sp>
      <p:sp>
        <p:nvSpPr>
          <p:cNvPr id="13" name="Shape 11"/>
          <p:cNvSpPr/>
          <p:nvPr/>
        </p:nvSpPr>
        <p:spPr>
          <a:xfrm>
            <a:off x="7040880" y="1737360"/>
            <a:ext cx="1645920" cy="457200"/>
          </a:xfrm>
          <a:prstGeom prst="rect">
            <a:avLst/>
          </a:prstGeom>
          <a:solidFill>
            <a:srgbClr val="F6693D"/>
          </a:solidFill>
          <a:ln w="12700">
            <a:solidFill>
              <a:srgbClr val="F6693D"/>
            </a:solidFill>
            <a:prstDash val="solid"/>
          </a:ln>
        </p:spPr>
      </p:sp>
      <p:sp>
        <p:nvSpPr>
          <p:cNvPr id="14" name="Text 12"/>
          <p:cNvSpPr/>
          <p:nvPr/>
        </p:nvSpPr>
        <p:spPr>
          <a:xfrm>
            <a:off x="7040880" y="1737360"/>
            <a:ext cx="16459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CONSUMER + EDGE</a:t>
            </a:r>
            <a:endParaRPr lang="en-US" sz="800" dirty="0"/>
          </a:p>
        </p:txBody>
      </p:sp>
      <p:sp>
        <p:nvSpPr>
          <p:cNvPr id="15" name="Text 13"/>
          <p:cNvSpPr/>
          <p:nvPr/>
        </p:nvSpPr>
        <p:spPr>
          <a:xfrm>
            <a:off x="457200" y="2212848"/>
            <a:ext cx="8229600" cy="182880"/>
          </a:xfrm>
          <a:prstGeom prst="rect">
            <a:avLst/>
          </a:prstGeom>
          <a:noFill/>
          <a:ln/>
        </p:spPr>
        <p:txBody>
          <a:bodyPr wrap="square" lIns="0" tIns="0" rIns="0" bIns="0" rtlCol="0" anchor="ctr"/>
          <a:lstStyle/>
          <a:p>
            <a:pPr algn="r" indent="0" marL="0">
              <a:buNone/>
            </a:pPr>
            <a:r>
              <a:rPr lang="en-US" sz="850" i="1" dirty="0">
                <a:solidFill>
                  <a:srgbClr val="666666"/>
                </a:solidFill>
                <a:latin typeface="Arial" pitchFamily="34" charset="0"/>
                <a:ea typeface="Arial" pitchFamily="34" charset="-122"/>
                <a:cs typeface="Arial" pitchFamily="34" charset="-120"/>
              </a:rPr>
              <a:t>Estimated share of advanced-AI chip demand, 2026E</a:t>
            </a:r>
            <a:endParaRPr lang="en-US" sz="850" dirty="0"/>
          </a:p>
        </p:txBody>
      </p:sp>
      <p:sp>
        <p:nvSpPr>
          <p:cNvPr id="16" name="Shape 14"/>
          <p:cNvSpPr/>
          <p:nvPr/>
        </p:nvSpPr>
        <p:spPr>
          <a:xfrm>
            <a:off x="457200" y="2560320"/>
            <a:ext cx="1988820" cy="2606040"/>
          </a:xfrm>
          <a:prstGeom prst="rect">
            <a:avLst/>
          </a:prstGeom>
          <a:solidFill>
            <a:srgbClr val="F9F9F9"/>
          </a:solidFill>
          <a:ln w="6350">
            <a:solidFill>
              <a:srgbClr val="E5E5E5"/>
            </a:solidFill>
            <a:prstDash val="solid"/>
          </a:ln>
        </p:spPr>
      </p:sp>
      <p:sp>
        <p:nvSpPr>
          <p:cNvPr id="17" name="Shape 15"/>
          <p:cNvSpPr/>
          <p:nvPr/>
        </p:nvSpPr>
        <p:spPr>
          <a:xfrm>
            <a:off x="457200" y="2560320"/>
            <a:ext cx="1988820" cy="292608"/>
          </a:xfrm>
          <a:prstGeom prst="rect">
            <a:avLst/>
          </a:prstGeom>
          <a:solidFill>
            <a:srgbClr val="FFB800"/>
          </a:solidFill>
          <a:ln w="12700">
            <a:solidFill>
              <a:srgbClr val="FFB800"/>
            </a:solidFill>
            <a:prstDash val="solid"/>
          </a:ln>
        </p:spPr>
      </p:sp>
      <p:sp>
        <p:nvSpPr>
          <p:cNvPr id="18" name="Text 16"/>
          <p:cNvSpPr/>
          <p:nvPr/>
        </p:nvSpPr>
        <p:spPr>
          <a:xfrm>
            <a:off x="45720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000000"/>
                </a:solidFill>
                <a:latin typeface="Arial" pitchFamily="34" charset="0"/>
                <a:ea typeface="Arial" pitchFamily="34" charset="-122"/>
                <a:cs typeface="Arial" pitchFamily="34" charset="-120"/>
              </a:rPr>
              <a:t>HYPERSCALERS</a:t>
            </a:r>
            <a:endParaRPr lang="en-US" sz="950" dirty="0"/>
          </a:p>
        </p:txBody>
      </p:sp>
      <p:sp>
        <p:nvSpPr>
          <p:cNvPr id="19" name="Text 17"/>
          <p:cNvSpPr/>
          <p:nvPr/>
        </p:nvSpPr>
        <p:spPr>
          <a:xfrm>
            <a:off x="58521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Training frontier models and renting compute to everyone else.</a:t>
            </a:r>
            <a:endParaRPr lang="en-US" sz="1000" dirty="0"/>
          </a:p>
        </p:txBody>
      </p:sp>
      <p:sp>
        <p:nvSpPr>
          <p:cNvPr id="20" name="Shape 18"/>
          <p:cNvSpPr/>
          <p:nvPr/>
        </p:nvSpPr>
        <p:spPr>
          <a:xfrm>
            <a:off x="640080" y="4434840"/>
            <a:ext cx="1623060" cy="0"/>
          </a:xfrm>
          <a:prstGeom prst="line">
            <a:avLst/>
          </a:prstGeom>
          <a:noFill/>
          <a:ln w="6350">
            <a:solidFill>
              <a:srgbClr val="E5E5E5"/>
            </a:solidFill>
            <a:prstDash val="solid"/>
          </a:ln>
        </p:spPr>
      </p:sp>
      <p:sp>
        <p:nvSpPr>
          <p:cNvPr id="21" name="Text 19"/>
          <p:cNvSpPr/>
          <p:nvPr/>
        </p:nvSpPr>
        <p:spPr>
          <a:xfrm>
            <a:off x="58521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2" name="Text 20"/>
          <p:cNvSpPr/>
          <p:nvPr/>
        </p:nvSpPr>
        <p:spPr>
          <a:xfrm>
            <a:off x="58521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AWS · Azure · Google · Meta · Oracle</a:t>
            </a:r>
            <a:endParaRPr lang="en-US" sz="900" dirty="0"/>
          </a:p>
        </p:txBody>
      </p:sp>
      <p:sp>
        <p:nvSpPr>
          <p:cNvPr id="23" name="Shape 21"/>
          <p:cNvSpPr/>
          <p:nvPr/>
        </p:nvSpPr>
        <p:spPr>
          <a:xfrm>
            <a:off x="2537460" y="2560320"/>
            <a:ext cx="1988820" cy="2606040"/>
          </a:xfrm>
          <a:prstGeom prst="rect">
            <a:avLst/>
          </a:prstGeom>
          <a:solidFill>
            <a:srgbClr val="F9F9F9"/>
          </a:solidFill>
          <a:ln w="6350">
            <a:solidFill>
              <a:srgbClr val="E5E5E5"/>
            </a:solidFill>
            <a:prstDash val="solid"/>
          </a:ln>
        </p:spPr>
      </p:sp>
      <p:sp>
        <p:nvSpPr>
          <p:cNvPr id="24" name="Shape 22"/>
          <p:cNvSpPr/>
          <p:nvPr/>
        </p:nvSpPr>
        <p:spPr>
          <a:xfrm>
            <a:off x="2537460" y="2560320"/>
            <a:ext cx="1988820" cy="292608"/>
          </a:xfrm>
          <a:prstGeom prst="rect">
            <a:avLst/>
          </a:prstGeom>
          <a:solidFill>
            <a:srgbClr val="008B8B"/>
          </a:solidFill>
          <a:ln w="12700">
            <a:solidFill>
              <a:srgbClr val="008B8B"/>
            </a:solidFill>
            <a:prstDash val="solid"/>
          </a:ln>
        </p:spPr>
      </p:sp>
      <p:sp>
        <p:nvSpPr>
          <p:cNvPr id="25" name="Text 23"/>
          <p:cNvSpPr/>
          <p:nvPr/>
        </p:nvSpPr>
        <p:spPr>
          <a:xfrm>
            <a:off x="253746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SOVEREIGNS</a:t>
            </a:r>
            <a:endParaRPr lang="en-US" sz="950" dirty="0"/>
          </a:p>
        </p:txBody>
      </p:sp>
      <p:sp>
        <p:nvSpPr>
          <p:cNvPr id="26" name="Text 24"/>
          <p:cNvSpPr/>
          <p:nvPr/>
        </p:nvSpPr>
        <p:spPr>
          <a:xfrm>
            <a:off x="266547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National AI programs building sovereign access to frontier compute.</a:t>
            </a:r>
            <a:endParaRPr lang="en-US" sz="1000" dirty="0"/>
          </a:p>
        </p:txBody>
      </p:sp>
      <p:sp>
        <p:nvSpPr>
          <p:cNvPr id="27" name="Shape 25"/>
          <p:cNvSpPr/>
          <p:nvPr/>
        </p:nvSpPr>
        <p:spPr>
          <a:xfrm>
            <a:off x="2720340" y="4434840"/>
            <a:ext cx="1623060" cy="0"/>
          </a:xfrm>
          <a:prstGeom prst="line">
            <a:avLst/>
          </a:prstGeom>
          <a:noFill/>
          <a:ln w="6350">
            <a:solidFill>
              <a:srgbClr val="E5E5E5"/>
            </a:solidFill>
            <a:prstDash val="solid"/>
          </a:ln>
        </p:spPr>
      </p:sp>
      <p:sp>
        <p:nvSpPr>
          <p:cNvPr id="28" name="Text 26"/>
          <p:cNvSpPr/>
          <p:nvPr/>
        </p:nvSpPr>
        <p:spPr>
          <a:xfrm>
            <a:off x="266547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9" name="Text 27"/>
          <p:cNvSpPr/>
          <p:nvPr/>
        </p:nvSpPr>
        <p:spPr>
          <a:xfrm>
            <a:off x="266547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UAE G42 · Saudi HUMAIN · UK AIRR · Japan METI</a:t>
            </a:r>
            <a:endParaRPr lang="en-US" sz="900" dirty="0"/>
          </a:p>
        </p:txBody>
      </p:sp>
      <p:sp>
        <p:nvSpPr>
          <p:cNvPr id="30" name="Shape 28"/>
          <p:cNvSpPr/>
          <p:nvPr/>
        </p:nvSpPr>
        <p:spPr>
          <a:xfrm>
            <a:off x="4617720" y="2560320"/>
            <a:ext cx="1988820" cy="2606040"/>
          </a:xfrm>
          <a:prstGeom prst="rect">
            <a:avLst/>
          </a:prstGeom>
          <a:solidFill>
            <a:srgbClr val="F9F9F9"/>
          </a:solidFill>
          <a:ln w="6350">
            <a:solidFill>
              <a:srgbClr val="E5E5E5"/>
            </a:solidFill>
            <a:prstDash val="solid"/>
          </a:ln>
        </p:spPr>
      </p:sp>
      <p:sp>
        <p:nvSpPr>
          <p:cNvPr id="31" name="Shape 29"/>
          <p:cNvSpPr/>
          <p:nvPr/>
        </p:nvSpPr>
        <p:spPr>
          <a:xfrm>
            <a:off x="4617720" y="2560320"/>
            <a:ext cx="1988820" cy="292608"/>
          </a:xfrm>
          <a:prstGeom prst="rect">
            <a:avLst/>
          </a:prstGeom>
          <a:solidFill>
            <a:srgbClr val="666666"/>
          </a:solidFill>
          <a:ln w="12700">
            <a:solidFill>
              <a:srgbClr val="666666"/>
            </a:solidFill>
            <a:prstDash val="solid"/>
          </a:ln>
        </p:spPr>
      </p:sp>
      <p:sp>
        <p:nvSpPr>
          <p:cNvPr id="32" name="Text 30"/>
          <p:cNvSpPr/>
          <p:nvPr/>
        </p:nvSpPr>
        <p:spPr>
          <a:xfrm>
            <a:off x="461772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ENTERPRISE</a:t>
            </a:r>
            <a:endParaRPr lang="en-US" sz="950" dirty="0"/>
          </a:p>
        </p:txBody>
      </p:sp>
      <p:sp>
        <p:nvSpPr>
          <p:cNvPr id="33" name="Text 31"/>
          <p:cNvSpPr/>
          <p:nvPr/>
        </p:nvSpPr>
        <p:spPr>
          <a:xfrm>
            <a:off x="474573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Banks, pharma, and Fortune 500s deploying on-prem for regulated data.</a:t>
            </a:r>
            <a:endParaRPr lang="en-US" sz="1000" dirty="0"/>
          </a:p>
        </p:txBody>
      </p:sp>
      <p:sp>
        <p:nvSpPr>
          <p:cNvPr id="34" name="Shape 32"/>
          <p:cNvSpPr/>
          <p:nvPr/>
        </p:nvSpPr>
        <p:spPr>
          <a:xfrm>
            <a:off x="4800600" y="4434840"/>
            <a:ext cx="1623060" cy="0"/>
          </a:xfrm>
          <a:prstGeom prst="line">
            <a:avLst/>
          </a:prstGeom>
          <a:noFill/>
          <a:ln w="6350">
            <a:solidFill>
              <a:srgbClr val="E5E5E5"/>
            </a:solidFill>
            <a:prstDash val="solid"/>
          </a:ln>
        </p:spPr>
      </p:sp>
      <p:sp>
        <p:nvSpPr>
          <p:cNvPr id="35" name="Text 33"/>
          <p:cNvSpPr/>
          <p:nvPr/>
        </p:nvSpPr>
        <p:spPr>
          <a:xfrm>
            <a:off x="474573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36" name="Text 34"/>
          <p:cNvSpPr/>
          <p:nvPr/>
        </p:nvSpPr>
        <p:spPr>
          <a:xfrm>
            <a:off x="474573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JPMorgan · Novartis · Walmart</a:t>
            </a:r>
            <a:endParaRPr lang="en-US" sz="900" dirty="0"/>
          </a:p>
        </p:txBody>
      </p:sp>
      <p:sp>
        <p:nvSpPr>
          <p:cNvPr id="37" name="Shape 35"/>
          <p:cNvSpPr/>
          <p:nvPr/>
        </p:nvSpPr>
        <p:spPr>
          <a:xfrm>
            <a:off x="6697980" y="2560320"/>
            <a:ext cx="1988820" cy="2606040"/>
          </a:xfrm>
          <a:prstGeom prst="rect">
            <a:avLst/>
          </a:prstGeom>
          <a:solidFill>
            <a:srgbClr val="F9F9F9"/>
          </a:solidFill>
          <a:ln w="6350">
            <a:solidFill>
              <a:srgbClr val="E5E5E5"/>
            </a:solidFill>
            <a:prstDash val="solid"/>
          </a:ln>
        </p:spPr>
      </p:sp>
      <p:sp>
        <p:nvSpPr>
          <p:cNvPr id="38" name="Shape 36"/>
          <p:cNvSpPr/>
          <p:nvPr/>
        </p:nvSpPr>
        <p:spPr>
          <a:xfrm>
            <a:off x="6697980" y="2560320"/>
            <a:ext cx="1988820" cy="292608"/>
          </a:xfrm>
          <a:prstGeom prst="rect">
            <a:avLst/>
          </a:prstGeom>
          <a:solidFill>
            <a:srgbClr val="F6693D"/>
          </a:solidFill>
          <a:ln w="12700">
            <a:solidFill>
              <a:srgbClr val="F6693D"/>
            </a:solidFill>
            <a:prstDash val="solid"/>
          </a:ln>
        </p:spPr>
      </p:sp>
      <p:sp>
        <p:nvSpPr>
          <p:cNvPr id="39" name="Text 37"/>
          <p:cNvSpPr/>
          <p:nvPr/>
        </p:nvSpPr>
        <p:spPr>
          <a:xfrm>
            <a:off x="669798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CONSUMER + EDGE</a:t>
            </a:r>
            <a:endParaRPr lang="en-US" sz="950" dirty="0"/>
          </a:p>
        </p:txBody>
      </p:sp>
      <p:sp>
        <p:nvSpPr>
          <p:cNvPr id="40" name="Text 38"/>
          <p:cNvSpPr/>
          <p:nvPr/>
        </p:nvSpPr>
        <p:spPr>
          <a:xfrm>
            <a:off x="682599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AI inference moves into phones, PCs, cars, and factory robots.</a:t>
            </a:r>
            <a:endParaRPr lang="en-US" sz="1000" dirty="0"/>
          </a:p>
        </p:txBody>
      </p:sp>
      <p:sp>
        <p:nvSpPr>
          <p:cNvPr id="41" name="Shape 39"/>
          <p:cNvSpPr/>
          <p:nvPr/>
        </p:nvSpPr>
        <p:spPr>
          <a:xfrm>
            <a:off x="6880860" y="4434840"/>
            <a:ext cx="1623060" cy="0"/>
          </a:xfrm>
          <a:prstGeom prst="line">
            <a:avLst/>
          </a:prstGeom>
          <a:noFill/>
          <a:ln w="6350">
            <a:solidFill>
              <a:srgbClr val="E5E5E5"/>
            </a:solidFill>
            <a:prstDash val="solid"/>
          </a:ln>
        </p:spPr>
      </p:sp>
      <p:sp>
        <p:nvSpPr>
          <p:cNvPr id="42" name="Text 40"/>
          <p:cNvSpPr/>
          <p:nvPr/>
        </p:nvSpPr>
        <p:spPr>
          <a:xfrm>
            <a:off x="682599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43" name="Text 41"/>
          <p:cNvSpPr/>
          <p:nvPr/>
        </p:nvSpPr>
        <p:spPr>
          <a:xfrm>
            <a:off x="682599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Apple · Samsung · Tesla · humanoid OEMs</a:t>
            </a:r>
            <a:endParaRPr lang="en-US" sz="900" dirty="0"/>
          </a:p>
        </p:txBody>
      </p:sp>
      <p:sp>
        <p:nvSpPr>
          <p:cNvPr id="44" name="Shape 42"/>
          <p:cNvSpPr/>
          <p:nvPr/>
        </p:nvSpPr>
        <p:spPr>
          <a:xfrm>
            <a:off x="457200" y="5257800"/>
            <a:ext cx="8229600" cy="411480"/>
          </a:xfrm>
          <a:prstGeom prst="rect">
            <a:avLst/>
          </a:prstGeom>
          <a:solidFill>
            <a:srgbClr val="FFD100"/>
          </a:solidFill>
          <a:ln w="12700">
            <a:solidFill>
              <a:srgbClr val="FFD100"/>
            </a:solidFill>
            <a:prstDash val="solid"/>
          </a:ln>
        </p:spPr>
      </p:sp>
      <p:sp>
        <p:nvSpPr>
          <p:cNvPr id="45" name="Text 43"/>
          <p:cNvSpPr/>
          <p:nvPr/>
        </p:nvSpPr>
        <p:spPr>
          <a:xfrm>
            <a:off x="640080" y="5257800"/>
            <a:ext cx="7863840"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Five buyers fund most of the AI compute cycle — their capex IS the market.</a:t>
            </a:r>
            <a:endParaRPr lang="en-US" sz="1200" dirty="0"/>
          </a:p>
        </p:txBody>
      </p:sp>
      <p:sp>
        <p:nvSpPr>
          <p:cNvPr id="46" name="Text 4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SemiAnalysis and Omdia estimates of AI accelerator end-demand; TrendForce; hyperscaler 2026 capex guides (AWS, Microsoft, Google, Meta, Oracle); IDC. Shares are directional 2026E estimates.</a:t>
            </a:r>
            <a:endParaRPr lang="en-US" sz="700" dirty="0"/>
          </a:p>
        </p:txBody>
      </p:sp>
      <p:sp>
        <p:nvSpPr>
          <p:cNvPr id="47" name="Shape 45"/>
          <p:cNvSpPr/>
          <p:nvPr/>
        </p:nvSpPr>
        <p:spPr>
          <a:xfrm>
            <a:off x="0" y="6286500"/>
            <a:ext cx="9144000" cy="571500"/>
          </a:xfrm>
          <a:prstGeom prst="rect">
            <a:avLst/>
          </a:prstGeom>
          <a:solidFill>
            <a:srgbClr val="000000"/>
          </a:solidFill>
          <a:ln w="12700">
            <a:solidFill>
              <a:srgbClr val="000000"/>
            </a:solidFill>
            <a:prstDash val="solid"/>
          </a:ln>
        </p:spPr>
      </p:sp>
      <p:sp>
        <p:nvSpPr>
          <p:cNvPr id="48" name="Text 4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9" name="Text 4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Power is the new bottleneck.</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Jensen Huang: the energy needed for compute is "probably 1,000× more than we have today." The grid, not the chip, now sets the pace of buildouts.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8006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~12%</a:t>
            </a:r>
            <a:endParaRPr lang="en-US" sz="4000" dirty="0"/>
          </a:p>
        </p:txBody>
      </p:sp>
      <p:sp>
        <p:nvSpPr>
          <p:cNvPr id="8" name="Text 6"/>
          <p:cNvSpPr/>
          <p:nvPr/>
        </p:nvSpPr>
        <p:spPr>
          <a:xfrm>
            <a:off x="48006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of US electricity demand will go to data centers by 2028 — up from ~4% in 2023 (EPRI high case, 2024)</a:t>
            </a:r>
            <a:endParaRPr lang="en-US" sz="1100" dirty="0"/>
          </a:p>
        </p:txBody>
      </p:sp>
      <p:sp>
        <p:nvSpPr>
          <p:cNvPr id="9" name="Text 7"/>
          <p:cNvSpPr/>
          <p:nvPr/>
        </p:nvSpPr>
        <p:spPr>
          <a:xfrm>
            <a:off x="326898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 GW</a:t>
            </a:r>
            <a:endParaRPr lang="en-US" sz="4000" dirty="0"/>
          </a:p>
        </p:txBody>
      </p:sp>
      <p:sp>
        <p:nvSpPr>
          <p:cNvPr id="10" name="Text 8"/>
          <p:cNvSpPr/>
          <p:nvPr/>
        </p:nvSpPr>
        <p:spPr>
          <a:xfrm>
            <a:off x="326898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typical new AI campus — the draw of ~750K US homes</a:t>
            </a:r>
            <a:endParaRPr lang="en-US" sz="1100" dirty="0"/>
          </a:p>
        </p:txBody>
      </p:sp>
      <p:sp>
        <p:nvSpPr>
          <p:cNvPr id="11" name="Text 9"/>
          <p:cNvSpPr/>
          <p:nvPr/>
        </p:nvSpPr>
        <p:spPr>
          <a:xfrm>
            <a:off x="6057900" y="192024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~5 yr</a:t>
            </a:r>
            <a:endParaRPr lang="en-US" sz="4000" dirty="0"/>
          </a:p>
        </p:txBody>
      </p:sp>
      <p:sp>
        <p:nvSpPr>
          <p:cNvPr id="12" name="Text 10"/>
          <p:cNvSpPr/>
          <p:nvPr/>
        </p:nvSpPr>
        <p:spPr>
          <a:xfrm>
            <a:off x="605790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avg wait for a new grid interconnection in PJM &amp; ERCOT</a:t>
            </a:r>
            <a:endParaRPr lang="en-US" sz="1100" dirty="0"/>
          </a:p>
        </p:txBody>
      </p:sp>
      <p:sp>
        <p:nvSpPr>
          <p:cNvPr id="13" name="Shape 11"/>
          <p:cNvSpPr/>
          <p:nvPr/>
        </p:nvSpPr>
        <p:spPr>
          <a:xfrm>
            <a:off x="457200" y="3474720"/>
            <a:ext cx="2697480" cy="365760"/>
          </a:xfrm>
          <a:prstGeom prst="rect">
            <a:avLst/>
          </a:prstGeom>
          <a:solidFill>
            <a:srgbClr val="FFB800"/>
          </a:solidFill>
          <a:ln w="12700">
            <a:solidFill>
              <a:srgbClr val="FFB800"/>
            </a:solidFill>
            <a:prstDash val="solid"/>
          </a:ln>
        </p:spPr>
      </p:sp>
      <p:sp>
        <p:nvSpPr>
          <p:cNvPr id="14" name="Text 12"/>
          <p:cNvSpPr/>
          <p:nvPr/>
        </p:nvSpPr>
        <p:spPr>
          <a:xfrm>
            <a:off x="45720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GAS</a:t>
            </a:r>
            <a:endParaRPr lang="en-US" sz="1100" dirty="0"/>
          </a:p>
        </p:txBody>
      </p:sp>
      <p:sp>
        <p:nvSpPr>
          <p:cNvPr id="15" name="Shape 13"/>
          <p:cNvSpPr/>
          <p:nvPr/>
        </p:nvSpPr>
        <p:spPr>
          <a:xfrm>
            <a:off x="457200" y="3840480"/>
            <a:ext cx="2697480" cy="1417320"/>
          </a:xfrm>
          <a:prstGeom prst="rect">
            <a:avLst/>
          </a:prstGeom>
          <a:solidFill>
            <a:srgbClr val="F9F9F9"/>
          </a:solidFill>
          <a:ln w="6350">
            <a:solidFill>
              <a:srgbClr val="E5E5E5"/>
            </a:solidFill>
            <a:prstDash val="solid"/>
          </a:ln>
        </p:spPr>
      </p:sp>
      <p:sp>
        <p:nvSpPr>
          <p:cNvPr id="16" name="Text 14"/>
          <p:cNvSpPr/>
          <p:nvPr/>
        </p:nvSpPr>
        <p:spPr>
          <a:xfrm>
            <a:off x="59436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Fastest to build, dispatchable. New CCGT contracts up sharply; GE Vernova backlog at record highs.</a:t>
            </a:r>
            <a:endParaRPr lang="en-US" sz="1000" dirty="0"/>
          </a:p>
        </p:txBody>
      </p:sp>
      <p:sp>
        <p:nvSpPr>
          <p:cNvPr id="17" name="Shape 15"/>
          <p:cNvSpPr/>
          <p:nvPr/>
        </p:nvSpPr>
        <p:spPr>
          <a:xfrm>
            <a:off x="594360" y="4919472"/>
            <a:ext cx="2423160" cy="0"/>
          </a:xfrm>
          <a:prstGeom prst="line">
            <a:avLst/>
          </a:prstGeom>
          <a:noFill/>
          <a:ln w="6350">
            <a:solidFill>
              <a:srgbClr val="E5E5E5"/>
            </a:solidFill>
            <a:prstDash val="solid"/>
          </a:ln>
        </p:spPr>
      </p:sp>
      <p:sp>
        <p:nvSpPr>
          <p:cNvPr id="18" name="Text 16"/>
          <p:cNvSpPr/>
          <p:nvPr/>
        </p:nvSpPr>
        <p:spPr>
          <a:xfrm>
            <a:off x="59436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GE Vernova · Siemens Energy</a:t>
            </a:r>
            <a:endParaRPr lang="en-US" sz="850" dirty="0"/>
          </a:p>
        </p:txBody>
      </p:sp>
      <p:sp>
        <p:nvSpPr>
          <p:cNvPr id="19" name="Shape 17"/>
          <p:cNvSpPr/>
          <p:nvPr/>
        </p:nvSpPr>
        <p:spPr>
          <a:xfrm>
            <a:off x="3291840" y="3474720"/>
            <a:ext cx="2697480" cy="365760"/>
          </a:xfrm>
          <a:prstGeom prst="rect">
            <a:avLst/>
          </a:prstGeom>
          <a:solidFill>
            <a:srgbClr val="008B8B"/>
          </a:solidFill>
          <a:ln w="12700">
            <a:solidFill>
              <a:srgbClr val="008B8B"/>
            </a:solidFill>
            <a:prstDash val="solid"/>
          </a:ln>
        </p:spPr>
      </p:sp>
      <p:sp>
        <p:nvSpPr>
          <p:cNvPr id="20" name="Text 18"/>
          <p:cNvSpPr/>
          <p:nvPr/>
        </p:nvSpPr>
        <p:spPr>
          <a:xfrm>
            <a:off x="329184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NUCLEAR</a:t>
            </a:r>
            <a:endParaRPr lang="en-US" sz="1100" dirty="0"/>
          </a:p>
        </p:txBody>
      </p:sp>
      <p:sp>
        <p:nvSpPr>
          <p:cNvPr id="21" name="Shape 19"/>
          <p:cNvSpPr/>
          <p:nvPr/>
        </p:nvSpPr>
        <p:spPr>
          <a:xfrm>
            <a:off x="3291840" y="3840480"/>
            <a:ext cx="2697480" cy="1417320"/>
          </a:xfrm>
          <a:prstGeom prst="rect">
            <a:avLst/>
          </a:prstGeom>
          <a:solidFill>
            <a:srgbClr val="F9F9F9"/>
          </a:solidFill>
          <a:ln w="6350">
            <a:solidFill>
              <a:srgbClr val="E5E5E5"/>
            </a:solidFill>
            <a:prstDash val="solid"/>
          </a:ln>
        </p:spPr>
      </p:sp>
      <p:sp>
        <p:nvSpPr>
          <p:cNvPr id="22" name="Text 20"/>
          <p:cNvSpPr/>
          <p:nvPr/>
        </p:nvSpPr>
        <p:spPr>
          <a:xfrm>
            <a:off x="342900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Three Mile Island reopening for Microsoft. SMRs (Oklo, X-Energy) signed to hyperscaler PPAs.</a:t>
            </a:r>
            <a:endParaRPr lang="en-US" sz="1000" dirty="0"/>
          </a:p>
        </p:txBody>
      </p:sp>
      <p:sp>
        <p:nvSpPr>
          <p:cNvPr id="23" name="Shape 21"/>
          <p:cNvSpPr/>
          <p:nvPr/>
        </p:nvSpPr>
        <p:spPr>
          <a:xfrm>
            <a:off x="3429000" y="4919472"/>
            <a:ext cx="2423160" cy="0"/>
          </a:xfrm>
          <a:prstGeom prst="line">
            <a:avLst/>
          </a:prstGeom>
          <a:noFill/>
          <a:ln w="6350">
            <a:solidFill>
              <a:srgbClr val="E5E5E5"/>
            </a:solidFill>
            <a:prstDash val="solid"/>
          </a:ln>
        </p:spPr>
      </p:sp>
      <p:sp>
        <p:nvSpPr>
          <p:cNvPr id="24" name="Text 22"/>
          <p:cNvSpPr/>
          <p:nvPr/>
        </p:nvSpPr>
        <p:spPr>
          <a:xfrm>
            <a:off x="342900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Constellation · Oklo · NuScale</a:t>
            </a:r>
            <a:endParaRPr lang="en-US" sz="850" dirty="0"/>
          </a:p>
        </p:txBody>
      </p:sp>
      <p:sp>
        <p:nvSpPr>
          <p:cNvPr id="25" name="Shape 23"/>
          <p:cNvSpPr/>
          <p:nvPr/>
        </p:nvSpPr>
        <p:spPr>
          <a:xfrm>
            <a:off x="6126480" y="3474720"/>
            <a:ext cx="2697480" cy="365760"/>
          </a:xfrm>
          <a:prstGeom prst="rect">
            <a:avLst/>
          </a:prstGeom>
          <a:solidFill>
            <a:srgbClr val="00A854"/>
          </a:solidFill>
          <a:ln w="12700">
            <a:solidFill>
              <a:srgbClr val="00A854"/>
            </a:solidFill>
            <a:prstDash val="solid"/>
          </a:ln>
        </p:spPr>
      </p:sp>
      <p:sp>
        <p:nvSpPr>
          <p:cNvPr id="26" name="Text 24"/>
          <p:cNvSpPr/>
          <p:nvPr/>
        </p:nvSpPr>
        <p:spPr>
          <a:xfrm>
            <a:off x="612648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RENEWABLES + STORAGE</a:t>
            </a:r>
            <a:endParaRPr lang="en-US" sz="1100" dirty="0"/>
          </a:p>
        </p:txBody>
      </p:sp>
      <p:sp>
        <p:nvSpPr>
          <p:cNvPr id="27" name="Shape 25"/>
          <p:cNvSpPr/>
          <p:nvPr/>
        </p:nvSpPr>
        <p:spPr>
          <a:xfrm>
            <a:off x="6126480" y="3840480"/>
            <a:ext cx="2697480" cy="1417320"/>
          </a:xfrm>
          <a:prstGeom prst="rect">
            <a:avLst/>
          </a:prstGeom>
          <a:solidFill>
            <a:srgbClr val="F9F9F9"/>
          </a:solidFill>
          <a:ln w="6350">
            <a:solidFill>
              <a:srgbClr val="E5E5E5"/>
            </a:solidFill>
            <a:prstDash val="solid"/>
          </a:ln>
        </p:spPr>
      </p:sp>
      <p:sp>
        <p:nvSpPr>
          <p:cNvPr id="28" name="Text 26"/>
          <p:cNvSpPr/>
          <p:nvPr/>
        </p:nvSpPr>
        <p:spPr>
          <a:xfrm>
            <a:off x="626364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Solar + battery hybrids now the cheapest new capacity. Hyperscalers signing 24/7 PPAs.</a:t>
            </a:r>
            <a:endParaRPr lang="en-US" sz="1000" dirty="0"/>
          </a:p>
        </p:txBody>
      </p:sp>
      <p:sp>
        <p:nvSpPr>
          <p:cNvPr id="29" name="Shape 27"/>
          <p:cNvSpPr/>
          <p:nvPr/>
        </p:nvSpPr>
        <p:spPr>
          <a:xfrm>
            <a:off x="6263640" y="4919472"/>
            <a:ext cx="2423160" cy="0"/>
          </a:xfrm>
          <a:prstGeom prst="line">
            <a:avLst/>
          </a:prstGeom>
          <a:noFill/>
          <a:ln w="6350">
            <a:solidFill>
              <a:srgbClr val="E5E5E5"/>
            </a:solidFill>
            <a:prstDash val="solid"/>
          </a:ln>
        </p:spPr>
      </p:sp>
      <p:sp>
        <p:nvSpPr>
          <p:cNvPr id="30" name="Text 28"/>
          <p:cNvSpPr/>
          <p:nvPr/>
        </p:nvSpPr>
        <p:spPr>
          <a:xfrm>
            <a:off x="626364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NextEra · AES · Fluence</a:t>
            </a:r>
            <a:endParaRPr lang="en-US" sz="850" dirty="0"/>
          </a:p>
        </p:txBody>
      </p:sp>
      <p:sp>
        <p:nvSpPr>
          <p:cNvPr id="31" name="Shape 29"/>
          <p:cNvSpPr/>
          <p:nvPr/>
        </p:nvSpPr>
        <p:spPr>
          <a:xfrm>
            <a:off x="457200" y="5394960"/>
            <a:ext cx="8229600" cy="411480"/>
          </a:xfrm>
          <a:prstGeom prst="rect">
            <a:avLst/>
          </a:prstGeom>
          <a:solidFill>
            <a:srgbClr val="FFD100"/>
          </a:solidFill>
          <a:ln w="12700">
            <a:solidFill>
              <a:srgbClr val="FFD100"/>
            </a:solidFill>
            <a:prstDash val="solid"/>
          </a:ln>
        </p:spPr>
      </p:sp>
      <p:sp>
        <p:nvSpPr>
          <p:cNvPr id="32" name="Text 30"/>
          <p:cNvSpPr/>
          <p:nvPr/>
        </p:nvSpPr>
        <p:spPr>
          <a:xfrm>
            <a:off x="640080" y="5394960"/>
            <a:ext cx="7863840" cy="41148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GPUs are useless without electrons. Power names are trading like semis.</a:t>
            </a:r>
            <a:endParaRPr lang="en-US" sz="1250" dirty="0"/>
          </a:p>
        </p:txBody>
      </p:sp>
      <p:sp>
        <p:nvSpPr>
          <p:cNvPr id="33" name="Text 31"/>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EPRI (US data-center load forecast, 2024); DOE; Lawrence Berkeley National Lab; Microsoft / Constellation TMI announcement (Sep 2024); PJM, ERCOT interconnection queues; Jensen Huang (Stanford CS153, Apr 2026).</a:t>
            </a:r>
            <a:endParaRPr lang="en-US" sz="700" dirty="0"/>
          </a:p>
        </p:txBody>
      </p:sp>
      <p:sp>
        <p:nvSpPr>
          <p:cNvPr id="34" name="Shape 32"/>
          <p:cNvSpPr/>
          <p:nvPr/>
        </p:nvSpPr>
        <p:spPr>
          <a:xfrm>
            <a:off x="0" y="6286500"/>
            <a:ext cx="9144000" cy="571500"/>
          </a:xfrm>
          <a:prstGeom prst="rect">
            <a:avLst/>
          </a:prstGeom>
          <a:solidFill>
            <a:srgbClr val="000000"/>
          </a:solidFill>
          <a:ln w="12700">
            <a:solidFill>
              <a:srgbClr val="000000"/>
            </a:solidFill>
            <a:prstDash val="solid"/>
          </a:ln>
        </p:spPr>
      </p:sp>
      <p:sp>
        <p:nvSpPr>
          <p:cNvPr id="35" name="Text 3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6" name="Text 3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Q1 funding doubled all of 2025 — two giants, one public, one merger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Two independent private labs, one public giant, and xAI — now inside SpaceX, which has filed to go public at ~$1.75T.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640080" y="1417320"/>
            <a:ext cx="2468880" cy="201168"/>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LAB</a:t>
            </a:r>
            <a:endParaRPr lang="en-US" sz="900" dirty="0"/>
          </a:p>
        </p:txBody>
      </p:sp>
      <p:sp>
        <p:nvSpPr>
          <p:cNvPr id="8" name="Text 6"/>
          <p:cNvSpPr/>
          <p:nvPr/>
        </p:nvSpPr>
        <p:spPr>
          <a:xfrm>
            <a:off x="3200400" y="1417320"/>
            <a:ext cx="1280160" cy="201168"/>
          </a:xfrm>
          <a:prstGeom prst="rect">
            <a:avLst/>
          </a:prstGeom>
          <a:noFill/>
          <a:ln/>
        </p:spPr>
        <p:txBody>
          <a:bodyPr wrap="square" lIns="0" tIns="0" rIns="0" bIns="0" rtlCol="0" anchor="ctr"/>
          <a:lstStyle/>
          <a:p>
            <a:pPr algn="ctr" indent="0" marL="0">
              <a:buNone/>
            </a:pPr>
            <a:r>
              <a:rPr lang="en-US" sz="900" b="1" spc="200" kern="0" dirty="0">
                <a:solidFill>
                  <a:srgbClr val="666666"/>
                </a:solidFill>
                <a:latin typeface="Arial" pitchFamily="34" charset="0"/>
                <a:ea typeface="Arial" pitchFamily="34" charset="-122"/>
                <a:cs typeface="Arial" pitchFamily="34" charset="-120"/>
              </a:rPr>
              <a:t>VALUATION</a:t>
            </a:r>
            <a:endParaRPr lang="en-US" sz="900" dirty="0"/>
          </a:p>
        </p:txBody>
      </p:sp>
      <p:sp>
        <p:nvSpPr>
          <p:cNvPr id="9" name="Text 7"/>
          <p:cNvSpPr/>
          <p:nvPr/>
        </p:nvSpPr>
        <p:spPr>
          <a:xfrm>
            <a:off x="4480560" y="1417320"/>
            <a:ext cx="1188720" cy="201168"/>
          </a:xfrm>
          <a:prstGeom prst="rect">
            <a:avLst/>
          </a:prstGeom>
          <a:noFill/>
          <a:ln/>
        </p:spPr>
        <p:txBody>
          <a:bodyPr wrap="square" lIns="0" tIns="0" rIns="0" bIns="0" rtlCol="0" anchor="ctr"/>
          <a:lstStyle/>
          <a:p>
            <a:pPr algn="ctr" indent="0" marL="0">
              <a:buNone/>
            </a:pPr>
            <a:r>
              <a:rPr lang="en-US" sz="900" b="1" spc="200" kern="0" dirty="0">
                <a:solidFill>
                  <a:srgbClr val="666666"/>
                </a:solidFill>
                <a:latin typeface="Arial" pitchFamily="34" charset="0"/>
                <a:ea typeface="Arial" pitchFamily="34" charset="-122"/>
                <a:cs typeface="Arial" pitchFamily="34" charset="-120"/>
              </a:rPr>
              <a:t>MULTIPLE</a:t>
            </a:r>
            <a:endParaRPr lang="en-US" sz="900" dirty="0"/>
          </a:p>
        </p:txBody>
      </p:sp>
      <p:sp>
        <p:nvSpPr>
          <p:cNvPr id="10" name="Text 8"/>
          <p:cNvSpPr/>
          <p:nvPr/>
        </p:nvSpPr>
        <p:spPr>
          <a:xfrm>
            <a:off x="5760720" y="1417320"/>
            <a:ext cx="2834640" cy="201168"/>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RECENT EVENT</a:t>
            </a:r>
            <a:endParaRPr lang="en-US" sz="900" dirty="0"/>
          </a:p>
        </p:txBody>
      </p:sp>
      <p:sp>
        <p:nvSpPr>
          <p:cNvPr id="11" name="Shape 9"/>
          <p:cNvSpPr/>
          <p:nvPr/>
        </p:nvSpPr>
        <p:spPr>
          <a:xfrm>
            <a:off x="457200" y="1645920"/>
            <a:ext cx="8229600" cy="0"/>
          </a:xfrm>
          <a:prstGeom prst="line">
            <a:avLst/>
          </a:prstGeom>
          <a:noFill/>
          <a:ln w="6350">
            <a:solidFill>
              <a:srgbClr val="E5E5E5"/>
            </a:solidFill>
            <a:prstDash val="solid"/>
          </a:ln>
        </p:spPr>
      </p:sp>
      <p:sp>
        <p:nvSpPr>
          <p:cNvPr id="12" name="Shape 10"/>
          <p:cNvSpPr/>
          <p:nvPr/>
        </p:nvSpPr>
        <p:spPr>
          <a:xfrm>
            <a:off x="457200" y="1691640"/>
            <a:ext cx="8229600" cy="758952"/>
          </a:xfrm>
          <a:prstGeom prst="rect">
            <a:avLst/>
          </a:prstGeom>
          <a:solidFill>
            <a:srgbClr val="FFFFFF"/>
          </a:solidFill>
          <a:ln w="6350">
            <a:solidFill>
              <a:srgbClr val="E5E5E5"/>
            </a:solidFill>
            <a:prstDash val="solid"/>
          </a:ln>
        </p:spPr>
      </p:sp>
      <p:pic>
        <p:nvPicPr>
          <p:cNvPr id="13" name="Image 0" descr="logos/openai.png">    </p:cNvPr>
          <p:cNvPicPr>
            <a:picLocks noChangeAspect="1"/>
          </p:cNvPicPr>
          <p:nvPr/>
        </p:nvPicPr>
        <p:blipFill>
          <a:blip r:embed="rId1"/>
          <a:srcRect l="0" r="0" t="0" b="0"/>
          <a:stretch/>
        </p:blipFill>
        <p:spPr>
          <a:xfrm>
            <a:off x="640080" y="1819656"/>
            <a:ext cx="502920" cy="502920"/>
          </a:xfrm>
          <a:prstGeom prst="rect">
            <a:avLst/>
          </a:prstGeom>
        </p:spPr>
      </p:pic>
      <p:sp>
        <p:nvSpPr>
          <p:cNvPr id="14" name="Text 11"/>
          <p:cNvSpPr/>
          <p:nvPr/>
        </p:nvSpPr>
        <p:spPr>
          <a:xfrm>
            <a:off x="1325880" y="1691640"/>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OpenAI</a:t>
            </a:r>
            <a:endParaRPr lang="en-US" sz="1500" dirty="0"/>
          </a:p>
        </p:txBody>
      </p:sp>
      <p:sp>
        <p:nvSpPr>
          <p:cNvPr id="15" name="Text 12"/>
          <p:cNvSpPr/>
          <p:nvPr/>
        </p:nvSpPr>
        <p:spPr>
          <a:xfrm>
            <a:off x="3200400" y="1691640"/>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$852B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1</a:t>
            </a:r>
            <a:endParaRPr lang="en-US" sz="2000" dirty="0"/>
          </a:p>
        </p:txBody>
      </p:sp>
      <p:sp>
        <p:nvSpPr>
          <p:cNvPr id="16" name="Text 13"/>
          <p:cNvSpPr/>
          <p:nvPr/>
        </p:nvSpPr>
        <p:spPr>
          <a:xfrm>
            <a:off x="4480560" y="1691640"/>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~35× ARR</a:t>
            </a:r>
            <a:endParaRPr lang="en-US" sz="1200" dirty="0"/>
          </a:p>
        </p:txBody>
      </p:sp>
      <p:sp>
        <p:nvSpPr>
          <p:cNvPr id="17" name="Text 14"/>
          <p:cNvSpPr/>
          <p:nvPr/>
        </p:nvSpPr>
        <p:spPr>
          <a:xfrm>
            <a:off x="5760720" y="1691640"/>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$122B round · AMZN / NVDA / SoftBank · Mar 2026</a:t>
            </a:r>
            <a:endParaRPr lang="en-US" sz="1100" dirty="0"/>
          </a:p>
        </p:txBody>
      </p:sp>
      <p:sp>
        <p:nvSpPr>
          <p:cNvPr id="18" name="Shape 15"/>
          <p:cNvSpPr/>
          <p:nvPr/>
        </p:nvSpPr>
        <p:spPr>
          <a:xfrm>
            <a:off x="457200" y="2496312"/>
            <a:ext cx="8229600" cy="758952"/>
          </a:xfrm>
          <a:prstGeom prst="rect">
            <a:avLst/>
          </a:prstGeom>
          <a:solidFill>
            <a:srgbClr val="F9F9F9"/>
          </a:solidFill>
          <a:ln w="6350">
            <a:solidFill>
              <a:srgbClr val="E5E5E5"/>
            </a:solidFill>
            <a:prstDash val="solid"/>
          </a:ln>
        </p:spPr>
      </p:sp>
      <p:pic>
        <p:nvPicPr>
          <p:cNvPr id="19" name="Image 1" descr="logos/anthropic.png">    </p:cNvPr>
          <p:cNvPicPr>
            <a:picLocks noChangeAspect="1"/>
          </p:cNvPicPr>
          <p:nvPr/>
        </p:nvPicPr>
        <p:blipFill>
          <a:blip r:embed="rId2"/>
          <a:srcRect l="0" r="0" t="0" b="0"/>
          <a:stretch/>
        </p:blipFill>
        <p:spPr>
          <a:xfrm>
            <a:off x="640080" y="2624328"/>
            <a:ext cx="502920" cy="502920"/>
          </a:xfrm>
          <a:prstGeom prst="rect">
            <a:avLst/>
          </a:prstGeom>
        </p:spPr>
      </p:pic>
      <p:sp>
        <p:nvSpPr>
          <p:cNvPr id="20" name="Text 16"/>
          <p:cNvSpPr/>
          <p:nvPr/>
        </p:nvSpPr>
        <p:spPr>
          <a:xfrm>
            <a:off x="1325880" y="2496312"/>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Anthropic</a:t>
            </a:r>
            <a:endParaRPr lang="en-US" sz="1500" dirty="0"/>
          </a:p>
        </p:txBody>
      </p:sp>
      <p:sp>
        <p:nvSpPr>
          <p:cNvPr id="21" name="Text 17"/>
          <p:cNvSpPr/>
          <p:nvPr/>
        </p:nvSpPr>
        <p:spPr>
          <a:xfrm>
            <a:off x="3200400" y="2496312"/>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$900B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2</a:t>
            </a:r>
            <a:endParaRPr lang="en-US" sz="2000" dirty="0"/>
          </a:p>
        </p:txBody>
      </p:sp>
      <p:sp>
        <p:nvSpPr>
          <p:cNvPr id="22" name="Text 18"/>
          <p:cNvSpPr/>
          <p:nvPr/>
        </p:nvSpPr>
        <p:spPr>
          <a:xfrm>
            <a:off x="4480560" y="2496312"/>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~31× ARR</a:t>
            </a:r>
            <a:endParaRPr lang="en-US" sz="1200" dirty="0"/>
          </a:p>
        </p:txBody>
      </p:sp>
      <p:sp>
        <p:nvSpPr>
          <p:cNvPr id="23" name="Text 19"/>
          <p:cNvSpPr/>
          <p:nvPr/>
        </p:nvSpPr>
        <p:spPr>
          <a:xfrm>
            <a:off x="5760720" y="2496312"/>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$30B Series G (Feb); Google +$40B (Apr); ~$900B round reported closing (May)</a:t>
            </a:r>
            <a:endParaRPr lang="en-US" sz="1100" dirty="0"/>
          </a:p>
        </p:txBody>
      </p:sp>
      <p:sp>
        <p:nvSpPr>
          <p:cNvPr id="24" name="Shape 20"/>
          <p:cNvSpPr/>
          <p:nvPr/>
        </p:nvSpPr>
        <p:spPr>
          <a:xfrm>
            <a:off x="457200" y="3300984"/>
            <a:ext cx="8229600" cy="758952"/>
          </a:xfrm>
          <a:prstGeom prst="rect">
            <a:avLst/>
          </a:prstGeom>
          <a:solidFill>
            <a:srgbClr val="FFFFFF"/>
          </a:solidFill>
          <a:ln w="6350">
            <a:solidFill>
              <a:srgbClr val="E5E5E5"/>
            </a:solidFill>
            <a:prstDash val="solid"/>
          </a:ln>
        </p:spPr>
      </p:sp>
      <p:pic>
        <p:nvPicPr>
          <p:cNvPr id="25" name="Image 2" descr="logos/google.png">    </p:cNvPr>
          <p:cNvPicPr>
            <a:picLocks noChangeAspect="1"/>
          </p:cNvPicPr>
          <p:nvPr/>
        </p:nvPicPr>
        <p:blipFill>
          <a:blip r:embed="rId3"/>
          <a:srcRect l="0" r="0" t="0" b="0"/>
          <a:stretch/>
        </p:blipFill>
        <p:spPr>
          <a:xfrm>
            <a:off x="640080" y="3429000"/>
            <a:ext cx="502920" cy="502920"/>
          </a:xfrm>
          <a:prstGeom prst="rect">
            <a:avLst/>
          </a:prstGeom>
        </p:spPr>
      </p:pic>
      <p:sp>
        <p:nvSpPr>
          <p:cNvPr id="26" name="Text 21"/>
          <p:cNvSpPr/>
          <p:nvPr/>
        </p:nvSpPr>
        <p:spPr>
          <a:xfrm>
            <a:off x="1325880" y="3300984"/>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Google</a:t>
            </a:r>
            <a:endParaRPr lang="en-US" sz="1500" dirty="0"/>
          </a:p>
        </p:txBody>
      </p:sp>
      <p:sp>
        <p:nvSpPr>
          <p:cNvPr id="27" name="Text 22"/>
          <p:cNvSpPr/>
          <p:nvPr/>
        </p:nvSpPr>
        <p:spPr>
          <a:xfrm>
            <a:off x="3200400" y="3300984"/>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$4.6T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3</a:t>
            </a:r>
            <a:endParaRPr lang="en-US" sz="2000" dirty="0"/>
          </a:p>
        </p:txBody>
      </p:sp>
      <p:sp>
        <p:nvSpPr>
          <p:cNvPr id="28" name="Text 23"/>
          <p:cNvSpPr/>
          <p:nvPr/>
        </p:nvSpPr>
        <p:spPr>
          <a:xfrm>
            <a:off x="4480560" y="3300984"/>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~33× P/E</a:t>
            </a:r>
            <a:endParaRPr lang="en-US" sz="1200" dirty="0"/>
          </a:p>
        </p:txBody>
      </p:sp>
      <p:sp>
        <p:nvSpPr>
          <p:cNvPr id="29" name="Text 24"/>
          <p:cNvSpPr/>
          <p:nvPr/>
        </p:nvSpPr>
        <p:spPr>
          <a:xfrm>
            <a:off x="5760720" y="3300984"/>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Alphabet (public) · Gemini 3.5 / DeepMind · ~$185B 2026 capex</a:t>
            </a:r>
            <a:endParaRPr lang="en-US" sz="1100" dirty="0"/>
          </a:p>
        </p:txBody>
      </p:sp>
      <p:sp>
        <p:nvSpPr>
          <p:cNvPr id="30" name="Shape 25"/>
          <p:cNvSpPr/>
          <p:nvPr/>
        </p:nvSpPr>
        <p:spPr>
          <a:xfrm>
            <a:off x="457200" y="4105656"/>
            <a:ext cx="8229600" cy="758952"/>
          </a:xfrm>
          <a:prstGeom prst="rect">
            <a:avLst/>
          </a:prstGeom>
          <a:solidFill>
            <a:srgbClr val="F9F9F9"/>
          </a:solidFill>
          <a:ln w="6350">
            <a:solidFill>
              <a:srgbClr val="E5E5E5"/>
            </a:solidFill>
            <a:prstDash val="solid"/>
          </a:ln>
        </p:spPr>
      </p:sp>
      <p:pic>
        <p:nvPicPr>
          <p:cNvPr id="31" name="Image 3" descr="logos/xai.png">    </p:cNvPr>
          <p:cNvPicPr>
            <a:picLocks noChangeAspect="1"/>
          </p:cNvPicPr>
          <p:nvPr/>
        </p:nvPicPr>
        <p:blipFill>
          <a:blip r:embed="rId4"/>
          <a:srcRect l="0" r="0" t="0" b="0"/>
          <a:stretch/>
        </p:blipFill>
        <p:spPr>
          <a:xfrm>
            <a:off x="640080" y="4233672"/>
            <a:ext cx="502920" cy="502920"/>
          </a:xfrm>
          <a:prstGeom prst="rect">
            <a:avLst/>
          </a:prstGeom>
        </p:spPr>
      </p:pic>
      <p:sp>
        <p:nvSpPr>
          <p:cNvPr id="32" name="Text 26"/>
          <p:cNvSpPr/>
          <p:nvPr/>
        </p:nvSpPr>
        <p:spPr>
          <a:xfrm>
            <a:off x="1325880" y="4105656"/>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xAI / SpaceX</a:t>
            </a:r>
            <a:endParaRPr lang="en-US" sz="1500" dirty="0"/>
          </a:p>
        </p:txBody>
      </p:sp>
      <p:sp>
        <p:nvSpPr>
          <p:cNvPr id="33" name="Text 27"/>
          <p:cNvSpPr/>
          <p:nvPr/>
        </p:nvSpPr>
        <p:spPr>
          <a:xfrm>
            <a:off x="3200400" y="4105656"/>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$1.25T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4</a:t>
            </a:r>
            <a:endParaRPr lang="en-US" sz="2000" dirty="0"/>
          </a:p>
        </p:txBody>
      </p:sp>
      <p:sp>
        <p:nvSpPr>
          <p:cNvPr id="34" name="Text 28"/>
          <p:cNvSpPr/>
          <p:nvPr/>
        </p:nvSpPr>
        <p:spPr>
          <a:xfrm>
            <a:off x="4480560" y="4105656"/>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combined</a:t>
            </a:r>
            <a:endParaRPr lang="en-US" sz="1200" dirty="0"/>
          </a:p>
        </p:txBody>
      </p:sp>
      <p:sp>
        <p:nvSpPr>
          <p:cNvPr id="35" name="Text 29"/>
          <p:cNvSpPr/>
          <p:nvPr/>
        </p:nvSpPr>
        <p:spPr>
          <a:xfrm>
            <a:off x="5760720" y="4105656"/>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Feb 2 all-stock merger; SpaceX filed to IPO at ~$1.75T (May 20)</a:t>
            </a:r>
            <a:endParaRPr lang="en-US" sz="1100" dirty="0"/>
          </a:p>
        </p:txBody>
      </p:sp>
      <p:sp>
        <p:nvSpPr>
          <p:cNvPr id="36" name="Text 30"/>
          <p:cNvSpPr/>
          <p:nvPr/>
        </p:nvSpPr>
        <p:spPr>
          <a:xfrm>
            <a:off x="457200" y="4919472"/>
            <a:ext cx="8229600" cy="182880"/>
          </a:xfrm>
          <a:prstGeom prst="rect">
            <a:avLst/>
          </a:prstGeom>
          <a:noFill/>
          <a:ln/>
        </p:spPr>
        <p:txBody>
          <a:bodyPr wrap="square" lIns="0" tIns="0" rIns="0" bIns="0" rtlCol="0" anchor="t"/>
          <a:lstStyle/>
          <a:p>
            <a:pPr algn="r" indent="0" marL="0">
              <a:buNone/>
            </a:pPr>
            <a:r>
              <a:rPr lang="en-US" sz="800" i="1" dirty="0">
                <a:solidFill>
                  <a:srgbClr val="666666"/>
                </a:solidFill>
                <a:latin typeface="Arial" pitchFamily="34" charset="0"/>
                <a:ea typeface="Arial" pitchFamily="34" charset="-122"/>
                <a:cs typeface="Arial" pitchFamily="34" charset="-120"/>
              </a:rPr>
              <a:t>Valuations as of late May 2026 unless noted.</a:t>
            </a:r>
            <a:endParaRPr lang="en-US" sz="800" dirty="0"/>
          </a:p>
        </p:txBody>
      </p:sp>
      <p:sp>
        <p:nvSpPr>
          <p:cNvPr id="37" name="Shape 31"/>
          <p:cNvSpPr/>
          <p:nvPr/>
        </p:nvSpPr>
        <p:spPr>
          <a:xfrm>
            <a:off x="457200" y="5166360"/>
            <a:ext cx="8229600" cy="502920"/>
          </a:xfrm>
          <a:prstGeom prst="rect">
            <a:avLst/>
          </a:prstGeom>
          <a:solidFill>
            <a:srgbClr val="FFD100"/>
          </a:solidFill>
          <a:ln w="12700">
            <a:solidFill>
              <a:srgbClr val="FFD100"/>
            </a:solidFill>
            <a:prstDash val="solid"/>
          </a:ln>
        </p:spPr>
      </p:sp>
      <p:sp>
        <p:nvSpPr>
          <p:cNvPr id="38" name="Text 32"/>
          <p:cNvSpPr/>
          <p:nvPr/>
        </p:nvSpPr>
        <p:spPr>
          <a:xfrm>
            <a:off x="640080" y="5166360"/>
            <a:ext cx="7863840" cy="5029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Q1 2026 funding to foundational AI startups was 2× all of 2025.</a:t>
            </a:r>
            <a:pPr indent="0" marL="0">
              <a:buNone/>
            </a:pPr>
            <a:r>
              <a:rPr lang="en-US" sz="800" b="1" baseline="30000" dirty="0">
                <a:solidFill>
                  <a:srgbClr val="000000"/>
                </a:solidFill>
                <a:latin typeface="Arial" pitchFamily="34" charset="0"/>
                <a:ea typeface="Arial" pitchFamily="34" charset="-122"/>
                <a:cs typeface="Arial" pitchFamily="34" charset="-120"/>
              </a:rPr>
              <a:t> 5</a:t>
            </a:r>
            <a:endParaRPr lang="en-US" sz="1400" dirty="0"/>
          </a:p>
        </p:txBody>
      </p:sp>
      <p:sp>
        <p:nvSpPr>
          <p:cNvPr id="39" name="Text 33"/>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Bloomberg / CNBC — OpenAI $122B round, Mar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Bloomberg — Anthropic Series G (Feb) &amp; ~$900B round reported May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companiesmarketcap.com; Alphabet 2026 capex guide,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CNBC / Bloomberg — xAI–SpaceX merger (Feb 2) &amp; SpaceX S-1 (May 20),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Crunchbase Q1 2026 VC data.</a:t>
            </a:r>
            <a:endParaRPr lang="en-US" sz="700" dirty="0"/>
          </a:p>
        </p:txBody>
      </p:sp>
      <p:sp>
        <p:nvSpPr>
          <p:cNvPr id="40" name="Shape 34"/>
          <p:cNvSpPr/>
          <p:nvPr/>
        </p:nvSpPr>
        <p:spPr>
          <a:xfrm>
            <a:off x="0" y="6286500"/>
            <a:ext cx="9144000" cy="571500"/>
          </a:xfrm>
          <a:prstGeom prst="rect">
            <a:avLst/>
          </a:prstGeom>
          <a:solidFill>
            <a:srgbClr val="000000"/>
          </a:solidFill>
          <a:ln w="12700">
            <a:solidFill>
              <a:srgbClr val="000000"/>
            </a:solidFill>
            <a:prstDash val="solid"/>
          </a:ln>
        </p:spPr>
      </p:sp>
      <p:sp>
        <p:nvSpPr>
          <p:cNvPr id="41" name="Text 3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2" name="Text 3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Top-10 Tech grows ~3× faster — at a similar multiple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Top 10 Tech firms are growing ~3× faster than the top 10 Non-Tech — at a similar multiple. The divergence in fundamentals has not been priced into valuations.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10 Tech vs Top 10 Non-Tech — 2026E</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sp>
        <p:nvSpPr>
          <p:cNvPr id="9" name="Shape 7"/>
          <p:cNvSpPr/>
          <p:nvPr/>
        </p:nvSpPr>
        <p:spPr>
          <a:xfrm>
            <a:off x="457200" y="2011680"/>
            <a:ext cx="3931920" cy="2926080"/>
          </a:xfrm>
          <a:prstGeom prst="rect">
            <a:avLst/>
          </a:prstGeom>
          <a:solidFill>
            <a:srgbClr val="FFFFFF"/>
          </a:solidFill>
          <a:ln w="6350">
            <a:solidFill>
              <a:srgbClr val="E5E5E5"/>
            </a:solidFill>
            <a:prstDash val="solid"/>
          </a:ln>
        </p:spPr>
      </p:sp>
      <p:sp>
        <p:nvSpPr>
          <p:cNvPr id="10" name="Shape 8"/>
          <p:cNvSpPr/>
          <p:nvPr/>
        </p:nvSpPr>
        <p:spPr>
          <a:xfrm>
            <a:off x="603504" y="3584448"/>
            <a:ext cx="512064" cy="621792"/>
          </a:xfrm>
          <a:prstGeom prst="rect">
            <a:avLst/>
          </a:prstGeom>
          <a:solidFill>
            <a:srgbClr val="F6693D"/>
          </a:solidFill>
          <a:ln w="12700">
            <a:solidFill>
              <a:srgbClr val="F6693D"/>
            </a:solidFill>
            <a:prstDash val="solid"/>
          </a:ln>
        </p:spPr>
      </p:sp>
      <p:sp>
        <p:nvSpPr>
          <p:cNvPr id="11" name="Text 9"/>
          <p:cNvSpPr/>
          <p:nvPr/>
        </p:nvSpPr>
        <p:spPr>
          <a:xfrm>
            <a:off x="603504" y="3310128"/>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17%</a:t>
            </a:r>
            <a:endParaRPr lang="en-US" sz="1050" dirty="0"/>
          </a:p>
        </p:txBody>
      </p:sp>
      <p:sp>
        <p:nvSpPr>
          <p:cNvPr id="12" name="Shape 10"/>
          <p:cNvSpPr/>
          <p:nvPr/>
        </p:nvSpPr>
        <p:spPr>
          <a:xfrm>
            <a:off x="1170432" y="4023360"/>
            <a:ext cx="512064" cy="182880"/>
          </a:xfrm>
          <a:prstGeom prst="rect">
            <a:avLst/>
          </a:prstGeom>
          <a:solidFill>
            <a:srgbClr val="666666"/>
          </a:solidFill>
          <a:ln w="12700">
            <a:solidFill>
              <a:srgbClr val="666666"/>
            </a:solidFill>
            <a:prstDash val="solid"/>
          </a:ln>
        </p:spPr>
      </p:sp>
      <p:sp>
        <p:nvSpPr>
          <p:cNvPr id="13" name="Text 11"/>
          <p:cNvSpPr/>
          <p:nvPr/>
        </p:nvSpPr>
        <p:spPr>
          <a:xfrm>
            <a:off x="1170432" y="374904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5%</a:t>
            </a:r>
            <a:endParaRPr lang="en-US" sz="1050" dirty="0"/>
          </a:p>
        </p:txBody>
      </p:sp>
      <p:sp>
        <p:nvSpPr>
          <p:cNvPr id="14" name="Shape 12"/>
          <p:cNvSpPr/>
          <p:nvPr/>
        </p:nvSpPr>
        <p:spPr>
          <a:xfrm>
            <a:off x="585216" y="4206240"/>
            <a:ext cx="1115568" cy="0"/>
          </a:xfrm>
          <a:prstGeom prst="line">
            <a:avLst/>
          </a:prstGeom>
          <a:noFill/>
          <a:ln w="9525">
            <a:solidFill>
              <a:srgbClr val="333333"/>
            </a:solidFill>
            <a:prstDash val="solid"/>
          </a:ln>
        </p:spPr>
      </p:sp>
      <p:sp>
        <p:nvSpPr>
          <p:cNvPr id="15" name="Text 13"/>
          <p:cNvSpPr/>
          <p:nvPr/>
        </p:nvSpPr>
        <p:spPr>
          <a:xfrm>
            <a:off x="54864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Revenue Growth</a:t>
            </a:r>
            <a:endParaRPr lang="en-US" sz="1000" dirty="0"/>
          </a:p>
        </p:txBody>
      </p:sp>
      <p:sp>
        <p:nvSpPr>
          <p:cNvPr id="16" name="Shape 14"/>
          <p:cNvSpPr/>
          <p:nvPr/>
        </p:nvSpPr>
        <p:spPr>
          <a:xfrm>
            <a:off x="1883664" y="2706624"/>
            <a:ext cx="512064" cy="1499616"/>
          </a:xfrm>
          <a:prstGeom prst="rect">
            <a:avLst/>
          </a:prstGeom>
          <a:solidFill>
            <a:srgbClr val="F6693D"/>
          </a:solidFill>
          <a:ln w="12700">
            <a:solidFill>
              <a:srgbClr val="F6693D"/>
            </a:solidFill>
            <a:prstDash val="solid"/>
          </a:ln>
        </p:spPr>
      </p:sp>
      <p:sp>
        <p:nvSpPr>
          <p:cNvPr id="17" name="Text 15"/>
          <p:cNvSpPr/>
          <p:nvPr/>
        </p:nvSpPr>
        <p:spPr>
          <a:xfrm>
            <a:off x="1883664" y="2432304"/>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41%</a:t>
            </a:r>
            <a:endParaRPr lang="en-US" sz="1050" dirty="0"/>
          </a:p>
        </p:txBody>
      </p:sp>
      <p:sp>
        <p:nvSpPr>
          <p:cNvPr id="18" name="Shape 16"/>
          <p:cNvSpPr/>
          <p:nvPr/>
        </p:nvSpPr>
        <p:spPr>
          <a:xfrm>
            <a:off x="2450592" y="3474720"/>
            <a:ext cx="512064" cy="731520"/>
          </a:xfrm>
          <a:prstGeom prst="rect">
            <a:avLst/>
          </a:prstGeom>
          <a:solidFill>
            <a:srgbClr val="666666"/>
          </a:solidFill>
          <a:ln w="12700">
            <a:solidFill>
              <a:srgbClr val="666666"/>
            </a:solidFill>
            <a:prstDash val="solid"/>
          </a:ln>
        </p:spPr>
      </p:sp>
      <p:sp>
        <p:nvSpPr>
          <p:cNvPr id="19" name="Text 17"/>
          <p:cNvSpPr/>
          <p:nvPr/>
        </p:nvSpPr>
        <p:spPr>
          <a:xfrm>
            <a:off x="2450592" y="320040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20%</a:t>
            </a:r>
            <a:endParaRPr lang="en-US" sz="1050" dirty="0"/>
          </a:p>
        </p:txBody>
      </p:sp>
      <p:sp>
        <p:nvSpPr>
          <p:cNvPr id="20" name="Shape 18"/>
          <p:cNvSpPr/>
          <p:nvPr/>
        </p:nvSpPr>
        <p:spPr>
          <a:xfrm>
            <a:off x="1865376" y="4206240"/>
            <a:ext cx="1115568" cy="0"/>
          </a:xfrm>
          <a:prstGeom prst="line">
            <a:avLst/>
          </a:prstGeom>
          <a:noFill/>
          <a:ln w="9525">
            <a:solidFill>
              <a:srgbClr val="333333"/>
            </a:solidFill>
            <a:prstDash val="solid"/>
          </a:ln>
        </p:spPr>
      </p:sp>
      <p:sp>
        <p:nvSpPr>
          <p:cNvPr id="21" name="Text 19"/>
          <p:cNvSpPr/>
          <p:nvPr/>
        </p:nvSpPr>
        <p:spPr>
          <a:xfrm>
            <a:off x="182880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Op Margin</a:t>
            </a:r>
            <a:endParaRPr lang="en-US" sz="1000" dirty="0"/>
          </a:p>
        </p:txBody>
      </p:sp>
      <p:sp>
        <p:nvSpPr>
          <p:cNvPr id="22" name="Shape 20"/>
          <p:cNvSpPr/>
          <p:nvPr/>
        </p:nvSpPr>
        <p:spPr>
          <a:xfrm>
            <a:off x="3163824" y="2847703"/>
            <a:ext cx="512064" cy="1358537"/>
          </a:xfrm>
          <a:prstGeom prst="rect">
            <a:avLst/>
          </a:prstGeom>
          <a:solidFill>
            <a:srgbClr val="F6693D"/>
          </a:solidFill>
          <a:ln w="12700">
            <a:solidFill>
              <a:srgbClr val="F6693D"/>
            </a:solidFill>
            <a:prstDash val="solid"/>
          </a:ln>
        </p:spPr>
      </p:sp>
      <p:sp>
        <p:nvSpPr>
          <p:cNvPr id="23" name="Text 21"/>
          <p:cNvSpPr/>
          <p:nvPr/>
        </p:nvSpPr>
        <p:spPr>
          <a:xfrm>
            <a:off x="3163824" y="2573383"/>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26x</a:t>
            </a:r>
            <a:endParaRPr lang="en-US" sz="1050" dirty="0"/>
          </a:p>
        </p:txBody>
      </p:sp>
      <p:sp>
        <p:nvSpPr>
          <p:cNvPr id="24" name="Shape 22"/>
          <p:cNvSpPr/>
          <p:nvPr/>
        </p:nvSpPr>
        <p:spPr>
          <a:xfrm>
            <a:off x="3730752" y="3004457"/>
            <a:ext cx="512064" cy="1201783"/>
          </a:xfrm>
          <a:prstGeom prst="rect">
            <a:avLst/>
          </a:prstGeom>
          <a:solidFill>
            <a:srgbClr val="666666"/>
          </a:solidFill>
          <a:ln w="12700">
            <a:solidFill>
              <a:srgbClr val="666666"/>
            </a:solidFill>
            <a:prstDash val="solid"/>
          </a:ln>
        </p:spPr>
      </p:sp>
      <p:sp>
        <p:nvSpPr>
          <p:cNvPr id="25" name="Text 23"/>
          <p:cNvSpPr/>
          <p:nvPr/>
        </p:nvSpPr>
        <p:spPr>
          <a:xfrm>
            <a:off x="3730752" y="2730137"/>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23x</a:t>
            </a:r>
            <a:endParaRPr lang="en-US" sz="1050" dirty="0"/>
          </a:p>
        </p:txBody>
      </p:sp>
      <p:sp>
        <p:nvSpPr>
          <p:cNvPr id="26" name="Shape 24"/>
          <p:cNvSpPr/>
          <p:nvPr/>
        </p:nvSpPr>
        <p:spPr>
          <a:xfrm>
            <a:off x="3145536" y="4206240"/>
            <a:ext cx="1115568" cy="0"/>
          </a:xfrm>
          <a:prstGeom prst="line">
            <a:avLst/>
          </a:prstGeom>
          <a:noFill/>
          <a:ln w="9525">
            <a:solidFill>
              <a:srgbClr val="333333"/>
            </a:solidFill>
            <a:prstDash val="solid"/>
          </a:ln>
        </p:spPr>
      </p:sp>
      <p:sp>
        <p:nvSpPr>
          <p:cNvPr id="27" name="Text 25"/>
          <p:cNvSpPr/>
          <p:nvPr/>
        </p:nvSpPr>
        <p:spPr>
          <a:xfrm>
            <a:off x="310896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P/E</a:t>
            </a:r>
            <a:endParaRPr lang="en-US" sz="1000" dirty="0"/>
          </a:p>
        </p:txBody>
      </p:sp>
      <p:sp>
        <p:nvSpPr>
          <p:cNvPr id="28" name="Shape 26"/>
          <p:cNvSpPr/>
          <p:nvPr/>
        </p:nvSpPr>
        <p:spPr>
          <a:xfrm>
            <a:off x="914400" y="5074920"/>
            <a:ext cx="164592" cy="109728"/>
          </a:xfrm>
          <a:prstGeom prst="rect">
            <a:avLst/>
          </a:prstGeom>
          <a:solidFill>
            <a:srgbClr val="F6693D"/>
          </a:solidFill>
          <a:ln w="12700">
            <a:solidFill>
              <a:srgbClr val="F6693D"/>
            </a:solidFill>
            <a:prstDash val="solid"/>
          </a:ln>
        </p:spPr>
      </p:sp>
      <p:sp>
        <p:nvSpPr>
          <p:cNvPr id="29" name="Text 27"/>
          <p:cNvSpPr/>
          <p:nvPr/>
        </p:nvSpPr>
        <p:spPr>
          <a:xfrm>
            <a:off x="1115568" y="5038344"/>
            <a:ext cx="1280160" cy="182880"/>
          </a:xfrm>
          <a:prstGeom prst="rect">
            <a:avLst/>
          </a:prstGeom>
          <a:noFill/>
          <a:ln/>
        </p:spPr>
        <p:txBody>
          <a:bodyPr wrap="square" lIns="0" tIns="0" rIns="0" bIns="0" rtlCol="0" anchor="ctr"/>
          <a:lstStyle/>
          <a:p>
            <a:pPr indent="0" marL="0">
              <a:buNone/>
            </a:pPr>
            <a:r>
              <a:rPr lang="en-US" sz="900" b="1" dirty="0">
                <a:solidFill>
                  <a:srgbClr val="000000"/>
                </a:solidFill>
                <a:latin typeface="Arial" pitchFamily="34" charset="0"/>
                <a:ea typeface="Arial" pitchFamily="34" charset="-122"/>
                <a:cs typeface="Arial" pitchFamily="34" charset="-120"/>
              </a:rPr>
              <a:t>Top 10 Tech</a:t>
            </a:r>
            <a:endParaRPr lang="en-US" sz="900" dirty="0"/>
          </a:p>
        </p:txBody>
      </p:sp>
      <p:sp>
        <p:nvSpPr>
          <p:cNvPr id="30" name="Shape 28"/>
          <p:cNvSpPr/>
          <p:nvPr/>
        </p:nvSpPr>
        <p:spPr>
          <a:xfrm>
            <a:off x="2468880" y="5074920"/>
            <a:ext cx="164592" cy="109728"/>
          </a:xfrm>
          <a:prstGeom prst="rect">
            <a:avLst/>
          </a:prstGeom>
          <a:solidFill>
            <a:srgbClr val="666666"/>
          </a:solidFill>
          <a:ln w="12700">
            <a:solidFill>
              <a:srgbClr val="666666"/>
            </a:solidFill>
            <a:prstDash val="solid"/>
          </a:ln>
        </p:spPr>
      </p:sp>
      <p:sp>
        <p:nvSpPr>
          <p:cNvPr id="31" name="Text 29"/>
          <p:cNvSpPr/>
          <p:nvPr/>
        </p:nvSpPr>
        <p:spPr>
          <a:xfrm>
            <a:off x="2670048" y="5038344"/>
            <a:ext cx="1554480" cy="182880"/>
          </a:xfrm>
          <a:prstGeom prst="rect">
            <a:avLst/>
          </a:prstGeom>
          <a:noFill/>
          <a:ln/>
        </p:spPr>
        <p:txBody>
          <a:bodyPr wrap="square" lIns="0" tIns="0" rIns="0" bIns="0" rtlCol="0" anchor="ctr"/>
          <a:lstStyle/>
          <a:p>
            <a:pPr indent="0" marL="0">
              <a:buNone/>
            </a:pPr>
            <a:r>
              <a:rPr lang="en-US" sz="900" b="1" dirty="0">
                <a:solidFill>
                  <a:srgbClr val="333333"/>
                </a:solidFill>
                <a:latin typeface="Arial" pitchFamily="34" charset="0"/>
                <a:ea typeface="Arial" pitchFamily="34" charset="-122"/>
                <a:cs typeface="Arial" pitchFamily="34" charset="-120"/>
              </a:rPr>
              <a:t>Top 10 Non-Tech</a:t>
            </a:r>
            <a:endParaRPr lang="en-US" sz="900" dirty="0"/>
          </a:p>
        </p:txBody>
      </p:sp>
      <p:sp>
        <p:nvSpPr>
          <p:cNvPr id="32" name="Text 30"/>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US — P/E vs revenue growth</a:t>
            </a:r>
            <a:endParaRPr lang="en-US" sz="1400" dirty="0"/>
          </a:p>
        </p:txBody>
      </p:sp>
      <p:sp>
        <p:nvSpPr>
          <p:cNvPr id="33" name="Shape 31"/>
          <p:cNvSpPr/>
          <p:nvPr/>
        </p:nvSpPr>
        <p:spPr>
          <a:xfrm>
            <a:off x="4754880" y="1828800"/>
            <a:ext cx="3931920" cy="0"/>
          </a:xfrm>
          <a:prstGeom prst="line">
            <a:avLst/>
          </a:prstGeom>
          <a:noFill/>
          <a:ln w="19050">
            <a:solidFill>
              <a:srgbClr val="000000"/>
            </a:solidFill>
            <a:prstDash val="solid"/>
          </a:ln>
        </p:spPr>
      </p:sp>
      <p:sp>
        <p:nvSpPr>
          <p:cNvPr id="34" name="Shape 32"/>
          <p:cNvSpPr/>
          <p:nvPr/>
        </p:nvSpPr>
        <p:spPr>
          <a:xfrm>
            <a:off x="4754880" y="2011680"/>
            <a:ext cx="3931920" cy="2926080"/>
          </a:xfrm>
          <a:prstGeom prst="rect">
            <a:avLst/>
          </a:prstGeom>
          <a:solidFill>
            <a:srgbClr val="FFFFFF"/>
          </a:solidFill>
          <a:ln w="6350">
            <a:solidFill>
              <a:srgbClr val="E5E5E5"/>
            </a:solidFill>
            <a:prstDash val="solid"/>
          </a:ln>
        </p:spPr>
      </p:sp>
      <p:sp>
        <p:nvSpPr>
          <p:cNvPr id="35" name="Shape 33"/>
          <p:cNvSpPr/>
          <p:nvPr/>
        </p:nvSpPr>
        <p:spPr>
          <a:xfrm>
            <a:off x="5074920" y="4151376"/>
            <a:ext cx="3520440" cy="0"/>
          </a:xfrm>
          <a:prstGeom prst="line">
            <a:avLst/>
          </a:prstGeom>
          <a:noFill/>
          <a:ln w="6350">
            <a:solidFill>
              <a:srgbClr val="EEEEEE"/>
            </a:solidFill>
            <a:prstDash val="solid"/>
          </a:ln>
        </p:spPr>
      </p:sp>
      <p:sp>
        <p:nvSpPr>
          <p:cNvPr id="36" name="Shape 34"/>
          <p:cNvSpPr/>
          <p:nvPr/>
        </p:nvSpPr>
        <p:spPr>
          <a:xfrm>
            <a:off x="5074920" y="3639312"/>
            <a:ext cx="3520440" cy="0"/>
          </a:xfrm>
          <a:prstGeom prst="line">
            <a:avLst/>
          </a:prstGeom>
          <a:noFill/>
          <a:ln w="6350">
            <a:solidFill>
              <a:srgbClr val="EEEEEE"/>
            </a:solidFill>
            <a:prstDash val="solid"/>
          </a:ln>
        </p:spPr>
      </p:sp>
      <p:sp>
        <p:nvSpPr>
          <p:cNvPr id="37" name="Shape 35"/>
          <p:cNvSpPr/>
          <p:nvPr/>
        </p:nvSpPr>
        <p:spPr>
          <a:xfrm>
            <a:off x="5074920" y="3127248"/>
            <a:ext cx="3520440" cy="0"/>
          </a:xfrm>
          <a:prstGeom prst="line">
            <a:avLst/>
          </a:prstGeom>
          <a:noFill/>
          <a:ln w="6350">
            <a:solidFill>
              <a:srgbClr val="EEEEEE"/>
            </a:solidFill>
            <a:prstDash val="solid"/>
          </a:ln>
        </p:spPr>
      </p:sp>
      <p:sp>
        <p:nvSpPr>
          <p:cNvPr id="38" name="Shape 36"/>
          <p:cNvSpPr/>
          <p:nvPr/>
        </p:nvSpPr>
        <p:spPr>
          <a:xfrm>
            <a:off x="5074920" y="2615184"/>
            <a:ext cx="3520440" cy="0"/>
          </a:xfrm>
          <a:prstGeom prst="line">
            <a:avLst/>
          </a:prstGeom>
          <a:noFill/>
          <a:ln w="6350">
            <a:solidFill>
              <a:srgbClr val="EEEEEE"/>
            </a:solidFill>
            <a:prstDash val="solid"/>
          </a:ln>
        </p:spPr>
      </p:sp>
      <p:sp>
        <p:nvSpPr>
          <p:cNvPr id="39" name="Shape 37"/>
          <p:cNvSpPr/>
          <p:nvPr/>
        </p:nvSpPr>
        <p:spPr>
          <a:xfrm>
            <a:off x="5074920" y="4663440"/>
            <a:ext cx="3520440" cy="0"/>
          </a:xfrm>
          <a:prstGeom prst="line">
            <a:avLst/>
          </a:prstGeom>
          <a:noFill/>
          <a:ln w="9525">
            <a:solidFill>
              <a:srgbClr val="666666"/>
            </a:solidFill>
            <a:prstDash val="solid"/>
          </a:ln>
        </p:spPr>
      </p:sp>
      <p:sp>
        <p:nvSpPr>
          <p:cNvPr id="40" name="Shape 38"/>
          <p:cNvSpPr/>
          <p:nvPr/>
        </p:nvSpPr>
        <p:spPr>
          <a:xfrm>
            <a:off x="5074920" y="2103120"/>
            <a:ext cx="0" cy="2560320"/>
          </a:xfrm>
          <a:prstGeom prst="line">
            <a:avLst/>
          </a:prstGeom>
          <a:noFill/>
          <a:ln w="9525">
            <a:solidFill>
              <a:srgbClr val="666666"/>
            </a:solidFill>
            <a:prstDash val="solid"/>
          </a:ln>
        </p:spPr>
      </p:sp>
      <p:sp>
        <p:nvSpPr>
          <p:cNvPr id="41" name="Text 39"/>
          <p:cNvSpPr/>
          <p:nvPr/>
        </p:nvSpPr>
        <p:spPr>
          <a:xfrm>
            <a:off x="48737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a:t>
            </a:r>
            <a:endParaRPr lang="en-US" sz="700" dirty="0"/>
          </a:p>
        </p:txBody>
      </p:sp>
      <p:sp>
        <p:nvSpPr>
          <p:cNvPr id="42" name="Text 40"/>
          <p:cNvSpPr/>
          <p:nvPr/>
        </p:nvSpPr>
        <p:spPr>
          <a:xfrm>
            <a:off x="51937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3" name="Text 41"/>
          <p:cNvSpPr/>
          <p:nvPr/>
        </p:nvSpPr>
        <p:spPr>
          <a:xfrm>
            <a:off x="583387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44" name="Text 42"/>
          <p:cNvSpPr/>
          <p:nvPr/>
        </p:nvSpPr>
        <p:spPr>
          <a:xfrm>
            <a:off x="64739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45" name="Text 43"/>
          <p:cNvSpPr/>
          <p:nvPr/>
        </p:nvSpPr>
        <p:spPr>
          <a:xfrm>
            <a:off x="711403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46" name="Text 44"/>
          <p:cNvSpPr/>
          <p:nvPr/>
        </p:nvSpPr>
        <p:spPr>
          <a:xfrm>
            <a:off x="775411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47" name="Text 45"/>
          <p:cNvSpPr/>
          <p:nvPr/>
        </p:nvSpPr>
        <p:spPr>
          <a:xfrm>
            <a:off x="83941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48" name="Text 46"/>
          <p:cNvSpPr/>
          <p:nvPr/>
        </p:nvSpPr>
        <p:spPr>
          <a:xfrm>
            <a:off x="4727448" y="459943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9" name="Text 47"/>
          <p:cNvSpPr/>
          <p:nvPr/>
        </p:nvSpPr>
        <p:spPr>
          <a:xfrm>
            <a:off x="4727448" y="4087368"/>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50" name="Text 48"/>
          <p:cNvSpPr/>
          <p:nvPr/>
        </p:nvSpPr>
        <p:spPr>
          <a:xfrm>
            <a:off x="4727448" y="3575304"/>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51" name="Text 49"/>
          <p:cNvSpPr/>
          <p:nvPr/>
        </p:nvSpPr>
        <p:spPr>
          <a:xfrm>
            <a:off x="4727448" y="3063240"/>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52" name="Text 50"/>
          <p:cNvSpPr/>
          <p:nvPr/>
        </p:nvSpPr>
        <p:spPr>
          <a:xfrm>
            <a:off x="4727448" y="2551176"/>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53" name="Text 51"/>
          <p:cNvSpPr/>
          <p:nvPr/>
        </p:nvSpPr>
        <p:spPr>
          <a:xfrm>
            <a:off x="4727448" y="203911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54" name="Text 52"/>
          <p:cNvSpPr/>
          <p:nvPr/>
        </p:nvSpPr>
        <p:spPr>
          <a:xfrm>
            <a:off x="5074920" y="4791456"/>
            <a:ext cx="3520440" cy="146304"/>
          </a:xfrm>
          <a:prstGeom prst="rect">
            <a:avLst/>
          </a:prstGeom>
          <a:noFill/>
          <a:ln/>
        </p:spPr>
        <p:txBody>
          <a:bodyPr wrap="square" lIns="0" tIns="0" rIns="0" bIns="0" rtlCol="0" anchor="ctr"/>
          <a:lstStyle/>
          <a:p>
            <a:pPr algn="ctr" indent="0" marL="0">
              <a:buNone/>
            </a:pPr>
            <a:r>
              <a:rPr lang="en-US" sz="800" i="1" dirty="0">
                <a:solidFill>
                  <a:srgbClr val="666666"/>
                </a:solidFill>
                <a:latin typeface="Arial" pitchFamily="34" charset="0"/>
                <a:ea typeface="Arial" pitchFamily="34" charset="-122"/>
                <a:cs typeface="Arial" pitchFamily="34" charset="-120"/>
              </a:rPr>
              <a:t>Forward revenue growth, 2026E → 2027E</a:t>
            </a:r>
            <a:endParaRPr lang="en-US" sz="800" dirty="0"/>
          </a:p>
        </p:txBody>
      </p:sp>
      <p:sp>
        <p:nvSpPr>
          <p:cNvPr id="55" name="Text 53"/>
          <p:cNvSpPr/>
          <p:nvPr/>
        </p:nvSpPr>
        <p:spPr>
          <a:xfrm>
            <a:off x="4754880" y="1801368"/>
            <a:ext cx="3931920" cy="128016"/>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Forward P/E (2026E)</a:t>
            </a:r>
            <a:endParaRPr lang="en-US" sz="800" dirty="0"/>
          </a:p>
        </p:txBody>
      </p:sp>
      <p:sp>
        <p:nvSpPr>
          <p:cNvPr id="56" name="Shape 54"/>
          <p:cNvSpPr/>
          <p:nvPr/>
        </p:nvSpPr>
        <p:spPr>
          <a:xfrm>
            <a:off x="8535924" y="3375050"/>
            <a:ext cx="118872" cy="118872"/>
          </a:xfrm>
          <a:prstGeom prst="ellipse">
            <a:avLst/>
          </a:prstGeom>
          <a:solidFill>
            <a:srgbClr val="F6693D"/>
          </a:solidFill>
          <a:ln w="6350">
            <a:solidFill>
              <a:srgbClr val="FFFFFF"/>
            </a:solidFill>
            <a:prstDash val="solid"/>
          </a:ln>
        </p:spPr>
      </p:sp>
      <p:sp>
        <p:nvSpPr>
          <p:cNvPr id="57" name="Shape 55"/>
          <p:cNvSpPr/>
          <p:nvPr/>
        </p:nvSpPr>
        <p:spPr>
          <a:xfrm>
            <a:off x="6308130" y="3134380"/>
            <a:ext cx="118872" cy="118872"/>
          </a:xfrm>
          <a:prstGeom prst="ellipse">
            <a:avLst/>
          </a:prstGeom>
          <a:solidFill>
            <a:srgbClr val="F6693D"/>
          </a:solidFill>
          <a:ln w="6350">
            <a:solidFill>
              <a:srgbClr val="FFFFFF"/>
            </a:solidFill>
            <a:prstDash val="solid"/>
          </a:ln>
        </p:spPr>
      </p:sp>
      <p:sp>
        <p:nvSpPr>
          <p:cNvPr id="58" name="Shape 56"/>
          <p:cNvSpPr/>
          <p:nvPr/>
        </p:nvSpPr>
        <p:spPr>
          <a:xfrm>
            <a:off x="5780211" y="2991002"/>
            <a:ext cx="118872" cy="118872"/>
          </a:xfrm>
          <a:prstGeom prst="ellipse">
            <a:avLst/>
          </a:prstGeom>
          <a:solidFill>
            <a:srgbClr val="F6693D"/>
          </a:solidFill>
          <a:ln w="6350">
            <a:solidFill>
              <a:srgbClr val="FFFFFF"/>
            </a:solidFill>
            <a:prstDash val="solid"/>
          </a:ln>
        </p:spPr>
      </p:sp>
      <p:sp>
        <p:nvSpPr>
          <p:cNvPr id="59" name="Shape 57"/>
          <p:cNvSpPr/>
          <p:nvPr/>
        </p:nvSpPr>
        <p:spPr>
          <a:xfrm>
            <a:off x="6329081" y="3293120"/>
            <a:ext cx="118872" cy="118872"/>
          </a:xfrm>
          <a:prstGeom prst="ellipse">
            <a:avLst/>
          </a:prstGeom>
          <a:solidFill>
            <a:srgbClr val="F6693D"/>
          </a:solidFill>
          <a:ln w="6350">
            <a:solidFill>
              <a:srgbClr val="FFFFFF"/>
            </a:solidFill>
            <a:prstDash val="solid"/>
          </a:ln>
        </p:spPr>
      </p:sp>
      <p:sp>
        <p:nvSpPr>
          <p:cNvPr id="60" name="Shape 58"/>
          <p:cNvSpPr/>
          <p:nvPr/>
        </p:nvSpPr>
        <p:spPr>
          <a:xfrm>
            <a:off x="6090850" y="2960279"/>
            <a:ext cx="118872" cy="118872"/>
          </a:xfrm>
          <a:prstGeom prst="ellipse">
            <a:avLst/>
          </a:prstGeom>
          <a:solidFill>
            <a:srgbClr val="F6693D"/>
          </a:solidFill>
          <a:ln w="6350">
            <a:solidFill>
              <a:srgbClr val="FFFFFF"/>
            </a:solidFill>
            <a:prstDash val="solid"/>
          </a:ln>
        </p:spPr>
      </p:sp>
      <p:sp>
        <p:nvSpPr>
          <p:cNvPr id="61" name="Shape 59"/>
          <p:cNvSpPr/>
          <p:nvPr/>
        </p:nvSpPr>
        <p:spPr>
          <a:xfrm>
            <a:off x="8535924" y="2724729"/>
            <a:ext cx="118872" cy="118872"/>
          </a:xfrm>
          <a:prstGeom prst="ellipse">
            <a:avLst/>
          </a:prstGeom>
          <a:solidFill>
            <a:srgbClr val="F6693D"/>
          </a:solidFill>
          <a:ln w="6350">
            <a:solidFill>
              <a:srgbClr val="FFFFFF"/>
            </a:solidFill>
            <a:prstDash val="solid"/>
          </a:ln>
        </p:spPr>
      </p:sp>
      <p:sp>
        <p:nvSpPr>
          <p:cNvPr id="62" name="Shape 60"/>
          <p:cNvSpPr/>
          <p:nvPr/>
        </p:nvSpPr>
        <p:spPr>
          <a:xfrm>
            <a:off x="6515279" y="3467222"/>
            <a:ext cx="118872" cy="118872"/>
          </a:xfrm>
          <a:prstGeom prst="ellipse">
            <a:avLst/>
          </a:prstGeom>
          <a:solidFill>
            <a:srgbClr val="F6693D"/>
          </a:solidFill>
          <a:ln w="6350">
            <a:solidFill>
              <a:srgbClr val="FFFFFF"/>
            </a:solidFill>
            <a:prstDash val="solid"/>
          </a:ln>
        </p:spPr>
      </p:sp>
      <p:sp>
        <p:nvSpPr>
          <p:cNvPr id="63" name="Shape 61"/>
          <p:cNvSpPr/>
          <p:nvPr/>
        </p:nvSpPr>
        <p:spPr>
          <a:xfrm>
            <a:off x="6371844" y="2043684"/>
            <a:ext cx="118872" cy="118872"/>
          </a:xfrm>
          <a:prstGeom prst="ellipse">
            <a:avLst/>
          </a:prstGeom>
          <a:solidFill>
            <a:srgbClr val="333333"/>
          </a:solidFill>
          <a:ln w="6350">
            <a:solidFill>
              <a:srgbClr val="FFFFFF"/>
            </a:solidFill>
            <a:prstDash val="solid"/>
          </a:ln>
        </p:spPr>
      </p:sp>
      <p:sp>
        <p:nvSpPr>
          <p:cNvPr id="64" name="Shape 62"/>
          <p:cNvSpPr/>
          <p:nvPr/>
        </p:nvSpPr>
        <p:spPr>
          <a:xfrm>
            <a:off x="5721547" y="2340681"/>
            <a:ext cx="118872" cy="118872"/>
          </a:xfrm>
          <a:prstGeom prst="ellipse">
            <a:avLst/>
          </a:prstGeom>
          <a:solidFill>
            <a:srgbClr val="333333"/>
          </a:solidFill>
          <a:ln w="6350">
            <a:solidFill>
              <a:srgbClr val="FFFFFF"/>
            </a:solidFill>
            <a:prstDash val="solid"/>
          </a:ln>
        </p:spPr>
      </p:sp>
      <p:sp>
        <p:nvSpPr>
          <p:cNvPr id="65" name="Shape 63"/>
          <p:cNvSpPr/>
          <p:nvPr/>
        </p:nvSpPr>
        <p:spPr>
          <a:xfrm>
            <a:off x="5544246" y="3497946"/>
            <a:ext cx="118872" cy="118872"/>
          </a:xfrm>
          <a:prstGeom prst="ellipse">
            <a:avLst/>
          </a:prstGeom>
          <a:solidFill>
            <a:srgbClr val="333333"/>
          </a:solidFill>
          <a:ln w="6350">
            <a:solidFill>
              <a:srgbClr val="FFFFFF"/>
            </a:solidFill>
            <a:prstDash val="solid"/>
          </a:ln>
        </p:spPr>
      </p:sp>
      <p:sp>
        <p:nvSpPr>
          <p:cNvPr id="66" name="Shape 64"/>
          <p:cNvSpPr/>
          <p:nvPr/>
        </p:nvSpPr>
        <p:spPr>
          <a:xfrm>
            <a:off x="5625007" y="3871752"/>
            <a:ext cx="118872" cy="118872"/>
          </a:xfrm>
          <a:prstGeom prst="ellipse">
            <a:avLst/>
          </a:prstGeom>
          <a:solidFill>
            <a:srgbClr val="333333"/>
          </a:solidFill>
          <a:ln w="6350">
            <a:solidFill>
              <a:srgbClr val="FFFFFF"/>
            </a:solidFill>
            <a:prstDash val="solid"/>
          </a:ln>
        </p:spPr>
      </p:sp>
      <p:sp>
        <p:nvSpPr>
          <p:cNvPr id="67" name="Shape 65"/>
          <p:cNvSpPr/>
          <p:nvPr/>
        </p:nvSpPr>
        <p:spPr>
          <a:xfrm>
            <a:off x="6338059" y="3252155"/>
            <a:ext cx="118872" cy="118872"/>
          </a:xfrm>
          <a:prstGeom prst="ellipse">
            <a:avLst/>
          </a:prstGeom>
          <a:solidFill>
            <a:srgbClr val="333333"/>
          </a:solidFill>
          <a:ln w="6350">
            <a:solidFill>
              <a:srgbClr val="FFFFFF"/>
            </a:solidFill>
            <a:prstDash val="solid"/>
          </a:ln>
        </p:spPr>
      </p:sp>
      <p:sp>
        <p:nvSpPr>
          <p:cNvPr id="68" name="Shape 66"/>
          <p:cNvSpPr/>
          <p:nvPr/>
        </p:nvSpPr>
        <p:spPr>
          <a:xfrm>
            <a:off x="5131785" y="3641324"/>
            <a:ext cx="118872" cy="118872"/>
          </a:xfrm>
          <a:prstGeom prst="ellipse">
            <a:avLst/>
          </a:prstGeom>
          <a:solidFill>
            <a:srgbClr val="333333"/>
          </a:solidFill>
          <a:ln w="6350">
            <a:solidFill>
              <a:srgbClr val="FFFFFF"/>
            </a:solidFill>
            <a:prstDash val="solid"/>
          </a:ln>
        </p:spPr>
      </p:sp>
      <p:sp>
        <p:nvSpPr>
          <p:cNvPr id="69" name="Shape 67"/>
          <p:cNvSpPr/>
          <p:nvPr/>
        </p:nvSpPr>
        <p:spPr>
          <a:xfrm>
            <a:off x="5892115" y="3390412"/>
            <a:ext cx="118872" cy="118872"/>
          </a:xfrm>
          <a:prstGeom prst="ellipse">
            <a:avLst/>
          </a:prstGeom>
          <a:solidFill>
            <a:srgbClr val="333333"/>
          </a:solidFill>
          <a:ln w="6350">
            <a:solidFill>
              <a:srgbClr val="FFFFFF"/>
            </a:solidFill>
            <a:prstDash val="solid"/>
          </a:ln>
        </p:spPr>
      </p:sp>
      <p:sp>
        <p:nvSpPr>
          <p:cNvPr id="70" name="Text 68"/>
          <p:cNvSpPr/>
          <p:nvPr/>
        </p:nvSpPr>
        <p:spPr>
          <a:xfrm>
            <a:off x="7936992" y="3370478"/>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NVIDIA</a:t>
            </a:r>
            <a:endParaRPr lang="en-US" sz="700" dirty="0"/>
          </a:p>
        </p:txBody>
      </p:sp>
      <p:sp>
        <p:nvSpPr>
          <p:cNvPr id="71" name="Text 69"/>
          <p:cNvSpPr/>
          <p:nvPr/>
        </p:nvSpPr>
        <p:spPr>
          <a:xfrm>
            <a:off x="6641886" y="3010936"/>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Alphabet</a:t>
            </a:r>
            <a:endParaRPr lang="en-US" sz="700" dirty="0"/>
          </a:p>
        </p:txBody>
      </p:sp>
      <p:sp>
        <p:nvSpPr>
          <p:cNvPr id="72" name="Text 70"/>
          <p:cNvSpPr/>
          <p:nvPr/>
        </p:nvSpPr>
        <p:spPr>
          <a:xfrm>
            <a:off x="5537895" y="2958998"/>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Apple</a:t>
            </a:r>
            <a:endParaRPr lang="en-US" sz="700" dirty="0"/>
          </a:p>
        </p:txBody>
      </p:sp>
      <p:sp>
        <p:nvSpPr>
          <p:cNvPr id="73" name="Text 71"/>
          <p:cNvSpPr/>
          <p:nvPr/>
        </p:nvSpPr>
        <p:spPr>
          <a:xfrm>
            <a:off x="6662837" y="336170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Microsoft</a:t>
            </a:r>
            <a:endParaRPr lang="en-US" sz="700" dirty="0"/>
          </a:p>
        </p:txBody>
      </p:sp>
      <p:sp>
        <p:nvSpPr>
          <p:cNvPr id="74" name="Text 72"/>
          <p:cNvSpPr/>
          <p:nvPr/>
        </p:nvSpPr>
        <p:spPr>
          <a:xfrm>
            <a:off x="5802814" y="2873411"/>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Amazon</a:t>
            </a:r>
            <a:endParaRPr lang="en-US" sz="700" dirty="0"/>
          </a:p>
        </p:txBody>
      </p:sp>
      <p:sp>
        <p:nvSpPr>
          <p:cNvPr id="75" name="Text 73"/>
          <p:cNvSpPr/>
          <p:nvPr/>
        </p:nvSpPr>
        <p:spPr>
          <a:xfrm>
            <a:off x="7845552" y="272015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Broadcom</a:t>
            </a:r>
            <a:endParaRPr lang="en-US" sz="700" dirty="0"/>
          </a:p>
        </p:txBody>
      </p:sp>
      <p:sp>
        <p:nvSpPr>
          <p:cNvPr id="76" name="Text 74"/>
          <p:cNvSpPr/>
          <p:nvPr/>
        </p:nvSpPr>
        <p:spPr>
          <a:xfrm>
            <a:off x="6702731" y="3535802"/>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Meta</a:t>
            </a:r>
            <a:endParaRPr lang="en-US" sz="700" dirty="0"/>
          </a:p>
        </p:txBody>
      </p:sp>
      <p:sp>
        <p:nvSpPr>
          <p:cNvPr id="77" name="Text 75"/>
          <p:cNvSpPr/>
          <p:nvPr/>
        </p:nvSpPr>
        <p:spPr>
          <a:xfrm>
            <a:off x="6522720" y="208483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Tesla</a:t>
            </a:r>
            <a:endParaRPr lang="en-US" sz="700" dirty="0"/>
          </a:p>
        </p:txBody>
      </p:sp>
      <p:sp>
        <p:nvSpPr>
          <p:cNvPr id="78" name="Text 76"/>
          <p:cNvSpPr/>
          <p:nvPr/>
        </p:nvSpPr>
        <p:spPr>
          <a:xfrm>
            <a:off x="5735263" y="2253813"/>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Walmart</a:t>
            </a:r>
            <a:endParaRPr lang="en-US" sz="700" dirty="0"/>
          </a:p>
        </p:txBody>
      </p:sp>
      <p:sp>
        <p:nvSpPr>
          <p:cNvPr id="79" name="Text 77"/>
          <p:cNvSpPr/>
          <p:nvPr/>
        </p:nvSpPr>
        <p:spPr>
          <a:xfrm>
            <a:off x="5146482" y="355738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Berkshire</a:t>
            </a:r>
            <a:endParaRPr lang="en-US" sz="700" dirty="0"/>
          </a:p>
        </p:txBody>
      </p:sp>
      <p:sp>
        <p:nvSpPr>
          <p:cNvPr id="80" name="Text 78"/>
          <p:cNvSpPr/>
          <p:nvPr/>
        </p:nvSpPr>
        <p:spPr>
          <a:xfrm>
            <a:off x="5775883" y="3931188"/>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JPMorgan</a:t>
            </a:r>
            <a:endParaRPr lang="en-US" sz="700" dirty="0"/>
          </a:p>
        </p:txBody>
      </p:sp>
      <p:sp>
        <p:nvSpPr>
          <p:cNvPr id="81" name="Text 79"/>
          <p:cNvSpPr/>
          <p:nvPr/>
        </p:nvSpPr>
        <p:spPr>
          <a:xfrm>
            <a:off x="6671815" y="3192719"/>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Eli Lilly</a:t>
            </a:r>
            <a:endParaRPr lang="en-US" sz="700" dirty="0"/>
          </a:p>
        </p:txBody>
      </p:sp>
      <p:sp>
        <p:nvSpPr>
          <p:cNvPr id="82" name="Text 80"/>
          <p:cNvSpPr/>
          <p:nvPr/>
        </p:nvSpPr>
        <p:spPr>
          <a:xfrm>
            <a:off x="5145501" y="3792200"/>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Exxon</a:t>
            </a:r>
            <a:endParaRPr lang="en-US" sz="700" dirty="0"/>
          </a:p>
        </p:txBody>
      </p:sp>
      <p:sp>
        <p:nvSpPr>
          <p:cNvPr id="83" name="Text 81"/>
          <p:cNvSpPr/>
          <p:nvPr/>
        </p:nvSpPr>
        <p:spPr>
          <a:xfrm>
            <a:off x="5695519" y="346813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Visa</a:t>
            </a:r>
            <a:endParaRPr lang="en-US" sz="700" dirty="0"/>
          </a:p>
        </p:txBody>
      </p:sp>
      <p:sp>
        <p:nvSpPr>
          <p:cNvPr id="84" name="Shape 82"/>
          <p:cNvSpPr/>
          <p:nvPr/>
        </p:nvSpPr>
        <p:spPr>
          <a:xfrm>
            <a:off x="7818120" y="2157984"/>
            <a:ext cx="91440" cy="91440"/>
          </a:xfrm>
          <a:prstGeom prst="ellipse">
            <a:avLst/>
          </a:prstGeom>
          <a:solidFill>
            <a:srgbClr val="F6693D"/>
          </a:solidFill>
          <a:ln w="6350">
            <a:solidFill>
              <a:srgbClr val="FFFFFF"/>
            </a:solidFill>
            <a:prstDash val="solid"/>
          </a:ln>
        </p:spPr>
      </p:sp>
      <p:sp>
        <p:nvSpPr>
          <p:cNvPr id="85" name="Text 83"/>
          <p:cNvSpPr/>
          <p:nvPr/>
        </p:nvSpPr>
        <p:spPr>
          <a:xfrm>
            <a:off x="7936992" y="2130552"/>
            <a:ext cx="5486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Tech</a:t>
            </a:r>
            <a:endParaRPr lang="en-US" sz="750" dirty="0"/>
          </a:p>
        </p:txBody>
      </p:sp>
      <p:sp>
        <p:nvSpPr>
          <p:cNvPr id="86" name="Shape 84"/>
          <p:cNvSpPr/>
          <p:nvPr/>
        </p:nvSpPr>
        <p:spPr>
          <a:xfrm>
            <a:off x="7818120" y="2322576"/>
            <a:ext cx="91440" cy="91440"/>
          </a:xfrm>
          <a:prstGeom prst="ellipse">
            <a:avLst/>
          </a:prstGeom>
          <a:solidFill>
            <a:srgbClr val="333333"/>
          </a:solidFill>
          <a:ln w="6350">
            <a:solidFill>
              <a:srgbClr val="FFFFFF"/>
            </a:solidFill>
            <a:prstDash val="solid"/>
          </a:ln>
        </p:spPr>
      </p:sp>
      <p:sp>
        <p:nvSpPr>
          <p:cNvPr id="87" name="Text 85"/>
          <p:cNvSpPr/>
          <p:nvPr/>
        </p:nvSpPr>
        <p:spPr>
          <a:xfrm>
            <a:off x="7936992" y="2295144"/>
            <a:ext cx="7772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Non-Tech</a:t>
            </a:r>
            <a:endParaRPr lang="en-US" sz="750" dirty="0"/>
          </a:p>
        </p:txBody>
      </p:sp>
      <p:sp>
        <p:nvSpPr>
          <p:cNvPr id="88" name="Shape 86"/>
          <p:cNvSpPr/>
          <p:nvPr/>
        </p:nvSpPr>
        <p:spPr>
          <a:xfrm>
            <a:off x="457200" y="5394960"/>
            <a:ext cx="8229600" cy="411480"/>
          </a:xfrm>
          <a:prstGeom prst="rect">
            <a:avLst/>
          </a:prstGeom>
          <a:solidFill>
            <a:srgbClr val="333333"/>
          </a:solidFill>
          <a:ln w="12700">
            <a:solidFill>
              <a:srgbClr val="333333"/>
            </a:solidFill>
            <a:prstDash val="solid"/>
          </a:ln>
        </p:spPr>
      </p:sp>
      <p:sp>
        <p:nvSpPr>
          <p:cNvPr id="89" name="Text 87"/>
          <p:cNvSpPr/>
          <p:nvPr/>
        </p:nvSpPr>
        <p:spPr>
          <a:xfrm>
            <a:off x="640080" y="5394960"/>
            <a:ext cx="7863840" cy="41148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Tech median: ~26× fwd P/E on ~17% forward revenue growth. Non-Tech: ~23× on ~5% (consensus, Apr 22, 2026). The divergence is in the engine, not the multiple.</a:t>
            </a:r>
            <a:endParaRPr lang="en-US" sz="1100" dirty="0"/>
          </a:p>
        </p:txBody>
      </p:sp>
      <p:sp>
        <p:nvSpPr>
          <p:cNvPr id="90" name="Text 88"/>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stockanalysis.com analyst consensus (AAPL/MSFT/GOOGL/AMZN/NVDA/META/AVGO/TSLA/LLY/JPM/V/XOM/BRK.B/WMT, as of Apr 22, 2026); companiesmarketcap.com (mkt caps, Apr 22, 2026). NVDA, AVGO clipped at +50% growth; TSLA at 50× fwd P/E.</a:t>
            </a:r>
            <a:endParaRPr lang="en-US" sz="700" dirty="0"/>
          </a:p>
        </p:txBody>
      </p:sp>
      <p:sp>
        <p:nvSpPr>
          <p:cNvPr id="91" name="Shape 89"/>
          <p:cNvSpPr/>
          <p:nvPr/>
        </p:nvSpPr>
        <p:spPr>
          <a:xfrm>
            <a:off x="0" y="6286500"/>
            <a:ext cx="9144000" cy="571500"/>
          </a:xfrm>
          <a:prstGeom prst="rect">
            <a:avLst/>
          </a:prstGeom>
          <a:solidFill>
            <a:srgbClr val="000000"/>
          </a:solidFill>
          <a:ln w="12700">
            <a:solidFill>
              <a:srgbClr val="000000"/>
            </a:solidFill>
            <a:prstDash val="solid"/>
          </a:ln>
        </p:spPr>
      </p:sp>
      <p:sp>
        <p:nvSpPr>
          <p:cNvPr id="92" name="Text 9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93" name="Text 9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Agentic AI uses 10–100× the compute per session — that's the capex thesis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Agents set goals, use tools, and complete tasks end-to-end — each session uses 10–100× the compute of a chatbot query (analyst estimates), and inference demand is scaling with it.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pic>
        <p:nvPicPr>
          <p:cNvPr id="7" name="Image 0" descr="slides-images/slide12.png">    </p:cNvPr>
          <p:cNvPicPr>
            <a:picLocks noChangeAspect="1"/>
          </p:cNvPicPr>
          <p:nvPr/>
        </p:nvPicPr>
        <p:blipFill>
          <a:blip r:embed="rId1"/>
          <a:srcRect l="0" r="0" t="0" b="0"/>
          <a:stretch/>
        </p:blipFill>
        <p:spPr>
          <a:xfrm>
            <a:off x="457200" y="1691640"/>
            <a:ext cx="3017520" cy="297180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11880" y="1691640"/>
          <a:ext cx="5074920" cy="914400"/>
        </p:xfrm>
        <a:graphic>
          <a:graphicData uri="http://schemas.openxmlformats.org/drawingml/2006/table">
            <a:tbl>
              <a:tblPr/>
              <a:tblGrid>
                <a:gridCol w="1325880"/>
                <a:gridCol w="1874520"/>
                <a:gridCol w="1874520"/>
              </a:tblGrid>
              <a:tr h="594360">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Dimension</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Chatbot (2023–24)</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Agent (2025+)</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Interaction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You ask, it answers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F6693D"/>
                          </a:solidFill>
                          <a:latin typeface="Arial" pitchFamily="34" charset="0"/>
                          <a:ea typeface="Arial" pitchFamily="34" charset="-122"/>
                          <a:cs typeface="Arial" pitchFamily="34" charset="-120"/>
                        </a:rPr>
                        <a:t>Sets goals, executes autonomously</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Tokens per session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1K – 5K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50K – 500K+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Compute per user</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10 – 100×</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Tools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Code, APIs, browsers, databases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bl>
          </a:graphicData>
        </a:graphic>
      </p:graphicFrame>
      <p:sp>
        <p:nvSpPr>
          <p:cNvPr id="9" name="Text 5"/>
          <p:cNvSpPr/>
          <p:nvPr/>
        </p:nvSpPr>
        <p:spPr>
          <a:xfrm>
            <a:off x="3611880" y="4736592"/>
            <a:ext cx="5074920" cy="502920"/>
          </a:xfrm>
          <a:prstGeom prst="rect">
            <a:avLst/>
          </a:prstGeom>
          <a:noFill/>
          <a:ln/>
        </p:spPr>
        <p:txBody>
          <a:bodyPr wrap="square" lIns="0" tIns="0" rIns="0" bIns="0" rtlCol="0" anchor="ctr"/>
          <a:lstStyle/>
          <a:p>
            <a:pPr indent="0" marL="0">
              <a:buNone/>
            </a:pPr>
            <a:r>
              <a:rPr lang="en-US" sz="900" i="1" dirty="0">
                <a:solidFill>
                  <a:srgbClr val="333333"/>
                </a:solidFill>
                <a:latin typeface="Arial" pitchFamily="34" charset="0"/>
                <a:ea typeface="Arial" pitchFamily="34" charset="-122"/>
                <a:cs typeface="Arial" pitchFamily="34" charset="-120"/>
              </a:rPr>
              <a:t>“AI compute demand has risen roughly a million-fold in two years; the inference inflection has arrived.”</a:t>
            </a:r>
            <a:pPr indent="0" marL="0">
              <a:buNone/>
            </a:pPr>
            <a:r>
              <a:rPr lang="en-US" sz="900" i="1" dirty="0">
                <a:solidFill>
                  <a:srgbClr val="666666"/>
                </a:solidFill>
                <a:latin typeface="Arial" pitchFamily="34" charset="0"/>
                <a:ea typeface="Arial" pitchFamily="34" charset="-122"/>
                <a:cs typeface="Arial" pitchFamily="34" charset="-120"/>
              </a:rPr>
              <a:t>  — Jensen Huang, NVIDIA GTC 2026</a:t>
            </a:r>
            <a:endParaRPr lang="en-US" sz="900" dirty="0"/>
          </a:p>
        </p:txBody>
      </p:sp>
      <p:sp>
        <p:nvSpPr>
          <p:cNvPr id="10" name="Shape 6"/>
          <p:cNvSpPr/>
          <p:nvPr/>
        </p:nvSpPr>
        <p:spPr>
          <a:xfrm>
            <a:off x="457200" y="5349240"/>
            <a:ext cx="8229600" cy="457200"/>
          </a:xfrm>
          <a:prstGeom prst="rect">
            <a:avLst/>
          </a:prstGeom>
          <a:solidFill>
            <a:srgbClr val="F6693D"/>
          </a:solidFill>
          <a:ln w="12700">
            <a:solidFill>
              <a:srgbClr val="F6693D"/>
            </a:solidFill>
            <a:prstDash val="solid"/>
          </a:ln>
        </p:spPr>
      </p:sp>
      <p:sp>
        <p:nvSpPr>
          <p:cNvPr id="11" name="Text 7"/>
          <p:cNvSpPr/>
          <p:nvPr/>
        </p:nvSpPr>
        <p:spPr>
          <a:xfrm>
            <a:off x="640080" y="5349240"/>
            <a:ext cx="786384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This 10–100× step-up per session is what every 2026 AI capex number is pricing in.</a:t>
            </a:r>
            <a:endParaRPr lang="en-US" sz="1300" dirty="0"/>
          </a:p>
        </p:txBody>
      </p:sp>
      <p:sp>
        <p:nvSpPr>
          <p:cNvPr id="12" name="Text 8"/>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Jensen Huang (NVIDIA GTC 2026); IDC inference-demand forecast; Salesforce Agentforce &amp; Microsoft Copilot disclosures; Morgan Stanley CIO Survey.</a:t>
            </a:r>
            <a:endParaRPr lang="en-US" sz="700" dirty="0"/>
          </a:p>
        </p:txBody>
      </p:sp>
      <p:sp>
        <p:nvSpPr>
          <p:cNvPr id="13" name="Shape 9"/>
          <p:cNvSpPr/>
          <p:nvPr/>
        </p:nvSpPr>
        <p:spPr>
          <a:xfrm>
            <a:off x="0" y="6286500"/>
            <a:ext cx="9144000" cy="571500"/>
          </a:xfrm>
          <a:prstGeom prst="rect">
            <a:avLst/>
          </a:prstGeom>
          <a:solidFill>
            <a:srgbClr val="000000"/>
          </a:solidFill>
          <a:ln w="12700">
            <a:solidFill>
              <a:srgbClr val="000000"/>
            </a:solidFill>
            <a:prstDash val="solid"/>
          </a:ln>
        </p:spPr>
      </p:sp>
      <p:sp>
        <p:nvSpPr>
          <p:cNvPr id="14" name="Text 1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5" name="Text 1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Semis up, software down — one theme, two outcomes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~90-point spread inside one theme — software's Feb-2026 "SaaSpocalypse" wiped ~$285B in 48 hours, and the pain is bleeding into private credit and PE-held SaaS.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YTD price return, rebased to 100</a:t>
            </a:r>
            <a:endParaRPr lang="en-US" sz="1400" dirty="0"/>
          </a:p>
        </p:txBody>
      </p:sp>
      <p:sp>
        <p:nvSpPr>
          <p:cNvPr id="8" name="Shape 6"/>
          <p:cNvSpPr/>
          <p:nvPr/>
        </p:nvSpPr>
        <p:spPr>
          <a:xfrm>
            <a:off x="457200" y="169164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783080"/>
          <a:ext cx="3931920" cy="3429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754880" y="1783080"/>
            <a:ext cx="3931920" cy="1645920"/>
          </a:xfrm>
          <a:prstGeom prst="rect">
            <a:avLst/>
          </a:prstGeom>
          <a:solidFill>
            <a:srgbClr val="FFFFFF"/>
          </a:solidFill>
          <a:ln w="6350">
            <a:solidFill>
              <a:srgbClr val="E5E5E5"/>
            </a:solidFill>
            <a:prstDash val="solid"/>
          </a:ln>
        </p:spPr>
      </p:sp>
      <p:sp>
        <p:nvSpPr>
          <p:cNvPr id="11" name="Shape 8"/>
          <p:cNvSpPr/>
          <p:nvPr/>
        </p:nvSpPr>
        <p:spPr>
          <a:xfrm>
            <a:off x="4754880" y="1783080"/>
            <a:ext cx="3931920" cy="54864"/>
          </a:xfrm>
          <a:prstGeom prst="rect">
            <a:avLst/>
          </a:prstGeom>
          <a:solidFill>
            <a:srgbClr val="F6693D"/>
          </a:solidFill>
          <a:ln w="12700">
            <a:solidFill>
              <a:srgbClr val="F6693D"/>
            </a:solidFill>
            <a:prstDash val="solid"/>
          </a:ln>
        </p:spPr>
      </p:sp>
      <p:sp>
        <p:nvSpPr>
          <p:cNvPr id="12" name="Text 9"/>
          <p:cNvSpPr/>
          <p:nvPr/>
        </p:nvSpPr>
        <p:spPr>
          <a:xfrm>
            <a:off x="4937760" y="187452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SEMIS ARE UP</a:t>
            </a:r>
            <a:endParaRPr lang="en-US" sz="1000" dirty="0"/>
          </a:p>
        </p:txBody>
      </p:sp>
      <p:sp>
        <p:nvSpPr>
          <p:cNvPr id="13" name="Text 10"/>
          <p:cNvSpPr/>
          <p:nvPr/>
        </p:nvSpPr>
        <p:spPr>
          <a:xfrm>
            <a:off x="4937760" y="205740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Sold out, with demand still building.</a:t>
            </a:r>
            <a:endParaRPr lang="en-US" sz="1200" dirty="0"/>
          </a:p>
        </p:txBody>
      </p:sp>
      <p:sp>
        <p:nvSpPr>
          <p:cNvPr id="14" name="Shape 11"/>
          <p:cNvSpPr/>
          <p:nvPr/>
        </p:nvSpPr>
        <p:spPr>
          <a:xfrm>
            <a:off x="4937760" y="2468880"/>
            <a:ext cx="274320" cy="274320"/>
          </a:xfrm>
          <a:prstGeom prst="ellipse">
            <a:avLst/>
          </a:prstGeom>
          <a:solidFill>
            <a:srgbClr val="F6693D"/>
          </a:solidFill>
          <a:ln w="12700">
            <a:solidFill>
              <a:srgbClr val="F6693D"/>
            </a:solidFill>
            <a:prstDash val="solid"/>
          </a:ln>
        </p:spPr>
      </p:sp>
      <p:sp>
        <p:nvSpPr>
          <p:cNvPr id="15" name="Text 12"/>
          <p:cNvSpPr/>
          <p:nvPr/>
        </p:nvSpPr>
        <p:spPr>
          <a:xfrm>
            <a:off x="4937760" y="24688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6" name="Text 13"/>
          <p:cNvSpPr/>
          <p:nvPr/>
        </p:nvSpPr>
        <p:spPr>
          <a:xfrm>
            <a:off x="5303520" y="244144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HBM sold out through 2026; hyperscalers are locking in every GB of memory they can secure.</a:t>
            </a:r>
            <a:pPr algn="l" indent="0" marL="0">
              <a:buNone/>
            </a:pPr>
            <a:r>
              <a:rPr lang="en-US" sz="700" baseline="30000" dirty="0">
                <a:solidFill>
                  <a:srgbClr val="F6693D"/>
                </a:solidFill>
                <a:latin typeface="Arial" pitchFamily="34" charset="0"/>
                <a:ea typeface="Arial" pitchFamily="34" charset="-122"/>
                <a:cs typeface="Arial" pitchFamily="34" charset="-120"/>
              </a:rPr>
              <a:t> 1</a:t>
            </a:r>
            <a:endParaRPr lang="en-US" sz="950" dirty="0"/>
          </a:p>
        </p:txBody>
      </p:sp>
      <p:sp>
        <p:nvSpPr>
          <p:cNvPr id="17" name="Shape 14"/>
          <p:cNvSpPr/>
          <p:nvPr/>
        </p:nvSpPr>
        <p:spPr>
          <a:xfrm>
            <a:off x="4937760" y="2798064"/>
            <a:ext cx="274320" cy="274320"/>
          </a:xfrm>
          <a:prstGeom prst="ellipse">
            <a:avLst/>
          </a:prstGeom>
          <a:solidFill>
            <a:srgbClr val="F6693D"/>
          </a:solidFill>
          <a:ln w="12700">
            <a:solidFill>
              <a:srgbClr val="F6693D"/>
            </a:solidFill>
            <a:prstDash val="solid"/>
          </a:ln>
        </p:spPr>
      </p:sp>
      <p:sp>
        <p:nvSpPr>
          <p:cNvPr id="18" name="Text 15"/>
          <p:cNvSpPr/>
          <p:nvPr/>
        </p:nvSpPr>
        <p:spPr>
          <a:xfrm>
            <a:off x="4937760" y="279806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9" name="Text 16"/>
          <p:cNvSpPr/>
          <p:nvPr/>
        </p:nvSpPr>
        <p:spPr>
          <a:xfrm>
            <a:off x="5303520" y="277063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Data-center power demand keeps pulling forward; each new model generation wants more silicon.</a:t>
            </a:r>
            <a:endParaRPr lang="en-US" sz="950" dirty="0"/>
          </a:p>
        </p:txBody>
      </p:sp>
      <p:sp>
        <p:nvSpPr>
          <p:cNvPr id="20" name="Shape 17"/>
          <p:cNvSpPr/>
          <p:nvPr/>
        </p:nvSpPr>
        <p:spPr>
          <a:xfrm>
            <a:off x="4937760" y="3127248"/>
            <a:ext cx="274320" cy="274320"/>
          </a:xfrm>
          <a:prstGeom prst="ellipse">
            <a:avLst/>
          </a:prstGeom>
          <a:solidFill>
            <a:srgbClr val="F6693D"/>
          </a:solidFill>
          <a:ln w="12700">
            <a:solidFill>
              <a:srgbClr val="F6693D"/>
            </a:solidFill>
            <a:prstDash val="solid"/>
          </a:ln>
        </p:spPr>
      </p:sp>
      <p:sp>
        <p:nvSpPr>
          <p:cNvPr id="21" name="Text 18"/>
          <p:cNvSpPr/>
          <p:nvPr/>
        </p:nvSpPr>
        <p:spPr>
          <a:xfrm>
            <a:off x="4937760" y="3127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2" name="Text 19"/>
          <p:cNvSpPr/>
          <p:nvPr/>
        </p:nvSpPr>
        <p:spPr>
          <a:xfrm>
            <a:off x="5303520" y="309981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ASPs and margins are expanding across memory and advanced-node logic.</a:t>
            </a:r>
            <a:endParaRPr lang="en-US" sz="950" dirty="0"/>
          </a:p>
        </p:txBody>
      </p:sp>
      <p:sp>
        <p:nvSpPr>
          <p:cNvPr id="23" name="Shape 20"/>
          <p:cNvSpPr/>
          <p:nvPr/>
        </p:nvSpPr>
        <p:spPr>
          <a:xfrm>
            <a:off x="4754880" y="3520440"/>
            <a:ext cx="3931920" cy="1645920"/>
          </a:xfrm>
          <a:prstGeom prst="rect">
            <a:avLst/>
          </a:prstGeom>
          <a:solidFill>
            <a:srgbClr val="FFFFFF"/>
          </a:solidFill>
          <a:ln w="6350">
            <a:solidFill>
              <a:srgbClr val="E5E5E5"/>
            </a:solidFill>
            <a:prstDash val="solid"/>
          </a:ln>
        </p:spPr>
      </p:sp>
      <p:sp>
        <p:nvSpPr>
          <p:cNvPr id="24" name="Shape 21"/>
          <p:cNvSpPr/>
          <p:nvPr/>
        </p:nvSpPr>
        <p:spPr>
          <a:xfrm>
            <a:off x="4754880" y="3520440"/>
            <a:ext cx="3931920" cy="54864"/>
          </a:xfrm>
          <a:prstGeom prst="rect">
            <a:avLst/>
          </a:prstGeom>
          <a:solidFill>
            <a:srgbClr val="CC0000"/>
          </a:solidFill>
          <a:ln w="12700">
            <a:solidFill>
              <a:srgbClr val="CC0000"/>
            </a:solidFill>
            <a:prstDash val="solid"/>
          </a:ln>
        </p:spPr>
      </p:sp>
      <p:sp>
        <p:nvSpPr>
          <p:cNvPr id="25" name="Text 22"/>
          <p:cNvSpPr/>
          <p:nvPr/>
        </p:nvSpPr>
        <p:spPr>
          <a:xfrm>
            <a:off x="4937760" y="361188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SOFTWARE IS DOWN</a:t>
            </a:r>
            <a:endParaRPr lang="en-US" sz="1000" dirty="0"/>
          </a:p>
        </p:txBody>
      </p:sp>
      <p:sp>
        <p:nvSpPr>
          <p:cNvPr id="26" name="Text 23"/>
          <p:cNvSpPr/>
          <p:nvPr/>
        </p:nvSpPr>
        <p:spPr>
          <a:xfrm>
            <a:off x="4937760" y="379476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Per-seat pricing is under attack.</a:t>
            </a:r>
            <a:endParaRPr lang="en-US" sz="1200" dirty="0"/>
          </a:p>
        </p:txBody>
      </p:sp>
      <p:sp>
        <p:nvSpPr>
          <p:cNvPr id="27" name="Shape 24"/>
          <p:cNvSpPr/>
          <p:nvPr/>
        </p:nvSpPr>
        <p:spPr>
          <a:xfrm>
            <a:off x="4937760" y="4206240"/>
            <a:ext cx="274320" cy="274320"/>
          </a:xfrm>
          <a:prstGeom prst="ellipse">
            <a:avLst/>
          </a:prstGeom>
          <a:solidFill>
            <a:srgbClr val="CC0000"/>
          </a:solidFill>
          <a:ln w="12700">
            <a:solidFill>
              <a:srgbClr val="CC0000"/>
            </a:solidFill>
            <a:prstDash val="solid"/>
          </a:ln>
        </p:spPr>
      </p:sp>
      <p:sp>
        <p:nvSpPr>
          <p:cNvPr id="28" name="Text 25"/>
          <p:cNvSpPr/>
          <p:nvPr/>
        </p:nvSpPr>
        <p:spPr>
          <a:xfrm>
            <a:off x="4937760" y="42062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9" name="Text 26"/>
          <p:cNvSpPr/>
          <p:nvPr/>
        </p:nvSpPr>
        <p:spPr>
          <a:xfrm>
            <a:off x="5303520" y="417880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Anthropic's "Cowork" launch triggered a ~$285B SaaS selloff (Feb 2026); Atlassian booked its first-ever seat decline.</a:t>
            </a:r>
            <a:endParaRPr lang="en-US" sz="950" dirty="0"/>
          </a:p>
        </p:txBody>
      </p:sp>
      <p:sp>
        <p:nvSpPr>
          <p:cNvPr id="30" name="Shape 27"/>
          <p:cNvSpPr/>
          <p:nvPr/>
        </p:nvSpPr>
        <p:spPr>
          <a:xfrm>
            <a:off x="4937760" y="4535424"/>
            <a:ext cx="274320" cy="274320"/>
          </a:xfrm>
          <a:prstGeom prst="ellipse">
            <a:avLst/>
          </a:prstGeom>
          <a:solidFill>
            <a:srgbClr val="CC0000"/>
          </a:solidFill>
          <a:ln w="12700">
            <a:solidFill>
              <a:srgbClr val="CC0000"/>
            </a:solidFill>
            <a:prstDash val="solid"/>
          </a:ln>
        </p:spPr>
      </p:sp>
      <p:sp>
        <p:nvSpPr>
          <p:cNvPr id="31" name="Text 28"/>
          <p:cNvSpPr/>
          <p:nvPr/>
        </p:nvSpPr>
        <p:spPr>
          <a:xfrm>
            <a:off x="4937760" y="45354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2" name="Text 29"/>
          <p:cNvSpPr/>
          <p:nvPr/>
        </p:nvSpPr>
        <p:spPr>
          <a:xfrm>
            <a:off x="5303520" y="450799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Public SaaS multiples re-rated lower as buyers underwrite slower seat growth and pricing pressure.</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50" dirty="0"/>
          </a:p>
        </p:txBody>
      </p:sp>
      <p:sp>
        <p:nvSpPr>
          <p:cNvPr id="33" name="Shape 30"/>
          <p:cNvSpPr/>
          <p:nvPr/>
        </p:nvSpPr>
        <p:spPr>
          <a:xfrm>
            <a:off x="4937760" y="4864608"/>
            <a:ext cx="274320" cy="274320"/>
          </a:xfrm>
          <a:prstGeom prst="ellipse">
            <a:avLst/>
          </a:prstGeom>
          <a:solidFill>
            <a:srgbClr val="CC0000"/>
          </a:solidFill>
          <a:ln w="12700">
            <a:solidFill>
              <a:srgbClr val="CC0000"/>
            </a:solidFill>
            <a:prstDash val="solid"/>
          </a:ln>
        </p:spPr>
      </p:sp>
      <p:sp>
        <p:nvSpPr>
          <p:cNvPr id="34" name="Text 31"/>
          <p:cNvSpPr/>
          <p:nvPr/>
        </p:nvSpPr>
        <p:spPr>
          <a:xfrm>
            <a:off x="4937760" y="486460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5" name="Text 32"/>
          <p:cNvSpPr/>
          <p:nvPr/>
        </p:nvSpPr>
        <p:spPr>
          <a:xfrm>
            <a:off x="5303520" y="483717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Renewals slowing and deal cycles stretching as customers wait for vendor AI roadmaps to settle.</a:t>
            </a:r>
            <a:endParaRPr lang="en-US" sz="950" dirty="0"/>
          </a:p>
        </p:txBody>
      </p:sp>
      <p:sp>
        <p:nvSpPr>
          <p:cNvPr id="36" name="Text 33"/>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One theme, two outcomes — and software's pain is now bleeding into private equity and private credit, both anchored in SaaS.</a:t>
            </a:r>
            <a:endParaRPr lang="en-US" sz="950" dirty="0"/>
          </a:p>
        </p:txBody>
      </p:sp>
      <p:sp>
        <p:nvSpPr>
          <p:cNvPr id="37" name="Text 34"/>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TrendForce via Data Center Dynamics,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multiples.vc software multiples; SaaS selloff coverage, Feb–May 2026.</a:t>
            </a:r>
            <a:endParaRPr lang="en-US" sz="700" dirty="0"/>
          </a:p>
        </p:txBody>
      </p:sp>
      <p:sp>
        <p:nvSpPr>
          <p:cNvPr id="38" name="Shape 35"/>
          <p:cNvSpPr/>
          <p:nvPr/>
        </p:nvSpPr>
        <p:spPr>
          <a:xfrm>
            <a:off x="0" y="6286500"/>
            <a:ext cx="9144000" cy="571500"/>
          </a:xfrm>
          <a:prstGeom prst="rect">
            <a:avLst/>
          </a:prstGeom>
          <a:solidFill>
            <a:srgbClr val="000000"/>
          </a:solidFill>
          <a:ln w="12700">
            <a:solidFill>
              <a:srgbClr val="000000"/>
            </a:solidFill>
            <a:prstDash val="solid"/>
          </a:ln>
        </p:spPr>
      </p:sp>
      <p:sp>
        <p:nvSpPr>
          <p:cNvPr id="39" name="Text 3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The model is no longer the moat — distribution is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Frontier-class token prices have fallen ~99% in three years even as total AI bills rise. Intelligence is commoditizing; value migrates to whoever owns the customer and the workflow.</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6304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Cost per 1M tokens, frontier-class ($)</a:t>
            </a:r>
            <a:endParaRPr lang="en-US" sz="1400" dirty="0"/>
          </a:p>
        </p:txBody>
      </p:sp>
      <p:sp>
        <p:nvSpPr>
          <p:cNvPr id="8" name="Shape 6"/>
          <p:cNvSpPr/>
          <p:nvPr/>
        </p:nvSpPr>
        <p:spPr>
          <a:xfrm>
            <a:off x="457200" y="173736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874520"/>
          <a:ext cx="3931920" cy="27889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7200" y="4709160"/>
            <a:ext cx="3931920" cy="274320"/>
          </a:xfrm>
          <a:prstGeom prst="rect">
            <a:avLst/>
          </a:prstGeom>
          <a:noFill/>
          <a:ln/>
        </p:spPr>
        <p:txBody>
          <a:bodyPr wrap="square" lIns="0" tIns="0" rIns="0" bIns="0" rtlCol="0" anchor="ctr"/>
          <a:lstStyle/>
          <a:p>
            <a:pPr algn="ctr" indent="0" marL="0">
              <a:buNone/>
            </a:pPr>
            <a:r>
              <a:rPr lang="en-US" sz="1100" b="1" dirty="0">
                <a:solidFill>
                  <a:srgbClr val="F6693D"/>
                </a:solidFill>
                <a:latin typeface="Arial" pitchFamily="34" charset="0"/>
                <a:ea typeface="Arial" pitchFamily="34" charset="-122"/>
                <a:cs typeface="Arial" pitchFamily="34" charset="-120"/>
              </a:rPr>
              <a:t>~99% cheaper in three years.</a:t>
            </a:r>
            <a:endParaRPr lang="en-US" sz="1100" dirty="0"/>
          </a:p>
        </p:txBody>
      </p:sp>
      <p:sp>
        <p:nvSpPr>
          <p:cNvPr id="11" name="Shape 8"/>
          <p:cNvSpPr/>
          <p:nvPr/>
        </p:nvSpPr>
        <p:spPr>
          <a:xfrm>
            <a:off x="4526280" y="1874520"/>
            <a:ext cx="4160520" cy="1325880"/>
          </a:xfrm>
          <a:prstGeom prst="rect">
            <a:avLst/>
          </a:prstGeom>
          <a:solidFill>
            <a:srgbClr val="F9F9F9"/>
          </a:solidFill>
          <a:ln w="6350">
            <a:solidFill>
              <a:srgbClr val="E5E5E5"/>
            </a:solidFill>
            <a:prstDash val="solid"/>
          </a:ln>
        </p:spPr>
      </p:sp>
      <p:sp>
        <p:nvSpPr>
          <p:cNvPr id="12" name="Shape 9"/>
          <p:cNvSpPr/>
          <p:nvPr/>
        </p:nvSpPr>
        <p:spPr>
          <a:xfrm>
            <a:off x="4526280" y="1874520"/>
            <a:ext cx="4160520" cy="274320"/>
          </a:xfrm>
          <a:prstGeom prst="rect">
            <a:avLst/>
          </a:prstGeom>
          <a:solidFill>
            <a:srgbClr val="666666"/>
          </a:solidFill>
          <a:ln w="12700">
            <a:solidFill>
              <a:srgbClr val="666666"/>
            </a:solidFill>
            <a:prstDash val="solid"/>
          </a:ln>
        </p:spPr>
      </p:sp>
      <p:sp>
        <p:nvSpPr>
          <p:cNvPr id="13" name="Text 10"/>
          <p:cNvSpPr/>
          <p:nvPr/>
        </p:nvSpPr>
        <p:spPr>
          <a:xfrm>
            <a:off x="4526280" y="1874520"/>
            <a:ext cx="4160520" cy="274320"/>
          </a:xfrm>
          <a:prstGeom prst="rect">
            <a:avLst/>
          </a:prstGeom>
          <a:noFill/>
          <a:ln/>
        </p:spPr>
        <p:txBody>
          <a:bodyPr wrap="square" lIns="1524" tIns="1524" rIns="1524" bIns="1524" rtlCol="0" anchor="ctr"/>
          <a:lstStyle/>
          <a:p>
            <a:pPr algn="l" indent="0" marL="0">
              <a:buNone/>
            </a:pPr>
            <a:r>
              <a:rPr lang="en-US" sz="950" b="1" spc="100" kern="0" dirty="0">
                <a:solidFill>
                  <a:srgbClr val="FFFFFF"/>
                </a:solidFill>
                <a:latin typeface="Arial" pitchFamily="34" charset="0"/>
                <a:ea typeface="Arial" pitchFamily="34" charset="-122"/>
                <a:cs typeface="Arial" pitchFamily="34" charset="-120"/>
              </a:rPr>
              <a:t>COMMODITIZING — the model</a:t>
            </a:r>
            <a:endParaRPr lang="en-US" sz="950" dirty="0"/>
          </a:p>
        </p:txBody>
      </p:sp>
      <p:sp>
        <p:nvSpPr>
          <p:cNvPr id="14" name="Text 11"/>
          <p:cNvSpPr/>
          <p:nvPr/>
        </p:nvSpPr>
        <p:spPr>
          <a:xfrm>
            <a:off x="4663440" y="2185416"/>
            <a:ext cx="3886200" cy="969264"/>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Open weights (DeepSeek V4, Llama) reach frontier within months · price wars among labs · switching costs near zero.</a:t>
            </a:r>
            <a:endParaRPr lang="en-US" sz="1050" dirty="0"/>
          </a:p>
        </p:txBody>
      </p:sp>
      <p:sp>
        <p:nvSpPr>
          <p:cNvPr id="15" name="Shape 12"/>
          <p:cNvSpPr/>
          <p:nvPr/>
        </p:nvSpPr>
        <p:spPr>
          <a:xfrm>
            <a:off x="4526280" y="3291840"/>
            <a:ext cx="4160520" cy="1325880"/>
          </a:xfrm>
          <a:prstGeom prst="rect">
            <a:avLst/>
          </a:prstGeom>
          <a:solidFill>
            <a:srgbClr val="F9F9F9"/>
          </a:solidFill>
          <a:ln w="6350">
            <a:solidFill>
              <a:srgbClr val="E5E5E5"/>
            </a:solidFill>
            <a:prstDash val="solid"/>
          </a:ln>
        </p:spPr>
      </p:sp>
      <p:sp>
        <p:nvSpPr>
          <p:cNvPr id="16" name="Shape 13"/>
          <p:cNvSpPr/>
          <p:nvPr/>
        </p:nvSpPr>
        <p:spPr>
          <a:xfrm>
            <a:off x="4526280" y="3291840"/>
            <a:ext cx="4160520" cy="274320"/>
          </a:xfrm>
          <a:prstGeom prst="rect">
            <a:avLst/>
          </a:prstGeom>
          <a:solidFill>
            <a:srgbClr val="F6693D"/>
          </a:solidFill>
          <a:ln w="12700">
            <a:solidFill>
              <a:srgbClr val="F6693D"/>
            </a:solidFill>
            <a:prstDash val="solid"/>
          </a:ln>
        </p:spPr>
      </p:sp>
      <p:sp>
        <p:nvSpPr>
          <p:cNvPr id="17" name="Text 14"/>
          <p:cNvSpPr/>
          <p:nvPr/>
        </p:nvSpPr>
        <p:spPr>
          <a:xfrm>
            <a:off x="4526280" y="3291840"/>
            <a:ext cx="4160520" cy="274320"/>
          </a:xfrm>
          <a:prstGeom prst="rect">
            <a:avLst/>
          </a:prstGeom>
          <a:noFill/>
          <a:ln/>
        </p:spPr>
        <p:txBody>
          <a:bodyPr wrap="square" lIns="1524" tIns="1524" rIns="1524" bIns="1524" rtlCol="0" anchor="ctr"/>
          <a:lstStyle/>
          <a:p>
            <a:pPr algn="l" indent="0" marL="0">
              <a:buNone/>
            </a:pPr>
            <a:r>
              <a:rPr lang="en-US" sz="950" b="1" spc="100" kern="0" dirty="0">
                <a:solidFill>
                  <a:srgbClr val="FFFFFF"/>
                </a:solidFill>
                <a:latin typeface="Arial" pitchFamily="34" charset="0"/>
                <a:ea typeface="Arial" pitchFamily="34" charset="-122"/>
                <a:cs typeface="Arial" pitchFamily="34" charset="-120"/>
              </a:rPr>
              <a:t>COMPOUNDING — where value goes</a:t>
            </a:r>
            <a:endParaRPr lang="en-US" sz="950" dirty="0"/>
          </a:p>
        </p:txBody>
      </p:sp>
      <p:sp>
        <p:nvSpPr>
          <p:cNvPr id="18" name="Text 15"/>
          <p:cNvSpPr/>
          <p:nvPr/>
        </p:nvSpPr>
        <p:spPr>
          <a:xfrm>
            <a:off x="4663440" y="3602736"/>
            <a:ext cx="3886200" cy="969264"/>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Distribution and proprietary data · the compute / inference layer · workflow lock-in and agents that take action.</a:t>
            </a:r>
            <a:endParaRPr lang="en-US" sz="1050" dirty="0"/>
          </a:p>
        </p:txBody>
      </p:sp>
      <p:sp>
        <p:nvSpPr>
          <p:cNvPr id="19" name="Text 16"/>
          <p:cNvSpPr/>
          <p:nvPr/>
        </p:nvSpPr>
        <p:spPr>
          <a:xfrm>
            <a:off x="4526280" y="4709160"/>
            <a:ext cx="4160520" cy="4572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Counter-case (Ben Thompson): value may instead accrue to integrated model-plus-harness players, not modular layers.</a:t>
            </a:r>
            <a:endParaRPr lang="en-US" sz="850" dirty="0"/>
          </a:p>
        </p:txBody>
      </p:sp>
      <p:sp>
        <p:nvSpPr>
          <p:cNvPr id="20" name="Shape 17"/>
          <p:cNvSpPr/>
          <p:nvPr/>
        </p:nvSpPr>
        <p:spPr>
          <a:xfrm>
            <a:off x="457200" y="5394960"/>
            <a:ext cx="8229600" cy="457200"/>
          </a:xfrm>
          <a:prstGeom prst="rect">
            <a:avLst/>
          </a:prstGeom>
          <a:solidFill>
            <a:srgbClr val="F6693D"/>
          </a:solidFill>
          <a:ln w="12700">
            <a:solidFill>
              <a:srgbClr val="F6693D"/>
            </a:solidFill>
            <a:prstDash val="solid"/>
          </a:ln>
        </p:spPr>
      </p:sp>
      <p:sp>
        <p:nvSpPr>
          <p:cNvPr id="21" name="Text 18"/>
          <p:cNvSpPr/>
          <p:nvPr/>
        </p:nvSpPr>
        <p:spPr>
          <a:xfrm>
            <a:off x="640080" y="5394960"/>
            <a:ext cx="7863840" cy="45720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Falling unit cost × exploding usage = the capex boom AND the SaaS margin squeeze. One mechanism, two outcomes.</a:t>
            </a:r>
            <a:endParaRPr lang="en-US" sz="1250" dirty="0"/>
          </a:p>
        </p:txBody>
      </p:sp>
      <p:sp>
        <p:nvSpPr>
          <p:cNvPr id="22" name="Text 1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a16z / SemiAnalysis inference-economics; Stratechery, “Agents Over Bubbles” (Mar 2026); Strategy Research.</a:t>
            </a:r>
            <a:endParaRPr lang="en-US" sz="700" dirty="0"/>
          </a:p>
        </p:txBody>
      </p:sp>
      <p:sp>
        <p:nvSpPr>
          <p:cNvPr id="23"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4"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5"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Stretched, not yet irrational — and supply is the reason</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tests investors asked about Cisco and the dotcoms — with what the bulls and bears say in 2026.</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3108960" cy="320040"/>
          </a:xfrm>
          <a:prstGeom prst="rect">
            <a:avLst/>
          </a:prstGeom>
          <a:solidFill>
            <a:srgbClr val="333333"/>
          </a:solidFill>
          <a:ln w="12700">
            <a:solidFill>
              <a:srgbClr val="333333"/>
            </a:solidFill>
            <a:prstDash val="solid"/>
          </a:ln>
        </p:spPr>
      </p:sp>
      <p:sp>
        <p:nvSpPr>
          <p:cNvPr id="8" name="Text 6"/>
          <p:cNvSpPr/>
          <p:nvPr/>
        </p:nvSpPr>
        <p:spPr>
          <a:xfrm>
            <a:off x="457200" y="1737360"/>
            <a:ext cx="310896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TEST</a:t>
            </a:r>
            <a:endParaRPr lang="en-US" sz="1050" dirty="0"/>
          </a:p>
        </p:txBody>
      </p:sp>
      <p:sp>
        <p:nvSpPr>
          <p:cNvPr id="9" name="Shape 7"/>
          <p:cNvSpPr/>
          <p:nvPr/>
        </p:nvSpPr>
        <p:spPr>
          <a:xfrm>
            <a:off x="3611880" y="1737360"/>
            <a:ext cx="2468880" cy="320040"/>
          </a:xfrm>
          <a:prstGeom prst="rect">
            <a:avLst/>
          </a:prstGeom>
          <a:solidFill>
            <a:srgbClr val="CC0000"/>
          </a:solidFill>
          <a:ln w="12700">
            <a:solidFill>
              <a:srgbClr val="CC0000"/>
            </a:solidFill>
            <a:prstDash val="solid"/>
          </a:ln>
        </p:spPr>
      </p:sp>
      <p:sp>
        <p:nvSpPr>
          <p:cNvPr id="10" name="Text 8"/>
          <p:cNvSpPr/>
          <p:nvPr/>
        </p:nvSpPr>
        <p:spPr>
          <a:xfrm>
            <a:off x="3611880" y="1737360"/>
            <a:ext cx="246888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DOTCOM 2000</a:t>
            </a:r>
            <a:endParaRPr lang="en-US" sz="1050" dirty="0"/>
          </a:p>
        </p:txBody>
      </p:sp>
      <p:sp>
        <p:nvSpPr>
          <p:cNvPr id="11" name="Shape 9"/>
          <p:cNvSpPr/>
          <p:nvPr/>
        </p:nvSpPr>
        <p:spPr>
          <a:xfrm>
            <a:off x="6126480" y="1737360"/>
            <a:ext cx="2560320" cy="320040"/>
          </a:xfrm>
          <a:prstGeom prst="rect">
            <a:avLst/>
          </a:prstGeom>
          <a:solidFill>
            <a:srgbClr val="00A854"/>
          </a:solidFill>
          <a:ln w="12700">
            <a:solidFill>
              <a:srgbClr val="00A854"/>
            </a:solidFill>
            <a:prstDash val="solid"/>
          </a:ln>
        </p:spPr>
      </p:sp>
      <p:sp>
        <p:nvSpPr>
          <p:cNvPr id="12" name="Text 10"/>
          <p:cNvSpPr/>
          <p:nvPr/>
        </p:nvSpPr>
        <p:spPr>
          <a:xfrm>
            <a:off x="6126480" y="1737360"/>
            <a:ext cx="256032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AI 2026</a:t>
            </a:r>
            <a:endParaRPr lang="en-US" sz="1050" dirty="0"/>
          </a:p>
        </p:txBody>
      </p:sp>
      <p:sp>
        <p:nvSpPr>
          <p:cNvPr id="13" name="Shape 11"/>
          <p:cNvSpPr/>
          <p:nvPr/>
        </p:nvSpPr>
        <p:spPr>
          <a:xfrm>
            <a:off x="594360" y="2249424"/>
            <a:ext cx="365760" cy="365760"/>
          </a:xfrm>
          <a:prstGeom prst="ellipse">
            <a:avLst/>
          </a:prstGeom>
          <a:solidFill>
            <a:srgbClr val="333333"/>
          </a:solidFill>
          <a:ln w="12700">
            <a:solidFill>
              <a:srgbClr val="333333"/>
            </a:solidFill>
            <a:prstDash val="solid"/>
          </a:ln>
        </p:spPr>
      </p:sp>
      <p:sp>
        <p:nvSpPr>
          <p:cNvPr id="14" name="Text 12"/>
          <p:cNvSpPr/>
          <p:nvPr/>
        </p:nvSpPr>
        <p:spPr>
          <a:xfrm>
            <a:off x="594360" y="2249424"/>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15" name="Text 13"/>
          <p:cNvSpPr/>
          <p:nvPr/>
        </p:nvSpPr>
        <p:spPr>
          <a:xfrm>
            <a:off x="1051560" y="2103120"/>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PRICE PER DOLLAR OF EARNINGS</a:t>
            </a:r>
            <a:endParaRPr lang="en-US" sz="1000" dirty="0"/>
          </a:p>
        </p:txBody>
      </p:sp>
      <p:sp>
        <p:nvSpPr>
          <p:cNvPr id="16" name="Text 14"/>
          <p:cNvSpPr/>
          <p:nvPr/>
        </p:nvSpPr>
        <p:spPr>
          <a:xfrm>
            <a:off x="3611880" y="2103120"/>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131×</a:t>
            </a:r>
            <a:pPr indent="0" marL="0">
              <a:buNone/>
            </a:pPr>
            <a:r>
              <a:rPr lang="en-US" sz="900" baseline="30000" dirty="0">
                <a:solidFill>
                  <a:srgbClr val="CC0000"/>
                </a:solidFill>
                <a:latin typeface="Arial" pitchFamily="34" charset="0"/>
                <a:ea typeface="Arial" pitchFamily="34" charset="-122"/>
                <a:cs typeface="Arial" pitchFamily="34" charset="-120"/>
              </a:rPr>
              <a:t> 1</a:t>
            </a:r>
            <a:pPr indent="0" marL="0">
              <a:buNone/>
            </a:pPr>
            <a:r>
              <a:rPr lang="en-US" sz="900" dirty="0">
                <a:solidFill>
                  <a:srgbClr val="666666"/>
                </a:solidFill>
                <a:latin typeface="Arial" pitchFamily="34" charset="0"/>
                <a:ea typeface="Arial" pitchFamily="34" charset="-122"/>
                <a:cs typeface="Arial" pitchFamily="34" charset="-120"/>
              </a:rPr>
              <a:t>  Cisco fwd P/E, Mar 2000</a:t>
            </a:r>
            <a:endParaRPr lang="en-US" sz="1600" dirty="0"/>
          </a:p>
        </p:txBody>
      </p:sp>
      <p:sp>
        <p:nvSpPr>
          <p:cNvPr id="17" name="Text 15"/>
          <p:cNvSpPr/>
          <p:nvPr/>
        </p:nvSpPr>
        <p:spPr>
          <a:xfrm>
            <a:off x="6126480" y="2103120"/>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~24×</a:t>
            </a:r>
            <a:pPr indent="0" marL="0">
              <a:buNone/>
            </a:pPr>
            <a:r>
              <a:rPr lang="en-US" sz="900" baseline="30000" dirty="0">
                <a:solidFill>
                  <a:srgbClr val="00A854"/>
                </a:solidFill>
                <a:latin typeface="Arial" pitchFamily="34" charset="0"/>
                <a:ea typeface="Arial" pitchFamily="34" charset="-122"/>
                <a:cs typeface="Arial" pitchFamily="34" charset="-120"/>
              </a:rPr>
              <a:t> 2</a:t>
            </a:r>
            <a:pPr indent="0" marL="0">
              <a:buNone/>
            </a:pPr>
            <a:r>
              <a:rPr lang="en-US" sz="900" dirty="0">
                <a:solidFill>
                  <a:srgbClr val="666666"/>
                </a:solidFill>
                <a:latin typeface="Arial" pitchFamily="34" charset="0"/>
                <a:ea typeface="Arial" pitchFamily="34" charset="-122"/>
                <a:cs typeface="Arial" pitchFamily="34" charset="-120"/>
              </a:rPr>
              <a:t>  NVIDIA fwd P/E, Apr 17, 2026</a:t>
            </a:r>
            <a:endParaRPr lang="en-US" sz="1600" dirty="0"/>
          </a:p>
        </p:txBody>
      </p:sp>
      <p:sp>
        <p:nvSpPr>
          <p:cNvPr id="18" name="Shape 16"/>
          <p:cNvSpPr/>
          <p:nvPr/>
        </p:nvSpPr>
        <p:spPr>
          <a:xfrm>
            <a:off x="457200" y="2761488"/>
            <a:ext cx="8229600" cy="658368"/>
          </a:xfrm>
          <a:prstGeom prst="rect">
            <a:avLst/>
          </a:prstGeom>
          <a:solidFill>
            <a:srgbClr val="F9F9F9"/>
          </a:solidFill>
          <a:ln w="12700">
            <a:solidFill>
              <a:srgbClr val="F9F9F9"/>
            </a:solidFill>
            <a:prstDash val="solid"/>
          </a:ln>
        </p:spPr>
      </p:sp>
      <p:sp>
        <p:nvSpPr>
          <p:cNvPr id="19" name="Shape 17"/>
          <p:cNvSpPr/>
          <p:nvPr/>
        </p:nvSpPr>
        <p:spPr>
          <a:xfrm>
            <a:off x="594360" y="2907792"/>
            <a:ext cx="365760" cy="365760"/>
          </a:xfrm>
          <a:prstGeom prst="ellipse">
            <a:avLst/>
          </a:prstGeom>
          <a:solidFill>
            <a:srgbClr val="333333"/>
          </a:solidFill>
          <a:ln w="12700">
            <a:solidFill>
              <a:srgbClr val="333333"/>
            </a:solidFill>
            <a:prstDash val="solid"/>
          </a:ln>
        </p:spPr>
      </p:sp>
      <p:sp>
        <p:nvSpPr>
          <p:cNvPr id="20" name="Text 18"/>
          <p:cNvSpPr/>
          <p:nvPr/>
        </p:nvSpPr>
        <p:spPr>
          <a:xfrm>
            <a:off x="594360" y="2907792"/>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1" name="Text 19"/>
          <p:cNvSpPr/>
          <p:nvPr/>
        </p:nvSpPr>
        <p:spPr>
          <a:xfrm>
            <a:off x="1051560" y="2761488"/>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LEADER PROFITABILITY</a:t>
            </a:r>
            <a:endParaRPr lang="en-US" sz="1000" dirty="0"/>
          </a:p>
        </p:txBody>
      </p:sp>
      <p:sp>
        <p:nvSpPr>
          <p:cNvPr id="22" name="Text 20"/>
          <p:cNvSpPr/>
          <p:nvPr/>
        </p:nvSpPr>
        <p:spPr>
          <a:xfrm>
            <a:off x="3611880" y="2761488"/>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14%</a:t>
            </a:r>
            <a:pPr indent="0" marL="0">
              <a:buNone/>
            </a:pPr>
            <a:r>
              <a:rPr lang="en-US" sz="900" baseline="30000" dirty="0">
                <a:solidFill>
                  <a:srgbClr val="CC0000"/>
                </a:solidFill>
                <a:latin typeface="Arial" pitchFamily="34" charset="0"/>
                <a:ea typeface="Arial" pitchFamily="34" charset="-122"/>
                <a:cs typeface="Arial" pitchFamily="34" charset="-120"/>
              </a:rPr>
              <a:t> 3</a:t>
            </a:r>
            <a:pPr indent="0" marL="0">
              <a:buNone/>
            </a:pPr>
            <a:r>
              <a:rPr lang="en-US" sz="900" dirty="0">
                <a:solidFill>
                  <a:srgbClr val="666666"/>
                </a:solidFill>
                <a:latin typeface="Arial" pitchFamily="34" charset="0"/>
                <a:ea typeface="Arial" pitchFamily="34" charset="-122"/>
                <a:cs typeface="Arial" pitchFamily="34" charset="-120"/>
              </a:rPr>
              <a:t>  of tech IPOs were profitable</a:t>
            </a:r>
            <a:endParaRPr lang="en-US" sz="1600" dirty="0"/>
          </a:p>
        </p:txBody>
      </p:sp>
      <p:sp>
        <p:nvSpPr>
          <p:cNvPr id="23" name="Text 21"/>
          <p:cNvSpPr/>
          <p:nvPr/>
        </p:nvSpPr>
        <p:spPr>
          <a:xfrm>
            <a:off x="6126480" y="2761488"/>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26%</a:t>
            </a:r>
            <a:pPr indent="0" marL="0">
              <a:buNone/>
            </a:pPr>
            <a:r>
              <a:rPr lang="en-US" sz="900" baseline="30000" dirty="0">
                <a:solidFill>
                  <a:srgbClr val="00A854"/>
                </a:solidFill>
                <a:latin typeface="Arial" pitchFamily="34" charset="0"/>
                <a:ea typeface="Arial" pitchFamily="34" charset="-122"/>
                <a:cs typeface="Arial" pitchFamily="34" charset="-120"/>
              </a:rPr>
              <a:t> 4</a:t>
            </a:r>
            <a:pPr indent="0" marL="0">
              <a:buNone/>
            </a:pPr>
            <a:r>
              <a:rPr lang="en-US" sz="900" dirty="0">
                <a:solidFill>
                  <a:srgbClr val="666666"/>
                </a:solidFill>
                <a:latin typeface="Arial" pitchFamily="34" charset="0"/>
                <a:ea typeface="Arial" pitchFamily="34" charset="-122"/>
                <a:cs typeface="Arial" pitchFamily="34" charset="-120"/>
              </a:rPr>
              <a:t>  Mag 7 avg net margin (2× S&amp;P)</a:t>
            </a:r>
            <a:endParaRPr lang="en-US" sz="1600" dirty="0"/>
          </a:p>
        </p:txBody>
      </p:sp>
      <p:sp>
        <p:nvSpPr>
          <p:cNvPr id="24" name="Shape 22"/>
          <p:cNvSpPr/>
          <p:nvPr/>
        </p:nvSpPr>
        <p:spPr>
          <a:xfrm>
            <a:off x="594360" y="3566160"/>
            <a:ext cx="365760" cy="365760"/>
          </a:xfrm>
          <a:prstGeom prst="ellipse">
            <a:avLst/>
          </a:prstGeom>
          <a:solidFill>
            <a:srgbClr val="333333"/>
          </a:solidFill>
          <a:ln w="12700">
            <a:solidFill>
              <a:srgbClr val="333333"/>
            </a:solidFill>
            <a:prstDash val="solid"/>
          </a:ln>
        </p:spPr>
      </p:sp>
      <p:sp>
        <p:nvSpPr>
          <p:cNvPr id="25" name="Text 23"/>
          <p:cNvSpPr/>
          <p:nvPr/>
        </p:nvSpPr>
        <p:spPr>
          <a:xfrm>
            <a:off x="594360" y="3566160"/>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6" name="Text 24"/>
          <p:cNvSpPr/>
          <p:nvPr/>
        </p:nvSpPr>
        <p:spPr>
          <a:xfrm>
            <a:off x="1051560" y="3419856"/>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SUPPLY VS. DEMAND</a:t>
            </a:r>
            <a:endParaRPr lang="en-US" sz="1000" dirty="0"/>
          </a:p>
        </p:txBody>
      </p:sp>
      <p:sp>
        <p:nvSpPr>
          <p:cNvPr id="27" name="Text 25"/>
          <p:cNvSpPr/>
          <p:nvPr/>
        </p:nvSpPr>
        <p:spPr>
          <a:xfrm>
            <a:off x="3611880" y="3419856"/>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Oversupply</a:t>
            </a:r>
            <a:pPr indent="0" marL="0">
              <a:buNone/>
            </a:pPr>
            <a:r>
              <a:rPr lang="en-US" sz="900" baseline="30000" dirty="0">
                <a:solidFill>
                  <a:srgbClr val="CC0000"/>
                </a:solidFill>
                <a:latin typeface="Arial" pitchFamily="34" charset="0"/>
                <a:ea typeface="Arial" pitchFamily="34" charset="-122"/>
                <a:cs typeface="Arial" pitchFamily="34" charset="-120"/>
              </a:rPr>
              <a:t> 5</a:t>
            </a:r>
            <a:pPr indent="0" marL="0">
              <a:buNone/>
            </a:pPr>
            <a:r>
              <a:rPr lang="en-US" sz="900" dirty="0">
                <a:solidFill>
                  <a:srgbClr val="666666"/>
                </a:solidFill>
                <a:latin typeface="Arial" pitchFamily="34" charset="0"/>
                <a:ea typeface="Arial" pitchFamily="34" charset="-122"/>
                <a:cs typeface="Arial" pitchFamily="34" charset="-120"/>
              </a:rPr>
              <a:t>  $500B dark fiber unused</a:t>
            </a:r>
            <a:endParaRPr lang="en-US" sz="1600" dirty="0"/>
          </a:p>
        </p:txBody>
      </p:sp>
      <p:sp>
        <p:nvSpPr>
          <p:cNvPr id="28" name="Text 26"/>
          <p:cNvSpPr/>
          <p:nvPr/>
        </p:nvSpPr>
        <p:spPr>
          <a:xfrm>
            <a:off x="6126480" y="3419856"/>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Sold out</a:t>
            </a:r>
            <a:pPr indent="0" marL="0">
              <a:buNone/>
            </a:pPr>
            <a:r>
              <a:rPr lang="en-US" sz="900" baseline="30000" dirty="0">
                <a:solidFill>
                  <a:srgbClr val="00A854"/>
                </a:solidFill>
                <a:latin typeface="Arial" pitchFamily="34" charset="0"/>
                <a:ea typeface="Arial" pitchFamily="34" charset="-122"/>
                <a:cs typeface="Arial" pitchFamily="34" charset="-120"/>
              </a:rPr>
              <a:t> 6</a:t>
            </a:r>
            <a:pPr indent="0" marL="0">
              <a:buNone/>
            </a:pPr>
            <a:r>
              <a:rPr lang="en-US" sz="900" dirty="0">
                <a:solidFill>
                  <a:srgbClr val="666666"/>
                </a:solidFill>
                <a:latin typeface="Arial" pitchFamily="34" charset="0"/>
                <a:ea typeface="Arial" pitchFamily="34" charset="-122"/>
                <a:cs typeface="Arial" pitchFamily="34" charset="-120"/>
              </a:rPr>
              <a:t>  GPU 2nd market 90–95% of list</a:t>
            </a:r>
            <a:endParaRPr lang="en-US" sz="1600" dirty="0"/>
          </a:p>
        </p:txBody>
      </p:sp>
      <p:sp>
        <p:nvSpPr>
          <p:cNvPr id="29" name="Shape 27"/>
          <p:cNvSpPr/>
          <p:nvPr/>
        </p:nvSpPr>
        <p:spPr>
          <a:xfrm>
            <a:off x="457200" y="4078224"/>
            <a:ext cx="8229600" cy="658368"/>
          </a:xfrm>
          <a:prstGeom prst="rect">
            <a:avLst/>
          </a:prstGeom>
          <a:solidFill>
            <a:srgbClr val="F9F9F9"/>
          </a:solidFill>
          <a:ln w="12700">
            <a:solidFill>
              <a:srgbClr val="F9F9F9"/>
            </a:solidFill>
            <a:prstDash val="solid"/>
          </a:ln>
        </p:spPr>
      </p:sp>
      <p:sp>
        <p:nvSpPr>
          <p:cNvPr id="30" name="Shape 28"/>
          <p:cNvSpPr/>
          <p:nvPr/>
        </p:nvSpPr>
        <p:spPr>
          <a:xfrm>
            <a:off x="594360" y="4224528"/>
            <a:ext cx="365760" cy="365760"/>
          </a:xfrm>
          <a:prstGeom prst="ellipse">
            <a:avLst/>
          </a:prstGeom>
          <a:solidFill>
            <a:srgbClr val="333333"/>
          </a:solidFill>
          <a:ln w="12700">
            <a:solidFill>
              <a:srgbClr val="333333"/>
            </a:solidFill>
            <a:prstDash val="solid"/>
          </a:ln>
        </p:spPr>
      </p:sp>
      <p:sp>
        <p:nvSpPr>
          <p:cNvPr id="31" name="Text 29"/>
          <p:cNvSpPr/>
          <p:nvPr/>
        </p:nvSpPr>
        <p:spPr>
          <a:xfrm>
            <a:off x="594360" y="4224528"/>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32" name="Text 30"/>
          <p:cNvSpPr/>
          <p:nvPr/>
        </p:nvSpPr>
        <p:spPr>
          <a:xfrm>
            <a:off x="1051560" y="4078224"/>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BUYER BALANCE SHEETS</a:t>
            </a:r>
            <a:endParaRPr lang="en-US" sz="1000" dirty="0"/>
          </a:p>
        </p:txBody>
      </p:sp>
      <p:sp>
        <p:nvSpPr>
          <p:cNvPr id="33" name="Text 31"/>
          <p:cNvSpPr/>
          <p:nvPr/>
        </p:nvSpPr>
        <p:spPr>
          <a:xfrm>
            <a:off x="3611880" y="4078224"/>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20+</a:t>
            </a:r>
            <a:pPr indent="0" marL="0">
              <a:buNone/>
            </a:pPr>
            <a:r>
              <a:rPr lang="en-US" sz="900" baseline="30000" dirty="0">
                <a:solidFill>
                  <a:srgbClr val="CC0000"/>
                </a:solidFill>
                <a:latin typeface="Arial" pitchFamily="34" charset="0"/>
                <a:ea typeface="Arial" pitchFamily="34" charset="-122"/>
                <a:cs typeface="Arial" pitchFamily="34" charset="-120"/>
              </a:rPr>
              <a:t> 7</a:t>
            </a:r>
            <a:pPr indent="0" marL="0">
              <a:buNone/>
            </a:pPr>
            <a:r>
              <a:rPr lang="en-US" sz="900" dirty="0">
                <a:solidFill>
                  <a:srgbClr val="666666"/>
                </a:solidFill>
                <a:latin typeface="Arial" pitchFamily="34" charset="0"/>
                <a:ea typeface="Arial" pitchFamily="34" charset="-122"/>
                <a:cs typeface="Arial" pitchFamily="34" charset="-120"/>
              </a:rPr>
              <a:t>  major telcos went bankrupt</a:t>
            </a:r>
            <a:endParaRPr lang="en-US" sz="1600" dirty="0"/>
          </a:p>
        </p:txBody>
      </p:sp>
      <p:sp>
        <p:nvSpPr>
          <p:cNvPr id="34" name="Text 32"/>
          <p:cNvSpPr/>
          <p:nvPr/>
        </p:nvSpPr>
        <p:spPr>
          <a:xfrm>
            <a:off x="6126480" y="4078224"/>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~48%</a:t>
            </a:r>
            <a:pPr indent="0" marL="0">
              <a:buNone/>
            </a:pPr>
            <a:r>
              <a:rPr lang="en-US" sz="900" baseline="30000" dirty="0">
                <a:solidFill>
                  <a:srgbClr val="00A854"/>
                </a:solidFill>
                <a:latin typeface="Arial" pitchFamily="34" charset="0"/>
                <a:ea typeface="Arial" pitchFamily="34" charset="-122"/>
                <a:cs typeface="Arial" pitchFamily="34" charset="-120"/>
              </a:rPr>
              <a:t> 8</a:t>
            </a:r>
            <a:pPr indent="0" marL="0">
              <a:buNone/>
            </a:pPr>
            <a:r>
              <a:rPr lang="en-US" sz="900" dirty="0">
                <a:solidFill>
                  <a:srgbClr val="666666"/>
                </a:solidFill>
                <a:latin typeface="Arial" pitchFamily="34" charset="0"/>
                <a:ea typeface="Arial" pitchFamily="34" charset="-122"/>
                <a:cs typeface="Arial" pitchFamily="34" charset="-120"/>
              </a:rPr>
              <a:t>  hyperscaler net debt/EBITDA (vs ~80% S&amp;P)</a:t>
            </a:r>
            <a:endParaRPr lang="en-US" sz="1600" dirty="0"/>
          </a:p>
        </p:txBody>
      </p:sp>
      <p:sp>
        <p:nvSpPr>
          <p:cNvPr id="35" name="Shape 33"/>
          <p:cNvSpPr/>
          <p:nvPr/>
        </p:nvSpPr>
        <p:spPr>
          <a:xfrm>
            <a:off x="457200" y="4773168"/>
            <a:ext cx="3977640" cy="182880"/>
          </a:xfrm>
          <a:prstGeom prst="rect">
            <a:avLst/>
          </a:prstGeom>
          <a:solidFill>
            <a:srgbClr val="00A854"/>
          </a:solidFill>
          <a:ln w="12700">
            <a:solidFill>
              <a:srgbClr val="00A854"/>
            </a:solidFill>
            <a:prstDash val="solid"/>
          </a:ln>
        </p:spPr>
      </p:sp>
      <p:sp>
        <p:nvSpPr>
          <p:cNvPr id="36" name="Text 34"/>
          <p:cNvSpPr/>
          <p:nvPr/>
        </p:nvSpPr>
        <p:spPr>
          <a:xfrm>
            <a:off x="457200" y="4773168"/>
            <a:ext cx="3977640" cy="182880"/>
          </a:xfrm>
          <a:prstGeom prst="rect">
            <a:avLst/>
          </a:prstGeom>
          <a:noFill/>
          <a:ln/>
        </p:spPr>
        <p:txBody>
          <a:bodyPr wrap="square" lIns="0" tIns="0" rIns="0" bIns="0" rtlCol="0" anchor="ctr"/>
          <a:lstStyle/>
          <a:p>
            <a:pPr algn="ctr" indent="0" marL="0">
              <a:buNone/>
            </a:pPr>
            <a:r>
              <a:rPr lang="en-US" sz="850" b="1" spc="200" kern="0" dirty="0">
                <a:solidFill>
                  <a:srgbClr val="FFFFFF"/>
                </a:solidFill>
                <a:latin typeface="Arial" pitchFamily="34" charset="0"/>
                <a:ea typeface="Arial" pitchFamily="34" charset="-122"/>
                <a:cs typeface="Arial" pitchFamily="34" charset="-120"/>
              </a:rPr>
              <a:t>THE BULLS</a:t>
            </a:r>
            <a:endParaRPr lang="en-US" sz="850" dirty="0"/>
          </a:p>
        </p:txBody>
      </p:sp>
      <p:sp>
        <p:nvSpPr>
          <p:cNvPr id="37" name="Shape 35"/>
          <p:cNvSpPr/>
          <p:nvPr/>
        </p:nvSpPr>
        <p:spPr>
          <a:xfrm>
            <a:off x="457200" y="4956048"/>
            <a:ext cx="3977640" cy="384048"/>
          </a:xfrm>
          <a:prstGeom prst="rect">
            <a:avLst/>
          </a:prstGeom>
          <a:solidFill>
            <a:srgbClr val="F9F9F9"/>
          </a:solidFill>
          <a:ln w="6350">
            <a:solidFill>
              <a:srgbClr val="E5E5E5"/>
            </a:solidFill>
            <a:prstDash val="solid"/>
          </a:ln>
        </p:spPr>
      </p:sp>
      <p:sp>
        <p:nvSpPr>
          <p:cNvPr id="38" name="Text 36"/>
          <p:cNvSpPr/>
          <p:nvPr/>
        </p:nvSpPr>
        <p:spPr>
          <a:xfrm>
            <a:off x="548640" y="4974336"/>
            <a:ext cx="3794760" cy="347472"/>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Huang: AI “factories” · Gerstner: capex is “locked in, not speculative” · Baker: the wafer shortage itself prevents a bubble.</a:t>
            </a:r>
            <a:endParaRPr lang="en-US" sz="850" dirty="0"/>
          </a:p>
        </p:txBody>
      </p:sp>
      <p:sp>
        <p:nvSpPr>
          <p:cNvPr id="39" name="Shape 37"/>
          <p:cNvSpPr/>
          <p:nvPr/>
        </p:nvSpPr>
        <p:spPr>
          <a:xfrm>
            <a:off x="4709160" y="4773168"/>
            <a:ext cx="3977640" cy="182880"/>
          </a:xfrm>
          <a:prstGeom prst="rect">
            <a:avLst/>
          </a:prstGeom>
          <a:solidFill>
            <a:srgbClr val="CC0000"/>
          </a:solidFill>
          <a:ln w="12700">
            <a:solidFill>
              <a:srgbClr val="CC0000"/>
            </a:solidFill>
            <a:prstDash val="solid"/>
          </a:ln>
        </p:spPr>
      </p:sp>
      <p:sp>
        <p:nvSpPr>
          <p:cNvPr id="40" name="Text 38"/>
          <p:cNvSpPr/>
          <p:nvPr/>
        </p:nvSpPr>
        <p:spPr>
          <a:xfrm>
            <a:off x="4709160" y="4773168"/>
            <a:ext cx="3977640" cy="182880"/>
          </a:xfrm>
          <a:prstGeom prst="rect">
            <a:avLst/>
          </a:prstGeom>
          <a:noFill/>
          <a:ln/>
        </p:spPr>
        <p:txBody>
          <a:bodyPr wrap="square" lIns="0" tIns="0" rIns="0" bIns="0" rtlCol="0" anchor="ctr"/>
          <a:lstStyle/>
          <a:p>
            <a:pPr algn="ctr" indent="0" marL="0">
              <a:buNone/>
            </a:pPr>
            <a:r>
              <a:rPr lang="en-US" sz="850" b="1" spc="200" kern="0" dirty="0">
                <a:solidFill>
                  <a:srgbClr val="FFFFFF"/>
                </a:solidFill>
                <a:latin typeface="Arial" pitchFamily="34" charset="0"/>
                <a:ea typeface="Arial" pitchFamily="34" charset="-122"/>
                <a:cs typeface="Arial" pitchFamily="34" charset="-120"/>
              </a:rPr>
              <a:t>THE BEARS</a:t>
            </a:r>
            <a:endParaRPr lang="en-US" sz="850" dirty="0"/>
          </a:p>
        </p:txBody>
      </p:sp>
      <p:sp>
        <p:nvSpPr>
          <p:cNvPr id="41" name="Shape 39"/>
          <p:cNvSpPr/>
          <p:nvPr/>
        </p:nvSpPr>
        <p:spPr>
          <a:xfrm>
            <a:off x="4709160" y="4956048"/>
            <a:ext cx="3977640" cy="384048"/>
          </a:xfrm>
          <a:prstGeom prst="rect">
            <a:avLst/>
          </a:prstGeom>
          <a:solidFill>
            <a:srgbClr val="F9F9F9"/>
          </a:solidFill>
          <a:ln w="6350">
            <a:solidFill>
              <a:srgbClr val="E5E5E5"/>
            </a:solidFill>
            <a:prstDash val="solid"/>
          </a:ln>
        </p:spPr>
      </p:sp>
      <p:sp>
        <p:nvSpPr>
          <p:cNvPr id="42" name="Text 40"/>
          <p:cNvSpPr/>
          <p:nvPr/>
        </p:nvSpPr>
        <p:spPr>
          <a:xfrm>
            <a:off x="4800600" y="4974336"/>
            <a:ext cx="3794760" cy="347472"/>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Burry / Chanos: circular financing &amp; 2–3-yr GPU depreciation · The Information: the Nvidia→OpenAI→Oracle loop · PTJ: 252% mkt-cap/GDP vs 170% in 2000.</a:t>
            </a:r>
            <a:endParaRPr lang="en-US" sz="850" dirty="0"/>
          </a:p>
        </p:txBody>
      </p:sp>
      <p:sp>
        <p:nvSpPr>
          <p:cNvPr id="43" name="Shape 41"/>
          <p:cNvSpPr/>
          <p:nvPr/>
        </p:nvSpPr>
        <p:spPr>
          <a:xfrm>
            <a:off x="457200" y="5449824"/>
            <a:ext cx="8229600" cy="329184"/>
          </a:xfrm>
          <a:prstGeom prst="rect">
            <a:avLst/>
          </a:prstGeom>
          <a:solidFill>
            <a:srgbClr val="FFD100"/>
          </a:solidFill>
          <a:ln w="12700">
            <a:solidFill>
              <a:srgbClr val="FFD100"/>
            </a:solidFill>
            <a:prstDash val="solid"/>
          </a:ln>
        </p:spPr>
      </p:sp>
      <p:sp>
        <p:nvSpPr>
          <p:cNvPr id="44" name="Text 42"/>
          <p:cNvSpPr/>
          <p:nvPr/>
        </p:nvSpPr>
        <p:spPr>
          <a:xfrm>
            <a:off x="640080" y="5449824"/>
            <a:ext cx="7863840" cy="329184"/>
          </a:xfrm>
          <a:prstGeom prst="rect">
            <a:avLst/>
          </a:prstGeom>
          <a:noFill/>
          <a:ln/>
        </p:spPr>
        <p:txBody>
          <a:bodyPr wrap="square" lIns="0" tIns="0" rIns="0" bIns="0" rtlCol="0" anchor="ctr"/>
          <a:lstStyle/>
          <a:p>
            <a:pPr indent="0" marL="0">
              <a:buNone/>
            </a:pPr>
            <a:r>
              <a:rPr lang="en-US" sz="1050" b="1" dirty="0">
                <a:solidFill>
                  <a:srgbClr val="000000"/>
                </a:solidFill>
                <a:latin typeface="Arial" pitchFamily="34" charset="0"/>
                <a:ea typeface="Arial" pitchFamily="34" charset="-122"/>
                <a:cs typeface="Arial" pitchFamily="34" charset="-120"/>
              </a:rPr>
              <a:t>Howard Marks: “the question is whether the exuberance is irrational.”  </a:t>
            </a:r>
            <a:pPr indent="0" marL="0">
              <a:buNone/>
            </a:pPr>
            <a:r>
              <a:rPr lang="en-US" sz="1050" b="1" dirty="0">
                <a:solidFill>
                  <a:srgbClr val="CC0000"/>
                </a:solidFill>
                <a:latin typeface="Arial" pitchFamily="34" charset="0"/>
                <a:ea typeface="Arial" pitchFamily="34" charset="-122"/>
                <a:cs typeface="Arial" pitchFamily="34" charset="-120"/>
              </a:rPr>
              <a:t>Today — rich, but supply is constrained, not oversupplied.</a:t>
            </a:r>
            <a:endParaRPr lang="en-US" sz="1050" dirty="0"/>
          </a:p>
        </p:txBody>
      </p:sp>
      <p:sp>
        <p:nvSpPr>
          <p:cNvPr id="45" name="Text 43"/>
          <p:cNvSpPr/>
          <p:nvPr/>
        </p:nvSpPr>
        <p:spPr>
          <a:xfrm>
            <a:off x="457200" y="5907024"/>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Harding Loevner retrospective,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GuruFocus (Apr 17,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Jay Ritter, Univ. of Florida IPO data,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Bloomberg / company filings, 2025 TTM,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FCC / industry retrospectives,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CoreWeave / 2nd-market trackers, 2026,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Public filings / press retrospectives, 2001–02,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Bloomberg, 2025 YE, </a:t>
            </a:r>
            <a:pPr indent="0" marL="0">
              <a:buNone/>
            </a:pPr>
            <a:r>
              <a:rPr lang="en-US" sz="700" b="1" dirty="0">
                <a:solidFill>
                  <a:srgbClr val="999999"/>
                </a:solidFill>
                <a:latin typeface="Arial" pitchFamily="34" charset="0"/>
                <a:ea typeface="Arial" pitchFamily="34" charset="-122"/>
                <a:cs typeface="Arial" pitchFamily="34" charset="-120"/>
              </a:rPr>
              <a:t>(9) </a:t>
            </a:r>
            <a:pPr indent="0" marL="0">
              <a:buNone/>
            </a:pPr>
            <a:r>
              <a:rPr lang="en-US" sz="700" dirty="0">
                <a:solidFill>
                  <a:srgbClr val="999999"/>
                </a:solidFill>
                <a:latin typeface="Arial" pitchFamily="34" charset="0"/>
                <a:ea typeface="Arial" pitchFamily="34" charset="-122"/>
                <a:cs typeface="Arial" pitchFamily="34" charset="-120"/>
              </a:rPr>
              <a:t>Investor views as attributed: Huang (GTC 2026), Gerstner (Altimeter), Baker (ILTB), Burry/Chanos, The Information, P. Tudor Jones, Marks (Oaktree).</a:t>
            </a:r>
            <a:endParaRPr lang="en-US" sz="700" dirty="0"/>
          </a:p>
        </p:txBody>
      </p:sp>
      <p:sp>
        <p:nvSpPr>
          <p:cNvPr id="46" name="Shape 44"/>
          <p:cNvSpPr/>
          <p:nvPr/>
        </p:nvSpPr>
        <p:spPr>
          <a:xfrm>
            <a:off x="0" y="6286500"/>
            <a:ext cx="9144000" cy="571500"/>
          </a:xfrm>
          <a:prstGeom prst="rect">
            <a:avLst/>
          </a:prstGeom>
          <a:solidFill>
            <a:srgbClr val="000000"/>
          </a:solidFill>
          <a:ln w="12700">
            <a:solidFill>
              <a:srgbClr val="000000"/>
            </a:solidFill>
            <a:prstDash val="solid"/>
          </a:ln>
        </p:spPr>
      </p:sp>
      <p:sp>
        <p:nvSpPr>
          <p:cNvPr id="47" name="Text 4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8" name="Text 4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Four single points of failure.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of the four sit in Asia, and all four are single-sourced. US reshoring is real — but most leading-edge capacity doesn't ship until 2027+.</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1920240" cy="274320"/>
          </a:xfrm>
          <a:prstGeom prst="rect">
            <a:avLst/>
          </a:prstGeom>
          <a:solidFill>
            <a:srgbClr val="CC0000"/>
          </a:solidFill>
          <a:ln w="12700">
            <a:solidFill>
              <a:srgbClr val="CC0000"/>
            </a:solidFill>
            <a:prstDash val="solid"/>
          </a:ln>
        </p:spPr>
      </p:sp>
      <p:sp>
        <p:nvSpPr>
          <p:cNvPr id="8" name="Text 6"/>
          <p:cNvSpPr/>
          <p:nvPr/>
        </p:nvSpPr>
        <p:spPr>
          <a:xfrm>
            <a:off x="45720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NETHERLANDS</a:t>
            </a:r>
            <a:endParaRPr lang="en-US" sz="1000" dirty="0"/>
          </a:p>
        </p:txBody>
      </p:sp>
      <p:sp>
        <p:nvSpPr>
          <p:cNvPr id="9" name="Shape 7"/>
          <p:cNvSpPr/>
          <p:nvPr/>
        </p:nvSpPr>
        <p:spPr>
          <a:xfrm>
            <a:off x="457200" y="2057400"/>
            <a:ext cx="1920240" cy="1645920"/>
          </a:xfrm>
          <a:prstGeom prst="rect">
            <a:avLst/>
          </a:prstGeom>
          <a:solidFill>
            <a:srgbClr val="FFFFFF"/>
          </a:solidFill>
          <a:ln w="6350">
            <a:solidFill>
              <a:srgbClr val="E5E5E5"/>
            </a:solidFill>
            <a:prstDash val="solid"/>
          </a:ln>
        </p:spPr>
      </p:sp>
      <p:sp>
        <p:nvSpPr>
          <p:cNvPr id="10" name="Text 8"/>
          <p:cNvSpPr/>
          <p:nvPr/>
        </p:nvSpPr>
        <p:spPr>
          <a:xfrm>
            <a:off x="45720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1" name="Text 9"/>
          <p:cNvSpPr/>
          <p:nvPr/>
        </p:nvSpPr>
        <p:spPr>
          <a:xfrm>
            <a:off x="45720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EUV Litho</a:t>
            </a:r>
            <a:endParaRPr lang="en-US" sz="1300" dirty="0"/>
          </a:p>
        </p:txBody>
      </p:sp>
      <p:sp>
        <p:nvSpPr>
          <p:cNvPr id="12" name="Shape 10"/>
          <p:cNvSpPr/>
          <p:nvPr/>
        </p:nvSpPr>
        <p:spPr>
          <a:xfrm>
            <a:off x="960120" y="2907792"/>
            <a:ext cx="914400" cy="0"/>
          </a:xfrm>
          <a:prstGeom prst="line">
            <a:avLst/>
          </a:prstGeom>
          <a:noFill/>
          <a:ln w="19050">
            <a:solidFill>
              <a:srgbClr val="CC0000"/>
            </a:solidFill>
            <a:prstDash val="solid"/>
          </a:ln>
        </p:spPr>
      </p:sp>
      <p:sp>
        <p:nvSpPr>
          <p:cNvPr id="13" name="Text 11"/>
          <p:cNvSpPr/>
          <p:nvPr/>
        </p:nvSpPr>
        <p:spPr>
          <a:xfrm>
            <a:off x="56692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Only firm in the world building EUV scanners — new machines ship in dozens per year, not hundreds.</a:t>
            </a:r>
            <a:pPr algn="l" indent="0" marL="0">
              <a:buNone/>
            </a:pPr>
            <a:r>
              <a:rPr lang="en-US" sz="700" baseline="30000" dirty="0">
                <a:solidFill>
                  <a:srgbClr val="CC0000"/>
                </a:solidFill>
                <a:latin typeface="Arial" pitchFamily="34" charset="0"/>
                <a:ea typeface="Arial" pitchFamily="34" charset="-122"/>
                <a:cs typeface="Arial" pitchFamily="34" charset="-120"/>
              </a:rPr>
              <a:t> 1</a:t>
            </a:r>
            <a:endParaRPr lang="en-US" sz="900" dirty="0"/>
          </a:p>
        </p:txBody>
      </p:sp>
      <p:sp>
        <p:nvSpPr>
          <p:cNvPr id="14" name="Shape 12"/>
          <p:cNvSpPr/>
          <p:nvPr/>
        </p:nvSpPr>
        <p:spPr>
          <a:xfrm>
            <a:off x="2468880" y="1783080"/>
            <a:ext cx="1920240" cy="274320"/>
          </a:xfrm>
          <a:prstGeom prst="rect">
            <a:avLst/>
          </a:prstGeom>
          <a:solidFill>
            <a:srgbClr val="CC0000"/>
          </a:solidFill>
          <a:ln w="12700">
            <a:solidFill>
              <a:srgbClr val="CC0000"/>
            </a:solidFill>
            <a:prstDash val="solid"/>
          </a:ln>
        </p:spPr>
      </p:sp>
      <p:sp>
        <p:nvSpPr>
          <p:cNvPr id="15" name="Text 13"/>
          <p:cNvSpPr/>
          <p:nvPr/>
        </p:nvSpPr>
        <p:spPr>
          <a:xfrm>
            <a:off x="246888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16" name="Shape 14"/>
          <p:cNvSpPr/>
          <p:nvPr/>
        </p:nvSpPr>
        <p:spPr>
          <a:xfrm>
            <a:off x="2468880" y="2057400"/>
            <a:ext cx="1920240" cy="1645920"/>
          </a:xfrm>
          <a:prstGeom prst="rect">
            <a:avLst/>
          </a:prstGeom>
          <a:solidFill>
            <a:srgbClr val="FFFFFF"/>
          </a:solidFill>
          <a:ln w="6350">
            <a:solidFill>
              <a:srgbClr val="E5E5E5"/>
            </a:solidFill>
            <a:prstDash val="solid"/>
          </a:ln>
        </p:spPr>
      </p:sp>
      <p:sp>
        <p:nvSpPr>
          <p:cNvPr id="17" name="Text 15"/>
          <p:cNvSpPr/>
          <p:nvPr/>
        </p:nvSpPr>
        <p:spPr>
          <a:xfrm>
            <a:off x="246888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8" name="Text 16"/>
          <p:cNvSpPr/>
          <p:nvPr/>
        </p:nvSpPr>
        <p:spPr>
          <a:xfrm>
            <a:off x="246888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Leading Logic</a:t>
            </a:r>
            <a:endParaRPr lang="en-US" sz="1300" dirty="0"/>
          </a:p>
        </p:txBody>
      </p:sp>
      <p:sp>
        <p:nvSpPr>
          <p:cNvPr id="19" name="Shape 17"/>
          <p:cNvSpPr/>
          <p:nvPr/>
        </p:nvSpPr>
        <p:spPr>
          <a:xfrm>
            <a:off x="2971800" y="2907792"/>
            <a:ext cx="914400" cy="0"/>
          </a:xfrm>
          <a:prstGeom prst="line">
            <a:avLst/>
          </a:prstGeom>
          <a:noFill/>
          <a:ln w="19050">
            <a:solidFill>
              <a:srgbClr val="CC0000"/>
            </a:solidFill>
            <a:prstDash val="solid"/>
          </a:ln>
        </p:spPr>
      </p:sp>
      <p:sp>
        <p:nvSpPr>
          <p:cNvPr id="20" name="Text 18"/>
          <p:cNvSpPr/>
          <p:nvPr/>
        </p:nvSpPr>
        <p:spPr>
          <a:xfrm>
            <a:off x="257860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Virtually every advanced-node chip runs through TSMC fabs in Hsinchu and Tainan — no real volume alternative exists.</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00" dirty="0"/>
          </a:p>
        </p:txBody>
      </p:sp>
      <p:sp>
        <p:nvSpPr>
          <p:cNvPr id="21" name="Shape 19"/>
          <p:cNvSpPr/>
          <p:nvPr/>
        </p:nvSpPr>
        <p:spPr>
          <a:xfrm>
            <a:off x="4480560" y="1783080"/>
            <a:ext cx="1920240" cy="274320"/>
          </a:xfrm>
          <a:prstGeom prst="rect">
            <a:avLst/>
          </a:prstGeom>
          <a:solidFill>
            <a:srgbClr val="CC0000"/>
          </a:solidFill>
          <a:ln w="12700">
            <a:solidFill>
              <a:srgbClr val="CC0000"/>
            </a:solidFill>
            <a:prstDash val="solid"/>
          </a:ln>
        </p:spPr>
      </p:sp>
      <p:sp>
        <p:nvSpPr>
          <p:cNvPr id="22" name="Text 20"/>
          <p:cNvSpPr/>
          <p:nvPr/>
        </p:nvSpPr>
        <p:spPr>
          <a:xfrm>
            <a:off x="448056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KOREA</a:t>
            </a:r>
            <a:endParaRPr lang="en-US" sz="1000" dirty="0"/>
          </a:p>
        </p:txBody>
      </p:sp>
      <p:sp>
        <p:nvSpPr>
          <p:cNvPr id="23" name="Shape 21"/>
          <p:cNvSpPr/>
          <p:nvPr/>
        </p:nvSpPr>
        <p:spPr>
          <a:xfrm>
            <a:off x="4480560" y="2057400"/>
            <a:ext cx="1920240" cy="1645920"/>
          </a:xfrm>
          <a:prstGeom prst="rect">
            <a:avLst/>
          </a:prstGeom>
          <a:solidFill>
            <a:srgbClr val="FFFFFF"/>
          </a:solidFill>
          <a:ln w="6350">
            <a:solidFill>
              <a:srgbClr val="E5E5E5"/>
            </a:solidFill>
            <a:prstDash val="solid"/>
          </a:ln>
        </p:spPr>
      </p:sp>
      <p:sp>
        <p:nvSpPr>
          <p:cNvPr id="24" name="Text 22"/>
          <p:cNvSpPr/>
          <p:nvPr/>
        </p:nvSpPr>
        <p:spPr>
          <a:xfrm>
            <a:off x="448056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25" name="Text 23"/>
          <p:cNvSpPr/>
          <p:nvPr/>
        </p:nvSpPr>
        <p:spPr>
          <a:xfrm>
            <a:off x="448056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HBM Memory</a:t>
            </a:r>
            <a:endParaRPr lang="en-US" sz="1300" dirty="0"/>
          </a:p>
        </p:txBody>
      </p:sp>
      <p:sp>
        <p:nvSpPr>
          <p:cNvPr id="26" name="Shape 24"/>
          <p:cNvSpPr/>
          <p:nvPr/>
        </p:nvSpPr>
        <p:spPr>
          <a:xfrm>
            <a:off x="4983480" y="2907792"/>
            <a:ext cx="914400" cy="0"/>
          </a:xfrm>
          <a:prstGeom prst="line">
            <a:avLst/>
          </a:prstGeom>
          <a:noFill/>
          <a:ln w="19050">
            <a:solidFill>
              <a:srgbClr val="CC0000"/>
            </a:solidFill>
            <a:prstDash val="solid"/>
          </a:ln>
        </p:spPr>
      </p:sp>
      <p:sp>
        <p:nvSpPr>
          <p:cNvPr id="27" name="Text 25"/>
          <p:cNvSpPr/>
          <p:nvPr/>
        </p:nvSpPr>
        <p:spPr>
          <a:xfrm>
            <a:off x="459028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Two Korean firms supply nearly all the high-bandwidth memory AI accelerators depend on — both booked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3</a:t>
            </a:r>
            <a:endParaRPr lang="en-US" sz="900" dirty="0"/>
          </a:p>
        </p:txBody>
      </p:sp>
      <p:sp>
        <p:nvSpPr>
          <p:cNvPr id="28" name="Shape 26"/>
          <p:cNvSpPr/>
          <p:nvPr/>
        </p:nvSpPr>
        <p:spPr>
          <a:xfrm>
            <a:off x="6492240" y="1783080"/>
            <a:ext cx="1920240" cy="274320"/>
          </a:xfrm>
          <a:prstGeom prst="rect">
            <a:avLst/>
          </a:prstGeom>
          <a:solidFill>
            <a:srgbClr val="CC0000"/>
          </a:solidFill>
          <a:ln w="12700">
            <a:solidFill>
              <a:srgbClr val="CC0000"/>
            </a:solidFill>
            <a:prstDash val="solid"/>
          </a:ln>
        </p:spPr>
      </p:sp>
      <p:sp>
        <p:nvSpPr>
          <p:cNvPr id="29" name="Text 27"/>
          <p:cNvSpPr/>
          <p:nvPr/>
        </p:nvSpPr>
        <p:spPr>
          <a:xfrm>
            <a:off x="649224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30" name="Shape 28"/>
          <p:cNvSpPr/>
          <p:nvPr/>
        </p:nvSpPr>
        <p:spPr>
          <a:xfrm>
            <a:off x="6492240" y="2057400"/>
            <a:ext cx="1920240" cy="1645920"/>
          </a:xfrm>
          <a:prstGeom prst="rect">
            <a:avLst/>
          </a:prstGeom>
          <a:solidFill>
            <a:srgbClr val="FFFFFF"/>
          </a:solidFill>
          <a:ln w="6350">
            <a:solidFill>
              <a:srgbClr val="E5E5E5"/>
            </a:solidFill>
            <a:prstDash val="solid"/>
          </a:ln>
        </p:spPr>
      </p:sp>
      <p:sp>
        <p:nvSpPr>
          <p:cNvPr id="31" name="Text 29"/>
          <p:cNvSpPr/>
          <p:nvPr/>
        </p:nvSpPr>
        <p:spPr>
          <a:xfrm>
            <a:off x="649224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32" name="Text 30"/>
          <p:cNvSpPr/>
          <p:nvPr/>
        </p:nvSpPr>
        <p:spPr>
          <a:xfrm>
            <a:off x="649224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Advanced Packaging</a:t>
            </a:r>
            <a:endParaRPr lang="en-US" sz="1300" dirty="0"/>
          </a:p>
        </p:txBody>
      </p:sp>
      <p:sp>
        <p:nvSpPr>
          <p:cNvPr id="33" name="Shape 31"/>
          <p:cNvSpPr/>
          <p:nvPr/>
        </p:nvSpPr>
        <p:spPr>
          <a:xfrm>
            <a:off x="6995160" y="2907792"/>
            <a:ext cx="914400" cy="0"/>
          </a:xfrm>
          <a:prstGeom prst="line">
            <a:avLst/>
          </a:prstGeom>
          <a:noFill/>
          <a:ln w="19050">
            <a:solidFill>
              <a:srgbClr val="CC0000"/>
            </a:solidFill>
            <a:prstDash val="solid"/>
          </a:ln>
        </p:spPr>
      </p:sp>
      <p:sp>
        <p:nvSpPr>
          <p:cNvPr id="34" name="Text 32"/>
          <p:cNvSpPr/>
          <p:nvPr/>
        </p:nvSpPr>
        <p:spPr>
          <a:xfrm>
            <a:off x="660196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TSMC's CoWoS step fuses the GPU die to its HBM stack — the only volume supplier, sold out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4</a:t>
            </a:r>
            <a:endParaRPr lang="en-US" sz="900" dirty="0"/>
          </a:p>
        </p:txBody>
      </p:sp>
      <p:sp>
        <p:nvSpPr>
          <p:cNvPr id="35" name="Text 33"/>
          <p:cNvSpPr/>
          <p:nvPr/>
        </p:nvSpPr>
        <p:spPr>
          <a:xfrm>
            <a:off x="457200" y="3931920"/>
            <a:ext cx="8229600" cy="228600"/>
          </a:xfrm>
          <a:prstGeom prst="rect">
            <a:avLst/>
          </a:prstGeom>
          <a:noFill/>
          <a:ln/>
        </p:spPr>
        <p:txBody>
          <a:bodyPr wrap="square" lIns="0" tIns="0" rIns="0" bIns="0" rtlCol="0" anchor="ctr"/>
          <a:lstStyle/>
          <a:p>
            <a:pPr algn="l" indent="0" marL="0">
              <a:buNone/>
            </a:pPr>
            <a:r>
              <a:rPr lang="en-US" sz="1000" b="1" spc="300" kern="0" dirty="0">
                <a:solidFill>
                  <a:srgbClr val="333333"/>
                </a:solidFill>
                <a:latin typeface="Arial" pitchFamily="34" charset="0"/>
                <a:ea typeface="Arial" pitchFamily="34" charset="-122"/>
                <a:cs typeface="Arial" pitchFamily="34" charset="-120"/>
              </a:rPr>
              <a:t>US RESHORING — WHEN LEADING-EDGE CAPACITY COMES ONLINE</a:t>
            </a:r>
            <a:endParaRPr lang="en-US" sz="1000" dirty="0"/>
          </a:p>
        </p:txBody>
      </p:sp>
      <p:sp>
        <p:nvSpPr>
          <p:cNvPr id="36" name="Shape 34"/>
          <p:cNvSpPr/>
          <p:nvPr/>
        </p:nvSpPr>
        <p:spPr>
          <a:xfrm>
            <a:off x="640080" y="4572000"/>
            <a:ext cx="7863840" cy="0"/>
          </a:xfrm>
          <a:prstGeom prst="line">
            <a:avLst/>
          </a:prstGeom>
          <a:noFill/>
          <a:ln w="19050">
            <a:solidFill>
              <a:srgbClr val="333333"/>
            </a:solidFill>
            <a:prstDash val="solid"/>
          </a:ln>
        </p:spPr>
      </p:sp>
      <p:sp>
        <p:nvSpPr>
          <p:cNvPr id="37" name="Shape 35"/>
          <p:cNvSpPr/>
          <p:nvPr/>
        </p:nvSpPr>
        <p:spPr>
          <a:xfrm>
            <a:off x="566928" y="4498848"/>
            <a:ext cx="146304" cy="146304"/>
          </a:xfrm>
          <a:prstGeom prst="ellipse">
            <a:avLst/>
          </a:prstGeom>
          <a:solidFill>
            <a:srgbClr val="CC0000"/>
          </a:solidFill>
          <a:ln w="12700">
            <a:solidFill>
              <a:srgbClr val="CC0000"/>
            </a:solidFill>
            <a:prstDash val="solid"/>
          </a:ln>
        </p:spPr>
      </p:sp>
      <p:sp>
        <p:nvSpPr>
          <p:cNvPr id="38" name="Text 36"/>
          <p:cNvSpPr/>
          <p:nvPr/>
        </p:nvSpPr>
        <p:spPr>
          <a:xfrm>
            <a:off x="457200" y="4206240"/>
            <a:ext cx="1280160" cy="274320"/>
          </a:xfrm>
          <a:prstGeom prst="rect">
            <a:avLst/>
          </a:prstGeom>
          <a:noFill/>
          <a:ln/>
        </p:spPr>
        <p:txBody>
          <a:bodyPr wrap="square" lIns="0" tIns="0" rIns="0" bIns="0" rtlCol="0" anchor="b"/>
          <a:lstStyle/>
          <a:p>
            <a:pPr algn="l" indent="0" marL="0">
              <a:buNone/>
            </a:pPr>
            <a:r>
              <a:rPr lang="en-US" sz="1000" b="1" dirty="0">
                <a:solidFill>
                  <a:srgbClr val="333333"/>
                </a:solidFill>
                <a:latin typeface="Arial" pitchFamily="34" charset="0"/>
                <a:ea typeface="Arial" pitchFamily="34" charset="-122"/>
                <a:cs typeface="Arial" pitchFamily="34" charset="-120"/>
              </a:rPr>
              <a:t>TSMC AZ Fab 1</a:t>
            </a:r>
            <a:endParaRPr lang="en-US" sz="1000" dirty="0"/>
          </a:p>
        </p:txBody>
      </p:sp>
      <p:sp>
        <p:nvSpPr>
          <p:cNvPr id="39" name="Text 37"/>
          <p:cNvSpPr/>
          <p:nvPr/>
        </p:nvSpPr>
        <p:spPr>
          <a:xfrm>
            <a:off x="365760" y="4709160"/>
            <a:ext cx="640080" cy="228600"/>
          </a:xfrm>
          <a:prstGeom prst="rect">
            <a:avLst/>
          </a:prstGeom>
          <a:noFill/>
          <a:ln/>
        </p:spPr>
        <p:txBody>
          <a:bodyPr wrap="square" lIns="0" tIns="0" rIns="0" bIns="0" rtlCol="0" anchor="t"/>
          <a:lstStyle/>
          <a:p>
            <a:pPr algn="l" indent="0" marL="0">
              <a:buNone/>
            </a:pPr>
            <a:r>
              <a:rPr lang="en-US" sz="1000" b="1" dirty="0">
                <a:solidFill>
                  <a:srgbClr val="CC0000"/>
                </a:solidFill>
                <a:latin typeface="Arial" pitchFamily="34" charset="0"/>
                <a:ea typeface="Arial" pitchFamily="34" charset="-122"/>
                <a:cs typeface="Arial" pitchFamily="34" charset="-120"/>
              </a:rPr>
              <a:t>2025</a:t>
            </a:r>
            <a:endParaRPr lang="en-US" sz="1000" dirty="0"/>
          </a:p>
        </p:txBody>
      </p:sp>
      <p:sp>
        <p:nvSpPr>
          <p:cNvPr id="40" name="Shape 38"/>
          <p:cNvSpPr/>
          <p:nvPr/>
        </p:nvSpPr>
        <p:spPr>
          <a:xfrm>
            <a:off x="2532888" y="4498848"/>
            <a:ext cx="146304" cy="146304"/>
          </a:xfrm>
          <a:prstGeom prst="ellipse">
            <a:avLst/>
          </a:prstGeom>
          <a:solidFill>
            <a:srgbClr val="CC0000"/>
          </a:solidFill>
          <a:ln w="12700">
            <a:solidFill>
              <a:srgbClr val="CC0000"/>
            </a:solidFill>
            <a:prstDash val="solid"/>
          </a:ln>
        </p:spPr>
      </p:sp>
      <p:sp>
        <p:nvSpPr>
          <p:cNvPr id="41" name="Text 39"/>
          <p:cNvSpPr/>
          <p:nvPr/>
        </p:nvSpPr>
        <p:spPr>
          <a:xfrm>
            <a:off x="182880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Samsung Taylor</a:t>
            </a:r>
            <a:endParaRPr lang="en-US" sz="1000" dirty="0"/>
          </a:p>
        </p:txBody>
      </p:sp>
      <p:sp>
        <p:nvSpPr>
          <p:cNvPr id="42" name="Text 40"/>
          <p:cNvSpPr/>
          <p:nvPr/>
        </p:nvSpPr>
        <p:spPr>
          <a:xfrm>
            <a:off x="224028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2026</a:t>
            </a:r>
            <a:endParaRPr lang="en-US" sz="1000" dirty="0"/>
          </a:p>
        </p:txBody>
      </p:sp>
      <p:sp>
        <p:nvSpPr>
          <p:cNvPr id="43" name="Shape 41"/>
          <p:cNvSpPr/>
          <p:nvPr/>
        </p:nvSpPr>
        <p:spPr>
          <a:xfrm>
            <a:off x="4498848" y="4498848"/>
            <a:ext cx="146304" cy="146304"/>
          </a:xfrm>
          <a:prstGeom prst="ellipse">
            <a:avLst/>
          </a:prstGeom>
          <a:solidFill>
            <a:srgbClr val="CC0000"/>
          </a:solidFill>
          <a:ln w="12700">
            <a:solidFill>
              <a:srgbClr val="CC0000"/>
            </a:solidFill>
            <a:prstDash val="solid"/>
          </a:ln>
        </p:spPr>
      </p:sp>
      <p:sp>
        <p:nvSpPr>
          <p:cNvPr id="44" name="Text 42"/>
          <p:cNvSpPr/>
          <p:nvPr/>
        </p:nvSpPr>
        <p:spPr>
          <a:xfrm>
            <a:off x="379476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TSMC AZ Fab 2</a:t>
            </a:r>
            <a:endParaRPr lang="en-US" sz="1000" dirty="0"/>
          </a:p>
        </p:txBody>
      </p:sp>
      <p:sp>
        <p:nvSpPr>
          <p:cNvPr id="45" name="Text 43"/>
          <p:cNvSpPr/>
          <p:nvPr/>
        </p:nvSpPr>
        <p:spPr>
          <a:xfrm>
            <a:off x="420624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2027</a:t>
            </a:r>
            <a:endParaRPr lang="en-US" sz="1000" dirty="0"/>
          </a:p>
        </p:txBody>
      </p:sp>
      <p:sp>
        <p:nvSpPr>
          <p:cNvPr id="46" name="Shape 44"/>
          <p:cNvSpPr/>
          <p:nvPr/>
        </p:nvSpPr>
        <p:spPr>
          <a:xfrm>
            <a:off x="6464808" y="4498848"/>
            <a:ext cx="146304" cy="146304"/>
          </a:xfrm>
          <a:prstGeom prst="ellipse">
            <a:avLst/>
          </a:prstGeom>
          <a:solidFill>
            <a:srgbClr val="CC0000"/>
          </a:solidFill>
          <a:ln w="12700">
            <a:solidFill>
              <a:srgbClr val="CC0000"/>
            </a:solidFill>
            <a:prstDash val="solid"/>
          </a:ln>
        </p:spPr>
      </p:sp>
      <p:sp>
        <p:nvSpPr>
          <p:cNvPr id="47" name="Text 45"/>
          <p:cNvSpPr/>
          <p:nvPr/>
        </p:nvSpPr>
        <p:spPr>
          <a:xfrm>
            <a:off x="576072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Intel Ohio</a:t>
            </a:r>
            <a:endParaRPr lang="en-US" sz="1000" dirty="0"/>
          </a:p>
        </p:txBody>
      </p:sp>
      <p:sp>
        <p:nvSpPr>
          <p:cNvPr id="48" name="Text 46"/>
          <p:cNvSpPr/>
          <p:nvPr/>
        </p:nvSpPr>
        <p:spPr>
          <a:xfrm>
            <a:off x="617220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2028</a:t>
            </a:r>
            <a:endParaRPr lang="en-US" sz="1000" dirty="0"/>
          </a:p>
        </p:txBody>
      </p:sp>
      <p:sp>
        <p:nvSpPr>
          <p:cNvPr id="49" name="Shape 47"/>
          <p:cNvSpPr/>
          <p:nvPr/>
        </p:nvSpPr>
        <p:spPr>
          <a:xfrm>
            <a:off x="8430768" y="4498848"/>
            <a:ext cx="146304" cy="146304"/>
          </a:xfrm>
          <a:prstGeom prst="ellipse">
            <a:avLst/>
          </a:prstGeom>
          <a:solidFill>
            <a:srgbClr val="CC0000"/>
          </a:solidFill>
          <a:ln w="12700">
            <a:solidFill>
              <a:srgbClr val="CC0000"/>
            </a:solidFill>
            <a:prstDash val="solid"/>
          </a:ln>
        </p:spPr>
      </p:sp>
      <p:sp>
        <p:nvSpPr>
          <p:cNvPr id="50" name="Text 48"/>
          <p:cNvSpPr/>
          <p:nvPr/>
        </p:nvSpPr>
        <p:spPr>
          <a:xfrm>
            <a:off x="7406640" y="4206240"/>
            <a:ext cx="1280160" cy="274320"/>
          </a:xfrm>
          <a:prstGeom prst="rect">
            <a:avLst/>
          </a:prstGeom>
          <a:noFill/>
          <a:ln/>
        </p:spPr>
        <p:txBody>
          <a:bodyPr wrap="square" lIns="0" tIns="0" rIns="0" bIns="0" rtlCol="0" anchor="b"/>
          <a:lstStyle/>
          <a:p>
            <a:pPr algn="r" indent="0" marL="0">
              <a:buNone/>
            </a:pPr>
            <a:r>
              <a:rPr lang="en-US" sz="1000" b="1" dirty="0">
                <a:solidFill>
                  <a:srgbClr val="333333"/>
                </a:solidFill>
                <a:latin typeface="Arial" pitchFamily="34" charset="0"/>
                <a:ea typeface="Arial" pitchFamily="34" charset="-122"/>
                <a:cs typeface="Arial" pitchFamily="34" charset="-120"/>
              </a:rPr>
              <a:t>Micron Clay NY</a:t>
            </a:r>
            <a:endParaRPr lang="en-US" sz="1000" dirty="0"/>
          </a:p>
        </p:txBody>
      </p:sp>
      <p:sp>
        <p:nvSpPr>
          <p:cNvPr id="51" name="Text 49"/>
          <p:cNvSpPr/>
          <p:nvPr/>
        </p:nvSpPr>
        <p:spPr>
          <a:xfrm>
            <a:off x="7955280" y="4709160"/>
            <a:ext cx="731520" cy="228600"/>
          </a:xfrm>
          <a:prstGeom prst="rect">
            <a:avLst/>
          </a:prstGeom>
          <a:noFill/>
          <a:ln/>
        </p:spPr>
        <p:txBody>
          <a:bodyPr wrap="square" lIns="0" tIns="0" rIns="0" bIns="0" rtlCol="0" anchor="t"/>
          <a:lstStyle/>
          <a:p>
            <a:pPr algn="r" indent="0" marL="0">
              <a:buNone/>
            </a:pPr>
            <a:r>
              <a:rPr lang="en-US" sz="1000" b="1" dirty="0">
                <a:solidFill>
                  <a:srgbClr val="CC0000"/>
                </a:solidFill>
                <a:latin typeface="Arial" pitchFamily="34" charset="0"/>
                <a:ea typeface="Arial" pitchFamily="34" charset="-122"/>
                <a:cs typeface="Arial" pitchFamily="34" charset="-120"/>
              </a:rPr>
              <a:t>2030+</a:t>
            </a:r>
            <a:endParaRPr lang="en-US" sz="1000" dirty="0"/>
          </a:p>
        </p:txBody>
      </p:sp>
      <p:sp>
        <p:nvSpPr>
          <p:cNvPr id="52" name="Text 50"/>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Each link is single-sourced — and there is no spare capacity in the chain to absorb a shock at any one of them.</a:t>
            </a:r>
            <a:endParaRPr lang="en-US" sz="950" dirty="0"/>
          </a:p>
        </p:txBody>
      </p:sp>
      <p:sp>
        <p:nvSpPr>
          <p:cNvPr id="53" name="Text 5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TrendForce / Counterpoint,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TrendForce HBM tracker; SK Hynix Q1 2026 commentary,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TSMC Q4 2025 earnings commentary.</a:t>
            </a:r>
            <a:endParaRPr lang="en-US" sz="700" dirty="0"/>
          </a:p>
        </p:txBody>
      </p:sp>
      <p:sp>
        <p:nvSpPr>
          <p:cNvPr id="54" name="Shape 52"/>
          <p:cNvSpPr/>
          <p:nvPr/>
        </p:nvSpPr>
        <p:spPr>
          <a:xfrm>
            <a:off x="0" y="6286500"/>
            <a:ext cx="9144000" cy="571500"/>
          </a:xfrm>
          <a:prstGeom prst="rect">
            <a:avLst/>
          </a:prstGeom>
          <a:solidFill>
            <a:srgbClr val="000000"/>
          </a:solidFill>
          <a:ln w="12700">
            <a:solidFill>
              <a:srgbClr val="000000"/>
            </a:solidFill>
            <a:prstDash val="solid"/>
          </a:ln>
        </p:spPr>
      </p:sp>
      <p:sp>
        <p:nvSpPr>
          <p:cNvPr id="55" name="Text 5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6" name="Text 5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Export controls, EU rules, and rare-earths decide who sells what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Export controls, EU compliance, and reshoring subsidies now decide who can sell what, to whom, from where.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2560320" cy="411480"/>
          </a:xfrm>
          <a:prstGeom prst="rect">
            <a:avLst/>
          </a:prstGeom>
          <a:solidFill>
            <a:srgbClr val="CC0000"/>
          </a:solidFill>
          <a:ln w="12700">
            <a:solidFill>
              <a:srgbClr val="CC0000"/>
            </a:solidFill>
            <a:prstDash val="solid"/>
          </a:ln>
        </p:spPr>
      </p:sp>
      <p:sp>
        <p:nvSpPr>
          <p:cNvPr id="8" name="Text 6"/>
          <p:cNvSpPr/>
          <p:nvPr/>
        </p:nvSpPr>
        <p:spPr>
          <a:xfrm>
            <a:off x="45720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EXPORT CONTROLS</a:t>
            </a:r>
            <a:endParaRPr lang="en-US" sz="1150" dirty="0"/>
          </a:p>
        </p:txBody>
      </p:sp>
      <p:sp>
        <p:nvSpPr>
          <p:cNvPr id="9" name="Shape 7"/>
          <p:cNvSpPr/>
          <p:nvPr/>
        </p:nvSpPr>
        <p:spPr>
          <a:xfrm>
            <a:off x="457200" y="2194560"/>
            <a:ext cx="2560320" cy="3108960"/>
          </a:xfrm>
          <a:prstGeom prst="rect">
            <a:avLst/>
          </a:prstGeom>
          <a:solidFill>
            <a:srgbClr val="F9F9F9"/>
          </a:solidFill>
          <a:ln w="6350">
            <a:solidFill>
              <a:srgbClr val="E5E5E5"/>
            </a:solidFill>
            <a:prstDash val="solid"/>
          </a:ln>
        </p:spPr>
      </p:sp>
      <p:sp>
        <p:nvSpPr>
          <p:cNvPr id="10" name="Text 8"/>
          <p:cNvSpPr/>
          <p:nvPr/>
        </p:nvSpPr>
        <p:spPr>
          <a:xfrm>
            <a:off x="457200" y="2331720"/>
            <a:ext cx="2560320" cy="914400"/>
          </a:xfrm>
          <a:prstGeom prst="rect">
            <a:avLst/>
          </a:prstGeom>
          <a:noFill/>
          <a:ln/>
        </p:spPr>
        <p:txBody>
          <a:bodyPr wrap="square" lIns="0" tIns="0" rIns="0" bIns="0" rtlCol="0" anchor="ctr"/>
          <a:lstStyle/>
          <a:p>
            <a:pPr algn="ctr" indent="0" marL="0">
              <a:buNone/>
            </a:pPr>
            <a:r>
              <a:rPr lang="en-US" sz="4800" b="1" dirty="0">
                <a:solidFill>
                  <a:srgbClr val="CC0000"/>
                </a:solidFill>
                <a:latin typeface="Arial Black" pitchFamily="34" charset="0"/>
                <a:ea typeface="Arial Black" pitchFamily="34" charset="-122"/>
                <a:cs typeface="Arial Black" pitchFamily="34" charset="-120"/>
              </a:rPr>
              <a:t>▣</a:t>
            </a:r>
            <a:endParaRPr lang="en-US" sz="4800" dirty="0"/>
          </a:p>
        </p:txBody>
      </p:sp>
      <p:sp>
        <p:nvSpPr>
          <p:cNvPr id="11" name="Shape 9"/>
          <p:cNvSpPr/>
          <p:nvPr/>
        </p:nvSpPr>
        <p:spPr>
          <a:xfrm>
            <a:off x="822960" y="3291840"/>
            <a:ext cx="1828800" cy="0"/>
          </a:xfrm>
          <a:prstGeom prst="line">
            <a:avLst/>
          </a:prstGeom>
          <a:noFill/>
          <a:ln w="19050">
            <a:solidFill>
              <a:srgbClr val="CC0000"/>
            </a:solidFill>
            <a:prstDash val="solid"/>
          </a:ln>
        </p:spPr>
      </p:sp>
      <p:sp>
        <p:nvSpPr>
          <p:cNvPr id="12" name="Text 10"/>
          <p:cNvSpPr/>
          <p:nvPr/>
        </p:nvSpPr>
        <p:spPr>
          <a:xfrm>
            <a:off x="64008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H100 / H200 / Blackwell banned from China.</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H20 reinstated with a 15% Treasury fee.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2</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$5.5B NVIDIA H20 writedown.</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3</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ASML DUV banned; China ~20% of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4</a:t>
            </a:r>
            <a:endParaRPr lang="en-US" sz="1000" dirty="0"/>
          </a:p>
        </p:txBody>
      </p:sp>
      <p:sp>
        <p:nvSpPr>
          <p:cNvPr id="13" name="Shape 11"/>
          <p:cNvSpPr/>
          <p:nvPr/>
        </p:nvSpPr>
        <p:spPr>
          <a:xfrm>
            <a:off x="3291840" y="1783080"/>
            <a:ext cx="2560320" cy="411480"/>
          </a:xfrm>
          <a:prstGeom prst="rect">
            <a:avLst/>
          </a:prstGeom>
          <a:solidFill>
            <a:srgbClr val="F6693D"/>
          </a:solidFill>
          <a:ln w="12700">
            <a:solidFill>
              <a:srgbClr val="F6693D"/>
            </a:solidFill>
            <a:prstDash val="solid"/>
          </a:ln>
        </p:spPr>
      </p:sp>
      <p:sp>
        <p:nvSpPr>
          <p:cNvPr id="14" name="Text 12"/>
          <p:cNvSpPr/>
          <p:nvPr/>
        </p:nvSpPr>
        <p:spPr>
          <a:xfrm>
            <a:off x="329184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AI REGULATION</a:t>
            </a:r>
            <a:endParaRPr lang="en-US" sz="1150" dirty="0"/>
          </a:p>
        </p:txBody>
      </p:sp>
      <p:sp>
        <p:nvSpPr>
          <p:cNvPr id="15" name="Shape 13"/>
          <p:cNvSpPr/>
          <p:nvPr/>
        </p:nvSpPr>
        <p:spPr>
          <a:xfrm>
            <a:off x="3291840" y="2194560"/>
            <a:ext cx="2560320" cy="3108960"/>
          </a:xfrm>
          <a:prstGeom prst="rect">
            <a:avLst/>
          </a:prstGeom>
          <a:solidFill>
            <a:srgbClr val="F9F9F9"/>
          </a:solidFill>
          <a:ln w="6350">
            <a:solidFill>
              <a:srgbClr val="E5E5E5"/>
            </a:solidFill>
            <a:prstDash val="solid"/>
          </a:ln>
        </p:spPr>
      </p:sp>
      <p:sp>
        <p:nvSpPr>
          <p:cNvPr id="16" name="Text 14"/>
          <p:cNvSpPr/>
          <p:nvPr/>
        </p:nvSpPr>
        <p:spPr>
          <a:xfrm>
            <a:off x="3291840" y="2331720"/>
            <a:ext cx="2560320" cy="914400"/>
          </a:xfrm>
          <a:prstGeom prst="rect">
            <a:avLst/>
          </a:prstGeom>
          <a:noFill/>
          <a:ln/>
        </p:spPr>
        <p:txBody>
          <a:bodyPr wrap="square" lIns="0" tIns="0" rIns="0" bIns="0" rtlCol="0" anchor="ctr"/>
          <a:lstStyle/>
          <a:p>
            <a:pPr algn="ctr" indent="0" marL="0">
              <a:buNone/>
            </a:pPr>
            <a:r>
              <a:rPr lang="en-US" sz="4800" b="1" dirty="0">
                <a:solidFill>
                  <a:srgbClr val="F6693D"/>
                </a:solidFill>
                <a:latin typeface="Arial Black" pitchFamily="34" charset="0"/>
                <a:ea typeface="Arial Black" pitchFamily="34" charset="-122"/>
                <a:cs typeface="Arial Black" pitchFamily="34" charset="-120"/>
              </a:rPr>
              <a:t>§</a:t>
            </a:r>
            <a:endParaRPr lang="en-US" sz="4800" dirty="0"/>
          </a:p>
        </p:txBody>
      </p:sp>
      <p:sp>
        <p:nvSpPr>
          <p:cNvPr id="17" name="Shape 15"/>
          <p:cNvSpPr/>
          <p:nvPr/>
        </p:nvSpPr>
        <p:spPr>
          <a:xfrm>
            <a:off x="3657600" y="3291840"/>
            <a:ext cx="1828800" cy="0"/>
          </a:xfrm>
          <a:prstGeom prst="line">
            <a:avLst/>
          </a:prstGeom>
          <a:noFill/>
          <a:ln w="19050">
            <a:solidFill>
              <a:srgbClr val="F6693D"/>
            </a:solidFill>
            <a:prstDash val="solid"/>
          </a:ln>
        </p:spPr>
      </p:sp>
      <p:sp>
        <p:nvSpPr>
          <p:cNvPr id="18" name="Text 16"/>
          <p:cNvSpPr/>
          <p:nvPr/>
        </p:nvSpPr>
        <p:spPr>
          <a:xfrm>
            <a:off x="347472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EU AI Act enforcement: Aug 2, 2026.</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5</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Fines up to €35M or 7% of global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6</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Initial compliance: $8–15M per system.</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7</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Only 36% of enterprises feel prepared.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8</a:t>
            </a:r>
            <a:endParaRPr lang="en-US" sz="1000" dirty="0"/>
          </a:p>
        </p:txBody>
      </p:sp>
      <p:sp>
        <p:nvSpPr>
          <p:cNvPr id="19" name="Shape 17"/>
          <p:cNvSpPr/>
          <p:nvPr/>
        </p:nvSpPr>
        <p:spPr>
          <a:xfrm>
            <a:off x="6126480" y="1783080"/>
            <a:ext cx="2560320" cy="411480"/>
          </a:xfrm>
          <a:prstGeom prst="rect">
            <a:avLst/>
          </a:prstGeom>
          <a:solidFill>
            <a:srgbClr val="FFB800"/>
          </a:solidFill>
          <a:ln w="12700">
            <a:solidFill>
              <a:srgbClr val="FFB800"/>
            </a:solidFill>
            <a:prstDash val="solid"/>
          </a:ln>
        </p:spPr>
      </p:sp>
      <p:sp>
        <p:nvSpPr>
          <p:cNvPr id="20" name="Text 18"/>
          <p:cNvSpPr/>
          <p:nvPr/>
        </p:nvSpPr>
        <p:spPr>
          <a:xfrm>
            <a:off x="612648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TRADE &amp; RESHORING</a:t>
            </a:r>
            <a:endParaRPr lang="en-US" sz="1150" dirty="0"/>
          </a:p>
        </p:txBody>
      </p:sp>
      <p:sp>
        <p:nvSpPr>
          <p:cNvPr id="21" name="Shape 19"/>
          <p:cNvSpPr/>
          <p:nvPr/>
        </p:nvSpPr>
        <p:spPr>
          <a:xfrm>
            <a:off x="6126480" y="2194560"/>
            <a:ext cx="2560320" cy="3108960"/>
          </a:xfrm>
          <a:prstGeom prst="rect">
            <a:avLst/>
          </a:prstGeom>
          <a:solidFill>
            <a:srgbClr val="F9F9F9"/>
          </a:solidFill>
          <a:ln w="6350">
            <a:solidFill>
              <a:srgbClr val="E5E5E5"/>
            </a:solidFill>
            <a:prstDash val="solid"/>
          </a:ln>
        </p:spPr>
      </p:sp>
      <p:sp>
        <p:nvSpPr>
          <p:cNvPr id="22" name="Text 20"/>
          <p:cNvSpPr/>
          <p:nvPr/>
        </p:nvSpPr>
        <p:spPr>
          <a:xfrm>
            <a:off x="6126480" y="2331720"/>
            <a:ext cx="2560320" cy="914400"/>
          </a:xfrm>
          <a:prstGeom prst="rect">
            <a:avLst/>
          </a:prstGeom>
          <a:noFill/>
          <a:ln/>
        </p:spPr>
        <p:txBody>
          <a:bodyPr wrap="square" lIns="0" tIns="0" rIns="0" bIns="0" rtlCol="0" anchor="ctr"/>
          <a:lstStyle/>
          <a:p>
            <a:pPr algn="ctr" indent="0" marL="0">
              <a:buNone/>
            </a:pPr>
            <a:r>
              <a:rPr lang="en-US" sz="4800" b="1" dirty="0">
                <a:solidFill>
                  <a:srgbClr val="FFB800"/>
                </a:solidFill>
                <a:latin typeface="Arial Black" pitchFamily="34" charset="0"/>
                <a:ea typeface="Arial Black" pitchFamily="34" charset="-122"/>
                <a:cs typeface="Arial Black" pitchFamily="34" charset="-120"/>
              </a:rPr>
              <a:t>⚒</a:t>
            </a:r>
            <a:endParaRPr lang="en-US" sz="4800" dirty="0"/>
          </a:p>
        </p:txBody>
      </p:sp>
      <p:sp>
        <p:nvSpPr>
          <p:cNvPr id="23" name="Shape 21"/>
          <p:cNvSpPr/>
          <p:nvPr/>
        </p:nvSpPr>
        <p:spPr>
          <a:xfrm>
            <a:off x="6492240" y="3291840"/>
            <a:ext cx="1828800" cy="0"/>
          </a:xfrm>
          <a:prstGeom prst="line">
            <a:avLst/>
          </a:prstGeom>
          <a:noFill/>
          <a:ln w="19050">
            <a:solidFill>
              <a:srgbClr val="FFB800"/>
            </a:solidFill>
            <a:prstDash val="solid"/>
          </a:ln>
        </p:spPr>
      </p:sp>
      <p:sp>
        <p:nvSpPr>
          <p:cNvPr id="24" name="Text 22"/>
          <p:cNvSpPr/>
          <p:nvPr/>
        </p:nvSpPr>
        <p:spPr>
          <a:xfrm>
            <a:off x="630936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CHIPS Act: ~$36B committed of $52.7B.</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9</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China controls ~90% of rare-earth processing.</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10</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Gallium / germanium controls since Jul 2023.</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SMIC 5nm yield ~20% vs &gt;70% threshold.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12</a:t>
            </a:r>
            <a:endParaRPr lang="en-US" sz="1000" dirty="0"/>
          </a:p>
        </p:txBody>
      </p:sp>
      <p:sp>
        <p:nvSpPr>
          <p:cNvPr id="25" name="Text 23"/>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US BIS export rules, 2023–25,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US Treasury / NVIDIA, Jul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NVIDIA 10-Q, FY26 Q1,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EU Commission / law firm analyses, 2025,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Gartner enterprise AI readiness, 2026, </a:t>
            </a:r>
            <a:pPr indent="0" marL="0">
              <a:buNone/>
            </a:pPr>
            <a:r>
              <a:rPr lang="en-US" sz="700" b="1" dirty="0">
                <a:solidFill>
                  <a:srgbClr val="999999"/>
                </a:solidFill>
                <a:latin typeface="Arial" pitchFamily="34" charset="0"/>
                <a:ea typeface="Arial" pitchFamily="34" charset="-122"/>
                <a:cs typeface="Arial" pitchFamily="34" charset="-120"/>
              </a:rPr>
              <a:t>(9) </a:t>
            </a:r>
            <a:pPr indent="0" marL="0">
              <a:buNone/>
            </a:pPr>
            <a:r>
              <a:rPr lang="en-US" sz="700" dirty="0">
                <a:solidFill>
                  <a:srgbClr val="999999"/>
                </a:solidFill>
                <a:latin typeface="Arial" pitchFamily="34" charset="0"/>
                <a:ea typeface="Arial" pitchFamily="34" charset="-122"/>
                <a:cs typeface="Arial" pitchFamily="34" charset="-120"/>
              </a:rPr>
              <a:t>US Commerce Dept CHIPS Office, Nov 2025, </a:t>
            </a:r>
            <a:pPr indent="0" marL="0">
              <a:buNone/>
            </a:pPr>
            <a:r>
              <a:rPr lang="en-US" sz="700" b="1" dirty="0">
                <a:solidFill>
                  <a:srgbClr val="999999"/>
                </a:solidFill>
                <a:latin typeface="Arial" pitchFamily="34" charset="0"/>
                <a:ea typeface="Arial" pitchFamily="34" charset="-122"/>
                <a:cs typeface="Arial" pitchFamily="34" charset="-120"/>
              </a:rPr>
              <a:t>(10) </a:t>
            </a:r>
            <a:pPr indent="0" marL="0">
              <a:buNone/>
            </a:pPr>
            <a:r>
              <a:rPr lang="en-US" sz="700" dirty="0">
                <a:solidFill>
                  <a:srgbClr val="999999"/>
                </a:solidFill>
                <a:latin typeface="Arial" pitchFamily="34" charset="0"/>
                <a:ea typeface="Arial" pitchFamily="34" charset="-122"/>
                <a:cs typeface="Arial" pitchFamily="34" charset="-120"/>
              </a:rPr>
              <a:t>IEA / USGS rare-earth reports, 2025, </a:t>
            </a:r>
            <a:pPr indent="0" marL="0">
              <a:buNone/>
            </a:pPr>
            <a:r>
              <a:rPr lang="en-US" sz="700" b="1" dirty="0">
                <a:solidFill>
                  <a:srgbClr val="999999"/>
                </a:solidFill>
                <a:latin typeface="Arial" pitchFamily="34" charset="0"/>
                <a:ea typeface="Arial" pitchFamily="34" charset="-122"/>
                <a:cs typeface="Arial" pitchFamily="34" charset="-120"/>
              </a:rPr>
              <a:t>(11) </a:t>
            </a:r>
            <a:pPr indent="0" marL="0">
              <a:buNone/>
            </a:pPr>
            <a:r>
              <a:rPr lang="en-US" sz="700" dirty="0">
                <a:solidFill>
                  <a:srgbClr val="999999"/>
                </a:solidFill>
                <a:latin typeface="Arial" pitchFamily="34" charset="0"/>
                <a:ea typeface="Arial" pitchFamily="34" charset="-122"/>
                <a:cs typeface="Arial" pitchFamily="34" charset="-120"/>
              </a:rPr>
              <a:t>China MOFCOM, Jul 2023, </a:t>
            </a:r>
            <a:pPr indent="0" marL="0">
              <a:buNone/>
            </a:pPr>
            <a:r>
              <a:rPr lang="en-US" sz="700" b="1" dirty="0">
                <a:solidFill>
                  <a:srgbClr val="999999"/>
                </a:solidFill>
                <a:latin typeface="Arial" pitchFamily="34" charset="0"/>
                <a:ea typeface="Arial" pitchFamily="34" charset="-122"/>
                <a:cs typeface="Arial" pitchFamily="34" charset="-120"/>
              </a:rPr>
              <a:t>(12) </a:t>
            </a:r>
            <a:pPr indent="0" marL="0">
              <a:buNone/>
            </a:pPr>
            <a:r>
              <a:rPr lang="en-US" sz="700" dirty="0">
                <a:solidFill>
                  <a:srgbClr val="999999"/>
                </a:solidFill>
                <a:latin typeface="Arial" pitchFamily="34" charset="0"/>
                <a:ea typeface="Arial" pitchFamily="34" charset="-122"/>
                <a:cs typeface="Arial" pitchFamily="34" charset="-120"/>
              </a:rPr>
              <a:t>TechInsights / trade press, 2025–26.</a:t>
            </a:r>
            <a:endParaRPr lang="en-US" sz="700" dirty="0"/>
          </a:p>
        </p:txBody>
      </p:sp>
      <p:sp>
        <p:nvSpPr>
          <p:cNvPr id="26" name="Shape 24"/>
          <p:cNvSpPr/>
          <p:nvPr/>
        </p:nvSpPr>
        <p:spPr>
          <a:xfrm>
            <a:off x="0" y="6286500"/>
            <a:ext cx="9144000" cy="571500"/>
          </a:xfrm>
          <a:prstGeom prst="rect">
            <a:avLst/>
          </a:prstGeom>
          <a:solidFill>
            <a:srgbClr val="000000"/>
          </a:solidFill>
          <a:ln w="12700">
            <a:solidFill>
              <a:srgbClr val="000000"/>
            </a:solidFill>
            <a:prstDash val="solid"/>
          </a:ln>
        </p:spPr>
      </p:sp>
      <p:sp>
        <p:nvSpPr>
          <p:cNvPr id="27" name="Text 2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8" name="Text 2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is losing the public — and that's now a market risk</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Sentiment is sliding, the NIMBY revolt is quantified and accelerating, and AI has become a 2026 political issue.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6304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More concerned than excited about AI (%)</a:t>
            </a:r>
            <a:endParaRPr lang="en-US" sz="1400" dirty="0"/>
          </a:p>
        </p:txBody>
      </p:sp>
      <p:sp>
        <p:nvSpPr>
          <p:cNvPr id="8" name="Shape 6"/>
          <p:cNvSpPr/>
          <p:nvPr/>
        </p:nvSpPr>
        <p:spPr>
          <a:xfrm>
            <a:off x="457200" y="173736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874520"/>
          <a:ext cx="3931920" cy="19659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7200" y="4069080"/>
            <a:ext cx="3931920" cy="274320"/>
          </a:xfrm>
          <a:prstGeom prst="rect">
            <a:avLst/>
          </a:prstGeom>
          <a:noFill/>
          <a:ln/>
        </p:spPr>
        <p:txBody>
          <a:bodyPr wrap="square" lIns="0" tIns="0" rIns="0" bIns="0" rtlCol="0" anchor="ctr"/>
          <a:lstStyle/>
          <a:p>
            <a:pPr indent="0" marL="0">
              <a:buNone/>
            </a:pPr>
            <a:r>
              <a:rPr lang="en-US" sz="1400" b="1" dirty="0">
                <a:solidFill>
                  <a:srgbClr val="CC0000"/>
                </a:solidFill>
                <a:latin typeface="Arial" pitchFamily="34" charset="0"/>
                <a:ea typeface="Arial" pitchFamily="34" charset="-122"/>
                <a:cs typeface="Arial" pitchFamily="34" charset="-120"/>
              </a:rPr>
              <a:t>70%+ </a:t>
            </a:r>
            <a:pPr indent="0" marL="0">
              <a:buNone/>
            </a:pPr>
            <a:r>
              <a:rPr lang="en-US" sz="1050" dirty="0">
                <a:solidFill>
                  <a:srgbClr val="333333"/>
                </a:solidFill>
                <a:latin typeface="Arial" pitchFamily="34" charset="0"/>
                <a:ea typeface="Arial" pitchFamily="34" charset="-122"/>
                <a:cs typeface="Arial" pitchFamily="34" charset="-120"/>
              </a:rPr>
              <a:t>say AI is advancing too quickly (bipartisan).</a:t>
            </a:r>
            <a:endParaRPr lang="en-US" sz="1400" dirty="0"/>
          </a:p>
        </p:txBody>
      </p:sp>
      <p:sp>
        <p:nvSpPr>
          <p:cNvPr id="11" name="Text 8"/>
          <p:cNvSpPr/>
          <p:nvPr/>
        </p:nvSpPr>
        <p:spPr>
          <a:xfrm>
            <a:off x="457200" y="4407408"/>
            <a:ext cx="3931920" cy="274320"/>
          </a:xfrm>
          <a:prstGeom prst="rect">
            <a:avLst/>
          </a:prstGeom>
          <a:noFill/>
          <a:ln/>
        </p:spPr>
        <p:txBody>
          <a:bodyPr wrap="square" lIns="0" tIns="0" rIns="0" bIns="0" rtlCol="0" anchor="ctr"/>
          <a:lstStyle/>
          <a:p>
            <a:pPr indent="0" marL="0">
              <a:buNone/>
            </a:pPr>
            <a:r>
              <a:rPr lang="en-US" sz="1400" b="1" dirty="0">
                <a:solidFill>
                  <a:srgbClr val="CC0000"/>
                </a:solidFill>
                <a:latin typeface="Arial" pitchFamily="34" charset="0"/>
                <a:ea typeface="Arial" pitchFamily="34" charset="-122"/>
                <a:cs typeface="Arial" pitchFamily="34" charset="-120"/>
              </a:rPr>
              <a:t>31% </a:t>
            </a:r>
            <a:pPr indent="0" marL="0">
              <a:buNone/>
            </a:pPr>
            <a:r>
              <a:rPr lang="en-US" sz="1050" dirty="0">
                <a:solidFill>
                  <a:srgbClr val="333333"/>
                </a:solidFill>
                <a:latin typeface="Arial" pitchFamily="34" charset="0"/>
                <a:ea typeface="Arial" pitchFamily="34" charset="-122"/>
                <a:cs typeface="Arial" pitchFamily="34" charset="-120"/>
              </a:rPr>
              <a:t>trust government to regulate AI responsibly.</a:t>
            </a:r>
            <a:endParaRPr lang="en-US" sz="1400" dirty="0"/>
          </a:p>
        </p:txBody>
      </p:sp>
      <p:sp>
        <p:nvSpPr>
          <p:cNvPr id="12" name="Text 9"/>
          <p:cNvSpPr/>
          <p:nvPr/>
        </p:nvSpPr>
        <p:spPr>
          <a:xfrm>
            <a:off x="457200" y="4745736"/>
            <a:ext cx="3931920" cy="274320"/>
          </a:xfrm>
          <a:prstGeom prst="rect">
            <a:avLst/>
          </a:prstGeom>
          <a:noFill/>
          <a:ln/>
        </p:spPr>
        <p:txBody>
          <a:bodyPr wrap="square" lIns="0" tIns="0" rIns="0" bIns="0" rtlCol="0" anchor="ctr"/>
          <a:lstStyle/>
          <a:p>
            <a:pPr indent="0" marL="0">
              <a:buNone/>
            </a:pPr>
            <a:r>
              <a:rPr lang="en-US" sz="1400" b="1" dirty="0">
                <a:solidFill>
                  <a:srgbClr val="CC0000"/>
                </a:solidFill>
                <a:latin typeface="Arial" pitchFamily="34" charset="0"/>
                <a:ea typeface="Arial" pitchFamily="34" charset="-122"/>
                <a:cs typeface="Arial" pitchFamily="34" charset="-120"/>
              </a:rPr>
              <a:t>18% </a:t>
            </a:r>
            <a:pPr indent="0" marL="0">
              <a:buNone/>
            </a:pPr>
            <a:r>
              <a:rPr lang="en-US" sz="1050" dirty="0">
                <a:solidFill>
                  <a:srgbClr val="333333"/>
                </a:solidFill>
                <a:latin typeface="Arial" pitchFamily="34" charset="0"/>
                <a:ea typeface="Arial" pitchFamily="34" charset="-122"/>
                <a:cs typeface="Arial" pitchFamily="34" charset="-120"/>
              </a:rPr>
              <a:t>of adults under 30 feel hopeful about AI.</a:t>
            </a:r>
            <a:endParaRPr lang="en-US" sz="1400" dirty="0"/>
          </a:p>
        </p:txBody>
      </p:sp>
      <p:sp>
        <p:nvSpPr>
          <p:cNvPr id="13" name="Shape 10"/>
          <p:cNvSpPr/>
          <p:nvPr/>
        </p:nvSpPr>
        <p:spPr>
          <a:xfrm>
            <a:off x="4526280" y="1828800"/>
            <a:ext cx="4160520" cy="1298448"/>
          </a:xfrm>
          <a:prstGeom prst="rect">
            <a:avLst/>
          </a:prstGeom>
          <a:solidFill>
            <a:srgbClr val="F9F9F9"/>
          </a:solidFill>
          <a:ln w="6350">
            <a:solidFill>
              <a:srgbClr val="E5E5E5"/>
            </a:solidFill>
            <a:prstDash val="solid"/>
          </a:ln>
        </p:spPr>
      </p:sp>
      <p:sp>
        <p:nvSpPr>
          <p:cNvPr id="14" name="Shape 11"/>
          <p:cNvSpPr/>
          <p:nvPr/>
        </p:nvSpPr>
        <p:spPr>
          <a:xfrm>
            <a:off x="4526280" y="1828800"/>
            <a:ext cx="4160520" cy="274320"/>
          </a:xfrm>
          <a:prstGeom prst="rect">
            <a:avLst/>
          </a:prstGeom>
          <a:solidFill>
            <a:srgbClr val="CC0000"/>
          </a:solidFill>
          <a:ln w="12700">
            <a:solidFill>
              <a:srgbClr val="CC0000"/>
            </a:solidFill>
            <a:prstDash val="solid"/>
          </a:ln>
        </p:spPr>
      </p:sp>
      <p:sp>
        <p:nvSpPr>
          <p:cNvPr id="15" name="Text 12"/>
          <p:cNvSpPr/>
          <p:nvPr/>
        </p:nvSpPr>
        <p:spPr>
          <a:xfrm>
            <a:off x="4526280" y="1828800"/>
            <a:ext cx="4160520" cy="274320"/>
          </a:xfrm>
          <a:prstGeom prst="rect">
            <a:avLst/>
          </a:prstGeom>
          <a:noFill/>
          <a:ln/>
        </p:spPr>
        <p:txBody>
          <a:bodyPr wrap="square" lIns="1524" tIns="1524" rIns="1524" bIns="1524" rtlCol="0" anchor="ctr"/>
          <a:lstStyle/>
          <a:p>
            <a:pPr algn="l" indent="0" marL="0">
              <a:buNone/>
            </a:pPr>
            <a:r>
              <a:rPr lang="en-US" sz="950" b="1" spc="100" kern="0" dirty="0">
                <a:solidFill>
                  <a:srgbClr val="FFFFFF"/>
                </a:solidFill>
                <a:latin typeface="Arial" pitchFamily="34" charset="0"/>
                <a:ea typeface="Arial" pitchFamily="34" charset="-122"/>
                <a:cs typeface="Arial" pitchFamily="34" charset="-120"/>
              </a:rPr>
              <a:t>NIMBY — QUANTIFIED &amp; ACCELERATING</a:t>
            </a:r>
            <a:endParaRPr lang="en-US" sz="950" dirty="0"/>
          </a:p>
        </p:txBody>
      </p:sp>
      <p:sp>
        <p:nvSpPr>
          <p:cNvPr id="16" name="Text 13"/>
          <p:cNvSpPr/>
          <p:nvPr/>
        </p:nvSpPr>
        <p:spPr>
          <a:xfrm>
            <a:off x="4663440" y="2176272"/>
            <a:ext cx="3886200" cy="877824"/>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~$64B of data-center projects blocked or delayed — now 188 activist groups across 40 states (was 142 / 24). 71% of Americans oppose a data center in their area — worse than nuclear.</a:t>
            </a:r>
            <a:endParaRPr lang="en-US" sz="1000" dirty="0"/>
          </a:p>
        </p:txBody>
      </p:sp>
      <p:sp>
        <p:nvSpPr>
          <p:cNvPr id="17" name="Shape 14"/>
          <p:cNvSpPr/>
          <p:nvPr/>
        </p:nvSpPr>
        <p:spPr>
          <a:xfrm>
            <a:off x="4526280" y="3218688"/>
            <a:ext cx="4160520" cy="1298448"/>
          </a:xfrm>
          <a:prstGeom prst="rect">
            <a:avLst/>
          </a:prstGeom>
          <a:solidFill>
            <a:srgbClr val="F9F9F9"/>
          </a:solidFill>
          <a:ln w="6350">
            <a:solidFill>
              <a:srgbClr val="E5E5E5"/>
            </a:solidFill>
            <a:prstDash val="solid"/>
          </a:ln>
        </p:spPr>
      </p:sp>
      <p:sp>
        <p:nvSpPr>
          <p:cNvPr id="18" name="Shape 15"/>
          <p:cNvSpPr/>
          <p:nvPr/>
        </p:nvSpPr>
        <p:spPr>
          <a:xfrm>
            <a:off x="4526280" y="3218688"/>
            <a:ext cx="4160520" cy="274320"/>
          </a:xfrm>
          <a:prstGeom prst="rect">
            <a:avLst/>
          </a:prstGeom>
          <a:solidFill>
            <a:srgbClr val="CC0000"/>
          </a:solidFill>
          <a:ln w="12700">
            <a:solidFill>
              <a:srgbClr val="CC0000"/>
            </a:solidFill>
            <a:prstDash val="solid"/>
          </a:ln>
        </p:spPr>
      </p:sp>
      <p:sp>
        <p:nvSpPr>
          <p:cNvPr id="19" name="Text 16"/>
          <p:cNvSpPr/>
          <p:nvPr/>
        </p:nvSpPr>
        <p:spPr>
          <a:xfrm>
            <a:off x="4526280" y="3218688"/>
            <a:ext cx="4160520" cy="274320"/>
          </a:xfrm>
          <a:prstGeom prst="rect">
            <a:avLst/>
          </a:prstGeom>
          <a:noFill/>
          <a:ln/>
        </p:spPr>
        <p:txBody>
          <a:bodyPr wrap="square" lIns="1524" tIns="1524" rIns="1524" bIns="1524" rtlCol="0" anchor="ctr"/>
          <a:lstStyle/>
          <a:p>
            <a:pPr algn="l" indent="0" marL="0">
              <a:buNone/>
            </a:pPr>
            <a:r>
              <a:rPr lang="en-US" sz="950" b="1" spc="100" kern="0" dirty="0">
                <a:solidFill>
                  <a:srgbClr val="FFFFFF"/>
                </a:solidFill>
                <a:latin typeface="Arial" pitchFamily="34" charset="0"/>
                <a:ea typeface="Arial" pitchFamily="34" charset="-122"/>
                <a:cs typeface="Arial" pitchFamily="34" charset="-120"/>
              </a:rPr>
              <a:t>NOW A 2026 POLITICAL ISSUE</a:t>
            </a:r>
            <a:endParaRPr lang="en-US" sz="950" dirty="0"/>
          </a:p>
        </p:txBody>
      </p:sp>
      <p:sp>
        <p:nvSpPr>
          <p:cNvPr id="20" name="Text 17"/>
          <p:cNvSpPr/>
          <p:nvPr/>
        </p:nvSpPr>
        <p:spPr>
          <a:xfrm>
            <a:off x="4663440" y="3566160"/>
            <a:ext cx="3886200" cy="877824"/>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Pro-AI super PAC “Leading the Future” has raised $125M+ for the midterms; a “Bernie-to-Bannon” coalition and state moratoria (Maine, Georgia, Vermont; an Ohio ballot measure) are forming.</a:t>
            </a:r>
            <a:endParaRPr lang="en-US" sz="1000" dirty="0"/>
          </a:p>
        </p:txBody>
      </p:sp>
      <p:sp>
        <p:nvSpPr>
          <p:cNvPr id="21" name="Shape 18"/>
          <p:cNvSpPr/>
          <p:nvPr/>
        </p:nvSpPr>
        <p:spPr>
          <a:xfrm>
            <a:off x="4526280" y="4608576"/>
            <a:ext cx="4160520" cy="658368"/>
          </a:xfrm>
          <a:prstGeom prst="rect">
            <a:avLst/>
          </a:prstGeom>
          <a:solidFill>
            <a:srgbClr val="F9F9F9"/>
          </a:solidFill>
          <a:ln w="6350">
            <a:solidFill>
              <a:srgbClr val="E5E5E5"/>
            </a:solidFill>
            <a:prstDash val="solid"/>
          </a:ln>
        </p:spPr>
      </p:sp>
      <p:sp>
        <p:nvSpPr>
          <p:cNvPr id="22" name="Shape 19"/>
          <p:cNvSpPr/>
          <p:nvPr/>
        </p:nvSpPr>
        <p:spPr>
          <a:xfrm>
            <a:off x="4526280" y="4608576"/>
            <a:ext cx="4160520" cy="274320"/>
          </a:xfrm>
          <a:prstGeom prst="rect">
            <a:avLst/>
          </a:prstGeom>
          <a:solidFill>
            <a:srgbClr val="CC0000"/>
          </a:solidFill>
          <a:ln w="12700">
            <a:solidFill>
              <a:srgbClr val="CC0000"/>
            </a:solidFill>
            <a:prstDash val="solid"/>
          </a:ln>
        </p:spPr>
      </p:sp>
      <p:sp>
        <p:nvSpPr>
          <p:cNvPr id="23" name="Text 20"/>
          <p:cNvSpPr/>
          <p:nvPr/>
        </p:nvSpPr>
        <p:spPr>
          <a:xfrm>
            <a:off x="4526280" y="4608576"/>
            <a:ext cx="4160520" cy="274320"/>
          </a:xfrm>
          <a:prstGeom prst="rect">
            <a:avLst/>
          </a:prstGeom>
          <a:noFill/>
          <a:ln/>
        </p:spPr>
        <p:txBody>
          <a:bodyPr wrap="square" lIns="1524" tIns="1524" rIns="1524" bIns="1524" rtlCol="0" anchor="ctr"/>
          <a:lstStyle/>
          <a:p>
            <a:pPr algn="l" indent="0" marL="0">
              <a:buNone/>
            </a:pPr>
            <a:r>
              <a:rPr lang="en-US" sz="950" b="1" spc="100" kern="0" dirty="0">
                <a:solidFill>
                  <a:srgbClr val="FFFFFF"/>
                </a:solidFill>
                <a:latin typeface="Arial" pitchFamily="34" charset="0"/>
                <a:ea typeface="Arial" pitchFamily="34" charset="-122"/>
                <a:cs typeface="Arial" pitchFamily="34" charset="-120"/>
              </a:rPr>
              <a:t>LABOR</a:t>
            </a:r>
            <a:endParaRPr lang="en-US" sz="950" dirty="0"/>
          </a:p>
        </p:txBody>
      </p:sp>
      <p:sp>
        <p:nvSpPr>
          <p:cNvPr id="24" name="Text 21"/>
          <p:cNvSpPr/>
          <p:nvPr/>
        </p:nvSpPr>
        <p:spPr>
          <a:xfrm>
            <a:off x="4663440" y="4956048"/>
            <a:ext cx="3886200" cy="237744"/>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~480K data-center workforce gap — talent, not capital, binds.</a:t>
            </a:r>
            <a:endParaRPr lang="en-US" sz="1000" dirty="0"/>
          </a:p>
        </p:txBody>
      </p:sp>
      <p:sp>
        <p:nvSpPr>
          <p:cNvPr id="25" name="Shape 22"/>
          <p:cNvSpPr/>
          <p:nvPr/>
        </p:nvSpPr>
        <p:spPr>
          <a:xfrm>
            <a:off x="457200" y="5394960"/>
            <a:ext cx="8229600" cy="365760"/>
          </a:xfrm>
          <a:prstGeom prst="rect">
            <a:avLst/>
          </a:prstGeom>
          <a:solidFill>
            <a:srgbClr val="CC0000"/>
          </a:solidFill>
          <a:ln w="12700">
            <a:solidFill>
              <a:srgbClr val="CC0000"/>
            </a:solidFill>
            <a:prstDash val="solid"/>
          </a:ln>
        </p:spPr>
      </p:sp>
      <p:sp>
        <p:nvSpPr>
          <p:cNvPr id="26" name="Text 23"/>
          <p:cNvSpPr/>
          <p:nvPr/>
        </p:nvSpPr>
        <p:spPr>
          <a:xfrm>
            <a:off x="640080" y="5394960"/>
            <a:ext cx="7863840" cy="36576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The permitting layer is the new supply-chain layer — politically, not technically, constrained.</a:t>
            </a:r>
            <a:endParaRPr lang="en-US" sz="1100" dirty="0"/>
          </a:p>
        </p:txBody>
      </p:sp>
      <p:sp>
        <p:nvSpPr>
          <p:cNvPr id="27" name="Text 24"/>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Pew Research — Americans' views of AI (Mar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Economist/YouGov (May 2026); Stanford AI Index 2026; Gallup,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DataCenterWatch; Fortune (May 2026); Gallup data-center poll (Mar 2026),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“Leading the Future” super PAC — CNBC/NOTUS; MultiState (state measures, May 2026),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Data Center Frontier — workforce gap,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Escalation: “Stop the AI Race” march (Mar 2026); reported attack on a lab CEO's home (Apr 2026).</a:t>
            </a:r>
            <a:endParaRPr lang="en-US" sz="700" dirty="0"/>
          </a:p>
        </p:txBody>
      </p:sp>
      <p:sp>
        <p:nvSpPr>
          <p:cNvPr id="28" name="Shape 25"/>
          <p:cNvSpPr/>
          <p:nvPr/>
        </p:nvSpPr>
        <p:spPr>
          <a:xfrm>
            <a:off x="0" y="6286500"/>
            <a:ext cx="9144000" cy="571500"/>
          </a:xfrm>
          <a:prstGeom prst="rect">
            <a:avLst/>
          </a:prstGeom>
          <a:solidFill>
            <a:srgbClr val="000000"/>
          </a:solidFill>
          <a:ln w="12700">
            <a:solidFill>
              <a:srgbClr val="000000"/>
            </a:solidFill>
            <a:prstDash val="solid"/>
          </a:ln>
        </p:spPr>
      </p:sp>
      <p:sp>
        <p:nvSpPr>
          <p:cNvPr id="29" name="Text 2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0" name="Text 2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Orbital compute sidesteps Earth-bound bottlenecks — pilot stage today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No interconnection queue. No permits. No water. 1,361 W/m²</a:t>
            </a:r>
            <a:pPr indent="0" marL="0">
              <a:buNone/>
            </a:pPr>
            <a:r>
              <a:rPr lang="en-US" sz="700" baseline="30000" dirty="0">
                <a:solidFill>
                  <a:srgbClr val="666666"/>
                </a:solidFill>
                <a:latin typeface="Arial" pitchFamily="34" charset="0"/>
                <a:ea typeface="Arial" pitchFamily="34" charset="-122"/>
                <a:cs typeface="Arial" pitchFamily="34" charset="-120"/>
              </a:rPr>
              <a:t> 1</a:t>
            </a:r>
            <a:pPr indent="0" marL="0">
              <a:buNone/>
            </a:pPr>
            <a:r>
              <a:rPr lang="en-US" sz="1350" dirty="0">
                <a:solidFill>
                  <a:srgbClr val="666666"/>
                </a:solidFill>
                <a:latin typeface="Arial" pitchFamily="34" charset="0"/>
                <a:ea typeface="Arial" pitchFamily="34" charset="-122"/>
                <a:cs typeface="Arial" pitchFamily="34" charset="-120"/>
              </a:rPr>
              <a:t> of unfiltered solar, 24/7. Orbital compute sidesteps Earth's bottlenecks.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pic>
        <p:nvPicPr>
          <p:cNvPr id="7" name="Image 0" descr="slides-images/orbital.png">    </p:cNvPr>
          <p:cNvPicPr>
            <a:picLocks noChangeAspect="1"/>
          </p:cNvPicPr>
          <p:nvPr/>
        </p:nvPicPr>
        <p:blipFill>
          <a:blip r:embed="rId1"/>
          <a:srcRect l="0" r="0" t="0" b="0"/>
          <a:stretch/>
        </p:blipFill>
        <p:spPr>
          <a:xfrm>
            <a:off x="5349240" y="1463040"/>
            <a:ext cx="3337560" cy="3474720"/>
          </a:xfrm>
          <a:prstGeom prst="rect">
            <a:avLst/>
          </a:prstGeom>
        </p:spPr>
      </p:pic>
      <p:sp>
        <p:nvSpPr>
          <p:cNvPr id="8" name="Shape 5"/>
          <p:cNvSpPr/>
          <p:nvPr/>
        </p:nvSpPr>
        <p:spPr>
          <a:xfrm>
            <a:off x="457200" y="1463040"/>
            <a:ext cx="4709160" cy="320040"/>
          </a:xfrm>
          <a:prstGeom prst="rect">
            <a:avLst/>
          </a:prstGeom>
          <a:solidFill>
            <a:srgbClr val="333333"/>
          </a:solidFill>
          <a:ln w="12700">
            <a:solidFill>
              <a:srgbClr val="333333"/>
            </a:solidFill>
            <a:prstDash val="solid"/>
          </a:ln>
        </p:spPr>
      </p:sp>
      <p:sp>
        <p:nvSpPr>
          <p:cNvPr id="9" name="Text 6"/>
          <p:cNvSpPr/>
          <p:nvPr/>
        </p:nvSpPr>
        <p:spPr>
          <a:xfrm>
            <a:off x="457200" y="146304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NO GRID QUEUE</a:t>
            </a:r>
            <a:endParaRPr lang="en-US" sz="1100" dirty="0"/>
          </a:p>
        </p:txBody>
      </p:sp>
      <p:sp>
        <p:nvSpPr>
          <p:cNvPr id="10" name="Shape 7"/>
          <p:cNvSpPr/>
          <p:nvPr/>
        </p:nvSpPr>
        <p:spPr>
          <a:xfrm>
            <a:off x="457200" y="1783080"/>
            <a:ext cx="4709160" cy="868680"/>
          </a:xfrm>
          <a:prstGeom prst="rect">
            <a:avLst/>
          </a:prstGeom>
          <a:solidFill>
            <a:srgbClr val="F9F9F9"/>
          </a:solidFill>
          <a:ln w="6350">
            <a:solidFill>
              <a:srgbClr val="E5E5E5"/>
            </a:solidFill>
            <a:prstDash val="solid"/>
          </a:ln>
        </p:spPr>
      </p:sp>
      <p:sp>
        <p:nvSpPr>
          <p:cNvPr id="11" name="Text 8"/>
          <p:cNvSpPr/>
          <p:nvPr/>
        </p:nvSpPr>
        <p:spPr>
          <a:xfrm>
            <a:off x="685800" y="1828800"/>
            <a:ext cx="4343400" cy="79552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Earth's interconnection backlogs, zoning battles, and cooling constraints don't exist in orbit.</a:t>
            </a:r>
            <a:endParaRPr lang="en-US" sz="1000" dirty="0"/>
          </a:p>
        </p:txBody>
      </p:sp>
      <p:sp>
        <p:nvSpPr>
          <p:cNvPr id="12" name="Shape 9"/>
          <p:cNvSpPr/>
          <p:nvPr/>
        </p:nvSpPr>
        <p:spPr>
          <a:xfrm>
            <a:off x="457200" y="2697480"/>
            <a:ext cx="4709160" cy="320040"/>
          </a:xfrm>
          <a:prstGeom prst="rect">
            <a:avLst/>
          </a:prstGeom>
          <a:solidFill>
            <a:srgbClr val="333333"/>
          </a:solidFill>
          <a:ln w="12700">
            <a:solidFill>
              <a:srgbClr val="333333"/>
            </a:solidFill>
            <a:prstDash val="solid"/>
          </a:ln>
        </p:spPr>
      </p:sp>
      <p:sp>
        <p:nvSpPr>
          <p:cNvPr id="13" name="Text 10"/>
          <p:cNvSpPr/>
          <p:nvPr/>
        </p:nvSpPr>
        <p:spPr>
          <a:xfrm>
            <a:off x="457200" y="269748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UNLIMITED SOLAR</a:t>
            </a:r>
            <a:endParaRPr lang="en-US" sz="1100" dirty="0"/>
          </a:p>
        </p:txBody>
      </p:sp>
      <p:sp>
        <p:nvSpPr>
          <p:cNvPr id="14" name="Shape 11"/>
          <p:cNvSpPr/>
          <p:nvPr/>
        </p:nvSpPr>
        <p:spPr>
          <a:xfrm>
            <a:off x="457200" y="3017520"/>
            <a:ext cx="4709160" cy="868680"/>
          </a:xfrm>
          <a:prstGeom prst="rect">
            <a:avLst/>
          </a:prstGeom>
          <a:solidFill>
            <a:srgbClr val="F9F9F9"/>
          </a:solidFill>
          <a:ln w="6350">
            <a:solidFill>
              <a:srgbClr val="E5E5E5"/>
            </a:solidFill>
            <a:prstDash val="solid"/>
          </a:ln>
        </p:spPr>
      </p:sp>
      <p:sp>
        <p:nvSpPr>
          <p:cNvPr id="15" name="Text 12"/>
          <p:cNvSpPr/>
          <p:nvPr/>
        </p:nvSpPr>
        <p:spPr>
          <a:xfrm>
            <a:off x="685800" y="3063240"/>
            <a:ext cx="4343400" cy="79552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1,361 W/m² of unfiltered sunlight, 24/7 — no intermittency, no capacity-factor limits.</a:t>
            </a:r>
            <a:endParaRPr lang="en-US" sz="1000" dirty="0"/>
          </a:p>
        </p:txBody>
      </p:sp>
      <p:sp>
        <p:nvSpPr>
          <p:cNvPr id="16" name="Shape 13"/>
          <p:cNvSpPr/>
          <p:nvPr/>
        </p:nvSpPr>
        <p:spPr>
          <a:xfrm>
            <a:off x="457200" y="3931920"/>
            <a:ext cx="4709160" cy="320040"/>
          </a:xfrm>
          <a:prstGeom prst="rect">
            <a:avLst/>
          </a:prstGeom>
          <a:solidFill>
            <a:srgbClr val="333333"/>
          </a:solidFill>
          <a:ln w="12700">
            <a:solidFill>
              <a:srgbClr val="333333"/>
            </a:solidFill>
            <a:prstDash val="solid"/>
          </a:ln>
        </p:spPr>
      </p:sp>
      <p:sp>
        <p:nvSpPr>
          <p:cNvPr id="17" name="Text 14"/>
          <p:cNvSpPr/>
          <p:nvPr/>
        </p:nvSpPr>
        <p:spPr>
          <a:xfrm>
            <a:off x="457200" y="393192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BEYOND BORDERS</a:t>
            </a:r>
            <a:endParaRPr lang="en-US" sz="1100" dirty="0"/>
          </a:p>
        </p:txBody>
      </p:sp>
      <p:sp>
        <p:nvSpPr>
          <p:cNvPr id="18" name="Shape 15"/>
          <p:cNvSpPr/>
          <p:nvPr/>
        </p:nvSpPr>
        <p:spPr>
          <a:xfrm>
            <a:off x="457200" y="4251960"/>
            <a:ext cx="4709160" cy="868680"/>
          </a:xfrm>
          <a:prstGeom prst="rect">
            <a:avLst/>
          </a:prstGeom>
          <a:solidFill>
            <a:srgbClr val="F9F9F9"/>
          </a:solidFill>
          <a:ln w="6350">
            <a:solidFill>
              <a:srgbClr val="E5E5E5"/>
            </a:solidFill>
            <a:prstDash val="solid"/>
          </a:ln>
        </p:spPr>
      </p:sp>
      <p:sp>
        <p:nvSpPr>
          <p:cNvPr id="19" name="Text 16"/>
          <p:cNvSpPr/>
          <p:nvPr/>
        </p:nvSpPr>
        <p:spPr>
          <a:xfrm>
            <a:off x="685800" y="4297680"/>
            <a:ext cx="4343400" cy="79552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Sidesteps data-localization laws, export controls, and the jurisdictional patchwork.</a:t>
            </a:r>
            <a:endParaRPr lang="en-US" sz="1000" dirty="0"/>
          </a:p>
        </p:txBody>
      </p:sp>
      <p:sp>
        <p:nvSpPr>
          <p:cNvPr id="20" name="Shape 17"/>
          <p:cNvSpPr/>
          <p:nvPr/>
        </p:nvSpPr>
        <p:spPr>
          <a:xfrm>
            <a:off x="457200" y="5349240"/>
            <a:ext cx="8229600" cy="365760"/>
          </a:xfrm>
          <a:prstGeom prst="rect">
            <a:avLst/>
          </a:prstGeom>
          <a:solidFill>
            <a:srgbClr val="333333"/>
          </a:solidFill>
          <a:ln w="12700">
            <a:solidFill>
              <a:srgbClr val="333333"/>
            </a:solidFill>
            <a:prstDash val="solid"/>
          </a:ln>
        </p:spPr>
      </p:sp>
      <p:sp>
        <p:nvSpPr>
          <p:cNvPr id="21" name="Text 18"/>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Starcloud · SpaceX · Google Suncatcher · Aetherflux</a:t>
            </a:r>
            <a:pPr indent="0" marL="0">
              <a:buNone/>
            </a:pPr>
            <a:r>
              <a:rPr lang="en-US" sz="800" baseline="30000" dirty="0">
                <a:solidFill>
                  <a:srgbClr val="FFFFFF"/>
                </a:solidFill>
                <a:latin typeface="Arial" pitchFamily="34" charset="0"/>
                <a:ea typeface="Arial" pitchFamily="34" charset="-122"/>
                <a:cs typeface="Arial" pitchFamily="34" charset="-120"/>
              </a:rPr>
              <a:t> 2</a:t>
            </a:r>
            <a:endParaRPr lang="en-US" sz="950" dirty="0"/>
          </a:p>
        </p:txBody>
      </p:sp>
      <p:sp>
        <p:nvSpPr>
          <p:cNvPr id="22" name="Text 19"/>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NASA solar constant, 1,361 W/m² at 1 AU,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FCC filings; Starcloud, SpaceX, Google Suncatcher, Aetherflux announcements; CNBC.</a:t>
            </a:r>
            <a:endParaRPr lang="en-US" sz="700" dirty="0"/>
          </a:p>
        </p:txBody>
      </p:sp>
      <p:sp>
        <p:nvSpPr>
          <p:cNvPr id="23"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4"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5"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Humanoids hit pilot scale — every robot is an inference endpoint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Humanoids enter manufacturing, logistics, and healthcare at pilot scale. Every robot is an inference endpoint.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pic>
        <p:nvPicPr>
          <p:cNvPr id="7" name="Image 0" descr="slides-images/humanoid.png">    </p:cNvPr>
          <p:cNvPicPr>
            <a:picLocks noChangeAspect="1"/>
          </p:cNvPicPr>
          <p:nvPr/>
        </p:nvPicPr>
        <p:blipFill>
          <a:blip r:embed="rId1"/>
          <a:srcRect l="0" r="0" t="0" b="0"/>
          <a:stretch/>
        </p:blipFill>
        <p:spPr>
          <a:xfrm>
            <a:off x="1371600" y="1463040"/>
            <a:ext cx="6400800" cy="2011680"/>
          </a:xfrm>
          <a:prstGeom prst="rect">
            <a:avLst/>
          </a:prstGeom>
        </p:spPr>
      </p:pic>
      <p:sp>
        <p:nvSpPr>
          <p:cNvPr id="8" name="Shape 5"/>
          <p:cNvSpPr/>
          <p:nvPr/>
        </p:nvSpPr>
        <p:spPr>
          <a:xfrm>
            <a:off x="457200" y="3657600"/>
            <a:ext cx="2697480" cy="320040"/>
          </a:xfrm>
          <a:prstGeom prst="rect">
            <a:avLst/>
          </a:prstGeom>
          <a:solidFill>
            <a:srgbClr val="333333"/>
          </a:solidFill>
          <a:ln w="12700">
            <a:solidFill>
              <a:srgbClr val="333333"/>
            </a:solidFill>
            <a:prstDash val="solid"/>
          </a:ln>
        </p:spPr>
      </p:sp>
      <p:sp>
        <p:nvSpPr>
          <p:cNvPr id="9" name="Text 6"/>
          <p:cNvSpPr/>
          <p:nvPr/>
        </p:nvSpPr>
        <p:spPr>
          <a:xfrm>
            <a:off x="45720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PHYSICAL WORK</a:t>
            </a:r>
            <a:endParaRPr lang="en-US" sz="1100" dirty="0"/>
          </a:p>
        </p:txBody>
      </p:sp>
      <p:sp>
        <p:nvSpPr>
          <p:cNvPr id="10" name="Shape 7"/>
          <p:cNvSpPr/>
          <p:nvPr/>
        </p:nvSpPr>
        <p:spPr>
          <a:xfrm>
            <a:off x="457200" y="3977640"/>
            <a:ext cx="2697480" cy="1188720"/>
          </a:xfrm>
          <a:prstGeom prst="rect">
            <a:avLst/>
          </a:prstGeom>
          <a:solidFill>
            <a:srgbClr val="F9F9F9"/>
          </a:solidFill>
          <a:ln w="6350">
            <a:solidFill>
              <a:srgbClr val="E5E5E5"/>
            </a:solidFill>
            <a:prstDash val="solid"/>
          </a:ln>
        </p:spPr>
      </p:sp>
      <p:sp>
        <p:nvSpPr>
          <p:cNvPr id="11" name="Text 8"/>
          <p:cNvSpPr/>
          <p:nvPr/>
        </p:nvSpPr>
        <p:spPr>
          <a:xfrm>
            <a:off x="594360" y="4069080"/>
            <a:ext cx="2423160" cy="1051560"/>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Manufacturing, logistics, warehousing, agriculture, healthcare — pilots are underway.</a:t>
            </a:r>
            <a:pPr indent="0" marL="0">
              <a:buNone/>
            </a:pPr>
            <a:r>
              <a:rPr lang="en-US" sz="650" baseline="30000" dirty="0">
                <a:solidFill>
                  <a:srgbClr val="333333"/>
                </a:solidFill>
                <a:latin typeface="Arial" pitchFamily="34" charset="0"/>
                <a:ea typeface="Arial" pitchFamily="34" charset="-122"/>
                <a:cs typeface="Arial" pitchFamily="34" charset="-120"/>
              </a:rPr>
              <a:t> 1</a:t>
            </a:r>
            <a:endParaRPr lang="en-US" sz="1000" dirty="0"/>
          </a:p>
        </p:txBody>
      </p:sp>
      <p:sp>
        <p:nvSpPr>
          <p:cNvPr id="12" name="Shape 9"/>
          <p:cNvSpPr/>
          <p:nvPr/>
        </p:nvSpPr>
        <p:spPr>
          <a:xfrm>
            <a:off x="3291840" y="3657600"/>
            <a:ext cx="2697480" cy="320040"/>
          </a:xfrm>
          <a:prstGeom prst="rect">
            <a:avLst/>
          </a:prstGeom>
          <a:solidFill>
            <a:srgbClr val="333333"/>
          </a:solidFill>
          <a:ln w="12700">
            <a:solidFill>
              <a:srgbClr val="333333"/>
            </a:solidFill>
            <a:prstDash val="solid"/>
          </a:ln>
        </p:spPr>
      </p:sp>
      <p:sp>
        <p:nvSpPr>
          <p:cNvPr id="13" name="Text 10"/>
          <p:cNvSpPr/>
          <p:nvPr/>
        </p:nvSpPr>
        <p:spPr>
          <a:xfrm>
            <a:off x="329184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TIRELESS COWORKERS</a:t>
            </a:r>
            <a:endParaRPr lang="en-US" sz="1100" dirty="0"/>
          </a:p>
        </p:txBody>
      </p:sp>
      <p:sp>
        <p:nvSpPr>
          <p:cNvPr id="14" name="Shape 11"/>
          <p:cNvSpPr/>
          <p:nvPr/>
        </p:nvSpPr>
        <p:spPr>
          <a:xfrm>
            <a:off x="3291840" y="3977640"/>
            <a:ext cx="2697480" cy="1188720"/>
          </a:xfrm>
          <a:prstGeom prst="rect">
            <a:avLst/>
          </a:prstGeom>
          <a:solidFill>
            <a:srgbClr val="F9F9F9"/>
          </a:solidFill>
          <a:ln w="6350">
            <a:solidFill>
              <a:srgbClr val="E5E5E5"/>
            </a:solidFill>
            <a:prstDash val="solid"/>
          </a:ln>
        </p:spPr>
      </p:sp>
      <p:sp>
        <p:nvSpPr>
          <p:cNvPr id="15" name="Text 12"/>
          <p:cNvSpPr/>
          <p:nvPr/>
        </p:nvSpPr>
        <p:spPr>
          <a:xfrm>
            <a:off x="3429000" y="4069080"/>
            <a:ext cx="2423160" cy="1051560"/>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Humanoids take hazardous and ergonomically punishing tasks. Humans keep judgment.</a:t>
            </a:r>
            <a:endParaRPr lang="en-US" sz="1000" dirty="0"/>
          </a:p>
        </p:txBody>
      </p:sp>
      <p:sp>
        <p:nvSpPr>
          <p:cNvPr id="16" name="Shape 13"/>
          <p:cNvSpPr/>
          <p:nvPr/>
        </p:nvSpPr>
        <p:spPr>
          <a:xfrm>
            <a:off x="6126480" y="3657600"/>
            <a:ext cx="2697480" cy="320040"/>
          </a:xfrm>
          <a:prstGeom prst="rect">
            <a:avLst/>
          </a:prstGeom>
          <a:solidFill>
            <a:srgbClr val="333333"/>
          </a:solidFill>
          <a:ln w="12700">
            <a:solidFill>
              <a:srgbClr val="333333"/>
            </a:solidFill>
            <a:prstDash val="solid"/>
          </a:ln>
        </p:spPr>
      </p:sp>
      <p:sp>
        <p:nvSpPr>
          <p:cNvPr id="17" name="Text 14"/>
          <p:cNvSpPr/>
          <p:nvPr/>
        </p:nvSpPr>
        <p:spPr>
          <a:xfrm>
            <a:off x="612648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INFERENCE AT THE EDGE</a:t>
            </a:r>
            <a:endParaRPr lang="en-US" sz="1100" dirty="0"/>
          </a:p>
        </p:txBody>
      </p:sp>
      <p:sp>
        <p:nvSpPr>
          <p:cNvPr id="18" name="Shape 15"/>
          <p:cNvSpPr/>
          <p:nvPr/>
        </p:nvSpPr>
        <p:spPr>
          <a:xfrm>
            <a:off x="6126480" y="3977640"/>
            <a:ext cx="2697480" cy="1188720"/>
          </a:xfrm>
          <a:prstGeom prst="rect">
            <a:avLst/>
          </a:prstGeom>
          <a:solidFill>
            <a:srgbClr val="F9F9F9"/>
          </a:solidFill>
          <a:ln w="6350">
            <a:solidFill>
              <a:srgbClr val="E5E5E5"/>
            </a:solidFill>
            <a:prstDash val="solid"/>
          </a:ln>
        </p:spPr>
      </p:sp>
      <p:sp>
        <p:nvSpPr>
          <p:cNvPr id="19" name="Text 16"/>
          <p:cNvSpPr/>
          <p:nvPr/>
        </p:nvSpPr>
        <p:spPr>
          <a:xfrm>
            <a:off x="6263640" y="4069080"/>
            <a:ext cx="2423160" cy="1051560"/>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Every robot runs foundation models in real time. At scale, rivals LLM compute.</a:t>
            </a:r>
            <a:pPr indent="0" marL="0">
              <a:buNone/>
            </a:pPr>
            <a:r>
              <a:rPr lang="en-US" sz="650" baseline="30000" dirty="0">
                <a:solidFill>
                  <a:srgbClr val="333333"/>
                </a:solidFill>
                <a:latin typeface="Arial" pitchFamily="34" charset="0"/>
                <a:ea typeface="Arial" pitchFamily="34" charset="-122"/>
                <a:cs typeface="Arial" pitchFamily="34" charset="-120"/>
              </a:rPr>
              <a:t> 2</a:t>
            </a:r>
            <a:endParaRPr lang="en-US" sz="1000" dirty="0"/>
          </a:p>
        </p:txBody>
      </p:sp>
      <p:sp>
        <p:nvSpPr>
          <p:cNvPr id="20" name="Shape 17"/>
          <p:cNvSpPr/>
          <p:nvPr/>
        </p:nvSpPr>
        <p:spPr>
          <a:xfrm>
            <a:off x="457200" y="5349240"/>
            <a:ext cx="8229600" cy="365760"/>
          </a:xfrm>
          <a:prstGeom prst="rect">
            <a:avLst/>
          </a:prstGeom>
          <a:solidFill>
            <a:srgbClr val="333333"/>
          </a:solidFill>
          <a:ln w="12700">
            <a:solidFill>
              <a:srgbClr val="333333"/>
            </a:solidFill>
            <a:prstDash val="solid"/>
          </a:ln>
        </p:spPr>
      </p:sp>
      <p:sp>
        <p:nvSpPr>
          <p:cNvPr id="21" name="Text 18"/>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Tesla Optimus · Figure · Boston Dynamics · Unitree · Agility</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2" name="Text 19"/>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Goldman Sachs — humanoid robotics market outlook,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robotics compute keynotes,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Tesla, Figure AI, Hyundai/Boston Dynamics, Unitree, Agility — company announcements.</a:t>
            </a:r>
            <a:endParaRPr lang="en-US" sz="700" dirty="0"/>
          </a:p>
        </p:txBody>
      </p:sp>
      <p:sp>
        <p:nvSpPr>
          <p:cNvPr id="23"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4"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5"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Every autonomous mile compounds — each AV runs frontier compute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More miles → better models → more deployments. Every vehicle is a rolling inference machine consuming frontier-scale compute.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pic>
        <p:nvPicPr>
          <p:cNvPr id="7" name="Image 0" descr="slides-images/robotaxi.png">    </p:cNvPr>
          <p:cNvPicPr>
            <a:picLocks noChangeAspect="1"/>
          </p:cNvPicPr>
          <p:nvPr/>
        </p:nvPicPr>
        <p:blipFill>
          <a:blip r:embed="rId1"/>
          <a:srcRect l="0" r="0" t="0" b="0"/>
          <a:stretch/>
        </p:blipFill>
        <p:spPr>
          <a:xfrm>
            <a:off x="457200" y="1463040"/>
            <a:ext cx="2560320" cy="3794760"/>
          </a:xfrm>
          <a:prstGeom prst="rect">
            <a:avLst/>
          </a:prstGeom>
        </p:spPr>
      </p:pic>
      <p:sp>
        <p:nvSpPr>
          <p:cNvPr id="8" name="Shape 5"/>
          <p:cNvSpPr/>
          <p:nvPr/>
        </p:nvSpPr>
        <p:spPr>
          <a:xfrm>
            <a:off x="3200400" y="1463040"/>
            <a:ext cx="5486400" cy="320040"/>
          </a:xfrm>
          <a:prstGeom prst="rect">
            <a:avLst/>
          </a:prstGeom>
          <a:solidFill>
            <a:srgbClr val="333333"/>
          </a:solidFill>
          <a:ln w="12700">
            <a:solidFill>
              <a:srgbClr val="333333"/>
            </a:solidFill>
            <a:prstDash val="solid"/>
          </a:ln>
        </p:spPr>
      </p:sp>
      <p:sp>
        <p:nvSpPr>
          <p:cNvPr id="9" name="Text 6"/>
          <p:cNvSpPr/>
          <p:nvPr/>
        </p:nvSpPr>
        <p:spPr>
          <a:xfrm>
            <a:off x="3200400" y="146304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THE SAFETY CASE</a:t>
            </a:r>
            <a:endParaRPr lang="en-US" sz="1100" dirty="0"/>
          </a:p>
        </p:txBody>
      </p:sp>
      <p:sp>
        <p:nvSpPr>
          <p:cNvPr id="10" name="Shape 7"/>
          <p:cNvSpPr/>
          <p:nvPr/>
        </p:nvSpPr>
        <p:spPr>
          <a:xfrm>
            <a:off x="3200400" y="1783080"/>
            <a:ext cx="5486400" cy="822960"/>
          </a:xfrm>
          <a:prstGeom prst="rect">
            <a:avLst/>
          </a:prstGeom>
          <a:solidFill>
            <a:srgbClr val="F9F9F9"/>
          </a:solidFill>
          <a:ln w="6350">
            <a:solidFill>
              <a:srgbClr val="E5E5E5"/>
            </a:solidFill>
            <a:prstDash val="solid"/>
          </a:ln>
        </p:spPr>
      </p:sp>
      <p:sp>
        <p:nvSpPr>
          <p:cNvPr id="11" name="Text 8"/>
          <p:cNvSpPr/>
          <p:nvPr/>
        </p:nvSpPr>
        <p:spPr>
          <a:xfrm>
            <a:off x="3337560" y="182880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Human drivers cause ~1.35M deaths a year.</a:t>
            </a:r>
            <a:pPr indent="0" marL="0">
              <a:buNone/>
            </a:pPr>
            <a:r>
              <a:rPr lang="en-US" sz="700" baseline="30000" dirty="0">
                <a:solidFill>
                  <a:srgbClr val="333333"/>
                </a:solidFill>
                <a:latin typeface="Arial" pitchFamily="34" charset="0"/>
                <a:ea typeface="Arial" pitchFamily="34" charset="-122"/>
                <a:cs typeface="Arial" pitchFamily="34" charset="-120"/>
              </a:rPr>
              <a:t> 1</a:t>
            </a:r>
            <a:pPr indent="0" marL="0">
              <a:buNone/>
            </a:pPr>
            <a:r>
              <a:rPr lang="en-US" sz="1050" dirty="0">
                <a:solidFill>
                  <a:srgbClr val="333333"/>
                </a:solidFill>
                <a:latin typeface="Arial" pitchFamily="34" charset="0"/>
                <a:ea typeface="Arial" pitchFamily="34" charset="-122"/>
                <a:cs typeface="Arial" pitchFamily="34" charset="-120"/>
              </a:rPr>
              <a:t> Autonomous systems don't tire or lose focus.</a:t>
            </a:r>
            <a:endParaRPr lang="en-US" sz="1050" dirty="0"/>
          </a:p>
        </p:txBody>
      </p:sp>
      <p:sp>
        <p:nvSpPr>
          <p:cNvPr id="12" name="Shape 9"/>
          <p:cNvSpPr/>
          <p:nvPr/>
        </p:nvSpPr>
        <p:spPr>
          <a:xfrm>
            <a:off x="3200400" y="2743200"/>
            <a:ext cx="5486400" cy="320040"/>
          </a:xfrm>
          <a:prstGeom prst="rect">
            <a:avLst/>
          </a:prstGeom>
          <a:solidFill>
            <a:srgbClr val="333333"/>
          </a:solidFill>
          <a:ln w="12700">
            <a:solidFill>
              <a:srgbClr val="333333"/>
            </a:solidFill>
            <a:prstDash val="solid"/>
          </a:ln>
        </p:spPr>
      </p:sp>
      <p:sp>
        <p:nvSpPr>
          <p:cNvPr id="13" name="Text 10"/>
          <p:cNvSpPr/>
          <p:nvPr/>
        </p:nvSpPr>
        <p:spPr>
          <a:xfrm>
            <a:off x="3200400" y="274320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DATA FLYWHEEL</a:t>
            </a:r>
            <a:endParaRPr lang="en-US" sz="1100" dirty="0"/>
          </a:p>
        </p:txBody>
      </p:sp>
      <p:sp>
        <p:nvSpPr>
          <p:cNvPr id="14" name="Shape 11"/>
          <p:cNvSpPr/>
          <p:nvPr/>
        </p:nvSpPr>
        <p:spPr>
          <a:xfrm>
            <a:off x="3200400" y="3063240"/>
            <a:ext cx="5486400" cy="822960"/>
          </a:xfrm>
          <a:prstGeom prst="rect">
            <a:avLst/>
          </a:prstGeom>
          <a:solidFill>
            <a:srgbClr val="F9F9F9"/>
          </a:solidFill>
          <a:ln w="6350">
            <a:solidFill>
              <a:srgbClr val="E5E5E5"/>
            </a:solidFill>
            <a:prstDash val="solid"/>
          </a:ln>
        </p:spPr>
      </p:sp>
      <p:sp>
        <p:nvSpPr>
          <p:cNvPr id="15" name="Text 12"/>
          <p:cNvSpPr/>
          <p:nvPr/>
        </p:nvSpPr>
        <p:spPr>
          <a:xfrm>
            <a:off x="3337560" y="310896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Every mile generates training data. Better models unlock more cities. Flywheel self-reinforces.</a:t>
            </a:r>
            <a:endParaRPr lang="en-US" sz="1050" dirty="0"/>
          </a:p>
        </p:txBody>
      </p:sp>
      <p:sp>
        <p:nvSpPr>
          <p:cNvPr id="16" name="Shape 13"/>
          <p:cNvSpPr/>
          <p:nvPr/>
        </p:nvSpPr>
        <p:spPr>
          <a:xfrm>
            <a:off x="3200400" y="4023360"/>
            <a:ext cx="5486400" cy="320040"/>
          </a:xfrm>
          <a:prstGeom prst="rect">
            <a:avLst/>
          </a:prstGeom>
          <a:solidFill>
            <a:srgbClr val="333333"/>
          </a:solidFill>
          <a:ln w="12700">
            <a:solidFill>
              <a:srgbClr val="333333"/>
            </a:solidFill>
            <a:prstDash val="solid"/>
          </a:ln>
        </p:spPr>
      </p:sp>
      <p:sp>
        <p:nvSpPr>
          <p:cNvPr id="17" name="Text 14"/>
          <p:cNvSpPr/>
          <p:nvPr/>
        </p:nvSpPr>
        <p:spPr>
          <a:xfrm>
            <a:off x="3200400" y="402336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EDGE INFERENCE</a:t>
            </a:r>
            <a:endParaRPr lang="en-US" sz="1100" dirty="0"/>
          </a:p>
        </p:txBody>
      </p:sp>
      <p:sp>
        <p:nvSpPr>
          <p:cNvPr id="18" name="Shape 15"/>
          <p:cNvSpPr/>
          <p:nvPr/>
        </p:nvSpPr>
        <p:spPr>
          <a:xfrm>
            <a:off x="3200400" y="4343400"/>
            <a:ext cx="5486400" cy="822960"/>
          </a:xfrm>
          <a:prstGeom prst="rect">
            <a:avLst/>
          </a:prstGeom>
          <a:solidFill>
            <a:srgbClr val="F9F9F9"/>
          </a:solidFill>
          <a:ln w="6350">
            <a:solidFill>
              <a:srgbClr val="E5E5E5"/>
            </a:solidFill>
            <a:prstDash val="solid"/>
          </a:ln>
        </p:spPr>
      </p:sp>
      <p:sp>
        <p:nvSpPr>
          <p:cNvPr id="19" name="Text 16"/>
          <p:cNvSpPr/>
          <p:nvPr/>
        </p:nvSpPr>
        <p:spPr>
          <a:xfrm>
            <a:off x="3337560" y="438912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Each AV runs thousands of AI ops / second across cameras, lidar, radar — frontier-scale compute.</a:t>
            </a:r>
            <a:pPr indent="0" marL="0">
              <a:buNone/>
            </a:pPr>
            <a:r>
              <a:rPr lang="en-US" sz="700" baseline="30000" dirty="0">
                <a:solidFill>
                  <a:srgbClr val="333333"/>
                </a:solidFill>
                <a:latin typeface="Arial" pitchFamily="34" charset="0"/>
                <a:ea typeface="Arial" pitchFamily="34" charset="-122"/>
                <a:cs typeface="Arial" pitchFamily="34" charset="-120"/>
              </a:rPr>
              <a:t> 2</a:t>
            </a:r>
            <a:endParaRPr lang="en-US" sz="1050" dirty="0"/>
          </a:p>
        </p:txBody>
      </p:sp>
      <p:sp>
        <p:nvSpPr>
          <p:cNvPr id="20" name="Shape 17"/>
          <p:cNvSpPr/>
          <p:nvPr/>
        </p:nvSpPr>
        <p:spPr>
          <a:xfrm>
            <a:off x="457200" y="5394960"/>
            <a:ext cx="8229600" cy="320040"/>
          </a:xfrm>
          <a:prstGeom prst="rect">
            <a:avLst/>
          </a:prstGeom>
          <a:solidFill>
            <a:srgbClr val="333333"/>
          </a:solidFill>
          <a:ln w="12700">
            <a:solidFill>
              <a:srgbClr val="333333"/>
            </a:solidFill>
            <a:prstDash val="solid"/>
          </a:ln>
        </p:spPr>
      </p:sp>
      <p:sp>
        <p:nvSpPr>
          <p:cNvPr id="21" name="Text 18"/>
          <p:cNvSpPr/>
          <p:nvPr/>
        </p:nvSpPr>
        <p:spPr>
          <a:xfrm>
            <a:off x="640080" y="5394960"/>
            <a:ext cx="7863840" cy="32004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Waymo · Tesla FSD · Baidu Apollo · Aurora</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2" name="Text 19"/>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WHO Global Road Safety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automotive/DRIVE platform,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Waymo, Tesla, Baidu Apollo, Aurora — company disclosures.</a:t>
            </a:r>
            <a:endParaRPr lang="en-US" sz="700" dirty="0"/>
          </a:p>
        </p:txBody>
      </p:sp>
      <p:sp>
        <p:nvSpPr>
          <p:cNvPr id="23"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4"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5"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is rewriting drug discovery.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mechanisms compress the R&amp;D cycle's earliest stages from years to hours. Clinical trials still take years — AI collapses the design stage, not the regulatory one.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pic>
        <p:nvPicPr>
          <p:cNvPr id="7" name="Image 0" descr="slides-images/protein.png">    </p:cNvPr>
          <p:cNvPicPr>
            <a:picLocks noChangeAspect="1"/>
          </p:cNvPicPr>
          <p:nvPr/>
        </p:nvPicPr>
        <p:blipFill>
          <a:blip r:embed="rId1"/>
          <a:srcRect l="0" r="0" t="0" b="0"/>
          <a:stretch/>
        </p:blipFill>
        <p:spPr>
          <a:xfrm>
            <a:off x="457200" y="1691640"/>
            <a:ext cx="3017520" cy="3355848"/>
          </a:xfrm>
          <a:prstGeom prst="rect">
            <a:avLst/>
          </a:prstGeom>
        </p:spPr>
      </p:pic>
      <p:sp>
        <p:nvSpPr>
          <p:cNvPr id="8" name="Shape 5"/>
          <p:cNvSpPr/>
          <p:nvPr/>
        </p:nvSpPr>
        <p:spPr>
          <a:xfrm>
            <a:off x="3657600" y="1691640"/>
            <a:ext cx="5029200" cy="1069848"/>
          </a:xfrm>
          <a:prstGeom prst="rect">
            <a:avLst/>
          </a:prstGeom>
          <a:solidFill>
            <a:srgbClr val="F9F9F9"/>
          </a:solidFill>
          <a:ln w="6350">
            <a:solidFill>
              <a:srgbClr val="E5E5E5"/>
            </a:solidFill>
            <a:prstDash val="solid"/>
          </a:ln>
        </p:spPr>
      </p:sp>
      <p:sp>
        <p:nvSpPr>
          <p:cNvPr id="9" name="Shape 6"/>
          <p:cNvSpPr/>
          <p:nvPr/>
        </p:nvSpPr>
        <p:spPr>
          <a:xfrm>
            <a:off x="3657600" y="1691640"/>
            <a:ext cx="5029200" cy="292608"/>
          </a:xfrm>
          <a:prstGeom prst="rect">
            <a:avLst/>
          </a:prstGeom>
          <a:solidFill>
            <a:srgbClr val="333333"/>
          </a:solidFill>
          <a:ln w="12700">
            <a:solidFill>
              <a:srgbClr val="333333"/>
            </a:solidFill>
            <a:prstDash val="solid"/>
          </a:ln>
        </p:spPr>
      </p:sp>
      <p:sp>
        <p:nvSpPr>
          <p:cNvPr id="10" name="Text 7"/>
          <p:cNvSpPr/>
          <p:nvPr/>
        </p:nvSpPr>
        <p:spPr>
          <a:xfrm>
            <a:off x="3822192" y="1691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01   </a:t>
            </a:r>
            <a:pPr indent="0" marL="0">
              <a:buNone/>
            </a:pPr>
            <a:r>
              <a:rPr lang="en-US" sz="1050" b="1" spc="200" kern="0" dirty="0">
                <a:solidFill>
                  <a:srgbClr val="FFFFFF"/>
                </a:solidFill>
                <a:latin typeface="Arial" pitchFamily="34" charset="0"/>
                <a:ea typeface="Arial" pitchFamily="34" charset="-122"/>
                <a:cs typeface="Arial" pitchFamily="34" charset="-120"/>
              </a:rPr>
              <a:t>STRUCTURE PREDICTION</a:t>
            </a:r>
            <a:endParaRPr lang="en-US" sz="1050" dirty="0"/>
          </a:p>
        </p:txBody>
      </p:sp>
      <p:sp>
        <p:nvSpPr>
          <p:cNvPr id="11" name="Text 8"/>
          <p:cNvSpPr/>
          <p:nvPr/>
        </p:nvSpPr>
        <p:spPr>
          <a:xfrm>
            <a:off x="3840480" y="2029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Predicting a protein's 3D shape from its amino-acid sequence was a 50-year unsolved problem. Crystallography took months per protein. Deep learning now infers structure in seconds</a:t>
            </a:r>
            <a:pPr indent="0" marL="0">
              <a:buNone/>
            </a:pPr>
            <a:r>
              <a:rPr lang="en-US" sz="650" baseline="30000" dirty="0">
                <a:solidFill>
                  <a:srgbClr val="333333"/>
                </a:solidFill>
                <a:latin typeface="Arial" pitchFamily="34" charset="0"/>
                <a:ea typeface="Arial" pitchFamily="34" charset="-122"/>
                <a:cs typeface="Arial" pitchFamily="34" charset="-120"/>
              </a:rPr>
              <a:t> 1</a:t>
            </a:r>
            <a:pPr indent="0" marL="0">
              <a:buNone/>
            </a:pPr>
            <a:r>
              <a:rPr lang="en-US" sz="950" dirty="0">
                <a:solidFill>
                  <a:srgbClr val="333333"/>
                </a:solidFill>
                <a:latin typeface="Arial" pitchFamily="34" charset="0"/>
                <a:ea typeface="Arial" pitchFamily="34" charset="-122"/>
                <a:cs typeface="Arial" pitchFamily="34" charset="-120"/>
              </a:rPr>
              <a:t> — unlocking every drug target at once.</a:t>
            </a:r>
            <a:endParaRPr lang="en-US" sz="950" dirty="0"/>
          </a:p>
        </p:txBody>
      </p:sp>
      <p:sp>
        <p:nvSpPr>
          <p:cNvPr id="12" name="Shape 9"/>
          <p:cNvSpPr/>
          <p:nvPr/>
        </p:nvSpPr>
        <p:spPr>
          <a:xfrm>
            <a:off x="3657600" y="2834640"/>
            <a:ext cx="5029200" cy="1069848"/>
          </a:xfrm>
          <a:prstGeom prst="rect">
            <a:avLst/>
          </a:prstGeom>
          <a:solidFill>
            <a:srgbClr val="F9F9F9"/>
          </a:solidFill>
          <a:ln w="6350">
            <a:solidFill>
              <a:srgbClr val="E5E5E5"/>
            </a:solidFill>
            <a:prstDash val="solid"/>
          </a:ln>
        </p:spPr>
      </p:sp>
      <p:sp>
        <p:nvSpPr>
          <p:cNvPr id="13" name="Shape 10"/>
          <p:cNvSpPr/>
          <p:nvPr/>
        </p:nvSpPr>
        <p:spPr>
          <a:xfrm>
            <a:off x="3657600" y="2834640"/>
            <a:ext cx="5029200" cy="292608"/>
          </a:xfrm>
          <a:prstGeom prst="rect">
            <a:avLst/>
          </a:prstGeom>
          <a:solidFill>
            <a:srgbClr val="333333"/>
          </a:solidFill>
          <a:ln w="12700">
            <a:solidFill>
              <a:srgbClr val="333333"/>
            </a:solidFill>
            <a:prstDash val="solid"/>
          </a:ln>
        </p:spPr>
      </p:sp>
      <p:sp>
        <p:nvSpPr>
          <p:cNvPr id="14" name="Text 11"/>
          <p:cNvSpPr/>
          <p:nvPr/>
        </p:nvSpPr>
        <p:spPr>
          <a:xfrm>
            <a:off x="3822192" y="2834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02   </a:t>
            </a:r>
            <a:pPr indent="0" marL="0">
              <a:buNone/>
            </a:pPr>
            <a:r>
              <a:rPr lang="en-US" sz="1050" b="1" spc="200" kern="0" dirty="0">
                <a:solidFill>
                  <a:srgbClr val="FFFFFF"/>
                </a:solidFill>
                <a:latin typeface="Arial" pitchFamily="34" charset="0"/>
                <a:ea typeface="Arial" pitchFamily="34" charset="-122"/>
                <a:cs typeface="Arial" pitchFamily="34" charset="-120"/>
              </a:rPr>
              <a:t>GENERATIVE MOLECULE DESIGN</a:t>
            </a:r>
            <a:endParaRPr lang="en-US" sz="1050" dirty="0"/>
          </a:p>
        </p:txBody>
      </p:sp>
      <p:sp>
        <p:nvSpPr>
          <p:cNvPr id="15" name="Text 12"/>
          <p:cNvSpPr/>
          <p:nvPr/>
        </p:nvSpPr>
        <p:spPr>
          <a:xfrm>
            <a:off x="3840480" y="3172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There are ~10⁶⁰ drug-like small molecules.</a:t>
            </a:r>
            <a:pPr indent="0" marL="0">
              <a:buNone/>
            </a:pPr>
            <a:r>
              <a:rPr lang="en-US" sz="650" baseline="30000" dirty="0">
                <a:solidFill>
                  <a:srgbClr val="333333"/>
                </a:solidFill>
                <a:latin typeface="Arial" pitchFamily="34" charset="0"/>
                <a:ea typeface="Arial" pitchFamily="34" charset="-122"/>
                <a:cs typeface="Arial" pitchFamily="34" charset="-120"/>
              </a:rPr>
              <a:t> 2</a:t>
            </a:r>
            <a:pPr indent="0" marL="0">
              <a:buNone/>
            </a:pPr>
            <a:r>
              <a:rPr lang="en-US" sz="950" dirty="0">
                <a:solidFill>
                  <a:srgbClr val="333333"/>
                </a:solidFill>
                <a:latin typeface="Arial" pitchFamily="34" charset="0"/>
                <a:ea typeface="Arial" pitchFamily="34" charset="-122"/>
                <a:cs typeface="Arial" pitchFamily="34" charset="-120"/>
              </a:rPr>
              <a:t> Wet labs can screen millions. Generative models search the rest — proposing novel binders optimized for selectivity, potency, and drug-like properties.</a:t>
            </a:r>
            <a:endParaRPr lang="en-US" sz="950" dirty="0"/>
          </a:p>
        </p:txBody>
      </p:sp>
      <p:sp>
        <p:nvSpPr>
          <p:cNvPr id="16" name="Shape 13"/>
          <p:cNvSpPr/>
          <p:nvPr/>
        </p:nvSpPr>
        <p:spPr>
          <a:xfrm>
            <a:off x="3657600" y="3977640"/>
            <a:ext cx="5029200" cy="1069848"/>
          </a:xfrm>
          <a:prstGeom prst="rect">
            <a:avLst/>
          </a:prstGeom>
          <a:solidFill>
            <a:srgbClr val="F9F9F9"/>
          </a:solidFill>
          <a:ln w="6350">
            <a:solidFill>
              <a:srgbClr val="E5E5E5"/>
            </a:solidFill>
            <a:prstDash val="solid"/>
          </a:ln>
        </p:spPr>
      </p:sp>
      <p:sp>
        <p:nvSpPr>
          <p:cNvPr id="17" name="Shape 14"/>
          <p:cNvSpPr/>
          <p:nvPr/>
        </p:nvSpPr>
        <p:spPr>
          <a:xfrm>
            <a:off x="3657600" y="3977640"/>
            <a:ext cx="5029200" cy="292608"/>
          </a:xfrm>
          <a:prstGeom prst="rect">
            <a:avLst/>
          </a:prstGeom>
          <a:solidFill>
            <a:srgbClr val="333333"/>
          </a:solidFill>
          <a:ln w="12700">
            <a:solidFill>
              <a:srgbClr val="333333"/>
            </a:solidFill>
            <a:prstDash val="solid"/>
          </a:ln>
        </p:spPr>
      </p:sp>
      <p:sp>
        <p:nvSpPr>
          <p:cNvPr id="18" name="Text 15"/>
          <p:cNvSpPr/>
          <p:nvPr/>
        </p:nvSpPr>
        <p:spPr>
          <a:xfrm>
            <a:off x="3822192" y="3977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03   </a:t>
            </a:r>
            <a:pPr indent="0" marL="0">
              <a:buNone/>
            </a:pPr>
            <a:r>
              <a:rPr lang="en-US" sz="1050" b="1" spc="200" kern="0" dirty="0">
                <a:solidFill>
                  <a:srgbClr val="FFFFFF"/>
                </a:solidFill>
                <a:latin typeface="Arial" pitchFamily="34" charset="0"/>
                <a:ea typeface="Arial" pitchFamily="34" charset="-122"/>
                <a:cs typeface="Arial" pitchFamily="34" charset="-120"/>
              </a:rPr>
              <a:t>IN SILICO VALIDATION</a:t>
            </a:r>
            <a:endParaRPr lang="en-US" sz="1050" dirty="0"/>
          </a:p>
        </p:txBody>
      </p:sp>
      <p:sp>
        <p:nvSpPr>
          <p:cNvPr id="19" name="Text 16"/>
          <p:cNvSpPr/>
          <p:nvPr/>
        </p:nvSpPr>
        <p:spPr>
          <a:xfrm>
            <a:off x="3840480" y="4315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Molecular dynamics and binding-affinity prediction filter candidates before synthesis. Weeks of bench work become hours of GPU compute. Far fewer molecules reach animal testing.</a:t>
            </a:r>
            <a:endParaRPr lang="en-US" sz="950" dirty="0"/>
          </a:p>
        </p:txBody>
      </p:sp>
      <p:sp>
        <p:nvSpPr>
          <p:cNvPr id="20" name="Shape 17"/>
          <p:cNvSpPr/>
          <p:nvPr/>
        </p:nvSpPr>
        <p:spPr>
          <a:xfrm>
            <a:off x="457200" y="5193792"/>
            <a:ext cx="8229600" cy="384048"/>
          </a:xfrm>
          <a:prstGeom prst="rect">
            <a:avLst/>
          </a:prstGeom>
          <a:solidFill>
            <a:srgbClr val="FFD100"/>
          </a:solidFill>
          <a:ln w="12700">
            <a:solidFill>
              <a:srgbClr val="FFD100"/>
            </a:solidFill>
            <a:prstDash val="solid"/>
          </a:ln>
        </p:spPr>
      </p:sp>
      <p:sp>
        <p:nvSpPr>
          <p:cNvPr id="21" name="Text 18"/>
          <p:cNvSpPr/>
          <p:nvPr/>
        </p:nvSpPr>
        <p:spPr>
          <a:xfrm>
            <a:off x="640080" y="5193792"/>
            <a:ext cx="7863840" cy="38404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Traditional pharma: 10–15 years, ~$2.6B per approved drug, &lt;10% Phase I success.</a:t>
            </a:r>
            <a:pPr indent="0" marL="0">
              <a:buNone/>
            </a:pPr>
            <a:r>
              <a:rPr lang="en-US" sz="700" b="1" baseline="30000" dirty="0">
                <a:solidFill>
                  <a:srgbClr val="000000"/>
                </a:solidFill>
                <a:latin typeface="Arial" pitchFamily="34" charset="0"/>
                <a:ea typeface="Arial" pitchFamily="34" charset="-122"/>
                <a:cs typeface="Arial" pitchFamily="34" charset="-120"/>
              </a:rPr>
              <a:t> 3</a:t>
            </a:r>
            <a:pPr indent="0" marL="0">
              <a:buNone/>
            </a:pPr>
            <a:r>
              <a:rPr lang="en-US" sz="1000" b="1" dirty="0">
                <a:solidFill>
                  <a:srgbClr val="000000"/>
                </a:solidFill>
                <a:latin typeface="Arial" pitchFamily="34" charset="0"/>
                <a:ea typeface="Arial" pitchFamily="34" charset="-122"/>
                <a:cs typeface="Arial" pitchFamily="34" charset="-120"/>
              </a:rPr>
              <a:t> AI collapses the design stage — clinical trials are still bound by biology and the FDA.</a:t>
            </a:r>
            <a:endParaRPr lang="en-US" sz="1000" dirty="0"/>
          </a:p>
        </p:txBody>
      </p:sp>
      <p:sp>
        <p:nvSpPr>
          <p:cNvPr id="22" name="Text 19"/>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Jumper et al., AlphaFold, Nature 2020,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Hughes et al., Br. J. Pharmacol. — screening scale,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Tufts CSDD — drug-development cost and timeline.</a:t>
            </a:r>
            <a:endParaRPr lang="en-US" sz="700" dirty="0"/>
          </a:p>
        </p:txBody>
      </p:sp>
      <p:sp>
        <p:nvSpPr>
          <p:cNvPr id="23"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4"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5"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182880"/>
            <a:ext cx="822960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Generational scale. Winners diverge. Trade evolves. Exposure is a thesis.</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big-picture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63040"/>
            <a:ext cx="868680" cy="868680"/>
          </a:xfrm>
          <a:prstGeom prst="rect">
            <a:avLst/>
          </a:prstGeom>
          <a:solidFill>
            <a:srgbClr val="008B8B"/>
          </a:solidFill>
          <a:ln w="12700">
            <a:solidFill>
              <a:srgbClr val="008B8B"/>
            </a:solidFill>
            <a:prstDash val="solid"/>
          </a:ln>
        </p:spPr>
      </p:sp>
      <p:sp>
        <p:nvSpPr>
          <p:cNvPr id="6" name="Text 4"/>
          <p:cNvSpPr/>
          <p:nvPr/>
        </p:nvSpPr>
        <p:spPr>
          <a:xfrm>
            <a:off x="457200" y="1463040"/>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01</a:t>
            </a:r>
            <a:endParaRPr lang="en-US" sz="2600" dirty="0"/>
          </a:p>
        </p:txBody>
      </p:sp>
      <p:sp>
        <p:nvSpPr>
          <p:cNvPr id="7" name="Text 5"/>
          <p:cNvSpPr/>
          <p:nvPr/>
        </p:nvSpPr>
        <p:spPr>
          <a:xfrm>
            <a:off x="1508760" y="1481328"/>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AI is the defining capital-allocation event of this decade.</a:t>
            </a:r>
            <a:endParaRPr lang="en-US" sz="1500" dirty="0"/>
          </a:p>
        </p:txBody>
      </p:sp>
      <p:sp>
        <p:nvSpPr>
          <p:cNvPr id="8" name="Text 6"/>
          <p:cNvSpPr/>
          <p:nvPr/>
        </p:nvSpPr>
        <p:spPr>
          <a:xfrm>
            <a:off x="1508760" y="1828800"/>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A handful of hyperscalers are deploying capital fast enough to reshape power grids, real estate, and global supply chains all at once. AI capex is now the dominant driver of US business investment — ~70% of hyperscaler operating cash flow, heading above 90% in 2026, increasingly funded by debt and leases. The scale itself is the story.</a:t>
            </a:r>
            <a:endParaRPr lang="en-US" sz="1050" dirty="0"/>
          </a:p>
        </p:txBody>
      </p:sp>
      <p:sp>
        <p:nvSpPr>
          <p:cNvPr id="9" name="Shape 7"/>
          <p:cNvSpPr/>
          <p:nvPr/>
        </p:nvSpPr>
        <p:spPr>
          <a:xfrm>
            <a:off x="457200" y="2487168"/>
            <a:ext cx="868680" cy="868680"/>
          </a:xfrm>
          <a:prstGeom prst="rect">
            <a:avLst/>
          </a:prstGeom>
          <a:solidFill>
            <a:srgbClr val="FFB800"/>
          </a:solidFill>
          <a:ln w="12700">
            <a:solidFill>
              <a:srgbClr val="FFB800"/>
            </a:solidFill>
            <a:prstDash val="solid"/>
          </a:ln>
        </p:spPr>
      </p:sp>
      <p:sp>
        <p:nvSpPr>
          <p:cNvPr id="10" name="Text 8"/>
          <p:cNvSpPr/>
          <p:nvPr/>
        </p:nvSpPr>
        <p:spPr>
          <a:xfrm>
            <a:off x="457200" y="2487168"/>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02</a:t>
            </a:r>
            <a:endParaRPr lang="en-US" sz="2600" dirty="0"/>
          </a:p>
        </p:txBody>
      </p:sp>
      <p:sp>
        <p:nvSpPr>
          <p:cNvPr id="11" name="Text 9"/>
          <p:cNvSpPr/>
          <p:nvPr/>
        </p:nvSpPr>
        <p:spPr>
          <a:xfrm>
            <a:off x="1508760" y="2505456"/>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AI buildout is producing sharp winners and sharp losers.</a:t>
            </a:r>
            <a:endParaRPr lang="en-US" sz="1500" dirty="0"/>
          </a:p>
        </p:txBody>
      </p:sp>
      <p:sp>
        <p:nvSpPr>
          <p:cNvPr id="12" name="Text 10"/>
          <p:cNvSpPr/>
          <p:nvPr/>
        </p:nvSpPr>
        <p:spPr>
          <a:xfrm>
            <a:off x="1508760" y="2852928"/>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Foundries, memory, and the picks-and-shovels of AI infrastructure are surging, while parts of legacy software and SaaS are getting cannibalized by AI-native competitors. Returns inside the AI complex have dispersed sharply, and the spread keeps widening.</a:t>
            </a:r>
            <a:endParaRPr lang="en-US" sz="1050" dirty="0"/>
          </a:p>
        </p:txBody>
      </p:sp>
      <p:sp>
        <p:nvSpPr>
          <p:cNvPr id="13" name="Shape 11"/>
          <p:cNvSpPr/>
          <p:nvPr/>
        </p:nvSpPr>
        <p:spPr>
          <a:xfrm>
            <a:off x="457200" y="3511296"/>
            <a:ext cx="868680" cy="868680"/>
          </a:xfrm>
          <a:prstGeom prst="rect">
            <a:avLst/>
          </a:prstGeom>
          <a:solidFill>
            <a:srgbClr val="CC0000"/>
          </a:solidFill>
          <a:ln w="12700">
            <a:solidFill>
              <a:srgbClr val="CC0000"/>
            </a:solidFill>
            <a:prstDash val="solid"/>
          </a:ln>
        </p:spPr>
      </p:sp>
      <p:sp>
        <p:nvSpPr>
          <p:cNvPr id="14" name="Text 12"/>
          <p:cNvSpPr/>
          <p:nvPr/>
        </p:nvSpPr>
        <p:spPr>
          <a:xfrm>
            <a:off x="457200" y="3511296"/>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03</a:t>
            </a:r>
            <a:endParaRPr lang="en-US" sz="2600" dirty="0"/>
          </a:p>
        </p:txBody>
      </p:sp>
      <p:sp>
        <p:nvSpPr>
          <p:cNvPr id="15" name="Text 13"/>
          <p:cNvSpPr/>
          <p:nvPr/>
        </p:nvSpPr>
        <p:spPr>
          <a:xfrm>
            <a:off x="1508760" y="3529584"/>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AI trade keeps evolving as bottlenecks shift through the stack.</a:t>
            </a:r>
            <a:endParaRPr lang="en-US" sz="1500" dirty="0"/>
          </a:p>
        </p:txBody>
      </p:sp>
      <p:sp>
        <p:nvSpPr>
          <p:cNvPr id="16" name="Text 14"/>
          <p:cNvSpPr/>
          <p:nvPr/>
        </p:nvSpPr>
        <p:spPr>
          <a:xfrm>
            <a:off x="1508760" y="3877056"/>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Yesterday it was foundry capacity. Today it is memory and advanced packaging. Tomorrow it will be power and the grid. The binding constraint keeps moving, and the names that lead the trade move with it.</a:t>
            </a:r>
            <a:endParaRPr lang="en-US" sz="1050" dirty="0"/>
          </a:p>
        </p:txBody>
      </p:sp>
      <p:sp>
        <p:nvSpPr>
          <p:cNvPr id="17" name="Shape 15"/>
          <p:cNvSpPr/>
          <p:nvPr/>
        </p:nvSpPr>
        <p:spPr>
          <a:xfrm>
            <a:off x="457200" y="4535424"/>
            <a:ext cx="868680" cy="868680"/>
          </a:xfrm>
          <a:prstGeom prst="rect">
            <a:avLst/>
          </a:prstGeom>
          <a:solidFill>
            <a:srgbClr val="6B46C1"/>
          </a:solidFill>
          <a:ln w="12700">
            <a:solidFill>
              <a:srgbClr val="6B46C1"/>
            </a:solidFill>
            <a:prstDash val="solid"/>
          </a:ln>
        </p:spPr>
      </p:sp>
      <p:sp>
        <p:nvSpPr>
          <p:cNvPr id="18" name="Text 16"/>
          <p:cNvSpPr/>
          <p:nvPr/>
        </p:nvSpPr>
        <p:spPr>
          <a:xfrm>
            <a:off x="457200" y="4535424"/>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04</a:t>
            </a:r>
            <a:endParaRPr lang="en-US" sz="2600" dirty="0"/>
          </a:p>
        </p:txBody>
      </p:sp>
      <p:sp>
        <p:nvSpPr>
          <p:cNvPr id="19" name="Text 17"/>
          <p:cNvSpPr/>
          <p:nvPr/>
        </p:nvSpPr>
        <p:spPr>
          <a:xfrm>
            <a:off x="1508760" y="4553712"/>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question isn't whether you have AI exposure. It's whether you chose it.</a:t>
            </a:r>
            <a:endParaRPr lang="en-US" sz="1500" dirty="0"/>
          </a:p>
        </p:txBody>
      </p:sp>
      <p:sp>
        <p:nvSpPr>
          <p:cNvPr id="20" name="Text 18"/>
          <p:cNvSpPr/>
          <p:nvPr/>
        </p:nvSpPr>
        <p:spPr>
          <a:xfrm>
            <a:off x="1508760" y="4901184"/>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US large-cap indices already embed AI capex exposure at concentrated weights. Recognize that exposure, size it, or hedge it, but the position should be a deliberate choice rather than a default.</a:t>
            </a:r>
            <a:endParaRPr lang="en-US" sz="1050" dirty="0"/>
          </a:p>
        </p:txBody>
      </p:sp>
      <p:sp>
        <p:nvSpPr>
          <p:cNvPr id="21" name="Text 19"/>
          <p:cNvSpPr/>
          <p:nvPr/>
        </p:nvSpPr>
        <p:spPr>
          <a:xfrm>
            <a:off x="457200" y="562356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company filings; Goldman Sachs; SemiAnalysis; BofA; TrendForce. See appendix for figure-by-figure citations.</a:t>
            </a:r>
            <a:endParaRPr lang="en-US" sz="700" dirty="0"/>
          </a:p>
        </p:txBody>
      </p:sp>
      <p:sp>
        <p:nvSpPr>
          <p:cNvPr id="22"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3"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(1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LANDSCAPE · MARKET · SHIFTS.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Apr–May 2026 unless noted. Market caps &amp; consensus: companiesmarketcap.com · stockanalysis.com. YTD returns: Yahoo Finance (May 22, 2026).</a:t>
            </a:r>
            <a:endParaRPr lang="en-US" sz="850" dirty="0"/>
          </a:p>
        </p:txBody>
      </p:sp>
      <p:sp>
        <p:nvSpPr>
          <p:cNvPr id="7" name="Shape 5"/>
          <p:cNvSpPr/>
          <p:nvPr/>
        </p:nvSpPr>
        <p:spPr>
          <a:xfrm>
            <a:off x="457200" y="1874520"/>
            <a:ext cx="2624328" cy="201168"/>
          </a:xfrm>
          <a:prstGeom prst="rect">
            <a:avLst/>
          </a:prstGeom>
          <a:solidFill>
            <a:srgbClr val="008B8B"/>
          </a:solidFill>
          <a:ln w="12700">
            <a:solidFill>
              <a:srgbClr val="008B8B"/>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LANDSCAPE  ·  3–6</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capex,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estimates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Jensen Huang "most important" remarks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appearance, Sept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Six-phase evolution timeline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 synthesis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11-layer AI stack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Internet / PC adoption curves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Mary Meeker, Bond / KPCB Internet Trends 2019</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revenue Y0–Y4 trajectory</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company filings and consensus estimates</a:t>
            </a:r>
            <a:endParaRPr lang="en-US" sz="850" dirty="0"/>
          </a:p>
        </p:txBody>
      </p:sp>
      <p:sp>
        <p:nvSpPr>
          <p:cNvPr id="10" name="Shape 8"/>
          <p:cNvSpPr/>
          <p:nvPr/>
        </p:nvSpPr>
        <p:spPr>
          <a:xfrm>
            <a:off x="3264408" y="1874520"/>
            <a:ext cx="2624328" cy="201168"/>
          </a:xfrm>
          <a:prstGeom prst="rect">
            <a:avLst/>
          </a:prstGeom>
          <a:solidFill>
            <a:srgbClr val="FFB800"/>
          </a:solidFill>
          <a:ln w="12700">
            <a:solidFill>
              <a:srgbClr val="FFB800"/>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000000"/>
                </a:solidFill>
                <a:latin typeface="Arial" pitchFamily="34" charset="0"/>
                <a:ea typeface="Arial" pitchFamily="34" charset="-122"/>
                <a:cs typeface="Arial" pitchFamily="34" charset="-120"/>
              </a:rPr>
              <a:t>MARKET  ·  7–11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Four-stage AI chipmaking process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SIA / SEMI industry taxonomy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 CoWoS advanced packaging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TSMC CoWoS capacity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"~60% hyperscaler share of AI chips"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SemiAnalysis / Omdia 2026E estimates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2026 capex guides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AWS, MSFT, GOOGL, META, ORCL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"~12% US electricity by 2028"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EPRI (2024) data-center load forecast</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 GW typical AI campus"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LBNL, DOE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 yr interconnection wait"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PJM, ERCOT interconnection queues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TMI reopening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Microsoft / Constellation (Sept 2024)</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OpenAI $852B @ ~35× ARR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 / CNBC; Sacra ARR run-rates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Anthropic $380B → ~$900B (reported)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 (Feb &amp; May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Alphabet ~$4.6T / ~$185B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companiesmarketcap; Alphabet guide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xAI/SpaceX $1.25T; SpaceX S-1 (May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CNBC, Bloomberg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Q1 2026 funding 2× all of 2025</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Crunchbase Q1 2026 VC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Top 10 Tech vs Non-Tech metrics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stockanalysis.com consensus (Apr 22,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Market caps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companiesmarketcap.com (Apr 22, 2026)</a:t>
            </a:r>
            <a:endParaRPr lang="en-US" sz="850" dirty="0"/>
          </a:p>
        </p:txBody>
      </p:sp>
      <p:sp>
        <p:nvSpPr>
          <p:cNvPr id="13" name="Shape 11"/>
          <p:cNvSpPr/>
          <p:nvPr/>
        </p:nvSpPr>
        <p:spPr>
          <a:xfrm>
            <a:off x="6071616" y="1874520"/>
            <a:ext cx="2624328" cy="201168"/>
          </a:xfrm>
          <a:prstGeom prst="rect">
            <a:avLst/>
          </a:prstGeom>
          <a:solidFill>
            <a:srgbClr val="F6693D"/>
          </a:solidFill>
          <a:ln w="12700">
            <a:solidFill>
              <a:srgbClr val="F6693D"/>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SHIFTS  ·  12–14</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"10–100× compute per session"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analyst est.;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"million-fold demand / inference inflection"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Jensen Huang, NVIDIA GTC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YTD prices rebased to 100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(May 22,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"SaaSpocalypse — ~$285B in 48h"</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SaaS selloff coverage, Feb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Software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Token-cost ~99% decline; commoditization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a16z, SemiAnalysis; Stratechery (Mar 2026)</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1 of 2 — continues on the next page with RISKS, FRONTIER, and TAKEAWAYS.</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(2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RISKS · FRONTIER ·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Apr–May 2026 unless noted. Market caps &amp; consensus: companiesmarketcap.com · stockanalysis.com. YTD returns: Yahoo Finance (May 22, 2026).</a:t>
            </a:r>
            <a:endParaRPr lang="en-US" sz="850" dirty="0"/>
          </a:p>
        </p:txBody>
      </p:sp>
      <p:sp>
        <p:nvSpPr>
          <p:cNvPr id="7" name="Shape 5"/>
          <p:cNvSpPr/>
          <p:nvPr/>
        </p:nvSpPr>
        <p:spPr>
          <a:xfrm>
            <a:off x="457200" y="1874520"/>
            <a:ext cx="2624328" cy="201168"/>
          </a:xfrm>
          <a:prstGeom prst="rect">
            <a:avLst/>
          </a:prstGeom>
          <a:solidFill>
            <a:srgbClr val="CC0000"/>
          </a:solidFill>
          <a:ln w="12700">
            <a:solidFill>
              <a:srgbClr val="CC0000"/>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RISKS  ·  15–18</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Cisco 131× vs NVDA ~24× fwd P/E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Harding Loevner; GuruFocus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 of 2000 tech IPOs profitable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 Ritter, Univ. Florida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GPU 2nd market 90–95% of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CoreWeave pricing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net debt/EBITDA ~48%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TSMC ~90% advanced-node share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SK Hynix + Samsung ~76% DRAM</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&lt;100 EUV/yr; reshoring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TSMC, Samsung, Intel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CHIPS $36B of $52.7B committed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Commerce Dept</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H100/H200/Blackwell China ban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BIS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NVIDIA $5.5B H20 writedown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10-Q</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EU AI Act enforcement Aug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EU AI Act Ch. V</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SMIC 5nm yield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industry reports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Sentiment 37%→50% concerned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Pew; YouGov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~$64B NIMBY blocked/delayed; 71% oppose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DataCenterWatch; Gallup</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"Leading the Future" PAC; moratoria</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CNBC/NOTUS; MultiState</a:t>
            </a:r>
            <a:endParaRPr lang="en-US" sz="850" dirty="0"/>
          </a:p>
        </p:txBody>
      </p:sp>
      <p:sp>
        <p:nvSpPr>
          <p:cNvPr id="10" name="Shape 8"/>
          <p:cNvSpPr/>
          <p:nvPr/>
        </p:nvSpPr>
        <p:spPr>
          <a:xfrm>
            <a:off x="3264408" y="1874520"/>
            <a:ext cx="2624328" cy="201168"/>
          </a:xfrm>
          <a:prstGeom prst="rect">
            <a:avLst/>
          </a:prstGeom>
          <a:solidFill>
            <a:srgbClr val="6B46C1"/>
          </a:solidFill>
          <a:ln w="12700">
            <a:solidFill>
              <a:srgbClr val="6B46C1"/>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FRONTIER  ·  19–22</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"1,361 W/m² unfiltered solar"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solar constant (physical)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Orbital players &amp; pilots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filings; Starcloud ($1.1B, 2026), SpaceX, Google Suncatcher, Aetherflux</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Humanoid deployments in pilots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humanoid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Player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Tesla, Figure, Boston Dynamics, Unitree, Agility announcements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"~1.35M road deaths / year"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WHO Global Road Safety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AV inference compute scale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FY2026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AlphaFold structure prediction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Jumper et al., Nature 2020</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"IsoDDE 50% vs AlphaFold3 23.3%"</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Isomorphic Labs (Feb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"10–15 yrs / ~$2.6B per drug"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Tufts CSDD drug-development studies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"&lt;10% Phase I success"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p:txBody>
      </p:sp>
      <p:sp>
        <p:nvSpPr>
          <p:cNvPr id="13" name="Shape 11"/>
          <p:cNvSpPr/>
          <p:nvPr/>
        </p:nvSpPr>
        <p:spPr>
          <a:xfrm>
            <a:off x="6071616" y="1874520"/>
            <a:ext cx="2624328" cy="201168"/>
          </a:xfrm>
          <a:prstGeom prst="rect">
            <a:avLst/>
          </a:prstGeom>
          <a:solidFill>
            <a:srgbClr val="000000"/>
          </a:solidFill>
          <a:ln w="12700">
            <a:solidFill>
              <a:srgbClr val="000000"/>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TAKEAWAYS  ·  23</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"capex ~70%→90% of op. cash flow"</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BofA; company 10-Qs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"Semis +74% / software ~–15% YTD"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(May 22,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TAM $35B → $100B, 2025–28"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BofA HBM TAM; TrendForce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FCF / lease impact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Amazon, Meta 10-Qs; Moody's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2 of 2. End of deck.</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Markets — May 2026</dc:title>
  <dc:subject>PptxGenJS Presentation</dc:subject>
  <dc:creator>Strategy</dc:creator>
  <cp:lastModifiedBy>Strategy</cp:lastModifiedBy>
  <cp:revision>1</cp:revision>
  <dcterms:created xsi:type="dcterms:W3CDTF">2026-05-25T00:54:38Z</dcterms:created>
  <dcterms:modified xsi:type="dcterms:W3CDTF">2026-05-25T00:54:38Z</dcterms:modified>
</cp:coreProperties>
</file>